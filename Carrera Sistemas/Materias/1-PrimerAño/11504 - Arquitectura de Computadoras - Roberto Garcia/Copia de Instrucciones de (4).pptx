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cripter" charset="1" panose="00000000000000000000"/>
      <p:regular r:id="rId16"/>
    </p:embeddedFont>
    <p:embeddedFont>
      <p:font typeface="Antonio" charset="1" panose="02000503000000000000"/>
      <p:regular r:id="rId17"/>
    </p:embeddedFont>
    <p:embeddedFont>
      <p:font typeface="Open Sans 1 Bold" charset="1" panose="00000000000000000000"/>
      <p:regular r:id="rId18"/>
    </p:embeddedFont>
    <p:embeddedFont>
      <p:font typeface="Open Sans 1 Bold Italic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728" y="-4123228"/>
            <a:ext cx="18533456" cy="18533456"/>
          </a:xfrm>
          <a:custGeom>
            <a:avLst/>
            <a:gdLst/>
            <a:ahLst/>
            <a:cxnLst/>
            <a:rect r="r" b="b" t="t" l="l"/>
            <a:pathLst>
              <a:path h="18533456" w="18533456">
                <a:moveTo>
                  <a:pt x="0" y="0"/>
                </a:moveTo>
                <a:lnTo>
                  <a:pt x="18533456" y="0"/>
                </a:lnTo>
                <a:lnTo>
                  <a:pt x="18533456" y="18533456"/>
                </a:lnTo>
                <a:lnTo>
                  <a:pt x="0" y="18533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38225" y="0"/>
            <a:ext cx="0" cy="10303804"/>
          </a:xfrm>
          <a:prstGeom prst="line">
            <a:avLst/>
          </a:prstGeom>
          <a:ln cap="flat" w="190500">
            <a:solidFill>
              <a:srgbClr val="FD94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14915173" y="1028700"/>
            <a:ext cx="1633887" cy="2051685"/>
          </a:xfrm>
          <a:custGeom>
            <a:avLst/>
            <a:gdLst/>
            <a:ahLst/>
            <a:cxnLst/>
            <a:rect r="r" b="b" t="t" l="l"/>
            <a:pathLst>
              <a:path h="2051685" w="1633887">
                <a:moveTo>
                  <a:pt x="1633887" y="0"/>
                </a:moveTo>
                <a:lnTo>
                  <a:pt x="0" y="0"/>
                </a:lnTo>
                <a:lnTo>
                  <a:pt x="0" y="2051685"/>
                </a:lnTo>
                <a:lnTo>
                  <a:pt x="1633887" y="2051685"/>
                </a:lnTo>
                <a:lnTo>
                  <a:pt x="16338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94924" y="4065744"/>
            <a:ext cx="13993176" cy="183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20"/>
              </a:lnSpc>
            </a:pPr>
            <a:r>
              <a:rPr lang="en-US" sz="13500">
                <a:solidFill>
                  <a:srgbClr val="FD94BD"/>
                </a:solidFill>
                <a:latin typeface="Scripter"/>
                <a:ea typeface="Scripter"/>
                <a:cs typeface="Scripter"/>
                <a:sym typeface="Scripter"/>
              </a:rPr>
              <a:t>assembler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2190149" y="3213735"/>
            <a:ext cx="1633887" cy="2051685"/>
          </a:xfrm>
          <a:custGeom>
            <a:avLst/>
            <a:gdLst/>
            <a:ahLst/>
            <a:cxnLst/>
            <a:rect r="r" b="b" t="t" l="l"/>
            <a:pathLst>
              <a:path h="2051685" w="1633887">
                <a:moveTo>
                  <a:pt x="0" y="2051685"/>
                </a:moveTo>
                <a:lnTo>
                  <a:pt x="1633887" y="2051685"/>
                </a:lnTo>
                <a:lnTo>
                  <a:pt x="1633887" y="0"/>
                </a:lnTo>
                <a:lnTo>
                  <a:pt x="0" y="0"/>
                </a:lnTo>
                <a:lnTo>
                  <a:pt x="0" y="205168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94924" y="2273617"/>
            <a:ext cx="13993176" cy="183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20"/>
              </a:lnSpc>
            </a:pPr>
            <a:r>
              <a:rPr lang="en-US" sz="135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Instrucciones 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38940" y="5898354"/>
            <a:ext cx="13993176" cy="58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1"/>
              </a:lnSpc>
            </a:pPr>
            <a:r>
              <a:rPr lang="en-US" sz="390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(Las más comunes)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39521" y="7465407"/>
            <a:ext cx="3185190" cy="183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20"/>
              </a:lnSpc>
            </a:pPr>
            <a:r>
              <a:rPr lang="en-US" sz="13500">
                <a:solidFill>
                  <a:srgbClr val="FD94BD"/>
                </a:solidFill>
                <a:latin typeface="Scripter"/>
                <a:ea typeface="Scripter"/>
                <a:cs typeface="Scripter"/>
                <a:sym typeface="Scripter"/>
              </a:rPr>
              <a:t>¡2!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728" y="-4123228"/>
            <a:ext cx="18533456" cy="18533456"/>
          </a:xfrm>
          <a:custGeom>
            <a:avLst/>
            <a:gdLst/>
            <a:ahLst/>
            <a:cxnLst/>
            <a:rect r="r" b="b" t="t" l="l"/>
            <a:pathLst>
              <a:path h="18533456" w="18533456">
                <a:moveTo>
                  <a:pt x="0" y="0"/>
                </a:moveTo>
                <a:lnTo>
                  <a:pt x="18533456" y="0"/>
                </a:lnTo>
                <a:lnTo>
                  <a:pt x="18533456" y="18533456"/>
                </a:lnTo>
                <a:lnTo>
                  <a:pt x="0" y="18533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38225" y="0"/>
            <a:ext cx="0" cy="10303804"/>
          </a:xfrm>
          <a:prstGeom prst="line">
            <a:avLst/>
          </a:prstGeom>
          <a:ln cap="flat" w="190500">
            <a:solidFill>
              <a:srgbClr val="FD94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30468" y="8048625"/>
            <a:ext cx="1633887" cy="2051685"/>
          </a:xfrm>
          <a:custGeom>
            <a:avLst/>
            <a:gdLst/>
            <a:ahLst/>
            <a:cxnLst/>
            <a:rect r="r" b="b" t="t" l="l"/>
            <a:pathLst>
              <a:path h="2051685" w="1633887">
                <a:moveTo>
                  <a:pt x="0" y="0"/>
                </a:moveTo>
                <a:lnTo>
                  <a:pt x="1633888" y="0"/>
                </a:lnTo>
                <a:lnTo>
                  <a:pt x="1633888" y="2051685"/>
                </a:lnTo>
                <a:lnTo>
                  <a:pt x="0" y="2051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01163" y="582913"/>
            <a:ext cx="12685674" cy="202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INSTRUCCIONES DE CONTROL DE</a:t>
            </a:r>
          </a:p>
          <a:p>
            <a:pPr algn="ctr" marL="0" indent="0" lvl="0">
              <a:lnSpc>
                <a:spcPts val="736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FLUJO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124759" y="3751718"/>
            <a:ext cx="10038482" cy="4625460"/>
          </a:xfrm>
          <a:custGeom>
            <a:avLst/>
            <a:gdLst/>
            <a:ahLst/>
            <a:cxnLst/>
            <a:rect r="r" b="b" t="t" l="l"/>
            <a:pathLst>
              <a:path h="4625460" w="10038482">
                <a:moveTo>
                  <a:pt x="0" y="0"/>
                </a:moveTo>
                <a:lnTo>
                  <a:pt x="10038482" y="0"/>
                </a:lnTo>
                <a:lnTo>
                  <a:pt x="10038482" y="4625460"/>
                </a:lnTo>
                <a:lnTo>
                  <a:pt x="0" y="46254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6342" r="0" b="-7068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47412" y="4289052"/>
            <a:ext cx="13993176" cy="355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5899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CALL (Llamar Subrutina)</a:t>
            </a:r>
          </a:p>
          <a:p>
            <a:pPr algn="ctr">
              <a:lnSpc>
                <a:spcPts val="7020"/>
              </a:lnSpc>
            </a:pPr>
            <a:r>
              <a:rPr lang="en-US" sz="5899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GOTO (Ir a una dirección)</a:t>
            </a:r>
          </a:p>
          <a:p>
            <a:pPr algn="ctr">
              <a:lnSpc>
                <a:spcPts val="7020"/>
              </a:lnSpc>
            </a:pPr>
            <a:r>
              <a:rPr lang="en-US" sz="5899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RETURN (Retornar)</a:t>
            </a:r>
          </a:p>
          <a:p>
            <a:pPr algn="ctr">
              <a:lnSpc>
                <a:spcPts val="7020"/>
              </a:lnSpc>
            </a:pPr>
            <a:r>
              <a:rPr lang="en-US" sz="5899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RETLW (Returnar con literal en W)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652025" y="2610485"/>
            <a:ext cx="8983949" cy="900282"/>
          </a:xfrm>
          <a:custGeom>
            <a:avLst/>
            <a:gdLst/>
            <a:ahLst/>
            <a:cxnLst/>
            <a:rect r="r" b="b" t="t" l="l"/>
            <a:pathLst>
              <a:path h="900282" w="8983949">
                <a:moveTo>
                  <a:pt x="0" y="0"/>
                </a:moveTo>
                <a:lnTo>
                  <a:pt x="8983950" y="0"/>
                </a:lnTo>
                <a:lnTo>
                  <a:pt x="8983950" y="900282"/>
                </a:lnTo>
                <a:lnTo>
                  <a:pt x="0" y="9002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39319" r="0" b="-55858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16921" y="2694222"/>
            <a:ext cx="13054158" cy="81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4"/>
              </a:lnSpc>
            </a:pPr>
            <a:r>
              <a:rPr lang="en-US" sz="5449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SUBRUTINAS Y DIRECCIONES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728" y="-4123228"/>
            <a:ext cx="18533456" cy="18533456"/>
          </a:xfrm>
          <a:custGeom>
            <a:avLst/>
            <a:gdLst/>
            <a:ahLst/>
            <a:cxnLst/>
            <a:rect r="r" b="b" t="t" l="l"/>
            <a:pathLst>
              <a:path h="18533456" w="18533456">
                <a:moveTo>
                  <a:pt x="0" y="0"/>
                </a:moveTo>
                <a:lnTo>
                  <a:pt x="18533456" y="0"/>
                </a:lnTo>
                <a:lnTo>
                  <a:pt x="18533456" y="18533456"/>
                </a:lnTo>
                <a:lnTo>
                  <a:pt x="0" y="18533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45401" y="2534978"/>
            <a:ext cx="9284319" cy="5609175"/>
          </a:xfrm>
          <a:custGeom>
            <a:avLst/>
            <a:gdLst/>
            <a:ahLst/>
            <a:cxnLst/>
            <a:rect r="r" b="b" t="t" l="l"/>
            <a:pathLst>
              <a:path h="5609175" w="9284319">
                <a:moveTo>
                  <a:pt x="0" y="0"/>
                </a:moveTo>
                <a:lnTo>
                  <a:pt x="9284319" y="0"/>
                </a:lnTo>
                <a:lnTo>
                  <a:pt x="9284319" y="5609175"/>
                </a:lnTo>
                <a:lnTo>
                  <a:pt x="0" y="5609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893" r="0" b="-43626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038225" y="0"/>
            <a:ext cx="0" cy="10303804"/>
          </a:xfrm>
          <a:prstGeom prst="line">
            <a:avLst/>
          </a:prstGeom>
          <a:ln cap="flat" w="190500">
            <a:solidFill>
              <a:srgbClr val="FD94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625413" y="697289"/>
            <a:ext cx="1633887" cy="2051685"/>
          </a:xfrm>
          <a:custGeom>
            <a:avLst/>
            <a:gdLst/>
            <a:ahLst/>
            <a:cxnLst/>
            <a:rect r="r" b="b" t="t" l="l"/>
            <a:pathLst>
              <a:path h="2051685" w="1633887">
                <a:moveTo>
                  <a:pt x="0" y="0"/>
                </a:moveTo>
                <a:lnTo>
                  <a:pt x="1633887" y="0"/>
                </a:lnTo>
                <a:lnTo>
                  <a:pt x="1633887" y="2051685"/>
                </a:lnTo>
                <a:lnTo>
                  <a:pt x="0" y="20516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3164" y="247247"/>
            <a:ext cx="9767749" cy="2040226"/>
          </a:xfrm>
          <a:custGeom>
            <a:avLst/>
            <a:gdLst/>
            <a:ahLst/>
            <a:cxnLst/>
            <a:rect r="r" b="b" t="t" l="l"/>
            <a:pathLst>
              <a:path h="2040226" w="9767749">
                <a:moveTo>
                  <a:pt x="0" y="0"/>
                </a:moveTo>
                <a:lnTo>
                  <a:pt x="9767748" y="0"/>
                </a:lnTo>
                <a:lnTo>
                  <a:pt x="9767748" y="2040226"/>
                </a:lnTo>
                <a:lnTo>
                  <a:pt x="0" y="20402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04399" r="0" b="-10439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76308" y="3246724"/>
            <a:ext cx="15882992" cy="379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0"/>
              </a:lnSpc>
            </a:pPr>
            <a:r>
              <a:rPr lang="en-US" sz="6328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CLRF (Limpiar F)</a:t>
            </a:r>
          </a:p>
          <a:p>
            <a:pPr algn="ctr">
              <a:lnSpc>
                <a:spcPts val="7530"/>
              </a:lnSpc>
            </a:pPr>
            <a:r>
              <a:rPr lang="en-US" sz="6328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CLRW (Limpiar W)</a:t>
            </a:r>
          </a:p>
          <a:p>
            <a:pPr algn="ctr">
              <a:lnSpc>
                <a:spcPts val="7530"/>
              </a:lnSpc>
            </a:pPr>
            <a:r>
              <a:rPr lang="en-US" sz="6328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MOVLW (Mover literal a W)</a:t>
            </a:r>
          </a:p>
          <a:p>
            <a:pPr algn="ctr">
              <a:lnSpc>
                <a:spcPts val="7530"/>
              </a:lnSpc>
            </a:pPr>
            <a:r>
              <a:rPr lang="en-US" sz="6328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MOVWF (Mover W a F)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3164" y="453420"/>
            <a:ext cx="9767749" cy="1732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8"/>
              </a:lnSpc>
              <a:spcBef>
                <a:spcPct val="0"/>
              </a:spcBef>
            </a:pPr>
            <a:r>
              <a:rPr lang="en-US" sz="6856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INSTRUCCIONES DE CARGA Y ALMACENAMIENTO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728" y="-4123228"/>
            <a:ext cx="18533456" cy="18533456"/>
          </a:xfrm>
          <a:custGeom>
            <a:avLst/>
            <a:gdLst/>
            <a:ahLst/>
            <a:cxnLst/>
            <a:rect r="r" b="b" t="t" l="l"/>
            <a:pathLst>
              <a:path h="18533456" w="18533456">
                <a:moveTo>
                  <a:pt x="0" y="0"/>
                </a:moveTo>
                <a:lnTo>
                  <a:pt x="18533456" y="0"/>
                </a:lnTo>
                <a:lnTo>
                  <a:pt x="18533456" y="18533456"/>
                </a:lnTo>
                <a:lnTo>
                  <a:pt x="0" y="18533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38225" y="0"/>
            <a:ext cx="0" cy="10303804"/>
          </a:xfrm>
          <a:prstGeom prst="line">
            <a:avLst/>
          </a:prstGeom>
          <a:ln cap="flat" w="190500">
            <a:solidFill>
              <a:srgbClr val="FD94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30468" y="8048625"/>
            <a:ext cx="1633887" cy="2051685"/>
          </a:xfrm>
          <a:custGeom>
            <a:avLst/>
            <a:gdLst/>
            <a:ahLst/>
            <a:cxnLst/>
            <a:rect r="r" b="b" t="t" l="l"/>
            <a:pathLst>
              <a:path h="2051685" w="1633887">
                <a:moveTo>
                  <a:pt x="0" y="0"/>
                </a:moveTo>
                <a:lnTo>
                  <a:pt x="1633888" y="0"/>
                </a:lnTo>
                <a:lnTo>
                  <a:pt x="1633888" y="2051685"/>
                </a:lnTo>
                <a:lnTo>
                  <a:pt x="0" y="2051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66647" y="513613"/>
            <a:ext cx="10123190" cy="1014446"/>
          </a:xfrm>
          <a:custGeom>
            <a:avLst/>
            <a:gdLst/>
            <a:ahLst/>
            <a:cxnLst/>
            <a:rect r="r" b="b" t="t" l="l"/>
            <a:pathLst>
              <a:path h="1014446" w="10123190">
                <a:moveTo>
                  <a:pt x="0" y="0"/>
                </a:moveTo>
                <a:lnTo>
                  <a:pt x="10123190" y="0"/>
                </a:lnTo>
                <a:lnTo>
                  <a:pt x="10123190" y="1014446"/>
                </a:lnTo>
                <a:lnTo>
                  <a:pt x="0" y="10144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39319" r="0" b="-55858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85405" y="637438"/>
            <a:ext cx="12685674" cy="109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6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EJEMPLO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964356" y="2908067"/>
            <a:ext cx="13763770" cy="6875293"/>
          </a:xfrm>
          <a:custGeom>
            <a:avLst/>
            <a:gdLst/>
            <a:ahLst/>
            <a:cxnLst/>
            <a:rect r="r" b="b" t="t" l="l"/>
            <a:pathLst>
              <a:path h="6875293" w="13763770">
                <a:moveTo>
                  <a:pt x="0" y="0"/>
                </a:moveTo>
                <a:lnTo>
                  <a:pt x="13763770" y="0"/>
                </a:lnTo>
                <a:lnTo>
                  <a:pt x="13763770" y="6875293"/>
                </a:lnTo>
                <a:lnTo>
                  <a:pt x="0" y="68752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7569" r="0" b="-5262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27548" y="3074252"/>
            <a:ext cx="13600578" cy="6552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2"/>
              </a:lnSpc>
            </a:pPr>
            <a:r>
              <a:rPr lang="en-US" sz="485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CLRW</a:t>
            </a:r>
          </a:p>
          <a:p>
            <a:pPr algn="l">
              <a:lnSpc>
                <a:spcPts val="5772"/>
              </a:lnSpc>
            </a:pPr>
            <a:r>
              <a:rPr lang="en-US" sz="485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CLRF PORTB</a:t>
            </a:r>
          </a:p>
          <a:p>
            <a:pPr algn="l">
              <a:lnSpc>
                <a:spcPts val="5772"/>
              </a:lnSpc>
            </a:pPr>
            <a:r>
              <a:rPr lang="en-US" sz="485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Inicio:</a:t>
            </a:r>
          </a:p>
          <a:p>
            <a:pPr algn="l">
              <a:lnSpc>
                <a:spcPts val="5772"/>
              </a:lnSpc>
            </a:pPr>
            <a:r>
              <a:rPr lang="en-US" sz="485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CALL EnciendeLED</a:t>
            </a:r>
          </a:p>
          <a:p>
            <a:pPr algn="l">
              <a:lnSpc>
                <a:spcPts val="5772"/>
              </a:lnSpc>
            </a:pPr>
            <a:r>
              <a:rPr lang="en-US" sz="485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MOVWF PORTB </a:t>
            </a:r>
          </a:p>
          <a:p>
            <a:pPr algn="l">
              <a:lnSpc>
                <a:spcPts val="5772"/>
              </a:lnSpc>
            </a:pPr>
            <a:r>
              <a:rPr lang="en-US" sz="485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GOTO Inicio</a:t>
            </a:r>
          </a:p>
          <a:p>
            <a:pPr algn="l">
              <a:lnSpc>
                <a:spcPts val="5772"/>
              </a:lnSpc>
            </a:pPr>
            <a:r>
              <a:rPr lang="en-US" sz="485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EnciendeLED:</a:t>
            </a:r>
          </a:p>
          <a:p>
            <a:pPr algn="l">
              <a:lnSpc>
                <a:spcPts val="5772"/>
              </a:lnSpc>
            </a:pPr>
            <a:r>
              <a:rPr lang="en-US" sz="485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BSF PORTB, 0 ; Enciende el LED en RB0</a:t>
            </a:r>
          </a:p>
          <a:p>
            <a:pPr algn="l">
              <a:lnSpc>
                <a:spcPts val="5772"/>
              </a:lnSpc>
            </a:pPr>
            <a:r>
              <a:rPr lang="en-US" sz="485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RETLW b'00000001' ; o return, y arriba movlw b’00000001'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045879" y="1731560"/>
            <a:ext cx="8983949" cy="900282"/>
          </a:xfrm>
          <a:custGeom>
            <a:avLst/>
            <a:gdLst/>
            <a:ahLst/>
            <a:cxnLst/>
            <a:rect r="r" b="b" t="t" l="l"/>
            <a:pathLst>
              <a:path h="900282" w="8983949">
                <a:moveTo>
                  <a:pt x="0" y="0"/>
                </a:moveTo>
                <a:lnTo>
                  <a:pt x="8983950" y="0"/>
                </a:lnTo>
                <a:lnTo>
                  <a:pt x="8983950" y="900282"/>
                </a:lnTo>
                <a:lnTo>
                  <a:pt x="0" y="9002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39319" r="0" b="-55858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16921" y="1815297"/>
            <a:ext cx="13054158" cy="81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4"/>
              </a:lnSpc>
            </a:pPr>
            <a:r>
              <a:rPr lang="en-US" sz="5449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W y F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728" y="-4123228"/>
            <a:ext cx="18533456" cy="18533456"/>
          </a:xfrm>
          <a:custGeom>
            <a:avLst/>
            <a:gdLst/>
            <a:ahLst/>
            <a:cxnLst/>
            <a:rect r="r" b="b" t="t" l="l"/>
            <a:pathLst>
              <a:path h="18533456" w="18533456">
                <a:moveTo>
                  <a:pt x="0" y="0"/>
                </a:moveTo>
                <a:lnTo>
                  <a:pt x="18533456" y="0"/>
                </a:lnTo>
                <a:lnTo>
                  <a:pt x="18533456" y="18533456"/>
                </a:lnTo>
                <a:lnTo>
                  <a:pt x="0" y="18533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38225" y="0"/>
            <a:ext cx="0" cy="10303804"/>
          </a:xfrm>
          <a:prstGeom prst="line">
            <a:avLst/>
          </a:prstGeom>
          <a:ln cap="flat" w="190500">
            <a:solidFill>
              <a:srgbClr val="FD94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57588" y="297355"/>
            <a:ext cx="10085353" cy="3997467"/>
          </a:xfrm>
          <a:custGeom>
            <a:avLst/>
            <a:gdLst/>
            <a:ahLst/>
            <a:cxnLst/>
            <a:rect r="r" b="b" t="t" l="l"/>
            <a:pathLst>
              <a:path h="3997467" w="10085353">
                <a:moveTo>
                  <a:pt x="0" y="0"/>
                </a:moveTo>
                <a:lnTo>
                  <a:pt x="10085352" y="0"/>
                </a:lnTo>
                <a:lnTo>
                  <a:pt x="10085352" y="3997467"/>
                </a:lnTo>
                <a:lnTo>
                  <a:pt x="0" y="3997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96688" y="1205573"/>
            <a:ext cx="8832047" cy="90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88"/>
              </a:lnSpc>
            </a:pPr>
            <a:r>
              <a:rPr lang="en-US" sz="6764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Ejercicio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84240" y="2229413"/>
            <a:ext cx="8832047" cy="1131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45"/>
              </a:lnSpc>
            </a:pPr>
            <a:r>
              <a:rPr lang="en-US" sz="3247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Hacer los ejercicios de la vez pasada utilizando los registros W y F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53358" y="0"/>
            <a:ext cx="3118707" cy="594709"/>
            <a:chOff x="0" y="0"/>
            <a:chExt cx="1214238" cy="2315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14238" cy="231544"/>
            </a:xfrm>
            <a:custGeom>
              <a:avLst/>
              <a:gdLst/>
              <a:ahLst/>
              <a:cxnLst/>
              <a:rect r="r" b="b" t="t" l="l"/>
              <a:pathLst>
                <a:path h="231544" w="1214238">
                  <a:moveTo>
                    <a:pt x="0" y="0"/>
                  </a:moveTo>
                  <a:lnTo>
                    <a:pt x="1214238" y="0"/>
                  </a:lnTo>
                  <a:lnTo>
                    <a:pt x="1214238" y="231544"/>
                  </a:lnTo>
                  <a:lnTo>
                    <a:pt x="0" y="231544"/>
                  </a:lnTo>
                  <a:close/>
                </a:path>
              </a:pathLst>
            </a:custGeom>
            <a:solidFill>
              <a:srgbClr val="FD94B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14238" cy="269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96688" y="4704397"/>
            <a:ext cx="14734157" cy="414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4925" indent="-422462" lvl="1">
              <a:lnSpc>
                <a:spcPts val="5478"/>
              </a:lnSpc>
              <a:buFont typeface="Arial"/>
              <a:buChar char="•"/>
            </a:pPr>
            <a:r>
              <a:rPr lang="en-US" b="true" sz="3913" i="true">
                <a:solidFill>
                  <a:srgbClr val="000000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Encender un LED solo en el PINB.3, configurándolo aislado</a:t>
            </a:r>
          </a:p>
          <a:p>
            <a:pPr algn="just" marL="844925" indent="-422462" lvl="1">
              <a:lnSpc>
                <a:spcPts val="5478"/>
              </a:lnSpc>
              <a:buFont typeface="Arial"/>
              <a:buChar char="•"/>
            </a:pPr>
            <a:r>
              <a:rPr lang="en-US" b="true" sz="3913" i="true">
                <a:solidFill>
                  <a:srgbClr val="000000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Encender y apagar un LED con un botón</a:t>
            </a:r>
          </a:p>
          <a:p>
            <a:pPr algn="just" marL="844925" indent="-422462" lvl="1">
              <a:lnSpc>
                <a:spcPts val="5478"/>
              </a:lnSpc>
              <a:buFont typeface="Arial"/>
              <a:buChar char="•"/>
            </a:pPr>
            <a:r>
              <a:rPr lang="en-US" b="true" sz="3913" i="true">
                <a:solidFill>
                  <a:srgbClr val="000000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Encender un LED con un botón y que quede prendido después de soltarlo.</a:t>
            </a:r>
          </a:p>
          <a:p>
            <a:pPr algn="just" marL="844925" indent="-422462" lvl="1">
              <a:lnSpc>
                <a:spcPts val="5478"/>
              </a:lnSpc>
              <a:buFont typeface="Arial"/>
              <a:buChar char="•"/>
            </a:pPr>
            <a:r>
              <a:rPr lang="en-US" b="true" sz="3913" i="true">
                <a:solidFill>
                  <a:srgbClr val="000000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Encender un LED con un botón y encender otro led con otro botón.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728" y="-4123228"/>
            <a:ext cx="18533456" cy="18533456"/>
          </a:xfrm>
          <a:custGeom>
            <a:avLst/>
            <a:gdLst/>
            <a:ahLst/>
            <a:cxnLst/>
            <a:rect r="r" b="b" t="t" l="l"/>
            <a:pathLst>
              <a:path h="18533456" w="18533456">
                <a:moveTo>
                  <a:pt x="0" y="0"/>
                </a:moveTo>
                <a:lnTo>
                  <a:pt x="18533456" y="0"/>
                </a:lnTo>
                <a:lnTo>
                  <a:pt x="18533456" y="18533456"/>
                </a:lnTo>
                <a:lnTo>
                  <a:pt x="0" y="18533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98869" y="3195953"/>
            <a:ext cx="8690263" cy="3895095"/>
          </a:xfrm>
          <a:custGeom>
            <a:avLst/>
            <a:gdLst/>
            <a:ahLst/>
            <a:cxnLst/>
            <a:rect r="r" b="b" t="t" l="l"/>
            <a:pathLst>
              <a:path h="3895095" w="8690263">
                <a:moveTo>
                  <a:pt x="0" y="0"/>
                </a:moveTo>
                <a:lnTo>
                  <a:pt x="8690262" y="0"/>
                </a:lnTo>
                <a:lnTo>
                  <a:pt x="8690262" y="3895094"/>
                </a:lnTo>
                <a:lnTo>
                  <a:pt x="0" y="38950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913" r="0" b="-117194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038225" y="0"/>
            <a:ext cx="0" cy="10303804"/>
          </a:xfrm>
          <a:prstGeom prst="line">
            <a:avLst/>
          </a:prstGeom>
          <a:ln cap="flat" w="190500">
            <a:solidFill>
              <a:srgbClr val="FD94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075657" y="4783201"/>
            <a:ext cx="8136686" cy="730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1"/>
              </a:lnSpc>
            </a:pPr>
            <a:r>
              <a:rPr lang="en-US" sz="4900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DECFSZ (Decrement F, Skip if Zero)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12493" y="374892"/>
            <a:ext cx="9767749" cy="2040226"/>
          </a:xfrm>
          <a:custGeom>
            <a:avLst/>
            <a:gdLst/>
            <a:ahLst/>
            <a:cxnLst/>
            <a:rect r="r" b="b" t="t" l="l"/>
            <a:pathLst>
              <a:path h="2040226" w="9767749">
                <a:moveTo>
                  <a:pt x="0" y="0"/>
                </a:moveTo>
                <a:lnTo>
                  <a:pt x="9767749" y="0"/>
                </a:lnTo>
                <a:lnTo>
                  <a:pt x="9767749" y="2040226"/>
                </a:lnTo>
                <a:lnTo>
                  <a:pt x="0" y="20402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4399" r="0" b="-10439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2493" y="682462"/>
            <a:ext cx="9767749" cy="1732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08"/>
              </a:lnSpc>
              <a:spcBef>
                <a:spcPct val="0"/>
              </a:spcBef>
            </a:pPr>
            <a:r>
              <a:rPr lang="en-US" sz="6856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Instrucciones de Aritmética y Lógica: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027705" y="8898466"/>
            <a:ext cx="3596413" cy="805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1"/>
              </a:lnSpc>
              <a:spcBef>
                <a:spcPct val="0"/>
              </a:spcBef>
            </a:pPr>
            <a:r>
              <a:rPr lang="en-US" sz="5871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(Solo unO)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728" y="-4123228"/>
            <a:ext cx="18533456" cy="18533456"/>
          </a:xfrm>
          <a:custGeom>
            <a:avLst/>
            <a:gdLst/>
            <a:ahLst/>
            <a:cxnLst/>
            <a:rect r="r" b="b" t="t" l="l"/>
            <a:pathLst>
              <a:path h="18533456" w="18533456">
                <a:moveTo>
                  <a:pt x="0" y="0"/>
                </a:moveTo>
                <a:lnTo>
                  <a:pt x="18533456" y="0"/>
                </a:lnTo>
                <a:lnTo>
                  <a:pt x="18533456" y="18533456"/>
                </a:lnTo>
                <a:lnTo>
                  <a:pt x="0" y="18533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38225" y="0"/>
            <a:ext cx="0" cy="10303804"/>
          </a:xfrm>
          <a:prstGeom prst="line">
            <a:avLst/>
          </a:prstGeom>
          <a:ln cap="flat" w="190500">
            <a:solidFill>
              <a:srgbClr val="FD94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30468" y="8048625"/>
            <a:ext cx="1633887" cy="2051685"/>
          </a:xfrm>
          <a:custGeom>
            <a:avLst/>
            <a:gdLst/>
            <a:ahLst/>
            <a:cxnLst/>
            <a:rect r="r" b="b" t="t" l="l"/>
            <a:pathLst>
              <a:path h="2051685" w="1633887">
                <a:moveTo>
                  <a:pt x="0" y="0"/>
                </a:moveTo>
                <a:lnTo>
                  <a:pt x="1633888" y="0"/>
                </a:lnTo>
                <a:lnTo>
                  <a:pt x="1633888" y="2051685"/>
                </a:lnTo>
                <a:lnTo>
                  <a:pt x="0" y="2051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66647" y="513613"/>
            <a:ext cx="10123190" cy="1014446"/>
          </a:xfrm>
          <a:custGeom>
            <a:avLst/>
            <a:gdLst/>
            <a:ahLst/>
            <a:cxnLst/>
            <a:rect r="r" b="b" t="t" l="l"/>
            <a:pathLst>
              <a:path h="1014446" w="10123190">
                <a:moveTo>
                  <a:pt x="0" y="0"/>
                </a:moveTo>
                <a:lnTo>
                  <a:pt x="10123190" y="0"/>
                </a:lnTo>
                <a:lnTo>
                  <a:pt x="10123190" y="1014446"/>
                </a:lnTo>
                <a:lnTo>
                  <a:pt x="0" y="10144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39319" r="0" b="-55858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85405" y="637438"/>
            <a:ext cx="12685674" cy="109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6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EJEMPLO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964356" y="2908067"/>
            <a:ext cx="13763770" cy="6875293"/>
          </a:xfrm>
          <a:custGeom>
            <a:avLst/>
            <a:gdLst/>
            <a:ahLst/>
            <a:cxnLst/>
            <a:rect r="r" b="b" t="t" l="l"/>
            <a:pathLst>
              <a:path h="6875293" w="13763770">
                <a:moveTo>
                  <a:pt x="0" y="0"/>
                </a:moveTo>
                <a:lnTo>
                  <a:pt x="13763770" y="0"/>
                </a:lnTo>
                <a:lnTo>
                  <a:pt x="13763770" y="6875293"/>
                </a:lnTo>
                <a:lnTo>
                  <a:pt x="0" y="68752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7569" r="0" b="-5262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199437" y="3636787"/>
            <a:ext cx="13293607" cy="541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5"/>
              </a:lnSpc>
            </a:pPr>
            <a:r>
              <a:rPr lang="en-US" sz="600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MOVLW d’10'                   ; le cargo el valor 10</a:t>
            </a:r>
          </a:p>
          <a:p>
            <a:pPr algn="l">
              <a:lnSpc>
                <a:spcPts val="7145"/>
              </a:lnSpc>
            </a:pPr>
            <a:r>
              <a:rPr lang="en-US" sz="600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MOVWF contador            ; lo muevo a contador</a:t>
            </a:r>
          </a:p>
          <a:p>
            <a:pPr algn="l">
              <a:lnSpc>
                <a:spcPts val="7145"/>
              </a:lnSpc>
            </a:pPr>
            <a:r>
              <a:rPr lang="en-US" sz="600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Inicio:</a:t>
            </a:r>
          </a:p>
          <a:p>
            <a:pPr algn="l">
              <a:lnSpc>
                <a:spcPts val="7145"/>
              </a:lnSpc>
            </a:pPr>
            <a:r>
              <a:rPr lang="en-US" sz="600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DECFSZ contador, F        ; decremento uno</a:t>
            </a:r>
          </a:p>
          <a:p>
            <a:pPr algn="l">
              <a:lnSpc>
                <a:spcPts val="7145"/>
              </a:lnSpc>
            </a:pPr>
            <a:r>
              <a:rPr lang="en-US" sz="600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GOTO Inicio                    ; hago un loop</a:t>
            </a:r>
          </a:p>
          <a:p>
            <a:pPr algn="l">
              <a:lnSpc>
                <a:spcPts val="7145"/>
              </a:lnSpc>
            </a:pPr>
            <a:r>
              <a:rPr lang="en-US" sz="600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END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045879" y="1731560"/>
            <a:ext cx="8983949" cy="900282"/>
          </a:xfrm>
          <a:custGeom>
            <a:avLst/>
            <a:gdLst/>
            <a:ahLst/>
            <a:cxnLst/>
            <a:rect r="r" b="b" t="t" l="l"/>
            <a:pathLst>
              <a:path h="900282" w="8983949">
                <a:moveTo>
                  <a:pt x="0" y="0"/>
                </a:moveTo>
                <a:lnTo>
                  <a:pt x="8983950" y="0"/>
                </a:lnTo>
                <a:lnTo>
                  <a:pt x="8983950" y="900282"/>
                </a:lnTo>
                <a:lnTo>
                  <a:pt x="0" y="9002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39319" r="0" b="-55858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16921" y="1815297"/>
            <a:ext cx="13054158" cy="81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4"/>
              </a:lnSpc>
            </a:pPr>
            <a:r>
              <a:rPr lang="en-US" sz="5449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DECFSZ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728" y="-4123228"/>
            <a:ext cx="18533456" cy="18533456"/>
          </a:xfrm>
          <a:custGeom>
            <a:avLst/>
            <a:gdLst/>
            <a:ahLst/>
            <a:cxnLst/>
            <a:rect r="r" b="b" t="t" l="l"/>
            <a:pathLst>
              <a:path h="18533456" w="18533456">
                <a:moveTo>
                  <a:pt x="0" y="0"/>
                </a:moveTo>
                <a:lnTo>
                  <a:pt x="18533456" y="0"/>
                </a:lnTo>
                <a:lnTo>
                  <a:pt x="18533456" y="18533456"/>
                </a:lnTo>
                <a:lnTo>
                  <a:pt x="0" y="18533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38225" y="0"/>
            <a:ext cx="0" cy="10303804"/>
          </a:xfrm>
          <a:prstGeom prst="line">
            <a:avLst/>
          </a:prstGeom>
          <a:ln cap="flat" w="190500">
            <a:solidFill>
              <a:srgbClr val="FD94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266647" y="513613"/>
            <a:ext cx="10123190" cy="1014446"/>
          </a:xfrm>
          <a:custGeom>
            <a:avLst/>
            <a:gdLst/>
            <a:ahLst/>
            <a:cxnLst/>
            <a:rect r="r" b="b" t="t" l="l"/>
            <a:pathLst>
              <a:path h="1014446" w="10123190">
                <a:moveTo>
                  <a:pt x="0" y="0"/>
                </a:moveTo>
                <a:lnTo>
                  <a:pt x="10123190" y="0"/>
                </a:lnTo>
                <a:lnTo>
                  <a:pt x="10123190" y="1014446"/>
                </a:lnTo>
                <a:lnTo>
                  <a:pt x="0" y="1014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39319" r="0" b="-55858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04439" y="637438"/>
            <a:ext cx="12685674" cy="109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6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¡DELAY SENCILLO!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61121" y="1731560"/>
            <a:ext cx="16240309" cy="8112376"/>
          </a:xfrm>
          <a:custGeom>
            <a:avLst/>
            <a:gdLst/>
            <a:ahLst/>
            <a:cxnLst/>
            <a:rect r="r" b="b" t="t" l="l"/>
            <a:pathLst>
              <a:path h="8112376" w="16240309">
                <a:moveTo>
                  <a:pt x="0" y="0"/>
                </a:moveTo>
                <a:lnTo>
                  <a:pt x="16240309" y="0"/>
                </a:lnTo>
                <a:lnTo>
                  <a:pt x="16240309" y="8112376"/>
                </a:lnTo>
                <a:lnTo>
                  <a:pt x="0" y="81123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7569" r="0" b="-5262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2473" y="1978496"/>
            <a:ext cx="8830319" cy="7203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#include &lt;p16f628a.inc&gt;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ORG 0x00                ; Dirección de inicio del programa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BSF STATUS, RP0     ; Selecciona el banco 1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BCF TRISB, 1          ; Configura PINB.1 como salida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BCF STATUS, RP0     ; Regresa al banco 0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contador      EQU 0X20 ; Define las variables de datos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</a:t>
            </a: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repeticiones EQU 0X21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; Código del programa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inicio: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BSF PORTB, 1        ; Enciende el pin RB1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CALL repetir       ; Llama a la rutina de delay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BCF PORTB, 1        ; Apaga el pin RB1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CALL repetir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GOTO inicio         ; Vuelve a empezar el ciclo</a:t>
            </a:r>
          </a:p>
          <a:p>
            <a:pPr algn="l">
              <a:lnSpc>
                <a:spcPts val="336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328242" y="1978496"/>
            <a:ext cx="8830319" cy="762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; Rutina de delay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delay: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MOVLW d'255'       ; Carga el valor 255 en W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MOVWF contador    ; Mueve el valor de W a contador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loopdelay: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DECFSZ contador, f ; Decrementa contador y salta si es cero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GOTO loopdelay        ; Si no es cero, repite el loop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RETURN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repetir: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MOVLW d'50'       ; Carga el valor 50 en W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MOVWF repeticiones 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repetirloop: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CALL delay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DECFSZ repeticiones, f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GOTO repetirloop</a:t>
            </a: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RETURN             ; Retorna a la llamada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</a:pPr>
            <a:r>
              <a:rPr lang="en-US" sz="2824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END</a:t>
            </a:r>
          </a:p>
        </p:txBody>
      </p:sp>
      <p:sp>
        <p:nvSpPr>
          <p:cNvPr name="AutoShape 9" id="9"/>
          <p:cNvSpPr/>
          <p:nvPr/>
        </p:nvSpPr>
        <p:spPr>
          <a:xfrm flipH="true" flipV="true">
            <a:off x="9067800" y="1731730"/>
            <a:ext cx="19050" cy="6396397"/>
          </a:xfrm>
          <a:prstGeom prst="line">
            <a:avLst/>
          </a:prstGeom>
          <a:ln cap="flat" w="114300">
            <a:solidFill>
              <a:srgbClr val="FED3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9058275" y="3447369"/>
            <a:ext cx="19050" cy="6396397"/>
          </a:xfrm>
          <a:prstGeom prst="line">
            <a:avLst/>
          </a:prstGeom>
          <a:ln cap="flat" w="114300">
            <a:solidFill>
              <a:srgbClr val="FED3D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728" y="-4123228"/>
            <a:ext cx="18533456" cy="18533456"/>
          </a:xfrm>
          <a:custGeom>
            <a:avLst/>
            <a:gdLst/>
            <a:ahLst/>
            <a:cxnLst/>
            <a:rect r="r" b="b" t="t" l="l"/>
            <a:pathLst>
              <a:path h="18533456" w="18533456">
                <a:moveTo>
                  <a:pt x="0" y="0"/>
                </a:moveTo>
                <a:lnTo>
                  <a:pt x="18533456" y="0"/>
                </a:lnTo>
                <a:lnTo>
                  <a:pt x="18533456" y="18533456"/>
                </a:lnTo>
                <a:lnTo>
                  <a:pt x="0" y="18533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38225" y="0"/>
            <a:ext cx="0" cy="10303804"/>
          </a:xfrm>
          <a:prstGeom prst="line">
            <a:avLst/>
          </a:prstGeom>
          <a:ln cap="flat" w="190500">
            <a:solidFill>
              <a:srgbClr val="FD94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82859" y="793655"/>
            <a:ext cx="12148674" cy="4815293"/>
          </a:xfrm>
          <a:custGeom>
            <a:avLst/>
            <a:gdLst/>
            <a:ahLst/>
            <a:cxnLst/>
            <a:rect r="r" b="b" t="t" l="l"/>
            <a:pathLst>
              <a:path h="4815293" w="12148674">
                <a:moveTo>
                  <a:pt x="0" y="0"/>
                </a:moveTo>
                <a:lnTo>
                  <a:pt x="12148674" y="0"/>
                </a:lnTo>
                <a:lnTo>
                  <a:pt x="12148674" y="4815293"/>
                </a:lnTo>
                <a:lnTo>
                  <a:pt x="0" y="48152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646009" y="499336"/>
            <a:ext cx="3086873" cy="588639"/>
            <a:chOff x="0" y="0"/>
            <a:chExt cx="1214238" cy="2315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4238" cy="231544"/>
            </a:xfrm>
            <a:custGeom>
              <a:avLst/>
              <a:gdLst/>
              <a:ahLst/>
              <a:cxnLst/>
              <a:rect r="r" b="b" t="t" l="l"/>
              <a:pathLst>
                <a:path h="231544" w="1214238">
                  <a:moveTo>
                    <a:pt x="0" y="0"/>
                  </a:moveTo>
                  <a:lnTo>
                    <a:pt x="1214238" y="0"/>
                  </a:lnTo>
                  <a:lnTo>
                    <a:pt x="1214238" y="231544"/>
                  </a:lnTo>
                  <a:lnTo>
                    <a:pt x="0" y="231544"/>
                  </a:lnTo>
                  <a:close/>
                </a:path>
              </a:pathLst>
            </a:custGeom>
            <a:solidFill>
              <a:srgbClr val="FD94B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14238" cy="269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801172" y="4299129"/>
            <a:ext cx="11458128" cy="5695403"/>
          </a:xfrm>
          <a:custGeom>
            <a:avLst/>
            <a:gdLst/>
            <a:ahLst/>
            <a:cxnLst/>
            <a:rect r="r" b="b" t="t" l="l"/>
            <a:pathLst>
              <a:path h="5695403" w="11458128">
                <a:moveTo>
                  <a:pt x="0" y="0"/>
                </a:moveTo>
                <a:lnTo>
                  <a:pt x="11458128" y="0"/>
                </a:lnTo>
                <a:lnTo>
                  <a:pt x="11458128" y="5695403"/>
                </a:lnTo>
                <a:lnTo>
                  <a:pt x="0" y="56954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31256" y="1683172"/>
            <a:ext cx="6074337" cy="89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26"/>
              </a:lnSpc>
            </a:pPr>
            <a:r>
              <a:rPr lang="en-US" sz="6695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Ejercicio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1256" y="2506701"/>
            <a:ext cx="11451879" cy="207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05"/>
              </a:lnSpc>
            </a:pPr>
            <a:r>
              <a:rPr lang="en-US" sz="3146" b="true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 un botón hago parpadear la mitad del puerto y con otro botón la otra mitad, simulan flechas que indican dirección derecha o izquierda</a:t>
            </a:r>
          </a:p>
          <a:p>
            <a:pPr algn="just">
              <a:lnSpc>
                <a:spcPts val="328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728" y="-4123228"/>
            <a:ext cx="18533456" cy="18533456"/>
          </a:xfrm>
          <a:custGeom>
            <a:avLst/>
            <a:gdLst/>
            <a:ahLst/>
            <a:cxnLst/>
            <a:rect r="r" b="b" t="t" l="l"/>
            <a:pathLst>
              <a:path h="18533456" w="18533456">
                <a:moveTo>
                  <a:pt x="0" y="0"/>
                </a:moveTo>
                <a:lnTo>
                  <a:pt x="18533456" y="0"/>
                </a:lnTo>
                <a:lnTo>
                  <a:pt x="18533456" y="18533456"/>
                </a:lnTo>
                <a:lnTo>
                  <a:pt x="0" y="18533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38225" y="0"/>
            <a:ext cx="0" cy="10303804"/>
          </a:xfrm>
          <a:prstGeom prst="line">
            <a:avLst/>
          </a:prstGeom>
          <a:ln cap="flat" w="190500">
            <a:solidFill>
              <a:srgbClr val="FD94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266647" y="513613"/>
            <a:ext cx="10123190" cy="1014446"/>
          </a:xfrm>
          <a:custGeom>
            <a:avLst/>
            <a:gdLst/>
            <a:ahLst/>
            <a:cxnLst/>
            <a:rect r="r" b="b" t="t" l="l"/>
            <a:pathLst>
              <a:path h="1014446" w="10123190">
                <a:moveTo>
                  <a:pt x="0" y="0"/>
                </a:moveTo>
                <a:lnTo>
                  <a:pt x="10123190" y="0"/>
                </a:lnTo>
                <a:lnTo>
                  <a:pt x="10123190" y="1014446"/>
                </a:lnTo>
                <a:lnTo>
                  <a:pt x="0" y="10144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39319" r="0" b="-55858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04439" y="637438"/>
            <a:ext cx="12685674" cy="109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6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Ejercicio - Flechas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61121" y="1731560"/>
            <a:ext cx="16240309" cy="8112376"/>
          </a:xfrm>
          <a:custGeom>
            <a:avLst/>
            <a:gdLst/>
            <a:ahLst/>
            <a:cxnLst/>
            <a:rect r="r" b="b" t="t" l="l"/>
            <a:pathLst>
              <a:path h="8112376" w="16240309">
                <a:moveTo>
                  <a:pt x="0" y="0"/>
                </a:moveTo>
                <a:lnTo>
                  <a:pt x="16240309" y="0"/>
                </a:lnTo>
                <a:lnTo>
                  <a:pt x="16240309" y="8112376"/>
                </a:lnTo>
                <a:lnTo>
                  <a:pt x="0" y="81123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7569" r="0" b="-5262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0755" y="1731730"/>
            <a:ext cx="7339249" cy="7901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#include &lt;p16f628a.inc&gt;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ORG 0x00                ; Dirección de inicio del programa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BSF STATUS, RP0     ; Selecciona el banco 1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CLRF TRISB          ; Configura PORTB como salida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MOVLW b'11000000'   ; Configura los pines RA6-RA7 como entradas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MOVWF TRISA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BCF STATUS, RP0     ; Regresa al banco 0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CLRF PORTB          ; Limpia el puerto B al inicio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contador      EQU 0x20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repeticiones EQU 0x21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inicio: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BTFSC PORTA, 7      ; Verifica el estado del botón en RA7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CALL derecha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BTFSC PORTA, 6      ; Verifica el estado del botón en RA6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CALL izquierda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GOTO inicio         ; Vuelve al inicio del programa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izquierda: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MOVLW b'00001111'   ; Configura la mitad ‘izquierda’ de PORTB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MOVWF PORTB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CALL repetir        ; Llama a la rutina de delay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MOVLW b'00000000'   ; Apaga todos los LEDs en PORTB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MOVWF PORTB   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CALL repetir</a:t>
            </a:r>
          </a:p>
          <a:p>
            <a:pPr algn="l">
              <a:lnSpc>
                <a:spcPts val="2608"/>
              </a:lnSpc>
            </a:pPr>
            <a:r>
              <a:rPr lang="en-US" sz="2191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GOTO inicio         ; Vuelve al inicio del programa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28242" y="1892937"/>
            <a:ext cx="8343900" cy="774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derecha: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MOVLW b'11110000'   ; Configura la mitad ‘derecha’ de PORTB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MOVWF PORTB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CALL repetir        ; Llama a la rutina de delay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MOVLW b'00000000'   ; Apaga todos los LEDs en PORTB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MOVWF PORTB   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CALL repetir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GOTO inicio         ; Vuelve al inicio del programa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delay: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MOVLW d'255'        ; Carga el valor 255 en W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MOVWF contador     ; Mueve el valor de WREG a contador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loopdelay: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DECFSZ contador, f  ; Decrementa contador y salta si es cero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GOTO loopdelay     ; Si no es cero, repite el loop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RETURN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repetir: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MOVLW d'50'         ; Carga el valor 50 en W para la duración del delay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MOVWF repeticiones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repetirloop: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CALL delay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DECFSZ repeticiones, f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GOTO repetirloop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    RETURN             ; Retorna a la llamada</a:t>
            </a:r>
          </a:p>
          <a:p>
            <a:pPr algn="l">
              <a:lnSpc>
                <a:spcPts val="2554"/>
              </a:lnSpc>
            </a:pPr>
            <a:r>
              <a:rPr lang="en-US" sz="2147">
                <a:solidFill>
                  <a:srgbClr val="000000"/>
                </a:solidFill>
                <a:latin typeface="Antonio"/>
                <a:ea typeface="Antonio"/>
                <a:cs typeface="Antonio"/>
                <a:sym typeface="Antonio"/>
              </a:rPr>
              <a:t>END</a:t>
            </a:r>
          </a:p>
        </p:txBody>
      </p:sp>
      <p:sp>
        <p:nvSpPr>
          <p:cNvPr name="AutoShape 9" id="9"/>
          <p:cNvSpPr/>
          <p:nvPr/>
        </p:nvSpPr>
        <p:spPr>
          <a:xfrm flipH="true" flipV="true">
            <a:off x="9067800" y="1731730"/>
            <a:ext cx="19050" cy="6396397"/>
          </a:xfrm>
          <a:prstGeom prst="line">
            <a:avLst/>
          </a:prstGeom>
          <a:ln cap="flat" w="114300">
            <a:solidFill>
              <a:srgbClr val="FED3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9058275" y="3447369"/>
            <a:ext cx="19050" cy="6396397"/>
          </a:xfrm>
          <a:prstGeom prst="line">
            <a:avLst/>
          </a:prstGeom>
          <a:ln cap="flat" w="114300">
            <a:solidFill>
              <a:srgbClr val="FED3D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DAGQj4a-6IU</dc:identifier>
  <dcterms:modified xsi:type="dcterms:W3CDTF">2011-08-01T06:04:30Z</dcterms:modified>
  <cp:revision>1</cp:revision>
  <dc:title>Copia de Instrucciones de</dc:title>
</cp:coreProperties>
</file>