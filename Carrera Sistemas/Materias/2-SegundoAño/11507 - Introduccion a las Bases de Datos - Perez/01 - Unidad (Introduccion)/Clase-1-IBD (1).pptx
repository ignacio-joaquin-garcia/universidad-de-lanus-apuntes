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9" r:id="rId3"/>
    <p:sldId id="301" r:id="rId4"/>
    <p:sldId id="302" r:id="rId5"/>
    <p:sldId id="303" r:id="rId6"/>
    <p:sldId id="304" r:id="rId7"/>
    <p:sldId id="305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5" r:id="rId26"/>
    <p:sldId id="326" r:id="rId27"/>
    <p:sldId id="327" r:id="rId28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2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63B28-680B-40BA-BAF0-CDDC1C32F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6F4BC6-62A8-4F2A-A42D-0CB1F807D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BAFB7C-8E0E-468F-BA89-55C5C2FE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25/3/2026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0D0081-D60A-4E86-81F7-38193259F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70CF7D-0519-41B0-874B-4E2C56616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6438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20AE3C-5B09-4B46-BBE0-E673EEB44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1456C3-604C-4687-B146-FB214A08B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BEEDC8-078C-4C48-BBDF-4E4D45010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25/3/2026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039649-4BA3-4028-A347-55F274A7E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36CBE0-807B-4634-9176-7C7E6E8B0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0743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7C40E-A093-4F77-96EE-E8F47941A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465B42-274D-40BA-A6F3-946ADCF4B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304BA1-F4EF-439F-90ED-A2CC2A9A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25/3/2026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A60864-18DE-4CFC-BF66-FE2811758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621648-0A93-4FD8-9CB6-5343C0019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7045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F827C-B803-48F5-B86D-B92952360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1C588F-852B-449F-975E-7C26A4C79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28B925-1FBB-4681-8B11-C508AF837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E38973-6C14-4026-9C4D-C8F1B2E8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25/3/2026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B0F547-15CD-4553-A2D1-C3755DDCC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283AA8-CF3A-4FCB-8CD5-107F8477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452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43476-8475-4AAE-8E41-9E8F1CBF2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72FE43-6B8E-4D8B-A3D9-6CA2EE859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87F4137-2056-4EE9-BE5D-B34E3F026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D4C370E-B9FC-4E8F-A17D-63E708CE5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D64075D-9E2E-41D3-866F-0F4199976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BF94304-FF68-429E-B125-EB35E568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25/3/2026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B26C90-E586-4C20-A1EE-79559DBC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F78CF1F-BD71-4DFC-AD85-72720AE69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17652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745E7-0DCE-49AB-83CC-67F69A7AA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B90C12-73D7-4B91-A3FE-D9B03C5A3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25/3/2026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9FF3BAE-5BC0-4D7A-BD33-A2C6B7B0B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88DC54-A363-424C-A66E-950C9D5CC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3665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5BD7976-1394-4FC8-B8D7-865E9C8DE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25/3/2026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8F63C5-9F51-4E93-91AC-A9EE785BE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9FE922-64D4-4A87-98A1-87862CBB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97064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E68F91-98B7-4F11-A12E-1213B9CDF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A87097-9CCE-42FD-8F05-1A78140C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E4BB82-AF48-4C1B-9587-B5F2D6E85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C612D5-09C0-4352-B682-F703B649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25/3/2026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1DD472-0CA2-466D-8863-FA5B915C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38939B-14DE-44A5-BF29-1558C10E7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89542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7ADDE8-35D2-4AB3-BFEB-3E15FBBF7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99135E0-503E-4D1E-BD85-3906593DE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C74D96-865F-42AB-A40B-F9A6791D6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13BF82-44D5-4EC7-BF47-69B8AF762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25/3/2026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A47EA8-0240-4B42-8C01-394F3771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600F27-6E77-447C-8A24-E6FAA7675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5796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CA8E7-3B8D-47F4-B1A0-D0DE2E7E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4FD2CF1-4A6B-468C-9999-AE864B208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215B36-3672-4CAF-BE64-1FB65A513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25/3/2026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73B271-8FF8-4297-82AE-18DA79189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0AE8A8-8DE3-4451-9530-27CC790B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5374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0D33723-CDF3-422D-9100-08480E6F2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542780-6BE9-4593-95AF-99AFC00C3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F9F894-81B8-47EC-9C56-0D39A5139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25/3/2026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1B4CFC-A971-433A-817E-EDD6C689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080314-209B-470D-B49D-A95C8B9C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18814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E58368F-FEC0-423C-95A5-91E91030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680BC2-7904-4295-A612-13C8CEDB4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FDD47F-EA9A-4BBB-A3D9-D197C902D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3F69A-07CA-4FA6-8659-3F8184DE9D62}" type="datetimeFigureOut">
              <a:rPr lang="es-AR" smtClean="0"/>
              <a:t>25/3/2026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3967D6-450C-40DE-969C-8C418C949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BC9104-6A80-480C-BEE8-98E6B6634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48518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1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ampus.unla.edu.ar/aulas/mod/assign/view.php?id=534133" TargetMode="Externa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784247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 de texto 2">
            <a:extLst>
              <a:ext uri="{FF2B5EF4-FFF2-40B4-BE49-F238E27FC236}">
                <a16:creationId xmlns:a16="http://schemas.microsoft.com/office/drawing/2014/main" id="{AAE8F54E-1B3A-4600-AFCB-9226D0D55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1234" y="0"/>
            <a:ext cx="10167183" cy="86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20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AR" altLang="es-AR" sz="2400" b="1" dirty="0">
                <a:solidFill>
                  <a:srgbClr val="FFFFFF"/>
                </a:solidFill>
                <a:latin typeface="Calibri Light" panose="020F0302020204030204" pitchFamily="34" charset="0"/>
              </a:rPr>
              <a:t>Universidad Nacional de Lanús – Licenciatura en Sistemas</a:t>
            </a:r>
            <a:endParaRPr kumimoji="0" lang="es-AR" altLang="es-A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297" y="-233866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926" y="986590"/>
            <a:ext cx="3071579" cy="3402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961148" y="4584032"/>
            <a:ext cx="80972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000" b="1" cap="all" dirty="0"/>
              <a:t>Introducción a base de datos</a:t>
            </a:r>
          </a:p>
          <a:p>
            <a:pPr algn="ctr"/>
            <a:endParaRPr lang="es-AR" sz="4000" b="1" cap="all" dirty="0"/>
          </a:p>
        </p:txBody>
      </p:sp>
      <p:pic>
        <p:nvPicPr>
          <p:cNvPr id="15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052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A730D9A-7FB0-6D33-5069-34A8802F8B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481" y="1890517"/>
            <a:ext cx="4460024" cy="253944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9845A05-8809-D51A-191B-E2C61D6833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4600" y="1077156"/>
            <a:ext cx="6358286" cy="435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121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08BCF28-B703-F395-6720-DDE0533C12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278" y="1907936"/>
            <a:ext cx="5074425" cy="175412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99599DF-025C-9062-0CC9-CE8401C3DC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8393" y="1865165"/>
            <a:ext cx="6631329" cy="440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246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35DCC6A-D2CC-E755-7EF5-66D25E1CA2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278" y="2708244"/>
            <a:ext cx="4632666" cy="100883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272A2C5-E05C-6330-C7BD-F8496DF260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010" y="1987242"/>
            <a:ext cx="6986190" cy="419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515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AD17DCC-C4D6-F4C5-AD1D-B6E0008652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4747" y="996422"/>
            <a:ext cx="8434548" cy="512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015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D7B8816-C7C7-BE27-C70D-07CDCC1559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0593" y="1014280"/>
            <a:ext cx="6039096" cy="169603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FAFD2DB-827A-E561-89BE-0BDF70B7CF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278" y="2832439"/>
            <a:ext cx="3180464" cy="211242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B419EC6-ADBF-9FB4-0308-E9B240FA12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1317" y="2832439"/>
            <a:ext cx="3180464" cy="214201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EAFCFD8-AE7C-D18D-F220-D4633197B8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0356" y="2844519"/>
            <a:ext cx="3096659" cy="210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839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2EE11A5-929C-5FC8-CC87-FAE69ADFB6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450" y="1106561"/>
            <a:ext cx="3718413" cy="216974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5DE8171-24C8-C660-512E-59E40A52D1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6240" y="1127964"/>
            <a:ext cx="4567768" cy="309539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C459760-80A2-E84C-6EAD-5651DCE78D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7802" y="4661327"/>
            <a:ext cx="4799263" cy="1215748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0755478A-925A-5D99-243A-1A751BDD1C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2322" y="4399608"/>
            <a:ext cx="2803404" cy="162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736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1FB20CD-192A-6F49-1A83-E289AC30FD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0500" y="951712"/>
            <a:ext cx="5565112" cy="328423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6EA343E-3E63-1C7E-76F2-372F4CAE62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2686" y="945307"/>
            <a:ext cx="5275221" cy="346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285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9B9B29F-D9AF-B362-AA9E-802F78F17B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278" y="1845953"/>
            <a:ext cx="4979783" cy="303117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96F2907-0FF0-D121-9BF5-9D60F02131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4098" y="1671300"/>
            <a:ext cx="5831463" cy="369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73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984FF2-FF56-BF96-8019-FFF13E7A1A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2169" y="1371600"/>
            <a:ext cx="6465893" cy="406986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8C60749-0422-3C4A-6375-2493AA13F7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5041" y="2480720"/>
            <a:ext cx="4092249" cy="170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1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FED9B0-F62D-9C2A-40E3-A9C6FA10D6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717" y="1764418"/>
            <a:ext cx="5743131" cy="375488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09003F9-2B4F-9C5B-A687-A1E0F41B18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0050" y="1710398"/>
            <a:ext cx="5831929" cy="375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916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73D9D33-920C-3AA0-BB73-2385088E42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2319" y="1106561"/>
            <a:ext cx="3670298" cy="110845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8EAD4DC-A580-B346-783D-96873E6F8A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096" y="1113708"/>
            <a:ext cx="7043458" cy="466668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4BBA671-D9C9-0A7D-13B3-B761D251BB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612" y="2539795"/>
            <a:ext cx="4439270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744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Esquemas y Diagramas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4B59CA7-2A67-3B12-FB93-B5075B65B7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840" y="989024"/>
            <a:ext cx="7887772" cy="491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705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Esquemas y Diagramas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53E8E7C-58B1-BC01-18FC-8852CE78F3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1098" y="1069329"/>
            <a:ext cx="7386604" cy="504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229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Ejemplos de BD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6F5634A-381B-77F1-20AC-061E731F8D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7100" y="1077156"/>
            <a:ext cx="7692512" cy="475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827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Esquemas y Diagramas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EB4B314-D6E3-8B36-ADBA-B88B4BDA17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972" y="1801730"/>
            <a:ext cx="5893012" cy="367175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380D0B0-9C1C-D031-A887-2A38EF9D60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3" y="2381089"/>
            <a:ext cx="4459744" cy="217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470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Esquemas y Diagramas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F1CBB8B-6345-E73A-41B3-078A968C23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83" y="2255936"/>
            <a:ext cx="4248743" cy="194337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06D9F17-3ABA-2C15-0AAA-5EC72128E3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3324" y="989024"/>
            <a:ext cx="4097303" cy="124262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2575094-BF4B-AFF9-9C32-BB0C0DC5DD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3324" y="2386268"/>
            <a:ext cx="3442503" cy="1904525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C9971201-F6FB-3363-E6F0-4C6D80C431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7432" y="4445693"/>
            <a:ext cx="4469085" cy="1852798"/>
          </a:xfrm>
          <a:prstGeom prst="rect">
            <a:avLst/>
          </a:prstGeom>
        </p:spPr>
      </p:pic>
      <p:sp>
        <p:nvSpPr>
          <p:cNvPr id="23" name="Abrir llave 22">
            <a:extLst>
              <a:ext uri="{FF2B5EF4-FFF2-40B4-BE49-F238E27FC236}">
                <a16:creationId xmlns:a16="http://schemas.microsoft.com/office/drawing/2014/main" id="{9D70397A-62FD-B0FA-0592-3589BF9699C6}"/>
              </a:ext>
            </a:extLst>
          </p:cNvPr>
          <p:cNvSpPr/>
          <p:nvPr/>
        </p:nvSpPr>
        <p:spPr>
          <a:xfrm>
            <a:off x="4597426" y="1269507"/>
            <a:ext cx="1275898" cy="3799809"/>
          </a:xfrm>
          <a:prstGeom prst="lef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8511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Esquemas y Diagramas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0A5AE5F-DCB3-5AA1-BCA4-6F7E132CF6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7227" y="1419340"/>
            <a:ext cx="9078592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775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Esquemas y Diagramas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68978C0-35CE-AA6A-A0C2-CAFDF98F68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755" y="1069225"/>
            <a:ext cx="4189235" cy="161224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06CCDC5-E736-659B-3E7F-FDFAD244E3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3859" y="1651458"/>
            <a:ext cx="4588731" cy="134154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2AE016A-C1CA-C694-130D-D8317F1CA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9611" y="3485346"/>
            <a:ext cx="4585345" cy="2295048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7C557A3-22BA-011C-DC86-7134D601D1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3466" y="3867907"/>
            <a:ext cx="5047412" cy="232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912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Formas normales - Esquemas y Diagramas</a:t>
            </a: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DCC565F-429E-A882-7996-2870B7B38F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426" y="919599"/>
            <a:ext cx="5691388" cy="266857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2B409BF-D3D9-DA3F-D4F2-2714D687CE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4814" y="3741151"/>
            <a:ext cx="5111501" cy="1823278"/>
          </a:xfrm>
          <a:prstGeom prst="rect">
            <a:avLst/>
          </a:prstGeom>
        </p:spPr>
      </p:pic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F7EE3C77-8336-B663-1132-C291A5FF6EC9}"/>
              </a:ext>
            </a:extLst>
          </p:cNvPr>
          <p:cNvCxnSpPr/>
          <p:nvPr/>
        </p:nvCxnSpPr>
        <p:spPr>
          <a:xfrm>
            <a:off x="6019090" y="2746597"/>
            <a:ext cx="1491448" cy="106009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944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Formas normales - Esquemas y Diagramas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638E65D9-8A21-3EBD-80B0-B2BF1E5B0242}"/>
              </a:ext>
            </a:extLst>
          </p:cNvPr>
          <p:cNvCxnSpPr/>
          <p:nvPr/>
        </p:nvCxnSpPr>
        <p:spPr>
          <a:xfrm>
            <a:off x="452761" y="2441359"/>
            <a:ext cx="10843887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4E30C1F2-EEBE-572D-ADD0-E5A39AAB2D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67870"/>
              </p:ext>
            </p:extLst>
          </p:nvPr>
        </p:nvGraphicFramePr>
        <p:xfrm>
          <a:off x="3154350" y="1325370"/>
          <a:ext cx="5880100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0415">
                  <a:extLst>
                    <a:ext uri="{9D8B030D-6E8A-4147-A177-3AD203B41FA5}">
                      <a16:colId xmlns:a16="http://schemas.microsoft.com/office/drawing/2014/main" val="803095824"/>
                    </a:ext>
                  </a:extLst>
                </a:gridCol>
                <a:gridCol w="1132252">
                  <a:extLst>
                    <a:ext uri="{9D8B030D-6E8A-4147-A177-3AD203B41FA5}">
                      <a16:colId xmlns:a16="http://schemas.microsoft.com/office/drawing/2014/main" val="2363618365"/>
                    </a:ext>
                  </a:extLst>
                </a:gridCol>
                <a:gridCol w="1103708">
                  <a:extLst>
                    <a:ext uri="{9D8B030D-6E8A-4147-A177-3AD203B41FA5}">
                      <a16:colId xmlns:a16="http://schemas.microsoft.com/office/drawing/2014/main" val="1635737097"/>
                    </a:ext>
                  </a:extLst>
                </a:gridCol>
                <a:gridCol w="1322547">
                  <a:extLst>
                    <a:ext uri="{9D8B030D-6E8A-4147-A177-3AD203B41FA5}">
                      <a16:colId xmlns:a16="http://schemas.microsoft.com/office/drawing/2014/main" val="1292786646"/>
                    </a:ext>
                  </a:extLst>
                </a:gridCol>
                <a:gridCol w="761178">
                  <a:extLst>
                    <a:ext uri="{9D8B030D-6E8A-4147-A177-3AD203B41FA5}">
                      <a16:colId xmlns:a16="http://schemas.microsoft.com/office/drawing/2014/main" val="35756648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Nombre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Matricula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DNI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Paridad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 err="1">
                          <a:effectLst/>
                        </a:rPr>
                        <a:t>Dep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899989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Nicolas Ignacio Perez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1111-SIS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11111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DDPyT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12958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Brenda Gomez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22222-POL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22222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1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DPP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1239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Walter Alcaraz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333-SIS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33333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 err="1">
                          <a:effectLst/>
                        </a:rPr>
                        <a:t>DDPyT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55558110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36B6AD42-9C99-A3BD-1E9C-38CD67496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365710"/>
              </p:ext>
            </p:extLst>
          </p:nvPr>
        </p:nvGraphicFramePr>
        <p:xfrm>
          <a:off x="838200" y="3060700"/>
          <a:ext cx="10515601" cy="737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8977">
                  <a:extLst>
                    <a:ext uri="{9D8B030D-6E8A-4147-A177-3AD203B41FA5}">
                      <a16:colId xmlns:a16="http://schemas.microsoft.com/office/drawing/2014/main" val="1664953715"/>
                    </a:ext>
                  </a:extLst>
                </a:gridCol>
                <a:gridCol w="1672657">
                  <a:extLst>
                    <a:ext uri="{9D8B030D-6E8A-4147-A177-3AD203B41FA5}">
                      <a16:colId xmlns:a16="http://schemas.microsoft.com/office/drawing/2014/main" val="803498055"/>
                    </a:ext>
                  </a:extLst>
                </a:gridCol>
                <a:gridCol w="1672657">
                  <a:extLst>
                    <a:ext uri="{9D8B030D-6E8A-4147-A177-3AD203B41FA5}">
                      <a16:colId xmlns:a16="http://schemas.microsoft.com/office/drawing/2014/main" val="1072584993"/>
                    </a:ext>
                  </a:extLst>
                </a:gridCol>
                <a:gridCol w="1869440">
                  <a:extLst>
                    <a:ext uri="{9D8B030D-6E8A-4147-A177-3AD203B41FA5}">
                      <a16:colId xmlns:a16="http://schemas.microsoft.com/office/drawing/2014/main" val="2010171815"/>
                    </a:ext>
                  </a:extLst>
                </a:gridCol>
                <a:gridCol w="2385996">
                  <a:extLst>
                    <a:ext uri="{9D8B030D-6E8A-4147-A177-3AD203B41FA5}">
                      <a16:colId xmlns:a16="http://schemas.microsoft.com/office/drawing/2014/main" val="2529520980"/>
                    </a:ext>
                  </a:extLst>
                </a:gridCol>
                <a:gridCol w="737937">
                  <a:extLst>
                    <a:ext uri="{9D8B030D-6E8A-4147-A177-3AD203B41FA5}">
                      <a16:colId xmlns:a16="http://schemas.microsoft.com/office/drawing/2014/main" val="2964061313"/>
                    </a:ext>
                  </a:extLst>
                </a:gridCol>
                <a:gridCol w="737937">
                  <a:extLst>
                    <a:ext uri="{9D8B030D-6E8A-4147-A177-3AD203B41FA5}">
                      <a16:colId xmlns:a16="http://schemas.microsoft.com/office/drawing/2014/main" val="4062261226"/>
                    </a:ext>
                  </a:extLst>
                </a:gridCol>
              </a:tblGrid>
              <a:tr h="184484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Nombres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Apellido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Carrera</a:t>
                      </a:r>
                      <a:endParaRPr lang="es-AR" sz="11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Matricula</a:t>
                      </a:r>
                      <a:endParaRPr lang="es-AR" sz="11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DNI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Paridad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 err="1">
                          <a:effectLst/>
                        </a:rPr>
                        <a:t>Dep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extLst>
                  <a:ext uri="{0D108BD9-81ED-4DB2-BD59-A6C34878D82A}">
                    <a16:rowId xmlns:a16="http://schemas.microsoft.com/office/drawing/2014/main" val="3992190277"/>
                  </a:ext>
                </a:extLst>
              </a:tr>
              <a:tr h="184484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Nicolas Ignacio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Perez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SIS</a:t>
                      </a:r>
                      <a:endParaRPr lang="es-AR" sz="11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1111</a:t>
                      </a:r>
                      <a:endParaRPr lang="es-AR" sz="11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11111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DDPyT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extLst>
                  <a:ext uri="{0D108BD9-81ED-4DB2-BD59-A6C34878D82A}">
                    <a16:rowId xmlns:a16="http://schemas.microsoft.com/office/drawing/2014/main" val="4271705775"/>
                  </a:ext>
                </a:extLst>
              </a:tr>
              <a:tr h="184484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Brenda 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 Gomez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FERRO</a:t>
                      </a:r>
                      <a:endParaRPr lang="es-AR" sz="11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2222</a:t>
                      </a:r>
                      <a:endParaRPr lang="es-AR" sz="11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22222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1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DPP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extLst>
                  <a:ext uri="{0D108BD9-81ED-4DB2-BD59-A6C34878D82A}">
                    <a16:rowId xmlns:a16="http://schemas.microsoft.com/office/drawing/2014/main" val="1826863223"/>
                  </a:ext>
                </a:extLst>
              </a:tr>
              <a:tr h="184484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Walter 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Alcaraz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SIS</a:t>
                      </a:r>
                      <a:endParaRPr lang="es-AR" sz="11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333</a:t>
                      </a:r>
                      <a:endParaRPr lang="es-AR" sz="11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33333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 err="1">
                          <a:effectLst/>
                        </a:rPr>
                        <a:t>DDPyT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extLst>
                  <a:ext uri="{0D108BD9-81ED-4DB2-BD59-A6C34878D82A}">
                    <a16:rowId xmlns:a16="http://schemas.microsoft.com/office/drawing/2014/main" val="1084826790"/>
                  </a:ext>
                </a:extLst>
              </a:tr>
            </a:tbl>
          </a:graphicData>
        </a:graphic>
      </p:graphicFrame>
      <p:sp>
        <p:nvSpPr>
          <p:cNvPr id="22" name="CuadroTexto 21">
            <a:extLst>
              <a:ext uri="{FF2B5EF4-FFF2-40B4-BE49-F238E27FC236}">
                <a16:creationId xmlns:a16="http://schemas.microsoft.com/office/drawing/2014/main" id="{48FE3BFE-3DCC-6E22-E30D-2A701F054D31}"/>
              </a:ext>
            </a:extLst>
          </p:cNvPr>
          <p:cNvSpPr txBox="1"/>
          <p:nvPr/>
        </p:nvSpPr>
        <p:spPr>
          <a:xfrm>
            <a:off x="9587882" y="1325370"/>
            <a:ext cx="2201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Tabla Estudiante!!!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60F9BB7-E12B-9BEC-E4A2-EAE96312D7D5}"/>
              </a:ext>
            </a:extLst>
          </p:cNvPr>
          <p:cNvSpPr txBox="1"/>
          <p:nvPr/>
        </p:nvSpPr>
        <p:spPr>
          <a:xfrm>
            <a:off x="4307889" y="4089014"/>
            <a:ext cx="101960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Tabla Estudiante!!! En 1FN</a:t>
            </a:r>
          </a:p>
        </p:txBody>
      </p:sp>
    </p:spTree>
    <p:extLst>
      <p:ext uri="{BB962C8B-B14F-4D97-AF65-F5344CB8AC3E}">
        <p14:creationId xmlns:p14="http://schemas.microsoft.com/office/powerpoint/2010/main" val="1592976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Formas normales - Esquemas y Diagramas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35DF6D3-D358-7AD6-FE59-AE276BDE78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128" y="989024"/>
            <a:ext cx="6568258" cy="257104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4B594E3-5841-3066-36A8-48098CB183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5630" y="3444095"/>
            <a:ext cx="4141018" cy="152474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37A3E25-D7FA-3F1F-8501-91CDF05E5F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679" y="3711935"/>
            <a:ext cx="5348635" cy="2571041"/>
          </a:xfrm>
          <a:prstGeom prst="rect">
            <a:avLst/>
          </a:prstGeom>
        </p:spPr>
      </p:pic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FD07FB83-625B-1BED-B4D1-1195A9DFCF44}"/>
              </a:ext>
            </a:extLst>
          </p:cNvPr>
          <p:cNvCxnSpPr>
            <a:cxnSpLocks/>
          </p:cNvCxnSpPr>
          <p:nvPr/>
        </p:nvCxnSpPr>
        <p:spPr>
          <a:xfrm>
            <a:off x="7374395" y="2209278"/>
            <a:ext cx="1645318" cy="122822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87E75562-D023-C3CB-0033-BAC0F2D42D77}"/>
              </a:ext>
            </a:extLst>
          </p:cNvPr>
          <p:cNvCxnSpPr>
            <a:cxnSpLocks/>
          </p:cNvCxnSpPr>
          <p:nvPr/>
        </p:nvCxnSpPr>
        <p:spPr>
          <a:xfrm flipH="1">
            <a:off x="5563164" y="3058739"/>
            <a:ext cx="357139" cy="65319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165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Formas normales - Esquemas y Diagramas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875A10FB-155A-C96D-3CE4-3EE4451EB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310110"/>
              </p:ext>
            </p:extLst>
          </p:nvPr>
        </p:nvGraphicFramePr>
        <p:xfrm>
          <a:off x="1119611" y="2821721"/>
          <a:ext cx="3568700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2798">
                  <a:extLst>
                    <a:ext uri="{9D8B030D-6E8A-4147-A177-3AD203B41FA5}">
                      <a16:colId xmlns:a16="http://schemas.microsoft.com/office/drawing/2014/main" val="1387718528"/>
                    </a:ext>
                  </a:extLst>
                </a:gridCol>
                <a:gridCol w="761323">
                  <a:extLst>
                    <a:ext uri="{9D8B030D-6E8A-4147-A177-3AD203B41FA5}">
                      <a16:colId xmlns:a16="http://schemas.microsoft.com/office/drawing/2014/main" val="650317861"/>
                    </a:ext>
                  </a:extLst>
                </a:gridCol>
                <a:gridCol w="1484579">
                  <a:extLst>
                    <a:ext uri="{9D8B030D-6E8A-4147-A177-3AD203B41FA5}">
                      <a16:colId xmlns:a16="http://schemas.microsoft.com/office/drawing/2014/main" val="39455880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Nombres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Apellido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DNI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936407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Nicolas Ignacio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Perez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11111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373057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Brenda 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 Gomez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22222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653834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Walter 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Alcaraz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33333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75557770"/>
                  </a:ext>
                </a:extLst>
              </a:tr>
            </a:tbl>
          </a:graphicData>
        </a:graphic>
      </p:graphicFrame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821F01E-F148-CD8B-680E-FA35FD1A7F44}"/>
              </a:ext>
            </a:extLst>
          </p:cNvPr>
          <p:cNvCxnSpPr/>
          <p:nvPr/>
        </p:nvCxnSpPr>
        <p:spPr>
          <a:xfrm>
            <a:off x="452761" y="2441359"/>
            <a:ext cx="10843887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4B3A9F76-815D-42DF-97EA-B063542AC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232015"/>
              </p:ext>
            </p:extLst>
          </p:nvPr>
        </p:nvGraphicFramePr>
        <p:xfrm>
          <a:off x="1228722" y="1336578"/>
          <a:ext cx="10515601" cy="737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8977">
                  <a:extLst>
                    <a:ext uri="{9D8B030D-6E8A-4147-A177-3AD203B41FA5}">
                      <a16:colId xmlns:a16="http://schemas.microsoft.com/office/drawing/2014/main" val="1044589520"/>
                    </a:ext>
                  </a:extLst>
                </a:gridCol>
                <a:gridCol w="1672657">
                  <a:extLst>
                    <a:ext uri="{9D8B030D-6E8A-4147-A177-3AD203B41FA5}">
                      <a16:colId xmlns:a16="http://schemas.microsoft.com/office/drawing/2014/main" val="4242307328"/>
                    </a:ext>
                  </a:extLst>
                </a:gridCol>
                <a:gridCol w="1672657">
                  <a:extLst>
                    <a:ext uri="{9D8B030D-6E8A-4147-A177-3AD203B41FA5}">
                      <a16:colId xmlns:a16="http://schemas.microsoft.com/office/drawing/2014/main" val="1986384294"/>
                    </a:ext>
                  </a:extLst>
                </a:gridCol>
                <a:gridCol w="1869440">
                  <a:extLst>
                    <a:ext uri="{9D8B030D-6E8A-4147-A177-3AD203B41FA5}">
                      <a16:colId xmlns:a16="http://schemas.microsoft.com/office/drawing/2014/main" val="791139039"/>
                    </a:ext>
                  </a:extLst>
                </a:gridCol>
                <a:gridCol w="2385996">
                  <a:extLst>
                    <a:ext uri="{9D8B030D-6E8A-4147-A177-3AD203B41FA5}">
                      <a16:colId xmlns:a16="http://schemas.microsoft.com/office/drawing/2014/main" val="2591697312"/>
                    </a:ext>
                  </a:extLst>
                </a:gridCol>
                <a:gridCol w="737937">
                  <a:extLst>
                    <a:ext uri="{9D8B030D-6E8A-4147-A177-3AD203B41FA5}">
                      <a16:colId xmlns:a16="http://schemas.microsoft.com/office/drawing/2014/main" val="2247246439"/>
                    </a:ext>
                  </a:extLst>
                </a:gridCol>
                <a:gridCol w="737937">
                  <a:extLst>
                    <a:ext uri="{9D8B030D-6E8A-4147-A177-3AD203B41FA5}">
                      <a16:colId xmlns:a16="http://schemas.microsoft.com/office/drawing/2014/main" val="1631330351"/>
                    </a:ext>
                  </a:extLst>
                </a:gridCol>
              </a:tblGrid>
              <a:tr h="184484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Nombres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>
                          <a:effectLst/>
                        </a:rPr>
                        <a:t>Apellido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Carrera</a:t>
                      </a:r>
                      <a:endParaRPr lang="es-AR" sz="11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>
                          <a:solidFill>
                            <a:srgbClr val="FF0000"/>
                          </a:solidFill>
                          <a:effectLst/>
                        </a:rPr>
                        <a:t>Matricula</a:t>
                      </a:r>
                      <a:endParaRPr lang="es-AR" sz="1100" b="1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>
                          <a:effectLst/>
                        </a:rPr>
                        <a:t>DNI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Paridad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Dep</a:t>
                      </a:r>
                      <a:endParaRPr lang="es-AR" sz="11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extLst>
                  <a:ext uri="{0D108BD9-81ED-4DB2-BD59-A6C34878D82A}">
                    <a16:rowId xmlns:a16="http://schemas.microsoft.com/office/drawing/2014/main" val="3839570849"/>
                  </a:ext>
                </a:extLst>
              </a:tr>
              <a:tr h="184484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Nicolas Ignacio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Perez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SIS</a:t>
                      </a:r>
                      <a:endParaRPr lang="es-AR" sz="11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1111</a:t>
                      </a:r>
                      <a:endParaRPr lang="es-AR" sz="11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11111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DDPyT</a:t>
                      </a:r>
                      <a:endParaRPr lang="es-AR" sz="11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extLst>
                  <a:ext uri="{0D108BD9-81ED-4DB2-BD59-A6C34878D82A}">
                    <a16:rowId xmlns:a16="http://schemas.microsoft.com/office/drawing/2014/main" val="3999711523"/>
                  </a:ext>
                </a:extLst>
              </a:tr>
              <a:tr h="184484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Brenda 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 Gomez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solidFill>
                            <a:srgbClr val="FF0000"/>
                          </a:solidFill>
                          <a:effectLst/>
                        </a:rPr>
                        <a:t>FERRO</a:t>
                      </a:r>
                      <a:endParaRPr lang="es-AR" sz="11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2222</a:t>
                      </a:r>
                      <a:endParaRPr lang="es-AR" sz="11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22222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1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DPP</a:t>
                      </a:r>
                      <a:endParaRPr lang="es-AR" sz="11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extLst>
                  <a:ext uri="{0D108BD9-81ED-4DB2-BD59-A6C34878D82A}">
                    <a16:rowId xmlns:a16="http://schemas.microsoft.com/office/drawing/2014/main" val="4263149868"/>
                  </a:ext>
                </a:extLst>
              </a:tr>
              <a:tr h="184484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Walter 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Alcaraz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solidFill>
                            <a:srgbClr val="FF0000"/>
                          </a:solidFill>
                          <a:effectLst/>
                        </a:rPr>
                        <a:t>SIS</a:t>
                      </a:r>
                      <a:endParaRPr lang="es-AR" sz="11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333</a:t>
                      </a:r>
                      <a:endParaRPr lang="es-AR" sz="11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33333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DDPyT</a:t>
                      </a:r>
                      <a:endParaRPr lang="es-AR" sz="11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24" marR="9224" marT="9224" marB="0" anchor="b"/>
                </a:tc>
                <a:extLst>
                  <a:ext uri="{0D108BD9-81ED-4DB2-BD59-A6C34878D82A}">
                    <a16:rowId xmlns:a16="http://schemas.microsoft.com/office/drawing/2014/main" val="2570860536"/>
                  </a:ext>
                </a:extLst>
              </a:tr>
            </a:tbl>
          </a:graphicData>
        </a:graphic>
      </p:graphicFrame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AB787082-B942-A3C8-3656-4804FDD18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654269"/>
              </p:ext>
            </p:extLst>
          </p:nvPr>
        </p:nvGraphicFramePr>
        <p:xfrm>
          <a:off x="5066498" y="3032849"/>
          <a:ext cx="4940300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2501495188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3264676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337509601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 err="1">
                          <a:effectLst/>
                        </a:rPr>
                        <a:t>Id_Carrera</a:t>
                      </a:r>
                      <a:endParaRPr lang="es-AR" sz="11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Matricula</a:t>
                      </a:r>
                      <a:endParaRPr lang="es-AR" sz="11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 err="1">
                          <a:effectLst/>
                        </a:rPr>
                        <a:t>DNI_Estudiante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629150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1</a:t>
                      </a:r>
                      <a:endParaRPr lang="es-AR" sz="11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1111</a:t>
                      </a:r>
                      <a:endParaRPr lang="es-AR" sz="11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1111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14860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2</a:t>
                      </a:r>
                      <a:endParaRPr lang="es-AR" sz="11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2222</a:t>
                      </a:r>
                      <a:endParaRPr lang="es-AR" sz="11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2222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83104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1</a:t>
                      </a:r>
                      <a:endParaRPr lang="es-AR" sz="11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333</a:t>
                      </a:r>
                      <a:endParaRPr lang="es-AR" sz="11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3333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77765217"/>
                  </a:ext>
                </a:extLst>
              </a:tr>
            </a:tbl>
          </a:graphicData>
        </a:graphic>
      </p:graphicFrame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1FC688F9-3E62-AD7E-49C9-2D599D49CF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960958"/>
              </p:ext>
            </p:extLst>
          </p:nvPr>
        </p:nvGraphicFramePr>
        <p:xfrm>
          <a:off x="3740951" y="4663753"/>
          <a:ext cx="3556000" cy="571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1455">
                  <a:extLst>
                    <a:ext uri="{9D8B030D-6E8A-4147-A177-3AD203B41FA5}">
                      <a16:colId xmlns:a16="http://schemas.microsoft.com/office/drawing/2014/main" val="3867073766"/>
                    </a:ext>
                  </a:extLst>
                </a:gridCol>
                <a:gridCol w="1102930">
                  <a:extLst>
                    <a:ext uri="{9D8B030D-6E8A-4147-A177-3AD203B41FA5}">
                      <a16:colId xmlns:a16="http://schemas.microsoft.com/office/drawing/2014/main" val="1884616452"/>
                    </a:ext>
                  </a:extLst>
                </a:gridCol>
                <a:gridCol w="1321615">
                  <a:extLst>
                    <a:ext uri="{9D8B030D-6E8A-4147-A177-3AD203B41FA5}">
                      <a16:colId xmlns:a16="http://schemas.microsoft.com/office/drawing/2014/main" val="97689106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 err="1">
                          <a:effectLst/>
                        </a:rPr>
                        <a:t>Id_Carrera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Carrera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 err="1">
                          <a:effectLst/>
                        </a:rPr>
                        <a:t>Dep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999800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1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SIS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DDPyT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731984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b="1" u="none" strike="noStrike" dirty="0">
                          <a:effectLst/>
                        </a:rPr>
                        <a:t>2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FERRO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DPP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20819618"/>
                  </a:ext>
                </a:extLst>
              </a:tr>
            </a:tbl>
          </a:graphicData>
        </a:graphic>
      </p:graphicFrame>
      <p:sp>
        <p:nvSpPr>
          <p:cNvPr id="18" name="CuadroTexto 17">
            <a:extLst>
              <a:ext uri="{FF2B5EF4-FFF2-40B4-BE49-F238E27FC236}">
                <a16:creationId xmlns:a16="http://schemas.microsoft.com/office/drawing/2014/main" id="{C1C9EF97-7FE9-5D29-C087-FAF4BF86E012}"/>
              </a:ext>
            </a:extLst>
          </p:cNvPr>
          <p:cNvSpPr txBox="1"/>
          <p:nvPr/>
        </p:nvSpPr>
        <p:spPr>
          <a:xfrm>
            <a:off x="4316767" y="979520"/>
            <a:ext cx="101960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Tabla Estudiante!!! En 1FN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BE583F5-7AF1-3FE7-7AFF-1818DAA35245}"/>
              </a:ext>
            </a:extLst>
          </p:cNvPr>
          <p:cNvSpPr txBox="1"/>
          <p:nvPr/>
        </p:nvSpPr>
        <p:spPr>
          <a:xfrm>
            <a:off x="2198949" y="2459380"/>
            <a:ext cx="101960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Tabla “Estudiante”!!! En 2FN                                   Tabla “Legajo”</a:t>
            </a: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r>
              <a:rPr lang="es-AR" dirty="0"/>
              <a:t>			Tabla “Carrera”</a:t>
            </a:r>
          </a:p>
        </p:txBody>
      </p:sp>
    </p:spTree>
    <p:extLst>
      <p:ext uri="{BB962C8B-B14F-4D97-AF65-F5344CB8AC3E}">
        <p14:creationId xmlns:p14="http://schemas.microsoft.com/office/powerpoint/2010/main" val="3618729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Introducción a BD – Clase I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91ECD79-B6F9-7AC0-A4F2-B0A5EBD8D3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9463" y="1106561"/>
            <a:ext cx="6830137" cy="241389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AA94B03-0FF5-1BC1-BF49-45DDB2C06F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6133" y="3877381"/>
            <a:ext cx="6442077" cy="186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9096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Formas normales - Esquemas y Diagramas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DD61CCB5-FADD-A535-9A5E-1DF193FEA517}"/>
              </a:ext>
            </a:extLst>
          </p:cNvPr>
          <p:cNvGraphicFramePr>
            <a:graphicFrameLocks noGrp="1"/>
          </p:cNvGraphicFramePr>
          <p:nvPr/>
        </p:nvGraphicFramePr>
        <p:xfrm>
          <a:off x="1748456" y="1326368"/>
          <a:ext cx="3568700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2798">
                  <a:extLst>
                    <a:ext uri="{9D8B030D-6E8A-4147-A177-3AD203B41FA5}">
                      <a16:colId xmlns:a16="http://schemas.microsoft.com/office/drawing/2014/main" val="289535622"/>
                    </a:ext>
                  </a:extLst>
                </a:gridCol>
                <a:gridCol w="761323">
                  <a:extLst>
                    <a:ext uri="{9D8B030D-6E8A-4147-A177-3AD203B41FA5}">
                      <a16:colId xmlns:a16="http://schemas.microsoft.com/office/drawing/2014/main" val="3044874071"/>
                    </a:ext>
                  </a:extLst>
                </a:gridCol>
                <a:gridCol w="1484579">
                  <a:extLst>
                    <a:ext uri="{9D8B030D-6E8A-4147-A177-3AD203B41FA5}">
                      <a16:colId xmlns:a16="http://schemas.microsoft.com/office/drawing/2014/main" val="111916430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Nombres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Apellido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DNI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976496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Nicolas Ignacio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Perez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11111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819872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Brenda 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 Gomez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22222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51423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Walter 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Alcaraz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33333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2501112"/>
                  </a:ext>
                </a:extLst>
              </a:tr>
            </a:tbl>
          </a:graphicData>
        </a:graphic>
      </p:graphicFrame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F2B2B530-431B-8454-571D-933B85090699}"/>
              </a:ext>
            </a:extLst>
          </p:cNvPr>
          <p:cNvGraphicFramePr>
            <a:graphicFrameLocks noGrp="1"/>
          </p:cNvGraphicFramePr>
          <p:nvPr/>
        </p:nvGraphicFramePr>
        <p:xfrm>
          <a:off x="3081956" y="4035240"/>
          <a:ext cx="2235200" cy="571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1867">
                  <a:extLst>
                    <a:ext uri="{9D8B030D-6E8A-4147-A177-3AD203B41FA5}">
                      <a16:colId xmlns:a16="http://schemas.microsoft.com/office/drawing/2014/main" val="3888800825"/>
                    </a:ext>
                  </a:extLst>
                </a:gridCol>
                <a:gridCol w="1103333">
                  <a:extLst>
                    <a:ext uri="{9D8B030D-6E8A-4147-A177-3AD203B41FA5}">
                      <a16:colId xmlns:a16="http://schemas.microsoft.com/office/drawing/2014/main" val="82909655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Id_Carrera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Carrera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35332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1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SIS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89446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2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FERRO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27155801"/>
                  </a:ext>
                </a:extLst>
              </a:tr>
            </a:tbl>
          </a:graphicData>
        </a:graphic>
      </p:graphicFrame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32E9749E-670A-DCAF-EE18-CB64B0ECF9EB}"/>
              </a:ext>
            </a:extLst>
          </p:cNvPr>
          <p:cNvGraphicFramePr>
            <a:graphicFrameLocks noGrp="1"/>
          </p:cNvGraphicFramePr>
          <p:nvPr/>
        </p:nvGraphicFramePr>
        <p:xfrm>
          <a:off x="6711518" y="4035240"/>
          <a:ext cx="2082800" cy="571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1960">
                  <a:extLst>
                    <a:ext uri="{9D8B030D-6E8A-4147-A177-3AD203B41FA5}">
                      <a16:colId xmlns:a16="http://schemas.microsoft.com/office/drawing/2014/main" val="4036187908"/>
                    </a:ext>
                  </a:extLst>
                </a:gridCol>
                <a:gridCol w="760840">
                  <a:extLst>
                    <a:ext uri="{9D8B030D-6E8A-4147-A177-3AD203B41FA5}">
                      <a16:colId xmlns:a16="http://schemas.microsoft.com/office/drawing/2014/main" val="140071689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Id_Dep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Dep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374213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1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DDPyT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319236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2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DPP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34512623"/>
                  </a:ext>
                </a:extLst>
              </a:tr>
            </a:tbl>
          </a:graphicData>
        </a:graphic>
      </p:graphicFrame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C0195BC4-AE80-0228-8373-5BD548749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168176"/>
              </p:ext>
            </p:extLst>
          </p:nvPr>
        </p:nvGraphicFramePr>
        <p:xfrm>
          <a:off x="4829452" y="2530136"/>
          <a:ext cx="6870700" cy="8314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4239440031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228651558"/>
                    </a:ext>
                  </a:extLst>
                </a:gridCol>
                <a:gridCol w="3489541">
                  <a:extLst>
                    <a:ext uri="{9D8B030D-6E8A-4147-A177-3AD203B41FA5}">
                      <a16:colId xmlns:a16="http://schemas.microsoft.com/office/drawing/2014/main" val="3649766409"/>
                    </a:ext>
                  </a:extLst>
                </a:gridCol>
                <a:gridCol w="168059">
                  <a:extLst>
                    <a:ext uri="{9D8B030D-6E8A-4147-A177-3AD203B41FA5}">
                      <a16:colId xmlns:a16="http://schemas.microsoft.com/office/drawing/2014/main" val="1869694415"/>
                    </a:ext>
                  </a:extLst>
                </a:gridCol>
              </a:tblGrid>
              <a:tr h="259903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Id_Carrera</a:t>
                      </a:r>
                      <a:endParaRPr lang="es-AR" sz="1100" b="1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Matricula</a:t>
                      </a:r>
                      <a:endParaRPr lang="es-AR" sz="1100" b="1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DNI_Estudiante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78573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1</a:t>
                      </a:r>
                      <a:endParaRPr lang="es-AR" sz="11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1111</a:t>
                      </a:r>
                      <a:endParaRPr lang="es-AR" sz="11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1111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54895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2</a:t>
                      </a:r>
                      <a:endParaRPr lang="es-AR" sz="11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2222</a:t>
                      </a:r>
                      <a:endParaRPr lang="es-AR" sz="11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2222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386892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1</a:t>
                      </a:r>
                      <a:endParaRPr lang="es-AR" sz="11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333</a:t>
                      </a:r>
                      <a:endParaRPr lang="es-AR" sz="11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3333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67729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9791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6844496" y="2467992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Conceptual - Esquemas y Diagramas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053758B-8D1D-04FB-4C29-0D6BEB69CF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0338" y="1058236"/>
            <a:ext cx="7546019" cy="505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48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6844496" y="2467992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Tareas- Esquemas y Diagramas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64D4AF4-AB85-226E-81A1-A00BA09F60BF}"/>
              </a:ext>
            </a:extLst>
          </p:cNvPr>
          <p:cNvSpPr txBox="1"/>
          <p:nvPr/>
        </p:nvSpPr>
        <p:spPr>
          <a:xfrm>
            <a:off x="1617955" y="2173548"/>
            <a:ext cx="101960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 u="none" strike="noStrike" dirty="0">
                <a:solidFill>
                  <a:srgbClr val="888888"/>
                </a:solidFill>
                <a:effectLst/>
                <a:highlight>
                  <a:srgbClr val="FFFFFF"/>
                </a:highlight>
                <a:latin typeface="Lexend Deca"/>
                <a:hlinkClick r:id="rId5"/>
              </a:rPr>
              <a:t>Entregar la actividad 1 y 2 </a:t>
            </a:r>
            <a:r>
              <a:rPr lang="es-ES" b="0" i="0" dirty="0">
                <a:solidFill>
                  <a:srgbClr val="6A737B"/>
                </a:solidFill>
                <a:effectLst/>
                <a:highlight>
                  <a:srgbClr val="FFFFFF"/>
                </a:highlight>
                <a:latin typeface="Lexend Deca"/>
              </a:rPr>
              <a:t> </a:t>
            </a:r>
          </a:p>
          <a:p>
            <a:pPr algn="l" rtl="0"/>
            <a:r>
              <a:rPr lang="es-ES" b="0" i="0" dirty="0">
                <a:solidFill>
                  <a:srgbClr val="999999"/>
                </a:solidFill>
                <a:effectLst/>
                <a:highlight>
                  <a:srgbClr val="FFFFFF"/>
                </a:highlight>
                <a:latin typeface="Lexend Deca"/>
              </a:rPr>
              <a:t>Solo en formato texto, no hace falta modelar aún.</a:t>
            </a:r>
          </a:p>
        </p:txBody>
      </p:sp>
    </p:spTree>
    <p:extLst>
      <p:ext uri="{BB962C8B-B14F-4D97-AF65-F5344CB8AC3E}">
        <p14:creationId xmlns:p14="http://schemas.microsoft.com/office/powerpoint/2010/main" val="22332505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1319</TotalTime>
  <Words>362</Words>
  <Application>Microsoft Office PowerPoint</Application>
  <PresentationFormat>Panorámica</PresentationFormat>
  <Paragraphs>213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3" baseType="lpstr">
      <vt:lpstr>Aptos Narrow</vt:lpstr>
      <vt:lpstr>Arial</vt:lpstr>
      <vt:lpstr>Calibri</vt:lpstr>
      <vt:lpstr>Calibri Light</vt:lpstr>
      <vt:lpstr>Lexend Deca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Marcela Lepore</dc:creator>
  <cp:lastModifiedBy>Nicolas Perez</cp:lastModifiedBy>
  <cp:revision>65</cp:revision>
  <dcterms:created xsi:type="dcterms:W3CDTF">2020-03-19T18:50:23Z</dcterms:created>
  <dcterms:modified xsi:type="dcterms:W3CDTF">2026-03-25T18:29:09Z</dcterms:modified>
</cp:coreProperties>
</file>