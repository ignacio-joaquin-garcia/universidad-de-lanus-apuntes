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0" r:id="rId3"/>
    <p:sldId id="31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27" r:id="rId1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8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3B28-680B-40BA-BAF0-CDDC1C32F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6F4BC6-62A8-4F2A-A42D-0CB1F807D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BAFB7C-8E0E-468F-BA89-55C5C2FE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D0081-D60A-4E86-81F7-38193259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0CF7D-0519-41B0-874B-4E2C5661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3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0AE3C-5B09-4B46-BBE0-E673EEB4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456C3-604C-4687-B146-FB214A08B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EEDC8-078C-4C48-BBDF-4E4D4501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039649-4BA3-4028-A347-55F274A7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36CBE0-807B-4634-9176-7C7E6E8B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743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7C40E-A093-4F77-96EE-E8F47941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465B42-274D-40BA-A6F3-946ADCF4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04BA1-F4EF-439F-90ED-A2CC2A9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60864-18DE-4CFC-BF66-FE28117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621648-0A93-4FD8-9CB6-5343C001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7045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F827C-B803-48F5-B86D-B9295236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C588F-852B-449F-975E-7C26A4C79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28B925-1FBB-4681-8B11-C508AF837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E38973-6C14-4026-9C4D-C8F1B2E8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B0F547-15CD-4553-A2D1-C3755DDC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283AA8-CF3A-4FCB-8CD5-107F8477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52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43476-8475-4AAE-8E41-9E8F1CBF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72FE43-6B8E-4D8B-A3D9-6CA2EE85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7F4137-2056-4EE9-BE5D-B34E3F026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4C370E-B9FC-4E8F-A17D-63E708CE5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64075D-9E2E-41D3-866F-0F4199976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F94304-FF68-429E-B125-EB35E568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B26C90-E586-4C20-A1EE-79559DBC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78CF1F-BD71-4DFC-AD85-72720AE6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765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745E7-0DCE-49AB-83CC-67F69A7A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B90C12-73D7-4B91-A3FE-D9B03C5A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FF3BAE-5BC0-4D7A-BD33-A2C6B7B0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88DC54-A363-424C-A66E-950C9D5C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665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BD7976-1394-4FC8-B8D7-865E9C8D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8F63C5-9F51-4E93-91AC-A9EE785B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9FE922-64D4-4A87-98A1-87862CBB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06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68F91-98B7-4F11-A12E-1213B9CD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87097-9CCE-42FD-8F05-1A78140C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E4BB82-AF48-4C1B-9587-B5F2D6E85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C612D5-09C0-4352-B682-F703B649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1DD472-0CA2-466D-8863-FA5B915C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38939B-14DE-44A5-BF29-1558C10E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95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ADDE8-35D2-4AB3-BFEB-3E15FBBF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9135E0-503E-4D1E-BD85-3906593DE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C74D96-865F-42AB-A40B-F9A6791D6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13BF82-44D5-4EC7-BF47-69B8AF76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A47EA8-0240-4B42-8C01-394F3771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600F27-6E77-447C-8A24-E6FAA767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79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CA8E7-3B8D-47F4-B1A0-D0DE2E7E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FD2CF1-4A6B-468C-9999-AE864B208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215B36-3672-4CAF-BE64-1FB65A51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3B271-8FF8-4297-82AE-18DA7918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0AE8A8-8DE3-4451-9530-27CC790B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537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D33723-CDF3-422D-9100-08480E6F2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542780-6BE9-4593-95AF-99AFC00C3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F9F894-81B8-47EC-9C56-0D39A513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1B4CFC-A971-433A-817E-EDD6C689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80314-209B-470D-B49D-A95C8B9C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881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58368F-FEC0-423C-95A5-91E91030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680BC2-7904-4295-A612-13C8CEDB4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FDD47F-EA9A-4BBB-A3D9-D197C902D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3F69A-07CA-4FA6-8659-3F8184DE9D62}" type="datetimeFigureOut">
              <a:rPr lang="es-AR" smtClean="0"/>
              <a:t>12/4/2024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3967D6-450C-40DE-969C-8C418C949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BC9104-6A80-480C-BEE8-98E6B663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851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meet.jit.si/NykolaiPerezUNLa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rive.google.com/drive/folders/1d2NuLgnlOxbYPgDQgUX8Pwap14td6ABr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join.slack.com/t/unlaintroducc-h043173/shared_invite/zt-2f6q5j66t-mogSZ1wXc7qWGOp72FWgsg" TargetMode="External"/><Relationship Id="rId5" Type="http://schemas.openxmlformats.org/officeDocument/2006/relationships/hyperlink" Target="mailto:nperez_dcao_smn@outlook.com" TargetMode="External"/><Relationship Id="rId10" Type="http://schemas.openxmlformats.org/officeDocument/2006/relationships/hyperlink" Target="https://docs.google.com/document/d/1I0NOGxg7edPDs2U79X3hLbGsA_vNzmPvMa_fIJuw1io/edit?usp=sharing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docs.google.com/document/d/1Afx2Rvph6fkJGVeyWlSwFmN64jjcjxiGAB4Zvb-9VHc/edit?usp=shar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ampus.unla.edu.ar/aulas/mod/assign/view.php?id=534133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784247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234" y="0"/>
            <a:ext cx="10167183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2400" b="1" dirty="0">
                <a:solidFill>
                  <a:srgbClr val="FFFFFF"/>
                </a:solidFill>
                <a:latin typeface="Calibri Light" panose="020F0302020204030204" pitchFamily="34" charset="0"/>
              </a:rPr>
              <a:t>Universidad Nacional de Lanús – Licenciatura en Sistemas</a:t>
            </a: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97" y="-233866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926" y="986590"/>
            <a:ext cx="3071579" cy="340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961148" y="4584032"/>
            <a:ext cx="80972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000" b="1" cap="all" dirty="0"/>
              <a:t>Introducción a base de datos</a:t>
            </a:r>
          </a:p>
          <a:p>
            <a:pPr algn="ctr"/>
            <a:endParaRPr lang="es-AR" sz="4000" b="1" cap="all" dirty="0"/>
          </a:p>
        </p:txBody>
      </p:sp>
      <p:pic>
        <p:nvPicPr>
          <p:cNvPr id="15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5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 a BD – Clase II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205728" y="1502662"/>
            <a:ext cx="107562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s-ES" sz="1400" b="1" i="0" dirty="0">
                <a:solidFill>
                  <a:srgbClr val="EF4540"/>
                </a:solidFill>
                <a:effectLst/>
                <a:highlight>
                  <a:srgbClr val="FFFFFF"/>
                </a:highlight>
                <a:latin typeface="Droid Sans"/>
              </a:rPr>
              <a:t>Docente: 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Nicolás Perez</a:t>
            </a: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>
                <a:solidFill>
                  <a:srgbClr val="98CA3E"/>
                </a:solidFill>
                <a:effectLst/>
                <a:highlight>
                  <a:srgbClr val="FFFFFF"/>
                </a:highlight>
                <a:latin typeface="Droid Sans"/>
              </a:rPr>
              <a:t>Contactos: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 </a:t>
            </a:r>
            <a:r>
              <a:rPr lang="es-ES" sz="1400" b="1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Droid Sans"/>
                <a:hlinkClick r:id="rId5"/>
              </a:rPr>
              <a:t>nperez_dcao_smn@outlook.com</a:t>
            </a:r>
            <a:endParaRPr lang="es-ES" sz="1400" b="1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Droid Sans"/>
            </a:endParaRP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 err="1">
                <a:solidFill>
                  <a:srgbClr val="7D9FD3"/>
                </a:solidFill>
                <a:effectLst/>
                <a:highlight>
                  <a:srgbClr val="FFFFFF"/>
                </a:highlight>
                <a:latin typeface="Droid Sans"/>
              </a:rPr>
              <a:t>Slack</a:t>
            </a:r>
            <a:r>
              <a:rPr lang="es-ES" sz="1400" b="1" i="0" dirty="0">
                <a:solidFill>
                  <a:srgbClr val="7D9FD3"/>
                </a:solidFill>
                <a:effectLst/>
                <a:highlight>
                  <a:srgbClr val="FFFFFF"/>
                </a:highlight>
                <a:latin typeface="Droid Sans"/>
              </a:rPr>
              <a:t>: </a:t>
            </a:r>
            <a:r>
              <a:rPr lang="es-ES" sz="1400" b="1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Droid Sans"/>
                <a:hlinkClick r:id="rId6"/>
              </a:rPr>
              <a:t>https://join.slack.com/t/unlaintroducc-h043173/shared_invite/zt-2f6q5j66t-mogSZ1wXc7qWGOp72FWgsg</a:t>
            </a:r>
            <a:endParaRPr lang="es-ES" sz="1400" b="1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Droid Sans"/>
            </a:endParaRP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>
                <a:solidFill>
                  <a:srgbClr val="FFCF35"/>
                </a:solidFill>
                <a:effectLst/>
                <a:highlight>
                  <a:srgbClr val="FFFFFF"/>
                </a:highlight>
                <a:latin typeface="Droid Sans"/>
              </a:rPr>
              <a:t>Lista de reproducción: 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 </a:t>
            </a:r>
            <a:r>
              <a:rPr lang="es-ES" sz="1400" b="1" i="0" dirty="0">
                <a:solidFill>
                  <a:srgbClr val="7D9FD3"/>
                </a:solidFill>
                <a:effectLst/>
                <a:highlight>
                  <a:srgbClr val="FFFFFF"/>
                </a:highlight>
                <a:latin typeface="Droid Sans"/>
              </a:rPr>
              <a:t> https://www.youtube.com/playlist?list=PLbwWly6AYXqfAvRqdIkHaAdH7Zcpn8wzV</a:t>
            </a:r>
            <a:b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</a:br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>
                <a:solidFill>
                  <a:srgbClr val="AD529E"/>
                </a:solidFill>
                <a:effectLst/>
                <a:highlight>
                  <a:srgbClr val="FFFFFF"/>
                </a:highlight>
                <a:latin typeface="Droid Sans"/>
              </a:rPr>
              <a:t>Material digital: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</a:t>
            </a:r>
            <a:r>
              <a:rPr lang="es-ES" sz="1400" b="1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Droid Sans"/>
                <a:hlinkClick r:id="rId7"/>
              </a:rPr>
              <a:t>https://drive.google.com/drive/folders/1d2NuLgnlOxbYPgDQgUX8Pwap14td6ABr?usp=sharing</a:t>
            </a:r>
            <a:endParaRPr lang="es-ES" sz="1400" b="1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Droid Sans"/>
            </a:endParaRP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r>
              <a:rPr lang="es-ES" sz="1400" b="0" i="0" dirty="0" err="1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Meet</a:t>
            </a:r>
            <a:r>
              <a:rPr lang="es-ES" sz="1400" b="0" i="0" dirty="0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:</a:t>
            </a: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  </a:t>
            </a:r>
            <a:r>
              <a:rPr lang="es-ES" sz="1400" b="0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Lexend Deca"/>
                <a:hlinkClick r:id="rId8"/>
              </a:rPr>
              <a:t>https://meet.jit.si/NykolaiPerezUNLa</a:t>
            </a: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  (</a:t>
            </a:r>
            <a:r>
              <a:rPr lang="es-ES" sz="14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Meet</a:t>
            </a: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 para las clases virtuales y de consulta)</a:t>
            </a:r>
            <a:br>
              <a:rPr lang="es-ES" sz="1400" dirty="0"/>
            </a:br>
            <a:br>
              <a:rPr lang="es-ES" sz="1400" dirty="0"/>
            </a:b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Apunte teórico: </a:t>
            </a:r>
            <a:r>
              <a:rPr lang="es-ES" sz="1400" b="0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Lexend Deca"/>
                <a:hlinkClick r:id="rId9"/>
              </a:rPr>
              <a:t>https://docs.google.com/document/d/1Afx2Rvph6fkJGVeyWlSwFmN64jjcjxiGAB4Zvb-9VHc/edit?usp=sharing</a:t>
            </a:r>
            <a:endParaRPr lang="es-ES" sz="1400" b="0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br>
              <a:rPr lang="es-ES" sz="1400" dirty="0"/>
            </a:b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Apunte práctico: </a:t>
            </a:r>
            <a:r>
              <a:rPr lang="es-ES" sz="1400" b="0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Lexend Deca"/>
                <a:hlinkClick r:id="rId10"/>
              </a:rPr>
              <a:t>https://docs.google.com/document/d/1I0NOGxg7edPDs2U79X3hLbGsA_vNzmPvMa_fIJuw1io/edit?usp=sharing</a:t>
            </a:r>
            <a:br>
              <a:rPr lang="es-ES" sz="1400" dirty="0"/>
            </a:br>
            <a:br>
              <a:rPr lang="es-ES" sz="1400" dirty="0"/>
            </a:br>
            <a:br>
              <a:rPr lang="es-ES" sz="1400" dirty="0"/>
            </a:br>
            <a:r>
              <a:rPr lang="es-ES" sz="1400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Fechas claves, cursada de los Viernes 18hs: </a:t>
            </a:r>
            <a:br>
              <a:rPr lang="es-ES" sz="1400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</a:br>
            <a:r>
              <a:rPr lang="es-ES" sz="1400" b="1" i="1" dirty="0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Aula 11 del </a:t>
            </a:r>
            <a:r>
              <a:rPr lang="es-ES" sz="1400" b="1" i="1" dirty="0" err="1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Hernandez</a:t>
            </a:r>
            <a:br>
              <a:rPr lang="es-ES" sz="1400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</a:br>
            <a:r>
              <a:rPr lang="es-ES" sz="1400" b="1" i="1" dirty="0">
                <a:solidFill>
                  <a:srgbClr val="EF4540"/>
                </a:solidFill>
                <a:effectLst/>
                <a:highlight>
                  <a:srgbClr val="FFFFFF"/>
                </a:highlight>
                <a:latin typeface="Lexend Deca"/>
              </a:rPr>
              <a:t>75% Presencial - 25% Virtual!!!!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2719992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A5AE5F-DCB3-5AA1-BCA4-6F7E132CF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7227" y="1419340"/>
            <a:ext cx="9078592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7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72ABE4-FEEB-9963-3646-5092E6A5B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26" y="1439664"/>
            <a:ext cx="7329945" cy="378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269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E9F1F36-95C5-6926-F7F1-EF751AFA4FFC}"/>
              </a:ext>
            </a:extLst>
          </p:cNvPr>
          <p:cNvSpPr txBox="1"/>
          <p:nvPr/>
        </p:nvSpPr>
        <p:spPr>
          <a:xfrm>
            <a:off x="2504716" y="1365193"/>
            <a:ext cx="736064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Uno a Uno (1:1): </a:t>
            </a:r>
            <a:r>
              <a:rPr lang="es-ES" dirty="0"/>
              <a:t>En una relación uno a uno, una instancia de una entidad está relacionada con exactamente una instancia de otra entidad, y viceversa. </a:t>
            </a:r>
            <a:r>
              <a:rPr lang="es-ES" b="1" dirty="0"/>
              <a:t>Ejemplos: </a:t>
            </a:r>
            <a:r>
              <a:rPr lang="es-ES" dirty="0"/>
              <a:t>(Usuario – Login) (Persona – Pasaporte)(Estudiante – Historial)</a:t>
            </a:r>
          </a:p>
          <a:p>
            <a:endParaRPr lang="es-ES" dirty="0"/>
          </a:p>
          <a:p>
            <a:endParaRPr lang="es-ES" dirty="0"/>
          </a:p>
          <a:p>
            <a:r>
              <a:rPr lang="es-ES" b="1" dirty="0"/>
              <a:t>Uno a Muchos (1:N): </a:t>
            </a:r>
            <a:r>
              <a:rPr lang="es-ES" dirty="0"/>
              <a:t>En una relación uno a muchos, una instancia de una entidad está relacionada con cero o más instancias de otra entidad, pero una instancia de la segunda entidad está relacionada con exactamente una instancia de la primera entidad.</a:t>
            </a:r>
          </a:p>
          <a:p>
            <a:endParaRPr lang="es-ES" dirty="0"/>
          </a:p>
          <a:p>
            <a:endParaRPr lang="es-ES" dirty="0"/>
          </a:p>
          <a:p>
            <a:r>
              <a:rPr lang="es-ES" b="1" dirty="0"/>
              <a:t>Muchos a Muchos (M:N): </a:t>
            </a:r>
            <a:r>
              <a:rPr lang="es-ES" dirty="0"/>
              <a:t>En una relación muchos a muchos, muchas instancias de una entidad están relacionadas con muchas instancias de otra entidad. Este tipo de relación se implementa a menudo utilizando una tabla intermedia.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9930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EDC2ED-3A97-8703-FF1B-2561BC6B7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993" y="1135984"/>
            <a:ext cx="6778719" cy="455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7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5D4CB4-BABB-F5F6-6721-5D03DBEC0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8468" y="1061706"/>
            <a:ext cx="6901457" cy="500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7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A5095C-E9F8-5C2F-639D-ADC265411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9422" y="1106561"/>
            <a:ext cx="6458851" cy="20576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8DC62A3-887E-5242-986C-426EFF7E6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4211" y="3085393"/>
            <a:ext cx="6354062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12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6AD279-DF06-80C6-879C-B0DA93BFE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5547" y="1428471"/>
            <a:ext cx="7020905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2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567455F-0E17-1C4E-EC08-0A6AD92B2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611" y="951712"/>
            <a:ext cx="6792273" cy="24196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639FE9-D1EC-9DF1-E8AB-6905403688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7415" y="3256512"/>
            <a:ext cx="4019941" cy="278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29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6844496" y="2467992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Tareas- Esquemas y Diagramas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64D4AF4-AB85-226E-81A1-A00BA09F60BF}"/>
              </a:ext>
            </a:extLst>
          </p:cNvPr>
          <p:cNvSpPr txBox="1"/>
          <p:nvPr/>
        </p:nvSpPr>
        <p:spPr>
          <a:xfrm>
            <a:off x="1617955" y="2173548"/>
            <a:ext cx="10196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888888"/>
                </a:solidFill>
                <a:effectLst/>
                <a:highlight>
                  <a:srgbClr val="FFFFFF"/>
                </a:highlight>
                <a:latin typeface="Lexend Deca"/>
                <a:hlinkClick r:id="rId5"/>
              </a:rPr>
              <a:t>Entregar la actividad 3 </a:t>
            </a:r>
            <a:endParaRPr lang="es-ES" b="0" i="0" dirty="0">
              <a:solidFill>
                <a:srgbClr val="6A737B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b="0" i="0" dirty="0">
                <a:solidFill>
                  <a:srgbClr val="999999"/>
                </a:solidFill>
                <a:effectLst/>
                <a:highlight>
                  <a:srgbClr val="FFFFFF"/>
                </a:highlight>
                <a:latin typeface="Lexend Deca"/>
              </a:rPr>
              <a:t>En formato de diagrama conceptual, con el SW que quieran. (Dia por ejemplo)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462AE5-EB61-2BBC-90B9-77E114C866D8}"/>
              </a:ext>
            </a:extLst>
          </p:cNvPr>
          <p:cNvSpPr txBox="1"/>
          <p:nvPr/>
        </p:nvSpPr>
        <p:spPr>
          <a:xfrm>
            <a:off x="1617955" y="3355215"/>
            <a:ext cx="101960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Lexend Deca"/>
              </a:rPr>
              <a:t>Analizar los enunciados de toda esta presentación  (Para practicar, no se entrega)</a:t>
            </a:r>
            <a:endParaRPr lang="es-ES" b="0" i="0" dirty="0">
              <a:solidFill>
                <a:schemeClr val="accent1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dirty="0">
                <a:solidFill>
                  <a:srgbClr val="999999"/>
                </a:solidFill>
                <a:highlight>
                  <a:srgbClr val="FFFFFF"/>
                </a:highlight>
                <a:latin typeface="Lexend Deca"/>
              </a:rPr>
              <a:t>Construir los DC de cada enunciado y comprar con las soluciones planteadas, discutir mejoras, errores y variantes entre sus soluciones y las propuestas.</a:t>
            </a:r>
            <a:endParaRPr lang="es-ES" b="0" i="0" dirty="0">
              <a:solidFill>
                <a:srgbClr val="999999"/>
              </a:solidFill>
              <a:effectLst/>
              <a:highlight>
                <a:srgbClr val="FFFFFF"/>
              </a:highlight>
              <a:latin typeface="Lexend Deca"/>
            </a:endParaRPr>
          </a:p>
        </p:txBody>
      </p:sp>
    </p:spTree>
    <p:extLst>
      <p:ext uri="{BB962C8B-B14F-4D97-AF65-F5344CB8AC3E}">
        <p14:creationId xmlns:p14="http://schemas.microsoft.com/office/powerpoint/2010/main" val="22332505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455</Words>
  <Application>Microsoft Office PowerPoint</Application>
  <PresentationFormat>Panorámica</PresentationFormat>
  <Paragraphs>46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Droid Sans</vt:lpstr>
      <vt:lpstr>Lexend Deca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Marcela Lepore</dc:creator>
  <cp:lastModifiedBy>Nicolas Perez</cp:lastModifiedBy>
  <cp:revision>65</cp:revision>
  <dcterms:created xsi:type="dcterms:W3CDTF">2020-03-19T18:50:23Z</dcterms:created>
  <dcterms:modified xsi:type="dcterms:W3CDTF">2024-04-12T17:20:19Z</dcterms:modified>
</cp:coreProperties>
</file>