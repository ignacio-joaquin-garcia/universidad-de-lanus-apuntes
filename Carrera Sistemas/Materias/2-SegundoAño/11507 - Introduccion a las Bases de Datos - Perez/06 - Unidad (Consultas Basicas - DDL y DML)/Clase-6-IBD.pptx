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00" r:id="rId3"/>
    <p:sldId id="334" r:id="rId4"/>
    <p:sldId id="335" r:id="rId5"/>
    <p:sldId id="336" r:id="rId6"/>
    <p:sldId id="337" r:id="rId7"/>
    <p:sldId id="339" r:id="rId8"/>
    <p:sldId id="327" r:id="rId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8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3B28-680B-40BA-BAF0-CDDC1C32F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6F4BC6-62A8-4F2A-A42D-0CB1F807D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BAFB7C-8E0E-468F-BA89-55C5C2FE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10/5/2024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0D0081-D60A-4E86-81F7-38193259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70CF7D-0519-41B0-874B-4E2C5661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43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0AE3C-5B09-4B46-BBE0-E673EEB4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1456C3-604C-4687-B146-FB214A08B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BEEDC8-078C-4C48-BBDF-4E4D4501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10/5/2024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039649-4BA3-4028-A347-55F274A7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36CBE0-807B-4634-9176-7C7E6E8B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743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7C40E-A093-4F77-96EE-E8F47941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465B42-274D-40BA-A6F3-946ADCF4B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04BA1-F4EF-439F-90ED-A2CC2A9A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10/5/2024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60864-18DE-4CFC-BF66-FE281175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621648-0A93-4FD8-9CB6-5343C001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7045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F827C-B803-48F5-B86D-B9295236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C588F-852B-449F-975E-7C26A4C79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28B925-1FBB-4681-8B11-C508AF837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E38973-6C14-4026-9C4D-C8F1B2E8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10/5/2024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B0F547-15CD-4553-A2D1-C3755DDC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283AA8-CF3A-4FCB-8CD5-107F8477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52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43476-8475-4AAE-8E41-9E8F1CBF2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72FE43-6B8E-4D8B-A3D9-6CA2EE859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7F4137-2056-4EE9-BE5D-B34E3F026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4C370E-B9FC-4E8F-A17D-63E708CE5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64075D-9E2E-41D3-866F-0F4199976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F94304-FF68-429E-B125-EB35E568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10/5/2024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B26C90-E586-4C20-A1EE-79559DBC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78CF1F-BD71-4DFC-AD85-72720AE6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7652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745E7-0DCE-49AB-83CC-67F69A7A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B90C12-73D7-4B91-A3FE-D9B03C5A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10/5/2024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FF3BAE-5BC0-4D7A-BD33-A2C6B7B0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88DC54-A363-424C-A66E-950C9D5C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665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5BD7976-1394-4FC8-B8D7-865E9C8D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10/5/2024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8F63C5-9F51-4E93-91AC-A9EE785B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9FE922-64D4-4A87-98A1-87862CBB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706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68F91-98B7-4F11-A12E-1213B9CD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A87097-9CCE-42FD-8F05-1A78140C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E4BB82-AF48-4C1B-9587-B5F2D6E85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C612D5-09C0-4352-B682-F703B649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10/5/2024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1DD472-0CA2-466D-8863-FA5B915C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38939B-14DE-44A5-BF29-1558C10E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954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ADDE8-35D2-4AB3-BFEB-3E15FBBF7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99135E0-503E-4D1E-BD85-3906593DE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C74D96-865F-42AB-A40B-F9A6791D6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13BF82-44D5-4EC7-BF47-69B8AF76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10/5/2024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A47EA8-0240-4B42-8C01-394F3771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600F27-6E77-447C-8A24-E6FAA767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79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CA8E7-3B8D-47F4-B1A0-D0DE2E7E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FD2CF1-4A6B-468C-9999-AE864B208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215B36-3672-4CAF-BE64-1FB65A51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10/5/2024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3B271-8FF8-4297-82AE-18DA7918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0AE8A8-8DE3-4451-9530-27CC790B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537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D33723-CDF3-422D-9100-08480E6F2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542780-6BE9-4593-95AF-99AFC00C3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F9F894-81B8-47EC-9C56-0D39A5139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10/5/2024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1B4CFC-A971-433A-817E-EDD6C689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080314-209B-470D-B49D-A95C8B9C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881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E58368F-FEC0-423C-95A5-91E91030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680BC2-7904-4295-A612-13C8CEDB4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FDD47F-EA9A-4BBB-A3D9-D197C902D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3F69A-07CA-4FA6-8659-3F8184DE9D62}" type="datetimeFigureOut">
              <a:rPr lang="es-AR" smtClean="0"/>
              <a:t>10/5/2024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3967D6-450C-40DE-969C-8C418C949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BC9104-6A80-480C-BEE8-98E6B663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851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meet.jit.si/NykolaiPerezUNLa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rive.google.com/drive/folders/1d2NuLgnlOxbYPgDQgUX8Pwap14td6ABr?usp=sha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join.slack.com/t/unlaintroducc-h043173/shared_invite/zt-2f6q5j66t-mogSZ1wXc7qWGOp72FWgsg" TargetMode="External"/><Relationship Id="rId5" Type="http://schemas.openxmlformats.org/officeDocument/2006/relationships/hyperlink" Target="mailto:nperez_dcao_smn@outlook.com" TargetMode="External"/><Relationship Id="rId10" Type="http://schemas.openxmlformats.org/officeDocument/2006/relationships/hyperlink" Target="https://docs.google.com/document/d/1I0NOGxg7edPDs2U79X3hLbGsA_vNzmPvMa_fIJuw1io/edit?usp=sharing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docs.google.com/document/d/1Afx2Rvph6fkJGVeyWlSwFmN64jjcjxiGAB4Zvb-9VHc/edit?usp=shari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ampus.unla.edu.ar/aulas/mod/assign/view.php?id=534133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784247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234" y="0"/>
            <a:ext cx="10167183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sz="2400" b="1" dirty="0">
                <a:solidFill>
                  <a:srgbClr val="FFFFFF"/>
                </a:solidFill>
                <a:latin typeface="Calibri Light" panose="020F0302020204030204" pitchFamily="34" charset="0"/>
              </a:rPr>
              <a:t>Universidad Nacional de Lanús – Licenciatura en Sistemas</a:t>
            </a: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297" y="-233866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926" y="986590"/>
            <a:ext cx="3071579" cy="3402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961148" y="4584032"/>
            <a:ext cx="80972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000" b="1" cap="all" dirty="0"/>
              <a:t>Introducción a base de datos</a:t>
            </a:r>
          </a:p>
          <a:p>
            <a:pPr algn="ctr"/>
            <a:endParaRPr lang="es-AR" sz="4000" b="1" cap="all" dirty="0"/>
          </a:p>
        </p:txBody>
      </p:sp>
      <p:pic>
        <p:nvPicPr>
          <p:cNvPr id="15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5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 a BD – </a:t>
            </a:r>
            <a:r>
              <a:rPr lang="es-AR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Clase III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205728" y="1502662"/>
            <a:ext cx="1075623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s-ES" sz="1400" b="1" i="0" dirty="0">
                <a:solidFill>
                  <a:srgbClr val="EF4540"/>
                </a:solidFill>
                <a:effectLst/>
                <a:highlight>
                  <a:srgbClr val="FFFFFF"/>
                </a:highlight>
                <a:latin typeface="Droid Sans"/>
              </a:rPr>
              <a:t>Docente: </a:t>
            </a:r>
            <a: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  <a:t> Nicolás Perez</a:t>
            </a:r>
          </a:p>
          <a:p>
            <a:pPr algn="l" rtl="0"/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sz="1400" b="1" i="0" dirty="0">
                <a:solidFill>
                  <a:srgbClr val="98CA3E"/>
                </a:solidFill>
                <a:effectLst/>
                <a:highlight>
                  <a:srgbClr val="FFFFFF"/>
                </a:highlight>
                <a:latin typeface="Droid Sans"/>
              </a:rPr>
              <a:t>Contactos:</a:t>
            </a:r>
            <a: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  <a:t>  </a:t>
            </a:r>
            <a:r>
              <a:rPr lang="es-ES" sz="1400" b="1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Droid Sans"/>
                <a:hlinkClick r:id="rId5"/>
              </a:rPr>
              <a:t>nperez_dcao_smn@outlook.com</a:t>
            </a:r>
            <a:endParaRPr lang="es-ES" sz="1400" b="1" i="0" u="none" strike="noStrike" dirty="0">
              <a:solidFill>
                <a:srgbClr val="51666C"/>
              </a:solidFill>
              <a:effectLst/>
              <a:highlight>
                <a:srgbClr val="FFFFFF"/>
              </a:highlight>
              <a:latin typeface="Droid Sans"/>
            </a:endParaRPr>
          </a:p>
          <a:p>
            <a:pPr algn="l" rtl="0"/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sz="1400" b="1" i="0" dirty="0" err="1">
                <a:solidFill>
                  <a:srgbClr val="7D9FD3"/>
                </a:solidFill>
                <a:effectLst/>
                <a:highlight>
                  <a:srgbClr val="FFFFFF"/>
                </a:highlight>
                <a:latin typeface="Droid Sans"/>
              </a:rPr>
              <a:t>Slack</a:t>
            </a:r>
            <a:r>
              <a:rPr lang="es-ES" sz="1400" b="1" i="0" dirty="0">
                <a:solidFill>
                  <a:srgbClr val="7D9FD3"/>
                </a:solidFill>
                <a:effectLst/>
                <a:highlight>
                  <a:srgbClr val="FFFFFF"/>
                </a:highlight>
                <a:latin typeface="Droid Sans"/>
              </a:rPr>
              <a:t>: </a:t>
            </a:r>
            <a:r>
              <a:rPr lang="es-ES" sz="1400" b="1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Droid Sans"/>
                <a:hlinkClick r:id="rId6"/>
              </a:rPr>
              <a:t>https://join.slack.com/t/unlaintroducc-h043173/shared_invite/zt-2f6q5j66t-mogSZ1wXc7qWGOp72FWgsg</a:t>
            </a:r>
            <a:endParaRPr lang="es-ES" sz="1400" b="1" i="0" u="none" strike="noStrike" dirty="0">
              <a:solidFill>
                <a:srgbClr val="51666C"/>
              </a:solidFill>
              <a:effectLst/>
              <a:highlight>
                <a:srgbClr val="FFFFFF"/>
              </a:highlight>
              <a:latin typeface="Droid Sans"/>
            </a:endParaRPr>
          </a:p>
          <a:p>
            <a:pPr algn="l" rtl="0"/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sz="1400" b="1" i="0" dirty="0">
                <a:solidFill>
                  <a:srgbClr val="FFCF35"/>
                </a:solidFill>
                <a:effectLst/>
                <a:highlight>
                  <a:srgbClr val="FFFFFF"/>
                </a:highlight>
                <a:latin typeface="Droid Sans"/>
              </a:rPr>
              <a:t>Lista de reproducción: </a:t>
            </a:r>
            <a: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  <a:t>  </a:t>
            </a:r>
            <a:r>
              <a:rPr lang="es-ES" sz="1400" b="1" i="0" dirty="0">
                <a:solidFill>
                  <a:srgbClr val="7D9FD3"/>
                </a:solidFill>
                <a:effectLst/>
                <a:highlight>
                  <a:srgbClr val="FFFFFF"/>
                </a:highlight>
                <a:latin typeface="Droid Sans"/>
              </a:rPr>
              <a:t> https://www.youtube.com/playlist?list=PLbwWly6AYXqfAvRqdIkHaAdH7Zcpn8wzV</a:t>
            </a:r>
            <a:b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</a:br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sz="1400" b="1" i="0" dirty="0">
                <a:solidFill>
                  <a:srgbClr val="AD529E"/>
                </a:solidFill>
                <a:effectLst/>
                <a:highlight>
                  <a:srgbClr val="FFFFFF"/>
                </a:highlight>
                <a:latin typeface="Droid Sans"/>
              </a:rPr>
              <a:t>Material digital:</a:t>
            </a:r>
            <a: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  <a:t> </a:t>
            </a:r>
            <a:r>
              <a:rPr lang="es-ES" sz="1400" b="1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Droid Sans"/>
                <a:hlinkClick r:id="rId7"/>
              </a:rPr>
              <a:t>https://drive.google.com/drive/folders/1d2NuLgnlOxbYPgDQgUX8Pwap14td6ABr?usp=sharing</a:t>
            </a:r>
            <a:endParaRPr lang="es-ES" sz="1400" b="1" i="0" u="none" strike="noStrike" dirty="0">
              <a:solidFill>
                <a:srgbClr val="51666C"/>
              </a:solidFill>
              <a:effectLst/>
              <a:highlight>
                <a:srgbClr val="FFFFFF"/>
              </a:highlight>
              <a:latin typeface="Droid Sans"/>
            </a:endParaRPr>
          </a:p>
          <a:p>
            <a:pPr algn="l" rtl="0"/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r>
              <a:rPr lang="es-ES" sz="1400" b="0" i="0" dirty="0" err="1">
                <a:solidFill>
                  <a:srgbClr val="98CA3E"/>
                </a:solidFill>
                <a:effectLst/>
                <a:highlight>
                  <a:srgbClr val="FFFFFF"/>
                </a:highlight>
                <a:latin typeface="Lexend Deca"/>
              </a:rPr>
              <a:t>Meet</a:t>
            </a:r>
            <a:r>
              <a:rPr lang="es-ES" sz="1400" b="0" i="0" dirty="0">
                <a:solidFill>
                  <a:srgbClr val="98CA3E"/>
                </a:solidFill>
                <a:effectLst/>
                <a:highlight>
                  <a:srgbClr val="FFFFFF"/>
                </a:highlight>
                <a:latin typeface="Lexend Deca"/>
              </a:rPr>
              <a:t>:</a:t>
            </a: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  </a:t>
            </a:r>
            <a:r>
              <a:rPr lang="es-ES" sz="1400" b="0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Lexend Deca"/>
                <a:hlinkClick r:id="rId8"/>
              </a:rPr>
              <a:t>https://meet.jit.si/NykolaiPerezUNLa</a:t>
            </a: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  (</a:t>
            </a:r>
            <a:r>
              <a:rPr lang="es-ES" sz="14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Meet</a:t>
            </a: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 para las clases virtuales y de consulta)</a:t>
            </a:r>
            <a:br>
              <a:rPr lang="es-ES" sz="1400" dirty="0"/>
            </a:br>
            <a:br>
              <a:rPr lang="es-ES" sz="1400" dirty="0"/>
            </a:b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Apunte teórico: </a:t>
            </a:r>
            <a:r>
              <a:rPr lang="es-ES" sz="1400" b="0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Lexend Deca"/>
                <a:hlinkClick r:id="rId9"/>
              </a:rPr>
              <a:t>https://docs.google.com/document/d/1Afx2Rvph6fkJGVeyWlSwFmN64jjcjxiGAB4Zvb-9VHc/edit?usp=sharing</a:t>
            </a:r>
            <a:endParaRPr lang="es-ES" sz="1400" b="0" i="0" u="none" strike="noStrike" dirty="0">
              <a:solidFill>
                <a:srgbClr val="51666C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br>
              <a:rPr lang="es-ES" sz="1400" dirty="0"/>
            </a:b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Apunte práctico: </a:t>
            </a:r>
            <a:r>
              <a:rPr lang="es-ES" sz="1400" b="0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Lexend Deca"/>
                <a:hlinkClick r:id="rId10"/>
              </a:rPr>
              <a:t>https://docs.google.com/document/d/1I0NOGxg7edPDs2U79X3hLbGsA_vNzmPvMa_fIJuw1io/edit?usp=sharing</a:t>
            </a:r>
            <a:br>
              <a:rPr lang="es-ES" sz="1400" dirty="0"/>
            </a:br>
            <a:br>
              <a:rPr lang="es-ES" sz="1400" dirty="0"/>
            </a:br>
            <a:br>
              <a:rPr lang="es-ES" sz="1400" dirty="0"/>
            </a:br>
            <a:r>
              <a:rPr lang="es-ES" sz="1400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Fechas claves, cursada de los Viernes 18hs: </a:t>
            </a:r>
            <a:br>
              <a:rPr lang="es-ES" sz="1400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</a:br>
            <a:r>
              <a:rPr lang="es-ES" sz="1400" b="1" i="1" dirty="0">
                <a:solidFill>
                  <a:srgbClr val="98CA3E"/>
                </a:solidFill>
                <a:effectLst/>
                <a:highlight>
                  <a:srgbClr val="FFFFFF"/>
                </a:highlight>
                <a:latin typeface="Lexend Deca"/>
              </a:rPr>
              <a:t>Aula 11 del </a:t>
            </a:r>
            <a:r>
              <a:rPr lang="es-ES" sz="1400" b="1" i="1" dirty="0" err="1">
                <a:solidFill>
                  <a:srgbClr val="98CA3E"/>
                </a:solidFill>
                <a:effectLst/>
                <a:highlight>
                  <a:srgbClr val="FFFFFF"/>
                </a:highlight>
                <a:latin typeface="Lexend Deca"/>
              </a:rPr>
              <a:t>Hernandez</a:t>
            </a:r>
            <a:br>
              <a:rPr lang="es-ES" sz="1400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</a:br>
            <a:r>
              <a:rPr lang="es-ES" sz="1400" b="1" i="1" dirty="0">
                <a:solidFill>
                  <a:srgbClr val="EF4540"/>
                </a:solidFill>
                <a:effectLst/>
                <a:highlight>
                  <a:srgbClr val="FFFFFF"/>
                </a:highlight>
                <a:latin typeface="Lexend Deca"/>
              </a:rPr>
              <a:t>75% Presencial - 25% Virtual!!!!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2719992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Comandos MySQL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60B0A3-FBC0-41BF-62E0-EF872561A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034" y="1063430"/>
            <a:ext cx="5636350" cy="473113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F7C19F5-579E-C095-BF12-087CEC3E2CA4}"/>
              </a:ext>
            </a:extLst>
          </p:cNvPr>
          <p:cNvSpPr txBox="1"/>
          <p:nvPr/>
        </p:nvSpPr>
        <p:spPr>
          <a:xfrm>
            <a:off x="312617" y="1688046"/>
            <a:ext cx="631012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Los </a:t>
            </a:r>
            <a:r>
              <a:rPr lang="es-ES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DLL(Data </a:t>
            </a:r>
            <a:r>
              <a:rPr lang="es-ES" sz="1200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Definition</a:t>
            </a:r>
            <a:r>
              <a:rPr lang="es-ES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es-ES" sz="1200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Language</a:t>
            </a:r>
            <a:r>
              <a:rPr lang="es-ES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)</a:t>
            </a:r>
            <a:r>
              <a:rPr lang="es-E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 que permiten crear y definir nuevas bases de datos, campos e índices. </a:t>
            </a:r>
          </a:p>
          <a:p>
            <a:pPr algn="just"/>
            <a:endParaRPr lang="es-ES" sz="12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algn="just"/>
            <a:r>
              <a:rPr lang="es-E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Los </a:t>
            </a:r>
            <a:r>
              <a:rPr lang="es-ES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DML(Data </a:t>
            </a:r>
            <a:r>
              <a:rPr lang="es-ES" sz="1200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Manipulation</a:t>
            </a:r>
            <a:r>
              <a:rPr lang="es-ES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 </a:t>
            </a:r>
            <a:r>
              <a:rPr lang="es-ES" sz="1200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Language</a:t>
            </a:r>
            <a:r>
              <a:rPr lang="es-ES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)</a:t>
            </a:r>
            <a:r>
              <a:rPr lang="es-E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 que permiten generar consultas para ordenar, filtrar y extraer datos de la base de datos. </a:t>
            </a:r>
          </a:p>
          <a:p>
            <a:pPr algn="just"/>
            <a:endParaRPr lang="es-ES" sz="12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algn="just"/>
            <a:r>
              <a:rPr lang="es-E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Los </a:t>
            </a:r>
            <a:r>
              <a:rPr lang="es-ES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DCL(Data Control </a:t>
            </a:r>
            <a:r>
              <a:rPr lang="es-ES" sz="1200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Language</a:t>
            </a:r>
            <a:r>
              <a:rPr lang="es-ES" sz="12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)</a:t>
            </a:r>
            <a:r>
              <a:rPr lang="es-ES" sz="1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 que se encargan de definir los permisos sobre los datos</a:t>
            </a:r>
          </a:p>
          <a:p>
            <a:pPr algn="just"/>
            <a:endParaRPr lang="es-ES" sz="1200" dirty="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algn="just"/>
            <a:r>
              <a:rPr lang="es-ES" sz="1200" b="1" dirty="0"/>
              <a:t>DQL (Data </a:t>
            </a:r>
            <a:r>
              <a:rPr lang="es-ES" sz="1200" b="1" dirty="0" err="1"/>
              <a:t>Query</a:t>
            </a:r>
            <a:r>
              <a:rPr lang="es-ES" sz="1200" b="1" dirty="0"/>
              <a:t> </a:t>
            </a:r>
            <a:r>
              <a:rPr lang="es-ES" sz="1200" b="1" dirty="0" err="1"/>
              <a:t>Language</a:t>
            </a:r>
            <a:r>
              <a:rPr lang="es-ES" sz="1200" b="1" dirty="0"/>
              <a:t>): </a:t>
            </a:r>
            <a:r>
              <a:rPr lang="es-ES" sz="1200" dirty="0"/>
              <a:t>Estos comandos se utilizan para realizar consultas en la base de datos para recuperar información. El comando principal en esta categoría es:</a:t>
            </a:r>
          </a:p>
          <a:p>
            <a:pPr algn="just"/>
            <a:r>
              <a:rPr lang="es-ES" sz="1200" dirty="0"/>
              <a:t>SELECT: Se utiliza para recuperar datos de una o varias tablas en la base de datos.</a:t>
            </a:r>
          </a:p>
          <a:p>
            <a:pPr algn="just"/>
            <a:endParaRPr lang="es-ES" sz="1200" dirty="0"/>
          </a:p>
          <a:p>
            <a:pPr algn="just"/>
            <a:r>
              <a:rPr lang="es-ES" sz="1200" b="1" dirty="0"/>
              <a:t>TCL (</a:t>
            </a:r>
            <a:r>
              <a:rPr lang="es-ES" sz="1200" b="1" dirty="0" err="1"/>
              <a:t>Transaction</a:t>
            </a:r>
            <a:r>
              <a:rPr lang="es-ES" sz="1200" b="1" dirty="0"/>
              <a:t> Control </a:t>
            </a:r>
            <a:r>
              <a:rPr lang="es-ES" sz="1200" b="1" dirty="0" err="1"/>
              <a:t>Language</a:t>
            </a:r>
            <a:r>
              <a:rPr lang="es-ES" sz="1200" b="1" dirty="0"/>
              <a:t>): </a:t>
            </a:r>
            <a:r>
              <a:rPr lang="es-ES" sz="1200" dirty="0"/>
              <a:t>Estos comandos se utilizan para gestionar transacciones en la base de datos.</a:t>
            </a:r>
          </a:p>
          <a:p>
            <a:pPr algn="just"/>
            <a:r>
              <a:rPr lang="es-ES" sz="1200" dirty="0"/>
              <a:t>Ejemplos de comandos TCL incluyen:</a:t>
            </a:r>
          </a:p>
          <a:p>
            <a:pPr algn="just"/>
            <a:r>
              <a:rPr lang="es-ES" sz="1200" dirty="0"/>
              <a:t>COMMIT: Confirma los cambios realizados en la base de datos en una transacción.</a:t>
            </a:r>
          </a:p>
          <a:p>
            <a:pPr algn="just"/>
            <a:r>
              <a:rPr lang="es-ES" sz="1200" dirty="0"/>
              <a:t>ROLLBACK: Revierte los cambios realizados en la base de datos en una transacción.</a:t>
            </a:r>
          </a:p>
          <a:p>
            <a:pPr algn="just"/>
            <a:r>
              <a:rPr lang="es-ES" sz="1200" dirty="0"/>
              <a:t>SAVEPOINT: Establece puntos de guardado dentro de una transacción para facilitar el </a:t>
            </a:r>
            <a:r>
              <a:rPr lang="es-ES" sz="1200" dirty="0" err="1"/>
              <a:t>rollback</a:t>
            </a:r>
            <a:r>
              <a:rPr lang="es-ES" sz="1200" dirty="0"/>
              <a:t> parcial.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1040029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DDL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874539E-F5DB-B986-420C-7C474AAA0B95}"/>
              </a:ext>
            </a:extLst>
          </p:cNvPr>
          <p:cNvSpPr txBox="1"/>
          <p:nvPr/>
        </p:nvSpPr>
        <p:spPr>
          <a:xfrm>
            <a:off x="1402228" y="1053340"/>
            <a:ext cx="427948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-- Crear tabla persona</a:t>
            </a:r>
          </a:p>
          <a:p>
            <a:r>
              <a:rPr lang="es-AR" dirty="0"/>
              <a:t>CREATE TABLE persona (</a:t>
            </a:r>
          </a:p>
          <a:p>
            <a:r>
              <a:rPr lang="es-AR" dirty="0"/>
              <a:t>    id INT AUTO_INCREMENT PRIMARY KEY,</a:t>
            </a:r>
          </a:p>
          <a:p>
            <a:r>
              <a:rPr lang="es-AR" dirty="0"/>
              <a:t>    nombre VARCHAR(50),</a:t>
            </a:r>
          </a:p>
          <a:p>
            <a:r>
              <a:rPr lang="es-AR" dirty="0"/>
              <a:t>    apellido VARCHAR(50),</a:t>
            </a:r>
          </a:p>
          <a:p>
            <a:r>
              <a:rPr lang="es-AR" dirty="0"/>
              <a:t>    edad INT,</a:t>
            </a:r>
          </a:p>
          <a:p>
            <a:r>
              <a:rPr lang="es-AR" dirty="0"/>
              <a:t>    </a:t>
            </a:r>
            <a:r>
              <a:rPr lang="es-AR" dirty="0" err="1"/>
              <a:t>fecha_nacimiento</a:t>
            </a:r>
            <a:r>
              <a:rPr lang="es-AR" dirty="0"/>
              <a:t> DATE</a:t>
            </a:r>
          </a:p>
          <a:p>
            <a:r>
              <a:rPr lang="es-AR" dirty="0"/>
              <a:t>);</a:t>
            </a:r>
          </a:p>
          <a:p>
            <a:endParaRPr lang="es-AR" dirty="0"/>
          </a:p>
          <a:p>
            <a:r>
              <a:rPr lang="es-AR" dirty="0"/>
              <a:t>-- Crear tabla </a:t>
            </a:r>
            <a:r>
              <a:rPr lang="es-AR" dirty="0" err="1"/>
              <a:t>vehiculo</a:t>
            </a:r>
            <a:endParaRPr lang="es-AR" dirty="0"/>
          </a:p>
          <a:p>
            <a:r>
              <a:rPr lang="es-AR" dirty="0"/>
              <a:t>CREATE TABLE </a:t>
            </a:r>
            <a:r>
              <a:rPr lang="es-AR" dirty="0" err="1"/>
              <a:t>vehiculo</a:t>
            </a:r>
            <a:r>
              <a:rPr lang="es-AR" dirty="0"/>
              <a:t> (</a:t>
            </a:r>
          </a:p>
          <a:p>
            <a:r>
              <a:rPr lang="es-AR" dirty="0"/>
              <a:t>    id INT AUTO_INCREMENT PRIMARY KEY,</a:t>
            </a:r>
          </a:p>
          <a:p>
            <a:r>
              <a:rPr lang="es-AR" dirty="0"/>
              <a:t>    marca VARCHAR(50),</a:t>
            </a:r>
          </a:p>
          <a:p>
            <a:r>
              <a:rPr lang="es-AR" dirty="0"/>
              <a:t>    modelo VARCHAR(50),</a:t>
            </a:r>
          </a:p>
          <a:p>
            <a:r>
              <a:rPr lang="es-AR" dirty="0"/>
              <a:t>    año INT,</a:t>
            </a:r>
          </a:p>
          <a:p>
            <a:r>
              <a:rPr lang="es-AR" dirty="0"/>
              <a:t>    </a:t>
            </a:r>
            <a:r>
              <a:rPr lang="es-AR" dirty="0" err="1"/>
              <a:t>propietario_id</a:t>
            </a:r>
            <a:r>
              <a:rPr lang="es-AR" dirty="0"/>
              <a:t> INT</a:t>
            </a:r>
          </a:p>
          <a:p>
            <a:r>
              <a:rPr lang="es-AR" dirty="0"/>
              <a:t>);</a:t>
            </a:r>
          </a:p>
          <a:p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1DC841C-878F-4E9D-3556-A78333EE22A1}"/>
              </a:ext>
            </a:extLst>
          </p:cNvPr>
          <p:cNvSpPr txBox="1"/>
          <p:nvPr/>
        </p:nvSpPr>
        <p:spPr>
          <a:xfrm>
            <a:off x="6038848" y="1135571"/>
            <a:ext cx="539762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-- Agregar clave foránea a la tabla </a:t>
            </a:r>
            <a:r>
              <a:rPr lang="es-AR" dirty="0" err="1"/>
              <a:t>vehiculo</a:t>
            </a:r>
            <a:endParaRPr lang="es-AR" dirty="0"/>
          </a:p>
          <a:p>
            <a:r>
              <a:rPr lang="es-AR" dirty="0"/>
              <a:t>ALTER TABLE </a:t>
            </a:r>
            <a:r>
              <a:rPr lang="es-AR" dirty="0" err="1"/>
              <a:t>vehiculo</a:t>
            </a:r>
            <a:endParaRPr lang="es-AR" dirty="0"/>
          </a:p>
          <a:p>
            <a:r>
              <a:rPr lang="es-AR" dirty="0"/>
              <a:t>ADD CONSTRAINT </a:t>
            </a:r>
            <a:r>
              <a:rPr lang="es-AR" dirty="0" err="1"/>
              <a:t>fk_propietario_id</a:t>
            </a:r>
            <a:endParaRPr lang="es-AR" dirty="0"/>
          </a:p>
          <a:p>
            <a:r>
              <a:rPr lang="es-AR" dirty="0"/>
              <a:t>FOREIGN KEY (</a:t>
            </a:r>
            <a:r>
              <a:rPr lang="es-AR" dirty="0" err="1"/>
              <a:t>propietario_id</a:t>
            </a:r>
            <a:r>
              <a:rPr lang="es-AR" dirty="0"/>
              <a:t>)</a:t>
            </a:r>
          </a:p>
          <a:p>
            <a:r>
              <a:rPr lang="es-AR" dirty="0"/>
              <a:t>REFERENCES persona(id);</a:t>
            </a:r>
          </a:p>
          <a:p>
            <a:endParaRPr lang="es-AR" dirty="0"/>
          </a:p>
          <a:p>
            <a:r>
              <a:rPr lang="es-ES" dirty="0"/>
              <a:t>-- DROP para eliminar una tabla</a:t>
            </a:r>
          </a:p>
          <a:p>
            <a:r>
              <a:rPr lang="es-ES" dirty="0"/>
              <a:t>DROP TABLE </a:t>
            </a:r>
            <a:r>
              <a:rPr lang="es-ES" dirty="0" err="1"/>
              <a:t>vehiculo</a:t>
            </a:r>
            <a:r>
              <a:rPr lang="es-ES" dirty="0"/>
              <a:t>;</a:t>
            </a:r>
          </a:p>
          <a:p>
            <a:endParaRPr lang="es-ES" dirty="0"/>
          </a:p>
          <a:p>
            <a:r>
              <a:rPr lang="es-ES" dirty="0"/>
              <a:t>-- TRUNCATE para eliminar todos los registros de una tabla sin eliminar la tabla en sí</a:t>
            </a:r>
          </a:p>
          <a:p>
            <a:r>
              <a:rPr lang="es-ES" dirty="0"/>
              <a:t>TRUNCATE TABLE persona;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44694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AF3ED7C-BDEA-FDD1-2AE9-CAA047568F1A}"/>
              </a:ext>
            </a:extLst>
          </p:cNvPr>
          <p:cNvSpPr txBox="1"/>
          <p:nvPr/>
        </p:nvSpPr>
        <p:spPr>
          <a:xfrm>
            <a:off x="1384917" y="1127964"/>
            <a:ext cx="105156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-- INSERT para agregar nuevos registros</a:t>
            </a:r>
          </a:p>
          <a:p>
            <a:r>
              <a:rPr lang="es-ES" dirty="0"/>
              <a:t>INSERT INTO persona (nombre, apellido, edad, </a:t>
            </a:r>
            <a:r>
              <a:rPr lang="es-ES" dirty="0" err="1"/>
              <a:t>fecha_nacimiento</a:t>
            </a:r>
            <a:r>
              <a:rPr lang="es-ES" dirty="0"/>
              <a:t>) VALUES ('Pedro', '</a:t>
            </a:r>
            <a:r>
              <a:rPr lang="es-ES" dirty="0" err="1"/>
              <a:t>Garcia</a:t>
            </a:r>
            <a:r>
              <a:rPr lang="es-ES" dirty="0"/>
              <a:t>', 40, '1984-03-10');</a:t>
            </a:r>
          </a:p>
          <a:p>
            <a:endParaRPr lang="es-ES" dirty="0"/>
          </a:p>
          <a:p>
            <a:r>
              <a:rPr lang="es-ES" dirty="0"/>
              <a:t>-- UPDATE para modificar registros existentes</a:t>
            </a:r>
          </a:p>
          <a:p>
            <a:r>
              <a:rPr lang="es-ES" dirty="0"/>
              <a:t>UPDATE persona SET edad = 35 WHERE nombre = 'Juan';</a:t>
            </a:r>
          </a:p>
          <a:p>
            <a:endParaRPr lang="es-ES" dirty="0"/>
          </a:p>
          <a:p>
            <a:r>
              <a:rPr lang="es-ES" dirty="0"/>
              <a:t>-- DELETE para eliminar registros</a:t>
            </a:r>
          </a:p>
          <a:p>
            <a:r>
              <a:rPr lang="es-ES" dirty="0"/>
              <a:t>DELETE FROM </a:t>
            </a:r>
            <a:r>
              <a:rPr lang="es-ES" dirty="0" err="1"/>
              <a:t>vehiculo</a:t>
            </a:r>
            <a:r>
              <a:rPr lang="es-ES" dirty="0"/>
              <a:t> WHERE marca = 'Toyota';</a:t>
            </a:r>
          </a:p>
          <a:p>
            <a:endParaRPr lang="es-ES" dirty="0"/>
          </a:p>
          <a:p>
            <a:r>
              <a:rPr lang="es-ES" dirty="0">
                <a:solidFill>
                  <a:srgbClr val="FF0000"/>
                </a:solidFill>
              </a:rPr>
              <a:t>-- CALL para llamar a una rutina almacenada (si existe alguna)</a:t>
            </a:r>
          </a:p>
          <a:p>
            <a:r>
              <a:rPr lang="es-ES" dirty="0">
                <a:solidFill>
                  <a:srgbClr val="FF0000"/>
                </a:solidFill>
              </a:rPr>
              <a:t>-- (Suponiendo que haya una rutina almacenada llamada "</a:t>
            </a:r>
            <a:r>
              <a:rPr lang="es-ES" dirty="0" err="1">
                <a:solidFill>
                  <a:srgbClr val="FF0000"/>
                </a:solidFill>
              </a:rPr>
              <a:t>mi_rutina</a:t>
            </a:r>
            <a:r>
              <a:rPr lang="es-ES" dirty="0">
                <a:solidFill>
                  <a:srgbClr val="FF0000"/>
                </a:solidFill>
              </a:rPr>
              <a:t>")</a:t>
            </a:r>
          </a:p>
          <a:p>
            <a:r>
              <a:rPr lang="es-ES" dirty="0">
                <a:solidFill>
                  <a:srgbClr val="FF0000"/>
                </a:solidFill>
              </a:rPr>
              <a:t>CALL </a:t>
            </a:r>
            <a:r>
              <a:rPr lang="es-ES" dirty="0" err="1">
                <a:solidFill>
                  <a:srgbClr val="FF0000"/>
                </a:solidFill>
              </a:rPr>
              <a:t>mi_rutina</a:t>
            </a:r>
            <a:r>
              <a:rPr lang="es-ES" dirty="0">
                <a:solidFill>
                  <a:srgbClr val="FF0000"/>
                </a:solidFill>
              </a:rPr>
              <a:t>();</a:t>
            </a:r>
          </a:p>
          <a:p>
            <a:endParaRPr lang="es-ES" dirty="0">
              <a:solidFill>
                <a:srgbClr val="FF0000"/>
              </a:solidFill>
            </a:endParaRPr>
          </a:p>
          <a:p>
            <a:r>
              <a:rPr lang="es-ES" dirty="0">
                <a:solidFill>
                  <a:srgbClr val="FF0000"/>
                </a:solidFill>
              </a:rPr>
              <a:t>-- LOCK para bloquear registros para lectura o escritura</a:t>
            </a:r>
          </a:p>
          <a:p>
            <a:r>
              <a:rPr lang="es-ES" dirty="0">
                <a:solidFill>
                  <a:srgbClr val="FF0000"/>
                </a:solidFill>
              </a:rPr>
              <a:t>LOCK TABLES persona WRITE; -- Bloquear tabla "persona" para escritura</a:t>
            </a:r>
          </a:p>
          <a:p>
            <a:endParaRPr lang="es-ES" dirty="0">
              <a:solidFill>
                <a:srgbClr val="FF0000"/>
              </a:solidFill>
            </a:endParaRPr>
          </a:p>
          <a:p>
            <a:r>
              <a:rPr lang="es-ES" dirty="0">
                <a:solidFill>
                  <a:srgbClr val="FF0000"/>
                </a:solidFill>
              </a:rPr>
              <a:t>-- EXPLAIN CALL para obtener información sobre cómo se ejecutará una llamada a una rutina almacenada</a:t>
            </a:r>
          </a:p>
          <a:p>
            <a:r>
              <a:rPr lang="es-ES" dirty="0">
                <a:solidFill>
                  <a:srgbClr val="FF0000"/>
                </a:solidFill>
              </a:rPr>
              <a:t>EXPLAIN CALL </a:t>
            </a:r>
            <a:r>
              <a:rPr lang="es-ES" dirty="0" err="1">
                <a:solidFill>
                  <a:srgbClr val="FF0000"/>
                </a:solidFill>
              </a:rPr>
              <a:t>mi_rutina</a:t>
            </a:r>
            <a:r>
              <a:rPr lang="es-ES" dirty="0">
                <a:solidFill>
                  <a:srgbClr val="FF0000"/>
                </a:solidFill>
              </a:rPr>
              <a:t>();</a:t>
            </a:r>
            <a:endParaRPr lang="es-A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986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DCL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9225D66-C744-09DD-4B0B-D0AA22AB5404}"/>
              </a:ext>
            </a:extLst>
          </p:cNvPr>
          <p:cNvSpPr txBox="1"/>
          <p:nvPr/>
        </p:nvSpPr>
        <p:spPr>
          <a:xfrm>
            <a:off x="1534710" y="1166122"/>
            <a:ext cx="101960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/>
              <a:t>-- GRANT para otorgar privilegios a un usuario</a:t>
            </a:r>
          </a:p>
          <a:p>
            <a:r>
              <a:rPr lang="es-AR" dirty="0"/>
              <a:t>GRANT SELECT, INSERT, UPDATE ON persona TO 'usuario1'@'localhost';</a:t>
            </a:r>
          </a:p>
          <a:p>
            <a:endParaRPr lang="es-AR" dirty="0"/>
          </a:p>
          <a:p>
            <a:r>
              <a:rPr lang="es-AR" dirty="0"/>
              <a:t>-- REVOKE para revocar privilegios de un usuario</a:t>
            </a:r>
          </a:p>
          <a:p>
            <a:r>
              <a:rPr lang="es-AR" dirty="0"/>
              <a:t>REVOKE SELECT ON </a:t>
            </a:r>
            <a:r>
              <a:rPr lang="es-AR" dirty="0" err="1"/>
              <a:t>vehiculo</a:t>
            </a:r>
            <a:r>
              <a:rPr lang="es-AR" dirty="0"/>
              <a:t> FROM 'usuario2'@'localhost';</a:t>
            </a:r>
          </a:p>
        </p:txBody>
      </p:sp>
    </p:spTree>
    <p:extLst>
      <p:ext uri="{BB962C8B-B14F-4D97-AF65-F5344CB8AC3E}">
        <p14:creationId xmlns:p14="http://schemas.microsoft.com/office/powerpoint/2010/main" val="413013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DQL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7B6B1DE-8E3F-F6AA-171B-2EB1F847FF6D}"/>
              </a:ext>
            </a:extLst>
          </p:cNvPr>
          <p:cNvSpPr txBox="1"/>
          <p:nvPr/>
        </p:nvSpPr>
        <p:spPr>
          <a:xfrm>
            <a:off x="1248902" y="1040499"/>
            <a:ext cx="52140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-- 1. Seleccionar todos los datos de la tabla actor</a:t>
            </a:r>
          </a:p>
          <a:p>
            <a:r>
              <a:rPr lang="es-ES" sz="1600" dirty="0"/>
              <a:t>SELECT * FROM actor;</a:t>
            </a:r>
          </a:p>
          <a:p>
            <a:endParaRPr lang="es-ES" sz="1600" dirty="0"/>
          </a:p>
          <a:p>
            <a:r>
              <a:rPr lang="es-ES" sz="1600" dirty="0"/>
              <a:t>-- 2. Seleccionar solo los nombres de los actores de la tabla actor</a:t>
            </a:r>
          </a:p>
          <a:p>
            <a:r>
              <a:rPr lang="es-ES" sz="1600" dirty="0"/>
              <a:t>SELECT </a:t>
            </a:r>
            <a:r>
              <a:rPr lang="es-ES" sz="1600" dirty="0" err="1"/>
              <a:t>first_name</a:t>
            </a:r>
            <a:r>
              <a:rPr lang="es-ES" sz="1600" dirty="0"/>
              <a:t>, </a:t>
            </a:r>
            <a:r>
              <a:rPr lang="es-ES" sz="1600" dirty="0" err="1"/>
              <a:t>last_name</a:t>
            </a:r>
            <a:r>
              <a:rPr lang="es-ES" sz="1600" dirty="0"/>
              <a:t> FROM actor;</a:t>
            </a:r>
          </a:p>
          <a:p>
            <a:endParaRPr lang="es-ES" sz="1600" dirty="0"/>
          </a:p>
          <a:p>
            <a:r>
              <a:rPr lang="es-ES" sz="1600" dirty="0"/>
              <a:t>-- 3. Seleccionar las primeras 10 filas de la tabla film</a:t>
            </a:r>
          </a:p>
          <a:p>
            <a:r>
              <a:rPr lang="es-ES" sz="1600" dirty="0"/>
              <a:t>SELECT * FROM film LIMIT 10;</a:t>
            </a:r>
          </a:p>
          <a:p>
            <a:endParaRPr lang="es-ES" sz="1600" dirty="0"/>
          </a:p>
          <a:p>
            <a:r>
              <a:rPr lang="es-ES" sz="1600" dirty="0"/>
              <a:t>-- 4. Seleccionar las películas que fueron lanzadas en el año 2006</a:t>
            </a:r>
          </a:p>
          <a:p>
            <a:r>
              <a:rPr lang="es-ES" sz="1600" dirty="0"/>
              <a:t>SELECT * FROM film WHERE </a:t>
            </a:r>
            <a:r>
              <a:rPr lang="es-ES" sz="1600" dirty="0" err="1"/>
              <a:t>release_year</a:t>
            </a:r>
            <a:r>
              <a:rPr lang="es-ES" sz="1600" dirty="0"/>
              <a:t> = 2006;</a:t>
            </a:r>
          </a:p>
          <a:p>
            <a:endParaRPr lang="es-ES" sz="1600" dirty="0"/>
          </a:p>
          <a:p>
            <a:r>
              <a:rPr lang="es-ES" sz="1600" dirty="0"/>
              <a:t>-- 5. Seleccionar las películas que tienen una clasificación de 'PG-13'</a:t>
            </a:r>
          </a:p>
          <a:p>
            <a:r>
              <a:rPr lang="es-ES" sz="1600" dirty="0"/>
              <a:t>SELECT * FROM film WHERE rating = 'PG-13';</a:t>
            </a:r>
          </a:p>
          <a:p>
            <a:endParaRPr lang="es-ES" sz="1600" dirty="0"/>
          </a:p>
          <a:p>
            <a:r>
              <a:rPr lang="es-ES" sz="1600" dirty="0"/>
              <a:t>-- 6. Seleccionar el número total de películas en la tabla film</a:t>
            </a:r>
          </a:p>
          <a:p>
            <a:r>
              <a:rPr lang="es-ES" sz="1600" dirty="0"/>
              <a:t>SELECT COUNT(*) AS </a:t>
            </a:r>
            <a:r>
              <a:rPr lang="es-ES" sz="1600" dirty="0" err="1"/>
              <a:t>total_films</a:t>
            </a:r>
            <a:r>
              <a:rPr lang="es-ES" sz="1600" dirty="0"/>
              <a:t> FROM film;</a:t>
            </a:r>
            <a:endParaRPr lang="es-AR" sz="16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CB2783-A18C-0FF8-F614-E830EE4FFABE}"/>
              </a:ext>
            </a:extLst>
          </p:cNvPr>
          <p:cNvSpPr txBox="1"/>
          <p:nvPr/>
        </p:nvSpPr>
        <p:spPr>
          <a:xfrm>
            <a:off x="6587231" y="1040499"/>
            <a:ext cx="521404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-- 7. Seleccionar el número de películas agrupadas por clasificación</a:t>
            </a:r>
          </a:p>
          <a:p>
            <a:r>
              <a:rPr lang="es-ES" sz="1400" dirty="0"/>
              <a:t>SELECT rating, COUNT(*) AS </a:t>
            </a:r>
            <a:r>
              <a:rPr lang="es-ES" sz="1400" dirty="0" err="1"/>
              <a:t>num_films</a:t>
            </a:r>
            <a:r>
              <a:rPr lang="es-ES" sz="1400" dirty="0"/>
              <a:t> FROM film GROUP BY rating;</a:t>
            </a:r>
          </a:p>
          <a:p>
            <a:endParaRPr lang="es-ES" sz="1400" dirty="0"/>
          </a:p>
          <a:p>
            <a:r>
              <a:rPr lang="es-ES" sz="1400" dirty="0"/>
              <a:t>-- 8. Seleccionar el título y la descripción de las películas cuya descripción contiene la palabra "</a:t>
            </a:r>
            <a:r>
              <a:rPr lang="es-ES" sz="1400" dirty="0" err="1"/>
              <a:t>alien</a:t>
            </a:r>
            <a:r>
              <a:rPr lang="es-ES" sz="1400" dirty="0"/>
              <a:t>"</a:t>
            </a:r>
          </a:p>
          <a:p>
            <a:r>
              <a:rPr lang="es-ES" sz="1400" dirty="0"/>
              <a:t>SELECT </a:t>
            </a:r>
            <a:r>
              <a:rPr lang="es-ES" sz="1400" dirty="0" err="1"/>
              <a:t>title</a:t>
            </a:r>
            <a:r>
              <a:rPr lang="es-ES" sz="1400" dirty="0"/>
              <a:t>, </a:t>
            </a:r>
            <a:r>
              <a:rPr lang="es-ES" sz="1400" dirty="0" err="1"/>
              <a:t>description</a:t>
            </a:r>
            <a:r>
              <a:rPr lang="es-ES" sz="1400" dirty="0"/>
              <a:t> FROM film WHERE </a:t>
            </a:r>
            <a:r>
              <a:rPr lang="es-ES" sz="1400" dirty="0" err="1"/>
              <a:t>description</a:t>
            </a:r>
            <a:r>
              <a:rPr lang="es-ES" sz="1400" dirty="0"/>
              <a:t> LIKE '%</a:t>
            </a:r>
            <a:r>
              <a:rPr lang="es-ES" sz="1400" dirty="0" err="1"/>
              <a:t>alien</a:t>
            </a:r>
            <a:r>
              <a:rPr lang="es-ES" sz="1400" dirty="0"/>
              <a:t>%';</a:t>
            </a:r>
          </a:p>
          <a:p>
            <a:endParaRPr lang="es-ES" sz="1400" dirty="0"/>
          </a:p>
          <a:p>
            <a:r>
              <a:rPr lang="es-ES" sz="1400" dirty="0"/>
              <a:t>-- 9. Seleccionar los nombres de los actores que han aparecido en la película con </a:t>
            </a:r>
            <a:r>
              <a:rPr lang="es-ES" sz="1400" dirty="0" err="1"/>
              <a:t>film_id</a:t>
            </a:r>
            <a:r>
              <a:rPr lang="es-ES" sz="1400" dirty="0"/>
              <a:t> = 5</a:t>
            </a:r>
          </a:p>
          <a:p>
            <a:r>
              <a:rPr lang="es-ES" sz="1400" dirty="0"/>
              <a:t>SELECT </a:t>
            </a:r>
            <a:r>
              <a:rPr lang="es-ES" sz="1400" dirty="0" err="1"/>
              <a:t>actor.first_name</a:t>
            </a:r>
            <a:r>
              <a:rPr lang="es-ES" sz="1400" dirty="0"/>
              <a:t>, </a:t>
            </a:r>
            <a:r>
              <a:rPr lang="es-ES" sz="1400" dirty="0" err="1"/>
              <a:t>actor.last_name</a:t>
            </a:r>
            <a:r>
              <a:rPr lang="es-ES" sz="1400" dirty="0"/>
              <a:t> </a:t>
            </a:r>
          </a:p>
          <a:p>
            <a:r>
              <a:rPr lang="es-ES" sz="1400" dirty="0"/>
              <a:t>FROM actor </a:t>
            </a:r>
          </a:p>
          <a:p>
            <a:r>
              <a:rPr lang="es-ES" sz="1400" dirty="0"/>
              <a:t>JOIN </a:t>
            </a:r>
            <a:r>
              <a:rPr lang="es-ES" sz="1400" dirty="0" err="1"/>
              <a:t>film_actor</a:t>
            </a:r>
            <a:r>
              <a:rPr lang="es-ES" sz="1400" dirty="0"/>
              <a:t> ON </a:t>
            </a:r>
            <a:r>
              <a:rPr lang="es-ES" sz="1400" dirty="0" err="1"/>
              <a:t>actor.actor_id</a:t>
            </a:r>
            <a:r>
              <a:rPr lang="es-ES" sz="1400" dirty="0"/>
              <a:t> = </a:t>
            </a:r>
            <a:r>
              <a:rPr lang="es-ES" sz="1400" dirty="0" err="1"/>
              <a:t>film_actor.actor_id</a:t>
            </a:r>
            <a:r>
              <a:rPr lang="es-ES" sz="1400" dirty="0"/>
              <a:t> </a:t>
            </a:r>
          </a:p>
          <a:p>
            <a:r>
              <a:rPr lang="es-ES" sz="1400" dirty="0"/>
              <a:t>WHERE </a:t>
            </a:r>
            <a:r>
              <a:rPr lang="es-ES" sz="1400" dirty="0" err="1"/>
              <a:t>film_actor.film_id</a:t>
            </a:r>
            <a:r>
              <a:rPr lang="es-ES" sz="1400" dirty="0"/>
              <a:t> = 5;</a:t>
            </a:r>
          </a:p>
          <a:p>
            <a:endParaRPr lang="es-ES" sz="1400" dirty="0"/>
          </a:p>
          <a:p>
            <a:r>
              <a:rPr lang="es-ES" sz="1400" dirty="0"/>
              <a:t>-- 10. Seleccionar los títulos de las películas que tienen una duración de más de 2 horas</a:t>
            </a:r>
          </a:p>
          <a:p>
            <a:r>
              <a:rPr lang="es-ES" sz="1400" dirty="0"/>
              <a:t>SELECT </a:t>
            </a:r>
            <a:r>
              <a:rPr lang="es-ES" sz="1400" dirty="0" err="1"/>
              <a:t>title</a:t>
            </a:r>
            <a:r>
              <a:rPr lang="es-ES" sz="1400" dirty="0"/>
              <a:t> FROM film WHERE </a:t>
            </a:r>
            <a:r>
              <a:rPr lang="es-ES" sz="1400" dirty="0" err="1"/>
              <a:t>length</a:t>
            </a:r>
            <a:r>
              <a:rPr lang="es-ES" sz="1400" dirty="0"/>
              <a:t> &gt; 120;</a:t>
            </a:r>
          </a:p>
          <a:p>
            <a:endParaRPr lang="es-ES" dirty="0"/>
          </a:p>
          <a:p>
            <a:r>
              <a:rPr lang="es-ES" dirty="0"/>
              <a:t>-- 11. Seleccionar los nombres únicos de los idiomas disponibles en la tabla </a:t>
            </a:r>
            <a:r>
              <a:rPr lang="es-ES" dirty="0" err="1"/>
              <a:t>language</a:t>
            </a:r>
            <a:endParaRPr lang="es-ES" dirty="0"/>
          </a:p>
          <a:p>
            <a:r>
              <a:rPr lang="es-ES" dirty="0"/>
              <a:t>SELECT DISTINCT name FROM </a:t>
            </a:r>
            <a:r>
              <a:rPr lang="es-ES" dirty="0" err="1"/>
              <a:t>language</a:t>
            </a:r>
            <a:r>
              <a:rPr lang="es-ES" dirty="0"/>
              <a:t>;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86352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6844496" y="2467992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Tareas- Esquemas y Diagramas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64D4AF4-AB85-226E-81A1-A00BA09F60BF}"/>
              </a:ext>
            </a:extLst>
          </p:cNvPr>
          <p:cNvSpPr txBox="1"/>
          <p:nvPr/>
        </p:nvSpPr>
        <p:spPr>
          <a:xfrm>
            <a:off x="1617955" y="2173548"/>
            <a:ext cx="10196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888888"/>
                </a:solidFill>
                <a:effectLst/>
                <a:highlight>
                  <a:srgbClr val="FFFFFF"/>
                </a:highlight>
                <a:latin typeface="Lexend Deca"/>
                <a:hlinkClick r:id="rId5"/>
              </a:rPr>
              <a:t>Entregar la actividad 6 </a:t>
            </a:r>
            <a:endParaRPr lang="es-ES" b="0" i="0" dirty="0">
              <a:solidFill>
                <a:srgbClr val="6A737B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b="0" i="0" dirty="0">
                <a:solidFill>
                  <a:srgbClr val="999999"/>
                </a:solidFill>
                <a:effectLst/>
                <a:highlight>
                  <a:srgbClr val="FFFFFF"/>
                </a:highlight>
                <a:latin typeface="Lexend Deca"/>
              </a:rPr>
              <a:t>Consultas básicas sobre modelo Farmacia (Simplificado)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A462AE5-EB61-2BBC-90B9-77E114C866D8}"/>
              </a:ext>
            </a:extLst>
          </p:cNvPr>
          <p:cNvSpPr txBox="1"/>
          <p:nvPr/>
        </p:nvSpPr>
        <p:spPr>
          <a:xfrm>
            <a:off x="1617955" y="3355215"/>
            <a:ext cx="101960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Lexend Deca"/>
              </a:rPr>
              <a:t>Para la próxima clase:</a:t>
            </a:r>
            <a:endParaRPr lang="es-ES" b="0" i="0" dirty="0">
              <a:solidFill>
                <a:schemeClr val="accent1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dirty="0">
                <a:solidFill>
                  <a:srgbClr val="999999"/>
                </a:solidFill>
                <a:highlight>
                  <a:srgbClr val="FFFFFF"/>
                </a:highlight>
                <a:latin typeface="Lexend Deca"/>
              </a:rPr>
              <a:t>Haremos consultas más complejas</a:t>
            </a:r>
          </a:p>
          <a:p>
            <a:pPr algn="l" rtl="0"/>
            <a:endParaRPr lang="es-ES" b="0" i="0" dirty="0">
              <a:solidFill>
                <a:srgbClr val="999999"/>
              </a:solidFill>
              <a:effectLst/>
              <a:highlight>
                <a:srgbClr val="FFFFFF"/>
              </a:highlight>
              <a:latin typeface="Lexend Deca"/>
            </a:endParaRPr>
          </a:p>
        </p:txBody>
      </p:sp>
    </p:spTree>
    <p:extLst>
      <p:ext uri="{BB962C8B-B14F-4D97-AF65-F5344CB8AC3E}">
        <p14:creationId xmlns:p14="http://schemas.microsoft.com/office/powerpoint/2010/main" val="22332505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1028</Words>
  <Application>Microsoft Office PowerPoint</Application>
  <PresentationFormat>Panorámica</PresentationFormat>
  <Paragraphs>132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Droid Sans</vt:lpstr>
      <vt:lpstr>Lexend Deca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Marcela Lepore</dc:creator>
  <cp:lastModifiedBy>Nicolas Perez</cp:lastModifiedBy>
  <cp:revision>70</cp:revision>
  <dcterms:created xsi:type="dcterms:W3CDTF">2020-03-19T18:50:23Z</dcterms:created>
  <dcterms:modified xsi:type="dcterms:W3CDTF">2024-05-10T16:02:33Z</dcterms:modified>
</cp:coreProperties>
</file>