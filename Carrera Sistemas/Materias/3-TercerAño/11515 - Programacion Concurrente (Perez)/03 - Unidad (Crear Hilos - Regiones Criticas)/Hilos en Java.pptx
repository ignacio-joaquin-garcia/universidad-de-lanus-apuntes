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95" r:id="rId2"/>
    <p:sldId id="374" r:id="rId3"/>
    <p:sldId id="403" r:id="rId4"/>
    <p:sldId id="404" r:id="rId5"/>
    <p:sldId id="405" r:id="rId6"/>
    <p:sldId id="411" r:id="rId7"/>
    <p:sldId id="268" r:id="rId8"/>
    <p:sldId id="417" r:id="rId9"/>
    <p:sldId id="418" r:id="rId10"/>
    <p:sldId id="419" r:id="rId11"/>
    <p:sldId id="420" r:id="rId12"/>
    <p:sldId id="421" r:id="rId13"/>
    <p:sldId id="422" r:id="rId14"/>
    <p:sldId id="423" r:id="rId15"/>
    <p:sldId id="351" r:id="rId16"/>
    <p:sldId id="424" r:id="rId17"/>
    <p:sldId id="425" r:id="rId18"/>
    <p:sldId id="426" r:id="rId19"/>
    <p:sldId id="427" r:id="rId20"/>
    <p:sldId id="429" r:id="rId21"/>
    <p:sldId id="430" r:id="rId22"/>
    <p:sldId id="431" r:id="rId23"/>
    <p:sldId id="433" r:id="rId24"/>
    <p:sldId id="434" r:id="rId25"/>
  </p:sldIdLst>
  <p:sldSz cx="12192000" cy="6858000"/>
  <p:notesSz cx="6858000" cy="9144000"/>
  <p:defaultText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548" autoAdjust="0"/>
    <p:restoredTop sz="94660"/>
  </p:normalViewPr>
  <p:slideViewPr>
    <p:cSldViewPr snapToGrid="0">
      <p:cViewPr>
        <p:scale>
          <a:sx n="90" d="100"/>
          <a:sy n="90" d="100"/>
        </p:scale>
        <p:origin x="66" y="-57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0C63B28-680B-40BA-BAF0-CDDC1C32F20F}"/>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AR"/>
          </a:p>
        </p:txBody>
      </p:sp>
      <p:sp>
        <p:nvSpPr>
          <p:cNvPr id="3" name="Subtítulo 2">
            <a:extLst>
              <a:ext uri="{FF2B5EF4-FFF2-40B4-BE49-F238E27FC236}">
                <a16:creationId xmlns:a16="http://schemas.microsoft.com/office/drawing/2014/main" id="{0F6F4BC6-62A8-4F2A-A42D-0CB1F807DE0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AR"/>
          </a:p>
        </p:txBody>
      </p:sp>
      <p:sp>
        <p:nvSpPr>
          <p:cNvPr id="4" name="Marcador de fecha 3">
            <a:extLst>
              <a:ext uri="{FF2B5EF4-FFF2-40B4-BE49-F238E27FC236}">
                <a16:creationId xmlns:a16="http://schemas.microsoft.com/office/drawing/2014/main" id="{A0BAFB7C-8E0E-468F-BA89-55C5C2FE44BA}"/>
              </a:ext>
            </a:extLst>
          </p:cNvPr>
          <p:cNvSpPr>
            <a:spLocks noGrp="1"/>
          </p:cNvSpPr>
          <p:nvPr>
            <p:ph type="dt" sz="half" idx="10"/>
          </p:nvPr>
        </p:nvSpPr>
        <p:spPr/>
        <p:txBody>
          <a:bodyPr/>
          <a:lstStyle/>
          <a:p>
            <a:fld id="{D5E3F69A-07CA-4FA6-8659-3F8184DE9D62}" type="datetimeFigureOut">
              <a:rPr lang="es-AR" smtClean="0"/>
              <a:t>26/4/2024</a:t>
            </a:fld>
            <a:endParaRPr lang="es-AR"/>
          </a:p>
        </p:txBody>
      </p:sp>
      <p:sp>
        <p:nvSpPr>
          <p:cNvPr id="5" name="Marcador de pie de página 4">
            <a:extLst>
              <a:ext uri="{FF2B5EF4-FFF2-40B4-BE49-F238E27FC236}">
                <a16:creationId xmlns:a16="http://schemas.microsoft.com/office/drawing/2014/main" id="{5C0D0081-D60A-4E86-81F7-38193259F67A}"/>
              </a:ext>
            </a:extLst>
          </p:cNvPr>
          <p:cNvSpPr>
            <a:spLocks noGrp="1"/>
          </p:cNvSpPr>
          <p:nvPr>
            <p:ph type="ftr" sz="quarter" idx="11"/>
          </p:nvPr>
        </p:nvSpPr>
        <p:spPr/>
        <p:txBody>
          <a:bodyPr/>
          <a:lstStyle/>
          <a:p>
            <a:endParaRPr lang="es-AR"/>
          </a:p>
        </p:txBody>
      </p:sp>
      <p:sp>
        <p:nvSpPr>
          <p:cNvPr id="6" name="Marcador de número de diapositiva 5">
            <a:extLst>
              <a:ext uri="{FF2B5EF4-FFF2-40B4-BE49-F238E27FC236}">
                <a16:creationId xmlns:a16="http://schemas.microsoft.com/office/drawing/2014/main" id="{AC70CF7D-0519-41B0-874B-4E2C56616392}"/>
              </a:ext>
            </a:extLst>
          </p:cNvPr>
          <p:cNvSpPr>
            <a:spLocks noGrp="1"/>
          </p:cNvSpPr>
          <p:nvPr>
            <p:ph type="sldNum" sz="quarter" idx="12"/>
          </p:nvPr>
        </p:nvSpPr>
        <p:spPr/>
        <p:txBody>
          <a:bodyPr/>
          <a:lstStyle/>
          <a:p>
            <a:fld id="{A9CDCCBA-ABFE-4282-BCDE-E7FFFF2A12BA}" type="slidenum">
              <a:rPr lang="es-AR" smtClean="0"/>
              <a:t>‹Nº›</a:t>
            </a:fld>
            <a:endParaRPr lang="es-AR"/>
          </a:p>
        </p:txBody>
      </p:sp>
    </p:spTree>
    <p:extLst>
      <p:ext uri="{BB962C8B-B14F-4D97-AF65-F5344CB8AC3E}">
        <p14:creationId xmlns:p14="http://schemas.microsoft.com/office/powerpoint/2010/main" val="3764381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520AE3C-5B09-4B46-BBE0-E673EEB4486A}"/>
              </a:ext>
            </a:extLst>
          </p:cNvPr>
          <p:cNvSpPr>
            <a:spLocks noGrp="1"/>
          </p:cNvSpPr>
          <p:nvPr>
            <p:ph type="title"/>
          </p:nvPr>
        </p:nvSpPr>
        <p:spPr/>
        <p:txBody>
          <a:bodyPr/>
          <a:lstStyle/>
          <a:p>
            <a:r>
              <a:rPr lang="es-ES"/>
              <a:t>Haga clic para modificar el estilo de título del patrón</a:t>
            </a:r>
            <a:endParaRPr lang="es-AR"/>
          </a:p>
        </p:txBody>
      </p:sp>
      <p:sp>
        <p:nvSpPr>
          <p:cNvPr id="3" name="Marcador de contenido 2">
            <a:extLst>
              <a:ext uri="{FF2B5EF4-FFF2-40B4-BE49-F238E27FC236}">
                <a16:creationId xmlns:a16="http://schemas.microsoft.com/office/drawing/2014/main" id="{E51456C3-604C-4687-B146-FB214A08BA00}"/>
              </a:ext>
            </a:extLst>
          </p:cNvPr>
          <p:cNvSpPr>
            <a:spLocks noGrp="1"/>
          </p:cNvSpPr>
          <p:nvPr>
            <p:ph idx="1"/>
          </p:nvPr>
        </p:nvSpPr>
        <p:spPr/>
        <p:txBody>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Marcador de fecha 3">
            <a:extLst>
              <a:ext uri="{FF2B5EF4-FFF2-40B4-BE49-F238E27FC236}">
                <a16:creationId xmlns:a16="http://schemas.microsoft.com/office/drawing/2014/main" id="{AABEEDC8-078C-4C48-BBDF-4E4D45010C51}"/>
              </a:ext>
            </a:extLst>
          </p:cNvPr>
          <p:cNvSpPr>
            <a:spLocks noGrp="1"/>
          </p:cNvSpPr>
          <p:nvPr>
            <p:ph type="dt" sz="half" idx="10"/>
          </p:nvPr>
        </p:nvSpPr>
        <p:spPr/>
        <p:txBody>
          <a:bodyPr/>
          <a:lstStyle/>
          <a:p>
            <a:fld id="{D5E3F69A-07CA-4FA6-8659-3F8184DE9D62}" type="datetimeFigureOut">
              <a:rPr lang="es-AR" smtClean="0"/>
              <a:t>26/4/2024</a:t>
            </a:fld>
            <a:endParaRPr lang="es-AR"/>
          </a:p>
        </p:txBody>
      </p:sp>
      <p:sp>
        <p:nvSpPr>
          <p:cNvPr id="5" name="Marcador de pie de página 4">
            <a:extLst>
              <a:ext uri="{FF2B5EF4-FFF2-40B4-BE49-F238E27FC236}">
                <a16:creationId xmlns:a16="http://schemas.microsoft.com/office/drawing/2014/main" id="{61039649-4BA3-4028-A347-55F274A7EFDD}"/>
              </a:ext>
            </a:extLst>
          </p:cNvPr>
          <p:cNvSpPr>
            <a:spLocks noGrp="1"/>
          </p:cNvSpPr>
          <p:nvPr>
            <p:ph type="ftr" sz="quarter" idx="11"/>
          </p:nvPr>
        </p:nvSpPr>
        <p:spPr/>
        <p:txBody>
          <a:bodyPr/>
          <a:lstStyle/>
          <a:p>
            <a:endParaRPr lang="es-AR"/>
          </a:p>
        </p:txBody>
      </p:sp>
      <p:sp>
        <p:nvSpPr>
          <p:cNvPr id="6" name="Marcador de número de diapositiva 5">
            <a:extLst>
              <a:ext uri="{FF2B5EF4-FFF2-40B4-BE49-F238E27FC236}">
                <a16:creationId xmlns:a16="http://schemas.microsoft.com/office/drawing/2014/main" id="{1D36CBE0-807B-4634-9176-7C7E6E8B0501}"/>
              </a:ext>
            </a:extLst>
          </p:cNvPr>
          <p:cNvSpPr>
            <a:spLocks noGrp="1"/>
          </p:cNvSpPr>
          <p:nvPr>
            <p:ph type="sldNum" sz="quarter" idx="12"/>
          </p:nvPr>
        </p:nvSpPr>
        <p:spPr/>
        <p:txBody>
          <a:bodyPr/>
          <a:lstStyle/>
          <a:p>
            <a:fld id="{A9CDCCBA-ABFE-4282-BCDE-E7FFFF2A12BA}" type="slidenum">
              <a:rPr lang="es-AR" smtClean="0"/>
              <a:t>‹Nº›</a:t>
            </a:fld>
            <a:endParaRPr lang="es-AR"/>
          </a:p>
        </p:txBody>
      </p:sp>
    </p:spTree>
    <p:extLst>
      <p:ext uri="{BB962C8B-B14F-4D97-AF65-F5344CB8AC3E}">
        <p14:creationId xmlns:p14="http://schemas.microsoft.com/office/powerpoint/2010/main" val="25074335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367C40E-A093-4F77-96EE-E8F47941AA1A}"/>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AR"/>
          </a:p>
        </p:txBody>
      </p:sp>
      <p:sp>
        <p:nvSpPr>
          <p:cNvPr id="3" name="Marcador de texto 2">
            <a:extLst>
              <a:ext uri="{FF2B5EF4-FFF2-40B4-BE49-F238E27FC236}">
                <a16:creationId xmlns:a16="http://schemas.microsoft.com/office/drawing/2014/main" id="{9A465B42-274D-40BA-A6F3-946ADCF4B31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Editar los estilos de texto del patrón</a:t>
            </a:r>
          </a:p>
        </p:txBody>
      </p:sp>
      <p:sp>
        <p:nvSpPr>
          <p:cNvPr id="4" name="Marcador de fecha 3">
            <a:extLst>
              <a:ext uri="{FF2B5EF4-FFF2-40B4-BE49-F238E27FC236}">
                <a16:creationId xmlns:a16="http://schemas.microsoft.com/office/drawing/2014/main" id="{27304BA1-F4EF-439F-90ED-A2CC2A9AE0D3}"/>
              </a:ext>
            </a:extLst>
          </p:cNvPr>
          <p:cNvSpPr>
            <a:spLocks noGrp="1"/>
          </p:cNvSpPr>
          <p:nvPr>
            <p:ph type="dt" sz="half" idx="10"/>
          </p:nvPr>
        </p:nvSpPr>
        <p:spPr/>
        <p:txBody>
          <a:bodyPr/>
          <a:lstStyle/>
          <a:p>
            <a:fld id="{D5E3F69A-07CA-4FA6-8659-3F8184DE9D62}" type="datetimeFigureOut">
              <a:rPr lang="es-AR" smtClean="0"/>
              <a:t>26/4/2024</a:t>
            </a:fld>
            <a:endParaRPr lang="es-AR"/>
          </a:p>
        </p:txBody>
      </p:sp>
      <p:sp>
        <p:nvSpPr>
          <p:cNvPr id="5" name="Marcador de pie de página 4">
            <a:extLst>
              <a:ext uri="{FF2B5EF4-FFF2-40B4-BE49-F238E27FC236}">
                <a16:creationId xmlns:a16="http://schemas.microsoft.com/office/drawing/2014/main" id="{F4A60864-18DE-4CFC-BF66-FE2811758523}"/>
              </a:ext>
            </a:extLst>
          </p:cNvPr>
          <p:cNvSpPr>
            <a:spLocks noGrp="1"/>
          </p:cNvSpPr>
          <p:nvPr>
            <p:ph type="ftr" sz="quarter" idx="11"/>
          </p:nvPr>
        </p:nvSpPr>
        <p:spPr/>
        <p:txBody>
          <a:bodyPr/>
          <a:lstStyle/>
          <a:p>
            <a:endParaRPr lang="es-AR"/>
          </a:p>
        </p:txBody>
      </p:sp>
      <p:sp>
        <p:nvSpPr>
          <p:cNvPr id="6" name="Marcador de número de diapositiva 5">
            <a:extLst>
              <a:ext uri="{FF2B5EF4-FFF2-40B4-BE49-F238E27FC236}">
                <a16:creationId xmlns:a16="http://schemas.microsoft.com/office/drawing/2014/main" id="{98621648-0A93-4FD8-9CB6-5343C0019BC2}"/>
              </a:ext>
            </a:extLst>
          </p:cNvPr>
          <p:cNvSpPr>
            <a:spLocks noGrp="1"/>
          </p:cNvSpPr>
          <p:nvPr>
            <p:ph type="sldNum" sz="quarter" idx="12"/>
          </p:nvPr>
        </p:nvSpPr>
        <p:spPr/>
        <p:txBody>
          <a:bodyPr/>
          <a:lstStyle/>
          <a:p>
            <a:fld id="{A9CDCCBA-ABFE-4282-BCDE-E7FFFF2A12BA}" type="slidenum">
              <a:rPr lang="es-AR" smtClean="0"/>
              <a:t>‹Nº›</a:t>
            </a:fld>
            <a:endParaRPr lang="es-AR"/>
          </a:p>
        </p:txBody>
      </p:sp>
    </p:spTree>
    <p:extLst>
      <p:ext uri="{BB962C8B-B14F-4D97-AF65-F5344CB8AC3E}">
        <p14:creationId xmlns:p14="http://schemas.microsoft.com/office/powerpoint/2010/main" val="34370452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B6F827C-B803-48F5-B86D-B92952360FD5}"/>
              </a:ext>
            </a:extLst>
          </p:cNvPr>
          <p:cNvSpPr>
            <a:spLocks noGrp="1"/>
          </p:cNvSpPr>
          <p:nvPr>
            <p:ph type="title"/>
          </p:nvPr>
        </p:nvSpPr>
        <p:spPr/>
        <p:txBody>
          <a:bodyPr/>
          <a:lstStyle/>
          <a:p>
            <a:r>
              <a:rPr lang="es-ES"/>
              <a:t>Haga clic para modificar el estilo de título del patrón</a:t>
            </a:r>
            <a:endParaRPr lang="es-AR"/>
          </a:p>
        </p:txBody>
      </p:sp>
      <p:sp>
        <p:nvSpPr>
          <p:cNvPr id="3" name="Marcador de contenido 2">
            <a:extLst>
              <a:ext uri="{FF2B5EF4-FFF2-40B4-BE49-F238E27FC236}">
                <a16:creationId xmlns:a16="http://schemas.microsoft.com/office/drawing/2014/main" id="{C91C588F-852B-449F-975E-7C26A4C79C73}"/>
              </a:ext>
            </a:extLst>
          </p:cNvPr>
          <p:cNvSpPr>
            <a:spLocks noGrp="1"/>
          </p:cNvSpPr>
          <p:nvPr>
            <p:ph sz="half" idx="1"/>
          </p:nvPr>
        </p:nvSpPr>
        <p:spPr>
          <a:xfrm>
            <a:off x="838200" y="1825625"/>
            <a:ext cx="5181600" cy="4351338"/>
          </a:xfrm>
        </p:spPr>
        <p:txBody>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Marcador de contenido 3">
            <a:extLst>
              <a:ext uri="{FF2B5EF4-FFF2-40B4-BE49-F238E27FC236}">
                <a16:creationId xmlns:a16="http://schemas.microsoft.com/office/drawing/2014/main" id="{6628B925-1FBB-4681-8B11-C508AF837B52}"/>
              </a:ext>
            </a:extLst>
          </p:cNvPr>
          <p:cNvSpPr>
            <a:spLocks noGrp="1"/>
          </p:cNvSpPr>
          <p:nvPr>
            <p:ph sz="half" idx="2"/>
          </p:nvPr>
        </p:nvSpPr>
        <p:spPr>
          <a:xfrm>
            <a:off x="6172200" y="1825625"/>
            <a:ext cx="5181600" cy="4351338"/>
          </a:xfrm>
        </p:spPr>
        <p:txBody>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5" name="Marcador de fecha 4">
            <a:extLst>
              <a:ext uri="{FF2B5EF4-FFF2-40B4-BE49-F238E27FC236}">
                <a16:creationId xmlns:a16="http://schemas.microsoft.com/office/drawing/2014/main" id="{7BE38973-6C14-4026-9C4D-C8F1B2E8F0BB}"/>
              </a:ext>
            </a:extLst>
          </p:cNvPr>
          <p:cNvSpPr>
            <a:spLocks noGrp="1"/>
          </p:cNvSpPr>
          <p:nvPr>
            <p:ph type="dt" sz="half" idx="10"/>
          </p:nvPr>
        </p:nvSpPr>
        <p:spPr/>
        <p:txBody>
          <a:bodyPr/>
          <a:lstStyle/>
          <a:p>
            <a:fld id="{D5E3F69A-07CA-4FA6-8659-3F8184DE9D62}" type="datetimeFigureOut">
              <a:rPr lang="es-AR" smtClean="0"/>
              <a:t>26/4/2024</a:t>
            </a:fld>
            <a:endParaRPr lang="es-AR"/>
          </a:p>
        </p:txBody>
      </p:sp>
      <p:sp>
        <p:nvSpPr>
          <p:cNvPr id="6" name="Marcador de pie de página 5">
            <a:extLst>
              <a:ext uri="{FF2B5EF4-FFF2-40B4-BE49-F238E27FC236}">
                <a16:creationId xmlns:a16="http://schemas.microsoft.com/office/drawing/2014/main" id="{DDB0F547-15CD-4553-A2D1-C3755DDCC4DB}"/>
              </a:ext>
            </a:extLst>
          </p:cNvPr>
          <p:cNvSpPr>
            <a:spLocks noGrp="1"/>
          </p:cNvSpPr>
          <p:nvPr>
            <p:ph type="ftr" sz="quarter" idx="11"/>
          </p:nvPr>
        </p:nvSpPr>
        <p:spPr/>
        <p:txBody>
          <a:bodyPr/>
          <a:lstStyle/>
          <a:p>
            <a:endParaRPr lang="es-AR"/>
          </a:p>
        </p:txBody>
      </p:sp>
      <p:sp>
        <p:nvSpPr>
          <p:cNvPr id="7" name="Marcador de número de diapositiva 6">
            <a:extLst>
              <a:ext uri="{FF2B5EF4-FFF2-40B4-BE49-F238E27FC236}">
                <a16:creationId xmlns:a16="http://schemas.microsoft.com/office/drawing/2014/main" id="{C4283AA8-CF3A-4FCB-8CD5-107F84779F57}"/>
              </a:ext>
            </a:extLst>
          </p:cNvPr>
          <p:cNvSpPr>
            <a:spLocks noGrp="1"/>
          </p:cNvSpPr>
          <p:nvPr>
            <p:ph type="sldNum" sz="quarter" idx="12"/>
          </p:nvPr>
        </p:nvSpPr>
        <p:spPr/>
        <p:txBody>
          <a:bodyPr/>
          <a:lstStyle/>
          <a:p>
            <a:fld id="{A9CDCCBA-ABFE-4282-BCDE-E7FFFF2A12BA}" type="slidenum">
              <a:rPr lang="es-AR" smtClean="0"/>
              <a:t>‹Nº›</a:t>
            </a:fld>
            <a:endParaRPr lang="es-AR"/>
          </a:p>
        </p:txBody>
      </p:sp>
    </p:spTree>
    <p:extLst>
      <p:ext uri="{BB962C8B-B14F-4D97-AF65-F5344CB8AC3E}">
        <p14:creationId xmlns:p14="http://schemas.microsoft.com/office/powerpoint/2010/main" val="32452874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3C43476-8475-4AAE-8E41-9E8F1CBF2426}"/>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AR"/>
          </a:p>
        </p:txBody>
      </p:sp>
      <p:sp>
        <p:nvSpPr>
          <p:cNvPr id="3" name="Marcador de texto 2">
            <a:extLst>
              <a:ext uri="{FF2B5EF4-FFF2-40B4-BE49-F238E27FC236}">
                <a16:creationId xmlns:a16="http://schemas.microsoft.com/office/drawing/2014/main" id="{5472FE43-6B8E-4D8B-A3D9-6CA2EE8593B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los estilos de texto del patrón</a:t>
            </a:r>
          </a:p>
        </p:txBody>
      </p:sp>
      <p:sp>
        <p:nvSpPr>
          <p:cNvPr id="4" name="Marcador de contenido 3">
            <a:extLst>
              <a:ext uri="{FF2B5EF4-FFF2-40B4-BE49-F238E27FC236}">
                <a16:creationId xmlns:a16="http://schemas.microsoft.com/office/drawing/2014/main" id="{C87F4137-2056-4EE9-BE5D-B34E3F026779}"/>
              </a:ext>
            </a:extLst>
          </p:cNvPr>
          <p:cNvSpPr>
            <a:spLocks noGrp="1"/>
          </p:cNvSpPr>
          <p:nvPr>
            <p:ph sz="half" idx="2"/>
          </p:nvPr>
        </p:nvSpPr>
        <p:spPr>
          <a:xfrm>
            <a:off x="839788" y="2505075"/>
            <a:ext cx="5157787" cy="3684588"/>
          </a:xfrm>
        </p:spPr>
        <p:txBody>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5" name="Marcador de texto 4">
            <a:extLst>
              <a:ext uri="{FF2B5EF4-FFF2-40B4-BE49-F238E27FC236}">
                <a16:creationId xmlns:a16="http://schemas.microsoft.com/office/drawing/2014/main" id="{CD4C370E-B9FC-4E8F-A17D-63E708CE5BC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los estilos de texto del patrón</a:t>
            </a:r>
          </a:p>
        </p:txBody>
      </p:sp>
      <p:sp>
        <p:nvSpPr>
          <p:cNvPr id="6" name="Marcador de contenido 5">
            <a:extLst>
              <a:ext uri="{FF2B5EF4-FFF2-40B4-BE49-F238E27FC236}">
                <a16:creationId xmlns:a16="http://schemas.microsoft.com/office/drawing/2014/main" id="{ED64075D-9E2E-41D3-866F-0F4199976B84}"/>
              </a:ext>
            </a:extLst>
          </p:cNvPr>
          <p:cNvSpPr>
            <a:spLocks noGrp="1"/>
          </p:cNvSpPr>
          <p:nvPr>
            <p:ph sz="quarter" idx="4"/>
          </p:nvPr>
        </p:nvSpPr>
        <p:spPr>
          <a:xfrm>
            <a:off x="6172200" y="2505075"/>
            <a:ext cx="5183188" cy="3684588"/>
          </a:xfrm>
        </p:spPr>
        <p:txBody>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7" name="Marcador de fecha 6">
            <a:extLst>
              <a:ext uri="{FF2B5EF4-FFF2-40B4-BE49-F238E27FC236}">
                <a16:creationId xmlns:a16="http://schemas.microsoft.com/office/drawing/2014/main" id="{0BF94304-FF68-429E-B125-EB35E568D0A6}"/>
              </a:ext>
            </a:extLst>
          </p:cNvPr>
          <p:cNvSpPr>
            <a:spLocks noGrp="1"/>
          </p:cNvSpPr>
          <p:nvPr>
            <p:ph type="dt" sz="half" idx="10"/>
          </p:nvPr>
        </p:nvSpPr>
        <p:spPr/>
        <p:txBody>
          <a:bodyPr/>
          <a:lstStyle/>
          <a:p>
            <a:fld id="{D5E3F69A-07CA-4FA6-8659-3F8184DE9D62}" type="datetimeFigureOut">
              <a:rPr lang="es-AR" smtClean="0"/>
              <a:t>26/4/2024</a:t>
            </a:fld>
            <a:endParaRPr lang="es-AR"/>
          </a:p>
        </p:txBody>
      </p:sp>
      <p:sp>
        <p:nvSpPr>
          <p:cNvPr id="8" name="Marcador de pie de página 7">
            <a:extLst>
              <a:ext uri="{FF2B5EF4-FFF2-40B4-BE49-F238E27FC236}">
                <a16:creationId xmlns:a16="http://schemas.microsoft.com/office/drawing/2014/main" id="{29B26C90-E586-4C20-A1EE-79559DBC7B2E}"/>
              </a:ext>
            </a:extLst>
          </p:cNvPr>
          <p:cNvSpPr>
            <a:spLocks noGrp="1"/>
          </p:cNvSpPr>
          <p:nvPr>
            <p:ph type="ftr" sz="quarter" idx="11"/>
          </p:nvPr>
        </p:nvSpPr>
        <p:spPr/>
        <p:txBody>
          <a:bodyPr/>
          <a:lstStyle/>
          <a:p>
            <a:endParaRPr lang="es-AR"/>
          </a:p>
        </p:txBody>
      </p:sp>
      <p:sp>
        <p:nvSpPr>
          <p:cNvPr id="9" name="Marcador de número de diapositiva 8">
            <a:extLst>
              <a:ext uri="{FF2B5EF4-FFF2-40B4-BE49-F238E27FC236}">
                <a16:creationId xmlns:a16="http://schemas.microsoft.com/office/drawing/2014/main" id="{0F78CF1F-BD71-4DFC-AD85-72720AE69238}"/>
              </a:ext>
            </a:extLst>
          </p:cNvPr>
          <p:cNvSpPr>
            <a:spLocks noGrp="1"/>
          </p:cNvSpPr>
          <p:nvPr>
            <p:ph type="sldNum" sz="quarter" idx="12"/>
          </p:nvPr>
        </p:nvSpPr>
        <p:spPr/>
        <p:txBody>
          <a:bodyPr/>
          <a:lstStyle/>
          <a:p>
            <a:fld id="{A9CDCCBA-ABFE-4282-BCDE-E7FFFF2A12BA}" type="slidenum">
              <a:rPr lang="es-AR" smtClean="0"/>
              <a:t>‹Nº›</a:t>
            </a:fld>
            <a:endParaRPr lang="es-AR"/>
          </a:p>
        </p:txBody>
      </p:sp>
    </p:spTree>
    <p:extLst>
      <p:ext uri="{BB962C8B-B14F-4D97-AF65-F5344CB8AC3E}">
        <p14:creationId xmlns:p14="http://schemas.microsoft.com/office/powerpoint/2010/main" val="17176520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13745E7-0DCE-49AB-83CC-67F69A7AA482}"/>
              </a:ext>
            </a:extLst>
          </p:cNvPr>
          <p:cNvSpPr>
            <a:spLocks noGrp="1"/>
          </p:cNvSpPr>
          <p:nvPr>
            <p:ph type="title"/>
          </p:nvPr>
        </p:nvSpPr>
        <p:spPr/>
        <p:txBody>
          <a:bodyPr/>
          <a:lstStyle/>
          <a:p>
            <a:r>
              <a:rPr lang="es-ES"/>
              <a:t>Haga clic para modificar el estilo de título del patrón</a:t>
            </a:r>
            <a:endParaRPr lang="es-AR"/>
          </a:p>
        </p:txBody>
      </p:sp>
      <p:sp>
        <p:nvSpPr>
          <p:cNvPr id="3" name="Marcador de fecha 2">
            <a:extLst>
              <a:ext uri="{FF2B5EF4-FFF2-40B4-BE49-F238E27FC236}">
                <a16:creationId xmlns:a16="http://schemas.microsoft.com/office/drawing/2014/main" id="{8CB90C12-73D7-4B91-A3FE-D9B03C5A3978}"/>
              </a:ext>
            </a:extLst>
          </p:cNvPr>
          <p:cNvSpPr>
            <a:spLocks noGrp="1"/>
          </p:cNvSpPr>
          <p:nvPr>
            <p:ph type="dt" sz="half" idx="10"/>
          </p:nvPr>
        </p:nvSpPr>
        <p:spPr/>
        <p:txBody>
          <a:bodyPr/>
          <a:lstStyle/>
          <a:p>
            <a:fld id="{D5E3F69A-07CA-4FA6-8659-3F8184DE9D62}" type="datetimeFigureOut">
              <a:rPr lang="es-AR" smtClean="0"/>
              <a:t>26/4/2024</a:t>
            </a:fld>
            <a:endParaRPr lang="es-AR"/>
          </a:p>
        </p:txBody>
      </p:sp>
      <p:sp>
        <p:nvSpPr>
          <p:cNvPr id="4" name="Marcador de pie de página 3">
            <a:extLst>
              <a:ext uri="{FF2B5EF4-FFF2-40B4-BE49-F238E27FC236}">
                <a16:creationId xmlns:a16="http://schemas.microsoft.com/office/drawing/2014/main" id="{49FF3BAE-5BC0-4D7A-BD33-A2C6B7B0BB3C}"/>
              </a:ext>
            </a:extLst>
          </p:cNvPr>
          <p:cNvSpPr>
            <a:spLocks noGrp="1"/>
          </p:cNvSpPr>
          <p:nvPr>
            <p:ph type="ftr" sz="quarter" idx="11"/>
          </p:nvPr>
        </p:nvSpPr>
        <p:spPr/>
        <p:txBody>
          <a:bodyPr/>
          <a:lstStyle/>
          <a:p>
            <a:endParaRPr lang="es-AR"/>
          </a:p>
        </p:txBody>
      </p:sp>
      <p:sp>
        <p:nvSpPr>
          <p:cNvPr id="5" name="Marcador de número de diapositiva 4">
            <a:extLst>
              <a:ext uri="{FF2B5EF4-FFF2-40B4-BE49-F238E27FC236}">
                <a16:creationId xmlns:a16="http://schemas.microsoft.com/office/drawing/2014/main" id="{AF88DC54-A363-424C-A66E-950C9D5CC0F3}"/>
              </a:ext>
            </a:extLst>
          </p:cNvPr>
          <p:cNvSpPr>
            <a:spLocks noGrp="1"/>
          </p:cNvSpPr>
          <p:nvPr>
            <p:ph type="sldNum" sz="quarter" idx="12"/>
          </p:nvPr>
        </p:nvSpPr>
        <p:spPr/>
        <p:txBody>
          <a:bodyPr/>
          <a:lstStyle/>
          <a:p>
            <a:fld id="{A9CDCCBA-ABFE-4282-BCDE-E7FFFF2A12BA}" type="slidenum">
              <a:rPr lang="es-AR" smtClean="0"/>
              <a:t>‹Nº›</a:t>
            </a:fld>
            <a:endParaRPr lang="es-AR"/>
          </a:p>
        </p:txBody>
      </p:sp>
    </p:spTree>
    <p:extLst>
      <p:ext uri="{BB962C8B-B14F-4D97-AF65-F5344CB8AC3E}">
        <p14:creationId xmlns:p14="http://schemas.microsoft.com/office/powerpoint/2010/main" val="21366518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E5BD7976-1394-4FC8-B8D7-865E9C8DE22E}"/>
              </a:ext>
            </a:extLst>
          </p:cNvPr>
          <p:cNvSpPr>
            <a:spLocks noGrp="1"/>
          </p:cNvSpPr>
          <p:nvPr>
            <p:ph type="dt" sz="half" idx="10"/>
          </p:nvPr>
        </p:nvSpPr>
        <p:spPr/>
        <p:txBody>
          <a:bodyPr/>
          <a:lstStyle/>
          <a:p>
            <a:fld id="{D5E3F69A-07CA-4FA6-8659-3F8184DE9D62}" type="datetimeFigureOut">
              <a:rPr lang="es-AR" smtClean="0"/>
              <a:t>26/4/2024</a:t>
            </a:fld>
            <a:endParaRPr lang="es-AR"/>
          </a:p>
        </p:txBody>
      </p:sp>
      <p:sp>
        <p:nvSpPr>
          <p:cNvPr id="3" name="Marcador de pie de página 2">
            <a:extLst>
              <a:ext uri="{FF2B5EF4-FFF2-40B4-BE49-F238E27FC236}">
                <a16:creationId xmlns:a16="http://schemas.microsoft.com/office/drawing/2014/main" id="{028F63C5-9F51-4E93-91AC-A9EE785BE0D7}"/>
              </a:ext>
            </a:extLst>
          </p:cNvPr>
          <p:cNvSpPr>
            <a:spLocks noGrp="1"/>
          </p:cNvSpPr>
          <p:nvPr>
            <p:ph type="ftr" sz="quarter" idx="11"/>
          </p:nvPr>
        </p:nvSpPr>
        <p:spPr/>
        <p:txBody>
          <a:bodyPr/>
          <a:lstStyle/>
          <a:p>
            <a:endParaRPr lang="es-AR"/>
          </a:p>
        </p:txBody>
      </p:sp>
      <p:sp>
        <p:nvSpPr>
          <p:cNvPr id="4" name="Marcador de número de diapositiva 3">
            <a:extLst>
              <a:ext uri="{FF2B5EF4-FFF2-40B4-BE49-F238E27FC236}">
                <a16:creationId xmlns:a16="http://schemas.microsoft.com/office/drawing/2014/main" id="{EF9FE922-64D4-4A87-98A1-87862CBB2FD7}"/>
              </a:ext>
            </a:extLst>
          </p:cNvPr>
          <p:cNvSpPr>
            <a:spLocks noGrp="1"/>
          </p:cNvSpPr>
          <p:nvPr>
            <p:ph type="sldNum" sz="quarter" idx="12"/>
          </p:nvPr>
        </p:nvSpPr>
        <p:spPr/>
        <p:txBody>
          <a:bodyPr/>
          <a:lstStyle/>
          <a:p>
            <a:fld id="{A9CDCCBA-ABFE-4282-BCDE-E7FFFF2A12BA}" type="slidenum">
              <a:rPr lang="es-AR" smtClean="0"/>
              <a:t>‹Nº›</a:t>
            </a:fld>
            <a:endParaRPr lang="es-AR"/>
          </a:p>
        </p:txBody>
      </p:sp>
    </p:spTree>
    <p:extLst>
      <p:ext uri="{BB962C8B-B14F-4D97-AF65-F5344CB8AC3E}">
        <p14:creationId xmlns:p14="http://schemas.microsoft.com/office/powerpoint/2010/main" val="22970649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FE68F91-98B7-4F11-A12E-1213B9CDFF45}"/>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AR"/>
          </a:p>
        </p:txBody>
      </p:sp>
      <p:sp>
        <p:nvSpPr>
          <p:cNvPr id="3" name="Marcador de contenido 2">
            <a:extLst>
              <a:ext uri="{FF2B5EF4-FFF2-40B4-BE49-F238E27FC236}">
                <a16:creationId xmlns:a16="http://schemas.microsoft.com/office/drawing/2014/main" id="{7FA87097-9CCE-42FD-8F05-1A78140C97C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Marcador de texto 3">
            <a:extLst>
              <a:ext uri="{FF2B5EF4-FFF2-40B4-BE49-F238E27FC236}">
                <a16:creationId xmlns:a16="http://schemas.microsoft.com/office/drawing/2014/main" id="{8EE4BB82-AF48-4C1B-9587-B5F2D6E8512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los estilos de texto del patrón</a:t>
            </a:r>
          </a:p>
        </p:txBody>
      </p:sp>
      <p:sp>
        <p:nvSpPr>
          <p:cNvPr id="5" name="Marcador de fecha 4">
            <a:extLst>
              <a:ext uri="{FF2B5EF4-FFF2-40B4-BE49-F238E27FC236}">
                <a16:creationId xmlns:a16="http://schemas.microsoft.com/office/drawing/2014/main" id="{B7C612D5-09C0-4352-B682-F703B649AC20}"/>
              </a:ext>
            </a:extLst>
          </p:cNvPr>
          <p:cNvSpPr>
            <a:spLocks noGrp="1"/>
          </p:cNvSpPr>
          <p:nvPr>
            <p:ph type="dt" sz="half" idx="10"/>
          </p:nvPr>
        </p:nvSpPr>
        <p:spPr/>
        <p:txBody>
          <a:bodyPr/>
          <a:lstStyle/>
          <a:p>
            <a:fld id="{D5E3F69A-07CA-4FA6-8659-3F8184DE9D62}" type="datetimeFigureOut">
              <a:rPr lang="es-AR" smtClean="0"/>
              <a:t>26/4/2024</a:t>
            </a:fld>
            <a:endParaRPr lang="es-AR"/>
          </a:p>
        </p:txBody>
      </p:sp>
      <p:sp>
        <p:nvSpPr>
          <p:cNvPr id="6" name="Marcador de pie de página 5">
            <a:extLst>
              <a:ext uri="{FF2B5EF4-FFF2-40B4-BE49-F238E27FC236}">
                <a16:creationId xmlns:a16="http://schemas.microsoft.com/office/drawing/2014/main" id="{2F1DD472-0CA2-466D-8863-FA5B915C997F}"/>
              </a:ext>
            </a:extLst>
          </p:cNvPr>
          <p:cNvSpPr>
            <a:spLocks noGrp="1"/>
          </p:cNvSpPr>
          <p:nvPr>
            <p:ph type="ftr" sz="quarter" idx="11"/>
          </p:nvPr>
        </p:nvSpPr>
        <p:spPr/>
        <p:txBody>
          <a:bodyPr/>
          <a:lstStyle/>
          <a:p>
            <a:endParaRPr lang="es-AR"/>
          </a:p>
        </p:txBody>
      </p:sp>
      <p:sp>
        <p:nvSpPr>
          <p:cNvPr id="7" name="Marcador de número de diapositiva 6">
            <a:extLst>
              <a:ext uri="{FF2B5EF4-FFF2-40B4-BE49-F238E27FC236}">
                <a16:creationId xmlns:a16="http://schemas.microsoft.com/office/drawing/2014/main" id="{F938939B-14DE-44A5-BF29-1558C10E75FD}"/>
              </a:ext>
            </a:extLst>
          </p:cNvPr>
          <p:cNvSpPr>
            <a:spLocks noGrp="1"/>
          </p:cNvSpPr>
          <p:nvPr>
            <p:ph type="sldNum" sz="quarter" idx="12"/>
          </p:nvPr>
        </p:nvSpPr>
        <p:spPr/>
        <p:txBody>
          <a:bodyPr/>
          <a:lstStyle/>
          <a:p>
            <a:fld id="{A9CDCCBA-ABFE-4282-BCDE-E7FFFF2A12BA}" type="slidenum">
              <a:rPr lang="es-AR" smtClean="0"/>
              <a:t>‹Nº›</a:t>
            </a:fld>
            <a:endParaRPr lang="es-AR"/>
          </a:p>
        </p:txBody>
      </p:sp>
    </p:spTree>
    <p:extLst>
      <p:ext uri="{BB962C8B-B14F-4D97-AF65-F5344CB8AC3E}">
        <p14:creationId xmlns:p14="http://schemas.microsoft.com/office/powerpoint/2010/main" val="14895428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D7ADDE8-35D2-4AB3-BFEB-3E15FBBF789F}"/>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AR"/>
          </a:p>
        </p:txBody>
      </p:sp>
      <p:sp>
        <p:nvSpPr>
          <p:cNvPr id="3" name="Marcador de posición de imagen 2">
            <a:extLst>
              <a:ext uri="{FF2B5EF4-FFF2-40B4-BE49-F238E27FC236}">
                <a16:creationId xmlns:a16="http://schemas.microsoft.com/office/drawing/2014/main" id="{899135E0-503E-4D1E-BD85-3906593DE79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AR"/>
          </a:p>
        </p:txBody>
      </p:sp>
      <p:sp>
        <p:nvSpPr>
          <p:cNvPr id="4" name="Marcador de texto 3">
            <a:extLst>
              <a:ext uri="{FF2B5EF4-FFF2-40B4-BE49-F238E27FC236}">
                <a16:creationId xmlns:a16="http://schemas.microsoft.com/office/drawing/2014/main" id="{5EC74D96-865F-42AB-A40B-F9A6791D6CF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los estilos de texto del patrón</a:t>
            </a:r>
          </a:p>
        </p:txBody>
      </p:sp>
      <p:sp>
        <p:nvSpPr>
          <p:cNvPr id="5" name="Marcador de fecha 4">
            <a:extLst>
              <a:ext uri="{FF2B5EF4-FFF2-40B4-BE49-F238E27FC236}">
                <a16:creationId xmlns:a16="http://schemas.microsoft.com/office/drawing/2014/main" id="{F513BF82-44D5-4EC7-BF47-69B8AF762514}"/>
              </a:ext>
            </a:extLst>
          </p:cNvPr>
          <p:cNvSpPr>
            <a:spLocks noGrp="1"/>
          </p:cNvSpPr>
          <p:nvPr>
            <p:ph type="dt" sz="half" idx="10"/>
          </p:nvPr>
        </p:nvSpPr>
        <p:spPr/>
        <p:txBody>
          <a:bodyPr/>
          <a:lstStyle/>
          <a:p>
            <a:fld id="{D5E3F69A-07CA-4FA6-8659-3F8184DE9D62}" type="datetimeFigureOut">
              <a:rPr lang="es-AR" smtClean="0"/>
              <a:t>26/4/2024</a:t>
            </a:fld>
            <a:endParaRPr lang="es-AR"/>
          </a:p>
        </p:txBody>
      </p:sp>
      <p:sp>
        <p:nvSpPr>
          <p:cNvPr id="6" name="Marcador de pie de página 5">
            <a:extLst>
              <a:ext uri="{FF2B5EF4-FFF2-40B4-BE49-F238E27FC236}">
                <a16:creationId xmlns:a16="http://schemas.microsoft.com/office/drawing/2014/main" id="{A3A47EA8-0240-4B42-8C01-394F37710D45}"/>
              </a:ext>
            </a:extLst>
          </p:cNvPr>
          <p:cNvSpPr>
            <a:spLocks noGrp="1"/>
          </p:cNvSpPr>
          <p:nvPr>
            <p:ph type="ftr" sz="quarter" idx="11"/>
          </p:nvPr>
        </p:nvSpPr>
        <p:spPr/>
        <p:txBody>
          <a:bodyPr/>
          <a:lstStyle/>
          <a:p>
            <a:endParaRPr lang="es-AR"/>
          </a:p>
        </p:txBody>
      </p:sp>
      <p:sp>
        <p:nvSpPr>
          <p:cNvPr id="7" name="Marcador de número de diapositiva 6">
            <a:extLst>
              <a:ext uri="{FF2B5EF4-FFF2-40B4-BE49-F238E27FC236}">
                <a16:creationId xmlns:a16="http://schemas.microsoft.com/office/drawing/2014/main" id="{99600F27-6E77-447C-8A24-E6FAA76757F7}"/>
              </a:ext>
            </a:extLst>
          </p:cNvPr>
          <p:cNvSpPr>
            <a:spLocks noGrp="1"/>
          </p:cNvSpPr>
          <p:nvPr>
            <p:ph type="sldNum" sz="quarter" idx="12"/>
          </p:nvPr>
        </p:nvSpPr>
        <p:spPr/>
        <p:txBody>
          <a:bodyPr/>
          <a:lstStyle/>
          <a:p>
            <a:fld id="{A9CDCCBA-ABFE-4282-BCDE-E7FFFF2A12BA}" type="slidenum">
              <a:rPr lang="es-AR" smtClean="0"/>
              <a:t>‹Nº›</a:t>
            </a:fld>
            <a:endParaRPr lang="es-AR"/>
          </a:p>
        </p:txBody>
      </p:sp>
    </p:spTree>
    <p:extLst>
      <p:ext uri="{BB962C8B-B14F-4D97-AF65-F5344CB8AC3E}">
        <p14:creationId xmlns:p14="http://schemas.microsoft.com/office/powerpoint/2010/main" val="21757960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FCA8E7-3B8D-47F4-B1A0-D0DE2E7E36A8}"/>
              </a:ext>
            </a:extLst>
          </p:cNvPr>
          <p:cNvSpPr>
            <a:spLocks noGrp="1"/>
          </p:cNvSpPr>
          <p:nvPr>
            <p:ph type="title"/>
          </p:nvPr>
        </p:nvSpPr>
        <p:spPr/>
        <p:txBody>
          <a:bodyPr/>
          <a:lstStyle/>
          <a:p>
            <a:r>
              <a:rPr lang="es-ES"/>
              <a:t>Haga clic para modificar el estilo de título del patrón</a:t>
            </a:r>
            <a:endParaRPr lang="es-AR"/>
          </a:p>
        </p:txBody>
      </p:sp>
      <p:sp>
        <p:nvSpPr>
          <p:cNvPr id="3" name="Marcador de texto vertical 2">
            <a:extLst>
              <a:ext uri="{FF2B5EF4-FFF2-40B4-BE49-F238E27FC236}">
                <a16:creationId xmlns:a16="http://schemas.microsoft.com/office/drawing/2014/main" id="{B4FD2CF1-4A6B-468C-9999-AE864B208D3F}"/>
              </a:ext>
            </a:extLst>
          </p:cNvPr>
          <p:cNvSpPr>
            <a:spLocks noGrp="1"/>
          </p:cNvSpPr>
          <p:nvPr>
            <p:ph type="body" orient="vert" idx="1"/>
          </p:nvPr>
        </p:nvSpPr>
        <p:spPr/>
        <p:txBody>
          <a:bodyPr vert="eaVert"/>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Marcador de fecha 3">
            <a:extLst>
              <a:ext uri="{FF2B5EF4-FFF2-40B4-BE49-F238E27FC236}">
                <a16:creationId xmlns:a16="http://schemas.microsoft.com/office/drawing/2014/main" id="{29215B36-3672-4CAF-BE64-1FB65A513F35}"/>
              </a:ext>
            </a:extLst>
          </p:cNvPr>
          <p:cNvSpPr>
            <a:spLocks noGrp="1"/>
          </p:cNvSpPr>
          <p:nvPr>
            <p:ph type="dt" sz="half" idx="10"/>
          </p:nvPr>
        </p:nvSpPr>
        <p:spPr/>
        <p:txBody>
          <a:bodyPr/>
          <a:lstStyle/>
          <a:p>
            <a:fld id="{D5E3F69A-07CA-4FA6-8659-3F8184DE9D62}" type="datetimeFigureOut">
              <a:rPr lang="es-AR" smtClean="0"/>
              <a:t>26/4/2024</a:t>
            </a:fld>
            <a:endParaRPr lang="es-AR"/>
          </a:p>
        </p:txBody>
      </p:sp>
      <p:sp>
        <p:nvSpPr>
          <p:cNvPr id="5" name="Marcador de pie de página 4">
            <a:extLst>
              <a:ext uri="{FF2B5EF4-FFF2-40B4-BE49-F238E27FC236}">
                <a16:creationId xmlns:a16="http://schemas.microsoft.com/office/drawing/2014/main" id="{9E73B271-8FF8-4297-82AE-18DA79189BFF}"/>
              </a:ext>
            </a:extLst>
          </p:cNvPr>
          <p:cNvSpPr>
            <a:spLocks noGrp="1"/>
          </p:cNvSpPr>
          <p:nvPr>
            <p:ph type="ftr" sz="quarter" idx="11"/>
          </p:nvPr>
        </p:nvSpPr>
        <p:spPr/>
        <p:txBody>
          <a:bodyPr/>
          <a:lstStyle/>
          <a:p>
            <a:endParaRPr lang="es-AR"/>
          </a:p>
        </p:txBody>
      </p:sp>
      <p:sp>
        <p:nvSpPr>
          <p:cNvPr id="6" name="Marcador de número de diapositiva 5">
            <a:extLst>
              <a:ext uri="{FF2B5EF4-FFF2-40B4-BE49-F238E27FC236}">
                <a16:creationId xmlns:a16="http://schemas.microsoft.com/office/drawing/2014/main" id="{F40AE8A8-8DE3-4451-9530-27CC790BF547}"/>
              </a:ext>
            </a:extLst>
          </p:cNvPr>
          <p:cNvSpPr>
            <a:spLocks noGrp="1"/>
          </p:cNvSpPr>
          <p:nvPr>
            <p:ph type="sldNum" sz="quarter" idx="12"/>
          </p:nvPr>
        </p:nvSpPr>
        <p:spPr/>
        <p:txBody>
          <a:bodyPr/>
          <a:lstStyle/>
          <a:p>
            <a:fld id="{A9CDCCBA-ABFE-4282-BCDE-E7FFFF2A12BA}" type="slidenum">
              <a:rPr lang="es-AR" smtClean="0"/>
              <a:t>‹Nº›</a:t>
            </a:fld>
            <a:endParaRPr lang="es-AR"/>
          </a:p>
        </p:txBody>
      </p:sp>
    </p:spTree>
    <p:extLst>
      <p:ext uri="{BB962C8B-B14F-4D97-AF65-F5344CB8AC3E}">
        <p14:creationId xmlns:p14="http://schemas.microsoft.com/office/powerpoint/2010/main" val="5353749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10D33723-CDF3-422D-9100-08480E6F25E5}"/>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AR"/>
          </a:p>
        </p:txBody>
      </p:sp>
      <p:sp>
        <p:nvSpPr>
          <p:cNvPr id="3" name="Marcador de texto vertical 2">
            <a:extLst>
              <a:ext uri="{FF2B5EF4-FFF2-40B4-BE49-F238E27FC236}">
                <a16:creationId xmlns:a16="http://schemas.microsoft.com/office/drawing/2014/main" id="{37542780-6BE9-4593-95AF-99AFC00C33B5}"/>
              </a:ext>
            </a:extLst>
          </p:cNvPr>
          <p:cNvSpPr>
            <a:spLocks noGrp="1"/>
          </p:cNvSpPr>
          <p:nvPr>
            <p:ph type="body" orient="vert" idx="1"/>
          </p:nvPr>
        </p:nvSpPr>
        <p:spPr>
          <a:xfrm>
            <a:off x="838200" y="365125"/>
            <a:ext cx="7734300" cy="5811838"/>
          </a:xfrm>
        </p:spPr>
        <p:txBody>
          <a:bodyPr vert="eaVert"/>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Marcador de fecha 3">
            <a:extLst>
              <a:ext uri="{FF2B5EF4-FFF2-40B4-BE49-F238E27FC236}">
                <a16:creationId xmlns:a16="http://schemas.microsoft.com/office/drawing/2014/main" id="{42F9F894-81B8-47EC-9C56-0D39A5139180}"/>
              </a:ext>
            </a:extLst>
          </p:cNvPr>
          <p:cNvSpPr>
            <a:spLocks noGrp="1"/>
          </p:cNvSpPr>
          <p:nvPr>
            <p:ph type="dt" sz="half" idx="10"/>
          </p:nvPr>
        </p:nvSpPr>
        <p:spPr/>
        <p:txBody>
          <a:bodyPr/>
          <a:lstStyle/>
          <a:p>
            <a:fld id="{D5E3F69A-07CA-4FA6-8659-3F8184DE9D62}" type="datetimeFigureOut">
              <a:rPr lang="es-AR" smtClean="0"/>
              <a:t>26/4/2024</a:t>
            </a:fld>
            <a:endParaRPr lang="es-AR"/>
          </a:p>
        </p:txBody>
      </p:sp>
      <p:sp>
        <p:nvSpPr>
          <p:cNvPr id="5" name="Marcador de pie de página 4">
            <a:extLst>
              <a:ext uri="{FF2B5EF4-FFF2-40B4-BE49-F238E27FC236}">
                <a16:creationId xmlns:a16="http://schemas.microsoft.com/office/drawing/2014/main" id="{FA1B4CFC-A971-433A-817E-EDD6C68964C4}"/>
              </a:ext>
            </a:extLst>
          </p:cNvPr>
          <p:cNvSpPr>
            <a:spLocks noGrp="1"/>
          </p:cNvSpPr>
          <p:nvPr>
            <p:ph type="ftr" sz="quarter" idx="11"/>
          </p:nvPr>
        </p:nvSpPr>
        <p:spPr/>
        <p:txBody>
          <a:bodyPr/>
          <a:lstStyle/>
          <a:p>
            <a:endParaRPr lang="es-AR"/>
          </a:p>
        </p:txBody>
      </p:sp>
      <p:sp>
        <p:nvSpPr>
          <p:cNvPr id="6" name="Marcador de número de diapositiva 5">
            <a:extLst>
              <a:ext uri="{FF2B5EF4-FFF2-40B4-BE49-F238E27FC236}">
                <a16:creationId xmlns:a16="http://schemas.microsoft.com/office/drawing/2014/main" id="{38080314-209B-470D-B49D-A95C8B9CACC1}"/>
              </a:ext>
            </a:extLst>
          </p:cNvPr>
          <p:cNvSpPr>
            <a:spLocks noGrp="1"/>
          </p:cNvSpPr>
          <p:nvPr>
            <p:ph type="sldNum" sz="quarter" idx="12"/>
          </p:nvPr>
        </p:nvSpPr>
        <p:spPr/>
        <p:txBody>
          <a:bodyPr/>
          <a:lstStyle/>
          <a:p>
            <a:fld id="{A9CDCCBA-ABFE-4282-BCDE-E7FFFF2A12BA}" type="slidenum">
              <a:rPr lang="es-AR" smtClean="0"/>
              <a:t>‹Nº›</a:t>
            </a:fld>
            <a:endParaRPr lang="es-AR"/>
          </a:p>
        </p:txBody>
      </p:sp>
    </p:spTree>
    <p:extLst>
      <p:ext uri="{BB962C8B-B14F-4D97-AF65-F5344CB8AC3E}">
        <p14:creationId xmlns:p14="http://schemas.microsoft.com/office/powerpoint/2010/main" val="31188147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9E58368F-FEC0-423C-95A5-91E910302A6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AR"/>
          </a:p>
        </p:txBody>
      </p:sp>
      <p:sp>
        <p:nvSpPr>
          <p:cNvPr id="3" name="Marcador de texto 2">
            <a:extLst>
              <a:ext uri="{FF2B5EF4-FFF2-40B4-BE49-F238E27FC236}">
                <a16:creationId xmlns:a16="http://schemas.microsoft.com/office/drawing/2014/main" id="{67680BC2-7904-4295-A612-13C8CEDB4F2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Marcador de fecha 3">
            <a:extLst>
              <a:ext uri="{FF2B5EF4-FFF2-40B4-BE49-F238E27FC236}">
                <a16:creationId xmlns:a16="http://schemas.microsoft.com/office/drawing/2014/main" id="{6EFDD47F-EA9A-4BBB-A3D9-D197C902D5B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5E3F69A-07CA-4FA6-8659-3F8184DE9D62}" type="datetimeFigureOut">
              <a:rPr lang="es-AR" smtClean="0"/>
              <a:t>26/4/2024</a:t>
            </a:fld>
            <a:endParaRPr lang="es-AR"/>
          </a:p>
        </p:txBody>
      </p:sp>
      <p:sp>
        <p:nvSpPr>
          <p:cNvPr id="5" name="Marcador de pie de página 4">
            <a:extLst>
              <a:ext uri="{FF2B5EF4-FFF2-40B4-BE49-F238E27FC236}">
                <a16:creationId xmlns:a16="http://schemas.microsoft.com/office/drawing/2014/main" id="{023967D6-450C-40DE-969C-8C418C9491B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AR"/>
          </a:p>
        </p:txBody>
      </p:sp>
      <p:sp>
        <p:nvSpPr>
          <p:cNvPr id="6" name="Marcador de número de diapositiva 5">
            <a:extLst>
              <a:ext uri="{FF2B5EF4-FFF2-40B4-BE49-F238E27FC236}">
                <a16:creationId xmlns:a16="http://schemas.microsoft.com/office/drawing/2014/main" id="{0DBC9104-6A80-480C-BEE8-98E6B663494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9CDCCBA-ABFE-4282-BCDE-E7FFFF2A12BA}" type="slidenum">
              <a:rPr lang="es-AR" smtClean="0"/>
              <a:t>‹Nº›</a:t>
            </a:fld>
            <a:endParaRPr lang="es-AR"/>
          </a:p>
        </p:txBody>
      </p:sp>
    </p:spTree>
    <p:extLst>
      <p:ext uri="{BB962C8B-B14F-4D97-AF65-F5344CB8AC3E}">
        <p14:creationId xmlns:p14="http://schemas.microsoft.com/office/powerpoint/2010/main" val="334851897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10.png"/><Relationship Id="rId4" Type="http://schemas.openxmlformats.org/officeDocument/2006/relationships/image" Target="../media/image4.png"/></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11.png"/><Relationship Id="rId4" Type="http://schemas.openxmlformats.org/officeDocument/2006/relationships/image" Target="../media/image4.png"/></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12.png"/><Relationship Id="rId4" Type="http://schemas.openxmlformats.org/officeDocument/2006/relationships/image" Target="../media/image4.png"/></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13.png"/><Relationship Id="rId4" Type="http://schemas.openxmlformats.org/officeDocument/2006/relationships/image" Target="../media/image4.png"/></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14.png"/><Relationship Id="rId4" Type="http://schemas.openxmlformats.org/officeDocument/2006/relationships/image" Target="../media/image4.png"/></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15.png"/><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5" name="Imagen 31">
            <a:extLst>
              <a:ext uri="{FF2B5EF4-FFF2-40B4-BE49-F238E27FC236}">
                <a16:creationId xmlns:a16="http://schemas.microsoft.com/office/drawing/2014/main" id="{452E838D-7BB9-4864-AE07-88664BFD686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1048" y="6422"/>
            <a:ext cx="11410951" cy="907978"/>
          </a:xfrm>
          <a:prstGeom prst="rect">
            <a:avLst/>
          </a:prstGeom>
          <a:noFill/>
          <a:extLst>
            <a:ext uri="{909E8E84-426E-40DD-AFC4-6F175D3DCCD1}">
              <a14:hiddenFill xmlns:a14="http://schemas.microsoft.com/office/drawing/2010/main">
                <a:solidFill>
                  <a:srgbClr val="FFFFFF"/>
                </a:solidFill>
              </a14:hiddenFill>
            </a:ext>
          </a:extLst>
        </p:spPr>
      </p:pic>
      <p:pic>
        <p:nvPicPr>
          <p:cNvPr id="2056" name="Imagen 30">
            <a:extLst>
              <a:ext uri="{FF2B5EF4-FFF2-40B4-BE49-F238E27FC236}">
                <a16:creationId xmlns:a16="http://schemas.microsoft.com/office/drawing/2014/main" id="{8E90C719-CF33-4486-9AEB-EA64319F5A0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98" y="1725"/>
            <a:ext cx="1076624" cy="1623753"/>
          </a:xfrm>
          <a:prstGeom prst="rect">
            <a:avLst/>
          </a:prstGeom>
          <a:noFill/>
          <a:extLst>
            <a:ext uri="{909E8E84-426E-40DD-AFC4-6F175D3DCCD1}">
              <a14:hiddenFill xmlns:a14="http://schemas.microsoft.com/office/drawing/2010/main">
                <a:solidFill>
                  <a:srgbClr val="FFFFFF"/>
                </a:solidFill>
              </a14:hiddenFill>
            </a:ext>
          </a:extLst>
        </p:spPr>
      </p:pic>
      <p:sp>
        <p:nvSpPr>
          <p:cNvPr id="2" name="1 Rectángulo"/>
          <p:cNvSpPr/>
          <p:nvPr/>
        </p:nvSpPr>
        <p:spPr>
          <a:xfrm>
            <a:off x="-3198" y="6377614"/>
            <a:ext cx="12195197" cy="221966"/>
          </a:xfrm>
          <a:prstGeom prst="rect">
            <a:avLst/>
          </a:prstGeom>
          <a:solidFill>
            <a:srgbClr val="6800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3" name="2 CuadroTexto"/>
          <p:cNvSpPr txBox="1"/>
          <p:nvPr/>
        </p:nvSpPr>
        <p:spPr>
          <a:xfrm>
            <a:off x="10177664" y="6315046"/>
            <a:ext cx="2080591" cy="338554"/>
          </a:xfrm>
          <a:prstGeom prst="rect">
            <a:avLst/>
          </a:prstGeom>
          <a:noFill/>
        </p:spPr>
        <p:txBody>
          <a:bodyPr wrap="square" rtlCol="0">
            <a:spAutoFit/>
          </a:bodyPr>
          <a:lstStyle/>
          <a:p>
            <a:r>
              <a:rPr lang="es-ES" sz="1600" b="1" dirty="0">
                <a:solidFill>
                  <a:srgbClr val="FFFFFF"/>
                </a:solidFill>
                <a:latin typeface="Calibri Light" panose="020F0302020204030204" pitchFamily="34" charset="0"/>
                <a:ea typeface="Calibri" panose="020F0502020204030204" pitchFamily="34" charset="0"/>
                <a:cs typeface="Calibri Light" panose="020F0302020204030204" pitchFamily="34" charset="0"/>
              </a:rPr>
              <a:t>Modalidad Virtual</a:t>
            </a:r>
          </a:p>
        </p:txBody>
      </p:sp>
      <p:sp>
        <p:nvSpPr>
          <p:cNvPr id="11" name="1 Título">
            <a:extLst>
              <a:ext uri="{FF2B5EF4-FFF2-40B4-BE49-F238E27FC236}">
                <a16:creationId xmlns:a16="http://schemas.microsoft.com/office/drawing/2014/main" id="{580E64F2-5285-450B-9979-ADA4942F6DF8}"/>
              </a:ext>
            </a:extLst>
          </p:cNvPr>
          <p:cNvSpPr txBox="1">
            <a:spLocks/>
          </p:cNvSpPr>
          <p:nvPr/>
        </p:nvSpPr>
        <p:spPr>
          <a:xfrm>
            <a:off x="781048" y="95209"/>
            <a:ext cx="10515600" cy="819191"/>
          </a:xfrm>
          <a:prstGeom prst="rect">
            <a:avLst/>
          </a:prstGeom>
        </p:spPr>
        <p:txBody>
          <a:bodyPr rtlCol="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defRPr/>
            </a:pPr>
            <a:endParaRPr lang="es-AR" b="1" dirty="0">
              <a:solidFill>
                <a:schemeClr val="bg1">
                  <a:lumMod val="95000"/>
                </a:schemeClr>
              </a:solidFill>
              <a:effectLst>
                <a:outerShdw blurRad="38100" dist="38100" dir="2700000" algn="tl">
                  <a:srgbClr val="000000">
                    <a:alpha val="43137"/>
                  </a:srgbClr>
                </a:outerShdw>
              </a:effectLst>
            </a:endParaRPr>
          </a:p>
        </p:txBody>
      </p:sp>
      <p:sp>
        <p:nvSpPr>
          <p:cNvPr id="13" name="Cuadro de texto 2">
            <a:extLst>
              <a:ext uri="{FF2B5EF4-FFF2-40B4-BE49-F238E27FC236}">
                <a16:creationId xmlns:a16="http://schemas.microsoft.com/office/drawing/2014/main" id="{AAE8F54E-1B3A-4600-AFCB-9226D0D550E2}"/>
              </a:ext>
            </a:extLst>
          </p:cNvPr>
          <p:cNvSpPr txBox="1">
            <a:spLocks noChangeArrowheads="1"/>
          </p:cNvSpPr>
          <p:nvPr/>
        </p:nvSpPr>
        <p:spPr bwMode="auto">
          <a:xfrm>
            <a:off x="2049260" y="0"/>
            <a:ext cx="8460035" cy="863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AR" altLang="es-AR" sz="4800" b="0" i="0" u="none" strike="noStrike" cap="none" normalizeH="0" baseline="0" dirty="0">
                <a:ln>
                  <a:noFill/>
                </a:ln>
                <a:solidFill>
                  <a:srgbClr val="FFFFFF"/>
                </a:solidFill>
                <a:effectLst/>
                <a:latin typeface="Calibri Light" panose="020F0302020204030204" pitchFamily="34" charset="0"/>
                <a:ea typeface="Calibri" panose="020F0502020204030204" pitchFamily="34" charset="0"/>
                <a:cs typeface="Calibri Light" panose="020F0302020204030204" pitchFamily="34" charset="0"/>
              </a:rPr>
              <a:t>PROGRAMACION CONCURRENTE</a:t>
            </a:r>
          </a:p>
        </p:txBody>
      </p:sp>
      <p:pic>
        <p:nvPicPr>
          <p:cNvPr id="12" name="Picture 5">
            <a:extLst>
              <a:ext uri="{FF2B5EF4-FFF2-40B4-BE49-F238E27FC236}">
                <a16:creationId xmlns:a16="http://schemas.microsoft.com/office/drawing/2014/main" id="{78E808B5-78A4-442D-997A-D4550389376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38863" y="1215190"/>
            <a:ext cx="3071579" cy="34022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4 CuadroTexto">
            <a:extLst>
              <a:ext uri="{FF2B5EF4-FFF2-40B4-BE49-F238E27FC236}">
                <a16:creationId xmlns:a16="http://schemas.microsoft.com/office/drawing/2014/main" id="{16345EA6-5AC8-4BF4-80DC-1231B30A0EE5}"/>
              </a:ext>
            </a:extLst>
          </p:cNvPr>
          <p:cNvSpPr txBox="1"/>
          <p:nvPr/>
        </p:nvSpPr>
        <p:spPr>
          <a:xfrm>
            <a:off x="2339946" y="5143589"/>
            <a:ext cx="7397804" cy="707886"/>
          </a:xfrm>
          <a:prstGeom prst="rect">
            <a:avLst/>
          </a:prstGeom>
          <a:noFill/>
        </p:spPr>
        <p:txBody>
          <a:bodyPr wrap="square" rtlCol="0">
            <a:spAutoFit/>
          </a:bodyPr>
          <a:lstStyle/>
          <a:p>
            <a:pPr algn="just"/>
            <a:r>
              <a:rPr lang="es-AR" sz="4000" b="1" cap="all" dirty="0"/>
              <a:t>PROGRAMACIÓN CONCURRENTE</a:t>
            </a:r>
          </a:p>
        </p:txBody>
      </p:sp>
      <p:pic>
        <p:nvPicPr>
          <p:cNvPr id="15" name="Picture 5">
            <a:extLst>
              <a:ext uri="{FF2B5EF4-FFF2-40B4-BE49-F238E27FC236}">
                <a16:creationId xmlns:a16="http://schemas.microsoft.com/office/drawing/2014/main" id="{C7858944-FA40-423E-992B-7FA36F4AD226}"/>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72278" y="5808678"/>
            <a:ext cx="947333" cy="1049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40734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5" name="Imagen 31">
            <a:extLst>
              <a:ext uri="{FF2B5EF4-FFF2-40B4-BE49-F238E27FC236}">
                <a16:creationId xmlns:a16="http://schemas.microsoft.com/office/drawing/2014/main" id="{452E838D-7BB9-4864-AE07-88664BFD686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1048" y="6422"/>
            <a:ext cx="11410951" cy="907978"/>
          </a:xfrm>
          <a:prstGeom prst="rect">
            <a:avLst/>
          </a:prstGeom>
          <a:noFill/>
          <a:extLst>
            <a:ext uri="{909E8E84-426E-40DD-AFC4-6F175D3DCCD1}">
              <a14:hiddenFill xmlns:a14="http://schemas.microsoft.com/office/drawing/2010/main">
                <a:solidFill>
                  <a:srgbClr val="FFFFFF"/>
                </a:solidFill>
              </a14:hiddenFill>
            </a:ext>
          </a:extLst>
        </p:spPr>
      </p:pic>
      <p:pic>
        <p:nvPicPr>
          <p:cNvPr id="2056" name="Imagen 30">
            <a:extLst>
              <a:ext uri="{FF2B5EF4-FFF2-40B4-BE49-F238E27FC236}">
                <a16:creationId xmlns:a16="http://schemas.microsoft.com/office/drawing/2014/main" id="{8E90C719-CF33-4486-9AEB-EA64319F5A0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98" y="1725"/>
            <a:ext cx="1076624" cy="1623753"/>
          </a:xfrm>
          <a:prstGeom prst="rect">
            <a:avLst/>
          </a:prstGeom>
          <a:noFill/>
          <a:extLst>
            <a:ext uri="{909E8E84-426E-40DD-AFC4-6F175D3DCCD1}">
              <a14:hiddenFill xmlns:a14="http://schemas.microsoft.com/office/drawing/2010/main">
                <a:solidFill>
                  <a:srgbClr val="FFFFFF"/>
                </a:solidFill>
              </a14:hiddenFill>
            </a:ext>
          </a:extLst>
        </p:spPr>
      </p:pic>
      <p:sp>
        <p:nvSpPr>
          <p:cNvPr id="2" name="1 Rectángulo"/>
          <p:cNvSpPr/>
          <p:nvPr/>
        </p:nvSpPr>
        <p:spPr>
          <a:xfrm>
            <a:off x="-3198" y="6377614"/>
            <a:ext cx="12195197" cy="221966"/>
          </a:xfrm>
          <a:prstGeom prst="rect">
            <a:avLst/>
          </a:prstGeom>
          <a:solidFill>
            <a:srgbClr val="6800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3" name="2 CuadroTexto"/>
          <p:cNvSpPr txBox="1"/>
          <p:nvPr/>
        </p:nvSpPr>
        <p:spPr>
          <a:xfrm>
            <a:off x="10177664" y="6315046"/>
            <a:ext cx="2080591" cy="338554"/>
          </a:xfrm>
          <a:prstGeom prst="rect">
            <a:avLst/>
          </a:prstGeom>
          <a:noFill/>
        </p:spPr>
        <p:txBody>
          <a:bodyPr wrap="square" rtlCol="0">
            <a:spAutoFit/>
          </a:bodyPr>
          <a:lstStyle/>
          <a:p>
            <a:r>
              <a:rPr lang="es-ES" sz="1600" b="1" dirty="0">
                <a:solidFill>
                  <a:srgbClr val="FFFFFF"/>
                </a:solidFill>
                <a:latin typeface="Calibri Light" panose="020F0302020204030204" pitchFamily="34" charset="0"/>
                <a:ea typeface="Calibri" panose="020F0502020204030204" pitchFamily="34" charset="0"/>
                <a:cs typeface="Calibri Light" panose="020F0302020204030204" pitchFamily="34" charset="0"/>
              </a:rPr>
              <a:t>Modalidad Virtual</a:t>
            </a:r>
          </a:p>
        </p:txBody>
      </p:sp>
      <p:sp>
        <p:nvSpPr>
          <p:cNvPr id="11" name="1 Título">
            <a:extLst>
              <a:ext uri="{FF2B5EF4-FFF2-40B4-BE49-F238E27FC236}">
                <a16:creationId xmlns:a16="http://schemas.microsoft.com/office/drawing/2014/main" id="{580E64F2-5285-450B-9979-ADA4942F6DF8}"/>
              </a:ext>
            </a:extLst>
          </p:cNvPr>
          <p:cNvSpPr txBox="1">
            <a:spLocks/>
          </p:cNvSpPr>
          <p:nvPr/>
        </p:nvSpPr>
        <p:spPr>
          <a:xfrm>
            <a:off x="781048" y="95209"/>
            <a:ext cx="10515600" cy="819191"/>
          </a:xfrm>
          <a:prstGeom prst="rect">
            <a:avLst/>
          </a:prstGeom>
        </p:spPr>
        <p:txBody>
          <a:bodyPr rtlCol="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defRPr/>
            </a:pPr>
            <a:endParaRPr lang="es-AR" b="1" dirty="0">
              <a:solidFill>
                <a:schemeClr val="bg1">
                  <a:lumMod val="95000"/>
                </a:schemeClr>
              </a:solidFill>
              <a:effectLst>
                <a:outerShdw blurRad="38100" dist="38100" dir="2700000" algn="tl">
                  <a:srgbClr val="000000">
                    <a:alpha val="43137"/>
                  </a:srgbClr>
                </a:outerShdw>
              </a:effectLst>
            </a:endParaRPr>
          </a:p>
        </p:txBody>
      </p:sp>
      <p:sp>
        <p:nvSpPr>
          <p:cNvPr id="6" name="5 CuadroTexto"/>
          <p:cNvSpPr txBox="1"/>
          <p:nvPr/>
        </p:nvSpPr>
        <p:spPr>
          <a:xfrm>
            <a:off x="1119611" y="997921"/>
            <a:ext cx="10681252" cy="4832092"/>
          </a:xfrm>
          <a:prstGeom prst="rect">
            <a:avLst/>
          </a:prstGeom>
          <a:noFill/>
        </p:spPr>
        <p:txBody>
          <a:bodyPr wrap="square" rtlCol="0">
            <a:spAutoFit/>
          </a:bodyPr>
          <a:lstStyle/>
          <a:p>
            <a:pPr algn="just"/>
            <a:r>
              <a:rPr lang="es-AR" sz="2400" b="1" u="sng" cap="all" dirty="0"/>
              <a:t>hilos:</a:t>
            </a:r>
          </a:p>
          <a:p>
            <a:pPr algn="just"/>
            <a:endParaRPr lang="es-AR" sz="2000" cap="all" dirty="0"/>
          </a:p>
          <a:p>
            <a:pPr algn="just"/>
            <a:r>
              <a:rPr lang="es-AR" sz="2200" cap="all" dirty="0"/>
              <a:t>DENTRO DE UN PROCESO PUEDEN EXISTIR VARIOS HILOS DE EJECUCIÓN.</a:t>
            </a:r>
          </a:p>
          <a:p>
            <a:pPr algn="just"/>
            <a:endParaRPr lang="es-AR" sz="2200" cap="all" dirty="0"/>
          </a:p>
          <a:p>
            <a:pPr algn="just"/>
            <a:r>
              <a:rPr lang="es-AR" sz="2200" cap="all" dirty="0"/>
              <a:t>SE DEFINE UN HILO COMO CADA SECUENCIA DE CONTROL DENTRO DE UN PROCESO QUE EJECUTA DENTRO DEL MISMO SUS INSTRUCCIOINES DE FORMA INDEPENDIENTE.</a:t>
            </a:r>
          </a:p>
          <a:p>
            <a:pPr algn="just"/>
            <a:endParaRPr lang="es-AR" sz="2200" cap="all" dirty="0"/>
          </a:p>
          <a:p>
            <a:pPr algn="just"/>
            <a:r>
              <a:rPr lang="es-AR" sz="2200" cap="all" dirty="0"/>
              <a:t>LOS PROCESOS SON ENTIDADES PESADAS. LOS CAMBIOS DE CONTEXTO ENTRE PROCESOS SON COSTOSOS EN CUANTO A TIEMPO DE COMPUTACIÓN.</a:t>
            </a:r>
          </a:p>
          <a:p>
            <a:pPr algn="just"/>
            <a:endParaRPr lang="es-AR" sz="2200" cap="all" dirty="0"/>
          </a:p>
          <a:p>
            <a:pPr algn="just"/>
            <a:r>
              <a:rPr lang="es-AR" sz="2200" cap="all" dirty="0"/>
              <a:t>LOS HILOS SON ENTIDADES LIGERAS QUE COMPARTEN LA INFORMACIÓN DEL PROCESO (CÓDIGO, DATOS, ETC.).</a:t>
            </a:r>
          </a:p>
          <a:p>
            <a:pPr algn="just"/>
            <a:endParaRPr lang="es-AR" sz="2200" cap="all" dirty="0"/>
          </a:p>
          <a:p>
            <a:pPr algn="just"/>
            <a:r>
              <a:rPr lang="es-AR" sz="2200" cap="all" dirty="0"/>
              <a:t>LOS CAMBIOS DE CONTEXTO ENTRE HILOS CONSUMEN POCO TIEMPO DE PROCESADOR.</a:t>
            </a:r>
          </a:p>
        </p:txBody>
      </p:sp>
      <p:sp>
        <p:nvSpPr>
          <p:cNvPr id="13" name="Cuadro de texto 2">
            <a:extLst>
              <a:ext uri="{FF2B5EF4-FFF2-40B4-BE49-F238E27FC236}">
                <a16:creationId xmlns:a16="http://schemas.microsoft.com/office/drawing/2014/main" id="{AAE8F54E-1B3A-4600-AFCB-9226D0D550E2}"/>
              </a:ext>
            </a:extLst>
          </p:cNvPr>
          <p:cNvSpPr txBox="1">
            <a:spLocks noChangeArrowheads="1"/>
          </p:cNvSpPr>
          <p:nvPr/>
        </p:nvSpPr>
        <p:spPr bwMode="auto">
          <a:xfrm>
            <a:off x="2049260" y="0"/>
            <a:ext cx="8460035" cy="863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AR" altLang="es-AR" sz="4800" b="0" i="0" u="none" strike="noStrike" cap="none" normalizeH="0" baseline="0" dirty="0">
                <a:ln>
                  <a:noFill/>
                </a:ln>
                <a:solidFill>
                  <a:srgbClr val="FFFFFF"/>
                </a:solidFill>
                <a:effectLst/>
                <a:latin typeface="Calibri Light" panose="020F0302020204030204" pitchFamily="34" charset="0"/>
                <a:ea typeface="Calibri" panose="020F0502020204030204" pitchFamily="34" charset="0"/>
                <a:cs typeface="Calibri Light" panose="020F0302020204030204" pitchFamily="34" charset="0"/>
              </a:rPr>
              <a:t>PROGRAMACION CONCURRENTE</a:t>
            </a:r>
          </a:p>
        </p:txBody>
      </p:sp>
      <p:pic>
        <p:nvPicPr>
          <p:cNvPr id="12" name="Picture 5">
            <a:extLst>
              <a:ext uri="{FF2B5EF4-FFF2-40B4-BE49-F238E27FC236}">
                <a16:creationId xmlns:a16="http://schemas.microsoft.com/office/drawing/2014/main" id="{6B9287C5-A5BC-4517-9AB1-8F2E3194B7D9}"/>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72278" y="5808678"/>
            <a:ext cx="947333" cy="1049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824098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5" name="Imagen 31">
            <a:extLst>
              <a:ext uri="{FF2B5EF4-FFF2-40B4-BE49-F238E27FC236}">
                <a16:creationId xmlns:a16="http://schemas.microsoft.com/office/drawing/2014/main" id="{452E838D-7BB9-4864-AE07-88664BFD686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1048" y="6422"/>
            <a:ext cx="11410951" cy="907978"/>
          </a:xfrm>
          <a:prstGeom prst="rect">
            <a:avLst/>
          </a:prstGeom>
          <a:noFill/>
          <a:extLst>
            <a:ext uri="{909E8E84-426E-40DD-AFC4-6F175D3DCCD1}">
              <a14:hiddenFill xmlns:a14="http://schemas.microsoft.com/office/drawing/2010/main">
                <a:solidFill>
                  <a:srgbClr val="FFFFFF"/>
                </a:solidFill>
              </a14:hiddenFill>
            </a:ext>
          </a:extLst>
        </p:spPr>
      </p:pic>
      <p:pic>
        <p:nvPicPr>
          <p:cNvPr id="2056" name="Imagen 30">
            <a:extLst>
              <a:ext uri="{FF2B5EF4-FFF2-40B4-BE49-F238E27FC236}">
                <a16:creationId xmlns:a16="http://schemas.microsoft.com/office/drawing/2014/main" id="{8E90C719-CF33-4486-9AEB-EA64319F5A0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98" y="1725"/>
            <a:ext cx="1076624" cy="1623753"/>
          </a:xfrm>
          <a:prstGeom prst="rect">
            <a:avLst/>
          </a:prstGeom>
          <a:noFill/>
          <a:extLst>
            <a:ext uri="{909E8E84-426E-40DD-AFC4-6F175D3DCCD1}">
              <a14:hiddenFill xmlns:a14="http://schemas.microsoft.com/office/drawing/2010/main">
                <a:solidFill>
                  <a:srgbClr val="FFFFFF"/>
                </a:solidFill>
              </a14:hiddenFill>
            </a:ext>
          </a:extLst>
        </p:spPr>
      </p:pic>
      <p:sp>
        <p:nvSpPr>
          <p:cNvPr id="2" name="1 Rectángulo"/>
          <p:cNvSpPr/>
          <p:nvPr/>
        </p:nvSpPr>
        <p:spPr>
          <a:xfrm>
            <a:off x="-3198" y="6377614"/>
            <a:ext cx="12195197" cy="221966"/>
          </a:xfrm>
          <a:prstGeom prst="rect">
            <a:avLst/>
          </a:prstGeom>
          <a:solidFill>
            <a:srgbClr val="6800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3" name="2 CuadroTexto"/>
          <p:cNvSpPr txBox="1"/>
          <p:nvPr/>
        </p:nvSpPr>
        <p:spPr>
          <a:xfrm>
            <a:off x="10177664" y="6315046"/>
            <a:ext cx="2080591" cy="338554"/>
          </a:xfrm>
          <a:prstGeom prst="rect">
            <a:avLst/>
          </a:prstGeom>
          <a:noFill/>
        </p:spPr>
        <p:txBody>
          <a:bodyPr wrap="square" rtlCol="0">
            <a:spAutoFit/>
          </a:bodyPr>
          <a:lstStyle/>
          <a:p>
            <a:r>
              <a:rPr lang="es-ES" sz="1600" b="1" dirty="0">
                <a:solidFill>
                  <a:srgbClr val="FFFFFF"/>
                </a:solidFill>
                <a:latin typeface="Calibri Light" panose="020F0302020204030204" pitchFamily="34" charset="0"/>
                <a:ea typeface="Calibri" panose="020F0502020204030204" pitchFamily="34" charset="0"/>
                <a:cs typeface="Calibri Light" panose="020F0302020204030204" pitchFamily="34" charset="0"/>
              </a:rPr>
              <a:t>Modalidad Virtual</a:t>
            </a:r>
          </a:p>
        </p:txBody>
      </p:sp>
      <p:sp>
        <p:nvSpPr>
          <p:cNvPr id="11" name="1 Título">
            <a:extLst>
              <a:ext uri="{FF2B5EF4-FFF2-40B4-BE49-F238E27FC236}">
                <a16:creationId xmlns:a16="http://schemas.microsoft.com/office/drawing/2014/main" id="{580E64F2-5285-450B-9979-ADA4942F6DF8}"/>
              </a:ext>
            </a:extLst>
          </p:cNvPr>
          <p:cNvSpPr txBox="1">
            <a:spLocks/>
          </p:cNvSpPr>
          <p:nvPr/>
        </p:nvSpPr>
        <p:spPr>
          <a:xfrm>
            <a:off x="781048" y="95209"/>
            <a:ext cx="10515600" cy="819191"/>
          </a:xfrm>
          <a:prstGeom prst="rect">
            <a:avLst/>
          </a:prstGeom>
        </p:spPr>
        <p:txBody>
          <a:bodyPr rtlCol="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defRPr/>
            </a:pPr>
            <a:endParaRPr lang="es-AR" b="1" dirty="0">
              <a:solidFill>
                <a:schemeClr val="bg1">
                  <a:lumMod val="95000"/>
                </a:schemeClr>
              </a:solidFill>
              <a:effectLst>
                <a:outerShdw blurRad="38100" dist="38100" dir="2700000" algn="tl">
                  <a:srgbClr val="000000">
                    <a:alpha val="43137"/>
                  </a:srgbClr>
                </a:outerShdw>
              </a:effectLst>
            </a:endParaRPr>
          </a:p>
        </p:txBody>
      </p:sp>
      <p:sp>
        <p:nvSpPr>
          <p:cNvPr id="6" name="5 CuadroTexto"/>
          <p:cNvSpPr txBox="1"/>
          <p:nvPr/>
        </p:nvSpPr>
        <p:spPr>
          <a:xfrm>
            <a:off x="1119611" y="997921"/>
            <a:ext cx="10681252" cy="4462760"/>
          </a:xfrm>
          <a:prstGeom prst="rect">
            <a:avLst/>
          </a:prstGeom>
          <a:noFill/>
        </p:spPr>
        <p:txBody>
          <a:bodyPr wrap="square" rtlCol="0">
            <a:spAutoFit/>
          </a:bodyPr>
          <a:lstStyle/>
          <a:p>
            <a:pPr algn="just"/>
            <a:r>
              <a:rPr lang="es-AR" sz="3200" b="1" u="sng" cap="all" dirty="0"/>
              <a:t>NIVELES DE hilos:</a:t>
            </a:r>
          </a:p>
          <a:p>
            <a:pPr algn="just"/>
            <a:endParaRPr lang="es-AR" sz="2800" cap="all" dirty="0"/>
          </a:p>
          <a:p>
            <a:pPr algn="just"/>
            <a:r>
              <a:rPr lang="es-AR" sz="2800" cap="all" dirty="0"/>
              <a:t>EXISTEN DOS NIVELES DE HILOS: HILOS DE USUARIO E HILOS DE SISTEMA.</a:t>
            </a:r>
          </a:p>
          <a:p>
            <a:pPr algn="just"/>
            <a:endParaRPr lang="es-AR" sz="2800" cap="all" dirty="0"/>
          </a:p>
          <a:p>
            <a:pPr algn="just"/>
            <a:r>
              <a:rPr lang="es-AR" sz="2800" cap="all" dirty="0"/>
              <a:t>LOS HILOS DE USUARIO SON LOS CREADOS A RTAVÉS DE UN LENGUAJE DE PROGRAMACIÓN (COMO JAVA).</a:t>
            </a:r>
          </a:p>
          <a:p>
            <a:pPr algn="just"/>
            <a:endParaRPr lang="es-AR" sz="2800" cap="all" dirty="0"/>
          </a:p>
          <a:p>
            <a:pPr algn="just"/>
            <a:r>
              <a:rPr lang="es-AR" sz="2800" cap="all" dirty="0"/>
              <a:t>LOS HILOS DE SISTEMA SON PROPIOS DEL SISTEMA OEPRATIVO Y SIRVEN DE SOPORTE A LOS HILOS DE USUARIO.</a:t>
            </a:r>
          </a:p>
        </p:txBody>
      </p:sp>
      <p:sp>
        <p:nvSpPr>
          <p:cNvPr id="13" name="Cuadro de texto 2">
            <a:extLst>
              <a:ext uri="{FF2B5EF4-FFF2-40B4-BE49-F238E27FC236}">
                <a16:creationId xmlns:a16="http://schemas.microsoft.com/office/drawing/2014/main" id="{AAE8F54E-1B3A-4600-AFCB-9226D0D550E2}"/>
              </a:ext>
            </a:extLst>
          </p:cNvPr>
          <p:cNvSpPr txBox="1">
            <a:spLocks noChangeArrowheads="1"/>
          </p:cNvSpPr>
          <p:nvPr/>
        </p:nvSpPr>
        <p:spPr bwMode="auto">
          <a:xfrm>
            <a:off x="2049260" y="0"/>
            <a:ext cx="8460035" cy="863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AR" altLang="es-AR" sz="4800" b="0" i="0" u="none" strike="noStrike" cap="none" normalizeH="0" baseline="0" dirty="0">
                <a:ln>
                  <a:noFill/>
                </a:ln>
                <a:solidFill>
                  <a:srgbClr val="FFFFFF"/>
                </a:solidFill>
                <a:effectLst/>
                <a:latin typeface="Calibri Light" panose="020F0302020204030204" pitchFamily="34" charset="0"/>
                <a:ea typeface="Calibri" panose="020F0502020204030204" pitchFamily="34" charset="0"/>
                <a:cs typeface="Calibri Light" panose="020F0302020204030204" pitchFamily="34" charset="0"/>
              </a:rPr>
              <a:t>PROGRAMACION CONCURRENTE</a:t>
            </a:r>
          </a:p>
        </p:txBody>
      </p:sp>
      <p:pic>
        <p:nvPicPr>
          <p:cNvPr id="12" name="Picture 5">
            <a:extLst>
              <a:ext uri="{FF2B5EF4-FFF2-40B4-BE49-F238E27FC236}">
                <a16:creationId xmlns:a16="http://schemas.microsoft.com/office/drawing/2014/main" id="{6B9287C5-A5BC-4517-9AB1-8F2E3194B7D9}"/>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72278" y="5808678"/>
            <a:ext cx="947333" cy="1049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454787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5" name="Imagen 31">
            <a:extLst>
              <a:ext uri="{FF2B5EF4-FFF2-40B4-BE49-F238E27FC236}">
                <a16:creationId xmlns:a16="http://schemas.microsoft.com/office/drawing/2014/main" id="{452E838D-7BB9-4864-AE07-88664BFD686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1048" y="6422"/>
            <a:ext cx="11410951" cy="907978"/>
          </a:xfrm>
          <a:prstGeom prst="rect">
            <a:avLst/>
          </a:prstGeom>
          <a:noFill/>
          <a:extLst>
            <a:ext uri="{909E8E84-426E-40DD-AFC4-6F175D3DCCD1}">
              <a14:hiddenFill xmlns:a14="http://schemas.microsoft.com/office/drawing/2010/main">
                <a:solidFill>
                  <a:srgbClr val="FFFFFF"/>
                </a:solidFill>
              </a14:hiddenFill>
            </a:ext>
          </a:extLst>
        </p:spPr>
      </p:pic>
      <p:pic>
        <p:nvPicPr>
          <p:cNvPr id="2056" name="Imagen 30">
            <a:extLst>
              <a:ext uri="{FF2B5EF4-FFF2-40B4-BE49-F238E27FC236}">
                <a16:creationId xmlns:a16="http://schemas.microsoft.com/office/drawing/2014/main" id="{8E90C719-CF33-4486-9AEB-EA64319F5A0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98" y="1725"/>
            <a:ext cx="1076624" cy="1623753"/>
          </a:xfrm>
          <a:prstGeom prst="rect">
            <a:avLst/>
          </a:prstGeom>
          <a:noFill/>
          <a:extLst>
            <a:ext uri="{909E8E84-426E-40DD-AFC4-6F175D3DCCD1}">
              <a14:hiddenFill xmlns:a14="http://schemas.microsoft.com/office/drawing/2010/main">
                <a:solidFill>
                  <a:srgbClr val="FFFFFF"/>
                </a:solidFill>
              </a14:hiddenFill>
            </a:ext>
          </a:extLst>
        </p:spPr>
      </p:pic>
      <p:sp>
        <p:nvSpPr>
          <p:cNvPr id="2" name="1 Rectángulo"/>
          <p:cNvSpPr/>
          <p:nvPr/>
        </p:nvSpPr>
        <p:spPr>
          <a:xfrm>
            <a:off x="-3198" y="6377614"/>
            <a:ext cx="12195197" cy="221966"/>
          </a:xfrm>
          <a:prstGeom prst="rect">
            <a:avLst/>
          </a:prstGeom>
          <a:solidFill>
            <a:srgbClr val="6800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3" name="2 CuadroTexto"/>
          <p:cNvSpPr txBox="1"/>
          <p:nvPr/>
        </p:nvSpPr>
        <p:spPr>
          <a:xfrm>
            <a:off x="10177664" y="6315046"/>
            <a:ext cx="2080591" cy="338554"/>
          </a:xfrm>
          <a:prstGeom prst="rect">
            <a:avLst/>
          </a:prstGeom>
          <a:noFill/>
        </p:spPr>
        <p:txBody>
          <a:bodyPr wrap="square" rtlCol="0">
            <a:spAutoFit/>
          </a:bodyPr>
          <a:lstStyle/>
          <a:p>
            <a:r>
              <a:rPr lang="es-ES" sz="1600" b="1" dirty="0">
                <a:solidFill>
                  <a:srgbClr val="FFFFFF"/>
                </a:solidFill>
                <a:latin typeface="Calibri Light" panose="020F0302020204030204" pitchFamily="34" charset="0"/>
                <a:ea typeface="Calibri" panose="020F0502020204030204" pitchFamily="34" charset="0"/>
                <a:cs typeface="Calibri Light" panose="020F0302020204030204" pitchFamily="34" charset="0"/>
              </a:rPr>
              <a:t>Modalidad Virtual</a:t>
            </a:r>
          </a:p>
        </p:txBody>
      </p:sp>
      <p:sp>
        <p:nvSpPr>
          <p:cNvPr id="11" name="1 Título">
            <a:extLst>
              <a:ext uri="{FF2B5EF4-FFF2-40B4-BE49-F238E27FC236}">
                <a16:creationId xmlns:a16="http://schemas.microsoft.com/office/drawing/2014/main" id="{580E64F2-5285-450B-9979-ADA4942F6DF8}"/>
              </a:ext>
            </a:extLst>
          </p:cNvPr>
          <p:cNvSpPr txBox="1">
            <a:spLocks/>
          </p:cNvSpPr>
          <p:nvPr/>
        </p:nvSpPr>
        <p:spPr>
          <a:xfrm>
            <a:off x="781048" y="95209"/>
            <a:ext cx="10515600" cy="819191"/>
          </a:xfrm>
          <a:prstGeom prst="rect">
            <a:avLst/>
          </a:prstGeom>
        </p:spPr>
        <p:txBody>
          <a:bodyPr rtlCol="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defRPr/>
            </a:pPr>
            <a:endParaRPr lang="es-AR" b="1" dirty="0">
              <a:solidFill>
                <a:schemeClr val="bg1">
                  <a:lumMod val="95000"/>
                </a:schemeClr>
              </a:solidFill>
              <a:effectLst>
                <a:outerShdw blurRad="38100" dist="38100" dir="2700000" algn="tl">
                  <a:srgbClr val="000000">
                    <a:alpha val="43137"/>
                  </a:srgbClr>
                </a:outerShdw>
              </a:effectLst>
            </a:endParaRPr>
          </a:p>
        </p:txBody>
      </p:sp>
      <p:sp>
        <p:nvSpPr>
          <p:cNvPr id="6" name="5 CuadroTexto"/>
          <p:cNvSpPr txBox="1"/>
          <p:nvPr/>
        </p:nvSpPr>
        <p:spPr>
          <a:xfrm>
            <a:off x="1119611" y="997921"/>
            <a:ext cx="10681252" cy="954107"/>
          </a:xfrm>
          <a:prstGeom prst="rect">
            <a:avLst/>
          </a:prstGeom>
          <a:noFill/>
        </p:spPr>
        <p:txBody>
          <a:bodyPr wrap="square" rtlCol="0">
            <a:spAutoFit/>
          </a:bodyPr>
          <a:lstStyle/>
          <a:p>
            <a:pPr algn="just"/>
            <a:r>
              <a:rPr lang="es-AR" sz="2000" b="1" u="sng" cap="all" dirty="0"/>
              <a:t>NIVELES DE hilos (CONT.):</a:t>
            </a:r>
          </a:p>
          <a:p>
            <a:pPr algn="just"/>
            <a:endParaRPr lang="es-AR" cap="all" dirty="0"/>
          </a:p>
          <a:p>
            <a:pPr algn="just"/>
            <a:endParaRPr lang="es-AR" cap="all" dirty="0"/>
          </a:p>
        </p:txBody>
      </p:sp>
      <p:sp>
        <p:nvSpPr>
          <p:cNvPr id="13" name="Cuadro de texto 2">
            <a:extLst>
              <a:ext uri="{FF2B5EF4-FFF2-40B4-BE49-F238E27FC236}">
                <a16:creationId xmlns:a16="http://schemas.microsoft.com/office/drawing/2014/main" id="{AAE8F54E-1B3A-4600-AFCB-9226D0D550E2}"/>
              </a:ext>
            </a:extLst>
          </p:cNvPr>
          <p:cNvSpPr txBox="1">
            <a:spLocks noChangeArrowheads="1"/>
          </p:cNvSpPr>
          <p:nvPr/>
        </p:nvSpPr>
        <p:spPr bwMode="auto">
          <a:xfrm>
            <a:off x="2049260" y="0"/>
            <a:ext cx="8460035" cy="863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AR" altLang="es-AR" sz="4800" b="0" i="0" u="none" strike="noStrike" cap="none" normalizeH="0" baseline="0" dirty="0">
                <a:ln>
                  <a:noFill/>
                </a:ln>
                <a:solidFill>
                  <a:srgbClr val="FFFFFF"/>
                </a:solidFill>
                <a:effectLst/>
                <a:latin typeface="Calibri Light" panose="020F0302020204030204" pitchFamily="34" charset="0"/>
                <a:ea typeface="Calibri" panose="020F0502020204030204" pitchFamily="34" charset="0"/>
                <a:cs typeface="Calibri Light" panose="020F0302020204030204" pitchFamily="34" charset="0"/>
              </a:rPr>
              <a:t>PROGRAMACION CONCURRENTE</a:t>
            </a:r>
          </a:p>
        </p:txBody>
      </p:sp>
      <p:pic>
        <p:nvPicPr>
          <p:cNvPr id="12" name="Picture 5">
            <a:extLst>
              <a:ext uri="{FF2B5EF4-FFF2-40B4-BE49-F238E27FC236}">
                <a16:creationId xmlns:a16="http://schemas.microsoft.com/office/drawing/2014/main" id="{6B9287C5-A5BC-4517-9AB1-8F2E3194B7D9}"/>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72278" y="5808678"/>
            <a:ext cx="947333" cy="1049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Imagen 4">
            <a:extLst>
              <a:ext uri="{FF2B5EF4-FFF2-40B4-BE49-F238E27FC236}">
                <a16:creationId xmlns:a16="http://schemas.microsoft.com/office/drawing/2014/main" id="{87E1E773-BF03-48DF-B019-B7788940E770}"/>
              </a:ext>
            </a:extLst>
          </p:cNvPr>
          <p:cNvPicPr>
            <a:picLocks noChangeAspect="1"/>
          </p:cNvPicPr>
          <p:nvPr/>
        </p:nvPicPr>
        <p:blipFill>
          <a:blip r:embed="rId5"/>
          <a:stretch>
            <a:fillRect/>
          </a:stretch>
        </p:blipFill>
        <p:spPr>
          <a:xfrm>
            <a:off x="1868558" y="1432823"/>
            <a:ext cx="9024730" cy="4788446"/>
          </a:xfrm>
          <a:prstGeom prst="rect">
            <a:avLst/>
          </a:prstGeom>
        </p:spPr>
      </p:pic>
    </p:spTree>
    <p:extLst>
      <p:ext uri="{BB962C8B-B14F-4D97-AF65-F5344CB8AC3E}">
        <p14:creationId xmlns:p14="http://schemas.microsoft.com/office/powerpoint/2010/main" val="8827220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5" name="Imagen 31">
            <a:extLst>
              <a:ext uri="{FF2B5EF4-FFF2-40B4-BE49-F238E27FC236}">
                <a16:creationId xmlns:a16="http://schemas.microsoft.com/office/drawing/2014/main" id="{452E838D-7BB9-4864-AE07-88664BFD686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1048" y="6422"/>
            <a:ext cx="11410951" cy="907978"/>
          </a:xfrm>
          <a:prstGeom prst="rect">
            <a:avLst/>
          </a:prstGeom>
          <a:noFill/>
          <a:extLst>
            <a:ext uri="{909E8E84-426E-40DD-AFC4-6F175D3DCCD1}">
              <a14:hiddenFill xmlns:a14="http://schemas.microsoft.com/office/drawing/2010/main">
                <a:solidFill>
                  <a:srgbClr val="FFFFFF"/>
                </a:solidFill>
              </a14:hiddenFill>
            </a:ext>
          </a:extLst>
        </p:spPr>
      </p:pic>
      <p:pic>
        <p:nvPicPr>
          <p:cNvPr id="2056" name="Imagen 30">
            <a:extLst>
              <a:ext uri="{FF2B5EF4-FFF2-40B4-BE49-F238E27FC236}">
                <a16:creationId xmlns:a16="http://schemas.microsoft.com/office/drawing/2014/main" id="{8E90C719-CF33-4486-9AEB-EA64319F5A0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98" y="1725"/>
            <a:ext cx="1076624" cy="1623753"/>
          </a:xfrm>
          <a:prstGeom prst="rect">
            <a:avLst/>
          </a:prstGeom>
          <a:noFill/>
          <a:extLst>
            <a:ext uri="{909E8E84-426E-40DD-AFC4-6F175D3DCCD1}">
              <a14:hiddenFill xmlns:a14="http://schemas.microsoft.com/office/drawing/2010/main">
                <a:solidFill>
                  <a:srgbClr val="FFFFFF"/>
                </a:solidFill>
              </a14:hiddenFill>
            </a:ext>
          </a:extLst>
        </p:spPr>
      </p:pic>
      <p:sp>
        <p:nvSpPr>
          <p:cNvPr id="2" name="1 Rectángulo"/>
          <p:cNvSpPr/>
          <p:nvPr/>
        </p:nvSpPr>
        <p:spPr>
          <a:xfrm>
            <a:off x="-3198" y="6377614"/>
            <a:ext cx="12195197" cy="221966"/>
          </a:xfrm>
          <a:prstGeom prst="rect">
            <a:avLst/>
          </a:prstGeom>
          <a:solidFill>
            <a:srgbClr val="6800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3" name="2 CuadroTexto"/>
          <p:cNvSpPr txBox="1"/>
          <p:nvPr/>
        </p:nvSpPr>
        <p:spPr>
          <a:xfrm>
            <a:off x="10177664" y="6315046"/>
            <a:ext cx="2080591" cy="338554"/>
          </a:xfrm>
          <a:prstGeom prst="rect">
            <a:avLst/>
          </a:prstGeom>
          <a:noFill/>
        </p:spPr>
        <p:txBody>
          <a:bodyPr wrap="square" rtlCol="0">
            <a:spAutoFit/>
          </a:bodyPr>
          <a:lstStyle/>
          <a:p>
            <a:r>
              <a:rPr lang="es-ES" sz="1600" b="1" dirty="0">
                <a:solidFill>
                  <a:srgbClr val="FFFFFF"/>
                </a:solidFill>
                <a:latin typeface="Calibri Light" panose="020F0302020204030204" pitchFamily="34" charset="0"/>
                <a:ea typeface="Calibri" panose="020F0502020204030204" pitchFamily="34" charset="0"/>
                <a:cs typeface="Calibri Light" panose="020F0302020204030204" pitchFamily="34" charset="0"/>
              </a:rPr>
              <a:t>Modalidad Virtual</a:t>
            </a:r>
          </a:p>
        </p:txBody>
      </p:sp>
      <p:sp>
        <p:nvSpPr>
          <p:cNvPr id="11" name="1 Título">
            <a:extLst>
              <a:ext uri="{FF2B5EF4-FFF2-40B4-BE49-F238E27FC236}">
                <a16:creationId xmlns:a16="http://schemas.microsoft.com/office/drawing/2014/main" id="{580E64F2-5285-450B-9979-ADA4942F6DF8}"/>
              </a:ext>
            </a:extLst>
          </p:cNvPr>
          <p:cNvSpPr txBox="1">
            <a:spLocks/>
          </p:cNvSpPr>
          <p:nvPr/>
        </p:nvSpPr>
        <p:spPr>
          <a:xfrm>
            <a:off x="781048" y="95209"/>
            <a:ext cx="10515600" cy="819191"/>
          </a:xfrm>
          <a:prstGeom prst="rect">
            <a:avLst/>
          </a:prstGeom>
        </p:spPr>
        <p:txBody>
          <a:bodyPr rtlCol="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defRPr/>
            </a:pPr>
            <a:endParaRPr lang="es-AR" b="1" dirty="0">
              <a:solidFill>
                <a:schemeClr val="bg1">
                  <a:lumMod val="95000"/>
                </a:schemeClr>
              </a:solidFill>
              <a:effectLst>
                <a:outerShdw blurRad="38100" dist="38100" dir="2700000" algn="tl">
                  <a:srgbClr val="000000">
                    <a:alpha val="43137"/>
                  </a:srgbClr>
                </a:outerShdw>
              </a:effectLst>
            </a:endParaRPr>
          </a:p>
        </p:txBody>
      </p:sp>
      <p:sp>
        <p:nvSpPr>
          <p:cNvPr id="6" name="5 CuadroTexto"/>
          <p:cNvSpPr txBox="1"/>
          <p:nvPr/>
        </p:nvSpPr>
        <p:spPr>
          <a:xfrm>
            <a:off x="1119611" y="997921"/>
            <a:ext cx="10681252" cy="5078313"/>
          </a:xfrm>
          <a:prstGeom prst="rect">
            <a:avLst/>
          </a:prstGeom>
          <a:noFill/>
        </p:spPr>
        <p:txBody>
          <a:bodyPr wrap="square" rtlCol="0">
            <a:spAutoFit/>
          </a:bodyPr>
          <a:lstStyle/>
          <a:p>
            <a:pPr algn="just"/>
            <a:r>
              <a:rPr lang="es-AR" sz="2400" b="1" u="sng" cap="all" dirty="0"/>
              <a:t>PLANIFICACIÓN DE hilos:</a:t>
            </a:r>
          </a:p>
          <a:p>
            <a:pPr algn="just"/>
            <a:endParaRPr lang="es-AR" sz="2000" cap="all" dirty="0"/>
          </a:p>
          <a:p>
            <a:pPr algn="just"/>
            <a:r>
              <a:rPr lang="es-AR" sz="2000" cap="all" dirty="0"/>
              <a:t>LOS SISTEMAS OPERATIVOS POSEEN PROCESADORES LÓGICOS, TAL QUE LOS HILOS DE USUARIO SE EJECUTAN EN ESTOS PROCESADORES LÓGICOS O LWP.</a:t>
            </a:r>
          </a:p>
          <a:p>
            <a:pPr algn="just"/>
            <a:endParaRPr lang="es-AR" sz="2000" cap="all" dirty="0"/>
          </a:p>
          <a:p>
            <a:pPr algn="just"/>
            <a:r>
              <a:rPr lang="es-AR" sz="2000" cap="all" dirty="0"/>
              <a:t>HAY DOS NIVELES DE PLANIFICACIÓN: </a:t>
            </a:r>
          </a:p>
          <a:p>
            <a:pPr marL="800100" lvl="1" indent="-342900" algn="just">
              <a:buFont typeface="+mj-lt"/>
              <a:buAutoNum type="arabicPeriod"/>
            </a:pPr>
            <a:r>
              <a:rPr lang="es-AR" sz="2000" cap="all" dirty="0"/>
              <a:t>PRIMER NIVEL: ASIGNA LOS HILOS DE USUARIO A LOS PROCESADORES LÓGICOS.</a:t>
            </a:r>
          </a:p>
          <a:p>
            <a:pPr marL="800100" lvl="1" indent="-342900" algn="just">
              <a:buFont typeface="+mj-lt"/>
              <a:buAutoNum type="arabicPeriod"/>
            </a:pPr>
            <a:r>
              <a:rPr lang="es-AR" sz="2000" cap="all" dirty="0"/>
              <a:t>SEGUNDO NIVEL: ASIGNA LOS PROCESADORES LÓGICOS A PROCESADORES FÍSICOS.</a:t>
            </a:r>
          </a:p>
          <a:p>
            <a:pPr algn="just"/>
            <a:endParaRPr lang="es-AR" sz="2000" cap="all" dirty="0"/>
          </a:p>
          <a:p>
            <a:pPr algn="just"/>
            <a:r>
              <a:rPr lang="es-AR" sz="2000" cap="all" dirty="0"/>
              <a:t>LAS VARIANTES DE PLANIFICACIÓN SON:</a:t>
            </a:r>
          </a:p>
          <a:p>
            <a:pPr marL="800100" lvl="1" indent="-342900" algn="just">
              <a:buFont typeface="+mj-lt"/>
              <a:buAutoNum type="arabicPeriod"/>
            </a:pPr>
            <a:r>
              <a:rPr lang="es-AR" sz="2000" cap="all" dirty="0"/>
              <a:t>MUCHOS HILOS EN UN PROCESADOR LÓGICO: MUCHOS A UNO.</a:t>
            </a:r>
          </a:p>
          <a:p>
            <a:pPr marL="800100" lvl="1" indent="-342900" algn="just">
              <a:buFont typeface="+mj-lt"/>
              <a:buAutoNum type="arabicPeriod"/>
            </a:pPr>
            <a:r>
              <a:rPr lang="es-AR" sz="2000" cap="all" dirty="0"/>
              <a:t>UN HILO POR PROCESAADOR LÓGICO: UNO A UNO.</a:t>
            </a:r>
          </a:p>
          <a:p>
            <a:pPr marL="800100" lvl="1" indent="-342900" algn="just">
              <a:buFont typeface="+mj-lt"/>
              <a:buAutoNum type="arabicPeriod"/>
            </a:pPr>
            <a:r>
              <a:rPr lang="es-AR" sz="2000" cap="all" dirty="0"/>
              <a:t>MUCHOS HILOS EN MUCHOS PROCESADORES LÓGICOS: MUCHOS A MUCHOS (ESTRICTO).</a:t>
            </a:r>
          </a:p>
          <a:p>
            <a:pPr algn="just"/>
            <a:endParaRPr lang="es-AR" sz="2000" cap="all" dirty="0"/>
          </a:p>
          <a:p>
            <a:pPr algn="just"/>
            <a:r>
              <a:rPr lang="es-AR" sz="2000" cap="all" dirty="0"/>
              <a:t>EXISTE UN MODELO DE DOS NIVELES MUCHOS A MUCHOS (NO ESTRICTO), DONDE EXISTE LA POSIBILIDAD DE ASIGNAR UN HILO ESPECÍFICO A UNPROCESADOR LÓGICO.</a:t>
            </a:r>
          </a:p>
        </p:txBody>
      </p:sp>
      <p:sp>
        <p:nvSpPr>
          <p:cNvPr id="13" name="Cuadro de texto 2">
            <a:extLst>
              <a:ext uri="{FF2B5EF4-FFF2-40B4-BE49-F238E27FC236}">
                <a16:creationId xmlns:a16="http://schemas.microsoft.com/office/drawing/2014/main" id="{AAE8F54E-1B3A-4600-AFCB-9226D0D550E2}"/>
              </a:ext>
            </a:extLst>
          </p:cNvPr>
          <p:cNvSpPr txBox="1">
            <a:spLocks noChangeArrowheads="1"/>
          </p:cNvSpPr>
          <p:nvPr/>
        </p:nvSpPr>
        <p:spPr bwMode="auto">
          <a:xfrm>
            <a:off x="2049260" y="0"/>
            <a:ext cx="8460035" cy="863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AR" altLang="es-AR" sz="4800" b="0" i="0" u="none" strike="noStrike" cap="none" normalizeH="0" baseline="0" dirty="0">
                <a:ln>
                  <a:noFill/>
                </a:ln>
                <a:solidFill>
                  <a:srgbClr val="FFFFFF"/>
                </a:solidFill>
                <a:effectLst/>
                <a:latin typeface="Calibri Light" panose="020F0302020204030204" pitchFamily="34" charset="0"/>
                <a:ea typeface="Calibri" panose="020F0502020204030204" pitchFamily="34" charset="0"/>
                <a:cs typeface="Calibri Light" panose="020F0302020204030204" pitchFamily="34" charset="0"/>
              </a:rPr>
              <a:t>PROGRAMACION CONCURRENTE</a:t>
            </a:r>
          </a:p>
        </p:txBody>
      </p:sp>
      <p:pic>
        <p:nvPicPr>
          <p:cNvPr id="12" name="Picture 5">
            <a:extLst>
              <a:ext uri="{FF2B5EF4-FFF2-40B4-BE49-F238E27FC236}">
                <a16:creationId xmlns:a16="http://schemas.microsoft.com/office/drawing/2014/main" id="{6B9287C5-A5BC-4517-9AB1-8F2E3194B7D9}"/>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72278" y="5808678"/>
            <a:ext cx="947333" cy="1049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025530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5" name="Imagen 31">
            <a:extLst>
              <a:ext uri="{FF2B5EF4-FFF2-40B4-BE49-F238E27FC236}">
                <a16:creationId xmlns:a16="http://schemas.microsoft.com/office/drawing/2014/main" id="{452E838D-7BB9-4864-AE07-88664BFD686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1048" y="6422"/>
            <a:ext cx="11410951" cy="907978"/>
          </a:xfrm>
          <a:prstGeom prst="rect">
            <a:avLst/>
          </a:prstGeom>
          <a:noFill/>
          <a:extLst>
            <a:ext uri="{909E8E84-426E-40DD-AFC4-6F175D3DCCD1}">
              <a14:hiddenFill xmlns:a14="http://schemas.microsoft.com/office/drawing/2010/main">
                <a:solidFill>
                  <a:srgbClr val="FFFFFF"/>
                </a:solidFill>
              </a14:hiddenFill>
            </a:ext>
          </a:extLst>
        </p:spPr>
      </p:pic>
      <p:pic>
        <p:nvPicPr>
          <p:cNvPr id="2056" name="Imagen 30">
            <a:extLst>
              <a:ext uri="{FF2B5EF4-FFF2-40B4-BE49-F238E27FC236}">
                <a16:creationId xmlns:a16="http://schemas.microsoft.com/office/drawing/2014/main" id="{8E90C719-CF33-4486-9AEB-EA64319F5A0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98" y="1725"/>
            <a:ext cx="1076624" cy="1623753"/>
          </a:xfrm>
          <a:prstGeom prst="rect">
            <a:avLst/>
          </a:prstGeom>
          <a:noFill/>
          <a:extLst>
            <a:ext uri="{909E8E84-426E-40DD-AFC4-6F175D3DCCD1}">
              <a14:hiddenFill xmlns:a14="http://schemas.microsoft.com/office/drawing/2010/main">
                <a:solidFill>
                  <a:srgbClr val="FFFFFF"/>
                </a:solidFill>
              </a14:hiddenFill>
            </a:ext>
          </a:extLst>
        </p:spPr>
      </p:pic>
      <p:sp>
        <p:nvSpPr>
          <p:cNvPr id="2" name="1 Rectángulo"/>
          <p:cNvSpPr/>
          <p:nvPr/>
        </p:nvSpPr>
        <p:spPr>
          <a:xfrm>
            <a:off x="-3198" y="6377614"/>
            <a:ext cx="12195197" cy="221966"/>
          </a:xfrm>
          <a:prstGeom prst="rect">
            <a:avLst/>
          </a:prstGeom>
          <a:solidFill>
            <a:srgbClr val="6800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3" name="2 CuadroTexto"/>
          <p:cNvSpPr txBox="1"/>
          <p:nvPr/>
        </p:nvSpPr>
        <p:spPr>
          <a:xfrm>
            <a:off x="10177664" y="6315046"/>
            <a:ext cx="2080591" cy="338554"/>
          </a:xfrm>
          <a:prstGeom prst="rect">
            <a:avLst/>
          </a:prstGeom>
          <a:noFill/>
        </p:spPr>
        <p:txBody>
          <a:bodyPr wrap="square" rtlCol="0">
            <a:spAutoFit/>
          </a:bodyPr>
          <a:lstStyle/>
          <a:p>
            <a:r>
              <a:rPr lang="es-ES" sz="1600" b="1" dirty="0">
                <a:solidFill>
                  <a:srgbClr val="FFFFFF"/>
                </a:solidFill>
                <a:latin typeface="Calibri Light" panose="020F0302020204030204" pitchFamily="34" charset="0"/>
                <a:ea typeface="Calibri" panose="020F0502020204030204" pitchFamily="34" charset="0"/>
                <a:cs typeface="Calibri Light" panose="020F0302020204030204" pitchFamily="34" charset="0"/>
              </a:rPr>
              <a:t>Modalidad Virtual</a:t>
            </a:r>
          </a:p>
        </p:txBody>
      </p:sp>
      <p:sp>
        <p:nvSpPr>
          <p:cNvPr id="11" name="1 Título">
            <a:extLst>
              <a:ext uri="{FF2B5EF4-FFF2-40B4-BE49-F238E27FC236}">
                <a16:creationId xmlns:a16="http://schemas.microsoft.com/office/drawing/2014/main" id="{580E64F2-5285-450B-9979-ADA4942F6DF8}"/>
              </a:ext>
            </a:extLst>
          </p:cNvPr>
          <p:cNvSpPr txBox="1">
            <a:spLocks/>
          </p:cNvSpPr>
          <p:nvPr/>
        </p:nvSpPr>
        <p:spPr>
          <a:xfrm>
            <a:off x="781048" y="95209"/>
            <a:ext cx="10515600" cy="819191"/>
          </a:xfrm>
          <a:prstGeom prst="rect">
            <a:avLst/>
          </a:prstGeom>
        </p:spPr>
        <p:txBody>
          <a:bodyPr rtlCol="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defRPr/>
            </a:pPr>
            <a:endParaRPr lang="es-AR" b="1" dirty="0">
              <a:solidFill>
                <a:schemeClr val="bg1">
                  <a:lumMod val="95000"/>
                </a:schemeClr>
              </a:solidFill>
              <a:effectLst>
                <a:outerShdw blurRad="38100" dist="38100" dir="2700000" algn="tl">
                  <a:srgbClr val="000000">
                    <a:alpha val="43137"/>
                  </a:srgbClr>
                </a:outerShdw>
              </a:effectLst>
            </a:endParaRPr>
          </a:p>
        </p:txBody>
      </p:sp>
      <p:sp>
        <p:nvSpPr>
          <p:cNvPr id="6" name="5 CuadroTexto"/>
          <p:cNvSpPr txBox="1"/>
          <p:nvPr/>
        </p:nvSpPr>
        <p:spPr>
          <a:xfrm>
            <a:off x="1119611" y="952674"/>
            <a:ext cx="10681252" cy="400110"/>
          </a:xfrm>
          <a:prstGeom prst="rect">
            <a:avLst/>
          </a:prstGeom>
          <a:noFill/>
        </p:spPr>
        <p:txBody>
          <a:bodyPr wrap="square" rtlCol="0">
            <a:spAutoFit/>
          </a:bodyPr>
          <a:lstStyle/>
          <a:p>
            <a:pPr algn="just"/>
            <a:r>
              <a:rPr lang="es-AR" sz="2000" b="1" u="sng" cap="all" dirty="0"/>
              <a:t>PLANIFICACIÓN DE hilos:</a:t>
            </a:r>
          </a:p>
        </p:txBody>
      </p:sp>
      <p:sp>
        <p:nvSpPr>
          <p:cNvPr id="13" name="Cuadro de texto 2">
            <a:extLst>
              <a:ext uri="{FF2B5EF4-FFF2-40B4-BE49-F238E27FC236}">
                <a16:creationId xmlns:a16="http://schemas.microsoft.com/office/drawing/2014/main" id="{AAE8F54E-1B3A-4600-AFCB-9226D0D550E2}"/>
              </a:ext>
            </a:extLst>
          </p:cNvPr>
          <p:cNvSpPr txBox="1">
            <a:spLocks noChangeArrowheads="1"/>
          </p:cNvSpPr>
          <p:nvPr/>
        </p:nvSpPr>
        <p:spPr bwMode="auto">
          <a:xfrm>
            <a:off x="2049260" y="0"/>
            <a:ext cx="8460035" cy="863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AR" altLang="es-AR" sz="4800" b="0" i="0" u="none" strike="noStrike" cap="none" normalizeH="0" baseline="0" dirty="0">
                <a:ln>
                  <a:noFill/>
                </a:ln>
                <a:solidFill>
                  <a:srgbClr val="FFFFFF"/>
                </a:solidFill>
                <a:effectLst/>
                <a:latin typeface="Calibri Light" panose="020F0302020204030204" pitchFamily="34" charset="0"/>
                <a:ea typeface="Calibri" panose="020F0502020204030204" pitchFamily="34" charset="0"/>
                <a:cs typeface="Calibri Light" panose="020F0302020204030204" pitchFamily="34" charset="0"/>
              </a:rPr>
              <a:t>PROGRAMACION CONCURRENTE</a:t>
            </a:r>
          </a:p>
        </p:txBody>
      </p:sp>
      <p:pic>
        <p:nvPicPr>
          <p:cNvPr id="12" name="Picture 5">
            <a:extLst>
              <a:ext uri="{FF2B5EF4-FFF2-40B4-BE49-F238E27FC236}">
                <a16:creationId xmlns:a16="http://schemas.microsoft.com/office/drawing/2014/main" id="{6B9287C5-A5BC-4517-9AB1-8F2E3194B7D9}"/>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72278" y="5808678"/>
            <a:ext cx="947333" cy="1049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Imagen 4">
            <a:extLst>
              <a:ext uri="{FF2B5EF4-FFF2-40B4-BE49-F238E27FC236}">
                <a16:creationId xmlns:a16="http://schemas.microsoft.com/office/drawing/2014/main" id="{2365A5EE-FF5A-4922-A92D-C268368FC641}"/>
              </a:ext>
            </a:extLst>
          </p:cNvPr>
          <p:cNvPicPr>
            <a:picLocks noChangeAspect="1"/>
          </p:cNvPicPr>
          <p:nvPr/>
        </p:nvPicPr>
        <p:blipFill>
          <a:blip r:embed="rId5"/>
          <a:stretch>
            <a:fillRect/>
          </a:stretch>
        </p:blipFill>
        <p:spPr>
          <a:xfrm>
            <a:off x="1782541" y="1334313"/>
            <a:ext cx="8991475" cy="4989282"/>
          </a:xfrm>
          <a:prstGeom prst="rect">
            <a:avLst/>
          </a:prstGeom>
        </p:spPr>
      </p:pic>
    </p:spTree>
    <p:extLst>
      <p:ext uri="{BB962C8B-B14F-4D97-AF65-F5344CB8AC3E}">
        <p14:creationId xmlns:p14="http://schemas.microsoft.com/office/powerpoint/2010/main" val="15513670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5" name="Imagen 31">
            <a:extLst>
              <a:ext uri="{FF2B5EF4-FFF2-40B4-BE49-F238E27FC236}">
                <a16:creationId xmlns:a16="http://schemas.microsoft.com/office/drawing/2014/main" id="{452E838D-7BB9-4864-AE07-88664BFD686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1048" y="6422"/>
            <a:ext cx="11410951" cy="907978"/>
          </a:xfrm>
          <a:prstGeom prst="rect">
            <a:avLst/>
          </a:prstGeom>
          <a:noFill/>
          <a:extLst>
            <a:ext uri="{909E8E84-426E-40DD-AFC4-6F175D3DCCD1}">
              <a14:hiddenFill xmlns:a14="http://schemas.microsoft.com/office/drawing/2010/main">
                <a:solidFill>
                  <a:srgbClr val="FFFFFF"/>
                </a:solidFill>
              </a14:hiddenFill>
            </a:ext>
          </a:extLst>
        </p:spPr>
      </p:pic>
      <p:pic>
        <p:nvPicPr>
          <p:cNvPr id="2056" name="Imagen 30">
            <a:extLst>
              <a:ext uri="{FF2B5EF4-FFF2-40B4-BE49-F238E27FC236}">
                <a16:creationId xmlns:a16="http://schemas.microsoft.com/office/drawing/2014/main" id="{8E90C719-CF33-4486-9AEB-EA64319F5A0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98" y="1725"/>
            <a:ext cx="1076624" cy="1623753"/>
          </a:xfrm>
          <a:prstGeom prst="rect">
            <a:avLst/>
          </a:prstGeom>
          <a:noFill/>
          <a:extLst>
            <a:ext uri="{909E8E84-426E-40DD-AFC4-6F175D3DCCD1}">
              <a14:hiddenFill xmlns:a14="http://schemas.microsoft.com/office/drawing/2010/main">
                <a:solidFill>
                  <a:srgbClr val="FFFFFF"/>
                </a:solidFill>
              </a14:hiddenFill>
            </a:ext>
          </a:extLst>
        </p:spPr>
      </p:pic>
      <p:sp>
        <p:nvSpPr>
          <p:cNvPr id="2" name="1 Rectángulo"/>
          <p:cNvSpPr/>
          <p:nvPr/>
        </p:nvSpPr>
        <p:spPr>
          <a:xfrm>
            <a:off x="-3198" y="6377614"/>
            <a:ext cx="12195197" cy="221966"/>
          </a:xfrm>
          <a:prstGeom prst="rect">
            <a:avLst/>
          </a:prstGeom>
          <a:solidFill>
            <a:srgbClr val="6800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3" name="2 CuadroTexto"/>
          <p:cNvSpPr txBox="1"/>
          <p:nvPr/>
        </p:nvSpPr>
        <p:spPr>
          <a:xfrm>
            <a:off x="10177664" y="6315046"/>
            <a:ext cx="2080591" cy="338554"/>
          </a:xfrm>
          <a:prstGeom prst="rect">
            <a:avLst/>
          </a:prstGeom>
          <a:noFill/>
        </p:spPr>
        <p:txBody>
          <a:bodyPr wrap="square" rtlCol="0">
            <a:spAutoFit/>
          </a:bodyPr>
          <a:lstStyle/>
          <a:p>
            <a:r>
              <a:rPr lang="es-ES" sz="1600" b="1" dirty="0">
                <a:solidFill>
                  <a:srgbClr val="FFFFFF"/>
                </a:solidFill>
                <a:latin typeface="Calibri Light" panose="020F0302020204030204" pitchFamily="34" charset="0"/>
                <a:ea typeface="Calibri" panose="020F0502020204030204" pitchFamily="34" charset="0"/>
                <a:cs typeface="Calibri Light" panose="020F0302020204030204" pitchFamily="34" charset="0"/>
              </a:rPr>
              <a:t>Modalidad Virtual</a:t>
            </a:r>
          </a:p>
        </p:txBody>
      </p:sp>
      <p:sp>
        <p:nvSpPr>
          <p:cNvPr id="11" name="1 Título">
            <a:extLst>
              <a:ext uri="{FF2B5EF4-FFF2-40B4-BE49-F238E27FC236}">
                <a16:creationId xmlns:a16="http://schemas.microsoft.com/office/drawing/2014/main" id="{580E64F2-5285-450B-9979-ADA4942F6DF8}"/>
              </a:ext>
            </a:extLst>
          </p:cNvPr>
          <p:cNvSpPr txBox="1">
            <a:spLocks/>
          </p:cNvSpPr>
          <p:nvPr/>
        </p:nvSpPr>
        <p:spPr>
          <a:xfrm>
            <a:off x="781048" y="95209"/>
            <a:ext cx="10515600" cy="819191"/>
          </a:xfrm>
          <a:prstGeom prst="rect">
            <a:avLst/>
          </a:prstGeom>
        </p:spPr>
        <p:txBody>
          <a:bodyPr rtlCol="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defRPr/>
            </a:pPr>
            <a:endParaRPr lang="es-AR" b="1" dirty="0">
              <a:solidFill>
                <a:schemeClr val="bg1">
                  <a:lumMod val="95000"/>
                </a:schemeClr>
              </a:solidFill>
              <a:effectLst>
                <a:outerShdw blurRad="38100" dist="38100" dir="2700000" algn="tl">
                  <a:srgbClr val="000000">
                    <a:alpha val="43137"/>
                  </a:srgbClr>
                </a:outerShdw>
              </a:effectLst>
            </a:endParaRPr>
          </a:p>
        </p:txBody>
      </p:sp>
      <p:sp>
        <p:nvSpPr>
          <p:cNvPr id="6" name="5 CuadroTexto"/>
          <p:cNvSpPr txBox="1"/>
          <p:nvPr/>
        </p:nvSpPr>
        <p:spPr>
          <a:xfrm>
            <a:off x="1119611" y="997921"/>
            <a:ext cx="10681252" cy="4924425"/>
          </a:xfrm>
          <a:prstGeom prst="rect">
            <a:avLst/>
          </a:prstGeom>
          <a:noFill/>
        </p:spPr>
        <p:txBody>
          <a:bodyPr wrap="square" rtlCol="0">
            <a:spAutoFit/>
          </a:bodyPr>
          <a:lstStyle/>
          <a:p>
            <a:pPr algn="just"/>
            <a:r>
              <a:rPr lang="es-AR" sz="2000" b="1" u="sng" dirty="0"/>
              <a:t>HILOS EN JAVA:</a:t>
            </a:r>
          </a:p>
          <a:p>
            <a:pPr algn="just"/>
            <a:endParaRPr lang="es-AR" dirty="0"/>
          </a:p>
          <a:p>
            <a:pPr algn="just"/>
            <a:r>
              <a:rPr lang="es-AR" dirty="0"/>
              <a:t>LOS HILOS EN JAVA SE REPRESENTAN MEDIANTE LA CLASE </a:t>
            </a:r>
            <a:r>
              <a:rPr lang="es-AR" sz="2000" b="1" dirty="0"/>
              <a:t>Therad</a:t>
            </a:r>
            <a:r>
              <a:rPr lang="es-AR" dirty="0"/>
              <a:t> QUE SE ENCUENTRA EN EL PAQUETE </a:t>
            </a:r>
            <a:r>
              <a:rPr lang="es-AR" sz="2000" b="1" dirty="0"/>
              <a:t>java.Lang.Therad</a:t>
            </a:r>
            <a:r>
              <a:rPr lang="es-AR" sz="1800" b="1" dirty="0"/>
              <a:t> </a:t>
            </a:r>
            <a:r>
              <a:rPr lang="es-AR" dirty="0"/>
              <a:t>:</a:t>
            </a:r>
          </a:p>
          <a:p>
            <a:pPr algn="just"/>
            <a:endParaRPr lang="es-AR" dirty="0"/>
          </a:p>
          <a:p>
            <a:pPr algn="just"/>
            <a:r>
              <a:rPr lang="es-AR" dirty="0"/>
              <a:t>AL COMENZAR UN PROGRAMA EN JAVA CON MAIN, COMIENZA UN HILO DE EJECUCIÓN QUE VA RECORRIENDO LOS DISTINTOS OBJETOS DEL PROGRAMA (A MEDIDA QUE SE VAYAN REALIZANDO LAS DISTINTAS LLAMADAS ENTRE MÉTODOS DE ESTOS OBJETOS). ESTE ES EL HILO PRINCIPAL, Y NO HABRÁ OTRO SI NO SE CREA A PARTIR DE LA CLASE </a:t>
            </a:r>
            <a:r>
              <a:rPr lang="es-AR" sz="2000" b="1" dirty="0"/>
              <a:t>Therad</a:t>
            </a:r>
            <a:r>
              <a:rPr lang="es-AR" sz="1800" b="1" dirty="0"/>
              <a:t>.</a:t>
            </a:r>
          </a:p>
          <a:p>
            <a:pPr algn="just"/>
            <a:endParaRPr lang="es-AR" b="1" dirty="0"/>
          </a:p>
          <a:p>
            <a:pPr algn="just"/>
            <a:r>
              <a:rPr lang="es-AR" dirty="0"/>
              <a:t>SI DESDE EL HILO PRINCIPAL SE CREAN DOS HILOS MAS, ENTONCES EL PROGRAMA ESTARÁ EJECUTÁNDOSE SIMULTÁNEAMENTE POR TRES SITIOS DISTINTOS.</a:t>
            </a:r>
          </a:p>
          <a:p>
            <a:pPr algn="just"/>
            <a:endParaRPr lang="es-AR" dirty="0"/>
          </a:p>
          <a:p>
            <a:pPr algn="just"/>
            <a:r>
              <a:rPr lang="es-AR" dirty="0"/>
              <a:t>LOS HILOS PUENDE ESTAR EJECUTNADO:</a:t>
            </a:r>
          </a:p>
          <a:p>
            <a:pPr marL="742950" lvl="1" indent="-285750" algn="just">
              <a:buFont typeface="Arial" panose="020B0604020202020204" pitchFamily="34" charset="0"/>
              <a:buChar char="•"/>
            </a:pPr>
            <a:r>
              <a:rPr lang="es-AR" dirty="0"/>
              <a:t>CÓDIGO EN DIFERENTES OBJETOS.</a:t>
            </a:r>
          </a:p>
          <a:p>
            <a:pPr marL="742950" lvl="1" indent="-285750" algn="just">
              <a:buFont typeface="Arial" panose="020B0604020202020204" pitchFamily="34" charset="0"/>
              <a:buChar char="•"/>
            </a:pPr>
            <a:r>
              <a:rPr lang="es-AR" dirty="0"/>
              <a:t>CÓDIGOS DIFERENTES EN EL MISMO OBJETO.</a:t>
            </a:r>
          </a:p>
          <a:p>
            <a:pPr marL="742950" lvl="1" indent="-285750" algn="just">
              <a:buFont typeface="Arial" panose="020B0604020202020204" pitchFamily="34" charset="0"/>
              <a:buChar char="•"/>
            </a:pPr>
            <a:r>
              <a:rPr lang="es-AR" dirty="0"/>
              <a:t>EL MISMO CÓDIGO EN EL MISMO OBJETO AL MISMO TIEMPO.</a:t>
            </a:r>
          </a:p>
        </p:txBody>
      </p:sp>
      <p:sp>
        <p:nvSpPr>
          <p:cNvPr id="13" name="Cuadro de texto 2">
            <a:extLst>
              <a:ext uri="{FF2B5EF4-FFF2-40B4-BE49-F238E27FC236}">
                <a16:creationId xmlns:a16="http://schemas.microsoft.com/office/drawing/2014/main" id="{AAE8F54E-1B3A-4600-AFCB-9226D0D550E2}"/>
              </a:ext>
            </a:extLst>
          </p:cNvPr>
          <p:cNvSpPr txBox="1">
            <a:spLocks noChangeArrowheads="1"/>
          </p:cNvSpPr>
          <p:nvPr/>
        </p:nvSpPr>
        <p:spPr bwMode="auto">
          <a:xfrm>
            <a:off x="2049260" y="0"/>
            <a:ext cx="8460035" cy="863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AR" altLang="es-AR" sz="4800" b="0" i="0" u="none" strike="noStrike" cap="none" normalizeH="0" baseline="0" dirty="0">
                <a:ln>
                  <a:noFill/>
                </a:ln>
                <a:solidFill>
                  <a:srgbClr val="FFFFFF"/>
                </a:solidFill>
                <a:effectLst/>
                <a:latin typeface="Calibri Light" panose="020F0302020204030204" pitchFamily="34" charset="0"/>
                <a:ea typeface="Calibri" panose="020F0502020204030204" pitchFamily="34" charset="0"/>
                <a:cs typeface="Calibri Light" panose="020F0302020204030204" pitchFamily="34" charset="0"/>
              </a:rPr>
              <a:t>PROGRAMACION CONCURRENTE</a:t>
            </a:r>
          </a:p>
        </p:txBody>
      </p:sp>
      <p:pic>
        <p:nvPicPr>
          <p:cNvPr id="12" name="Picture 5">
            <a:extLst>
              <a:ext uri="{FF2B5EF4-FFF2-40B4-BE49-F238E27FC236}">
                <a16:creationId xmlns:a16="http://schemas.microsoft.com/office/drawing/2014/main" id="{6B9287C5-A5BC-4517-9AB1-8F2E3194B7D9}"/>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72278" y="5808678"/>
            <a:ext cx="947333" cy="1049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18811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5" name="Imagen 31">
            <a:extLst>
              <a:ext uri="{FF2B5EF4-FFF2-40B4-BE49-F238E27FC236}">
                <a16:creationId xmlns:a16="http://schemas.microsoft.com/office/drawing/2014/main" id="{452E838D-7BB9-4864-AE07-88664BFD686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1048" y="6422"/>
            <a:ext cx="11410951" cy="907978"/>
          </a:xfrm>
          <a:prstGeom prst="rect">
            <a:avLst/>
          </a:prstGeom>
          <a:noFill/>
          <a:extLst>
            <a:ext uri="{909E8E84-426E-40DD-AFC4-6F175D3DCCD1}">
              <a14:hiddenFill xmlns:a14="http://schemas.microsoft.com/office/drawing/2010/main">
                <a:solidFill>
                  <a:srgbClr val="FFFFFF"/>
                </a:solidFill>
              </a14:hiddenFill>
            </a:ext>
          </a:extLst>
        </p:spPr>
      </p:pic>
      <p:pic>
        <p:nvPicPr>
          <p:cNvPr id="2056" name="Imagen 30">
            <a:extLst>
              <a:ext uri="{FF2B5EF4-FFF2-40B4-BE49-F238E27FC236}">
                <a16:creationId xmlns:a16="http://schemas.microsoft.com/office/drawing/2014/main" id="{8E90C719-CF33-4486-9AEB-EA64319F5A0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98" y="1725"/>
            <a:ext cx="1076624" cy="1623753"/>
          </a:xfrm>
          <a:prstGeom prst="rect">
            <a:avLst/>
          </a:prstGeom>
          <a:noFill/>
          <a:extLst>
            <a:ext uri="{909E8E84-426E-40DD-AFC4-6F175D3DCCD1}">
              <a14:hiddenFill xmlns:a14="http://schemas.microsoft.com/office/drawing/2010/main">
                <a:solidFill>
                  <a:srgbClr val="FFFFFF"/>
                </a:solidFill>
              </a14:hiddenFill>
            </a:ext>
          </a:extLst>
        </p:spPr>
      </p:pic>
      <p:sp>
        <p:nvSpPr>
          <p:cNvPr id="2" name="1 Rectángulo"/>
          <p:cNvSpPr/>
          <p:nvPr/>
        </p:nvSpPr>
        <p:spPr>
          <a:xfrm>
            <a:off x="-3198" y="6377614"/>
            <a:ext cx="12195197" cy="221966"/>
          </a:xfrm>
          <a:prstGeom prst="rect">
            <a:avLst/>
          </a:prstGeom>
          <a:solidFill>
            <a:srgbClr val="6800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3" name="2 CuadroTexto"/>
          <p:cNvSpPr txBox="1"/>
          <p:nvPr/>
        </p:nvSpPr>
        <p:spPr>
          <a:xfrm>
            <a:off x="10177664" y="6315046"/>
            <a:ext cx="2080591" cy="338554"/>
          </a:xfrm>
          <a:prstGeom prst="rect">
            <a:avLst/>
          </a:prstGeom>
          <a:noFill/>
        </p:spPr>
        <p:txBody>
          <a:bodyPr wrap="square" rtlCol="0">
            <a:spAutoFit/>
          </a:bodyPr>
          <a:lstStyle/>
          <a:p>
            <a:r>
              <a:rPr lang="es-ES" sz="1600" b="1" dirty="0">
                <a:solidFill>
                  <a:srgbClr val="FFFFFF"/>
                </a:solidFill>
                <a:latin typeface="Calibri Light" panose="020F0302020204030204" pitchFamily="34" charset="0"/>
                <a:ea typeface="Calibri" panose="020F0502020204030204" pitchFamily="34" charset="0"/>
                <a:cs typeface="Calibri Light" panose="020F0302020204030204" pitchFamily="34" charset="0"/>
              </a:rPr>
              <a:t>Modalidad Virtual</a:t>
            </a:r>
          </a:p>
        </p:txBody>
      </p:sp>
      <p:sp>
        <p:nvSpPr>
          <p:cNvPr id="11" name="1 Título">
            <a:extLst>
              <a:ext uri="{FF2B5EF4-FFF2-40B4-BE49-F238E27FC236}">
                <a16:creationId xmlns:a16="http://schemas.microsoft.com/office/drawing/2014/main" id="{580E64F2-5285-450B-9979-ADA4942F6DF8}"/>
              </a:ext>
            </a:extLst>
          </p:cNvPr>
          <p:cNvSpPr txBox="1">
            <a:spLocks/>
          </p:cNvSpPr>
          <p:nvPr/>
        </p:nvSpPr>
        <p:spPr>
          <a:xfrm>
            <a:off x="781048" y="95209"/>
            <a:ext cx="10515600" cy="819191"/>
          </a:xfrm>
          <a:prstGeom prst="rect">
            <a:avLst/>
          </a:prstGeom>
        </p:spPr>
        <p:txBody>
          <a:bodyPr rtlCol="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defRPr/>
            </a:pPr>
            <a:endParaRPr lang="es-AR" b="1" dirty="0">
              <a:solidFill>
                <a:schemeClr val="bg1">
                  <a:lumMod val="95000"/>
                </a:schemeClr>
              </a:solidFill>
              <a:effectLst>
                <a:outerShdw blurRad="38100" dist="38100" dir="2700000" algn="tl">
                  <a:srgbClr val="000000">
                    <a:alpha val="43137"/>
                  </a:srgbClr>
                </a:outerShdw>
              </a:effectLst>
            </a:endParaRPr>
          </a:p>
        </p:txBody>
      </p:sp>
      <p:sp>
        <p:nvSpPr>
          <p:cNvPr id="6" name="5 CuadroTexto"/>
          <p:cNvSpPr txBox="1"/>
          <p:nvPr/>
        </p:nvSpPr>
        <p:spPr>
          <a:xfrm>
            <a:off x="1119611" y="997921"/>
            <a:ext cx="10681252" cy="954107"/>
          </a:xfrm>
          <a:prstGeom prst="rect">
            <a:avLst/>
          </a:prstGeom>
          <a:noFill/>
        </p:spPr>
        <p:txBody>
          <a:bodyPr wrap="square" rtlCol="0">
            <a:spAutoFit/>
          </a:bodyPr>
          <a:lstStyle/>
          <a:p>
            <a:pPr algn="just"/>
            <a:r>
              <a:rPr lang="es-AR" sz="2000" b="1" u="sng" cap="all" dirty="0"/>
              <a:t>Varios objetos y un solo hilo:</a:t>
            </a:r>
          </a:p>
          <a:p>
            <a:pPr algn="just"/>
            <a:endParaRPr lang="es-AR" cap="all" dirty="0"/>
          </a:p>
          <a:p>
            <a:pPr algn="just"/>
            <a:endParaRPr lang="es-AR" cap="all" dirty="0"/>
          </a:p>
        </p:txBody>
      </p:sp>
      <p:sp>
        <p:nvSpPr>
          <p:cNvPr id="13" name="Cuadro de texto 2">
            <a:extLst>
              <a:ext uri="{FF2B5EF4-FFF2-40B4-BE49-F238E27FC236}">
                <a16:creationId xmlns:a16="http://schemas.microsoft.com/office/drawing/2014/main" id="{AAE8F54E-1B3A-4600-AFCB-9226D0D550E2}"/>
              </a:ext>
            </a:extLst>
          </p:cNvPr>
          <p:cNvSpPr txBox="1">
            <a:spLocks noChangeArrowheads="1"/>
          </p:cNvSpPr>
          <p:nvPr/>
        </p:nvSpPr>
        <p:spPr bwMode="auto">
          <a:xfrm>
            <a:off x="2049260" y="0"/>
            <a:ext cx="8460035" cy="863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AR" altLang="es-AR" sz="4800" b="0" i="0" u="none" strike="noStrike" cap="none" normalizeH="0" baseline="0" dirty="0">
                <a:ln>
                  <a:noFill/>
                </a:ln>
                <a:solidFill>
                  <a:srgbClr val="FFFFFF"/>
                </a:solidFill>
                <a:effectLst/>
                <a:latin typeface="Calibri Light" panose="020F0302020204030204" pitchFamily="34" charset="0"/>
                <a:ea typeface="Calibri" panose="020F0502020204030204" pitchFamily="34" charset="0"/>
                <a:cs typeface="Calibri Light" panose="020F0302020204030204" pitchFamily="34" charset="0"/>
              </a:rPr>
              <a:t>PROGRAMACION CONCURRENTE</a:t>
            </a:r>
          </a:p>
        </p:txBody>
      </p:sp>
      <p:pic>
        <p:nvPicPr>
          <p:cNvPr id="12" name="Picture 5">
            <a:extLst>
              <a:ext uri="{FF2B5EF4-FFF2-40B4-BE49-F238E27FC236}">
                <a16:creationId xmlns:a16="http://schemas.microsoft.com/office/drawing/2014/main" id="{6B9287C5-A5BC-4517-9AB1-8F2E3194B7D9}"/>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72278" y="5808678"/>
            <a:ext cx="947333" cy="1049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Imagen 4">
            <a:extLst>
              <a:ext uri="{FF2B5EF4-FFF2-40B4-BE49-F238E27FC236}">
                <a16:creationId xmlns:a16="http://schemas.microsoft.com/office/drawing/2014/main" id="{0356F40C-51B3-4BB6-B132-E674150B8589}"/>
              </a:ext>
            </a:extLst>
          </p:cNvPr>
          <p:cNvPicPr>
            <a:picLocks noChangeAspect="1"/>
          </p:cNvPicPr>
          <p:nvPr/>
        </p:nvPicPr>
        <p:blipFill>
          <a:blip r:embed="rId5"/>
          <a:stretch>
            <a:fillRect/>
          </a:stretch>
        </p:blipFill>
        <p:spPr>
          <a:xfrm>
            <a:off x="1653648" y="1483336"/>
            <a:ext cx="9251257" cy="4517037"/>
          </a:xfrm>
          <a:prstGeom prst="rect">
            <a:avLst/>
          </a:prstGeom>
        </p:spPr>
      </p:pic>
    </p:spTree>
    <p:extLst>
      <p:ext uri="{BB962C8B-B14F-4D97-AF65-F5344CB8AC3E}">
        <p14:creationId xmlns:p14="http://schemas.microsoft.com/office/powerpoint/2010/main" val="39663079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5" name="Imagen 31">
            <a:extLst>
              <a:ext uri="{FF2B5EF4-FFF2-40B4-BE49-F238E27FC236}">
                <a16:creationId xmlns:a16="http://schemas.microsoft.com/office/drawing/2014/main" id="{452E838D-7BB9-4864-AE07-88664BFD686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1048" y="6422"/>
            <a:ext cx="11410951" cy="907978"/>
          </a:xfrm>
          <a:prstGeom prst="rect">
            <a:avLst/>
          </a:prstGeom>
          <a:noFill/>
          <a:extLst>
            <a:ext uri="{909E8E84-426E-40DD-AFC4-6F175D3DCCD1}">
              <a14:hiddenFill xmlns:a14="http://schemas.microsoft.com/office/drawing/2010/main">
                <a:solidFill>
                  <a:srgbClr val="FFFFFF"/>
                </a:solidFill>
              </a14:hiddenFill>
            </a:ext>
          </a:extLst>
        </p:spPr>
      </p:pic>
      <p:pic>
        <p:nvPicPr>
          <p:cNvPr id="2056" name="Imagen 30">
            <a:extLst>
              <a:ext uri="{FF2B5EF4-FFF2-40B4-BE49-F238E27FC236}">
                <a16:creationId xmlns:a16="http://schemas.microsoft.com/office/drawing/2014/main" id="{8E90C719-CF33-4486-9AEB-EA64319F5A0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98" y="1725"/>
            <a:ext cx="1076624" cy="1623753"/>
          </a:xfrm>
          <a:prstGeom prst="rect">
            <a:avLst/>
          </a:prstGeom>
          <a:noFill/>
          <a:extLst>
            <a:ext uri="{909E8E84-426E-40DD-AFC4-6F175D3DCCD1}">
              <a14:hiddenFill xmlns:a14="http://schemas.microsoft.com/office/drawing/2010/main">
                <a:solidFill>
                  <a:srgbClr val="FFFFFF"/>
                </a:solidFill>
              </a14:hiddenFill>
            </a:ext>
          </a:extLst>
        </p:spPr>
      </p:pic>
      <p:sp>
        <p:nvSpPr>
          <p:cNvPr id="2" name="1 Rectángulo"/>
          <p:cNvSpPr/>
          <p:nvPr/>
        </p:nvSpPr>
        <p:spPr>
          <a:xfrm>
            <a:off x="-3198" y="6377614"/>
            <a:ext cx="12195197" cy="221966"/>
          </a:xfrm>
          <a:prstGeom prst="rect">
            <a:avLst/>
          </a:prstGeom>
          <a:solidFill>
            <a:srgbClr val="6800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3" name="2 CuadroTexto"/>
          <p:cNvSpPr txBox="1"/>
          <p:nvPr/>
        </p:nvSpPr>
        <p:spPr>
          <a:xfrm>
            <a:off x="10177664" y="6315046"/>
            <a:ext cx="2080591" cy="338554"/>
          </a:xfrm>
          <a:prstGeom prst="rect">
            <a:avLst/>
          </a:prstGeom>
          <a:noFill/>
        </p:spPr>
        <p:txBody>
          <a:bodyPr wrap="square" rtlCol="0">
            <a:spAutoFit/>
          </a:bodyPr>
          <a:lstStyle/>
          <a:p>
            <a:r>
              <a:rPr lang="es-ES" sz="1600" b="1" dirty="0">
                <a:solidFill>
                  <a:srgbClr val="FFFFFF"/>
                </a:solidFill>
                <a:latin typeface="Calibri Light" panose="020F0302020204030204" pitchFamily="34" charset="0"/>
                <a:ea typeface="Calibri" panose="020F0502020204030204" pitchFamily="34" charset="0"/>
                <a:cs typeface="Calibri Light" panose="020F0302020204030204" pitchFamily="34" charset="0"/>
              </a:rPr>
              <a:t>Modalidad Virtual</a:t>
            </a:r>
          </a:p>
        </p:txBody>
      </p:sp>
      <p:sp>
        <p:nvSpPr>
          <p:cNvPr id="11" name="1 Título">
            <a:extLst>
              <a:ext uri="{FF2B5EF4-FFF2-40B4-BE49-F238E27FC236}">
                <a16:creationId xmlns:a16="http://schemas.microsoft.com/office/drawing/2014/main" id="{580E64F2-5285-450B-9979-ADA4942F6DF8}"/>
              </a:ext>
            </a:extLst>
          </p:cNvPr>
          <p:cNvSpPr txBox="1">
            <a:spLocks/>
          </p:cNvSpPr>
          <p:nvPr/>
        </p:nvSpPr>
        <p:spPr>
          <a:xfrm>
            <a:off x="781048" y="95209"/>
            <a:ext cx="10515600" cy="819191"/>
          </a:xfrm>
          <a:prstGeom prst="rect">
            <a:avLst/>
          </a:prstGeom>
        </p:spPr>
        <p:txBody>
          <a:bodyPr rtlCol="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defRPr/>
            </a:pPr>
            <a:endParaRPr lang="es-AR" b="1" dirty="0">
              <a:solidFill>
                <a:schemeClr val="bg1">
                  <a:lumMod val="95000"/>
                </a:schemeClr>
              </a:solidFill>
              <a:effectLst>
                <a:outerShdw blurRad="38100" dist="38100" dir="2700000" algn="tl">
                  <a:srgbClr val="000000">
                    <a:alpha val="43137"/>
                  </a:srgbClr>
                </a:outerShdw>
              </a:effectLst>
            </a:endParaRPr>
          </a:p>
        </p:txBody>
      </p:sp>
      <p:sp>
        <p:nvSpPr>
          <p:cNvPr id="6" name="5 CuadroTexto"/>
          <p:cNvSpPr txBox="1"/>
          <p:nvPr/>
        </p:nvSpPr>
        <p:spPr>
          <a:xfrm>
            <a:off x="1119611" y="997921"/>
            <a:ext cx="10681252" cy="954107"/>
          </a:xfrm>
          <a:prstGeom prst="rect">
            <a:avLst/>
          </a:prstGeom>
          <a:noFill/>
        </p:spPr>
        <p:txBody>
          <a:bodyPr wrap="square" rtlCol="0">
            <a:spAutoFit/>
          </a:bodyPr>
          <a:lstStyle/>
          <a:p>
            <a:pPr algn="just"/>
            <a:r>
              <a:rPr lang="es-AR" sz="2000" b="1" u="sng" cap="all" dirty="0"/>
              <a:t>tres hilos ejecutando código en varios objetos:</a:t>
            </a:r>
          </a:p>
          <a:p>
            <a:pPr algn="just"/>
            <a:endParaRPr lang="es-AR" cap="all" dirty="0"/>
          </a:p>
          <a:p>
            <a:pPr algn="just"/>
            <a:endParaRPr lang="es-AR" cap="all" dirty="0"/>
          </a:p>
        </p:txBody>
      </p:sp>
      <p:sp>
        <p:nvSpPr>
          <p:cNvPr id="13" name="Cuadro de texto 2">
            <a:extLst>
              <a:ext uri="{FF2B5EF4-FFF2-40B4-BE49-F238E27FC236}">
                <a16:creationId xmlns:a16="http://schemas.microsoft.com/office/drawing/2014/main" id="{AAE8F54E-1B3A-4600-AFCB-9226D0D550E2}"/>
              </a:ext>
            </a:extLst>
          </p:cNvPr>
          <p:cNvSpPr txBox="1">
            <a:spLocks noChangeArrowheads="1"/>
          </p:cNvSpPr>
          <p:nvPr/>
        </p:nvSpPr>
        <p:spPr bwMode="auto">
          <a:xfrm>
            <a:off x="2049260" y="0"/>
            <a:ext cx="8460035" cy="863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AR" altLang="es-AR" sz="4800" b="0" i="0" u="none" strike="noStrike" cap="none" normalizeH="0" baseline="0" dirty="0">
                <a:ln>
                  <a:noFill/>
                </a:ln>
                <a:solidFill>
                  <a:srgbClr val="FFFFFF"/>
                </a:solidFill>
                <a:effectLst/>
                <a:latin typeface="Calibri Light" panose="020F0302020204030204" pitchFamily="34" charset="0"/>
                <a:ea typeface="Calibri" panose="020F0502020204030204" pitchFamily="34" charset="0"/>
                <a:cs typeface="Calibri Light" panose="020F0302020204030204" pitchFamily="34" charset="0"/>
              </a:rPr>
              <a:t>PROGRAMACION CONCURRENTE</a:t>
            </a:r>
          </a:p>
        </p:txBody>
      </p:sp>
      <p:pic>
        <p:nvPicPr>
          <p:cNvPr id="12" name="Picture 5">
            <a:extLst>
              <a:ext uri="{FF2B5EF4-FFF2-40B4-BE49-F238E27FC236}">
                <a16:creationId xmlns:a16="http://schemas.microsoft.com/office/drawing/2014/main" id="{6B9287C5-A5BC-4517-9AB1-8F2E3194B7D9}"/>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72278" y="5808678"/>
            <a:ext cx="947333" cy="1049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Imagen 4">
            <a:extLst>
              <a:ext uri="{FF2B5EF4-FFF2-40B4-BE49-F238E27FC236}">
                <a16:creationId xmlns:a16="http://schemas.microsoft.com/office/drawing/2014/main" id="{35C0C12D-1F98-454A-9495-AD07A01B4C28}"/>
              </a:ext>
            </a:extLst>
          </p:cNvPr>
          <p:cNvPicPr>
            <a:picLocks noChangeAspect="1"/>
          </p:cNvPicPr>
          <p:nvPr/>
        </p:nvPicPr>
        <p:blipFill>
          <a:blip r:embed="rId5"/>
          <a:stretch>
            <a:fillRect/>
          </a:stretch>
        </p:blipFill>
        <p:spPr>
          <a:xfrm>
            <a:off x="1549801" y="1474974"/>
            <a:ext cx="9873443" cy="4635858"/>
          </a:xfrm>
          <a:prstGeom prst="rect">
            <a:avLst/>
          </a:prstGeom>
        </p:spPr>
      </p:pic>
    </p:spTree>
    <p:extLst>
      <p:ext uri="{BB962C8B-B14F-4D97-AF65-F5344CB8AC3E}">
        <p14:creationId xmlns:p14="http://schemas.microsoft.com/office/powerpoint/2010/main" val="35543922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5" name="Imagen 31">
            <a:extLst>
              <a:ext uri="{FF2B5EF4-FFF2-40B4-BE49-F238E27FC236}">
                <a16:creationId xmlns:a16="http://schemas.microsoft.com/office/drawing/2014/main" id="{452E838D-7BB9-4864-AE07-88664BFD686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1048" y="6422"/>
            <a:ext cx="11410951" cy="907978"/>
          </a:xfrm>
          <a:prstGeom prst="rect">
            <a:avLst/>
          </a:prstGeom>
          <a:noFill/>
          <a:extLst>
            <a:ext uri="{909E8E84-426E-40DD-AFC4-6F175D3DCCD1}">
              <a14:hiddenFill xmlns:a14="http://schemas.microsoft.com/office/drawing/2010/main">
                <a:solidFill>
                  <a:srgbClr val="FFFFFF"/>
                </a:solidFill>
              </a14:hiddenFill>
            </a:ext>
          </a:extLst>
        </p:spPr>
      </p:pic>
      <p:pic>
        <p:nvPicPr>
          <p:cNvPr id="2056" name="Imagen 30">
            <a:extLst>
              <a:ext uri="{FF2B5EF4-FFF2-40B4-BE49-F238E27FC236}">
                <a16:creationId xmlns:a16="http://schemas.microsoft.com/office/drawing/2014/main" id="{8E90C719-CF33-4486-9AEB-EA64319F5A0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98" y="1725"/>
            <a:ext cx="1076624" cy="1623753"/>
          </a:xfrm>
          <a:prstGeom prst="rect">
            <a:avLst/>
          </a:prstGeom>
          <a:noFill/>
          <a:extLst>
            <a:ext uri="{909E8E84-426E-40DD-AFC4-6F175D3DCCD1}">
              <a14:hiddenFill xmlns:a14="http://schemas.microsoft.com/office/drawing/2010/main">
                <a:solidFill>
                  <a:srgbClr val="FFFFFF"/>
                </a:solidFill>
              </a14:hiddenFill>
            </a:ext>
          </a:extLst>
        </p:spPr>
      </p:pic>
      <p:sp>
        <p:nvSpPr>
          <p:cNvPr id="2" name="1 Rectángulo"/>
          <p:cNvSpPr/>
          <p:nvPr/>
        </p:nvSpPr>
        <p:spPr>
          <a:xfrm>
            <a:off x="-3198" y="6377614"/>
            <a:ext cx="12195197" cy="221966"/>
          </a:xfrm>
          <a:prstGeom prst="rect">
            <a:avLst/>
          </a:prstGeom>
          <a:solidFill>
            <a:srgbClr val="6800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3" name="2 CuadroTexto"/>
          <p:cNvSpPr txBox="1"/>
          <p:nvPr/>
        </p:nvSpPr>
        <p:spPr>
          <a:xfrm>
            <a:off x="10177664" y="6315046"/>
            <a:ext cx="2080591" cy="338554"/>
          </a:xfrm>
          <a:prstGeom prst="rect">
            <a:avLst/>
          </a:prstGeom>
          <a:noFill/>
        </p:spPr>
        <p:txBody>
          <a:bodyPr wrap="square" rtlCol="0">
            <a:spAutoFit/>
          </a:bodyPr>
          <a:lstStyle/>
          <a:p>
            <a:r>
              <a:rPr lang="es-ES" sz="1600" b="1" dirty="0">
                <a:solidFill>
                  <a:srgbClr val="FFFFFF"/>
                </a:solidFill>
                <a:latin typeface="Calibri Light" panose="020F0302020204030204" pitchFamily="34" charset="0"/>
                <a:ea typeface="Calibri" panose="020F0502020204030204" pitchFamily="34" charset="0"/>
                <a:cs typeface="Calibri Light" panose="020F0302020204030204" pitchFamily="34" charset="0"/>
              </a:rPr>
              <a:t>Modalidad Virtual</a:t>
            </a:r>
          </a:p>
        </p:txBody>
      </p:sp>
      <p:sp>
        <p:nvSpPr>
          <p:cNvPr id="11" name="1 Título">
            <a:extLst>
              <a:ext uri="{FF2B5EF4-FFF2-40B4-BE49-F238E27FC236}">
                <a16:creationId xmlns:a16="http://schemas.microsoft.com/office/drawing/2014/main" id="{580E64F2-5285-450B-9979-ADA4942F6DF8}"/>
              </a:ext>
            </a:extLst>
          </p:cNvPr>
          <p:cNvSpPr txBox="1">
            <a:spLocks/>
          </p:cNvSpPr>
          <p:nvPr/>
        </p:nvSpPr>
        <p:spPr>
          <a:xfrm>
            <a:off x="781048" y="95209"/>
            <a:ext cx="10515600" cy="819191"/>
          </a:xfrm>
          <a:prstGeom prst="rect">
            <a:avLst/>
          </a:prstGeom>
        </p:spPr>
        <p:txBody>
          <a:bodyPr rtlCol="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defRPr/>
            </a:pPr>
            <a:endParaRPr lang="es-AR" b="1" dirty="0">
              <a:solidFill>
                <a:schemeClr val="bg1">
                  <a:lumMod val="95000"/>
                </a:schemeClr>
              </a:solidFill>
              <a:effectLst>
                <a:outerShdw blurRad="38100" dist="38100" dir="2700000" algn="tl">
                  <a:srgbClr val="000000">
                    <a:alpha val="43137"/>
                  </a:srgbClr>
                </a:outerShdw>
              </a:effectLst>
            </a:endParaRPr>
          </a:p>
        </p:txBody>
      </p:sp>
      <p:sp>
        <p:nvSpPr>
          <p:cNvPr id="6" name="5 CuadroTexto"/>
          <p:cNvSpPr txBox="1"/>
          <p:nvPr/>
        </p:nvSpPr>
        <p:spPr>
          <a:xfrm>
            <a:off x="1119611" y="997921"/>
            <a:ext cx="10681252" cy="4154984"/>
          </a:xfrm>
          <a:prstGeom prst="rect">
            <a:avLst/>
          </a:prstGeom>
          <a:noFill/>
        </p:spPr>
        <p:txBody>
          <a:bodyPr wrap="square" rtlCol="0">
            <a:spAutoFit/>
          </a:bodyPr>
          <a:lstStyle/>
          <a:p>
            <a:pPr algn="just"/>
            <a:r>
              <a:rPr lang="es-AR" sz="4000" b="1" u="sng" dirty="0"/>
              <a:t>CREACIÓN DE HILOS EN JAVA:</a:t>
            </a:r>
          </a:p>
          <a:p>
            <a:pPr algn="just"/>
            <a:endParaRPr lang="es-AR" sz="3600" dirty="0"/>
          </a:p>
          <a:p>
            <a:pPr algn="just"/>
            <a:r>
              <a:rPr lang="es-AR" sz="3600" dirty="0"/>
              <a:t>EXISTEN DOS MANERAS DE CREAR HILOS EN JAVA:</a:t>
            </a:r>
          </a:p>
          <a:p>
            <a:pPr algn="just"/>
            <a:endParaRPr lang="es-AR" sz="3600" dirty="0"/>
          </a:p>
          <a:p>
            <a:pPr marL="800100" lvl="1" indent="-342900" algn="just">
              <a:buFont typeface="+mj-lt"/>
              <a:buAutoNum type="arabicPeriod"/>
            </a:pPr>
            <a:r>
              <a:rPr lang="es-AR" sz="3600" dirty="0"/>
              <a:t>HEREDANDO DE LA CLASE </a:t>
            </a:r>
            <a:r>
              <a:rPr lang="es-AR" sz="4000" b="1" dirty="0" err="1"/>
              <a:t>Thread</a:t>
            </a:r>
            <a:r>
              <a:rPr lang="es-AR" sz="3600" dirty="0"/>
              <a:t>.</a:t>
            </a:r>
          </a:p>
          <a:p>
            <a:pPr marL="800100" lvl="1" indent="-342900" algn="just">
              <a:buFont typeface="+mj-lt"/>
              <a:buAutoNum type="arabicPeriod"/>
            </a:pPr>
            <a:endParaRPr lang="es-AR" sz="3600" dirty="0"/>
          </a:p>
          <a:p>
            <a:pPr marL="800100" lvl="1" indent="-342900" algn="just">
              <a:buFont typeface="+mj-lt"/>
              <a:buAutoNum type="arabicPeriod"/>
            </a:pPr>
            <a:r>
              <a:rPr lang="es-AR" sz="3600" dirty="0"/>
              <a:t>IMPLEMENTANDO LA INTERFAZ </a:t>
            </a:r>
            <a:r>
              <a:rPr lang="es-AR" sz="4000" b="1" dirty="0" err="1"/>
              <a:t>Runnable</a:t>
            </a:r>
            <a:r>
              <a:rPr lang="es-AR" sz="3600" dirty="0"/>
              <a:t>.</a:t>
            </a:r>
          </a:p>
        </p:txBody>
      </p:sp>
      <p:sp>
        <p:nvSpPr>
          <p:cNvPr id="13" name="Cuadro de texto 2">
            <a:extLst>
              <a:ext uri="{FF2B5EF4-FFF2-40B4-BE49-F238E27FC236}">
                <a16:creationId xmlns:a16="http://schemas.microsoft.com/office/drawing/2014/main" id="{AAE8F54E-1B3A-4600-AFCB-9226D0D550E2}"/>
              </a:ext>
            </a:extLst>
          </p:cNvPr>
          <p:cNvSpPr txBox="1">
            <a:spLocks noChangeArrowheads="1"/>
          </p:cNvSpPr>
          <p:nvPr/>
        </p:nvSpPr>
        <p:spPr bwMode="auto">
          <a:xfrm>
            <a:off x="2049260" y="0"/>
            <a:ext cx="8460035" cy="863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AR" altLang="es-AR" sz="4800" b="0" i="0" u="none" strike="noStrike" cap="none" normalizeH="0" baseline="0" dirty="0">
                <a:ln>
                  <a:noFill/>
                </a:ln>
                <a:solidFill>
                  <a:srgbClr val="FFFFFF"/>
                </a:solidFill>
                <a:effectLst/>
                <a:latin typeface="Calibri Light" panose="020F0302020204030204" pitchFamily="34" charset="0"/>
                <a:ea typeface="Calibri" panose="020F0502020204030204" pitchFamily="34" charset="0"/>
                <a:cs typeface="Calibri Light" panose="020F0302020204030204" pitchFamily="34" charset="0"/>
              </a:rPr>
              <a:t>PROGRAMACION CONCURRENTE</a:t>
            </a:r>
          </a:p>
        </p:txBody>
      </p:sp>
      <p:pic>
        <p:nvPicPr>
          <p:cNvPr id="12" name="Picture 5">
            <a:extLst>
              <a:ext uri="{FF2B5EF4-FFF2-40B4-BE49-F238E27FC236}">
                <a16:creationId xmlns:a16="http://schemas.microsoft.com/office/drawing/2014/main" id="{6B9287C5-A5BC-4517-9AB1-8F2E3194B7D9}"/>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72278" y="5808678"/>
            <a:ext cx="947333" cy="1049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897250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5" name="Imagen 31">
            <a:extLst>
              <a:ext uri="{FF2B5EF4-FFF2-40B4-BE49-F238E27FC236}">
                <a16:creationId xmlns:a16="http://schemas.microsoft.com/office/drawing/2014/main" id="{452E838D-7BB9-4864-AE07-88664BFD686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1048" y="6422"/>
            <a:ext cx="11410951" cy="907978"/>
          </a:xfrm>
          <a:prstGeom prst="rect">
            <a:avLst/>
          </a:prstGeom>
          <a:noFill/>
          <a:extLst>
            <a:ext uri="{909E8E84-426E-40DD-AFC4-6F175D3DCCD1}">
              <a14:hiddenFill xmlns:a14="http://schemas.microsoft.com/office/drawing/2010/main">
                <a:solidFill>
                  <a:srgbClr val="FFFFFF"/>
                </a:solidFill>
              </a14:hiddenFill>
            </a:ext>
          </a:extLst>
        </p:spPr>
      </p:pic>
      <p:pic>
        <p:nvPicPr>
          <p:cNvPr id="2056" name="Imagen 30">
            <a:extLst>
              <a:ext uri="{FF2B5EF4-FFF2-40B4-BE49-F238E27FC236}">
                <a16:creationId xmlns:a16="http://schemas.microsoft.com/office/drawing/2014/main" id="{8E90C719-CF33-4486-9AEB-EA64319F5A0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98" y="1725"/>
            <a:ext cx="1076624" cy="1623753"/>
          </a:xfrm>
          <a:prstGeom prst="rect">
            <a:avLst/>
          </a:prstGeom>
          <a:noFill/>
          <a:extLst>
            <a:ext uri="{909E8E84-426E-40DD-AFC4-6F175D3DCCD1}">
              <a14:hiddenFill xmlns:a14="http://schemas.microsoft.com/office/drawing/2010/main">
                <a:solidFill>
                  <a:srgbClr val="FFFFFF"/>
                </a:solidFill>
              </a14:hiddenFill>
            </a:ext>
          </a:extLst>
        </p:spPr>
      </p:pic>
      <p:sp>
        <p:nvSpPr>
          <p:cNvPr id="2" name="1 Rectángulo"/>
          <p:cNvSpPr/>
          <p:nvPr/>
        </p:nvSpPr>
        <p:spPr>
          <a:xfrm>
            <a:off x="-3198" y="6377614"/>
            <a:ext cx="12195197" cy="221966"/>
          </a:xfrm>
          <a:prstGeom prst="rect">
            <a:avLst/>
          </a:prstGeom>
          <a:solidFill>
            <a:srgbClr val="6800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t>A LA INSTANCIA CREADA DE ESTA CLASE.</a:t>
            </a:r>
          </a:p>
        </p:txBody>
      </p:sp>
      <p:sp>
        <p:nvSpPr>
          <p:cNvPr id="3" name="2 CuadroTexto"/>
          <p:cNvSpPr txBox="1"/>
          <p:nvPr/>
        </p:nvSpPr>
        <p:spPr>
          <a:xfrm>
            <a:off x="10177664" y="6315046"/>
            <a:ext cx="2080591" cy="338554"/>
          </a:xfrm>
          <a:prstGeom prst="rect">
            <a:avLst/>
          </a:prstGeom>
          <a:noFill/>
        </p:spPr>
        <p:txBody>
          <a:bodyPr wrap="square" rtlCol="0">
            <a:spAutoFit/>
          </a:bodyPr>
          <a:lstStyle/>
          <a:p>
            <a:r>
              <a:rPr lang="es-ES" sz="1600" b="1" dirty="0">
                <a:solidFill>
                  <a:srgbClr val="FFFFFF"/>
                </a:solidFill>
                <a:latin typeface="Calibri Light" panose="020F0302020204030204" pitchFamily="34" charset="0"/>
                <a:ea typeface="Calibri" panose="020F0502020204030204" pitchFamily="34" charset="0"/>
                <a:cs typeface="Calibri Light" panose="020F0302020204030204" pitchFamily="34" charset="0"/>
              </a:rPr>
              <a:t>Modalidad Virtual</a:t>
            </a:r>
          </a:p>
        </p:txBody>
      </p:sp>
      <p:sp>
        <p:nvSpPr>
          <p:cNvPr id="11" name="1 Título">
            <a:extLst>
              <a:ext uri="{FF2B5EF4-FFF2-40B4-BE49-F238E27FC236}">
                <a16:creationId xmlns:a16="http://schemas.microsoft.com/office/drawing/2014/main" id="{580E64F2-5285-450B-9979-ADA4942F6DF8}"/>
              </a:ext>
            </a:extLst>
          </p:cNvPr>
          <p:cNvSpPr txBox="1">
            <a:spLocks/>
          </p:cNvSpPr>
          <p:nvPr/>
        </p:nvSpPr>
        <p:spPr>
          <a:xfrm>
            <a:off x="781048" y="95209"/>
            <a:ext cx="10515600" cy="819191"/>
          </a:xfrm>
          <a:prstGeom prst="rect">
            <a:avLst/>
          </a:prstGeom>
        </p:spPr>
        <p:txBody>
          <a:bodyPr rtlCol="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defRPr/>
            </a:pPr>
            <a:endParaRPr lang="es-AR" b="1" dirty="0">
              <a:solidFill>
                <a:schemeClr val="bg1">
                  <a:lumMod val="95000"/>
                </a:schemeClr>
              </a:solidFill>
              <a:effectLst>
                <a:outerShdw blurRad="38100" dist="38100" dir="2700000" algn="tl">
                  <a:srgbClr val="000000">
                    <a:alpha val="43137"/>
                  </a:srgbClr>
                </a:outerShdw>
              </a:effectLst>
            </a:endParaRPr>
          </a:p>
        </p:txBody>
      </p:sp>
      <p:sp>
        <p:nvSpPr>
          <p:cNvPr id="6" name="5 CuadroTexto"/>
          <p:cNvSpPr txBox="1"/>
          <p:nvPr/>
        </p:nvSpPr>
        <p:spPr>
          <a:xfrm>
            <a:off x="1119611" y="952674"/>
            <a:ext cx="10681252" cy="5078313"/>
          </a:xfrm>
          <a:prstGeom prst="rect">
            <a:avLst/>
          </a:prstGeom>
          <a:noFill/>
        </p:spPr>
        <p:txBody>
          <a:bodyPr wrap="square" rtlCol="0">
            <a:spAutoFit/>
          </a:bodyPr>
          <a:lstStyle/>
          <a:p>
            <a:pPr algn="just"/>
            <a:r>
              <a:rPr lang="es-AR" sz="2400" b="1" u="sng" cap="all" dirty="0"/>
              <a:t>HEREDAR DE LA CLASE THREAD:</a:t>
            </a:r>
          </a:p>
          <a:p>
            <a:pPr algn="just"/>
            <a:endParaRPr lang="es-AR" sz="2000" cap="all" dirty="0"/>
          </a:p>
          <a:p>
            <a:pPr algn="just"/>
            <a:r>
              <a:rPr lang="es-AR" sz="2000" cap="all" dirty="0"/>
              <a:t>CUANDO SE CREA UNA CLASE QUE HEREDA DE THREAD, EXISTEN DOS MÉTODOS A TENER EN CUENTA:</a:t>
            </a:r>
          </a:p>
          <a:p>
            <a:pPr algn="just"/>
            <a:endParaRPr lang="es-AR" sz="2000" cap="all" dirty="0"/>
          </a:p>
          <a:p>
            <a:pPr marL="800100" lvl="1" indent="-342900" algn="just">
              <a:buFont typeface="+mj-lt"/>
              <a:buAutoNum type="arabicPeriod"/>
            </a:pPr>
            <a:r>
              <a:rPr lang="es-AR" sz="2000" b="1" i="1" u="sng" cap="all" dirty="0"/>
              <a:t>RUN()</a:t>
            </a:r>
            <a:r>
              <a:rPr lang="es-AR" sz="2000" cap="all" dirty="0"/>
              <a:t>: ES EL MÉTODO QUE POSEE EL CÓDIGO QUE SE EJECUTA CUANDO SE LANZA A EJECUTAR EL HILO CORRESPONDIENTE AL OBJETO CREADO. ES DECIR, SE CREA UN OBJETO “A” Y UN OBJETO “B”, AMBOS DE LA CLASE “C” QUE HEREDA DE THREAD. CUANDO SE LANCE LA EJECUCIÓN DE LOS OBJETOS “A” Y “B”, SE EJECUTARÁ EL CÓDIGO DE RUN() DE AMBAS INSTANCIAS DE “C”. POR ELLO, RUN() DEBE REDEFINIRSE EN LA CLASE “C”.</a:t>
            </a:r>
          </a:p>
          <a:p>
            <a:pPr marL="800100" lvl="1" indent="-342900" algn="just">
              <a:buFont typeface="+mj-lt"/>
              <a:buAutoNum type="arabicPeriod"/>
            </a:pPr>
            <a:endParaRPr lang="es-AR" sz="2000" cap="all" dirty="0"/>
          </a:p>
          <a:p>
            <a:pPr marL="800100" lvl="1" indent="-342900" algn="just">
              <a:buFont typeface="+mj-lt"/>
              <a:buAutoNum type="arabicPeriod"/>
            </a:pPr>
            <a:r>
              <a:rPr lang="es-AR" sz="2000" b="1" i="1" u="sng" cap="all" dirty="0"/>
              <a:t>START()</a:t>
            </a:r>
            <a:r>
              <a:rPr lang="es-AR" sz="2000" cap="all" dirty="0"/>
              <a:t>: ES EL MÉTODO QUE LANZA LA EJECUCIÓN DE LOS MÉTODOS RUN() DE LOS OBJETOS QUE SON INSTANCIA DE LA CLASE QUE HEREDA DE THREAD. EN NUESTRO EJEMPLO, DEBEMOS EJECUTAR:</a:t>
            </a:r>
          </a:p>
          <a:p>
            <a:pPr marL="1657350" lvl="3" indent="-285750" algn="just">
              <a:buFont typeface="Arial" panose="020B0604020202020204" pitchFamily="34" charset="0"/>
              <a:buChar char="•"/>
            </a:pPr>
            <a:r>
              <a:rPr lang="es-AR" sz="2000" cap="all" dirty="0"/>
              <a:t>A.START(); </a:t>
            </a:r>
          </a:p>
          <a:p>
            <a:pPr marL="1657350" lvl="3" indent="-285750" algn="just">
              <a:buFont typeface="Arial" panose="020B0604020202020204" pitchFamily="34" charset="0"/>
              <a:buChar char="•"/>
            </a:pPr>
            <a:r>
              <a:rPr lang="es-AR" sz="2000" cap="all" dirty="0"/>
              <a:t>B.START();</a:t>
            </a:r>
          </a:p>
        </p:txBody>
      </p:sp>
      <p:sp>
        <p:nvSpPr>
          <p:cNvPr id="13" name="Cuadro de texto 2">
            <a:extLst>
              <a:ext uri="{FF2B5EF4-FFF2-40B4-BE49-F238E27FC236}">
                <a16:creationId xmlns:a16="http://schemas.microsoft.com/office/drawing/2014/main" id="{AAE8F54E-1B3A-4600-AFCB-9226D0D550E2}"/>
              </a:ext>
            </a:extLst>
          </p:cNvPr>
          <p:cNvSpPr txBox="1">
            <a:spLocks noChangeArrowheads="1"/>
          </p:cNvSpPr>
          <p:nvPr/>
        </p:nvSpPr>
        <p:spPr bwMode="auto">
          <a:xfrm>
            <a:off x="2049260" y="0"/>
            <a:ext cx="8460035" cy="863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AR" altLang="es-AR" sz="4800" b="0" i="0" u="none" strike="noStrike" cap="none" normalizeH="0" baseline="0" dirty="0">
                <a:ln>
                  <a:noFill/>
                </a:ln>
                <a:solidFill>
                  <a:srgbClr val="FFFFFF"/>
                </a:solidFill>
                <a:effectLst/>
                <a:latin typeface="Calibri Light" panose="020F0302020204030204" pitchFamily="34" charset="0"/>
                <a:ea typeface="Calibri" panose="020F0502020204030204" pitchFamily="34" charset="0"/>
                <a:cs typeface="Calibri Light" panose="020F0302020204030204" pitchFamily="34" charset="0"/>
              </a:rPr>
              <a:t>PROGRAMACION CONCURRENTE</a:t>
            </a:r>
          </a:p>
        </p:txBody>
      </p:sp>
      <p:pic>
        <p:nvPicPr>
          <p:cNvPr id="12" name="Picture 5">
            <a:extLst>
              <a:ext uri="{FF2B5EF4-FFF2-40B4-BE49-F238E27FC236}">
                <a16:creationId xmlns:a16="http://schemas.microsoft.com/office/drawing/2014/main" id="{6B9287C5-A5BC-4517-9AB1-8F2E3194B7D9}"/>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72278" y="5808678"/>
            <a:ext cx="947333" cy="1049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35335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5" name="Imagen 31">
            <a:extLst>
              <a:ext uri="{FF2B5EF4-FFF2-40B4-BE49-F238E27FC236}">
                <a16:creationId xmlns:a16="http://schemas.microsoft.com/office/drawing/2014/main" id="{452E838D-7BB9-4864-AE07-88664BFD686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1048" y="6422"/>
            <a:ext cx="11410951" cy="907978"/>
          </a:xfrm>
          <a:prstGeom prst="rect">
            <a:avLst/>
          </a:prstGeom>
          <a:noFill/>
          <a:extLst>
            <a:ext uri="{909E8E84-426E-40DD-AFC4-6F175D3DCCD1}">
              <a14:hiddenFill xmlns:a14="http://schemas.microsoft.com/office/drawing/2010/main">
                <a:solidFill>
                  <a:srgbClr val="FFFFFF"/>
                </a:solidFill>
              </a14:hiddenFill>
            </a:ext>
          </a:extLst>
        </p:spPr>
      </p:pic>
      <p:pic>
        <p:nvPicPr>
          <p:cNvPr id="2056" name="Imagen 30">
            <a:extLst>
              <a:ext uri="{FF2B5EF4-FFF2-40B4-BE49-F238E27FC236}">
                <a16:creationId xmlns:a16="http://schemas.microsoft.com/office/drawing/2014/main" id="{8E90C719-CF33-4486-9AEB-EA64319F5A0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98" y="1725"/>
            <a:ext cx="1076624" cy="1623753"/>
          </a:xfrm>
          <a:prstGeom prst="rect">
            <a:avLst/>
          </a:prstGeom>
          <a:noFill/>
          <a:extLst>
            <a:ext uri="{909E8E84-426E-40DD-AFC4-6F175D3DCCD1}">
              <a14:hiddenFill xmlns:a14="http://schemas.microsoft.com/office/drawing/2010/main">
                <a:solidFill>
                  <a:srgbClr val="FFFFFF"/>
                </a:solidFill>
              </a14:hiddenFill>
            </a:ext>
          </a:extLst>
        </p:spPr>
      </p:pic>
      <p:sp>
        <p:nvSpPr>
          <p:cNvPr id="2" name="1 Rectángulo"/>
          <p:cNvSpPr/>
          <p:nvPr/>
        </p:nvSpPr>
        <p:spPr>
          <a:xfrm>
            <a:off x="-3198" y="6377614"/>
            <a:ext cx="12195197" cy="221966"/>
          </a:xfrm>
          <a:prstGeom prst="rect">
            <a:avLst/>
          </a:prstGeom>
          <a:solidFill>
            <a:srgbClr val="6800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3" name="2 CuadroTexto"/>
          <p:cNvSpPr txBox="1"/>
          <p:nvPr/>
        </p:nvSpPr>
        <p:spPr>
          <a:xfrm>
            <a:off x="10177664" y="6315046"/>
            <a:ext cx="2080591" cy="338554"/>
          </a:xfrm>
          <a:prstGeom prst="rect">
            <a:avLst/>
          </a:prstGeom>
          <a:noFill/>
        </p:spPr>
        <p:txBody>
          <a:bodyPr wrap="square" rtlCol="0">
            <a:spAutoFit/>
          </a:bodyPr>
          <a:lstStyle/>
          <a:p>
            <a:r>
              <a:rPr lang="es-ES" sz="1600" b="1" dirty="0">
                <a:solidFill>
                  <a:srgbClr val="FFFFFF"/>
                </a:solidFill>
                <a:latin typeface="Calibri Light" panose="020F0302020204030204" pitchFamily="34" charset="0"/>
                <a:ea typeface="Calibri" panose="020F0502020204030204" pitchFamily="34" charset="0"/>
                <a:cs typeface="Calibri Light" panose="020F0302020204030204" pitchFamily="34" charset="0"/>
              </a:rPr>
              <a:t>Modalidad Virtual</a:t>
            </a:r>
          </a:p>
        </p:txBody>
      </p:sp>
      <p:sp>
        <p:nvSpPr>
          <p:cNvPr id="11" name="1 Título">
            <a:extLst>
              <a:ext uri="{FF2B5EF4-FFF2-40B4-BE49-F238E27FC236}">
                <a16:creationId xmlns:a16="http://schemas.microsoft.com/office/drawing/2014/main" id="{580E64F2-5285-450B-9979-ADA4942F6DF8}"/>
              </a:ext>
            </a:extLst>
          </p:cNvPr>
          <p:cNvSpPr txBox="1">
            <a:spLocks/>
          </p:cNvSpPr>
          <p:nvPr/>
        </p:nvSpPr>
        <p:spPr>
          <a:xfrm>
            <a:off x="781048" y="95209"/>
            <a:ext cx="10515600" cy="819191"/>
          </a:xfrm>
          <a:prstGeom prst="rect">
            <a:avLst/>
          </a:prstGeom>
        </p:spPr>
        <p:txBody>
          <a:bodyPr rtlCol="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defRPr/>
            </a:pPr>
            <a:endParaRPr lang="es-AR" b="1" dirty="0">
              <a:solidFill>
                <a:schemeClr val="bg1">
                  <a:lumMod val="95000"/>
                </a:schemeClr>
              </a:solidFill>
              <a:effectLst>
                <a:outerShdw blurRad="38100" dist="38100" dir="2700000" algn="tl">
                  <a:srgbClr val="000000">
                    <a:alpha val="43137"/>
                  </a:srgbClr>
                </a:outerShdw>
              </a:effectLst>
            </a:endParaRPr>
          </a:p>
        </p:txBody>
      </p:sp>
      <p:sp>
        <p:nvSpPr>
          <p:cNvPr id="6" name="5 CuadroTexto"/>
          <p:cNvSpPr txBox="1"/>
          <p:nvPr/>
        </p:nvSpPr>
        <p:spPr>
          <a:xfrm>
            <a:off x="1073427" y="947408"/>
            <a:ext cx="5280362" cy="4832092"/>
          </a:xfrm>
          <a:prstGeom prst="rect">
            <a:avLst/>
          </a:prstGeom>
          <a:noFill/>
        </p:spPr>
        <p:txBody>
          <a:bodyPr wrap="square" rtlCol="0">
            <a:spAutoFit/>
          </a:bodyPr>
          <a:lstStyle/>
          <a:p>
            <a:pPr algn="just"/>
            <a:r>
              <a:rPr lang="es-AR" sz="2000" b="1" u="sng" cap="all" dirty="0"/>
              <a:t>EJEMPLO DE CLASE QUE HEREDA DE THREAD:</a:t>
            </a:r>
          </a:p>
          <a:p>
            <a:pPr algn="just"/>
            <a:endParaRPr lang="es-AR" cap="all" dirty="0"/>
          </a:p>
          <a:p>
            <a:pPr algn="l"/>
            <a:r>
              <a:rPr lang="en-US" sz="1800" b="1" dirty="0">
                <a:solidFill>
                  <a:srgbClr val="7F0055"/>
                </a:solidFill>
                <a:latin typeface="Courier New" panose="02070309020205020404" pitchFamily="49" charset="0"/>
              </a:rPr>
              <a:t>public</a:t>
            </a:r>
            <a:r>
              <a:rPr lang="en-US" sz="1800" b="1" dirty="0">
                <a:solidFill>
                  <a:srgbClr val="000000"/>
                </a:solidFill>
                <a:latin typeface="Courier New" panose="02070309020205020404" pitchFamily="49" charset="0"/>
              </a:rPr>
              <a:t> </a:t>
            </a:r>
            <a:r>
              <a:rPr lang="en-US" sz="1800" b="1" dirty="0">
                <a:solidFill>
                  <a:srgbClr val="7F0055"/>
                </a:solidFill>
                <a:latin typeface="Courier New" panose="02070309020205020404" pitchFamily="49" charset="0"/>
              </a:rPr>
              <a:t>class</a:t>
            </a:r>
            <a:r>
              <a:rPr lang="en-US" sz="1800" b="1" dirty="0">
                <a:solidFill>
                  <a:srgbClr val="000000"/>
                </a:solidFill>
                <a:latin typeface="Courier New" panose="02070309020205020404" pitchFamily="49" charset="0"/>
              </a:rPr>
              <a:t> UnoDosV1 </a:t>
            </a:r>
            <a:r>
              <a:rPr lang="en-US" sz="1800" b="1" dirty="0">
                <a:solidFill>
                  <a:srgbClr val="7F0055"/>
                </a:solidFill>
                <a:latin typeface="Courier New" panose="02070309020205020404" pitchFamily="49" charset="0"/>
              </a:rPr>
              <a:t>extends</a:t>
            </a:r>
            <a:r>
              <a:rPr lang="en-US" sz="1800" b="1" dirty="0">
                <a:solidFill>
                  <a:srgbClr val="000000"/>
                </a:solidFill>
                <a:latin typeface="Courier New" panose="02070309020205020404" pitchFamily="49" charset="0"/>
              </a:rPr>
              <a:t> Thread{</a:t>
            </a:r>
          </a:p>
          <a:p>
            <a:pPr algn="l"/>
            <a:endParaRPr lang="es-AR" sz="1800" dirty="0">
              <a:solidFill>
                <a:srgbClr val="3F7F5F"/>
              </a:solidFill>
              <a:latin typeface="Courier New" panose="02070309020205020404" pitchFamily="49" charset="0"/>
            </a:endParaRPr>
          </a:p>
          <a:p>
            <a:pPr algn="l"/>
            <a:r>
              <a:rPr lang="es-AR" sz="1800" dirty="0">
                <a:solidFill>
                  <a:srgbClr val="3F7F5F"/>
                </a:solidFill>
                <a:latin typeface="Courier New" panose="02070309020205020404" pitchFamily="49" charset="0"/>
              </a:rPr>
              <a:t>//</a:t>
            </a:r>
            <a:r>
              <a:rPr lang="es-AR" sz="1800" u="sng" dirty="0">
                <a:solidFill>
                  <a:srgbClr val="3F7F5F"/>
                </a:solidFill>
                <a:latin typeface="Courier New" panose="02070309020205020404" pitchFamily="49" charset="0"/>
              </a:rPr>
              <a:t>Atributo </a:t>
            </a:r>
            <a:r>
              <a:rPr lang="es-AR" u="sng" dirty="0">
                <a:solidFill>
                  <a:srgbClr val="3F7F5F"/>
                </a:solidFill>
                <a:latin typeface="Courier New" panose="02070309020205020404" pitchFamily="49" charset="0"/>
              </a:rPr>
              <a:t>de </a:t>
            </a:r>
            <a:r>
              <a:rPr lang="en-US" u="sng" dirty="0">
                <a:solidFill>
                  <a:srgbClr val="3F7F5F"/>
                </a:solidFill>
                <a:latin typeface="Courier New" panose="02070309020205020404" pitchFamily="49" charset="0"/>
              </a:rPr>
              <a:t>UnoDosV1 </a:t>
            </a:r>
            <a:r>
              <a:rPr lang="es-AR" sz="1800" u="sng" dirty="0">
                <a:solidFill>
                  <a:srgbClr val="3F7F5F"/>
                </a:solidFill>
                <a:latin typeface="Courier New" panose="02070309020205020404" pitchFamily="49" charset="0"/>
              </a:rPr>
              <a:t>:</a:t>
            </a:r>
          </a:p>
          <a:p>
            <a:pPr algn="l"/>
            <a:r>
              <a:rPr lang="es-AR" sz="1800" b="1" dirty="0" err="1">
                <a:solidFill>
                  <a:srgbClr val="7F0055"/>
                </a:solidFill>
                <a:latin typeface="Courier New" panose="02070309020205020404" pitchFamily="49" charset="0"/>
              </a:rPr>
              <a:t>int</a:t>
            </a:r>
            <a:r>
              <a:rPr lang="es-AR" sz="1800" b="1" dirty="0">
                <a:solidFill>
                  <a:srgbClr val="000000"/>
                </a:solidFill>
                <a:latin typeface="Courier New" panose="02070309020205020404" pitchFamily="49" charset="0"/>
              </a:rPr>
              <a:t> </a:t>
            </a:r>
            <a:r>
              <a:rPr lang="es-AR" sz="1800" b="1" dirty="0">
                <a:solidFill>
                  <a:srgbClr val="0000C0"/>
                </a:solidFill>
                <a:latin typeface="Courier New" panose="02070309020205020404" pitchFamily="49" charset="0"/>
              </a:rPr>
              <a:t>s</a:t>
            </a:r>
            <a:r>
              <a:rPr lang="es-AR" sz="1800" b="1" dirty="0">
                <a:solidFill>
                  <a:srgbClr val="000000"/>
                </a:solidFill>
                <a:latin typeface="Courier New" panose="02070309020205020404" pitchFamily="49" charset="0"/>
              </a:rPr>
              <a:t>;</a:t>
            </a:r>
          </a:p>
          <a:p>
            <a:pPr algn="l"/>
            <a:endParaRPr lang="es-AR" sz="1800" dirty="0">
              <a:solidFill>
                <a:srgbClr val="3F7F5F"/>
              </a:solidFill>
              <a:latin typeface="Courier New" panose="02070309020205020404" pitchFamily="49" charset="0"/>
            </a:endParaRPr>
          </a:p>
          <a:p>
            <a:pPr algn="l"/>
            <a:r>
              <a:rPr lang="es-AR" sz="1800" dirty="0">
                <a:solidFill>
                  <a:srgbClr val="3F7F5F"/>
                </a:solidFill>
                <a:latin typeface="Courier New" panose="02070309020205020404" pitchFamily="49" charset="0"/>
              </a:rPr>
              <a:t>//</a:t>
            </a:r>
            <a:r>
              <a:rPr lang="es-AR" u="sng" dirty="0">
                <a:solidFill>
                  <a:srgbClr val="3F7F5F"/>
                </a:solidFill>
                <a:latin typeface="Courier New" panose="02070309020205020404" pitchFamily="49" charset="0"/>
              </a:rPr>
              <a:t>Constructor de </a:t>
            </a:r>
            <a:r>
              <a:rPr lang="en-US" u="sng" dirty="0">
                <a:solidFill>
                  <a:srgbClr val="3F7F5F"/>
                </a:solidFill>
                <a:latin typeface="Courier New" panose="02070309020205020404" pitchFamily="49" charset="0"/>
              </a:rPr>
              <a:t>UnoDosV1 </a:t>
            </a:r>
            <a:r>
              <a:rPr lang="es-AR" sz="1800" u="sng" dirty="0">
                <a:solidFill>
                  <a:srgbClr val="3F7F5F"/>
                </a:solidFill>
                <a:latin typeface="Courier New" panose="02070309020205020404" pitchFamily="49" charset="0"/>
              </a:rPr>
              <a:t>:</a:t>
            </a:r>
          </a:p>
          <a:p>
            <a:pPr algn="l"/>
            <a:r>
              <a:rPr lang="es-AR" sz="1800" b="1" dirty="0" err="1">
                <a:solidFill>
                  <a:srgbClr val="7F0055"/>
                </a:solidFill>
                <a:latin typeface="Courier New" panose="02070309020205020404" pitchFamily="49" charset="0"/>
              </a:rPr>
              <a:t>public</a:t>
            </a:r>
            <a:r>
              <a:rPr lang="es-AR" sz="1800" b="1" dirty="0">
                <a:solidFill>
                  <a:srgbClr val="000000"/>
                </a:solidFill>
                <a:latin typeface="Courier New" panose="02070309020205020404" pitchFamily="49" charset="0"/>
              </a:rPr>
              <a:t> Hilos1(</a:t>
            </a:r>
            <a:r>
              <a:rPr lang="es-AR" sz="1800" b="1" dirty="0" err="1">
                <a:solidFill>
                  <a:srgbClr val="7F0055"/>
                </a:solidFill>
                <a:latin typeface="Courier New" panose="02070309020205020404" pitchFamily="49" charset="0"/>
              </a:rPr>
              <a:t>int</a:t>
            </a:r>
            <a:r>
              <a:rPr lang="es-AR" sz="1800" b="1" dirty="0">
                <a:solidFill>
                  <a:srgbClr val="000000"/>
                </a:solidFill>
                <a:latin typeface="Courier New" panose="02070309020205020404" pitchFamily="49" charset="0"/>
              </a:rPr>
              <a:t> entero){</a:t>
            </a:r>
          </a:p>
          <a:p>
            <a:pPr algn="l"/>
            <a:r>
              <a:rPr lang="es-AR" sz="1800" dirty="0">
                <a:solidFill>
                  <a:srgbClr val="0000C0"/>
                </a:solidFill>
                <a:latin typeface="Courier New" panose="02070309020205020404" pitchFamily="49" charset="0"/>
              </a:rPr>
              <a:t>	s</a:t>
            </a:r>
            <a:r>
              <a:rPr lang="es-AR" sz="1800" dirty="0">
                <a:solidFill>
                  <a:srgbClr val="000000"/>
                </a:solidFill>
                <a:latin typeface="Courier New" panose="02070309020205020404" pitchFamily="49" charset="0"/>
              </a:rPr>
              <a:t> = entero;</a:t>
            </a:r>
          </a:p>
          <a:p>
            <a:pPr algn="l"/>
            <a:r>
              <a:rPr lang="es-AR" sz="1800" dirty="0">
                <a:solidFill>
                  <a:srgbClr val="000000"/>
                </a:solidFill>
                <a:latin typeface="Courier New" panose="02070309020205020404" pitchFamily="49" charset="0"/>
              </a:rPr>
              <a:t>}</a:t>
            </a:r>
          </a:p>
          <a:p>
            <a:pPr algn="l"/>
            <a:endParaRPr lang="es-AR" sz="1800" dirty="0">
              <a:solidFill>
                <a:srgbClr val="3F7F5F"/>
              </a:solidFill>
              <a:latin typeface="Courier New" panose="02070309020205020404" pitchFamily="49" charset="0"/>
            </a:endParaRPr>
          </a:p>
          <a:p>
            <a:pPr algn="l"/>
            <a:r>
              <a:rPr lang="es-AR" sz="1800" dirty="0">
                <a:solidFill>
                  <a:srgbClr val="3F7F5F"/>
                </a:solidFill>
                <a:latin typeface="Courier New" panose="02070309020205020404" pitchFamily="49" charset="0"/>
              </a:rPr>
              <a:t>//</a:t>
            </a:r>
            <a:r>
              <a:rPr lang="es-AR" sz="1800" u="sng" dirty="0">
                <a:solidFill>
                  <a:srgbClr val="3F7F5F"/>
                </a:solidFill>
                <a:latin typeface="Courier New" panose="02070309020205020404" pitchFamily="49" charset="0"/>
              </a:rPr>
              <a:t>Redefinición del método run():</a:t>
            </a:r>
          </a:p>
          <a:p>
            <a:pPr algn="l"/>
            <a:r>
              <a:rPr lang="es-AR" sz="1800" b="1" dirty="0" err="1">
                <a:solidFill>
                  <a:srgbClr val="7F0055"/>
                </a:solidFill>
                <a:latin typeface="Courier New" panose="02070309020205020404" pitchFamily="49" charset="0"/>
              </a:rPr>
              <a:t>public</a:t>
            </a:r>
            <a:r>
              <a:rPr lang="es-AR" sz="1800" b="1" dirty="0">
                <a:solidFill>
                  <a:srgbClr val="000000"/>
                </a:solidFill>
                <a:latin typeface="Courier New" panose="02070309020205020404" pitchFamily="49" charset="0"/>
              </a:rPr>
              <a:t> </a:t>
            </a:r>
            <a:r>
              <a:rPr lang="es-AR" sz="1800" b="1" dirty="0" err="1">
                <a:solidFill>
                  <a:srgbClr val="7F0055"/>
                </a:solidFill>
                <a:latin typeface="Courier New" panose="02070309020205020404" pitchFamily="49" charset="0"/>
              </a:rPr>
              <a:t>void</a:t>
            </a:r>
            <a:r>
              <a:rPr lang="es-AR" sz="1800" b="1" dirty="0">
                <a:solidFill>
                  <a:srgbClr val="000000"/>
                </a:solidFill>
                <a:latin typeface="Courier New" panose="02070309020205020404" pitchFamily="49" charset="0"/>
              </a:rPr>
              <a:t> run(){</a:t>
            </a:r>
          </a:p>
          <a:p>
            <a:pPr algn="l"/>
            <a:r>
              <a:rPr lang="nn-NO" sz="1800" b="1" dirty="0">
                <a:solidFill>
                  <a:srgbClr val="7F0055"/>
                </a:solidFill>
                <a:latin typeface="Courier New" panose="02070309020205020404" pitchFamily="49" charset="0"/>
              </a:rPr>
              <a:t>	for</a:t>
            </a:r>
            <a:r>
              <a:rPr lang="nn-NO" sz="1800" b="1" dirty="0">
                <a:solidFill>
                  <a:srgbClr val="000000"/>
                </a:solidFill>
                <a:latin typeface="Courier New" panose="02070309020205020404" pitchFamily="49" charset="0"/>
              </a:rPr>
              <a:t>(</a:t>
            </a:r>
            <a:r>
              <a:rPr lang="nn-NO" sz="1800" b="1" dirty="0">
                <a:solidFill>
                  <a:srgbClr val="7F0055"/>
                </a:solidFill>
                <a:latin typeface="Courier New" panose="02070309020205020404" pitchFamily="49" charset="0"/>
              </a:rPr>
              <a:t>int</a:t>
            </a:r>
            <a:r>
              <a:rPr lang="nn-NO" sz="1800" b="1" dirty="0">
                <a:solidFill>
                  <a:srgbClr val="000000"/>
                </a:solidFill>
                <a:latin typeface="Courier New" panose="02070309020205020404" pitchFamily="49" charset="0"/>
              </a:rPr>
              <a:t> i=0; i&lt;100; i++)</a:t>
            </a:r>
          </a:p>
          <a:p>
            <a:pPr algn="l"/>
            <a:r>
              <a:rPr lang="es-AR" sz="1800" dirty="0">
                <a:solidFill>
                  <a:srgbClr val="000000"/>
                </a:solidFill>
                <a:latin typeface="Courier New" panose="02070309020205020404" pitchFamily="49" charset="0"/>
              </a:rPr>
              <a:t>	</a:t>
            </a:r>
            <a:r>
              <a:rPr lang="es-AR" sz="1800" dirty="0" err="1">
                <a:solidFill>
                  <a:srgbClr val="000000"/>
                </a:solidFill>
                <a:latin typeface="Courier New" panose="02070309020205020404" pitchFamily="49" charset="0"/>
              </a:rPr>
              <a:t>System.</a:t>
            </a:r>
            <a:r>
              <a:rPr lang="es-AR" sz="1800" i="1" dirty="0" err="1">
                <a:solidFill>
                  <a:srgbClr val="0000C0"/>
                </a:solidFill>
                <a:latin typeface="Courier New" panose="02070309020205020404" pitchFamily="49" charset="0"/>
              </a:rPr>
              <a:t>out</a:t>
            </a:r>
            <a:r>
              <a:rPr lang="es-AR" sz="1800" i="1" dirty="0" err="1">
                <a:solidFill>
                  <a:srgbClr val="000000"/>
                </a:solidFill>
                <a:latin typeface="Courier New" panose="02070309020205020404" pitchFamily="49" charset="0"/>
              </a:rPr>
              <a:t>.print</a:t>
            </a:r>
            <a:r>
              <a:rPr lang="es-AR" sz="1800" i="1" dirty="0">
                <a:solidFill>
                  <a:srgbClr val="000000"/>
                </a:solidFill>
                <a:latin typeface="Courier New" panose="02070309020205020404" pitchFamily="49" charset="0"/>
              </a:rPr>
              <a:t>(</a:t>
            </a:r>
            <a:r>
              <a:rPr lang="es-AR" sz="1800" i="1" dirty="0">
                <a:solidFill>
                  <a:srgbClr val="0000C0"/>
                </a:solidFill>
                <a:latin typeface="Courier New" panose="02070309020205020404" pitchFamily="49" charset="0"/>
              </a:rPr>
              <a:t>s</a:t>
            </a:r>
            <a:r>
              <a:rPr lang="es-AR" sz="1800" i="1" dirty="0">
                <a:solidFill>
                  <a:srgbClr val="000000"/>
                </a:solidFill>
                <a:latin typeface="Courier New" panose="02070309020205020404" pitchFamily="49" charset="0"/>
              </a:rPr>
              <a:t>);</a:t>
            </a:r>
          </a:p>
          <a:p>
            <a:pPr algn="l"/>
            <a:r>
              <a:rPr lang="es-AR" sz="1800" dirty="0">
                <a:solidFill>
                  <a:srgbClr val="000000"/>
                </a:solidFill>
                <a:latin typeface="Courier New" panose="02070309020205020404" pitchFamily="49" charset="0"/>
              </a:rPr>
              <a:t>}</a:t>
            </a:r>
          </a:p>
        </p:txBody>
      </p:sp>
      <p:sp>
        <p:nvSpPr>
          <p:cNvPr id="13" name="Cuadro de texto 2">
            <a:extLst>
              <a:ext uri="{FF2B5EF4-FFF2-40B4-BE49-F238E27FC236}">
                <a16:creationId xmlns:a16="http://schemas.microsoft.com/office/drawing/2014/main" id="{AAE8F54E-1B3A-4600-AFCB-9226D0D550E2}"/>
              </a:ext>
            </a:extLst>
          </p:cNvPr>
          <p:cNvSpPr txBox="1">
            <a:spLocks noChangeArrowheads="1"/>
          </p:cNvSpPr>
          <p:nvPr/>
        </p:nvSpPr>
        <p:spPr bwMode="auto">
          <a:xfrm>
            <a:off x="2049260" y="0"/>
            <a:ext cx="8460035" cy="863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AR" altLang="es-AR" sz="4800" b="0" i="0" u="none" strike="noStrike" cap="none" normalizeH="0" baseline="0" dirty="0">
                <a:ln>
                  <a:noFill/>
                </a:ln>
                <a:solidFill>
                  <a:srgbClr val="FFFFFF"/>
                </a:solidFill>
                <a:effectLst/>
                <a:latin typeface="Calibri Light" panose="020F0302020204030204" pitchFamily="34" charset="0"/>
                <a:ea typeface="Calibri" panose="020F0502020204030204" pitchFamily="34" charset="0"/>
                <a:cs typeface="Calibri Light" panose="020F0302020204030204" pitchFamily="34" charset="0"/>
              </a:rPr>
              <a:t>PROGRAMACION CONCURRENTE</a:t>
            </a:r>
          </a:p>
        </p:txBody>
      </p:sp>
      <p:pic>
        <p:nvPicPr>
          <p:cNvPr id="12" name="Picture 5">
            <a:extLst>
              <a:ext uri="{FF2B5EF4-FFF2-40B4-BE49-F238E27FC236}">
                <a16:creationId xmlns:a16="http://schemas.microsoft.com/office/drawing/2014/main" id="{6B9287C5-A5BC-4517-9AB1-8F2E3194B7D9}"/>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72278" y="5808678"/>
            <a:ext cx="947333" cy="1049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5 CuadroTexto">
            <a:extLst>
              <a:ext uri="{FF2B5EF4-FFF2-40B4-BE49-F238E27FC236}">
                <a16:creationId xmlns:a16="http://schemas.microsoft.com/office/drawing/2014/main" id="{1770A717-51F1-439C-B573-F2564CE0CD40}"/>
              </a:ext>
            </a:extLst>
          </p:cNvPr>
          <p:cNvSpPr txBox="1"/>
          <p:nvPr/>
        </p:nvSpPr>
        <p:spPr>
          <a:xfrm>
            <a:off x="6506401" y="997921"/>
            <a:ext cx="5599241" cy="2308324"/>
          </a:xfrm>
          <a:prstGeom prst="rect">
            <a:avLst/>
          </a:prstGeom>
          <a:noFill/>
        </p:spPr>
        <p:txBody>
          <a:bodyPr wrap="square" rtlCol="0">
            <a:spAutoFit/>
          </a:bodyPr>
          <a:lstStyle/>
          <a:p>
            <a:pPr algn="l"/>
            <a:r>
              <a:rPr lang="es-AR" sz="1800" dirty="0">
                <a:solidFill>
                  <a:srgbClr val="3F7F5F"/>
                </a:solidFill>
                <a:latin typeface="Courier New" panose="02070309020205020404" pitchFamily="49" charset="0"/>
              </a:rPr>
              <a:t>//</a:t>
            </a:r>
            <a:r>
              <a:rPr lang="es-AR" sz="1800" u="sng" dirty="0">
                <a:solidFill>
                  <a:srgbClr val="3F7F5F"/>
                </a:solidFill>
                <a:latin typeface="Courier New" panose="02070309020205020404" pitchFamily="49" charset="0"/>
              </a:rPr>
              <a:t>Método principal:</a:t>
            </a:r>
          </a:p>
          <a:p>
            <a:pPr algn="l"/>
            <a:r>
              <a:rPr lang="en-US" sz="1800" b="1" dirty="0">
                <a:solidFill>
                  <a:srgbClr val="7F0055"/>
                </a:solidFill>
                <a:latin typeface="Courier New" panose="02070309020205020404" pitchFamily="49" charset="0"/>
              </a:rPr>
              <a:t>public</a:t>
            </a:r>
            <a:r>
              <a:rPr lang="en-US" sz="1800" b="1" dirty="0">
                <a:solidFill>
                  <a:srgbClr val="000000"/>
                </a:solidFill>
                <a:latin typeface="Courier New" panose="02070309020205020404" pitchFamily="49" charset="0"/>
              </a:rPr>
              <a:t> </a:t>
            </a:r>
            <a:r>
              <a:rPr lang="en-US" sz="1800" b="1" dirty="0">
                <a:solidFill>
                  <a:srgbClr val="7F0055"/>
                </a:solidFill>
                <a:latin typeface="Courier New" panose="02070309020205020404" pitchFamily="49" charset="0"/>
              </a:rPr>
              <a:t>static</a:t>
            </a:r>
            <a:r>
              <a:rPr lang="en-US" sz="1800" b="1" dirty="0">
                <a:solidFill>
                  <a:srgbClr val="000000"/>
                </a:solidFill>
                <a:latin typeface="Courier New" panose="02070309020205020404" pitchFamily="49" charset="0"/>
              </a:rPr>
              <a:t> </a:t>
            </a:r>
            <a:r>
              <a:rPr lang="en-US" sz="1800" b="1" dirty="0">
                <a:solidFill>
                  <a:srgbClr val="7F0055"/>
                </a:solidFill>
                <a:latin typeface="Courier New" panose="02070309020205020404" pitchFamily="49" charset="0"/>
              </a:rPr>
              <a:t>void</a:t>
            </a:r>
            <a:r>
              <a:rPr lang="en-US" sz="1800" b="1" dirty="0">
                <a:solidFill>
                  <a:srgbClr val="000000"/>
                </a:solidFill>
                <a:latin typeface="Courier New" panose="02070309020205020404" pitchFamily="49" charset="0"/>
              </a:rPr>
              <a:t> main(String </a:t>
            </a:r>
            <a:r>
              <a:rPr lang="en-US" sz="1800" b="1" dirty="0" err="1">
                <a:solidFill>
                  <a:srgbClr val="000000"/>
                </a:solidFill>
                <a:latin typeface="Courier New" panose="02070309020205020404" pitchFamily="49" charset="0"/>
              </a:rPr>
              <a:t>args</a:t>
            </a:r>
            <a:r>
              <a:rPr lang="en-US" sz="1800" b="1" dirty="0">
                <a:solidFill>
                  <a:srgbClr val="000000"/>
                </a:solidFill>
                <a:latin typeface="Courier New" panose="02070309020205020404" pitchFamily="49" charset="0"/>
              </a:rPr>
              <a:t>[]){</a:t>
            </a:r>
          </a:p>
          <a:p>
            <a:pPr algn="l"/>
            <a:r>
              <a:rPr lang="es-AR" sz="1800" dirty="0">
                <a:solidFill>
                  <a:srgbClr val="000000"/>
                </a:solidFill>
                <a:latin typeface="Courier New" panose="02070309020205020404" pitchFamily="49" charset="0"/>
              </a:rPr>
              <a:t>	</a:t>
            </a:r>
            <a:r>
              <a:rPr lang="en-US" sz="1800" b="1" dirty="0">
                <a:solidFill>
                  <a:srgbClr val="000000"/>
                </a:solidFill>
                <a:latin typeface="Courier New" panose="02070309020205020404" pitchFamily="49" charset="0"/>
              </a:rPr>
              <a:t>UnoDosV1</a:t>
            </a:r>
            <a:r>
              <a:rPr lang="es-AR" sz="1800" dirty="0">
                <a:solidFill>
                  <a:srgbClr val="000000"/>
                </a:solidFill>
                <a:latin typeface="Courier New" panose="02070309020205020404" pitchFamily="49" charset="0"/>
              </a:rPr>
              <a:t> a = </a:t>
            </a:r>
            <a:r>
              <a:rPr lang="es-AR" sz="1800" b="1" dirty="0">
                <a:solidFill>
                  <a:srgbClr val="7F0055"/>
                </a:solidFill>
                <a:latin typeface="Courier New" panose="02070309020205020404" pitchFamily="49" charset="0"/>
              </a:rPr>
              <a:t>new</a:t>
            </a:r>
            <a:r>
              <a:rPr lang="es-AR" sz="1800" b="1" dirty="0">
                <a:solidFill>
                  <a:srgbClr val="000000"/>
                </a:solidFill>
                <a:latin typeface="Courier New" panose="02070309020205020404" pitchFamily="49" charset="0"/>
              </a:rPr>
              <a:t> </a:t>
            </a:r>
            <a:r>
              <a:rPr lang="en-US" sz="1800" b="1" dirty="0">
                <a:solidFill>
                  <a:srgbClr val="000000"/>
                </a:solidFill>
                <a:latin typeface="Courier New" panose="02070309020205020404" pitchFamily="49" charset="0"/>
              </a:rPr>
              <a:t>UnoDosV1</a:t>
            </a:r>
            <a:r>
              <a:rPr lang="es-AR" sz="1800" b="1" dirty="0">
                <a:solidFill>
                  <a:srgbClr val="000000"/>
                </a:solidFill>
                <a:latin typeface="Courier New" panose="02070309020205020404" pitchFamily="49" charset="0"/>
              </a:rPr>
              <a:t>(1);</a:t>
            </a:r>
          </a:p>
          <a:p>
            <a:pPr algn="l"/>
            <a:r>
              <a:rPr lang="es-AR" sz="1800" dirty="0">
                <a:solidFill>
                  <a:srgbClr val="000000"/>
                </a:solidFill>
                <a:latin typeface="Courier New" panose="02070309020205020404" pitchFamily="49" charset="0"/>
              </a:rPr>
              <a:t>	</a:t>
            </a:r>
            <a:r>
              <a:rPr lang="en-US" sz="1800" b="1" dirty="0">
                <a:solidFill>
                  <a:srgbClr val="000000"/>
                </a:solidFill>
                <a:latin typeface="Courier New" panose="02070309020205020404" pitchFamily="49" charset="0"/>
              </a:rPr>
              <a:t>UnoDosV1</a:t>
            </a:r>
            <a:r>
              <a:rPr lang="es-AR" sz="1800" dirty="0">
                <a:solidFill>
                  <a:srgbClr val="000000"/>
                </a:solidFill>
                <a:latin typeface="Courier New" panose="02070309020205020404" pitchFamily="49" charset="0"/>
              </a:rPr>
              <a:t> b = </a:t>
            </a:r>
            <a:r>
              <a:rPr lang="es-AR" sz="1800" b="1" dirty="0">
                <a:solidFill>
                  <a:srgbClr val="7F0055"/>
                </a:solidFill>
                <a:latin typeface="Courier New" panose="02070309020205020404" pitchFamily="49" charset="0"/>
              </a:rPr>
              <a:t>new</a:t>
            </a:r>
            <a:r>
              <a:rPr lang="es-AR" sz="1800" b="1" dirty="0">
                <a:solidFill>
                  <a:srgbClr val="000000"/>
                </a:solidFill>
                <a:latin typeface="Courier New" panose="02070309020205020404" pitchFamily="49" charset="0"/>
              </a:rPr>
              <a:t> </a:t>
            </a:r>
            <a:r>
              <a:rPr lang="en-US" sz="1800" b="1" dirty="0">
                <a:solidFill>
                  <a:srgbClr val="000000"/>
                </a:solidFill>
                <a:latin typeface="Courier New" panose="02070309020205020404" pitchFamily="49" charset="0"/>
              </a:rPr>
              <a:t>UnoDosV1</a:t>
            </a:r>
            <a:r>
              <a:rPr lang="es-AR" sz="1800" b="1" dirty="0">
                <a:solidFill>
                  <a:srgbClr val="000000"/>
                </a:solidFill>
                <a:latin typeface="Courier New" panose="02070309020205020404" pitchFamily="49" charset="0"/>
              </a:rPr>
              <a:t>(2);</a:t>
            </a:r>
          </a:p>
          <a:p>
            <a:pPr algn="l"/>
            <a:r>
              <a:rPr lang="es-AR" sz="1800" dirty="0">
                <a:solidFill>
                  <a:srgbClr val="000000"/>
                </a:solidFill>
                <a:latin typeface="Courier New" panose="02070309020205020404" pitchFamily="49" charset="0"/>
              </a:rPr>
              <a:t>	</a:t>
            </a:r>
            <a:r>
              <a:rPr lang="es-AR" sz="1800" dirty="0" err="1">
                <a:solidFill>
                  <a:srgbClr val="000000"/>
                </a:solidFill>
                <a:latin typeface="Courier New" panose="02070309020205020404" pitchFamily="49" charset="0"/>
              </a:rPr>
              <a:t>a.start</a:t>
            </a:r>
            <a:r>
              <a:rPr lang="es-AR" sz="1800" dirty="0">
                <a:solidFill>
                  <a:srgbClr val="000000"/>
                </a:solidFill>
                <a:latin typeface="Courier New" panose="02070309020205020404" pitchFamily="49" charset="0"/>
              </a:rPr>
              <a:t>();</a:t>
            </a:r>
          </a:p>
          <a:p>
            <a:pPr algn="l"/>
            <a:r>
              <a:rPr lang="es-AR" sz="1800" dirty="0">
                <a:solidFill>
                  <a:srgbClr val="000000"/>
                </a:solidFill>
                <a:latin typeface="Courier New" panose="02070309020205020404" pitchFamily="49" charset="0"/>
              </a:rPr>
              <a:t>	</a:t>
            </a:r>
            <a:r>
              <a:rPr lang="es-AR" sz="1800" dirty="0" err="1">
                <a:solidFill>
                  <a:srgbClr val="000000"/>
                </a:solidFill>
                <a:latin typeface="Courier New" panose="02070309020205020404" pitchFamily="49" charset="0"/>
              </a:rPr>
              <a:t>b.start</a:t>
            </a:r>
            <a:r>
              <a:rPr lang="es-AR" sz="1800" dirty="0">
                <a:solidFill>
                  <a:srgbClr val="000000"/>
                </a:solidFill>
                <a:latin typeface="Courier New" panose="02070309020205020404" pitchFamily="49" charset="0"/>
              </a:rPr>
              <a:t>();</a:t>
            </a:r>
          </a:p>
          <a:p>
            <a:pPr algn="l"/>
            <a:r>
              <a:rPr lang="es-AR" sz="1800" dirty="0">
                <a:solidFill>
                  <a:srgbClr val="000000"/>
                </a:solidFill>
                <a:latin typeface="Courier New" panose="02070309020205020404" pitchFamily="49" charset="0"/>
              </a:rPr>
              <a:t>}</a:t>
            </a:r>
          </a:p>
          <a:p>
            <a:pPr algn="l"/>
            <a:r>
              <a:rPr lang="es-AR" sz="1800" dirty="0">
                <a:solidFill>
                  <a:srgbClr val="000000"/>
                </a:solidFill>
                <a:latin typeface="Courier New" panose="02070309020205020404" pitchFamily="49" charset="0"/>
              </a:rPr>
              <a:t>}</a:t>
            </a:r>
          </a:p>
        </p:txBody>
      </p:sp>
      <p:cxnSp>
        <p:nvCxnSpPr>
          <p:cNvPr id="5" name="Conector recto 4">
            <a:extLst>
              <a:ext uri="{FF2B5EF4-FFF2-40B4-BE49-F238E27FC236}">
                <a16:creationId xmlns:a16="http://schemas.microsoft.com/office/drawing/2014/main" id="{E5CFEE83-CDB5-4E12-8E9E-F2A6BE8488D7}"/>
              </a:ext>
            </a:extLst>
          </p:cNvPr>
          <p:cNvCxnSpPr/>
          <p:nvPr/>
        </p:nvCxnSpPr>
        <p:spPr>
          <a:xfrm>
            <a:off x="6255026" y="1113183"/>
            <a:ext cx="0" cy="4823791"/>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0597599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5" name="Imagen 31">
            <a:extLst>
              <a:ext uri="{FF2B5EF4-FFF2-40B4-BE49-F238E27FC236}">
                <a16:creationId xmlns:a16="http://schemas.microsoft.com/office/drawing/2014/main" id="{452E838D-7BB9-4864-AE07-88664BFD686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1048" y="6422"/>
            <a:ext cx="11410951" cy="907978"/>
          </a:xfrm>
          <a:prstGeom prst="rect">
            <a:avLst/>
          </a:prstGeom>
          <a:noFill/>
          <a:extLst>
            <a:ext uri="{909E8E84-426E-40DD-AFC4-6F175D3DCCD1}">
              <a14:hiddenFill xmlns:a14="http://schemas.microsoft.com/office/drawing/2010/main">
                <a:solidFill>
                  <a:srgbClr val="FFFFFF"/>
                </a:solidFill>
              </a14:hiddenFill>
            </a:ext>
          </a:extLst>
        </p:spPr>
      </p:pic>
      <p:pic>
        <p:nvPicPr>
          <p:cNvPr id="2056" name="Imagen 30">
            <a:extLst>
              <a:ext uri="{FF2B5EF4-FFF2-40B4-BE49-F238E27FC236}">
                <a16:creationId xmlns:a16="http://schemas.microsoft.com/office/drawing/2014/main" id="{8E90C719-CF33-4486-9AEB-EA64319F5A0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98" y="1725"/>
            <a:ext cx="1076624" cy="1623753"/>
          </a:xfrm>
          <a:prstGeom prst="rect">
            <a:avLst/>
          </a:prstGeom>
          <a:noFill/>
          <a:extLst>
            <a:ext uri="{909E8E84-426E-40DD-AFC4-6F175D3DCCD1}">
              <a14:hiddenFill xmlns:a14="http://schemas.microsoft.com/office/drawing/2010/main">
                <a:solidFill>
                  <a:srgbClr val="FFFFFF"/>
                </a:solidFill>
              </a14:hiddenFill>
            </a:ext>
          </a:extLst>
        </p:spPr>
      </p:pic>
      <p:sp>
        <p:nvSpPr>
          <p:cNvPr id="2" name="1 Rectángulo"/>
          <p:cNvSpPr/>
          <p:nvPr/>
        </p:nvSpPr>
        <p:spPr>
          <a:xfrm>
            <a:off x="-3198" y="6377614"/>
            <a:ext cx="12195197" cy="221966"/>
          </a:xfrm>
          <a:prstGeom prst="rect">
            <a:avLst/>
          </a:prstGeom>
          <a:solidFill>
            <a:srgbClr val="6800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3" name="2 CuadroTexto"/>
          <p:cNvSpPr txBox="1"/>
          <p:nvPr/>
        </p:nvSpPr>
        <p:spPr>
          <a:xfrm>
            <a:off x="10177664" y="6315046"/>
            <a:ext cx="2080591" cy="338554"/>
          </a:xfrm>
          <a:prstGeom prst="rect">
            <a:avLst/>
          </a:prstGeom>
          <a:noFill/>
        </p:spPr>
        <p:txBody>
          <a:bodyPr wrap="square" rtlCol="0">
            <a:spAutoFit/>
          </a:bodyPr>
          <a:lstStyle/>
          <a:p>
            <a:r>
              <a:rPr lang="es-ES" sz="1600" b="1" dirty="0">
                <a:solidFill>
                  <a:srgbClr val="FFFFFF"/>
                </a:solidFill>
                <a:latin typeface="Calibri Light" panose="020F0302020204030204" pitchFamily="34" charset="0"/>
                <a:ea typeface="Calibri" panose="020F0502020204030204" pitchFamily="34" charset="0"/>
                <a:cs typeface="Calibri Light" panose="020F0302020204030204" pitchFamily="34" charset="0"/>
              </a:rPr>
              <a:t>Modalidad Virtual</a:t>
            </a:r>
          </a:p>
        </p:txBody>
      </p:sp>
      <p:sp>
        <p:nvSpPr>
          <p:cNvPr id="11" name="1 Título">
            <a:extLst>
              <a:ext uri="{FF2B5EF4-FFF2-40B4-BE49-F238E27FC236}">
                <a16:creationId xmlns:a16="http://schemas.microsoft.com/office/drawing/2014/main" id="{580E64F2-5285-450B-9979-ADA4942F6DF8}"/>
              </a:ext>
            </a:extLst>
          </p:cNvPr>
          <p:cNvSpPr txBox="1">
            <a:spLocks/>
          </p:cNvSpPr>
          <p:nvPr/>
        </p:nvSpPr>
        <p:spPr>
          <a:xfrm>
            <a:off x="781048" y="95209"/>
            <a:ext cx="10515600" cy="819191"/>
          </a:xfrm>
          <a:prstGeom prst="rect">
            <a:avLst/>
          </a:prstGeom>
        </p:spPr>
        <p:txBody>
          <a:bodyPr rtlCol="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defRPr/>
            </a:pPr>
            <a:endParaRPr lang="es-AR" b="1" dirty="0">
              <a:solidFill>
                <a:schemeClr val="bg1">
                  <a:lumMod val="95000"/>
                </a:schemeClr>
              </a:solidFill>
              <a:effectLst>
                <a:outerShdw blurRad="38100" dist="38100" dir="2700000" algn="tl">
                  <a:srgbClr val="000000">
                    <a:alpha val="43137"/>
                  </a:srgbClr>
                </a:outerShdw>
              </a:effectLst>
            </a:endParaRPr>
          </a:p>
        </p:txBody>
      </p:sp>
      <p:sp>
        <p:nvSpPr>
          <p:cNvPr id="6" name="5 CuadroTexto"/>
          <p:cNvSpPr txBox="1"/>
          <p:nvPr/>
        </p:nvSpPr>
        <p:spPr>
          <a:xfrm>
            <a:off x="1119611" y="997921"/>
            <a:ext cx="10681252" cy="4555093"/>
          </a:xfrm>
          <a:prstGeom prst="rect">
            <a:avLst/>
          </a:prstGeom>
          <a:noFill/>
        </p:spPr>
        <p:txBody>
          <a:bodyPr wrap="square" rtlCol="0">
            <a:spAutoFit/>
          </a:bodyPr>
          <a:lstStyle/>
          <a:p>
            <a:pPr algn="just"/>
            <a:r>
              <a:rPr lang="es-AR" sz="2000" b="1" u="sng" cap="all" dirty="0"/>
              <a:t>implementación DE LA INTERFAZ RUNNABLE:</a:t>
            </a:r>
          </a:p>
          <a:p>
            <a:pPr algn="just"/>
            <a:endParaRPr lang="es-AR" cap="all" dirty="0"/>
          </a:p>
          <a:p>
            <a:pPr algn="just"/>
            <a:r>
              <a:rPr lang="es-AR" cap="all" dirty="0"/>
              <a:t>LA INTERFAZ RUNNABLE SOLO TIENE EL MÉTODO RUN.</a:t>
            </a:r>
          </a:p>
          <a:p>
            <a:pPr algn="just"/>
            <a:endParaRPr lang="es-AR" cap="all" dirty="0"/>
          </a:p>
          <a:p>
            <a:pPr algn="just"/>
            <a:r>
              <a:rPr lang="es-AR" cap="all" dirty="0"/>
              <a:t>PARA EL EJEMPLO DADO CON LA CLASE QUE HEREDA DE THREAD, DEBEMOS REDEFINIR EL MÉTODO RUN, PERO NO HAY UN MÉTODO START() PARA INICIAR SU EJECUCIÓN.</a:t>
            </a:r>
          </a:p>
          <a:p>
            <a:pPr algn="just"/>
            <a:endParaRPr lang="es-AR" cap="all" dirty="0"/>
          </a:p>
          <a:p>
            <a:pPr algn="just"/>
            <a:r>
              <a:rPr lang="es-AR" cap="all" dirty="0"/>
              <a:t>SE DEBE CREAR UN OBJETO DE LA CLASE THREAD Y PASARLE COMO PARÁMETRO EL OBJETO QUE IMPLEMENTA  LA INTERFAZ RUNNABLE PARA QUE EL HILO COMIENCE SU EJECUCIÓN.</a:t>
            </a:r>
          </a:p>
          <a:p>
            <a:pPr algn="just"/>
            <a:endParaRPr lang="es-AR" cap="all" dirty="0"/>
          </a:p>
          <a:p>
            <a:pPr algn="just"/>
            <a:r>
              <a:rPr lang="es-AR" cap="all" dirty="0"/>
              <a:t>IMPLEMENTAREMOS EL MISMO EJEMPLO (LO HICIMOS PARA PASCAL-FC Y CLASE HILOS1 QUE HEREDA DE THREAD) QUE IMPRIME 1 O 2.</a:t>
            </a:r>
          </a:p>
          <a:p>
            <a:pPr algn="just"/>
            <a:endParaRPr lang="es-AR" cap="all" dirty="0"/>
          </a:p>
          <a:p>
            <a:pPr algn="just"/>
            <a:r>
              <a:rPr lang="es-AR" cap="all" dirty="0"/>
              <a:t>LA VENTAJA DE USAR INTERFAZ Y NO HEREDAR, ES QUE JAVA TIENE UNA ESTUCTURA DE HERENCIA SIMPLE (NO ADMITE HERENCIA MÚLTIPLE). POR TANTO, SI HACEMOS HEREDAR DE LA CLASE THREAD, ENTONCES LA CLASE NO PODRÁ HEREDAR DE OTRAS CLASES.</a:t>
            </a:r>
          </a:p>
        </p:txBody>
      </p:sp>
      <p:sp>
        <p:nvSpPr>
          <p:cNvPr id="13" name="Cuadro de texto 2">
            <a:extLst>
              <a:ext uri="{FF2B5EF4-FFF2-40B4-BE49-F238E27FC236}">
                <a16:creationId xmlns:a16="http://schemas.microsoft.com/office/drawing/2014/main" id="{AAE8F54E-1B3A-4600-AFCB-9226D0D550E2}"/>
              </a:ext>
            </a:extLst>
          </p:cNvPr>
          <p:cNvSpPr txBox="1">
            <a:spLocks noChangeArrowheads="1"/>
          </p:cNvSpPr>
          <p:nvPr/>
        </p:nvSpPr>
        <p:spPr bwMode="auto">
          <a:xfrm>
            <a:off x="2049260" y="0"/>
            <a:ext cx="8460035" cy="863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AR" altLang="es-AR" sz="4800" b="0" i="0" u="none" strike="noStrike" cap="none" normalizeH="0" baseline="0" dirty="0">
                <a:ln>
                  <a:noFill/>
                </a:ln>
                <a:solidFill>
                  <a:srgbClr val="FFFFFF"/>
                </a:solidFill>
                <a:effectLst/>
                <a:latin typeface="Calibri Light" panose="020F0302020204030204" pitchFamily="34" charset="0"/>
                <a:ea typeface="Calibri" panose="020F0502020204030204" pitchFamily="34" charset="0"/>
                <a:cs typeface="Calibri Light" panose="020F0302020204030204" pitchFamily="34" charset="0"/>
              </a:rPr>
              <a:t>PROGRAMACION CONCURRENTE</a:t>
            </a:r>
          </a:p>
        </p:txBody>
      </p:sp>
      <p:pic>
        <p:nvPicPr>
          <p:cNvPr id="12" name="Picture 5">
            <a:extLst>
              <a:ext uri="{FF2B5EF4-FFF2-40B4-BE49-F238E27FC236}">
                <a16:creationId xmlns:a16="http://schemas.microsoft.com/office/drawing/2014/main" id="{6B9287C5-A5BC-4517-9AB1-8F2E3194B7D9}"/>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72278" y="5808678"/>
            <a:ext cx="947333" cy="1049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631845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5" name="Imagen 31">
            <a:extLst>
              <a:ext uri="{FF2B5EF4-FFF2-40B4-BE49-F238E27FC236}">
                <a16:creationId xmlns:a16="http://schemas.microsoft.com/office/drawing/2014/main" id="{452E838D-7BB9-4864-AE07-88664BFD686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1048" y="6422"/>
            <a:ext cx="11410951" cy="907978"/>
          </a:xfrm>
          <a:prstGeom prst="rect">
            <a:avLst/>
          </a:prstGeom>
          <a:noFill/>
          <a:extLst>
            <a:ext uri="{909E8E84-426E-40DD-AFC4-6F175D3DCCD1}">
              <a14:hiddenFill xmlns:a14="http://schemas.microsoft.com/office/drawing/2010/main">
                <a:solidFill>
                  <a:srgbClr val="FFFFFF"/>
                </a:solidFill>
              </a14:hiddenFill>
            </a:ext>
          </a:extLst>
        </p:spPr>
      </p:pic>
      <p:pic>
        <p:nvPicPr>
          <p:cNvPr id="2056" name="Imagen 30">
            <a:extLst>
              <a:ext uri="{FF2B5EF4-FFF2-40B4-BE49-F238E27FC236}">
                <a16:creationId xmlns:a16="http://schemas.microsoft.com/office/drawing/2014/main" id="{8E90C719-CF33-4486-9AEB-EA64319F5A0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98" y="1725"/>
            <a:ext cx="1076624" cy="1623753"/>
          </a:xfrm>
          <a:prstGeom prst="rect">
            <a:avLst/>
          </a:prstGeom>
          <a:noFill/>
          <a:extLst>
            <a:ext uri="{909E8E84-426E-40DD-AFC4-6F175D3DCCD1}">
              <a14:hiddenFill xmlns:a14="http://schemas.microsoft.com/office/drawing/2010/main">
                <a:solidFill>
                  <a:srgbClr val="FFFFFF"/>
                </a:solidFill>
              </a14:hiddenFill>
            </a:ext>
          </a:extLst>
        </p:spPr>
      </p:pic>
      <p:sp>
        <p:nvSpPr>
          <p:cNvPr id="2" name="1 Rectángulo"/>
          <p:cNvSpPr/>
          <p:nvPr/>
        </p:nvSpPr>
        <p:spPr>
          <a:xfrm>
            <a:off x="-3198" y="6377614"/>
            <a:ext cx="12195197" cy="221966"/>
          </a:xfrm>
          <a:prstGeom prst="rect">
            <a:avLst/>
          </a:prstGeom>
          <a:solidFill>
            <a:srgbClr val="6800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3" name="2 CuadroTexto"/>
          <p:cNvSpPr txBox="1"/>
          <p:nvPr/>
        </p:nvSpPr>
        <p:spPr>
          <a:xfrm>
            <a:off x="10177664" y="6315046"/>
            <a:ext cx="2080591" cy="338554"/>
          </a:xfrm>
          <a:prstGeom prst="rect">
            <a:avLst/>
          </a:prstGeom>
          <a:noFill/>
        </p:spPr>
        <p:txBody>
          <a:bodyPr wrap="square" rtlCol="0">
            <a:spAutoFit/>
          </a:bodyPr>
          <a:lstStyle/>
          <a:p>
            <a:r>
              <a:rPr lang="es-ES" sz="1600" b="1" dirty="0">
                <a:solidFill>
                  <a:srgbClr val="FFFFFF"/>
                </a:solidFill>
                <a:latin typeface="Calibri Light" panose="020F0302020204030204" pitchFamily="34" charset="0"/>
                <a:ea typeface="Calibri" panose="020F0502020204030204" pitchFamily="34" charset="0"/>
                <a:cs typeface="Calibri Light" panose="020F0302020204030204" pitchFamily="34" charset="0"/>
              </a:rPr>
              <a:t>Modalidad Virtual</a:t>
            </a:r>
          </a:p>
        </p:txBody>
      </p:sp>
      <p:sp>
        <p:nvSpPr>
          <p:cNvPr id="11" name="1 Título">
            <a:extLst>
              <a:ext uri="{FF2B5EF4-FFF2-40B4-BE49-F238E27FC236}">
                <a16:creationId xmlns:a16="http://schemas.microsoft.com/office/drawing/2014/main" id="{580E64F2-5285-450B-9979-ADA4942F6DF8}"/>
              </a:ext>
            </a:extLst>
          </p:cNvPr>
          <p:cNvSpPr txBox="1">
            <a:spLocks/>
          </p:cNvSpPr>
          <p:nvPr/>
        </p:nvSpPr>
        <p:spPr>
          <a:xfrm>
            <a:off x="781048" y="95209"/>
            <a:ext cx="10515600" cy="819191"/>
          </a:xfrm>
          <a:prstGeom prst="rect">
            <a:avLst/>
          </a:prstGeom>
        </p:spPr>
        <p:txBody>
          <a:bodyPr rtlCol="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defRPr/>
            </a:pPr>
            <a:endParaRPr lang="es-AR" b="1" dirty="0">
              <a:solidFill>
                <a:schemeClr val="bg1">
                  <a:lumMod val="95000"/>
                </a:schemeClr>
              </a:solidFill>
              <a:effectLst>
                <a:outerShdw blurRad="38100" dist="38100" dir="2700000" algn="tl">
                  <a:srgbClr val="000000">
                    <a:alpha val="43137"/>
                  </a:srgbClr>
                </a:outerShdw>
              </a:effectLst>
            </a:endParaRPr>
          </a:p>
        </p:txBody>
      </p:sp>
      <p:sp>
        <p:nvSpPr>
          <p:cNvPr id="6" name="5 CuadroTexto"/>
          <p:cNvSpPr txBox="1"/>
          <p:nvPr/>
        </p:nvSpPr>
        <p:spPr>
          <a:xfrm>
            <a:off x="1063073" y="870309"/>
            <a:ext cx="5337728" cy="4555093"/>
          </a:xfrm>
          <a:prstGeom prst="rect">
            <a:avLst/>
          </a:prstGeom>
          <a:noFill/>
        </p:spPr>
        <p:txBody>
          <a:bodyPr wrap="square" rtlCol="0">
            <a:spAutoFit/>
          </a:bodyPr>
          <a:lstStyle/>
          <a:p>
            <a:pPr algn="just"/>
            <a:r>
              <a:rPr lang="es-AR" b="1" u="sng" cap="all" dirty="0"/>
              <a:t>IMPLEMENTACIÓN CON INTERFAZ RUNNABLE:</a:t>
            </a:r>
          </a:p>
          <a:p>
            <a:pPr algn="just"/>
            <a:endParaRPr lang="es-AR" sz="1600" cap="all" dirty="0"/>
          </a:p>
          <a:p>
            <a:pPr algn="l"/>
            <a:r>
              <a:rPr lang="en-US" sz="1600" b="1" dirty="0">
                <a:solidFill>
                  <a:srgbClr val="7F0055"/>
                </a:solidFill>
                <a:latin typeface="Courier New" panose="02070309020205020404" pitchFamily="49" charset="0"/>
              </a:rPr>
              <a:t>public</a:t>
            </a:r>
            <a:r>
              <a:rPr lang="en-US" sz="1600" b="1" dirty="0">
                <a:solidFill>
                  <a:srgbClr val="000000"/>
                </a:solidFill>
                <a:latin typeface="Courier New" panose="02070309020205020404" pitchFamily="49" charset="0"/>
              </a:rPr>
              <a:t> </a:t>
            </a:r>
            <a:r>
              <a:rPr lang="en-US" sz="1600" b="1" dirty="0">
                <a:solidFill>
                  <a:srgbClr val="7F0055"/>
                </a:solidFill>
                <a:latin typeface="Courier New" panose="02070309020205020404" pitchFamily="49" charset="0"/>
              </a:rPr>
              <a:t>class</a:t>
            </a:r>
            <a:r>
              <a:rPr lang="en-US" sz="1600" b="1" dirty="0">
                <a:solidFill>
                  <a:srgbClr val="000000"/>
                </a:solidFill>
                <a:latin typeface="Courier New" panose="02070309020205020404" pitchFamily="49" charset="0"/>
              </a:rPr>
              <a:t> UnoDosV2 </a:t>
            </a:r>
            <a:r>
              <a:rPr lang="en-US" sz="1600" b="1" dirty="0">
                <a:solidFill>
                  <a:srgbClr val="7F0055"/>
                </a:solidFill>
                <a:latin typeface="Courier New" panose="02070309020205020404" pitchFamily="49" charset="0"/>
              </a:rPr>
              <a:t>implements</a:t>
            </a:r>
            <a:r>
              <a:rPr lang="en-US" sz="1600" b="1" dirty="0">
                <a:solidFill>
                  <a:srgbClr val="000000"/>
                </a:solidFill>
                <a:latin typeface="Courier New" panose="02070309020205020404" pitchFamily="49" charset="0"/>
              </a:rPr>
              <a:t> Runnable{</a:t>
            </a:r>
          </a:p>
          <a:p>
            <a:pPr algn="l"/>
            <a:endParaRPr lang="es-AR" sz="1600" dirty="0">
              <a:latin typeface="Courier New" panose="02070309020205020404" pitchFamily="49" charset="0"/>
            </a:endParaRPr>
          </a:p>
          <a:p>
            <a:pPr algn="l"/>
            <a:r>
              <a:rPr lang="es-AR" sz="1600" dirty="0">
                <a:solidFill>
                  <a:srgbClr val="3F7F5F"/>
                </a:solidFill>
                <a:latin typeface="Courier New" panose="02070309020205020404" pitchFamily="49" charset="0"/>
              </a:rPr>
              <a:t>//</a:t>
            </a:r>
            <a:r>
              <a:rPr lang="es-AR" sz="1600" u="sng" dirty="0">
                <a:solidFill>
                  <a:srgbClr val="3F7F5F"/>
                </a:solidFill>
                <a:latin typeface="Courier New" panose="02070309020205020404" pitchFamily="49" charset="0"/>
              </a:rPr>
              <a:t>Atributos:</a:t>
            </a:r>
          </a:p>
          <a:p>
            <a:pPr algn="l"/>
            <a:r>
              <a:rPr lang="es-AR" sz="1600" b="1" dirty="0" err="1">
                <a:solidFill>
                  <a:srgbClr val="7F0055"/>
                </a:solidFill>
                <a:latin typeface="Courier New" panose="02070309020205020404" pitchFamily="49" charset="0"/>
              </a:rPr>
              <a:t>int</a:t>
            </a:r>
            <a:r>
              <a:rPr lang="es-AR" sz="1600" b="1" dirty="0">
                <a:solidFill>
                  <a:srgbClr val="000000"/>
                </a:solidFill>
                <a:latin typeface="Courier New" panose="02070309020205020404" pitchFamily="49" charset="0"/>
              </a:rPr>
              <a:t> </a:t>
            </a:r>
            <a:r>
              <a:rPr lang="es-AR" sz="1600" b="1" dirty="0">
                <a:solidFill>
                  <a:srgbClr val="0000C0"/>
                </a:solidFill>
                <a:latin typeface="Courier New" panose="02070309020205020404" pitchFamily="49" charset="0"/>
              </a:rPr>
              <a:t>s</a:t>
            </a:r>
            <a:r>
              <a:rPr lang="es-AR" sz="1600" b="1" dirty="0">
                <a:solidFill>
                  <a:srgbClr val="000000"/>
                </a:solidFill>
                <a:latin typeface="Courier New" panose="02070309020205020404" pitchFamily="49" charset="0"/>
              </a:rPr>
              <a:t>;</a:t>
            </a:r>
          </a:p>
          <a:p>
            <a:pPr algn="l"/>
            <a:endParaRPr lang="es-AR" sz="1600" dirty="0">
              <a:latin typeface="Courier New" panose="02070309020205020404" pitchFamily="49" charset="0"/>
            </a:endParaRPr>
          </a:p>
          <a:p>
            <a:pPr algn="l"/>
            <a:r>
              <a:rPr lang="es-AR" sz="1600" dirty="0">
                <a:solidFill>
                  <a:srgbClr val="3F7F5F"/>
                </a:solidFill>
                <a:latin typeface="Courier New" panose="02070309020205020404" pitchFamily="49" charset="0"/>
              </a:rPr>
              <a:t>//Constructor:</a:t>
            </a:r>
          </a:p>
          <a:p>
            <a:pPr algn="l"/>
            <a:r>
              <a:rPr lang="es-AR" sz="1600" b="1" dirty="0" err="1">
                <a:solidFill>
                  <a:srgbClr val="7F0055"/>
                </a:solidFill>
                <a:latin typeface="Courier New" panose="02070309020205020404" pitchFamily="49" charset="0"/>
              </a:rPr>
              <a:t>public</a:t>
            </a:r>
            <a:r>
              <a:rPr lang="es-AR" sz="1600" b="1" dirty="0">
                <a:solidFill>
                  <a:srgbClr val="000000"/>
                </a:solidFill>
                <a:latin typeface="Courier New" panose="02070309020205020404" pitchFamily="49" charset="0"/>
              </a:rPr>
              <a:t> </a:t>
            </a:r>
            <a:r>
              <a:rPr lang="en-US" sz="1600" b="1" dirty="0">
                <a:solidFill>
                  <a:srgbClr val="000000"/>
                </a:solidFill>
                <a:latin typeface="Courier New" panose="02070309020205020404" pitchFamily="49" charset="0"/>
              </a:rPr>
              <a:t>UnoDosV2</a:t>
            </a:r>
            <a:r>
              <a:rPr lang="es-AR" sz="1600" b="1" dirty="0">
                <a:solidFill>
                  <a:srgbClr val="000000"/>
                </a:solidFill>
                <a:latin typeface="Courier New" panose="02070309020205020404" pitchFamily="49" charset="0"/>
              </a:rPr>
              <a:t>(</a:t>
            </a:r>
            <a:r>
              <a:rPr lang="es-AR" sz="1600" b="1" dirty="0" err="1">
                <a:solidFill>
                  <a:srgbClr val="7F0055"/>
                </a:solidFill>
                <a:latin typeface="Courier New" panose="02070309020205020404" pitchFamily="49" charset="0"/>
              </a:rPr>
              <a:t>int</a:t>
            </a:r>
            <a:r>
              <a:rPr lang="es-AR" sz="1600" b="1" dirty="0">
                <a:solidFill>
                  <a:srgbClr val="000000"/>
                </a:solidFill>
                <a:latin typeface="Courier New" panose="02070309020205020404" pitchFamily="49" charset="0"/>
              </a:rPr>
              <a:t> entero){</a:t>
            </a:r>
          </a:p>
          <a:p>
            <a:pPr algn="l"/>
            <a:r>
              <a:rPr lang="es-AR" sz="1600" dirty="0">
                <a:solidFill>
                  <a:srgbClr val="0000C0"/>
                </a:solidFill>
                <a:latin typeface="Courier New" panose="02070309020205020404" pitchFamily="49" charset="0"/>
              </a:rPr>
              <a:t>	s</a:t>
            </a:r>
            <a:r>
              <a:rPr lang="es-AR" sz="1600" dirty="0">
                <a:solidFill>
                  <a:srgbClr val="000000"/>
                </a:solidFill>
                <a:latin typeface="Courier New" panose="02070309020205020404" pitchFamily="49" charset="0"/>
              </a:rPr>
              <a:t> = entero;</a:t>
            </a:r>
          </a:p>
          <a:p>
            <a:pPr algn="l"/>
            <a:r>
              <a:rPr lang="es-AR" sz="1600" b="1" dirty="0">
                <a:solidFill>
                  <a:srgbClr val="000000"/>
                </a:solidFill>
                <a:latin typeface="Courier New" panose="02070309020205020404" pitchFamily="49" charset="0"/>
              </a:rPr>
              <a:t>}</a:t>
            </a:r>
          </a:p>
          <a:p>
            <a:pPr algn="l"/>
            <a:endParaRPr lang="es-AR" sz="1600" dirty="0">
              <a:latin typeface="Courier New" panose="02070309020205020404" pitchFamily="49" charset="0"/>
            </a:endParaRPr>
          </a:p>
          <a:p>
            <a:pPr algn="l"/>
            <a:r>
              <a:rPr lang="es-AR" sz="1600" dirty="0">
                <a:solidFill>
                  <a:srgbClr val="3F7F5F"/>
                </a:solidFill>
                <a:latin typeface="Courier New" panose="02070309020205020404" pitchFamily="49" charset="0"/>
              </a:rPr>
              <a:t>//</a:t>
            </a:r>
            <a:r>
              <a:rPr lang="es-AR" sz="1600" u="sng" dirty="0">
                <a:solidFill>
                  <a:srgbClr val="3F7F5F"/>
                </a:solidFill>
                <a:latin typeface="Courier New" panose="02070309020205020404" pitchFamily="49" charset="0"/>
              </a:rPr>
              <a:t>Redefinición del método run():</a:t>
            </a:r>
          </a:p>
          <a:p>
            <a:pPr algn="l"/>
            <a:r>
              <a:rPr lang="es-AR" sz="1600" b="1" dirty="0" err="1">
                <a:solidFill>
                  <a:srgbClr val="7F0055"/>
                </a:solidFill>
                <a:latin typeface="Courier New" panose="02070309020205020404" pitchFamily="49" charset="0"/>
              </a:rPr>
              <a:t>public</a:t>
            </a:r>
            <a:r>
              <a:rPr lang="es-AR" sz="1600" b="1" dirty="0">
                <a:solidFill>
                  <a:srgbClr val="000000"/>
                </a:solidFill>
                <a:latin typeface="Courier New" panose="02070309020205020404" pitchFamily="49" charset="0"/>
              </a:rPr>
              <a:t> </a:t>
            </a:r>
            <a:r>
              <a:rPr lang="es-AR" sz="1600" b="1" dirty="0" err="1">
                <a:solidFill>
                  <a:srgbClr val="7F0055"/>
                </a:solidFill>
                <a:latin typeface="Courier New" panose="02070309020205020404" pitchFamily="49" charset="0"/>
              </a:rPr>
              <a:t>void</a:t>
            </a:r>
            <a:r>
              <a:rPr lang="es-AR" sz="1600" b="1" dirty="0">
                <a:solidFill>
                  <a:srgbClr val="000000"/>
                </a:solidFill>
                <a:latin typeface="Courier New" panose="02070309020205020404" pitchFamily="49" charset="0"/>
              </a:rPr>
              <a:t> run(){</a:t>
            </a:r>
          </a:p>
          <a:p>
            <a:pPr algn="l"/>
            <a:r>
              <a:rPr lang="nn-NO" sz="1600" b="1" dirty="0">
                <a:solidFill>
                  <a:srgbClr val="7F0055"/>
                </a:solidFill>
                <a:latin typeface="Courier New" panose="02070309020205020404" pitchFamily="49" charset="0"/>
              </a:rPr>
              <a:t>	for</a:t>
            </a:r>
            <a:r>
              <a:rPr lang="nn-NO" sz="1600" b="1" dirty="0">
                <a:solidFill>
                  <a:srgbClr val="000000"/>
                </a:solidFill>
                <a:latin typeface="Courier New" panose="02070309020205020404" pitchFamily="49" charset="0"/>
              </a:rPr>
              <a:t>(</a:t>
            </a:r>
            <a:r>
              <a:rPr lang="nn-NO" sz="1600" b="1" dirty="0">
                <a:solidFill>
                  <a:srgbClr val="7F0055"/>
                </a:solidFill>
                <a:latin typeface="Courier New" panose="02070309020205020404" pitchFamily="49" charset="0"/>
              </a:rPr>
              <a:t>int</a:t>
            </a:r>
            <a:r>
              <a:rPr lang="nn-NO" sz="1600" b="1" dirty="0">
                <a:solidFill>
                  <a:srgbClr val="000000"/>
                </a:solidFill>
                <a:latin typeface="Courier New" panose="02070309020205020404" pitchFamily="49" charset="0"/>
              </a:rPr>
              <a:t> i=0; i&lt;100; i++)</a:t>
            </a:r>
          </a:p>
          <a:p>
            <a:pPr algn="l"/>
            <a:r>
              <a:rPr lang="es-AR" sz="1600" dirty="0">
                <a:solidFill>
                  <a:srgbClr val="000000"/>
                </a:solidFill>
                <a:latin typeface="Courier New" panose="02070309020205020404" pitchFamily="49" charset="0"/>
              </a:rPr>
              <a:t>		</a:t>
            </a:r>
            <a:r>
              <a:rPr lang="es-AR" sz="1600" dirty="0" err="1">
                <a:solidFill>
                  <a:srgbClr val="000000"/>
                </a:solidFill>
                <a:latin typeface="Courier New" panose="02070309020205020404" pitchFamily="49" charset="0"/>
              </a:rPr>
              <a:t>System.</a:t>
            </a:r>
            <a:r>
              <a:rPr lang="es-AR" sz="1600" i="1" dirty="0" err="1">
                <a:solidFill>
                  <a:srgbClr val="0000C0"/>
                </a:solidFill>
                <a:latin typeface="Courier New" panose="02070309020205020404" pitchFamily="49" charset="0"/>
              </a:rPr>
              <a:t>out</a:t>
            </a:r>
            <a:r>
              <a:rPr lang="es-AR" sz="1600" i="1" dirty="0" err="1">
                <a:solidFill>
                  <a:srgbClr val="000000"/>
                </a:solidFill>
                <a:latin typeface="Courier New" panose="02070309020205020404" pitchFamily="49" charset="0"/>
              </a:rPr>
              <a:t>.print</a:t>
            </a:r>
            <a:r>
              <a:rPr lang="es-AR" sz="1600" i="1" dirty="0">
                <a:solidFill>
                  <a:srgbClr val="000000"/>
                </a:solidFill>
                <a:latin typeface="Courier New" panose="02070309020205020404" pitchFamily="49" charset="0"/>
              </a:rPr>
              <a:t>(</a:t>
            </a:r>
            <a:r>
              <a:rPr lang="es-AR" sz="1600" i="1" dirty="0">
                <a:solidFill>
                  <a:srgbClr val="0000C0"/>
                </a:solidFill>
                <a:latin typeface="Courier New" panose="02070309020205020404" pitchFamily="49" charset="0"/>
              </a:rPr>
              <a:t>s</a:t>
            </a:r>
            <a:r>
              <a:rPr lang="es-AR" sz="1600" i="1" dirty="0">
                <a:solidFill>
                  <a:srgbClr val="000000"/>
                </a:solidFill>
                <a:latin typeface="Courier New" panose="02070309020205020404" pitchFamily="49" charset="0"/>
              </a:rPr>
              <a:t>);</a:t>
            </a:r>
          </a:p>
          <a:p>
            <a:pPr algn="l"/>
            <a:r>
              <a:rPr lang="es-AR" sz="1600" b="1" dirty="0">
                <a:solidFill>
                  <a:srgbClr val="000000"/>
                </a:solidFill>
                <a:latin typeface="Courier New" panose="02070309020205020404" pitchFamily="49" charset="0"/>
              </a:rPr>
              <a:t>}</a:t>
            </a:r>
          </a:p>
          <a:p>
            <a:pPr algn="just"/>
            <a:endParaRPr lang="es-AR" sz="1600" cap="all" dirty="0"/>
          </a:p>
        </p:txBody>
      </p:sp>
      <p:sp>
        <p:nvSpPr>
          <p:cNvPr id="13" name="Cuadro de texto 2">
            <a:extLst>
              <a:ext uri="{FF2B5EF4-FFF2-40B4-BE49-F238E27FC236}">
                <a16:creationId xmlns:a16="http://schemas.microsoft.com/office/drawing/2014/main" id="{AAE8F54E-1B3A-4600-AFCB-9226D0D550E2}"/>
              </a:ext>
            </a:extLst>
          </p:cNvPr>
          <p:cNvSpPr txBox="1">
            <a:spLocks noChangeArrowheads="1"/>
          </p:cNvSpPr>
          <p:nvPr/>
        </p:nvSpPr>
        <p:spPr bwMode="auto">
          <a:xfrm>
            <a:off x="2049260" y="0"/>
            <a:ext cx="8460035" cy="863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AR" altLang="es-AR" sz="4800" b="0" i="0" u="none" strike="noStrike" cap="none" normalizeH="0" baseline="0" dirty="0">
                <a:ln>
                  <a:noFill/>
                </a:ln>
                <a:solidFill>
                  <a:srgbClr val="FFFFFF"/>
                </a:solidFill>
                <a:effectLst/>
                <a:latin typeface="Calibri Light" panose="020F0302020204030204" pitchFamily="34" charset="0"/>
                <a:ea typeface="Calibri" panose="020F0502020204030204" pitchFamily="34" charset="0"/>
                <a:cs typeface="Calibri Light" panose="020F0302020204030204" pitchFamily="34" charset="0"/>
              </a:rPr>
              <a:t>PROGRAMACION CONCURRENTE</a:t>
            </a:r>
          </a:p>
        </p:txBody>
      </p:sp>
      <p:pic>
        <p:nvPicPr>
          <p:cNvPr id="12" name="Picture 5">
            <a:extLst>
              <a:ext uri="{FF2B5EF4-FFF2-40B4-BE49-F238E27FC236}">
                <a16:creationId xmlns:a16="http://schemas.microsoft.com/office/drawing/2014/main" id="{6B9287C5-A5BC-4517-9AB1-8F2E3194B7D9}"/>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72278" y="5808678"/>
            <a:ext cx="947333" cy="1049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5 CuadroTexto">
            <a:extLst>
              <a:ext uri="{FF2B5EF4-FFF2-40B4-BE49-F238E27FC236}">
                <a16:creationId xmlns:a16="http://schemas.microsoft.com/office/drawing/2014/main" id="{731DCCDF-B88F-4FDB-AA78-76CB48C87FEB}"/>
              </a:ext>
            </a:extLst>
          </p:cNvPr>
          <p:cNvSpPr txBox="1"/>
          <p:nvPr/>
        </p:nvSpPr>
        <p:spPr>
          <a:xfrm>
            <a:off x="6602569" y="889680"/>
            <a:ext cx="5478325" cy="3323987"/>
          </a:xfrm>
          <a:prstGeom prst="rect">
            <a:avLst/>
          </a:prstGeom>
          <a:noFill/>
        </p:spPr>
        <p:txBody>
          <a:bodyPr wrap="square" rtlCol="0">
            <a:spAutoFit/>
          </a:bodyPr>
          <a:lstStyle/>
          <a:p>
            <a:pPr algn="l"/>
            <a:endParaRPr lang="es-AR" sz="1600" dirty="0">
              <a:latin typeface="Courier New" panose="02070309020205020404" pitchFamily="49" charset="0"/>
            </a:endParaRPr>
          </a:p>
          <a:p>
            <a:pPr algn="l"/>
            <a:r>
              <a:rPr lang="es-AR" sz="1600" dirty="0">
                <a:solidFill>
                  <a:srgbClr val="3F7F5F"/>
                </a:solidFill>
                <a:latin typeface="Courier New" panose="02070309020205020404" pitchFamily="49" charset="0"/>
              </a:rPr>
              <a:t>//</a:t>
            </a:r>
            <a:r>
              <a:rPr lang="es-AR" sz="1600" u="sng" dirty="0">
                <a:solidFill>
                  <a:srgbClr val="3F7F5F"/>
                </a:solidFill>
                <a:latin typeface="Courier New" panose="02070309020205020404" pitchFamily="49" charset="0"/>
              </a:rPr>
              <a:t>Método principal:</a:t>
            </a:r>
          </a:p>
          <a:p>
            <a:pPr algn="l"/>
            <a:r>
              <a:rPr lang="en-US" sz="1600" b="1" dirty="0">
                <a:solidFill>
                  <a:srgbClr val="7F0055"/>
                </a:solidFill>
                <a:latin typeface="Courier New" panose="02070309020205020404" pitchFamily="49" charset="0"/>
              </a:rPr>
              <a:t>public</a:t>
            </a:r>
            <a:r>
              <a:rPr lang="en-US" sz="1600" b="1" dirty="0">
                <a:solidFill>
                  <a:srgbClr val="000000"/>
                </a:solidFill>
                <a:latin typeface="Courier New" panose="02070309020205020404" pitchFamily="49" charset="0"/>
              </a:rPr>
              <a:t> </a:t>
            </a:r>
            <a:r>
              <a:rPr lang="en-US" sz="1600" b="1" dirty="0">
                <a:solidFill>
                  <a:srgbClr val="7F0055"/>
                </a:solidFill>
                <a:latin typeface="Courier New" panose="02070309020205020404" pitchFamily="49" charset="0"/>
              </a:rPr>
              <a:t>static</a:t>
            </a:r>
            <a:r>
              <a:rPr lang="en-US" sz="1600" b="1" dirty="0">
                <a:solidFill>
                  <a:srgbClr val="000000"/>
                </a:solidFill>
                <a:latin typeface="Courier New" panose="02070309020205020404" pitchFamily="49" charset="0"/>
              </a:rPr>
              <a:t> </a:t>
            </a:r>
            <a:r>
              <a:rPr lang="en-US" sz="1600" b="1" dirty="0">
                <a:solidFill>
                  <a:srgbClr val="7F0055"/>
                </a:solidFill>
                <a:latin typeface="Courier New" panose="02070309020205020404" pitchFamily="49" charset="0"/>
              </a:rPr>
              <a:t>void</a:t>
            </a:r>
            <a:r>
              <a:rPr lang="en-US" sz="1600" b="1" dirty="0">
                <a:solidFill>
                  <a:srgbClr val="000000"/>
                </a:solidFill>
                <a:latin typeface="Courier New" panose="02070309020205020404" pitchFamily="49" charset="0"/>
              </a:rPr>
              <a:t> main(String </a:t>
            </a:r>
            <a:r>
              <a:rPr lang="en-US" sz="1600" b="1" dirty="0" err="1">
                <a:solidFill>
                  <a:srgbClr val="000000"/>
                </a:solidFill>
                <a:latin typeface="Courier New" panose="02070309020205020404" pitchFamily="49" charset="0"/>
              </a:rPr>
              <a:t>args</a:t>
            </a:r>
            <a:r>
              <a:rPr lang="en-US" sz="1600" b="1" dirty="0">
                <a:solidFill>
                  <a:srgbClr val="000000"/>
                </a:solidFill>
                <a:latin typeface="Courier New" panose="02070309020205020404" pitchFamily="49" charset="0"/>
              </a:rPr>
              <a:t>[]){</a:t>
            </a:r>
          </a:p>
          <a:p>
            <a:pPr algn="l"/>
            <a:r>
              <a:rPr lang="es-AR" sz="1600" dirty="0">
                <a:solidFill>
                  <a:srgbClr val="000000"/>
                </a:solidFill>
                <a:latin typeface="Courier New" panose="02070309020205020404" pitchFamily="49" charset="0"/>
              </a:rPr>
              <a:t>	</a:t>
            </a:r>
            <a:r>
              <a:rPr lang="en-US" sz="1600" b="1" dirty="0">
                <a:solidFill>
                  <a:srgbClr val="000000"/>
                </a:solidFill>
                <a:latin typeface="Courier New" panose="02070309020205020404" pitchFamily="49" charset="0"/>
              </a:rPr>
              <a:t>UnoDosV2</a:t>
            </a:r>
            <a:r>
              <a:rPr lang="es-AR" sz="1600" dirty="0">
                <a:solidFill>
                  <a:srgbClr val="000000"/>
                </a:solidFill>
                <a:latin typeface="Courier New" panose="02070309020205020404" pitchFamily="49" charset="0"/>
              </a:rPr>
              <a:t> a = </a:t>
            </a:r>
            <a:r>
              <a:rPr lang="es-AR" sz="1600" b="1" dirty="0">
                <a:solidFill>
                  <a:srgbClr val="7F0055"/>
                </a:solidFill>
                <a:latin typeface="Courier New" panose="02070309020205020404" pitchFamily="49" charset="0"/>
              </a:rPr>
              <a:t>new</a:t>
            </a:r>
            <a:r>
              <a:rPr lang="es-AR" sz="1600" b="1" dirty="0">
                <a:solidFill>
                  <a:srgbClr val="000000"/>
                </a:solidFill>
                <a:latin typeface="Courier New" panose="02070309020205020404" pitchFamily="49" charset="0"/>
              </a:rPr>
              <a:t> </a:t>
            </a:r>
            <a:r>
              <a:rPr lang="en-US" sz="1600" b="1" dirty="0">
                <a:solidFill>
                  <a:srgbClr val="000000"/>
                </a:solidFill>
                <a:latin typeface="Courier New" panose="02070309020205020404" pitchFamily="49" charset="0"/>
              </a:rPr>
              <a:t>UnoDosV2</a:t>
            </a:r>
            <a:r>
              <a:rPr lang="es-AR" sz="1600" b="1" dirty="0">
                <a:solidFill>
                  <a:srgbClr val="000000"/>
                </a:solidFill>
                <a:latin typeface="Courier New" panose="02070309020205020404" pitchFamily="49" charset="0"/>
              </a:rPr>
              <a:t>(1);</a:t>
            </a:r>
          </a:p>
          <a:p>
            <a:pPr algn="l"/>
            <a:r>
              <a:rPr lang="es-AR" sz="1600" dirty="0">
                <a:solidFill>
                  <a:srgbClr val="000000"/>
                </a:solidFill>
                <a:latin typeface="Courier New" panose="02070309020205020404" pitchFamily="49" charset="0"/>
              </a:rPr>
              <a:t>	</a:t>
            </a:r>
            <a:r>
              <a:rPr lang="en-US" sz="1600" b="1" dirty="0">
                <a:solidFill>
                  <a:srgbClr val="000000"/>
                </a:solidFill>
                <a:latin typeface="Courier New" panose="02070309020205020404" pitchFamily="49" charset="0"/>
              </a:rPr>
              <a:t>UnoDosV2</a:t>
            </a:r>
            <a:r>
              <a:rPr lang="es-AR" sz="1600" dirty="0">
                <a:solidFill>
                  <a:srgbClr val="000000"/>
                </a:solidFill>
                <a:latin typeface="Courier New" panose="02070309020205020404" pitchFamily="49" charset="0"/>
              </a:rPr>
              <a:t> b = </a:t>
            </a:r>
            <a:r>
              <a:rPr lang="es-AR" sz="1600" b="1" dirty="0">
                <a:solidFill>
                  <a:srgbClr val="7F0055"/>
                </a:solidFill>
                <a:latin typeface="Courier New" panose="02070309020205020404" pitchFamily="49" charset="0"/>
              </a:rPr>
              <a:t>new</a:t>
            </a:r>
            <a:r>
              <a:rPr lang="es-AR" sz="1600" b="1" dirty="0">
                <a:solidFill>
                  <a:srgbClr val="000000"/>
                </a:solidFill>
                <a:latin typeface="Courier New" panose="02070309020205020404" pitchFamily="49" charset="0"/>
              </a:rPr>
              <a:t> </a:t>
            </a:r>
            <a:r>
              <a:rPr lang="en-US" sz="1600" b="1" dirty="0">
                <a:solidFill>
                  <a:srgbClr val="000000"/>
                </a:solidFill>
                <a:latin typeface="Courier New" panose="02070309020205020404" pitchFamily="49" charset="0"/>
              </a:rPr>
              <a:t>UnoDosV2</a:t>
            </a:r>
            <a:r>
              <a:rPr lang="es-AR" sz="1600" b="1" dirty="0">
                <a:solidFill>
                  <a:srgbClr val="000000"/>
                </a:solidFill>
                <a:latin typeface="Courier New" panose="02070309020205020404" pitchFamily="49" charset="0"/>
              </a:rPr>
              <a:t>(2);</a:t>
            </a:r>
          </a:p>
          <a:p>
            <a:pPr algn="l"/>
            <a:r>
              <a:rPr lang="en-US" sz="1600" dirty="0">
                <a:solidFill>
                  <a:srgbClr val="000000"/>
                </a:solidFill>
                <a:latin typeface="Courier New" panose="02070309020205020404" pitchFamily="49" charset="0"/>
              </a:rPr>
              <a:t>	Thread t1 = </a:t>
            </a:r>
            <a:r>
              <a:rPr lang="en-US" sz="1600" b="1" dirty="0">
                <a:solidFill>
                  <a:srgbClr val="7F0055"/>
                </a:solidFill>
                <a:latin typeface="Courier New" panose="02070309020205020404" pitchFamily="49" charset="0"/>
              </a:rPr>
              <a:t>new</a:t>
            </a:r>
            <a:r>
              <a:rPr lang="en-US" sz="1600" b="1" dirty="0">
                <a:solidFill>
                  <a:srgbClr val="000000"/>
                </a:solidFill>
                <a:latin typeface="Courier New" panose="02070309020205020404" pitchFamily="49" charset="0"/>
              </a:rPr>
              <a:t> Thread(a);</a:t>
            </a:r>
          </a:p>
          <a:p>
            <a:pPr algn="l"/>
            <a:r>
              <a:rPr lang="en-US" sz="1600" dirty="0">
                <a:solidFill>
                  <a:srgbClr val="000000"/>
                </a:solidFill>
                <a:latin typeface="Courier New" panose="02070309020205020404" pitchFamily="49" charset="0"/>
              </a:rPr>
              <a:t>	Thread </a:t>
            </a:r>
            <a:r>
              <a:rPr lang="en-US" sz="1600" dirty="0">
                <a:solidFill>
                  <a:srgbClr val="000000"/>
                </a:solidFill>
                <a:highlight>
                  <a:srgbClr val="F0D8A8"/>
                </a:highlight>
                <a:latin typeface="Courier New" panose="02070309020205020404" pitchFamily="49" charset="0"/>
              </a:rPr>
              <a:t>t2 = </a:t>
            </a:r>
            <a:r>
              <a:rPr lang="en-US" sz="1600" b="1" dirty="0">
                <a:solidFill>
                  <a:srgbClr val="7F0055"/>
                </a:solidFill>
                <a:highlight>
                  <a:srgbClr val="F0D8A8"/>
                </a:highlight>
                <a:latin typeface="Courier New" panose="02070309020205020404" pitchFamily="49" charset="0"/>
              </a:rPr>
              <a:t>new</a:t>
            </a:r>
            <a:r>
              <a:rPr lang="en-US" sz="1600" b="1" dirty="0">
                <a:solidFill>
                  <a:srgbClr val="000000"/>
                </a:solidFill>
                <a:highlight>
                  <a:srgbClr val="F0D8A8"/>
                </a:highlight>
                <a:latin typeface="Courier New" panose="02070309020205020404" pitchFamily="49" charset="0"/>
              </a:rPr>
              <a:t> Thread(b);</a:t>
            </a:r>
          </a:p>
          <a:p>
            <a:pPr algn="l"/>
            <a:r>
              <a:rPr lang="es-AR" sz="1600" dirty="0">
                <a:solidFill>
                  <a:srgbClr val="000000"/>
                </a:solidFill>
                <a:latin typeface="Courier New" panose="02070309020205020404" pitchFamily="49" charset="0"/>
              </a:rPr>
              <a:t>	t1.start();</a:t>
            </a:r>
          </a:p>
          <a:p>
            <a:pPr algn="l"/>
            <a:r>
              <a:rPr lang="es-AR" sz="1600" dirty="0">
                <a:solidFill>
                  <a:srgbClr val="000000"/>
                </a:solidFill>
                <a:highlight>
                  <a:srgbClr val="D4D4D4"/>
                </a:highlight>
                <a:latin typeface="Courier New" panose="02070309020205020404" pitchFamily="49" charset="0"/>
              </a:rPr>
              <a:t>	t2.start();</a:t>
            </a:r>
          </a:p>
          <a:p>
            <a:pPr algn="l"/>
            <a:r>
              <a:rPr lang="es-AR" sz="1600" b="1" dirty="0">
                <a:solidFill>
                  <a:srgbClr val="000000"/>
                </a:solidFill>
                <a:latin typeface="Courier New" panose="02070309020205020404" pitchFamily="49" charset="0"/>
              </a:rPr>
              <a:t>}</a:t>
            </a:r>
          </a:p>
          <a:p>
            <a:pPr algn="l"/>
            <a:endParaRPr lang="es-AR" sz="1600" dirty="0">
              <a:latin typeface="Courier New" panose="02070309020205020404" pitchFamily="49" charset="0"/>
            </a:endParaRPr>
          </a:p>
          <a:p>
            <a:pPr algn="l"/>
            <a:r>
              <a:rPr lang="es-AR" sz="1600" b="1" dirty="0">
                <a:solidFill>
                  <a:srgbClr val="000000"/>
                </a:solidFill>
                <a:latin typeface="Courier New" panose="02070309020205020404" pitchFamily="49" charset="0"/>
              </a:rPr>
              <a:t>}</a:t>
            </a:r>
          </a:p>
          <a:p>
            <a:pPr algn="just"/>
            <a:endParaRPr lang="es-AR" sz="1600" cap="all" dirty="0"/>
          </a:p>
        </p:txBody>
      </p:sp>
      <p:cxnSp>
        <p:nvCxnSpPr>
          <p:cNvPr id="14" name="Conector recto 13">
            <a:extLst>
              <a:ext uri="{FF2B5EF4-FFF2-40B4-BE49-F238E27FC236}">
                <a16:creationId xmlns:a16="http://schemas.microsoft.com/office/drawing/2014/main" id="{474513D5-7766-4541-9F37-0EA9D4DB92CC}"/>
              </a:ext>
            </a:extLst>
          </p:cNvPr>
          <p:cNvCxnSpPr/>
          <p:nvPr/>
        </p:nvCxnSpPr>
        <p:spPr>
          <a:xfrm>
            <a:off x="6400801" y="1126435"/>
            <a:ext cx="0" cy="4823791"/>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2732916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5" name="Imagen 31">
            <a:extLst>
              <a:ext uri="{FF2B5EF4-FFF2-40B4-BE49-F238E27FC236}">
                <a16:creationId xmlns:a16="http://schemas.microsoft.com/office/drawing/2014/main" id="{452E838D-7BB9-4864-AE07-88664BFD686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1048" y="6422"/>
            <a:ext cx="11410951" cy="907978"/>
          </a:xfrm>
          <a:prstGeom prst="rect">
            <a:avLst/>
          </a:prstGeom>
          <a:noFill/>
          <a:extLst>
            <a:ext uri="{909E8E84-426E-40DD-AFC4-6F175D3DCCD1}">
              <a14:hiddenFill xmlns:a14="http://schemas.microsoft.com/office/drawing/2010/main">
                <a:solidFill>
                  <a:srgbClr val="FFFFFF"/>
                </a:solidFill>
              </a14:hiddenFill>
            </a:ext>
          </a:extLst>
        </p:spPr>
      </p:pic>
      <p:pic>
        <p:nvPicPr>
          <p:cNvPr id="2056" name="Imagen 30">
            <a:extLst>
              <a:ext uri="{FF2B5EF4-FFF2-40B4-BE49-F238E27FC236}">
                <a16:creationId xmlns:a16="http://schemas.microsoft.com/office/drawing/2014/main" id="{8E90C719-CF33-4486-9AEB-EA64319F5A0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98" y="1725"/>
            <a:ext cx="1076624" cy="1623753"/>
          </a:xfrm>
          <a:prstGeom prst="rect">
            <a:avLst/>
          </a:prstGeom>
          <a:noFill/>
          <a:extLst>
            <a:ext uri="{909E8E84-426E-40DD-AFC4-6F175D3DCCD1}">
              <a14:hiddenFill xmlns:a14="http://schemas.microsoft.com/office/drawing/2010/main">
                <a:solidFill>
                  <a:srgbClr val="FFFFFF"/>
                </a:solidFill>
              </a14:hiddenFill>
            </a:ext>
          </a:extLst>
        </p:spPr>
      </p:pic>
      <p:sp>
        <p:nvSpPr>
          <p:cNvPr id="2" name="1 Rectángulo"/>
          <p:cNvSpPr/>
          <p:nvPr/>
        </p:nvSpPr>
        <p:spPr>
          <a:xfrm>
            <a:off x="-3198" y="6377614"/>
            <a:ext cx="12195197" cy="221966"/>
          </a:xfrm>
          <a:prstGeom prst="rect">
            <a:avLst/>
          </a:prstGeom>
          <a:solidFill>
            <a:srgbClr val="6800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3" name="2 CuadroTexto"/>
          <p:cNvSpPr txBox="1"/>
          <p:nvPr/>
        </p:nvSpPr>
        <p:spPr>
          <a:xfrm>
            <a:off x="10177664" y="6315046"/>
            <a:ext cx="2080591" cy="338554"/>
          </a:xfrm>
          <a:prstGeom prst="rect">
            <a:avLst/>
          </a:prstGeom>
          <a:noFill/>
        </p:spPr>
        <p:txBody>
          <a:bodyPr wrap="square" rtlCol="0">
            <a:spAutoFit/>
          </a:bodyPr>
          <a:lstStyle/>
          <a:p>
            <a:r>
              <a:rPr lang="es-ES" sz="1600" b="1" dirty="0">
                <a:solidFill>
                  <a:srgbClr val="FFFFFF"/>
                </a:solidFill>
                <a:latin typeface="Calibri Light" panose="020F0302020204030204" pitchFamily="34" charset="0"/>
                <a:ea typeface="Calibri" panose="020F0502020204030204" pitchFamily="34" charset="0"/>
                <a:cs typeface="Calibri Light" panose="020F0302020204030204" pitchFamily="34" charset="0"/>
              </a:rPr>
              <a:t>Modalidad Virtual</a:t>
            </a:r>
          </a:p>
        </p:txBody>
      </p:sp>
      <p:sp>
        <p:nvSpPr>
          <p:cNvPr id="11" name="1 Título">
            <a:extLst>
              <a:ext uri="{FF2B5EF4-FFF2-40B4-BE49-F238E27FC236}">
                <a16:creationId xmlns:a16="http://schemas.microsoft.com/office/drawing/2014/main" id="{580E64F2-5285-450B-9979-ADA4942F6DF8}"/>
              </a:ext>
            </a:extLst>
          </p:cNvPr>
          <p:cNvSpPr txBox="1">
            <a:spLocks/>
          </p:cNvSpPr>
          <p:nvPr/>
        </p:nvSpPr>
        <p:spPr>
          <a:xfrm>
            <a:off x="781048" y="95209"/>
            <a:ext cx="10515600" cy="819191"/>
          </a:xfrm>
          <a:prstGeom prst="rect">
            <a:avLst/>
          </a:prstGeom>
        </p:spPr>
        <p:txBody>
          <a:bodyPr rtlCol="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defRPr/>
            </a:pPr>
            <a:endParaRPr lang="es-AR" b="1" dirty="0">
              <a:solidFill>
                <a:schemeClr val="bg1">
                  <a:lumMod val="95000"/>
                </a:schemeClr>
              </a:solidFill>
              <a:effectLst>
                <a:outerShdw blurRad="38100" dist="38100" dir="2700000" algn="tl">
                  <a:srgbClr val="000000">
                    <a:alpha val="43137"/>
                  </a:srgbClr>
                </a:outerShdw>
              </a:effectLst>
            </a:endParaRPr>
          </a:p>
        </p:txBody>
      </p:sp>
      <p:sp>
        <p:nvSpPr>
          <p:cNvPr id="6" name="5 CuadroTexto"/>
          <p:cNvSpPr txBox="1"/>
          <p:nvPr/>
        </p:nvSpPr>
        <p:spPr>
          <a:xfrm>
            <a:off x="1119611" y="997921"/>
            <a:ext cx="4552319" cy="4801314"/>
          </a:xfrm>
          <a:prstGeom prst="rect">
            <a:avLst/>
          </a:prstGeom>
          <a:noFill/>
        </p:spPr>
        <p:txBody>
          <a:bodyPr wrap="square" rtlCol="0">
            <a:spAutoFit/>
          </a:bodyPr>
          <a:lstStyle/>
          <a:p>
            <a:pPr algn="just"/>
            <a:r>
              <a:rPr lang="es-AR" b="1" u="sng" cap="all" dirty="0"/>
              <a:t>ESTADOS DE UN HILO EN JAVA:</a:t>
            </a:r>
          </a:p>
          <a:p>
            <a:pPr algn="just"/>
            <a:endParaRPr lang="es-AR" sz="1600" cap="all" dirty="0"/>
          </a:p>
          <a:p>
            <a:r>
              <a:rPr lang="es-AR" sz="1600" cap="all" dirty="0"/>
              <a:t>EL HILO SE CREA CON LA INSTRUCCIÓN NEW.</a:t>
            </a:r>
          </a:p>
          <a:p>
            <a:endParaRPr lang="es-AR" sz="1600" cap="all" dirty="0"/>
          </a:p>
          <a:p>
            <a:r>
              <a:rPr lang="es-AR" sz="1600" cap="all" dirty="0"/>
              <a:t>CUANDO EL HILO EL LANZADO PASA A ESTADO DE LISTO. ESTO SE REALIZA CON EL MÉTODO START().</a:t>
            </a:r>
          </a:p>
          <a:p>
            <a:endParaRPr lang="es-AR" sz="1600" cap="all" dirty="0"/>
          </a:p>
          <a:p>
            <a:r>
              <a:rPr lang="es-AR" sz="1600" cap="all" dirty="0"/>
              <a:t>LUEGO ES EL PLANIFICADOR EL QUE DETERMINA CUANDO PASA A ESTADO DE EJECUCIÓN.</a:t>
            </a:r>
          </a:p>
          <a:p>
            <a:endParaRPr lang="es-AR" sz="1600" cap="all" dirty="0"/>
          </a:p>
          <a:p>
            <a:r>
              <a:rPr lang="es-AR" sz="1600" cap="all" dirty="0"/>
              <a:t>DE EJECUCIÓN PUEDE PASAR A ESTADO DE BLOQUEADO, ESPERA O TERMINADO SEGÚN DEBA ESPERAR UN EVENTO O FINALICE SU EJECUCIÓN.</a:t>
            </a:r>
          </a:p>
          <a:p>
            <a:endParaRPr lang="es-AR" sz="1600" cap="all" dirty="0"/>
          </a:p>
          <a:p>
            <a:r>
              <a:rPr lang="es-AR" sz="1600" cap="all" dirty="0"/>
              <a:t>DE LOS ESTADOS DE ESPERA O BLOQUEADO, CUANDO OCURRE EL EVENTO ESPERADO (O PASA EL TIEMPO DETERMINADO DE ESPERA) PARA A ESTADO DE LISTO A LA ESPERA QUE EL PLANIFICADOR VUELVA A SELECCIONARLO PARA SU EJECUCIÓN.</a:t>
            </a:r>
          </a:p>
        </p:txBody>
      </p:sp>
      <p:sp>
        <p:nvSpPr>
          <p:cNvPr id="13" name="Cuadro de texto 2">
            <a:extLst>
              <a:ext uri="{FF2B5EF4-FFF2-40B4-BE49-F238E27FC236}">
                <a16:creationId xmlns:a16="http://schemas.microsoft.com/office/drawing/2014/main" id="{AAE8F54E-1B3A-4600-AFCB-9226D0D550E2}"/>
              </a:ext>
            </a:extLst>
          </p:cNvPr>
          <p:cNvSpPr txBox="1">
            <a:spLocks noChangeArrowheads="1"/>
          </p:cNvSpPr>
          <p:nvPr/>
        </p:nvSpPr>
        <p:spPr bwMode="auto">
          <a:xfrm>
            <a:off x="2049260" y="0"/>
            <a:ext cx="8460035" cy="863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AR" altLang="es-AR" sz="4800" b="0" i="0" u="none" strike="noStrike" cap="none" normalizeH="0" baseline="0" dirty="0">
                <a:ln>
                  <a:noFill/>
                </a:ln>
                <a:solidFill>
                  <a:srgbClr val="FFFFFF"/>
                </a:solidFill>
                <a:effectLst/>
                <a:latin typeface="Calibri Light" panose="020F0302020204030204" pitchFamily="34" charset="0"/>
                <a:ea typeface="Calibri" panose="020F0502020204030204" pitchFamily="34" charset="0"/>
                <a:cs typeface="Calibri Light" panose="020F0302020204030204" pitchFamily="34" charset="0"/>
              </a:rPr>
              <a:t>PROGRAMACION CONCURRENTE</a:t>
            </a:r>
          </a:p>
        </p:txBody>
      </p:sp>
      <p:pic>
        <p:nvPicPr>
          <p:cNvPr id="12" name="Picture 5">
            <a:extLst>
              <a:ext uri="{FF2B5EF4-FFF2-40B4-BE49-F238E27FC236}">
                <a16:creationId xmlns:a16="http://schemas.microsoft.com/office/drawing/2014/main" id="{6B9287C5-A5BC-4517-9AB1-8F2E3194B7D9}"/>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72278" y="5808678"/>
            <a:ext cx="947333" cy="1049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Imagen 4">
            <a:extLst>
              <a:ext uri="{FF2B5EF4-FFF2-40B4-BE49-F238E27FC236}">
                <a16:creationId xmlns:a16="http://schemas.microsoft.com/office/drawing/2014/main" id="{008F5AD7-AD2E-4584-B34E-4F361D8E4C79}"/>
              </a:ext>
            </a:extLst>
          </p:cNvPr>
          <p:cNvPicPr>
            <a:picLocks noChangeAspect="1"/>
          </p:cNvPicPr>
          <p:nvPr/>
        </p:nvPicPr>
        <p:blipFill>
          <a:blip r:embed="rId5"/>
          <a:stretch>
            <a:fillRect/>
          </a:stretch>
        </p:blipFill>
        <p:spPr>
          <a:xfrm>
            <a:off x="5791195" y="976968"/>
            <a:ext cx="6467060" cy="5284058"/>
          </a:xfrm>
          <a:prstGeom prst="rect">
            <a:avLst/>
          </a:prstGeom>
        </p:spPr>
      </p:pic>
    </p:spTree>
    <p:extLst>
      <p:ext uri="{BB962C8B-B14F-4D97-AF65-F5344CB8AC3E}">
        <p14:creationId xmlns:p14="http://schemas.microsoft.com/office/powerpoint/2010/main" val="35354679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5" name="Imagen 31">
            <a:extLst>
              <a:ext uri="{FF2B5EF4-FFF2-40B4-BE49-F238E27FC236}">
                <a16:creationId xmlns:a16="http://schemas.microsoft.com/office/drawing/2014/main" id="{452E838D-7BB9-4864-AE07-88664BFD686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1048" y="6422"/>
            <a:ext cx="11410951" cy="907978"/>
          </a:xfrm>
          <a:prstGeom prst="rect">
            <a:avLst/>
          </a:prstGeom>
          <a:noFill/>
          <a:extLst>
            <a:ext uri="{909E8E84-426E-40DD-AFC4-6F175D3DCCD1}">
              <a14:hiddenFill xmlns:a14="http://schemas.microsoft.com/office/drawing/2010/main">
                <a:solidFill>
                  <a:srgbClr val="FFFFFF"/>
                </a:solidFill>
              </a14:hiddenFill>
            </a:ext>
          </a:extLst>
        </p:spPr>
      </p:pic>
      <p:pic>
        <p:nvPicPr>
          <p:cNvPr id="2056" name="Imagen 30">
            <a:extLst>
              <a:ext uri="{FF2B5EF4-FFF2-40B4-BE49-F238E27FC236}">
                <a16:creationId xmlns:a16="http://schemas.microsoft.com/office/drawing/2014/main" id="{8E90C719-CF33-4486-9AEB-EA64319F5A0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98" y="1725"/>
            <a:ext cx="1076624" cy="1623753"/>
          </a:xfrm>
          <a:prstGeom prst="rect">
            <a:avLst/>
          </a:prstGeom>
          <a:noFill/>
          <a:extLst>
            <a:ext uri="{909E8E84-426E-40DD-AFC4-6F175D3DCCD1}">
              <a14:hiddenFill xmlns:a14="http://schemas.microsoft.com/office/drawing/2010/main">
                <a:solidFill>
                  <a:srgbClr val="FFFFFF"/>
                </a:solidFill>
              </a14:hiddenFill>
            </a:ext>
          </a:extLst>
        </p:spPr>
      </p:pic>
      <p:sp>
        <p:nvSpPr>
          <p:cNvPr id="2" name="1 Rectángulo"/>
          <p:cNvSpPr/>
          <p:nvPr/>
        </p:nvSpPr>
        <p:spPr>
          <a:xfrm>
            <a:off x="-3198" y="6377614"/>
            <a:ext cx="12195197" cy="221966"/>
          </a:xfrm>
          <a:prstGeom prst="rect">
            <a:avLst/>
          </a:prstGeom>
          <a:solidFill>
            <a:srgbClr val="6800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3" name="2 CuadroTexto"/>
          <p:cNvSpPr txBox="1"/>
          <p:nvPr/>
        </p:nvSpPr>
        <p:spPr>
          <a:xfrm>
            <a:off x="10177664" y="6315046"/>
            <a:ext cx="2080591" cy="338554"/>
          </a:xfrm>
          <a:prstGeom prst="rect">
            <a:avLst/>
          </a:prstGeom>
          <a:noFill/>
        </p:spPr>
        <p:txBody>
          <a:bodyPr wrap="square" rtlCol="0">
            <a:spAutoFit/>
          </a:bodyPr>
          <a:lstStyle/>
          <a:p>
            <a:r>
              <a:rPr lang="es-ES" sz="1600" b="1" dirty="0">
                <a:solidFill>
                  <a:srgbClr val="FFFFFF"/>
                </a:solidFill>
                <a:latin typeface="Calibri Light" panose="020F0302020204030204" pitchFamily="34" charset="0"/>
                <a:ea typeface="Calibri" panose="020F0502020204030204" pitchFamily="34" charset="0"/>
                <a:cs typeface="Calibri Light" panose="020F0302020204030204" pitchFamily="34" charset="0"/>
              </a:rPr>
              <a:t>Modalidad Virtual</a:t>
            </a:r>
          </a:p>
        </p:txBody>
      </p:sp>
      <p:sp>
        <p:nvSpPr>
          <p:cNvPr id="11" name="1 Título">
            <a:extLst>
              <a:ext uri="{FF2B5EF4-FFF2-40B4-BE49-F238E27FC236}">
                <a16:creationId xmlns:a16="http://schemas.microsoft.com/office/drawing/2014/main" id="{580E64F2-5285-450B-9979-ADA4942F6DF8}"/>
              </a:ext>
            </a:extLst>
          </p:cNvPr>
          <p:cNvSpPr txBox="1">
            <a:spLocks/>
          </p:cNvSpPr>
          <p:nvPr/>
        </p:nvSpPr>
        <p:spPr>
          <a:xfrm>
            <a:off x="781048" y="95209"/>
            <a:ext cx="10515600" cy="819191"/>
          </a:xfrm>
          <a:prstGeom prst="rect">
            <a:avLst/>
          </a:prstGeom>
        </p:spPr>
        <p:txBody>
          <a:bodyPr rtlCol="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defRPr/>
            </a:pPr>
            <a:endParaRPr lang="es-AR" b="1" dirty="0">
              <a:solidFill>
                <a:schemeClr val="bg1">
                  <a:lumMod val="95000"/>
                </a:schemeClr>
              </a:solidFill>
              <a:effectLst>
                <a:outerShdw blurRad="38100" dist="38100" dir="2700000" algn="tl">
                  <a:srgbClr val="000000">
                    <a:alpha val="43137"/>
                  </a:srgbClr>
                </a:outerShdw>
              </a:effectLst>
            </a:endParaRPr>
          </a:p>
        </p:txBody>
      </p:sp>
      <p:sp>
        <p:nvSpPr>
          <p:cNvPr id="6" name="5 CuadroTexto"/>
          <p:cNvSpPr txBox="1"/>
          <p:nvPr/>
        </p:nvSpPr>
        <p:spPr>
          <a:xfrm>
            <a:off x="1119611" y="997921"/>
            <a:ext cx="10681252" cy="4462760"/>
          </a:xfrm>
          <a:prstGeom prst="rect">
            <a:avLst/>
          </a:prstGeom>
          <a:noFill/>
        </p:spPr>
        <p:txBody>
          <a:bodyPr wrap="square" rtlCol="0">
            <a:spAutoFit/>
          </a:bodyPr>
          <a:lstStyle/>
          <a:p>
            <a:pPr algn="just"/>
            <a:r>
              <a:rPr lang="es-AR" sz="2400" b="1" u="sng" cap="all" dirty="0"/>
              <a:t>PLANIFICACIÓN DE HILOS EN JAVA:</a:t>
            </a:r>
          </a:p>
          <a:p>
            <a:pPr algn="just"/>
            <a:endParaRPr lang="es-AR" sz="2000" cap="all" dirty="0"/>
          </a:p>
          <a:p>
            <a:pPr algn="just"/>
            <a:r>
              <a:rPr lang="es-AR" sz="2000" cap="all" dirty="0"/>
              <a:t>EL PLANIFICADOR DE HILOS DE JAVA ESTÁ IMPLEMENTADO EN LA MÁQUINA VIRTUAL JAVA.</a:t>
            </a:r>
          </a:p>
          <a:p>
            <a:pPr algn="just"/>
            <a:endParaRPr lang="es-AR" sz="2000" cap="all" dirty="0"/>
          </a:p>
          <a:p>
            <a:pPr algn="just"/>
            <a:r>
              <a:rPr lang="es-AR" sz="2000" cap="all" dirty="0"/>
              <a:t>LOS HILOS EN JAVA TIENEN UNA PRIORIDAD, PERO NADA GARANTIZA QUE EN UN MOMENTO DETERMINADO SE ESTÉ EJECUTANDO ELHILO DE MAYOR PRIORIDAD.</a:t>
            </a:r>
          </a:p>
          <a:p>
            <a:pPr algn="just"/>
            <a:endParaRPr lang="es-AR" sz="2000" cap="all" dirty="0"/>
          </a:p>
          <a:p>
            <a:pPr algn="just"/>
            <a:r>
              <a:rPr lang="es-AR" sz="2000" cap="all" dirty="0"/>
              <a:t>LAS RODAJAS DE TIEMPO PUEDEN SER APLICADAS O NO, ESO DEPENDERÁ DE LA GESTIÓN DE HILOS QUE POSEA LA LIBRERÍA SOBRE LA QUE SE EJECUTA LA MÁQUINA VIRTUAL JAVA.</a:t>
            </a:r>
          </a:p>
          <a:p>
            <a:pPr algn="just"/>
            <a:endParaRPr lang="es-AR" sz="2000" cap="all" dirty="0"/>
          </a:p>
          <a:p>
            <a:pPr algn="just"/>
            <a:r>
              <a:rPr lang="es-AR" sz="2000" cap="all" dirty="0"/>
              <a:t>DEBIDO A LA FALTA DE PREVISIBILIDAD QUE PUEDE LLEGAR A TENERSE DEPENDIENDO DEL SISTEMA SUBYACENTE, AL PROGRAMAR CON HILOS EN JAVA NO DEBE SUPONERSE QUE SE APLICARÁ UN INTERCALADO DE HILOS., Y EN CASO DE REQUERIRLO LA APLICACIÓN, SE DEBE CODIFICAR TENIENDO EN CUENTA ESTO.</a:t>
            </a:r>
          </a:p>
        </p:txBody>
      </p:sp>
      <p:sp>
        <p:nvSpPr>
          <p:cNvPr id="13" name="Cuadro de texto 2">
            <a:extLst>
              <a:ext uri="{FF2B5EF4-FFF2-40B4-BE49-F238E27FC236}">
                <a16:creationId xmlns:a16="http://schemas.microsoft.com/office/drawing/2014/main" id="{AAE8F54E-1B3A-4600-AFCB-9226D0D550E2}"/>
              </a:ext>
            </a:extLst>
          </p:cNvPr>
          <p:cNvSpPr txBox="1">
            <a:spLocks noChangeArrowheads="1"/>
          </p:cNvSpPr>
          <p:nvPr/>
        </p:nvSpPr>
        <p:spPr bwMode="auto">
          <a:xfrm>
            <a:off x="2049260" y="0"/>
            <a:ext cx="8460035" cy="863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AR" altLang="es-AR" sz="4800" b="0" i="0" u="none" strike="noStrike" cap="none" normalizeH="0" baseline="0" dirty="0">
                <a:ln>
                  <a:noFill/>
                </a:ln>
                <a:solidFill>
                  <a:srgbClr val="FFFFFF"/>
                </a:solidFill>
                <a:effectLst/>
                <a:latin typeface="Calibri Light" panose="020F0302020204030204" pitchFamily="34" charset="0"/>
                <a:ea typeface="Calibri" panose="020F0502020204030204" pitchFamily="34" charset="0"/>
                <a:cs typeface="Calibri Light" panose="020F0302020204030204" pitchFamily="34" charset="0"/>
              </a:rPr>
              <a:t>PROGRAMACION CONCURRENTE</a:t>
            </a:r>
          </a:p>
        </p:txBody>
      </p:sp>
      <p:pic>
        <p:nvPicPr>
          <p:cNvPr id="12" name="Picture 5">
            <a:extLst>
              <a:ext uri="{FF2B5EF4-FFF2-40B4-BE49-F238E27FC236}">
                <a16:creationId xmlns:a16="http://schemas.microsoft.com/office/drawing/2014/main" id="{6B9287C5-A5BC-4517-9AB1-8F2E3194B7D9}"/>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72278" y="5808678"/>
            <a:ext cx="947333" cy="1049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820908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5" name="Imagen 31">
            <a:extLst>
              <a:ext uri="{FF2B5EF4-FFF2-40B4-BE49-F238E27FC236}">
                <a16:creationId xmlns:a16="http://schemas.microsoft.com/office/drawing/2014/main" id="{452E838D-7BB9-4864-AE07-88664BFD686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1048" y="6422"/>
            <a:ext cx="11410951" cy="907978"/>
          </a:xfrm>
          <a:prstGeom prst="rect">
            <a:avLst/>
          </a:prstGeom>
          <a:noFill/>
          <a:extLst>
            <a:ext uri="{909E8E84-426E-40DD-AFC4-6F175D3DCCD1}">
              <a14:hiddenFill xmlns:a14="http://schemas.microsoft.com/office/drawing/2010/main">
                <a:solidFill>
                  <a:srgbClr val="FFFFFF"/>
                </a:solidFill>
              </a14:hiddenFill>
            </a:ext>
          </a:extLst>
        </p:spPr>
      </p:pic>
      <p:pic>
        <p:nvPicPr>
          <p:cNvPr id="2056" name="Imagen 30">
            <a:extLst>
              <a:ext uri="{FF2B5EF4-FFF2-40B4-BE49-F238E27FC236}">
                <a16:creationId xmlns:a16="http://schemas.microsoft.com/office/drawing/2014/main" id="{8E90C719-CF33-4486-9AEB-EA64319F5A0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98" y="1725"/>
            <a:ext cx="1076624" cy="1623753"/>
          </a:xfrm>
          <a:prstGeom prst="rect">
            <a:avLst/>
          </a:prstGeom>
          <a:noFill/>
          <a:extLst>
            <a:ext uri="{909E8E84-426E-40DD-AFC4-6F175D3DCCD1}">
              <a14:hiddenFill xmlns:a14="http://schemas.microsoft.com/office/drawing/2010/main">
                <a:solidFill>
                  <a:srgbClr val="FFFFFF"/>
                </a:solidFill>
              </a14:hiddenFill>
            </a:ext>
          </a:extLst>
        </p:spPr>
      </p:pic>
      <p:sp>
        <p:nvSpPr>
          <p:cNvPr id="2" name="1 Rectángulo"/>
          <p:cNvSpPr/>
          <p:nvPr/>
        </p:nvSpPr>
        <p:spPr>
          <a:xfrm>
            <a:off x="-3198" y="6377614"/>
            <a:ext cx="12195197" cy="221966"/>
          </a:xfrm>
          <a:prstGeom prst="rect">
            <a:avLst/>
          </a:prstGeom>
          <a:solidFill>
            <a:srgbClr val="6800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3" name="2 CuadroTexto"/>
          <p:cNvSpPr txBox="1"/>
          <p:nvPr/>
        </p:nvSpPr>
        <p:spPr>
          <a:xfrm>
            <a:off x="10177664" y="6315046"/>
            <a:ext cx="2080591" cy="338554"/>
          </a:xfrm>
          <a:prstGeom prst="rect">
            <a:avLst/>
          </a:prstGeom>
          <a:noFill/>
        </p:spPr>
        <p:txBody>
          <a:bodyPr wrap="square" rtlCol="0">
            <a:spAutoFit/>
          </a:bodyPr>
          <a:lstStyle/>
          <a:p>
            <a:r>
              <a:rPr lang="es-ES" sz="1600" b="1" dirty="0">
                <a:solidFill>
                  <a:srgbClr val="FFFFFF"/>
                </a:solidFill>
                <a:latin typeface="Calibri Light" panose="020F0302020204030204" pitchFamily="34" charset="0"/>
                <a:ea typeface="Calibri" panose="020F0502020204030204" pitchFamily="34" charset="0"/>
                <a:cs typeface="Calibri Light" panose="020F0302020204030204" pitchFamily="34" charset="0"/>
              </a:rPr>
              <a:t>Modalidad Virtual</a:t>
            </a:r>
          </a:p>
        </p:txBody>
      </p:sp>
      <p:sp>
        <p:nvSpPr>
          <p:cNvPr id="11" name="1 Título">
            <a:extLst>
              <a:ext uri="{FF2B5EF4-FFF2-40B4-BE49-F238E27FC236}">
                <a16:creationId xmlns:a16="http://schemas.microsoft.com/office/drawing/2014/main" id="{580E64F2-5285-450B-9979-ADA4942F6DF8}"/>
              </a:ext>
            </a:extLst>
          </p:cNvPr>
          <p:cNvSpPr txBox="1">
            <a:spLocks/>
          </p:cNvSpPr>
          <p:nvPr/>
        </p:nvSpPr>
        <p:spPr>
          <a:xfrm>
            <a:off x="781048" y="95209"/>
            <a:ext cx="10515600" cy="819191"/>
          </a:xfrm>
          <a:prstGeom prst="rect">
            <a:avLst/>
          </a:prstGeom>
        </p:spPr>
        <p:txBody>
          <a:bodyPr rtlCol="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defRPr/>
            </a:pPr>
            <a:endParaRPr lang="es-AR" b="1" dirty="0">
              <a:solidFill>
                <a:schemeClr val="bg1">
                  <a:lumMod val="95000"/>
                </a:schemeClr>
              </a:solidFill>
              <a:effectLst>
                <a:outerShdw blurRad="38100" dist="38100" dir="2700000" algn="tl">
                  <a:srgbClr val="000000">
                    <a:alpha val="43137"/>
                  </a:srgbClr>
                </a:outerShdw>
              </a:effectLst>
            </a:endParaRPr>
          </a:p>
        </p:txBody>
      </p:sp>
      <p:sp>
        <p:nvSpPr>
          <p:cNvPr id="6" name="5 CuadroTexto"/>
          <p:cNvSpPr txBox="1"/>
          <p:nvPr/>
        </p:nvSpPr>
        <p:spPr>
          <a:xfrm>
            <a:off x="1119611" y="997921"/>
            <a:ext cx="10681252" cy="5109091"/>
          </a:xfrm>
          <a:prstGeom prst="rect">
            <a:avLst/>
          </a:prstGeom>
          <a:noFill/>
        </p:spPr>
        <p:txBody>
          <a:bodyPr wrap="square" rtlCol="0">
            <a:spAutoFit/>
          </a:bodyPr>
          <a:lstStyle/>
          <a:p>
            <a:pPr algn="just"/>
            <a:r>
              <a:rPr lang="es-AR" sz="2000" b="1" u="sng" cap="all" dirty="0"/>
              <a:t>PRIORIDADES DE HILOS EN JAVA:</a:t>
            </a:r>
          </a:p>
          <a:p>
            <a:pPr algn="just"/>
            <a:endParaRPr lang="es-AR" cap="all" dirty="0"/>
          </a:p>
          <a:p>
            <a:pPr algn="just"/>
            <a:r>
              <a:rPr lang="es-AR" cap="all" dirty="0"/>
              <a:t>LA PRIORIDAD DE UN HILO INICIALMENTE ES LA MISMA QUE LA DEL HILO QUE LO CREO.</a:t>
            </a:r>
          </a:p>
          <a:p>
            <a:pPr algn="just"/>
            <a:endParaRPr lang="es-AR" cap="all" dirty="0"/>
          </a:p>
          <a:p>
            <a:pPr algn="just"/>
            <a:r>
              <a:rPr lang="es-AR" cap="all" dirty="0"/>
              <a:t>POR DEFECTO, TODO HILO COMIENZA EN PRIORIDAD 5.</a:t>
            </a:r>
          </a:p>
          <a:p>
            <a:pPr algn="just"/>
            <a:endParaRPr lang="es-AR" cap="all" dirty="0"/>
          </a:p>
          <a:p>
            <a:pPr algn="just"/>
            <a:r>
              <a:rPr lang="es-AR" cap="all" dirty="0"/>
              <a:t>EL RANGO DE HILOS EN JAVA ES:</a:t>
            </a:r>
          </a:p>
          <a:p>
            <a:pPr marL="742950" lvl="1" indent="-285750" algn="just">
              <a:buFont typeface="Arial" panose="020B0604020202020204" pitchFamily="34" charset="0"/>
              <a:buChar char="•"/>
            </a:pPr>
            <a:r>
              <a:rPr lang="es-AR" cap="all" dirty="0"/>
              <a:t>MIN_PRIORITY = 1.</a:t>
            </a:r>
          </a:p>
          <a:p>
            <a:pPr marL="742950" lvl="1" indent="-285750" algn="just">
              <a:buFont typeface="Arial" panose="020B0604020202020204" pitchFamily="34" charset="0"/>
              <a:buChar char="•"/>
            </a:pPr>
            <a:r>
              <a:rPr lang="es-AR" cap="all" dirty="0"/>
              <a:t>NORM_ PRIORITY = 5.</a:t>
            </a:r>
          </a:p>
          <a:p>
            <a:pPr marL="742950" lvl="1" indent="-285750" algn="just">
              <a:buFont typeface="Arial" panose="020B0604020202020204" pitchFamily="34" charset="0"/>
              <a:buChar char="•"/>
            </a:pPr>
            <a:r>
              <a:rPr lang="es-AR" cap="all" dirty="0"/>
              <a:t>MAX_ PRIORITY = 10.</a:t>
            </a:r>
          </a:p>
          <a:p>
            <a:pPr algn="just"/>
            <a:endParaRPr lang="es-AR" cap="all" dirty="0"/>
          </a:p>
          <a:p>
            <a:pPr algn="just"/>
            <a:r>
              <a:rPr lang="es-AR" cap="all" dirty="0"/>
              <a:t>LAS PRIORIDADES PUENDE CAMBIARSE EN CUALQUIER MOMENTO CON EL METODO SETPRIORITY(NUEVA_PRIORIDAD).</a:t>
            </a:r>
          </a:p>
          <a:p>
            <a:pPr algn="just"/>
            <a:endParaRPr lang="es-AR" cap="all" dirty="0"/>
          </a:p>
          <a:p>
            <a:pPr algn="just"/>
            <a:r>
              <a:rPr lang="es-AR" cap="all" dirty="0"/>
              <a:t>EL MÉTODO GETPRIORITY() RETORNA LA PRIORIDAD DE UN HILO.</a:t>
            </a:r>
          </a:p>
          <a:p>
            <a:pPr algn="just"/>
            <a:endParaRPr lang="es-AR" cap="all" dirty="0"/>
          </a:p>
          <a:p>
            <a:pPr algn="just"/>
            <a:r>
              <a:rPr lang="es-AR" cap="all" dirty="0"/>
              <a:t>EL MÉTODO YIELD() HACE QUE EL ACTUAL HILO EN EJECUCIÓN CEDA EL PASO PARA QUE SE EJECUTEN OTROS HILOS.</a:t>
            </a:r>
          </a:p>
        </p:txBody>
      </p:sp>
      <p:sp>
        <p:nvSpPr>
          <p:cNvPr id="13" name="Cuadro de texto 2">
            <a:extLst>
              <a:ext uri="{FF2B5EF4-FFF2-40B4-BE49-F238E27FC236}">
                <a16:creationId xmlns:a16="http://schemas.microsoft.com/office/drawing/2014/main" id="{AAE8F54E-1B3A-4600-AFCB-9226D0D550E2}"/>
              </a:ext>
            </a:extLst>
          </p:cNvPr>
          <p:cNvSpPr txBox="1">
            <a:spLocks noChangeArrowheads="1"/>
          </p:cNvSpPr>
          <p:nvPr/>
        </p:nvSpPr>
        <p:spPr bwMode="auto">
          <a:xfrm>
            <a:off x="2049260" y="0"/>
            <a:ext cx="8460035" cy="863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AR" altLang="es-AR" sz="4800" b="0" i="0" u="none" strike="noStrike" cap="none" normalizeH="0" baseline="0" dirty="0">
                <a:ln>
                  <a:noFill/>
                </a:ln>
                <a:solidFill>
                  <a:srgbClr val="FFFFFF"/>
                </a:solidFill>
                <a:effectLst/>
                <a:latin typeface="Calibri Light" panose="020F0302020204030204" pitchFamily="34" charset="0"/>
                <a:ea typeface="Calibri" panose="020F0502020204030204" pitchFamily="34" charset="0"/>
                <a:cs typeface="Calibri Light" panose="020F0302020204030204" pitchFamily="34" charset="0"/>
              </a:rPr>
              <a:t>PROGRAMACION CONCURRENTE</a:t>
            </a:r>
          </a:p>
        </p:txBody>
      </p:sp>
      <p:pic>
        <p:nvPicPr>
          <p:cNvPr id="12" name="Picture 5">
            <a:extLst>
              <a:ext uri="{FF2B5EF4-FFF2-40B4-BE49-F238E27FC236}">
                <a16:creationId xmlns:a16="http://schemas.microsoft.com/office/drawing/2014/main" id="{6B9287C5-A5BC-4517-9AB1-8F2E3194B7D9}"/>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72278" y="5808678"/>
            <a:ext cx="947333" cy="1049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811947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5" name="Imagen 31">
            <a:extLst>
              <a:ext uri="{FF2B5EF4-FFF2-40B4-BE49-F238E27FC236}">
                <a16:creationId xmlns:a16="http://schemas.microsoft.com/office/drawing/2014/main" id="{452E838D-7BB9-4864-AE07-88664BFD686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1048" y="6422"/>
            <a:ext cx="11410951" cy="907978"/>
          </a:xfrm>
          <a:prstGeom prst="rect">
            <a:avLst/>
          </a:prstGeom>
          <a:noFill/>
          <a:extLst>
            <a:ext uri="{909E8E84-426E-40DD-AFC4-6F175D3DCCD1}">
              <a14:hiddenFill xmlns:a14="http://schemas.microsoft.com/office/drawing/2010/main">
                <a:solidFill>
                  <a:srgbClr val="FFFFFF"/>
                </a:solidFill>
              </a14:hiddenFill>
            </a:ext>
          </a:extLst>
        </p:spPr>
      </p:pic>
      <p:pic>
        <p:nvPicPr>
          <p:cNvPr id="2056" name="Imagen 30">
            <a:extLst>
              <a:ext uri="{FF2B5EF4-FFF2-40B4-BE49-F238E27FC236}">
                <a16:creationId xmlns:a16="http://schemas.microsoft.com/office/drawing/2014/main" id="{8E90C719-CF33-4486-9AEB-EA64319F5A0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98" y="1725"/>
            <a:ext cx="1076624" cy="1623753"/>
          </a:xfrm>
          <a:prstGeom prst="rect">
            <a:avLst/>
          </a:prstGeom>
          <a:noFill/>
          <a:extLst>
            <a:ext uri="{909E8E84-426E-40DD-AFC4-6F175D3DCCD1}">
              <a14:hiddenFill xmlns:a14="http://schemas.microsoft.com/office/drawing/2010/main">
                <a:solidFill>
                  <a:srgbClr val="FFFFFF"/>
                </a:solidFill>
              </a14:hiddenFill>
            </a:ext>
          </a:extLst>
        </p:spPr>
      </p:pic>
      <p:sp>
        <p:nvSpPr>
          <p:cNvPr id="2" name="1 Rectángulo"/>
          <p:cNvSpPr/>
          <p:nvPr/>
        </p:nvSpPr>
        <p:spPr>
          <a:xfrm>
            <a:off x="-3198" y="6377614"/>
            <a:ext cx="12195197" cy="221966"/>
          </a:xfrm>
          <a:prstGeom prst="rect">
            <a:avLst/>
          </a:prstGeom>
          <a:solidFill>
            <a:srgbClr val="6800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3" name="2 CuadroTexto"/>
          <p:cNvSpPr txBox="1"/>
          <p:nvPr/>
        </p:nvSpPr>
        <p:spPr>
          <a:xfrm>
            <a:off x="10177664" y="6315046"/>
            <a:ext cx="2080591" cy="338554"/>
          </a:xfrm>
          <a:prstGeom prst="rect">
            <a:avLst/>
          </a:prstGeom>
          <a:noFill/>
        </p:spPr>
        <p:txBody>
          <a:bodyPr wrap="square" rtlCol="0">
            <a:spAutoFit/>
          </a:bodyPr>
          <a:lstStyle/>
          <a:p>
            <a:r>
              <a:rPr lang="es-ES" sz="1600" b="1" dirty="0">
                <a:solidFill>
                  <a:srgbClr val="FFFFFF"/>
                </a:solidFill>
                <a:latin typeface="Calibri Light" panose="020F0302020204030204" pitchFamily="34" charset="0"/>
                <a:ea typeface="Calibri" panose="020F0502020204030204" pitchFamily="34" charset="0"/>
                <a:cs typeface="Calibri Light" panose="020F0302020204030204" pitchFamily="34" charset="0"/>
              </a:rPr>
              <a:t>Modalidad Virtual</a:t>
            </a:r>
          </a:p>
        </p:txBody>
      </p:sp>
      <p:sp>
        <p:nvSpPr>
          <p:cNvPr id="11" name="1 Título">
            <a:extLst>
              <a:ext uri="{FF2B5EF4-FFF2-40B4-BE49-F238E27FC236}">
                <a16:creationId xmlns:a16="http://schemas.microsoft.com/office/drawing/2014/main" id="{580E64F2-5285-450B-9979-ADA4942F6DF8}"/>
              </a:ext>
            </a:extLst>
          </p:cNvPr>
          <p:cNvSpPr txBox="1">
            <a:spLocks/>
          </p:cNvSpPr>
          <p:nvPr/>
        </p:nvSpPr>
        <p:spPr>
          <a:xfrm>
            <a:off x="781048" y="95209"/>
            <a:ext cx="10515600" cy="819191"/>
          </a:xfrm>
          <a:prstGeom prst="rect">
            <a:avLst/>
          </a:prstGeom>
        </p:spPr>
        <p:txBody>
          <a:bodyPr rtlCol="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defRPr/>
            </a:pPr>
            <a:endParaRPr lang="es-AR" b="1" dirty="0">
              <a:solidFill>
                <a:schemeClr val="bg1">
                  <a:lumMod val="95000"/>
                </a:schemeClr>
              </a:solidFill>
              <a:effectLst>
                <a:outerShdw blurRad="38100" dist="38100" dir="2700000" algn="tl">
                  <a:srgbClr val="000000">
                    <a:alpha val="43137"/>
                  </a:srgbClr>
                </a:outerShdw>
              </a:effectLst>
            </a:endParaRPr>
          </a:p>
        </p:txBody>
      </p:sp>
      <p:sp>
        <p:nvSpPr>
          <p:cNvPr id="6" name="5 CuadroTexto"/>
          <p:cNvSpPr txBox="1"/>
          <p:nvPr/>
        </p:nvSpPr>
        <p:spPr>
          <a:xfrm>
            <a:off x="1119611" y="997921"/>
            <a:ext cx="10681252" cy="4462760"/>
          </a:xfrm>
          <a:prstGeom prst="rect">
            <a:avLst/>
          </a:prstGeom>
          <a:noFill/>
        </p:spPr>
        <p:txBody>
          <a:bodyPr wrap="square" rtlCol="0">
            <a:spAutoFit/>
          </a:bodyPr>
          <a:lstStyle/>
          <a:p>
            <a:pPr algn="just"/>
            <a:r>
              <a:rPr lang="es-AR" sz="3200" b="1" u="sng" cap="all" dirty="0"/>
              <a:t>HILOS DAEMON:</a:t>
            </a:r>
          </a:p>
          <a:p>
            <a:pPr algn="just"/>
            <a:endParaRPr lang="es-AR" sz="2800" cap="all" dirty="0"/>
          </a:p>
          <a:p>
            <a:pPr algn="just"/>
            <a:r>
              <a:rPr lang="es-AR" sz="2800" cap="all" dirty="0"/>
              <a:t>UN DAEMON SE EJECUTA DE MANERA CONTINUA COMO TAREA DE FONDO.</a:t>
            </a:r>
          </a:p>
          <a:p>
            <a:pPr algn="just"/>
            <a:endParaRPr lang="es-AR" sz="2800" cap="all" dirty="0"/>
          </a:p>
          <a:p>
            <a:pPr algn="just"/>
            <a:r>
              <a:rPr lang="es-AR" sz="2800" cap="all" dirty="0"/>
              <a:t>EN JAVA, PODEMOS DECLARAR UN HILO DAEMON CON EL MÉTODO SETDAEMON(TRUE).</a:t>
            </a:r>
          </a:p>
          <a:p>
            <a:pPr algn="just"/>
            <a:endParaRPr lang="es-AR" sz="2800" cap="all" dirty="0"/>
          </a:p>
          <a:p>
            <a:pPr algn="just"/>
            <a:r>
              <a:rPr lang="es-AR" sz="2800" cap="all" dirty="0"/>
              <a:t>TAMBIÉN PODEMOS AERIGUAR SI UN HILO ES UN DAEMON CON EL MÉTODO GETDAEMON().</a:t>
            </a:r>
          </a:p>
        </p:txBody>
      </p:sp>
      <p:sp>
        <p:nvSpPr>
          <p:cNvPr id="13" name="Cuadro de texto 2">
            <a:extLst>
              <a:ext uri="{FF2B5EF4-FFF2-40B4-BE49-F238E27FC236}">
                <a16:creationId xmlns:a16="http://schemas.microsoft.com/office/drawing/2014/main" id="{AAE8F54E-1B3A-4600-AFCB-9226D0D550E2}"/>
              </a:ext>
            </a:extLst>
          </p:cNvPr>
          <p:cNvSpPr txBox="1">
            <a:spLocks noChangeArrowheads="1"/>
          </p:cNvSpPr>
          <p:nvPr/>
        </p:nvSpPr>
        <p:spPr bwMode="auto">
          <a:xfrm>
            <a:off x="2049260" y="0"/>
            <a:ext cx="8460035" cy="863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AR" altLang="es-AR" sz="4800" b="0" i="0" u="none" strike="noStrike" cap="none" normalizeH="0" baseline="0" dirty="0">
                <a:ln>
                  <a:noFill/>
                </a:ln>
                <a:solidFill>
                  <a:srgbClr val="FFFFFF"/>
                </a:solidFill>
                <a:effectLst/>
                <a:latin typeface="Calibri Light" panose="020F0302020204030204" pitchFamily="34" charset="0"/>
                <a:ea typeface="Calibri" panose="020F0502020204030204" pitchFamily="34" charset="0"/>
                <a:cs typeface="Calibri Light" panose="020F0302020204030204" pitchFamily="34" charset="0"/>
              </a:rPr>
              <a:t>PROGRAMACION CONCURRENTE</a:t>
            </a:r>
          </a:p>
        </p:txBody>
      </p:sp>
      <p:pic>
        <p:nvPicPr>
          <p:cNvPr id="12" name="Picture 5">
            <a:extLst>
              <a:ext uri="{FF2B5EF4-FFF2-40B4-BE49-F238E27FC236}">
                <a16:creationId xmlns:a16="http://schemas.microsoft.com/office/drawing/2014/main" id="{6B9287C5-A5BC-4517-9AB1-8F2E3194B7D9}"/>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72278" y="5808678"/>
            <a:ext cx="947333" cy="1049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638382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5" name="Imagen 31">
            <a:extLst>
              <a:ext uri="{FF2B5EF4-FFF2-40B4-BE49-F238E27FC236}">
                <a16:creationId xmlns:a16="http://schemas.microsoft.com/office/drawing/2014/main" id="{452E838D-7BB9-4864-AE07-88664BFD686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1048" y="6422"/>
            <a:ext cx="11410951" cy="907978"/>
          </a:xfrm>
          <a:prstGeom prst="rect">
            <a:avLst/>
          </a:prstGeom>
          <a:noFill/>
          <a:extLst>
            <a:ext uri="{909E8E84-426E-40DD-AFC4-6F175D3DCCD1}">
              <a14:hiddenFill xmlns:a14="http://schemas.microsoft.com/office/drawing/2010/main">
                <a:solidFill>
                  <a:srgbClr val="FFFFFF"/>
                </a:solidFill>
              </a14:hiddenFill>
            </a:ext>
          </a:extLst>
        </p:spPr>
      </p:pic>
      <p:pic>
        <p:nvPicPr>
          <p:cNvPr id="2056" name="Imagen 30">
            <a:extLst>
              <a:ext uri="{FF2B5EF4-FFF2-40B4-BE49-F238E27FC236}">
                <a16:creationId xmlns:a16="http://schemas.microsoft.com/office/drawing/2014/main" id="{8E90C719-CF33-4486-9AEB-EA64319F5A0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98" y="1725"/>
            <a:ext cx="1076624" cy="1623753"/>
          </a:xfrm>
          <a:prstGeom prst="rect">
            <a:avLst/>
          </a:prstGeom>
          <a:noFill/>
          <a:extLst>
            <a:ext uri="{909E8E84-426E-40DD-AFC4-6F175D3DCCD1}">
              <a14:hiddenFill xmlns:a14="http://schemas.microsoft.com/office/drawing/2010/main">
                <a:solidFill>
                  <a:srgbClr val="FFFFFF"/>
                </a:solidFill>
              </a14:hiddenFill>
            </a:ext>
          </a:extLst>
        </p:spPr>
      </p:pic>
      <p:sp>
        <p:nvSpPr>
          <p:cNvPr id="2" name="1 Rectángulo"/>
          <p:cNvSpPr/>
          <p:nvPr/>
        </p:nvSpPr>
        <p:spPr>
          <a:xfrm>
            <a:off x="-3198" y="6377614"/>
            <a:ext cx="12195197" cy="221966"/>
          </a:xfrm>
          <a:prstGeom prst="rect">
            <a:avLst/>
          </a:prstGeom>
          <a:solidFill>
            <a:srgbClr val="6800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3" name="2 CuadroTexto"/>
          <p:cNvSpPr txBox="1"/>
          <p:nvPr/>
        </p:nvSpPr>
        <p:spPr>
          <a:xfrm>
            <a:off x="10177664" y="6315046"/>
            <a:ext cx="2080591" cy="338554"/>
          </a:xfrm>
          <a:prstGeom prst="rect">
            <a:avLst/>
          </a:prstGeom>
          <a:noFill/>
        </p:spPr>
        <p:txBody>
          <a:bodyPr wrap="square" rtlCol="0">
            <a:spAutoFit/>
          </a:bodyPr>
          <a:lstStyle/>
          <a:p>
            <a:r>
              <a:rPr lang="es-ES" sz="1600" b="1" dirty="0">
                <a:solidFill>
                  <a:srgbClr val="FFFFFF"/>
                </a:solidFill>
                <a:latin typeface="Calibri Light" panose="020F0302020204030204" pitchFamily="34" charset="0"/>
                <a:ea typeface="Calibri" panose="020F0502020204030204" pitchFamily="34" charset="0"/>
                <a:cs typeface="Calibri Light" panose="020F0302020204030204" pitchFamily="34" charset="0"/>
              </a:rPr>
              <a:t>Modalidad Virtual</a:t>
            </a:r>
          </a:p>
        </p:txBody>
      </p:sp>
      <p:sp>
        <p:nvSpPr>
          <p:cNvPr id="11" name="1 Título">
            <a:extLst>
              <a:ext uri="{FF2B5EF4-FFF2-40B4-BE49-F238E27FC236}">
                <a16:creationId xmlns:a16="http://schemas.microsoft.com/office/drawing/2014/main" id="{580E64F2-5285-450B-9979-ADA4942F6DF8}"/>
              </a:ext>
            </a:extLst>
          </p:cNvPr>
          <p:cNvSpPr txBox="1">
            <a:spLocks/>
          </p:cNvSpPr>
          <p:nvPr/>
        </p:nvSpPr>
        <p:spPr>
          <a:xfrm>
            <a:off x="781048" y="95209"/>
            <a:ext cx="10515600" cy="819191"/>
          </a:xfrm>
          <a:prstGeom prst="rect">
            <a:avLst/>
          </a:prstGeom>
        </p:spPr>
        <p:txBody>
          <a:bodyPr rtlCol="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defRPr/>
            </a:pPr>
            <a:endParaRPr lang="es-AR" b="1" dirty="0">
              <a:solidFill>
                <a:schemeClr val="bg1">
                  <a:lumMod val="95000"/>
                </a:schemeClr>
              </a:solidFill>
              <a:effectLst>
                <a:outerShdw blurRad="38100" dist="38100" dir="2700000" algn="tl">
                  <a:srgbClr val="000000">
                    <a:alpha val="43137"/>
                  </a:srgbClr>
                </a:outerShdw>
              </a:effectLst>
            </a:endParaRPr>
          </a:p>
        </p:txBody>
      </p:sp>
      <p:sp>
        <p:nvSpPr>
          <p:cNvPr id="6" name="5 CuadroTexto"/>
          <p:cNvSpPr txBox="1"/>
          <p:nvPr/>
        </p:nvSpPr>
        <p:spPr>
          <a:xfrm>
            <a:off x="1073426" y="920822"/>
            <a:ext cx="10681252" cy="400110"/>
          </a:xfrm>
          <a:prstGeom prst="rect">
            <a:avLst/>
          </a:prstGeom>
          <a:noFill/>
        </p:spPr>
        <p:txBody>
          <a:bodyPr wrap="square" rtlCol="0">
            <a:spAutoFit/>
          </a:bodyPr>
          <a:lstStyle/>
          <a:p>
            <a:pPr algn="just"/>
            <a:r>
              <a:rPr lang="es-AR" sz="2000" b="1" u="sng" cap="all" dirty="0"/>
              <a:t>LA CLASE THREAD – ATRIBUTOS:</a:t>
            </a:r>
          </a:p>
        </p:txBody>
      </p:sp>
      <p:sp>
        <p:nvSpPr>
          <p:cNvPr id="13" name="Cuadro de texto 2">
            <a:extLst>
              <a:ext uri="{FF2B5EF4-FFF2-40B4-BE49-F238E27FC236}">
                <a16:creationId xmlns:a16="http://schemas.microsoft.com/office/drawing/2014/main" id="{AAE8F54E-1B3A-4600-AFCB-9226D0D550E2}"/>
              </a:ext>
            </a:extLst>
          </p:cNvPr>
          <p:cNvSpPr txBox="1">
            <a:spLocks noChangeArrowheads="1"/>
          </p:cNvSpPr>
          <p:nvPr/>
        </p:nvSpPr>
        <p:spPr bwMode="auto">
          <a:xfrm>
            <a:off x="2049260" y="0"/>
            <a:ext cx="8460035" cy="863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AR" altLang="es-AR" sz="4800" b="0" i="0" u="none" strike="noStrike" cap="none" normalizeH="0" baseline="0" dirty="0">
                <a:ln>
                  <a:noFill/>
                </a:ln>
                <a:solidFill>
                  <a:srgbClr val="FFFFFF"/>
                </a:solidFill>
                <a:effectLst/>
                <a:latin typeface="Calibri Light" panose="020F0302020204030204" pitchFamily="34" charset="0"/>
                <a:ea typeface="Calibri" panose="020F0502020204030204" pitchFamily="34" charset="0"/>
                <a:cs typeface="Calibri Light" panose="020F0302020204030204" pitchFamily="34" charset="0"/>
              </a:rPr>
              <a:t>PROGRAMACION CONCURRENTE</a:t>
            </a:r>
          </a:p>
        </p:txBody>
      </p:sp>
      <p:pic>
        <p:nvPicPr>
          <p:cNvPr id="12" name="Picture 5">
            <a:extLst>
              <a:ext uri="{FF2B5EF4-FFF2-40B4-BE49-F238E27FC236}">
                <a16:creationId xmlns:a16="http://schemas.microsoft.com/office/drawing/2014/main" id="{6B9287C5-A5BC-4517-9AB1-8F2E3194B7D9}"/>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72278" y="5808678"/>
            <a:ext cx="947333" cy="1049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Imagen 4">
            <a:extLst>
              <a:ext uri="{FF2B5EF4-FFF2-40B4-BE49-F238E27FC236}">
                <a16:creationId xmlns:a16="http://schemas.microsoft.com/office/drawing/2014/main" id="{06ED52C4-85F0-4212-9A1C-B2DED430472A}"/>
              </a:ext>
            </a:extLst>
          </p:cNvPr>
          <p:cNvPicPr>
            <a:picLocks noChangeAspect="1"/>
          </p:cNvPicPr>
          <p:nvPr/>
        </p:nvPicPr>
        <p:blipFill>
          <a:blip r:embed="rId5"/>
          <a:stretch>
            <a:fillRect/>
          </a:stretch>
        </p:blipFill>
        <p:spPr>
          <a:xfrm>
            <a:off x="1292086" y="1453972"/>
            <a:ext cx="10681252" cy="3950055"/>
          </a:xfrm>
          <a:prstGeom prst="rect">
            <a:avLst/>
          </a:prstGeom>
        </p:spPr>
      </p:pic>
    </p:spTree>
    <p:extLst>
      <p:ext uri="{BB962C8B-B14F-4D97-AF65-F5344CB8AC3E}">
        <p14:creationId xmlns:p14="http://schemas.microsoft.com/office/powerpoint/2010/main" val="27254813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5" name="Imagen 31">
            <a:extLst>
              <a:ext uri="{FF2B5EF4-FFF2-40B4-BE49-F238E27FC236}">
                <a16:creationId xmlns:a16="http://schemas.microsoft.com/office/drawing/2014/main" id="{452E838D-7BB9-4864-AE07-88664BFD686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1048" y="6422"/>
            <a:ext cx="11410951" cy="907978"/>
          </a:xfrm>
          <a:prstGeom prst="rect">
            <a:avLst/>
          </a:prstGeom>
          <a:noFill/>
          <a:extLst>
            <a:ext uri="{909E8E84-426E-40DD-AFC4-6F175D3DCCD1}">
              <a14:hiddenFill xmlns:a14="http://schemas.microsoft.com/office/drawing/2010/main">
                <a:solidFill>
                  <a:srgbClr val="FFFFFF"/>
                </a:solidFill>
              </a14:hiddenFill>
            </a:ext>
          </a:extLst>
        </p:spPr>
      </p:pic>
      <p:pic>
        <p:nvPicPr>
          <p:cNvPr id="2056" name="Imagen 30">
            <a:extLst>
              <a:ext uri="{FF2B5EF4-FFF2-40B4-BE49-F238E27FC236}">
                <a16:creationId xmlns:a16="http://schemas.microsoft.com/office/drawing/2014/main" id="{8E90C719-CF33-4486-9AEB-EA64319F5A0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98" y="1725"/>
            <a:ext cx="1076624" cy="1623753"/>
          </a:xfrm>
          <a:prstGeom prst="rect">
            <a:avLst/>
          </a:prstGeom>
          <a:noFill/>
          <a:extLst>
            <a:ext uri="{909E8E84-426E-40DD-AFC4-6F175D3DCCD1}">
              <a14:hiddenFill xmlns:a14="http://schemas.microsoft.com/office/drawing/2010/main">
                <a:solidFill>
                  <a:srgbClr val="FFFFFF"/>
                </a:solidFill>
              </a14:hiddenFill>
            </a:ext>
          </a:extLst>
        </p:spPr>
      </p:pic>
      <p:sp>
        <p:nvSpPr>
          <p:cNvPr id="2" name="1 Rectángulo"/>
          <p:cNvSpPr/>
          <p:nvPr/>
        </p:nvSpPr>
        <p:spPr>
          <a:xfrm>
            <a:off x="-3198" y="6377614"/>
            <a:ext cx="12195197" cy="221966"/>
          </a:xfrm>
          <a:prstGeom prst="rect">
            <a:avLst/>
          </a:prstGeom>
          <a:solidFill>
            <a:srgbClr val="6800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3" name="2 CuadroTexto"/>
          <p:cNvSpPr txBox="1"/>
          <p:nvPr/>
        </p:nvSpPr>
        <p:spPr>
          <a:xfrm>
            <a:off x="10177664" y="6315046"/>
            <a:ext cx="2080591" cy="338554"/>
          </a:xfrm>
          <a:prstGeom prst="rect">
            <a:avLst/>
          </a:prstGeom>
          <a:noFill/>
        </p:spPr>
        <p:txBody>
          <a:bodyPr wrap="square" rtlCol="0">
            <a:spAutoFit/>
          </a:bodyPr>
          <a:lstStyle/>
          <a:p>
            <a:r>
              <a:rPr lang="es-ES" sz="1600" b="1" dirty="0">
                <a:solidFill>
                  <a:srgbClr val="FFFFFF"/>
                </a:solidFill>
                <a:latin typeface="Calibri Light" panose="020F0302020204030204" pitchFamily="34" charset="0"/>
                <a:ea typeface="Calibri" panose="020F0502020204030204" pitchFamily="34" charset="0"/>
                <a:cs typeface="Calibri Light" panose="020F0302020204030204" pitchFamily="34" charset="0"/>
              </a:rPr>
              <a:t>Modalidad Virtual</a:t>
            </a:r>
          </a:p>
        </p:txBody>
      </p:sp>
      <p:sp>
        <p:nvSpPr>
          <p:cNvPr id="11" name="1 Título">
            <a:extLst>
              <a:ext uri="{FF2B5EF4-FFF2-40B4-BE49-F238E27FC236}">
                <a16:creationId xmlns:a16="http://schemas.microsoft.com/office/drawing/2014/main" id="{580E64F2-5285-450B-9979-ADA4942F6DF8}"/>
              </a:ext>
            </a:extLst>
          </p:cNvPr>
          <p:cNvSpPr txBox="1">
            <a:spLocks/>
          </p:cNvSpPr>
          <p:nvPr/>
        </p:nvSpPr>
        <p:spPr>
          <a:xfrm>
            <a:off x="781048" y="95209"/>
            <a:ext cx="10515600" cy="819191"/>
          </a:xfrm>
          <a:prstGeom prst="rect">
            <a:avLst/>
          </a:prstGeom>
        </p:spPr>
        <p:txBody>
          <a:bodyPr rtlCol="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defRPr/>
            </a:pPr>
            <a:endParaRPr lang="es-AR" b="1" dirty="0">
              <a:solidFill>
                <a:schemeClr val="bg1">
                  <a:lumMod val="95000"/>
                </a:schemeClr>
              </a:solidFill>
              <a:effectLst>
                <a:outerShdw blurRad="38100" dist="38100" dir="2700000" algn="tl">
                  <a:srgbClr val="000000">
                    <a:alpha val="43137"/>
                  </a:srgbClr>
                </a:outerShdw>
              </a:effectLst>
            </a:endParaRPr>
          </a:p>
        </p:txBody>
      </p:sp>
      <p:sp>
        <p:nvSpPr>
          <p:cNvPr id="6" name="5 CuadroTexto"/>
          <p:cNvSpPr txBox="1"/>
          <p:nvPr/>
        </p:nvSpPr>
        <p:spPr>
          <a:xfrm>
            <a:off x="1073426" y="920822"/>
            <a:ext cx="10681252" cy="400110"/>
          </a:xfrm>
          <a:prstGeom prst="rect">
            <a:avLst/>
          </a:prstGeom>
          <a:noFill/>
        </p:spPr>
        <p:txBody>
          <a:bodyPr wrap="square" rtlCol="0">
            <a:spAutoFit/>
          </a:bodyPr>
          <a:lstStyle/>
          <a:p>
            <a:pPr algn="just"/>
            <a:r>
              <a:rPr lang="es-AR" sz="2000" b="1" u="sng" cap="all" dirty="0"/>
              <a:t>LA CLASE THREAD – CONSTRUCTORES:</a:t>
            </a:r>
          </a:p>
        </p:txBody>
      </p:sp>
      <p:sp>
        <p:nvSpPr>
          <p:cNvPr id="13" name="Cuadro de texto 2">
            <a:extLst>
              <a:ext uri="{FF2B5EF4-FFF2-40B4-BE49-F238E27FC236}">
                <a16:creationId xmlns:a16="http://schemas.microsoft.com/office/drawing/2014/main" id="{AAE8F54E-1B3A-4600-AFCB-9226D0D550E2}"/>
              </a:ext>
            </a:extLst>
          </p:cNvPr>
          <p:cNvSpPr txBox="1">
            <a:spLocks noChangeArrowheads="1"/>
          </p:cNvSpPr>
          <p:nvPr/>
        </p:nvSpPr>
        <p:spPr bwMode="auto">
          <a:xfrm>
            <a:off x="2049260" y="0"/>
            <a:ext cx="8460035" cy="863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AR" altLang="es-AR" sz="4800" b="0" i="0" u="none" strike="noStrike" cap="none" normalizeH="0" baseline="0" dirty="0">
                <a:ln>
                  <a:noFill/>
                </a:ln>
                <a:solidFill>
                  <a:srgbClr val="FFFFFF"/>
                </a:solidFill>
                <a:effectLst/>
                <a:latin typeface="Calibri Light" panose="020F0302020204030204" pitchFamily="34" charset="0"/>
                <a:ea typeface="Calibri" panose="020F0502020204030204" pitchFamily="34" charset="0"/>
                <a:cs typeface="Calibri Light" panose="020F0302020204030204" pitchFamily="34" charset="0"/>
              </a:rPr>
              <a:t>PROGRAMACION CONCURRENTE</a:t>
            </a:r>
          </a:p>
        </p:txBody>
      </p:sp>
      <p:pic>
        <p:nvPicPr>
          <p:cNvPr id="12" name="Picture 5">
            <a:extLst>
              <a:ext uri="{FF2B5EF4-FFF2-40B4-BE49-F238E27FC236}">
                <a16:creationId xmlns:a16="http://schemas.microsoft.com/office/drawing/2014/main" id="{6B9287C5-A5BC-4517-9AB1-8F2E3194B7D9}"/>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72278" y="5808678"/>
            <a:ext cx="947333" cy="1049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Imagen 4">
            <a:extLst>
              <a:ext uri="{FF2B5EF4-FFF2-40B4-BE49-F238E27FC236}">
                <a16:creationId xmlns:a16="http://schemas.microsoft.com/office/drawing/2014/main" id="{A25F423E-6678-4F45-8B74-C1E140D89B48}"/>
              </a:ext>
            </a:extLst>
          </p:cNvPr>
          <p:cNvPicPr>
            <a:picLocks noChangeAspect="1"/>
          </p:cNvPicPr>
          <p:nvPr/>
        </p:nvPicPr>
        <p:blipFill>
          <a:blip r:embed="rId5"/>
          <a:stretch>
            <a:fillRect/>
          </a:stretch>
        </p:blipFill>
        <p:spPr>
          <a:xfrm>
            <a:off x="2307609" y="1335902"/>
            <a:ext cx="8357827" cy="4987692"/>
          </a:xfrm>
          <a:prstGeom prst="rect">
            <a:avLst/>
          </a:prstGeom>
        </p:spPr>
      </p:pic>
    </p:spTree>
    <p:extLst>
      <p:ext uri="{BB962C8B-B14F-4D97-AF65-F5344CB8AC3E}">
        <p14:creationId xmlns:p14="http://schemas.microsoft.com/office/powerpoint/2010/main" val="20584552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5" name="Imagen 31">
            <a:extLst>
              <a:ext uri="{FF2B5EF4-FFF2-40B4-BE49-F238E27FC236}">
                <a16:creationId xmlns:a16="http://schemas.microsoft.com/office/drawing/2014/main" id="{452E838D-7BB9-4864-AE07-88664BFD686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1048" y="6422"/>
            <a:ext cx="11410951" cy="907978"/>
          </a:xfrm>
          <a:prstGeom prst="rect">
            <a:avLst/>
          </a:prstGeom>
          <a:noFill/>
          <a:extLst>
            <a:ext uri="{909E8E84-426E-40DD-AFC4-6F175D3DCCD1}">
              <a14:hiddenFill xmlns:a14="http://schemas.microsoft.com/office/drawing/2010/main">
                <a:solidFill>
                  <a:srgbClr val="FFFFFF"/>
                </a:solidFill>
              </a14:hiddenFill>
            </a:ext>
          </a:extLst>
        </p:spPr>
      </p:pic>
      <p:pic>
        <p:nvPicPr>
          <p:cNvPr id="2056" name="Imagen 30">
            <a:extLst>
              <a:ext uri="{FF2B5EF4-FFF2-40B4-BE49-F238E27FC236}">
                <a16:creationId xmlns:a16="http://schemas.microsoft.com/office/drawing/2014/main" id="{8E90C719-CF33-4486-9AEB-EA64319F5A0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98" y="1725"/>
            <a:ext cx="1076624" cy="1623753"/>
          </a:xfrm>
          <a:prstGeom prst="rect">
            <a:avLst/>
          </a:prstGeom>
          <a:noFill/>
          <a:extLst>
            <a:ext uri="{909E8E84-426E-40DD-AFC4-6F175D3DCCD1}">
              <a14:hiddenFill xmlns:a14="http://schemas.microsoft.com/office/drawing/2010/main">
                <a:solidFill>
                  <a:srgbClr val="FFFFFF"/>
                </a:solidFill>
              </a14:hiddenFill>
            </a:ext>
          </a:extLst>
        </p:spPr>
      </p:pic>
      <p:sp>
        <p:nvSpPr>
          <p:cNvPr id="2" name="1 Rectángulo"/>
          <p:cNvSpPr/>
          <p:nvPr/>
        </p:nvSpPr>
        <p:spPr>
          <a:xfrm>
            <a:off x="-3198" y="6377614"/>
            <a:ext cx="12195197" cy="221966"/>
          </a:xfrm>
          <a:prstGeom prst="rect">
            <a:avLst/>
          </a:prstGeom>
          <a:solidFill>
            <a:srgbClr val="6800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3" name="2 CuadroTexto"/>
          <p:cNvSpPr txBox="1"/>
          <p:nvPr/>
        </p:nvSpPr>
        <p:spPr>
          <a:xfrm>
            <a:off x="10177664" y="6315046"/>
            <a:ext cx="2080591" cy="338554"/>
          </a:xfrm>
          <a:prstGeom prst="rect">
            <a:avLst/>
          </a:prstGeom>
          <a:noFill/>
        </p:spPr>
        <p:txBody>
          <a:bodyPr wrap="square" rtlCol="0">
            <a:spAutoFit/>
          </a:bodyPr>
          <a:lstStyle/>
          <a:p>
            <a:r>
              <a:rPr lang="es-ES" sz="1600" b="1" dirty="0">
                <a:solidFill>
                  <a:srgbClr val="FFFFFF"/>
                </a:solidFill>
                <a:latin typeface="Calibri Light" panose="020F0302020204030204" pitchFamily="34" charset="0"/>
                <a:ea typeface="Calibri" panose="020F0502020204030204" pitchFamily="34" charset="0"/>
                <a:cs typeface="Calibri Light" panose="020F0302020204030204" pitchFamily="34" charset="0"/>
              </a:rPr>
              <a:t>Modalidad Virtual</a:t>
            </a:r>
          </a:p>
        </p:txBody>
      </p:sp>
      <p:sp>
        <p:nvSpPr>
          <p:cNvPr id="11" name="1 Título">
            <a:extLst>
              <a:ext uri="{FF2B5EF4-FFF2-40B4-BE49-F238E27FC236}">
                <a16:creationId xmlns:a16="http://schemas.microsoft.com/office/drawing/2014/main" id="{580E64F2-5285-450B-9979-ADA4942F6DF8}"/>
              </a:ext>
            </a:extLst>
          </p:cNvPr>
          <p:cNvSpPr txBox="1">
            <a:spLocks/>
          </p:cNvSpPr>
          <p:nvPr/>
        </p:nvSpPr>
        <p:spPr>
          <a:xfrm>
            <a:off x="781048" y="95209"/>
            <a:ext cx="10515600" cy="819191"/>
          </a:xfrm>
          <a:prstGeom prst="rect">
            <a:avLst/>
          </a:prstGeom>
        </p:spPr>
        <p:txBody>
          <a:bodyPr rtlCol="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defRPr/>
            </a:pPr>
            <a:endParaRPr lang="es-AR" b="1" dirty="0">
              <a:solidFill>
                <a:schemeClr val="bg1">
                  <a:lumMod val="95000"/>
                </a:schemeClr>
              </a:solidFill>
              <a:effectLst>
                <a:outerShdw blurRad="38100" dist="38100" dir="2700000" algn="tl">
                  <a:srgbClr val="000000">
                    <a:alpha val="43137"/>
                  </a:srgbClr>
                </a:outerShdw>
              </a:effectLst>
            </a:endParaRPr>
          </a:p>
        </p:txBody>
      </p:sp>
      <p:sp>
        <p:nvSpPr>
          <p:cNvPr id="6" name="5 CuadroTexto"/>
          <p:cNvSpPr txBox="1"/>
          <p:nvPr/>
        </p:nvSpPr>
        <p:spPr>
          <a:xfrm>
            <a:off x="1073426" y="920822"/>
            <a:ext cx="10681252" cy="400110"/>
          </a:xfrm>
          <a:prstGeom prst="rect">
            <a:avLst/>
          </a:prstGeom>
          <a:noFill/>
        </p:spPr>
        <p:txBody>
          <a:bodyPr wrap="square" rtlCol="0">
            <a:spAutoFit/>
          </a:bodyPr>
          <a:lstStyle/>
          <a:p>
            <a:pPr algn="just"/>
            <a:r>
              <a:rPr lang="es-AR" sz="2000" b="1" u="sng" cap="all" dirty="0"/>
              <a:t>LA CLASE THREAD – MÉTODOS:</a:t>
            </a:r>
          </a:p>
        </p:txBody>
      </p:sp>
      <p:sp>
        <p:nvSpPr>
          <p:cNvPr id="13" name="Cuadro de texto 2">
            <a:extLst>
              <a:ext uri="{FF2B5EF4-FFF2-40B4-BE49-F238E27FC236}">
                <a16:creationId xmlns:a16="http://schemas.microsoft.com/office/drawing/2014/main" id="{AAE8F54E-1B3A-4600-AFCB-9226D0D550E2}"/>
              </a:ext>
            </a:extLst>
          </p:cNvPr>
          <p:cNvSpPr txBox="1">
            <a:spLocks noChangeArrowheads="1"/>
          </p:cNvSpPr>
          <p:nvPr/>
        </p:nvSpPr>
        <p:spPr bwMode="auto">
          <a:xfrm>
            <a:off x="2049260" y="0"/>
            <a:ext cx="8460035" cy="863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AR" altLang="es-AR" sz="4800" b="0" i="0" u="none" strike="noStrike" cap="none" normalizeH="0" baseline="0" dirty="0">
                <a:ln>
                  <a:noFill/>
                </a:ln>
                <a:solidFill>
                  <a:srgbClr val="FFFFFF"/>
                </a:solidFill>
                <a:effectLst/>
                <a:latin typeface="Calibri Light" panose="020F0302020204030204" pitchFamily="34" charset="0"/>
                <a:ea typeface="Calibri" panose="020F0502020204030204" pitchFamily="34" charset="0"/>
                <a:cs typeface="Calibri Light" panose="020F0302020204030204" pitchFamily="34" charset="0"/>
              </a:rPr>
              <a:t>PROGRAMACION CONCURRENTE</a:t>
            </a:r>
          </a:p>
        </p:txBody>
      </p:sp>
      <p:pic>
        <p:nvPicPr>
          <p:cNvPr id="12" name="Picture 5">
            <a:extLst>
              <a:ext uri="{FF2B5EF4-FFF2-40B4-BE49-F238E27FC236}">
                <a16:creationId xmlns:a16="http://schemas.microsoft.com/office/drawing/2014/main" id="{6B9287C5-A5BC-4517-9AB1-8F2E3194B7D9}"/>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72278" y="5808678"/>
            <a:ext cx="947333" cy="1049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Imagen 4">
            <a:extLst>
              <a:ext uri="{FF2B5EF4-FFF2-40B4-BE49-F238E27FC236}">
                <a16:creationId xmlns:a16="http://schemas.microsoft.com/office/drawing/2014/main" id="{12DEE4E5-046E-4853-B8EE-CCD35C5313B8}"/>
              </a:ext>
            </a:extLst>
          </p:cNvPr>
          <p:cNvPicPr>
            <a:picLocks noChangeAspect="1"/>
          </p:cNvPicPr>
          <p:nvPr/>
        </p:nvPicPr>
        <p:blipFill>
          <a:blip r:embed="rId5"/>
          <a:stretch>
            <a:fillRect/>
          </a:stretch>
        </p:blipFill>
        <p:spPr>
          <a:xfrm>
            <a:off x="1972604" y="1273678"/>
            <a:ext cx="9027837" cy="5072652"/>
          </a:xfrm>
          <a:prstGeom prst="rect">
            <a:avLst/>
          </a:prstGeom>
        </p:spPr>
      </p:pic>
    </p:spTree>
    <p:extLst>
      <p:ext uri="{BB962C8B-B14F-4D97-AF65-F5344CB8AC3E}">
        <p14:creationId xmlns:p14="http://schemas.microsoft.com/office/powerpoint/2010/main" val="305247466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5" name="Imagen 31">
            <a:extLst>
              <a:ext uri="{FF2B5EF4-FFF2-40B4-BE49-F238E27FC236}">
                <a16:creationId xmlns:a16="http://schemas.microsoft.com/office/drawing/2014/main" id="{452E838D-7BB9-4864-AE07-88664BFD686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1048" y="6422"/>
            <a:ext cx="11410951" cy="907978"/>
          </a:xfrm>
          <a:prstGeom prst="rect">
            <a:avLst/>
          </a:prstGeom>
          <a:noFill/>
          <a:extLst>
            <a:ext uri="{909E8E84-426E-40DD-AFC4-6F175D3DCCD1}">
              <a14:hiddenFill xmlns:a14="http://schemas.microsoft.com/office/drawing/2010/main">
                <a:solidFill>
                  <a:srgbClr val="FFFFFF"/>
                </a:solidFill>
              </a14:hiddenFill>
            </a:ext>
          </a:extLst>
        </p:spPr>
      </p:pic>
      <p:pic>
        <p:nvPicPr>
          <p:cNvPr id="2056" name="Imagen 30">
            <a:extLst>
              <a:ext uri="{FF2B5EF4-FFF2-40B4-BE49-F238E27FC236}">
                <a16:creationId xmlns:a16="http://schemas.microsoft.com/office/drawing/2014/main" id="{8E90C719-CF33-4486-9AEB-EA64319F5A0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98" y="1725"/>
            <a:ext cx="1076624" cy="1623753"/>
          </a:xfrm>
          <a:prstGeom prst="rect">
            <a:avLst/>
          </a:prstGeom>
          <a:noFill/>
          <a:extLst>
            <a:ext uri="{909E8E84-426E-40DD-AFC4-6F175D3DCCD1}">
              <a14:hiddenFill xmlns:a14="http://schemas.microsoft.com/office/drawing/2010/main">
                <a:solidFill>
                  <a:srgbClr val="FFFFFF"/>
                </a:solidFill>
              </a14:hiddenFill>
            </a:ext>
          </a:extLst>
        </p:spPr>
      </p:pic>
      <p:sp>
        <p:nvSpPr>
          <p:cNvPr id="2" name="1 Rectángulo"/>
          <p:cNvSpPr/>
          <p:nvPr/>
        </p:nvSpPr>
        <p:spPr>
          <a:xfrm>
            <a:off x="-3198" y="6377614"/>
            <a:ext cx="12195197" cy="221966"/>
          </a:xfrm>
          <a:prstGeom prst="rect">
            <a:avLst/>
          </a:prstGeom>
          <a:solidFill>
            <a:srgbClr val="6800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3" name="2 CuadroTexto"/>
          <p:cNvSpPr txBox="1"/>
          <p:nvPr/>
        </p:nvSpPr>
        <p:spPr>
          <a:xfrm>
            <a:off x="10177664" y="6315046"/>
            <a:ext cx="2080591" cy="338554"/>
          </a:xfrm>
          <a:prstGeom prst="rect">
            <a:avLst/>
          </a:prstGeom>
          <a:noFill/>
        </p:spPr>
        <p:txBody>
          <a:bodyPr wrap="square" rtlCol="0">
            <a:spAutoFit/>
          </a:bodyPr>
          <a:lstStyle/>
          <a:p>
            <a:r>
              <a:rPr lang="es-ES" sz="1600" b="1" dirty="0">
                <a:solidFill>
                  <a:srgbClr val="FFFFFF"/>
                </a:solidFill>
                <a:latin typeface="Calibri Light" panose="020F0302020204030204" pitchFamily="34" charset="0"/>
                <a:ea typeface="Calibri" panose="020F0502020204030204" pitchFamily="34" charset="0"/>
                <a:cs typeface="Calibri Light" panose="020F0302020204030204" pitchFamily="34" charset="0"/>
              </a:rPr>
              <a:t>Modalidad Virtual</a:t>
            </a:r>
          </a:p>
        </p:txBody>
      </p:sp>
      <p:sp>
        <p:nvSpPr>
          <p:cNvPr id="11" name="1 Título">
            <a:extLst>
              <a:ext uri="{FF2B5EF4-FFF2-40B4-BE49-F238E27FC236}">
                <a16:creationId xmlns:a16="http://schemas.microsoft.com/office/drawing/2014/main" id="{580E64F2-5285-450B-9979-ADA4942F6DF8}"/>
              </a:ext>
            </a:extLst>
          </p:cNvPr>
          <p:cNvSpPr txBox="1">
            <a:spLocks/>
          </p:cNvSpPr>
          <p:nvPr/>
        </p:nvSpPr>
        <p:spPr>
          <a:xfrm>
            <a:off x="781048" y="95209"/>
            <a:ext cx="10515600" cy="819191"/>
          </a:xfrm>
          <a:prstGeom prst="rect">
            <a:avLst/>
          </a:prstGeom>
        </p:spPr>
        <p:txBody>
          <a:bodyPr rtlCol="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defRPr/>
            </a:pPr>
            <a:endParaRPr lang="es-AR" b="1" dirty="0">
              <a:solidFill>
                <a:schemeClr val="bg1">
                  <a:lumMod val="95000"/>
                </a:schemeClr>
              </a:solidFill>
              <a:effectLst>
                <a:outerShdw blurRad="38100" dist="38100" dir="2700000" algn="tl">
                  <a:srgbClr val="000000">
                    <a:alpha val="43137"/>
                  </a:srgbClr>
                </a:outerShdw>
              </a:effectLst>
            </a:endParaRPr>
          </a:p>
        </p:txBody>
      </p:sp>
      <p:sp>
        <p:nvSpPr>
          <p:cNvPr id="6" name="5 CuadroTexto"/>
          <p:cNvSpPr txBox="1"/>
          <p:nvPr/>
        </p:nvSpPr>
        <p:spPr>
          <a:xfrm>
            <a:off x="1073426" y="896862"/>
            <a:ext cx="10681252" cy="400110"/>
          </a:xfrm>
          <a:prstGeom prst="rect">
            <a:avLst/>
          </a:prstGeom>
          <a:noFill/>
        </p:spPr>
        <p:txBody>
          <a:bodyPr wrap="square" rtlCol="0">
            <a:spAutoFit/>
          </a:bodyPr>
          <a:lstStyle/>
          <a:p>
            <a:pPr algn="just"/>
            <a:r>
              <a:rPr lang="es-AR" sz="2000" b="1" u="sng" cap="all" dirty="0"/>
              <a:t>LA CLASE THREAD – MÉTODOS (CONT.):</a:t>
            </a:r>
          </a:p>
        </p:txBody>
      </p:sp>
      <p:sp>
        <p:nvSpPr>
          <p:cNvPr id="13" name="Cuadro de texto 2">
            <a:extLst>
              <a:ext uri="{FF2B5EF4-FFF2-40B4-BE49-F238E27FC236}">
                <a16:creationId xmlns:a16="http://schemas.microsoft.com/office/drawing/2014/main" id="{AAE8F54E-1B3A-4600-AFCB-9226D0D550E2}"/>
              </a:ext>
            </a:extLst>
          </p:cNvPr>
          <p:cNvSpPr txBox="1">
            <a:spLocks noChangeArrowheads="1"/>
          </p:cNvSpPr>
          <p:nvPr/>
        </p:nvSpPr>
        <p:spPr bwMode="auto">
          <a:xfrm>
            <a:off x="2049260" y="0"/>
            <a:ext cx="8460035" cy="863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AR" altLang="es-AR" sz="4800" b="0" i="0" u="none" strike="noStrike" cap="none" normalizeH="0" baseline="0" dirty="0">
                <a:ln>
                  <a:noFill/>
                </a:ln>
                <a:solidFill>
                  <a:srgbClr val="FFFFFF"/>
                </a:solidFill>
                <a:effectLst/>
                <a:latin typeface="Calibri Light" panose="020F0302020204030204" pitchFamily="34" charset="0"/>
                <a:ea typeface="Calibri" panose="020F0502020204030204" pitchFamily="34" charset="0"/>
                <a:cs typeface="Calibri Light" panose="020F0302020204030204" pitchFamily="34" charset="0"/>
              </a:rPr>
              <a:t>PROGRAMACION CONCURRENTE</a:t>
            </a:r>
          </a:p>
        </p:txBody>
      </p:sp>
      <p:pic>
        <p:nvPicPr>
          <p:cNvPr id="12" name="Picture 5">
            <a:extLst>
              <a:ext uri="{FF2B5EF4-FFF2-40B4-BE49-F238E27FC236}">
                <a16:creationId xmlns:a16="http://schemas.microsoft.com/office/drawing/2014/main" id="{6B9287C5-A5BC-4517-9AB1-8F2E3194B7D9}"/>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72278" y="5808678"/>
            <a:ext cx="947333" cy="1049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Imagen 4">
            <a:extLst>
              <a:ext uri="{FF2B5EF4-FFF2-40B4-BE49-F238E27FC236}">
                <a16:creationId xmlns:a16="http://schemas.microsoft.com/office/drawing/2014/main" id="{7CA23D72-AE1E-4CB8-95EF-F2AFD2C6A3F3}"/>
              </a:ext>
            </a:extLst>
          </p:cNvPr>
          <p:cNvPicPr>
            <a:picLocks noChangeAspect="1"/>
          </p:cNvPicPr>
          <p:nvPr/>
        </p:nvPicPr>
        <p:blipFill>
          <a:blip r:embed="rId5"/>
          <a:stretch>
            <a:fillRect/>
          </a:stretch>
        </p:blipFill>
        <p:spPr>
          <a:xfrm>
            <a:off x="2122747" y="1295458"/>
            <a:ext cx="8585010" cy="5019588"/>
          </a:xfrm>
          <a:prstGeom prst="rect">
            <a:avLst/>
          </a:prstGeom>
        </p:spPr>
      </p:pic>
    </p:spTree>
    <p:extLst>
      <p:ext uri="{BB962C8B-B14F-4D97-AF65-F5344CB8AC3E}">
        <p14:creationId xmlns:p14="http://schemas.microsoft.com/office/powerpoint/2010/main" val="321737157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5" name="Imagen 31">
            <a:extLst>
              <a:ext uri="{FF2B5EF4-FFF2-40B4-BE49-F238E27FC236}">
                <a16:creationId xmlns:a16="http://schemas.microsoft.com/office/drawing/2014/main" id="{452E838D-7BB9-4864-AE07-88664BFD686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1048" y="6422"/>
            <a:ext cx="11410951" cy="907978"/>
          </a:xfrm>
          <a:prstGeom prst="rect">
            <a:avLst/>
          </a:prstGeom>
          <a:noFill/>
          <a:extLst>
            <a:ext uri="{909E8E84-426E-40DD-AFC4-6F175D3DCCD1}">
              <a14:hiddenFill xmlns:a14="http://schemas.microsoft.com/office/drawing/2010/main">
                <a:solidFill>
                  <a:srgbClr val="FFFFFF"/>
                </a:solidFill>
              </a14:hiddenFill>
            </a:ext>
          </a:extLst>
        </p:spPr>
      </p:pic>
      <p:pic>
        <p:nvPicPr>
          <p:cNvPr id="2056" name="Imagen 30">
            <a:extLst>
              <a:ext uri="{FF2B5EF4-FFF2-40B4-BE49-F238E27FC236}">
                <a16:creationId xmlns:a16="http://schemas.microsoft.com/office/drawing/2014/main" id="{8E90C719-CF33-4486-9AEB-EA64319F5A0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98" y="1725"/>
            <a:ext cx="1076624" cy="1623753"/>
          </a:xfrm>
          <a:prstGeom prst="rect">
            <a:avLst/>
          </a:prstGeom>
          <a:noFill/>
          <a:extLst>
            <a:ext uri="{909E8E84-426E-40DD-AFC4-6F175D3DCCD1}">
              <a14:hiddenFill xmlns:a14="http://schemas.microsoft.com/office/drawing/2010/main">
                <a:solidFill>
                  <a:srgbClr val="FFFFFF"/>
                </a:solidFill>
              </a14:hiddenFill>
            </a:ext>
          </a:extLst>
        </p:spPr>
      </p:pic>
      <p:sp>
        <p:nvSpPr>
          <p:cNvPr id="2" name="1 Rectángulo"/>
          <p:cNvSpPr/>
          <p:nvPr/>
        </p:nvSpPr>
        <p:spPr>
          <a:xfrm>
            <a:off x="-3198" y="6377614"/>
            <a:ext cx="12195197" cy="221966"/>
          </a:xfrm>
          <a:prstGeom prst="rect">
            <a:avLst/>
          </a:prstGeom>
          <a:solidFill>
            <a:srgbClr val="6800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3" name="2 CuadroTexto"/>
          <p:cNvSpPr txBox="1"/>
          <p:nvPr/>
        </p:nvSpPr>
        <p:spPr>
          <a:xfrm>
            <a:off x="10177664" y="6315046"/>
            <a:ext cx="2080591" cy="338554"/>
          </a:xfrm>
          <a:prstGeom prst="rect">
            <a:avLst/>
          </a:prstGeom>
          <a:noFill/>
        </p:spPr>
        <p:txBody>
          <a:bodyPr wrap="square" rtlCol="0">
            <a:spAutoFit/>
          </a:bodyPr>
          <a:lstStyle/>
          <a:p>
            <a:r>
              <a:rPr lang="es-ES" sz="1600" b="1" dirty="0">
                <a:solidFill>
                  <a:srgbClr val="FFFFFF"/>
                </a:solidFill>
                <a:latin typeface="Calibri Light" panose="020F0302020204030204" pitchFamily="34" charset="0"/>
                <a:ea typeface="Calibri" panose="020F0502020204030204" pitchFamily="34" charset="0"/>
                <a:cs typeface="Calibri Light" panose="020F0302020204030204" pitchFamily="34" charset="0"/>
              </a:rPr>
              <a:t>Modalidad Virtual</a:t>
            </a:r>
          </a:p>
        </p:txBody>
      </p:sp>
      <p:sp>
        <p:nvSpPr>
          <p:cNvPr id="11" name="1 Título">
            <a:extLst>
              <a:ext uri="{FF2B5EF4-FFF2-40B4-BE49-F238E27FC236}">
                <a16:creationId xmlns:a16="http://schemas.microsoft.com/office/drawing/2014/main" id="{580E64F2-5285-450B-9979-ADA4942F6DF8}"/>
              </a:ext>
            </a:extLst>
          </p:cNvPr>
          <p:cNvSpPr txBox="1">
            <a:spLocks/>
          </p:cNvSpPr>
          <p:nvPr/>
        </p:nvSpPr>
        <p:spPr>
          <a:xfrm>
            <a:off x="781048" y="95209"/>
            <a:ext cx="10515600" cy="819191"/>
          </a:xfrm>
          <a:prstGeom prst="rect">
            <a:avLst/>
          </a:prstGeom>
        </p:spPr>
        <p:txBody>
          <a:bodyPr rtlCol="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defRPr/>
            </a:pPr>
            <a:endParaRPr lang="es-AR" b="1" dirty="0">
              <a:solidFill>
                <a:schemeClr val="bg1">
                  <a:lumMod val="95000"/>
                </a:schemeClr>
              </a:solidFill>
              <a:effectLst>
                <a:outerShdw blurRad="38100" dist="38100" dir="2700000" algn="tl">
                  <a:srgbClr val="000000">
                    <a:alpha val="43137"/>
                  </a:srgbClr>
                </a:outerShdw>
              </a:effectLst>
            </a:endParaRPr>
          </a:p>
        </p:txBody>
      </p:sp>
      <p:sp>
        <p:nvSpPr>
          <p:cNvPr id="6" name="5 CuadroTexto"/>
          <p:cNvSpPr txBox="1"/>
          <p:nvPr/>
        </p:nvSpPr>
        <p:spPr>
          <a:xfrm>
            <a:off x="1073426" y="920822"/>
            <a:ext cx="10681252" cy="400110"/>
          </a:xfrm>
          <a:prstGeom prst="rect">
            <a:avLst/>
          </a:prstGeom>
          <a:noFill/>
        </p:spPr>
        <p:txBody>
          <a:bodyPr wrap="square" rtlCol="0">
            <a:spAutoFit/>
          </a:bodyPr>
          <a:lstStyle/>
          <a:p>
            <a:pPr algn="just"/>
            <a:r>
              <a:rPr lang="es-AR" sz="2000" b="1" u="sng" cap="all" dirty="0"/>
              <a:t>LA CLASE THREAD – MÉTODOS (CONT. 2):</a:t>
            </a:r>
          </a:p>
        </p:txBody>
      </p:sp>
      <p:sp>
        <p:nvSpPr>
          <p:cNvPr id="13" name="Cuadro de texto 2">
            <a:extLst>
              <a:ext uri="{FF2B5EF4-FFF2-40B4-BE49-F238E27FC236}">
                <a16:creationId xmlns:a16="http://schemas.microsoft.com/office/drawing/2014/main" id="{AAE8F54E-1B3A-4600-AFCB-9226D0D550E2}"/>
              </a:ext>
            </a:extLst>
          </p:cNvPr>
          <p:cNvSpPr txBox="1">
            <a:spLocks noChangeArrowheads="1"/>
          </p:cNvSpPr>
          <p:nvPr/>
        </p:nvSpPr>
        <p:spPr bwMode="auto">
          <a:xfrm>
            <a:off x="2049260" y="0"/>
            <a:ext cx="8460035" cy="863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AR" altLang="es-AR" sz="4800" b="0" i="0" u="none" strike="noStrike" cap="none" normalizeH="0" baseline="0" dirty="0">
                <a:ln>
                  <a:noFill/>
                </a:ln>
                <a:solidFill>
                  <a:srgbClr val="FFFFFF"/>
                </a:solidFill>
                <a:effectLst/>
                <a:latin typeface="Calibri Light" panose="020F0302020204030204" pitchFamily="34" charset="0"/>
                <a:ea typeface="Calibri" panose="020F0502020204030204" pitchFamily="34" charset="0"/>
                <a:cs typeface="Calibri Light" panose="020F0302020204030204" pitchFamily="34" charset="0"/>
              </a:rPr>
              <a:t>PROGRAMACION CONCURRENTE</a:t>
            </a:r>
          </a:p>
        </p:txBody>
      </p:sp>
      <p:pic>
        <p:nvPicPr>
          <p:cNvPr id="12" name="Picture 5">
            <a:extLst>
              <a:ext uri="{FF2B5EF4-FFF2-40B4-BE49-F238E27FC236}">
                <a16:creationId xmlns:a16="http://schemas.microsoft.com/office/drawing/2014/main" id="{6B9287C5-A5BC-4517-9AB1-8F2E3194B7D9}"/>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72278" y="5808678"/>
            <a:ext cx="947333" cy="1049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Imagen 7">
            <a:extLst>
              <a:ext uri="{FF2B5EF4-FFF2-40B4-BE49-F238E27FC236}">
                <a16:creationId xmlns:a16="http://schemas.microsoft.com/office/drawing/2014/main" id="{80D9A0AD-8CBC-42B4-9469-C1C8C2A5CA66}"/>
              </a:ext>
            </a:extLst>
          </p:cNvPr>
          <p:cNvPicPr>
            <a:picLocks noChangeAspect="1"/>
          </p:cNvPicPr>
          <p:nvPr/>
        </p:nvPicPr>
        <p:blipFill>
          <a:blip r:embed="rId5"/>
          <a:stretch>
            <a:fillRect/>
          </a:stretch>
        </p:blipFill>
        <p:spPr>
          <a:xfrm>
            <a:off x="1581557" y="1357452"/>
            <a:ext cx="9636402" cy="4735694"/>
          </a:xfrm>
          <a:prstGeom prst="rect">
            <a:avLst/>
          </a:prstGeom>
        </p:spPr>
      </p:pic>
    </p:spTree>
    <p:extLst>
      <p:ext uri="{BB962C8B-B14F-4D97-AF65-F5344CB8AC3E}">
        <p14:creationId xmlns:p14="http://schemas.microsoft.com/office/powerpoint/2010/main" val="288361283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5" name="Imagen 31">
            <a:extLst>
              <a:ext uri="{FF2B5EF4-FFF2-40B4-BE49-F238E27FC236}">
                <a16:creationId xmlns:a16="http://schemas.microsoft.com/office/drawing/2014/main" id="{452E838D-7BB9-4864-AE07-88664BFD686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1048" y="6422"/>
            <a:ext cx="11410951" cy="907978"/>
          </a:xfrm>
          <a:prstGeom prst="rect">
            <a:avLst/>
          </a:prstGeom>
          <a:noFill/>
          <a:extLst>
            <a:ext uri="{909E8E84-426E-40DD-AFC4-6F175D3DCCD1}">
              <a14:hiddenFill xmlns:a14="http://schemas.microsoft.com/office/drawing/2010/main">
                <a:solidFill>
                  <a:srgbClr val="FFFFFF"/>
                </a:solidFill>
              </a14:hiddenFill>
            </a:ext>
          </a:extLst>
        </p:spPr>
      </p:pic>
      <p:pic>
        <p:nvPicPr>
          <p:cNvPr id="2056" name="Imagen 30">
            <a:extLst>
              <a:ext uri="{FF2B5EF4-FFF2-40B4-BE49-F238E27FC236}">
                <a16:creationId xmlns:a16="http://schemas.microsoft.com/office/drawing/2014/main" id="{8E90C719-CF33-4486-9AEB-EA64319F5A0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98" y="1725"/>
            <a:ext cx="1076624" cy="1623753"/>
          </a:xfrm>
          <a:prstGeom prst="rect">
            <a:avLst/>
          </a:prstGeom>
          <a:noFill/>
          <a:extLst>
            <a:ext uri="{909E8E84-426E-40DD-AFC4-6F175D3DCCD1}">
              <a14:hiddenFill xmlns:a14="http://schemas.microsoft.com/office/drawing/2010/main">
                <a:solidFill>
                  <a:srgbClr val="FFFFFF"/>
                </a:solidFill>
              </a14:hiddenFill>
            </a:ext>
          </a:extLst>
        </p:spPr>
      </p:pic>
      <p:sp>
        <p:nvSpPr>
          <p:cNvPr id="2" name="1 Rectángulo"/>
          <p:cNvSpPr/>
          <p:nvPr/>
        </p:nvSpPr>
        <p:spPr>
          <a:xfrm>
            <a:off x="-3198" y="6377614"/>
            <a:ext cx="12195197" cy="221966"/>
          </a:xfrm>
          <a:prstGeom prst="rect">
            <a:avLst/>
          </a:prstGeom>
          <a:solidFill>
            <a:srgbClr val="6800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3" name="2 CuadroTexto"/>
          <p:cNvSpPr txBox="1"/>
          <p:nvPr/>
        </p:nvSpPr>
        <p:spPr>
          <a:xfrm>
            <a:off x="10177664" y="6315046"/>
            <a:ext cx="2080591" cy="338554"/>
          </a:xfrm>
          <a:prstGeom prst="rect">
            <a:avLst/>
          </a:prstGeom>
          <a:noFill/>
        </p:spPr>
        <p:txBody>
          <a:bodyPr wrap="square" rtlCol="0">
            <a:spAutoFit/>
          </a:bodyPr>
          <a:lstStyle/>
          <a:p>
            <a:r>
              <a:rPr lang="es-ES" sz="1600" b="1" dirty="0">
                <a:solidFill>
                  <a:srgbClr val="FFFFFF"/>
                </a:solidFill>
                <a:latin typeface="Calibri Light" panose="020F0302020204030204" pitchFamily="34" charset="0"/>
                <a:ea typeface="Calibri" panose="020F0502020204030204" pitchFamily="34" charset="0"/>
                <a:cs typeface="Calibri Light" panose="020F0302020204030204" pitchFamily="34" charset="0"/>
              </a:rPr>
              <a:t>Modalidad Virtual</a:t>
            </a:r>
          </a:p>
        </p:txBody>
      </p:sp>
      <p:sp>
        <p:nvSpPr>
          <p:cNvPr id="11" name="1 Título">
            <a:extLst>
              <a:ext uri="{FF2B5EF4-FFF2-40B4-BE49-F238E27FC236}">
                <a16:creationId xmlns:a16="http://schemas.microsoft.com/office/drawing/2014/main" id="{580E64F2-5285-450B-9979-ADA4942F6DF8}"/>
              </a:ext>
            </a:extLst>
          </p:cNvPr>
          <p:cNvSpPr txBox="1">
            <a:spLocks/>
          </p:cNvSpPr>
          <p:nvPr/>
        </p:nvSpPr>
        <p:spPr>
          <a:xfrm>
            <a:off x="781048" y="95209"/>
            <a:ext cx="10515600" cy="819191"/>
          </a:xfrm>
          <a:prstGeom prst="rect">
            <a:avLst/>
          </a:prstGeom>
        </p:spPr>
        <p:txBody>
          <a:bodyPr rtlCol="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defRPr/>
            </a:pPr>
            <a:endParaRPr lang="es-AR" b="1" dirty="0">
              <a:solidFill>
                <a:schemeClr val="bg1">
                  <a:lumMod val="95000"/>
                </a:schemeClr>
              </a:solidFill>
              <a:effectLst>
                <a:outerShdw blurRad="38100" dist="38100" dir="2700000" algn="tl">
                  <a:srgbClr val="000000">
                    <a:alpha val="43137"/>
                  </a:srgbClr>
                </a:outerShdw>
              </a:effectLst>
            </a:endParaRPr>
          </a:p>
        </p:txBody>
      </p:sp>
      <p:sp>
        <p:nvSpPr>
          <p:cNvPr id="6" name="5 CuadroTexto"/>
          <p:cNvSpPr txBox="1"/>
          <p:nvPr/>
        </p:nvSpPr>
        <p:spPr>
          <a:xfrm>
            <a:off x="1073426" y="920822"/>
            <a:ext cx="10681252" cy="400110"/>
          </a:xfrm>
          <a:prstGeom prst="rect">
            <a:avLst/>
          </a:prstGeom>
          <a:noFill/>
        </p:spPr>
        <p:txBody>
          <a:bodyPr wrap="square" rtlCol="0">
            <a:spAutoFit/>
          </a:bodyPr>
          <a:lstStyle/>
          <a:p>
            <a:pPr algn="just"/>
            <a:r>
              <a:rPr lang="es-AR" sz="2000" b="1" u="sng" cap="all" dirty="0"/>
              <a:t>LA CLASE THREAD – MÉTODOS (CONT. 3):</a:t>
            </a:r>
          </a:p>
        </p:txBody>
      </p:sp>
      <p:sp>
        <p:nvSpPr>
          <p:cNvPr id="13" name="Cuadro de texto 2">
            <a:extLst>
              <a:ext uri="{FF2B5EF4-FFF2-40B4-BE49-F238E27FC236}">
                <a16:creationId xmlns:a16="http://schemas.microsoft.com/office/drawing/2014/main" id="{AAE8F54E-1B3A-4600-AFCB-9226D0D550E2}"/>
              </a:ext>
            </a:extLst>
          </p:cNvPr>
          <p:cNvSpPr txBox="1">
            <a:spLocks noChangeArrowheads="1"/>
          </p:cNvSpPr>
          <p:nvPr/>
        </p:nvSpPr>
        <p:spPr bwMode="auto">
          <a:xfrm>
            <a:off x="2049260" y="0"/>
            <a:ext cx="8460035" cy="863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AR" altLang="es-AR" sz="4800" b="0" i="0" u="none" strike="noStrike" cap="none" normalizeH="0" baseline="0" dirty="0">
                <a:ln>
                  <a:noFill/>
                </a:ln>
                <a:solidFill>
                  <a:srgbClr val="FFFFFF"/>
                </a:solidFill>
                <a:effectLst/>
                <a:latin typeface="Calibri Light" panose="020F0302020204030204" pitchFamily="34" charset="0"/>
                <a:ea typeface="Calibri" panose="020F0502020204030204" pitchFamily="34" charset="0"/>
                <a:cs typeface="Calibri Light" panose="020F0302020204030204" pitchFamily="34" charset="0"/>
              </a:rPr>
              <a:t>PROGRAMACION CONCURRENTE</a:t>
            </a:r>
          </a:p>
        </p:txBody>
      </p:sp>
      <p:pic>
        <p:nvPicPr>
          <p:cNvPr id="12" name="Picture 5">
            <a:extLst>
              <a:ext uri="{FF2B5EF4-FFF2-40B4-BE49-F238E27FC236}">
                <a16:creationId xmlns:a16="http://schemas.microsoft.com/office/drawing/2014/main" id="{6B9287C5-A5BC-4517-9AB1-8F2E3194B7D9}"/>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72278" y="5808678"/>
            <a:ext cx="947333" cy="1049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Imagen 4">
            <a:extLst>
              <a:ext uri="{FF2B5EF4-FFF2-40B4-BE49-F238E27FC236}">
                <a16:creationId xmlns:a16="http://schemas.microsoft.com/office/drawing/2014/main" id="{2CC18E3D-430E-42BD-A71E-0400FEE8E54F}"/>
              </a:ext>
            </a:extLst>
          </p:cNvPr>
          <p:cNvPicPr>
            <a:picLocks noChangeAspect="1"/>
          </p:cNvPicPr>
          <p:nvPr/>
        </p:nvPicPr>
        <p:blipFill>
          <a:blip r:embed="rId5"/>
          <a:stretch>
            <a:fillRect/>
          </a:stretch>
        </p:blipFill>
        <p:spPr>
          <a:xfrm>
            <a:off x="1386299" y="1432823"/>
            <a:ext cx="10200447" cy="4425178"/>
          </a:xfrm>
          <a:prstGeom prst="rect">
            <a:avLst/>
          </a:prstGeom>
        </p:spPr>
      </p:pic>
    </p:spTree>
    <p:extLst>
      <p:ext uri="{BB962C8B-B14F-4D97-AF65-F5344CB8AC3E}">
        <p14:creationId xmlns:p14="http://schemas.microsoft.com/office/powerpoint/2010/main" val="1931587775"/>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5563</TotalTime>
  <Words>1530</Words>
  <Application>Microsoft Office PowerPoint</Application>
  <PresentationFormat>Panorámica</PresentationFormat>
  <Paragraphs>228</Paragraphs>
  <Slides>24</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24</vt:i4>
      </vt:variant>
    </vt:vector>
  </HeadingPairs>
  <TitlesOfParts>
    <vt:vector size="29" baseType="lpstr">
      <vt:lpstr>Arial</vt:lpstr>
      <vt:lpstr>Calibri</vt:lpstr>
      <vt:lpstr>Calibri Light</vt:lpstr>
      <vt:lpstr>Courier New</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Marcela Lepore</dc:creator>
  <cp:lastModifiedBy>Nicolas Perez</cp:lastModifiedBy>
  <cp:revision>86</cp:revision>
  <dcterms:created xsi:type="dcterms:W3CDTF">2020-03-19T18:50:23Z</dcterms:created>
  <dcterms:modified xsi:type="dcterms:W3CDTF">2024-04-28T19:44:41Z</dcterms:modified>
</cp:coreProperties>
</file>