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11" r:id="rId3"/>
    <p:sldId id="297" r:id="rId4"/>
    <p:sldId id="298" r:id="rId5"/>
    <p:sldId id="301" r:id="rId6"/>
    <p:sldId id="302" r:id="rId7"/>
    <p:sldId id="303" r:id="rId8"/>
    <p:sldId id="304" r:id="rId9"/>
    <p:sldId id="305" r:id="rId10"/>
    <p:sldId id="306" r:id="rId11"/>
    <p:sldId id="310" r:id="rId12"/>
    <p:sldId id="307" r:id="rId13"/>
    <p:sldId id="309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26/3/2024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drive/folders/17zuI1IdatP2ENJkq3ltSX1KOHFJWBvuA?usp=sharing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playlist?list=PLbwWly6AYXqf_2mJzkCdcnZ--v0wZlI3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oin.slack.com/t/programacinco-xpc8703/shared_invite/zt-2c6oexgmr-CQK454XEWsLtk~dgGWnMzw" TargetMode="External"/><Relationship Id="rId5" Type="http://schemas.openxmlformats.org/officeDocument/2006/relationships/hyperlink" Target="mailto:nperez_dcao_smn@outlook.com" TargetMode="External"/><Relationship Id="rId10" Type="http://schemas.openxmlformats.org/officeDocument/2006/relationships/hyperlink" Target="https://github.com/NicolasPerezUNLaSMN/Concurrente_UNLa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meet.jit.si/NykolaiPerezUNL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opac.unla.edu.ar/cgi-bin/koha/opac-detail.pl?biblionumber=168172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repository.dinus.ac.id/docs/ajar/Operating_System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opac.unla.edu.ar/cgi-bin/koha/opac-detail.pl?biblionumber=168171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elibro.net/es/lc/bibunla/titulos/57365" TargetMode="External"/><Relationship Id="rId10" Type="http://schemas.openxmlformats.org/officeDocument/2006/relationships/hyperlink" Target="https://apuntes.lafuenteunlp.com.ar/?path=%2FLic.%20en%20Sistemas-Inform%C3%A1tica%2C%20Analista%20Programador-TIC%2F3er%20A%C3%B1o%2FProgramacion%20Concurrente" TargetMode="External"/><Relationship Id="rId4" Type="http://schemas.openxmlformats.org/officeDocument/2006/relationships/hyperlink" Target="https://elibro.net/es/lc/bibunla/titulos/230572" TargetMode="External"/><Relationship Id="rId9" Type="http://schemas.openxmlformats.org/officeDocument/2006/relationships/hyperlink" Target="https://chat.openai.com/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78E808B5-78A4-442D-997A-D4550389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12151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4 CuadroTexto">
            <a:extLst>
              <a:ext uri="{FF2B5EF4-FFF2-40B4-BE49-F238E27FC236}">
                <a16:creationId xmlns:a16="http://schemas.microsoft.com/office/drawing/2014/main" id="{16345EA6-5AC8-4BF4-80DC-1231B30A0EE5}"/>
              </a:ext>
            </a:extLst>
          </p:cNvPr>
          <p:cNvSpPr txBox="1"/>
          <p:nvPr/>
        </p:nvSpPr>
        <p:spPr>
          <a:xfrm>
            <a:off x="2339946" y="5143589"/>
            <a:ext cx="7397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000" b="1" cap="all" dirty="0"/>
              <a:t>PROGRAMACIÓN CONCURRENTE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C7858944-FA40-423E-992B-7FA36F4AD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07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sp>
        <p:nvSpPr>
          <p:cNvPr id="14" name="4 CuadroTexto">
            <a:extLst>
              <a:ext uri="{FF2B5EF4-FFF2-40B4-BE49-F238E27FC236}">
                <a16:creationId xmlns:a16="http://schemas.microsoft.com/office/drawing/2014/main" id="{16345EA6-5AC8-4BF4-80DC-1231B30A0EE5}"/>
              </a:ext>
            </a:extLst>
          </p:cNvPr>
          <p:cNvSpPr txBox="1"/>
          <p:nvPr/>
        </p:nvSpPr>
        <p:spPr>
          <a:xfrm>
            <a:off x="3564896" y="1003187"/>
            <a:ext cx="7397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000" b="1" cap="all" dirty="0"/>
              <a:t>Sobre la materia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C7858944-FA40-423E-992B-7FA36F4AD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D2C5BD5-AD33-2A05-0C05-1735A109CB2A}"/>
              </a:ext>
            </a:extLst>
          </p:cNvPr>
          <p:cNvSpPr txBox="1"/>
          <p:nvPr/>
        </p:nvSpPr>
        <p:spPr>
          <a:xfrm>
            <a:off x="1924344" y="1845829"/>
            <a:ext cx="82290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Contactos: </a:t>
            </a:r>
            <a:r>
              <a:rPr lang="es-ES" dirty="0">
                <a:hlinkClick r:id="rId5"/>
              </a:rPr>
              <a:t>nperez_dcao_smn@outlook.com</a:t>
            </a:r>
            <a:endParaRPr lang="es-ES" dirty="0"/>
          </a:p>
          <a:p>
            <a:endParaRPr lang="es-ES" dirty="0"/>
          </a:p>
          <a:p>
            <a:r>
              <a:rPr lang="es-ES" b="1" dirty="0" err="1"/>
              <a:t>Slack</a:t>
            </a:r>
            <a:r>
              <a:rPr lang="es-ES" b="1" dirty="0"/>
              <a:t>: </a:t>
            </a:r>
            <a:r>
              <a:rPr lang="es-ES" dirty="0">
                <a:hlinkClick r:id="rId6"/>
              </a:rPr>
              <a:t>https://join.slack.com/t/programacinco-xpc8703/shared_invite/zt-2c6oexgmr-CQK454XEWsLtk~dgGWnMzw</a:t>
            </a:r>
            <a:endParaRPr lang="es-ES" dirty="0"/>
          </a:p>
          <a:p>
            <a:endParaRPr lang="es-ES" b="1" dirty="0"/>
          </a:p>
          <a:p>
            <a:r>
              <a:rPr lang="es-ES" b="1" dirty="0"/>
              <a:t>Lista de reproducción: </a:t>
            </a:r>
            <a:r>
              <a:rPr lang="es-ES" dirty="0">
                <a:hlinkClick r:id="rId7"/>
              </a:rPr>
              <a:t>https://www.youtube.com/playlist?list=PLbwWly6AYXqf_2mJzkCdcnZ--v0wZlI3m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Material digital: </a:t>
            </a:r>
            <a:r>
              <a:rPr lang="es-ES" dirty="0">
                <a:hlinkClick r:id="rId8"/>
              </a:rPr>
              <a:t>https://drive.google.com/drive/folders/17zuI1IdatP2ENJkq3ltSX1KOHFJWBvuA?usp=sharing</a:t>
            </a:r>
            <a:endParaRPr lang="es-ES" dirty="0"/>
          </a:p>
          <a:p>
            <a:endParaRPr lang="es-ES" dirty="0"/>
          </a:p>
          <a:p>
            <a:r>
              <a:rPr lang="es-ES" b="1" dirty="0" err="1"/>
              <a:t>Meet</a:t>
            </a:r>
            <a:r>
              <a:rPr lang="es-ES" b="1" dirty="0"/>
              <a:t>:  </a:t>
            </a:r>
            <a:r>
              <a:rPr lang="es-ES" dirty="0">
                <a:hlinkClick r:id="rId9"/>
              </a:rPr>
              <a:t>https://meet.jit.si/NykolaiPerezUNLa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Repositorio: </a:t>
            </a:r>
            <a:r>
              <a:rPr lang="es-ES" dirty="0">
                <a:hlinkClick r:id="rId10"/>
              </a:rPr>
              <a:t>https://github.com/NicolasPerezUNLaSMN/Concurrente_UNLa</a:t>
            </a:r>
            <a:endParaRPr lang="es-ES" dirty="0"/>
          </a:p>
          <a:p>
            <a:endParaRPr lang="es-AR" dirty="0"/>
          </a:p>
        </p:txBody>
      </p:sp>
      <p:sp>
        <p:nvSpPr>
          <p:cNvPr id="6" name="2 CuadroTexto">
            <a:extLst>
              <a:ext uri="{FF2B5EF4-FFF2-40B4-BE49-F238E27FC236}">
                <a16:creationId xmlns:a16="http://schemas.microsoft.com/office/drawing/2014/main" id="{D6871C18-14AC-BA5F-5B76-7C2FF81C37AC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386393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UN POCO DE HISTORIA: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LOS PRIMEROS PROGRAMAS CONCURRENTES FUERON LOS SISTEMAS OPERATIVOS MULTIPROGRAMACION.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UN SOLO PROCESADOR REPARTIA SU TIEMPO ENTRE LOS DISTINTOS PROGRAMAS EN EJECUCION.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LA PROGRAMACION CONCURRENTE EN ESTOS </a:t>
            </a:r>
            <a:r>
              <a:rPr lang="es-AR" cap="all" dirty="0" err="1"/>
              <a:t>SOlo</a:t>
            </a:r>
            <a:r>
              <a:rPr lang="es-AR" cap="all" dirty="0"/>
              <a:t> SE REALIZABA A BAJO NIVEL (ENSAMBLADOR) DURANTE LOS AÑOS 60 Y 70, POR LA FALTA DE LENGUAJES DE ALTO NIVEL CON SOPORTE DE CONCURRENCIA.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EN 1972 EL CONCURRENT PASCAL ABRE LAS PUERTAS A LOS LENGUAJES DE ALTO NIVEL CON SOPORTE DE CONCURRENCIA.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TRE HITOS DESDE ESE MOMENTO DIERON LUGAR A LA EXPANCIÓN DE LA PROGRAMACIÓN CONCURRENTE: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LA APARICION DE THREAD O HILO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LA APARICION DE JAVA (POO CON SOPORTE DE CONCURRENCIA)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LA APARICION DE INTERNET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82C06025-795E-4F37-BBBA-FAF47B531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26342FF8-E8E9-E1D2-7C9A-29757ECF5075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313903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PROGRAMAS Y PROCESOS: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UN PROGRAMA ES UN CONJUNTO DE INSTRUCCIONES EN MEMORIA AUXILIAR. ES UN CONCEPTO ESTÁTICO ANÁLOGO A UNA CLASE EN LA PROGRAMACIÓN ORIENTADA A OBJETOS.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UN PROCESO ES UN PROGRAMA (O PARTE DE UN PORGRAMA) EN EJECUCIÓN, Y POR ENDE CARGADO EN MEMORIA PRINCIPAL. ES UN CONCEPTO DINÁMICO ANÁLOGO A UN OBJETO (INSTANCIA DE UNA CLASE) EN LA PROGRAMACIÓN ORIENTADA A OBJETOS. 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DE LA MISMA MANERA QUE EN LA POO PUEDE HABER MÚLTIPLES OBJETOS DE UNA CLASE, PUEDEN EXISTIR MÚLTIPLES PROCESOS DE UN PROGRAMA EJECUTÁNDOSE SIMULTÁNEAMENTE. 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POR EJEMPLO, UN SERVIDOR DE APLICACIONES CON UN NAVEGADOR DE INTERNET Y VARIOS USUARIOS EJUCUTANDO ESE NAVEGADOR, CADA UNO EN UN SITIO WEB DIFERENTE. CADA INSTANCIA ES UNPROCESO CON SU PROPIO CONTADOR DE PROGRAMA, SUS PROPIOS REGISTROS, PILA Y VARIABLES.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9EC281A5-9A68-936E-8662-B9CE33F1CA93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324593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UN PROGRAMA (NAVEGADOR WEB) CON VARIAS EJECUCIONES SIMULTÁNEAS:</a:t>
            </a:r>
          </a:p>
          <a:p>
            <a:pPr algn="just"/>
            <a:endParaRPr lang="es-AR" cap="all" dirty="0"/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DE41AA6-FA3B-409E-A3B3-E658286AA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260" y="1714988"/>
            <a:ext cx="7645885" cy="4600058"/>
          </a:xfrm>
          <a:prstGeom prst="rect">
            <a:avLst/>
          </a:prstGeom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9CB54E12-121A-6CBE-50A0-5E094C3172BC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81880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45897" y="1106561"/>
            <a:ext cx="106812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PROCESOS CONCURRENTES: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Dos procesos son concurrentes cuando se solapan en su ejecución (comienza la ejecución del segundo antes que finalice la del primero).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Si además las ejecuciones se realizan al mismo tiempo (esto va a depender del hardware subyacente), estamos ante un caso de programación paralela.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La concurrencia es un paralelismo potencial.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Un proceso es un programa en ejecución o parte de un programa en ejecución. Esto quiere decir que un programa puede ejecutar varios procesos donde cada uno de ellos puede estar ejecutando una parte del mismo.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En el ejemplo que vimos (navegador ejecutado por varios usuarios) podemos tener que el programa ejecuta dos procesos: uno para controlar la interface y otro para peticiones al servidor.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C4299AC0-FDE2-DEDF-2EEB-01D2FFEE2616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333318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UN PROGRAMA (NAVEGADOR WEB) CON VARIAS EJECUCIONES SIMULTÁNEAS:</a:t>
            </a:r>
          </a:p>
          <a:p>
            <a:pPr algn="just"/>
            <a:endParaRPr lang="es-AR" cap="all" dirty="0"/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473C7C-A340-4A24-A5D8-D3F02FB2A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40" y="1679423"/>
            <a:ext cx="9131474" cy="4581603"/>
          </a:xfrm>
          <a:prstGeom prst="rect">
            <a:avLst/>
          </a:prstGeom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ECB6FE38-86FE-7096-0AA7-87401759E3A4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56458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PROGREAMACIÓN CONCURRENTE: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CUANDO VARIOS PROCESOS SE EJECUTAN CONCURRENTEMENTE PUEDEN COLABORAR ENTRE SÍ O COMPETIR POR LOS RECURSOS DEL SISTEMA.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ES NECESARIO ESTABLECER MECANISMOS DE </a:t>
            </a:r>
            <a:r>
              <a:rPr lang="es-AR" b="1" u="sng" cap="all" dirty="0"/>
              <a:t>COMUNICACIÓN Y SINCRONIZACIÓN</a:t>
            </a:r>
            <a:r>
              <a:rPr lang="es-AR" cap="all" dirty="0"/>
              <a:t> PARA LA COLABORACIÓN Y COMPETENCIA DE PROCESOS CONCURRENTES.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LA PROGRAMACIÓN CONCURRENTE ES LA DISCIPLINA INFORMÁTICA QUE SE ENCARGA DE RESOLVER LOS PROBLEMAS INHERENTES A LA EJECUCIÓN CONCURRENTE: COMUNICACIÓN Y SINCRONIZACIÓN.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LOS BENEFICIOS DE LA PROGRAMACIÓN CONCURRENTE (QUE AÑADE COMPLEJIDAD A LA TAREA DE PROGRAMAR) SON: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MEJOR VELOCIDAD DE EJECUCIÓN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SOLUCIÓN DE PROBLEMAS DE NATURALEZA CONCURRENTE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cap="all" dirty="0"/>
              <a:t>MEJOR APROVECHAMIENTO DE LA CPU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56E2A2D4-8C3F-E00A-9ED8-65012F1A9993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299055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58957" y="1232452"/>
            <a:ext cx="106812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SOLUCIÓN A PROBLEMAS INHERENTEMENTE CONCURRENTES:</a:t>
            </a:r>
          </a:p>
          <a:p>
            <a:pPr algn="just"/>
            <a:endParaRPr lang="es-AR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SISTEMAS DE CONTROL</a:t>
            </a:r>
            <a:r>
              <a:rPr lang="es-AR" cap="all" dirty="0"/>
              <a:t>: SISTEMAS QUE CAPTURAN DATOS, GENERALMENTE DESDE SENSORES, REALIZAN ANÁLISIS DE ESOS DATOS Y PUEDEN EJECUTAR ACCIONES A PARTIR DE DICHO ANÁLISIS.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TECNOLOGÍAS WEB</a:t>
            </a:r>
            <a:r>
              <a:rPr lang="es-AR" cap="all" dirty="0"/>
              <a:t>: LA MAYORÍA DE LOS PROGRAMAS RELACIONADOS CON LA WEB SON CONCURRENTES, COMO EL EJEMPLO QUE SE DIO DE UN NAVEGADOR WEB.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APLICACIONES BASADAS EN INTERFACE DE USUARIO</a:t>
            </a:r>
            <a:r>
              <a:rPr lang="es-AR" cap="all" dirty="0"/>
              <a:t>: PERMITE AL USUARIO INTERACCIONAR CON LA APLICACIÓN AUNQUE ÉSTA ESTÉ REALIZANDO OTRA TAREA QUE CONSUMA RECURSO DE CPU.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SIMULACIÓN</a:t>
            </a:r>
            <a:r>
              <a:rPr lang="es-AR" cap="all" dirty="0"/>
              <a:t>: la simulación de objetos físicos de comportamiento independiente no puede realizarse con programación secuencial, sino que requiere de programación concurrente para modelar estos objetos físicos y ejecutarlos concurrentemente.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SISTEMAS DE GESTIÓN DE BASES DE DATOS</a:t>
            </a:r>
            <a:r>
              <a:rPr lang="es-AR" cap="all" dirty="0"/>
              <a:t>: cuando varios usuarios van a interactuar con el sistema, cada uno puede verse como un proceso que intenta acceder a los recursos de estas bases.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12394CE1-8084-3936-A949-9408DDE4585D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110232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45897" y="952674"/>
            <a:ext cx="1068125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000" b="1" u="sng" cap="all" dirty="0"/>
              <a:t>CONCURRENCIA Y ARQUITECTURA HARDWARE: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Según el hardware subyacente los </a:t>
            </a:r>
            <a:r>
              <a:rPr lang="es-AR" b="1" i="1" u="sng" cap="all" dirty="0"/>
              <a:t>sistemas</a:t>
            </a:r>
            <a:r>
              <a:rPr lang="es-AR" cap="all" dirty="0"/>
              <a:t> pueden ser:</a:t>
            </a:r>
          </a:p>
          <a:p>
            <a:pPr algn="just"/>
            <a:endParaRPr lang="es-AR" cap="all" dirty="0"/>
          </a:p>
          <a:p>
            <a:pPr marL="800100" lvl="1" indent="-342900" algn="just">
              <a:buFont typeface="+mj-lt"/>
              <a:buAutoNum type="arabicPeriod"/>
            </a:pPr>
            <a:r>
              <a:rPr lang="es-AR" b="1" i="1" u="sng" cap="all" dirty="0"/>
              <a:t>sistemas monoprocesador</a:t>
            </a:r>
            <a:r>
              <a:rPr lang="es-AR" cap="all" dirty="0"/>
              <a:t>: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Multiprogramación: el s.o. alterna el tiempo de CPU entre los distintos procesos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Sincronización y comunicación: a través de variables compartidas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s-AR" cap="all" dirty="0"/>
          </a:p>
          <a:p>
            <a:pPr marL="800100" lvl="1" indent="-342900" algn="just">
              <a:buFont typeface="+mj-lt"/>
              <a:buAutoNum type="arabicPeriod"/>
            </a:pPr>
            <a:r>
              <a:rPr lang="es-AR" b="1" i="1" u="sng" cap="all" dirty="0"/>
              <a:t>Sistemas multiprocesador</a:t>
            </a:r>
            <a:r>
              <a:rPr lang="es-AR" cap="all" dirty="0"/>
              <a:t>: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Existe paralelismo real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Tipos:</a:t>
            </a:r>
          </a:p>
          <a:p>
            <a:pPr marL="1714500" lvl="3" indent="-34290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Fuertemente acoplados</a:t>
            </a:r>
            <a:r>
              <a:rPr lang="es-AR" cap="all" dirty="0"/>
              <a:t>:</a:t>
            </a:r>
          </a:p>
          <a:p>
            <a:pPr marL="2171700" lvl="4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Son multiprocesos</a:t>
            </a:r>
          </a:p>
          <a:p>
            <a:pPr marL="2171700" lvl="4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Sincronización y comunicación: a través de variables compartidas</a:t>
            </a:r>
          </a:p>
          <a:p>
            <a:pPr marL="1714500" lvl="3" indent="-342900" algn="just">
              <a:buFont typeface="Arial" panose="020B0604020202020204" pitchFamily="34" charset="0"/>
              <a:buChar char="•"/>
            </a:pPr>
            <a:r>
              <a:rPr lang="es-AR" b="1" i="1" u="sng" cap="all" dirty="0"/>
              <a:t>Débilmente acoplados</a:t>
            </a:r>
            <a:r>
              <a:rPr lang="es-AR" cap="all" dirty="0"/>
              <a:t>:</a:t>
            </a:r>
          </a:p>
          <a:p>
            <a:pPr marL="2171700" lvl="4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Cada procesador tiene su memoria local (no hay memoria compartida)</a:t>
            </a:r>
          </a:p>
          <a:p>
            <a:pPr marL="2171700" lvl="4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Sincronización y comunicación: a través de pasaje de mensajes</a:t>
            </a:r>
          </a:p>
          <a:p>
            <a:pPr marL="2171700" lvl="4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Procesamiento distribuido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0435F40F-5F9B-2F66-3F2C-8795B868F2C0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3044901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45897" y="1056048"/>
            <a:ext cx="10681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000" b="1" u="sng" cap="all" dirty="0"/>
              <a:t>CONCURRENCIA Y ARQUITECTURA HARDWARE (CONT.):</a:t>
            </a: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CD949D-4EBE-45E0-9830-F6395CE64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897" y="1629821"/>
            <a:ext cx="10894217" cy="3742271"/>
          </a:xfrm>
          <a:prstGeom prst="rect">
            <a:avLst/>
          </a:prstGeom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80272A3D-BB65-BA6D-3ACB-377E00ECD0E5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186369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5 CuadroTexto">
            <a:extLst>
              <a:ext uri="{FF2B5EF4-FFF2-40B4-BE49-F238E27FC236}">
                <a16:creationId xmlns:a16="http://schemas.microsoft.com/office/drawing/2014/main" id="{55243670-914B-4035-B69F-E8DDC9BE2E05}"/>
              </a:ext>
            </a:extLst>
          </p:cNvPr>
          <p:cNvSpPr txBox="1"/>
          <p:nvPr/>
        </p:nvSpPr>
        <p:spPr>
          <a:xfrm>
            <a:off x="1145897" y="1003187"/>
            <a:ext cx="1068125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000" b="1" u="sng" cap="all" dirty="0"/>
              <a:t>CONCURRENCIA Y ARQUITECTURA HARDWARE (cont. 2):</a:t>
            </a:r>
          </a:p>
          <a:p>
            <a:pPr algn="just"/>
            <a:endParaRPr lang="es-AR" cap="all" dirty="0"/>
          </a:p>
          <a:p>
            <a:pPr algn="just"/>
            <a:r>
              <a:rPr lang="es-AR" cap="all" dirty="0"/>
              <a:t>Según el hardware subyacente los </a:t>
            </a:r>
            <a:r>
              <a:rPr lang="es-AR" b="1" i="1" u="sng" cap="all" dirty="0"/>
              <a:t>programas</a:t>
            </a:r>
            <a:r>
              <a:rPr lang="es-AR" cap="all" dirty="0"/>
              <a:t> pueden ser:</a:t>
            </a:r>
          </a:p>
          <a:p>
            <a:pPr algn="just"/>
            <a:endParaRPr lang="es-AR" cap="all" dirty="0"/>
          </a:p>
          <a:p>
            <a:pPr marL="800100" lvl="1" indent="-342900" algn="just">
              <a:buFont typeface="+mj-lt"/>
              <a:buAutoNum type="arabicPeriod"/>
            </a:pPr>
            <a:r>
              <a:rPr lang="es-AR" b="1" i="1" u="sng" cap="all" dirty="0"/>
              <a:t>Programas concurrentes</a:t>
            </a:r>
            <a:r>
              <a:rPr lang="es-AR" cap="all" dirty="0"/>
              <a:t>: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pueden ser monoprocesador o multiprocesador (paralelismo real).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Es la clasificación más amplia.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Pueden usar multiprogramación, memoria compartida o pasaje de mensajes.</a:t>
            </a:r>
          </a:p>
          <a:p>
            <a:pPr marL="800100" lvl="1" indent="-342900" algn="just">
              <a:buFont typeface="+mj-lt"/>
              <a:buAutoNum type="arabicPeriod"/>
            </a:pPr>
            <a:endParaRPr lang="es-AR" cap="all" dirty="0"/>
          </a:p>
          <a:p>
            <a:pPr marL="800100" lvl="1" indent="-342900" algn="just">
              <a:buFont typeface="+mj-lt"/>
              <a:buAutoNum type="arabicPeriod"/>
            </a:pPr>
            <a:r>
              <a:rPr lang="es-AR" b="1" i="1" u="sng" cap="all" dirty="0"/>
              <a:t>Programas paralelos</a:t>
            </a:r>
            <a:r>
              <a:rPr lang="es-AR" cap="all" dirty="0"/>
              <a:t>: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son programas concurrentes con hardware subyacente multiprocesador.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Pueden ser fuertemente acoplados (memoria compartida) o débilmente acoplados (memoria local).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Pueden usar memoria compartida o pasaje de mensajes.</a:t>
            </a:r>
          </a:p>
          <a:p>
            <a:pPr marL="800100" lvl="1" indent="-342900" algn="just">
              <a:buFont typeface="+mj-lt"/>
              <a:buAutoNum type="arabicPeriod"/>
            </a:pPr>
            <a:endParaRPr lang="es-AR" cap="all" dirty="0"/>
          </a:p>
          <a:p>
            <a:pPr marL="800100" lvl="1" indent="-342900" algn="just">
              <a:buFont typeface="+mj-lt"/>
              <a:buAutoNum type="arabicPeriod"/>
            </a:pPr>
            <a:r>
              <a:rPr lang="es-AR" b="1" i="1" u="sng" cap="all" dirty="0"/>
              <a:t>Programas distribuidos</a:t>
            </a:r>
            <a:r>
              <a:rPr lang="es-AR" cap="all" dirty="0"/>
              <a:t>: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son programas paralelos con hardware subyacente multiprocesador débilmente acoplados.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s-AR" cap="all" dirty="0"/>
              <a:t>Deben usar pasaje de mensajes.</a:t>
            </a:r>
          </a:p>
        </p:txBody>
      </p:sp>
      <p:sp>
        <p:nvSpPr>
          <p:cNvPr id="4" name="2 CuadroTexto">
            <a:extLst>
              <a:ext uri="{FF2B5EF4-FFF2-40B4-BE49-F238E27FC236}">
                <a16:creationId xmlns:a16="http://schemas.microsoft.com/office/drawing/2014/main" id="{EE3C778C-6F2E-0D16-806F-EC5FA4B5FEF6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2813130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19611" y="1009857"/>
            <a:ext cx="106812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b="1" u="sng" cap="all" dirty="0"/>
              <a:t>bibliografía:</a:t>
            </a:r>
          </a:p>
          <a:p>
            <a:pPr algn="just"/>
            <a:endParaRPr lang="es-AR" sz="1600" cap="all" dirty="0"/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Campos Monge, M. &amp; Campos Monge, E. M. (2023). Sistemas operativos sistemas informáticos y lenguajes de programación: (1 ed.). RA-MA Editorial.</a:t>
            </a: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https://elibro.net/es/lc/bibunla/titulos/230572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Capel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Tuñon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M. I. (2022). Programación concurrente y en tiempo real: fundamentos y aplicaciones. Garceta.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Muñoz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Escoí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F. D. (2013). Concurrencia y sistemas distribuidos: ( ed.). Editorial de la Universidad Politécnica de Valencia.</a:t>
            </a: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https://elibro.net/es/lc/bibunla/titulos/57365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Stallings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W. (2005). Sistemas operativos: aspectos internos y principios de diseño (5.ª ed.). Pearson Educación. 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http://opac.unla.edu.ar/cgi-bin/koha/opac-detail.pl?biblionumber=168171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Stallings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W. (2012).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Internals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(7.ª ed.). Prentice Hall. </a:t>
            </a: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https://repository.dinus.ac.id/docs/ajar/Operating_System.pdf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Tanenbaum, A. S. (2003). Sistemas operativos modernos (2.ª ed.). Pearson Educación. </a:t>
            </a: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8"/>
              </a:rPr>
              <a:t>http://opac.unla.edu.ar/cgi-bin/koha/opac-detail.pl?biblionumber=168172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(2023).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(versión del 15 de julio) [Modelo de lenguaje de gran tamaño]. </a:t>
            </a: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9"/>
              </a:rPr>
              <a:t>https://chat.openai.com/chat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s-ES" sz="1200" b="0" dirty="0">
                <a:effectLst/>
              </a:rPr>
            </a:b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Ideas Espaciales (2024). Centro de apuntes de La Fuente UNLP.</a:t>
            </a:r>
            <a:endParaRPr lang="es-E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10"/>
              </a:rPr>
              <a:t>https://apuntes.lafuenteunlp.com.ar/?path=%2FLic.%20en%20Sistemas-Inform%C3%A1tica%2C%20Analista%20Programador-TIC%2F3er%20A%C3%B1o%2FProgramacion%20Concurrente</a:t>
            </a:r>
            <a:endParaRPr lang="es-ES" sz="1200" b="0" dirty="0">
              <a:effectLst/>
            </a:endParaRPr>
          </a:p>
          <a:p>
            <a:br>
              <a:rPr lang="es-ES" sz="1200" dirty="0"/>
            </a:br>
            <a:endParaRPr lang="es-AR" sz="1200" b="1" dirty="0">
              <a:latin typeface="Times New Roman" panose="02020603050405020304" pitchFamily="18" charset="0"/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ABFF2FEE-5E6E-4521-956C-2EACEDDD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2 CuadroTexto">
            <a:extLst>
              <a:ext uri="{FF2B5EF4-FFF2-40B4-BE49-F238E27FC236}">
                <a16:creationId xmlns:a16="http://schemas.microsoft.com/office/drawing/2014/main" id="{43A24602-9D5A-7C95-C6BD-3133CBA40519}"/>
              </a:ext>
            </a:extLst>
          </p:cNvPr>
          <p:cNvSpPr txBox="1"/>
          <p:nvPr/>
        </p:nvSpPr>
        <p:spPr>
          <a:xfrm>
            <a:off x="10111408" y="6319320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PEREZ, Nicolás</a:t>
            </a:r>
          </a:p>
        </p:txBody>
      </p:sp>
    </p:spTree>
    <p:extLst>
      <p:ext uri="{BB962C8B-B14F-4D97-AF65-F5344CB8AC3E}">
        <p14:creationId xmlns:p14="http://schemas.microsoft.com/office/powerpoint/2010/main" val="2903283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1362</Words>
  <Application>Microsoft Office PowerPoint</Application>
  <PresentationFormat>Panorámica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59</cp:revision>
  <dcterms:created xsi:type="dcterms:W3CDTF">2020-03-19T18:50:23Z</dcterms:created>
  <dcterms:modified xsi:type="dcterms:W3CDTF">2024-03-26T19:16:23Z</dcterms:modified>
</cp:coreProperties>
</file>