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5" r:id="rId2"/>
    <p:sldId id="268" r:id="rId3"/>
    <p:sldId id="352" r:id="rId4"/>
    <p:sldId id="353" r:id="rId5"/>
    <p:sldId id="369" r:id="rId6"/>
    <p:sldId id="351" r:id="rId7"/>
    <p:sldId id="354" r:id="rId8"/>
    <p:sldId id="355" r:id="rId9"/>
    <p:sldId id="356" r:id="rId10"/>
    <p:sldId id="357" r:id="rId11"/>
    <p:sldId id="358" r:id="rId12"/>
    <p:sldId id="359" r:id="rId13"/>
    <p:sldId id="360" r:id="rId14"/>
    <p:sldId id="361" r:id="rId15"/>
    <p:sldId id="373" r:id="rId16"/>
    <p:sldId id="363" r:id="rId17"/>
    <p:sldId id="364" r:id="rId18"/>
    <p:sldId id="366" r:id="rId19"/>
    <p:sldId id="367" r:id="rId20"/>
    <p:sldId id="370" r:id="rId21"/>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5CC860C3-4629-4DDA-BA27-09E2E18690C7}">
          <p14:sldIdLst>
            <p14:sldId id="295"/>
            <p14:sldId id="268"/>
            <p14:sldId id="352"/>
            <p14:sldId id="353"/>
            <p14:sldId id="369"/>
            <p14:sldId id="351"/>
            <p14:sldId id="354"/>
            <p14:sldId id="355"/>
            <p14:sldId id="356"/>
            <p14:sldId id="357"/>
            <p14:sldId id="358"/>
            <p14:sldId id="359"/>
            <p14:sldId id="360"/>
            <p14:sldId id="361"/>
            <p14:sldId id="373"/>
            <p14:sldId id="363"/>
            <p14:sldId id="364"/>
            <p14:sldId id="366"/>
            <p14:sldId id="367"/>
            <p14:sldId id="37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varScale="1">
        <p:scale>
          <a:sx n="111" d="100"/>
          <a:sy n="111" d="100"/>
        </p:scale>
        <p:origin x="594"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C63B28-680B-40BA-BAF0-CDDC1C32F20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0F6F4BC6-62A8-4F2A-A42D-0CB1F807DE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A0BAFB7C-8E0E-468F-BA89-55C5C2FE44BA}"/>
              </a:ext>
            </a:extLst>
          </p:cNvPr>
          <p:cNvSpPr>
            <a:spLocks noGrp="1"/>
          </p:cNvSpPr>
          <p:nvPr>
            <p:ph type="dt" sz="half" idx="10"/>
          </p:nvPr>
        </p:nvSpPr>
        <p:spPr/>
        <p:txBody>
          <a:bodyPr/>
          <a:lstStyle/>
          <a:p>
            <a:fld id="{D5E3F69A-07CA-4FA6-8659-3F8184DE9D62}" type="datetimeFigureOut">
              <a:rPr lang="es-AR" smtClean="0"/>
              <a:t>16/4/2024</a:t>
            </a:fld>
            <a:endParaRPr lang="es-AR"/>
          </a:p>
        </p:txBody>
      </p:sp>
      <p:sp>
        <p:nvSpPr>
          <p:cNvPr id="5" name="Marcador de pie de página 4">
            <a:extLst>
              <a:ext uri="{FF2B5EF4-FFF2-40B4-BE49-F238E27FC236}">
                <a16:creationId xmlns:a16="http://schemas.microsoft.com/office/drawing/2014/main" id="{5C0D0081-D60A-4E86-81F7-38193259F67A}"/>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AC70CF7D-0519-41B0-874B-4E2C56616392}"/>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376438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20AE3C-5B09-4B46-BBE0-E673EEB4486A}"/>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E51456C3-604C-4687-B146-FB214A08BA00}"/>
              </a:ext>
            </a:extLst>
          </p:cNvPr>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AABEEDC8-078C-4C48-BBDF-4E4D45010C51}"/>
              </a:ext>
            </a:extLst>
          </p:cNvPr>
          <p:cNvSpPr>
            <a:spLocks noGrp="1"/>
          </p:cNvSpPr>
          <p:nvPr>
            <p:ph type="dt" sz="half" idx="10"/>
          </p:nvPr>
        </p:nvSpPr>
        <p:spPr/>
        <p:txBody>
          <a:bodyPr/>
          <a:lstStyle/>
          <a:p>
            <a:fld id="{D5E3F69A-07CA-4FA6-8659-3F8184DE9D62}" type="datetimeFigureOut">
              <a:rPr lang="es-AR" smtClean="0"/>
              <a:t>16/4/2024</a:t>
            </a:fld>
            <a:endParaRPr lang="es-AR"/>
          </a:p>
        </p:txBody>
      </p:sp>
      <p:sp>
        <p:nvSpPr>
          <p:cNvPr id="5" name="Marcador de pie de página 4">
            <a:extLst>
              <a:ext uri="{FF2B5EF4-FFF2-40B4-BE49-F238E27FC236}">
                <a16:creationId xmlns:a16="http://schemas.microsoft.com/office/drawing/2014/main" id="{61039649-4BA3-4028-A347-55F274A7EFDD}"/>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1D36CBE0-807B-4634-9176-7C7E6E8B0501}"/>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2507433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67C40E-A093-4F77-96EE-E8F47941AA1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9A465B42-274D-40BA-A6F3-946ADCF4B3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Marcador de fecha 3">
            <a:extLst>
              <a:ext uri="{FF2B5EF4-FFF2-40B4-BE49-F238E27FC236}">
                <a16:creationId xmlns:a16="http://schemas.microsoft.com/office/drawing/2014/main" id="{27304BA1-F4EF-439F-90ED-A2CC2A9AE0D3}"/>
              </a:ext>
            </a:extLst>
          </p:cNvPr>
          <p:cNvSpPr>
            <a:spLocks noGrp="1"/>
          </p:cNvSpPr>
          <p:nvPr>
            <p:ph type="dt" sz="half" idx="10"/>
          </p:nvPr>
        </p:nvSpPr>
        <p:spPr/>
        <p:txBody>
          <a:bodyPr/>
          <a:lstStyle/>
          <a:p>
            <a:fld id="{D5E3F69A-07CA-4FA6-8659-3F8184DE9D62}" type="datetimeFigureOut">
              <a:rPr lang="es-AR" smtClean="0"/>
              <a:t>16/4/2024</a:t>
            </a:fld>
            <a:endParaRPr lang="es-AR"/>
          </a:p>
        </p:txBody>
      </p:sp>
      <p:sp>
        <p:nvSpPr>
          <p:cNvPr id="5" name="Marcador de pie de página 4">
            <a:extLst>
              <a:ext uri="{FF2B5EF4-FFF2-40B4-BE49-F238E27FC236}">
                <a16:creationId xmlns:a16="http://schemas.microsoft.com/office/drawing/2014/main" id="{F4A60864-18DE-4CFC-BF66-FE2811758523}"/>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98621648-0A93-4FD8-9CB6-5343C0019BC2}"/>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3437045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6F827C-B803-48F5-B86D-B92952360FD5}"/>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C91C588F-852B-449F-975E-7C26A4C79C73}"/>
              </a:ext>
            </a:extLst>
          </p:cNvPr>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6628B925-1FBB-4681-8B11-C508AF837B52}"/>
              </a:ext>
            </a:extLst>
          </p:cNvPr>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7BE38973-6C14-4026-9C4D-C8F1B2E8F0BB}"/>
              </a:ext>
            </a:extLst>
          </p:cNvPr>
          <p:cNvSpPr>
            <a:spLocks noGrp="1"/>
          </p:cNvSpPr>
          <p:nvPr>
            <p:ph type="dt" sz="half" idx="10"/>
          </p:nvPr>
        </p:nvSpPr>
        <p:spPr/>
        <p:txBody>
          <a:bodyPr/>
          <a:lstStyle/>
          <a:p>
            <a:fld id="{D5E3F69A-07CA-4FA6-8659-3F8184DE9D62}" type="datetimeFigureOut">
              <a:rPr lang="es-AR" smtClean="0"/>
              <a:t>16/4/2024</a:t>
            </a:fld>
            <a:endParaRPr lang="es-AR"/>
          </a:p>
        </p:txBody>
      </p:sp>
      <p:sp>
        <p:nvSpPr>
          <p:cNvPr id="6" name="Marcador de pie de página 5">
            <a:extLst>
              <a:ext uri="{FF2B5EF4-FFF2-40B4-BE49-F238E27FC236}">
                <a16:creationId xmlns:a16="http://schemas.microsoft.com/office/drawing/2014/main" id="{DDB0F547-15CD-4553-A2D1-C3755DDCC4DB}"/>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C4283AA8-CF3A-4FCB-8CD5-107F84779F57}"/>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32452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C43476-8475-4AAE-8E41-9E8F1CBF242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5472FE43-6B8E-4D8B-A3D9-6CA2EE8593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C87F4137-2056-4EE9-BE5D-B34E3F026779}"/>
              </a:ext>
            </a:extLst>
          </p:cNvPr>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CD4C370E-B9FC-4E8F-A17D-63E708CE5B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ED64075D-9E2E-41D3-866F-0F4199976B84}"/>
              </a:ext>
            </a:extLst>
          </p:cNvPr>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0BF94304-FF68-429E-B125-EB35E568D0A6}"/>
              </a:ext>
            </a:extLst>
          </p:cNvPr>
          <p:cNvSpPr>
            <a:spLocks noGrp="1"/>
          </p:cNvSpPr>
          <p:nvPr>
            <p:ph type="dt" sz="half" idx="10"/>
          </p:nvPr>
        </p:nvSpPr>
        <p:spPr/>
        <p:txBody>
          <a:bodyPr/>
          <a:lstStyle/>
          <a:p>
            <a:fld id="{D5E3F69A-07CA-4FA6-8659-3F8184DE9D62}" type="datetimeFigureOut">
              <a:rPr lang="es-AR" smtClean="0"/>
              <a:t>16/4/2024</a:t>
            </a:fld>
            <a:endParaRPr lang="es-AR"/>
          </a:p>
        </p:txBody>
      </p:sp>
      <p:sp>
        <p:nvSpPr>
          <p:cNvPr id="8" name="Marcador de pie de página 7">
            <a:extLst>
              <a:ext uri="{FF2B5EF4-FFF2-40B4-BE49-F238E27FC236}">
                <a16:creationId xmlns:a16="http://schemas.microsoft.com/office/drawing/2014/main" id="{29B26C90-E586-4C20-A1EE-79559DBC7B2E}"/>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0F78CF1F-BD71-4DFC-AD85-72720AE69238}"/>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1717652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3745E7-0DCE-49AB-83CC-67F69A7AA482}"/>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8CB90C12-73D7-4B91-A3FE-D9B03C5A3978}"/>
              </a:ext>
            </a:extLst>
          </p:cNvPr>
          <p:cNvSpPr>
            <a:spLocks noGrp="1"/>
          </p:cNvSpPr>
          <p:nvPr>
            <p:ph type="dt" sz="half" idx="10"/>
          </p:nvPr>
        </p:nvSpPr>
        <p:spPr/>
        <p:txBody>
          <a:bodyPr/>
          <a:lstStyle/>
          <a:p>
            <a:fld id="{D5E3F69A-07CA-4FA6-8659-3F8184DE9D62}" type="datetimeFigureOut">
              <a:rPr lang="es-AR" smtClean="0"/>
              <a:t>16/4/2024</a:t>
            </a:fld>
            <a:endParaRPr lang="es-AR"/>
          </a:p>
        </p:txBody>
      </p:sp>
      <p:sp>
        <p:nvSpPr>
          <p:cNvPr id="4" name="Marcador de pie de página 3">
            <a:extLst>
              <a:ext uri="{FF2B5EF4-FFF2-40B4-BE49-F238E27FC236}">
                <a16:creationId xmlns:a16="http://schemas.microsoft.com/office/drawing/2014/main" id="{49FF3BAE-5BC0-4D7A-BD33-A2C6B7B0BB3C}"/>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AF88DC54-A363-424C-A66E-950C9D5CC0F3}"/>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2136651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5BD7976-1394-4FC8-B8D7-865E9C8DE22E}"/>
              </a:ext>
            </a:extLst>
          </p:cNvPr>
          <p:cNvSpPr>
            <a:spLocks noGrp="1"/>
          </p:cNvSpPr>
          <p:nvPr>
            <p:ph type="dt" sz="half" idx="10"/>
          </p:nvPr>
        </p:nvSpPr>
        <p:spPr/>
        <p:txBody>
          <a:bodyPr/>
          <a:lstStyle/>
          <a:p>
            <a:fld id="{D5E3F69A-07CA-4FA6-8659-3F8184DE9D62}" type="datetimeFigureOut">
              <a:rPr lang="es-AR" smtClean="0"/>
              <a:t>16/4/2024</a:t>
            </a:fld>
            <a:endParaRPr lang="es-AR"/>
          </a:p>
        </p:txBody>
      </p:sp>
      <p:sp>
        <p:nvSpPr>
          <p:cNvPr id="3" name="Marcador de pie de página 2">
            <a:extLst>
              <a:ext uri="{FF2B5EF4-FFF2-40B4-BE49-F238E27FC236}">
                <a16:creationId xmlns:a16="http://schemas.microsoft.com/office/drawing/2014/main" id="{028F63C5-9F51-4E93-91AC-A9EE785BE0D7}"/>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EF9FE922-64D4-4A87-98A1-87862CBB2FD7}"/>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2297064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E68F91-98B7-4F11-A12E-1213B9CDFF4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7FA87097-9CCE-42FD-8F05-1A78140C97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8EE4BB82-AF48-4C1B-9587-B5F2D6E851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B7C612D5-09C0-4352-B682-F703B649AC20}"/>
              </a:ext>
            </a:extLst>
          </p:cNvPr>
          <p:cNvSpPr>
            <a:spLocks noGrp="1"/>
          </p:cNvSpPr>
          <p:nvPr>
            <p:ph type="dt" sz="half" idx="10"/>
          </p:nvPr>
        </p:nvSpPr>
        <p:spPr/>
        <p:txBody>
          <a:bodyPr/>
          <a:lstStyle/>
          <a:p>
            <a:fld id="{D5E3F69A-07CA-4FA6-8659-3F8184DE9D62}" type="datetimeFigureOut">
              <a:rPr lang="es-AR" smtClean="0"/>
              <a:t>16/4/2024</a:t>
            </a:fld>
            <a:endParaRPr lang="es-AR"/>
          </a:p>
        </p:txBody>
      </p:sp>
      <p:sp>
        <p:nvSpPr>
          <p:cNvPr id="6" name="Marcador de pie de página 5">
            <a:extLst>
              <a:ext uri="{FF2B5EF4-FFF2-40B4-BE49-F238E27FC236}">
                <a16:creationId xmlns:a16="http://schemas.microsoft.com/office/drawing/2014/main" id="{2F1DD472-0CA2-466D-8863-FA5B915C997F}"/>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F938939B-14DE-44A5-BF29-1558C10E75FD}"/>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1489542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7ADDE8-35D2-4AB3-BFEB-3E15FBBF789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899135E0-503E-4D1E-BD85-3906593DE7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5EC74D96-865F-42AB-A40B-F9A6791D6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F513BF82-44D5-4EC7-BF47-69B8AF762514}"/>
              </a:ext>
            </a:extLst>
          </p:cNvPr>
          <p:cNvSpPr>
            <a:spLocks noGrp="1"/>
          </p:cNvSpPr>
          <p:nvPr>
            <p:ph type="dt" sz="half" idx="10"/>
          </p:nvPr>
        </p:nvSpPr>
        <p:spPr/>
        <p:txBody>
          <a:bodyPr/>
          <a:lstStyle/>
          <a:p>
            <a:fld id="{D5E3F69A-07CA-4FA6-8659-3F8184DE9D62}" type="datetimeFigureOut">
              <a:rPr lang="es-AR" smtClean="0"/>
              <a:t>16/4/2024</a:t>
            </a:fld>
            <a:endParaRPr lang="es-AR"/>
          </a:p>
        </p:txBody>
      </p:sp>
      <p:sp>
        <p:nvSpPr>
          <p:cNvPr id="6" name="Marcador de pie de página 5">
            <a:extLst>
              <a:ext uri="{FF2B5EF4-FFF2-40B4-BE49-F238E27FC236}">
                <a16:creationId xmlns:a16="http://schemas.microsoft.com/office/drawing/2014/main" id="{A3A47EA8-0240-4B42-8C01-394F37710D45}"/>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99600F27-6E77-447C-8A24-E6FAA76757F7}"/>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2175796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FCA8E7-3B8D-47F4-B1A0-D0DE2E7E36A8}"/>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B4FD2CF1-4A6B-468C-9999-AE864B208D3F}"/>
              </a:ext>
            </a:extLst>
          </p:cNvPr>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29215B36-3672-4CAF-BE64-1FB65A513F35}"/>
              </a:ext>
            </a:extLst>
          </p:cNvPr>
          <p:cNvSpPr>
            <a:spLocks noGrp="1"/>
          </p:cNvSpPr>
          <p:nvPr>
            <p:ph type="dt" sz="half" idx="10"/>
          </p:nvPr>
        </p:nvSpPr>
        <p:spPr/>
        <p:txBody>
          <a:bodyPr/>
          <a:lstStyle/>
          <a:p>
            <a:fld id="{D5E3F69A-07CA-4FA6-8659-3F8184DE9D62}" type="datetimeFigureOut">
              <a:rPr lang="es-AR" smtClean="0"/>
              <a:t>16/4/2024</a:t>
            </a:fld>
            <a:endParaRPr lang="es-AR"/>
          </a:p>
        </p:txBody>
      </p:sp>
      <p:sp>
        <p:nvSpPr>
          <p:cNvPr id="5" name="Marcador de pie de página 4">
            <a:extLst>
              <a:ext uri="{FF2B5EF4-FFF2-40B4-BE49-F238E27FC236}">
                <a16:creationId xmlns:a16="http://schemas.microsoft.com/office/drawing/2014/main" id="{9E73B271-8FF8-4297-82AE-18DA79189BFF}"/>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F40AE8A8-8DE3-4451-9530-27CC790BF547}"/>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535374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0D33723-CDF3-422D-9100-08480E6F25E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37542780-6BE9-4593-95AF-99AFC00C33B5}"/>
              </a:ext>
            </a:extLst>
          </p:cNvPr>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42F9F894-81B8-47EC-9C56-0D39A5139180}"/>
              </a:ext>
            </a:extLst>
          </p:cNvPr>
          <p:cNvSpPr>
            <a:spLocks noGrp="1"/>
          </p:cNvSpPr>
          <p:nvPr>
            <p:ph type="dt" sz="half" idx="10"/>
          </p:nvPr>
        </p:nvSpPr>
        <p:spPr/>
        <p:txBody>
          <a:bodyPr/>
          <a:lstStyle/>
          <a:p>
            <a:fld id="{D5E3F69A-07CA-4FA6-8659-3F8184DE9D62}" type="datetimeFigureOut">
              <a:rPr lang="es-AR" smtClean="0"/>
              <a:t>16/4/2024</a:t>
            </a:fld>
            <a:endParaRPr lang="es-AR"/>
          </a:p>
        </p:txBody>
      </p:sp>
      <p:sp>
        <p:nvSpPr>
          <p:cNvPr id="5" name="Marcador de pie de página 4">
            <a:extLst>
              <a:ext uri="{FF2B5EF4-FFF2-40B4-BE49-F238E27FC236}">
                <a16:creationId xmlns:a16="http://schemas.microsoft.com/office/drawing/2014/main" id="{FA1B4CFC-A971-433A-817E-EDD6C68964C4}"/>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38080314-209B-470D-B49D-A95C8B9CACC1}"/>
              </a:ext>
            </a:extLst>
          </p:cNvPr>
          <p:cNvSpPr>
            <a:spLocks noGrp="1"/>
          </p:cNvSpPr>
          <p:nvPr>
            <p:ph type="sldNum" sz="quarter" idx="12"/>
          </p:nvPr>
        </p:nvSpPr>
        <p:spPr/>
        <p:txBody>
          <a:bodyPr/>
          <a:lstStyle/>
          <a:p>
            <a:fld id="{A9CDCCBA-ABFE-4282-BCDE-E7FFFF2A12BA}" type="slidenum">
              <a:rPr lang="es-AR" smtClean="0"/>
              <a:t>‹Nº›</a:t>
            </a:fld>
            <a:endParaRPr lang="es-AR"/>
          </a:p>
        </p:txBody>
      </p:sp>
    </p:spTree>
    <p:extLst>
      <p:ext uri="{BB962C8B-B14F-4D97-AF65-F5344CB8AC3E}">
        <p14:creationId xmlns:p14="http://schemas.microsoft.com/office/powerpoint/2010/main" val="3118814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E58368F-FEC0-423C-95A5-91E910302A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67680BC2-7904-4295-A612-13C8CEDB4F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6EFDD47F-EA9A-4BBB-A3D9-D197C902D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E3F69A-07CA-4FA6-8659-3F8184DE9D62}" type="datetimeFigureOut">
              <a:rPr lang="es-AR" smtClean="0"/>
              <a:t>16/4/2024</a:t>
            </a:fld>
            <a:endParaRPr lang="es-AR"/>
          </a:p>
        </p:txBody>
      </p:sp>
      <p:sp>
        <p:nvSpPr>
          <p:cNvPr id="5" name="Marcador de pie de página 4">
            <a:extLst>
              <a:ext uri="{FF2B5EF4-FFF2-40B4-BE49-F238E27FC236}">
                <a16:creationId xmlns:a16="http://schemas.microsoft.com/office/drawing/2014/main" id="{023967D6-450C-40DE-969C-8C418C9491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Marcador de número de diapositiva 5">
            <a:extLst>
              <a:ext uri="{FF2B5EF4-FFF2-40B4-BE49-F238E27FC236}">
                <a16:creationId xmlns:a16="http://schemas.microsoft.com/office/drawing/2014/main" id="{0DBC9104-6A80-480C-BEE8-98E6B66349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CDCCBA-ABFE-4282-BCDE-E7FFFF2A12BA}" type="slidenum">
              <a:rPr lang="es-AR" smtClean="0"/>
              <a:t>‹Nº›</a:t>
            </a:fld>
            <a:endParaRPr lang="es-AR"/>
          </a:p>
        </p:txBody>
      </p:sp>
    </p:spTree>
    <p:extLst>
      <p:ext uri="{BB962C8B-B14F-4D97-AF65-F5344CB8AC3E}">
        <p14:creationId xmlns:p14="http://schemas.microsoft.com/office/powerpoint/2010/main" val="33485189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78E808B5-78A4-442D-997A-D455038937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8863" y="1215190"/>
            <a:ext cx="3071579" cy="3402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4 CuadroTexto">
            <a:extLst>
              <a:ext uri="{FF2B5EF4-FFF2-40B4-BE49-F238E27FC236}">
                <a16:creationId xmlns:a16="http://schemas.microsoft.com/office/drawing/2014/main" id="{16345EA6-5AC8-4BF4-80DC-1231B30A0EE5}"/>
              </a:ext>
            </a:extLst>
          </p:cNvPr>
          <p:cNvSpPr txBox="1"/>
          <p:nvPr/>
        </p:nvSpPr>
        <p:spPr>
          <a:xfrm>
            <a:off x="2339946" y="5143589"/>
            <a:ext cx="7397804" cy="707886"/>
          </a:xfrm>
          <a:prstGeom prst="rect">
            <a:avLst/>
          </a:prstGeom>
          <a:noFill/>
        </p:spPr>
        <p:txBody>
          <a:bodyPr wrap="square" rtlCol="0">
            <a:spAutoFit/>
          </a:bodyPr>
          <a:lstStyle/>
          <a:p>
            <a:pPr algn="just"/>
            <a:r>
              <a:rPr lang="es-AR" sz="4000" b="1" cap="all" dirty="0"/>
              <a:t>PROGRAMACIÓN CONCURRENTE</a:t>
            </a:r>
          </a:p>
        </p:txBody>
      </p:sp>
      <p:pic>
        <p:nvPicPr>
          <p:cNvPr id="15" name="Picture 5">
            <a:extLst>
              <a:ext uri="{FF2B5EF4-FFF2-40B4-BE49-F238E27FC236}">
                <a16:creationId xmlns:a16="http://schemas.microsoft.com/office/drawing/2014/main" id="{C7858944-FA40-423E-992B-7FA36F4AD22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073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5 CuadroTexto">
            <a:extLst>
              <a:ext uri="{FF2B5EF4-FFF2-40B4-BE49-F238E27FC236}">
                <a16:creationId xmlns:a16="http://schemas.microsoft.com/office/drawing/2014/main" id="{2BF4CEC3-6315-484B-A352-0F7938792952}"/>
              </a:ext>
            </a:extLst>
          </p:cNvPr>
          <p:cNvSpPr txBox="1"/>
          <p:nvPr/>
        </p:nvSpPr>
        <p:spPr>
          <a:xfrm>
            <a:off x="1145897" y="1056048"/>
            <a:ext cx="10681252" cy="5078313"/>
          </a:xfrm>
          <a:prstGeom prst="rect">
            <a:avLst/>
          </a:prstGeom>
          <a:noFill/>
        </p:spPr>
        <p:txBody>
          <a:bodyPr wrap="square" rtlCol="0">
            <a:spAutoFit/>
          </a:bodyPr>
          <a:lstStyle/>
          <a:p>
            <a:pPr algn="just"/>
            <a:r>
              <a:rPr lang="es-AR" sz="2000" b="1" u="sng" cap="all" dirty="0"/>
              <a:t>CONCURRENCIA Y ARQUITECTURA HARDWARE:</a:t>
            </a:r>
          </a:p>
          <a:p>
            <a:pPr algn="just"/>
            <a:endParaRPr lang="es-AR" cap="all" dirty="0"/>
          </a:p>
          <a:p>
            <a:pPr algn="just"/>
            <a:r>
              <a:rPr lang="es-AR" cap="all" dirty="0"/>
              <a:t>Según el hardware subyacente los sistemas pueden ser:</a:t>
            </a:r>
          </a:p>
          <a:p>
            <a:pPr algn="just"/>
            <a:endParaRPr lang="es-AR" cap="all" dirty="0"/>
          </a:p>
          <a:p>
            <a:pPr marL="800100" lvl="1" indent="-342900" algn="just">
              <a:buFont typeface="+mj-lt"/>
              <a:buAutoNum type="arabicPeriod"/>
            </a:pPr>
            <a:r>
              <a:rPr lang="es-AR" b="1" i="1" u="sng" cap="all" dirty="0"/>
              <a:t>sistemas monoprocesador</a:t>
            </a:r>
            <a:r>
              <a:rPr lang="es-AR" cap="all" dirty="0"/>
              <a:t>:</a:t>
            </a:r>
          </a:p>
          <a:p>
            <a:pPr marL="1257300" lvl="2" indent="-342900" algn="just">
              <a:buFont typeface="Arial" panose="020B0604020202020204" pitchFamily="34" charset="0"/>
              <a:buChar char="•"/>
            </a:pPr>
            <a:r>
              <a:rPr lang="es-AR" cap="all" dirty="0"/>
              <a:t>Multiprogramación: el s.o. alterna el tiempo de CPU entre los distintos procesos</a:t>
            </a:r>
          </a:p>
          <a:p>
            <a:pPr marL="1257300" lvl="2" indent="-342900" algn="just">
              <a:buFont typeface="Arial" panose="020B0604020202020204" pitchFamily="34" charset="0"/>
              <a:buChar char="•"/>
            </a:pPr>
            <a:r>
              <a:rPr lang="es-AR" cap="all" dirty="0"/>
              <a:t>Sincronización y comunicación: a través de variables compartidas</a:t>
            </a:r>
          </a:p>
          <a:p>
            <a:pPr marL="1257300" lvl="2" indent="-342900" algn="just">
              <a:buFont typeface="Arial" panose="020B0604020202020204" pitchFamily="34" charset="0"/>
              <a:buChar char="•"/>
            </a:pPr>
            <a:endParaRPr lang="es-AR" cap="all" dirty="0"/>
          </a:p>
          <a:p>
            <a:pPr marL="800100" lvl="1" indent="-342900" algn="just">
              <a:buFont typeface="+mj-lt"/>
              <a:buAutoNum type="arabicPeriod"/>
            </a:pPr>
            <a:r>
              <a:rPr lang="es-AR" b="1" i="1" u="sng" cap="all" dirty="0"/>
              <a:t>Sistemas multiprocesador</a:t>
            </a:r>
            <a:r>
              <a:rPr lang="es-AR" cap="all" dirty="0"/>
              <a:t>:</a:t>
            </a:r>
          </a:p>
          <a:p>
            <a:pPr marL="1257300" lvl="2" indent="-342900" algn="just">
              <a:buFont typeface="Arial" panose="020B0604020202020204" pitchFamily="34" charset="0"/>
              <a:buChar char="•"/>
            </a:pPr>
            <a:r>
              <a:rPr lang="es-AR" cap="all" dirty="0"/>
              <a:t>Existe paralelismo real</a:t>
            </a:r>
          </a:p>
          <a:p>
            <a:pPr marL="1257300" lvl="2" indent="-342900" algn="just">
              <a:buFont typeface="Arial" panose="020B0604020202020204" pitchFamily="34" charset="0"/>
              <a:buChar char="•"/>
            </a:pPr>
            <a:r>
              <a:rPr lang="es-AR" cap="all" dirty="0"/>
              <a:t>Tipos:</a:t>
            </a:r>
          </a:p>
          <a:p>
            <a:pPr marL="1714500" lvl="3" indent="-342900" algn="just">
              <a:buFont typeface="Arial" panose="020B0604020202020204" pitchFamily="34" charset="0"/>
              <a:buChar char="•"/>
            </a:pPr>
            <a:r>
              <a:rPr lang="es-AR" b="1" i="1" u="sng" cap="all" dirty="0"/>
              <a:t>Fuertemente acoplados</a:t>
            </a:r>
            <a:r>
              <a:rPr lang="es-AR" cap="all" dirty="0"/>
              <a:t>:</a:t>
            </a:r>
          </a:p>
          <a:p>
            <a:pPr marL="2171700" lvl="4" indent="-342900" algn="just">
              <a:buFont typeface="Arial" panose="020B0604020202020204" pitchFamily="34" charset="0"/>
              <a:buChar char="•"/>
            </a:pPr>
            <a:r>
              <a:rPr lang="es-AR" cap="all" dirty="0"/>
              <a:t>Son multiprocesos</a:t>
            </a:r>
          </a:p>
          <a:p>
            <a:pPr marL="2171700" lvl="4" indent="-342900" algn="just">
              <a:buFont typeface="Arial" panose="020B0604020202020204" pitchFamily="34" charset="0"/>
              <a:buChar char="•"/>
            </a:pPr>
            <a:r>
              <a:rPr lang="es-AR" cap="all" dirty="0"/>
              <a:t>Sincronización y comunicación: a través de variables compartidas</a:t>
            </a:r>
          </a:p>
          <a:p>
            <a:pPr marL="1714500" lvl="3" indent="-342900" algn="just">
              <a:buFont typeface="Arial" panose="020B0604020202020204" pitchFamily="34" charset="0"/>
              <a:buChar char="•"/>
            </a:pPr>
            <a:r>
              <a:rPr lang="es-AR" b="1" i="1" u="sng" cap="all" dirty="0"/>
              <a:t>Débilmente acoplados</a:t>
            </a:r>
            <a:r>
              <a:rPr lang="es-AR" cap="all" dirty="0"/>
              <a:t>:</a:t>
            </a:r>
          </a:p>
          <a:p>
            <a:pPr marL="2171700" lvl="4" indent="-342900" algn="just">
              <a:buFont typeface="Arial" panose="020B0604020202020204" pitchFamily="34" charset="0"/>
              <a:buChar char="•"/>
            </a:pPr>
            <a:r>
              <a:rPr lang="es-AR" cap="all" dirty="0"/>
              <a:t>Cada procesador tiene su memoria local (no hay memoria compartida)</a:t>
            </a:r>
          </a:p>
          <a:p>
            <a:pPr marL="2171700" lvl="4" indent="-342900" algn="just">
              <a:buFont typeface="Arial" panose="020B0604020202020204" pitchFamily="34" charset="0"/>
              <a:buChar char="•"/>
            </a:pPr>
            <a:r>
              <a:rPr lang="es-AR" cap="all" dirty="0"/>
              <a:t>Sincronización y comunicación: a través de pasaje de mensajes</a:t>
            </a:r>
          </a:p>
          <a:p>
            <a:pPr marL="2171700" lvl="4" indent="-342900" algn="just">
              <a:buFont typeface="Arial" panose="020B0604020202020204" pitchFamily="34" charset="0"/>
              <a:buChar char="•"/>
            </a:pPr>
            <a:r>
              <a:rPr lang="es-AR" cap="all" dirty="0"/>
              <a:t>Procesamiento distribuido</a:t>
            </a:r>
          </a:p>
        </p:txBody>
      </p:sp>
    </p:spTree>
    <p:extLst>
      <p:ext uri="{BB962C8B-B14F-4D97-AF65-F5344CB8AC3E}">
        <p14:creationId xmlns:p14="http://schemas.microsoft.com/office/powerpoint/2010/main" val="131881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954107"/>
          </a:xfrm>
          <a:prstGeom prst="rect">
            <a:avLst/>
          </a:prstGeom>
          <a:noFill/>
        </p:spPr>
        <p:txBody>
          <a:bodyPr wrap="square" rtlCol="0">
            <a:spAutoFit/>
          </a:bodyPr>
          <a:lstStyle/>
          <a:p>
            <a:pPr algn="just"/>
            <a:r>
              <a:rPr lang="es-AR" sz="2000" b="1" u="sng" cap="all" dirty="0"/>
              <a:t>Sistema monoprocesador:</a:t>
            </a:r>
          </a:p>
          <a:p>
            <a:pPr algn="just"/>
            <a:endParaRPr lang="es-AR" cap="all" dirty="0"/>
          </a:p>
          <a:p>
            <a:pPr algn="just"/>
            <a:endParaRPr lang="es-AR" cap="all" dirty="0"/>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a:extLst>
              <a:ext uri="{FF2B5EF4-FFF2-40B4-BE49-F238E27FC236}">
                <a16:creationId xmlns:a16="http://schemas.microsoft.com/office/drawing/2014/main" id="{66AC6B44-BBDD-4BE5-A42E-DF249BF230C5}"/>
              </a:ext>
            </a:extLst>
          </p:cNvPr>
          <p:cNvPicPr>
            <a:picLocks noChangeAspect="1"/>
          </p:cNvPicPr>
          <p:nvPr/>
        </p:nvPicPr>
        <p:blipFill>
          <a:blip r:embed="rId5"/>
          <a:stretch>
            <a:fillRect/>
          </a:stretch>
        </p:blipFill>
        <p:spPr>
          <a:xfrm>
            <a:off x="1073426" y="1554240"/>
            <a:ext cx="10868365" cy="4145858"/>
          </a:xfrm>
          <a:prstGeom prst="rect">
            <a:avLst/>
          </a:prstGeom>
        </p:spPr>
      </p:pic>
    </p:spTree>
    <p:extLst>
      <p:ext uri="{BB962C8B-B14F-4D97-AF65-F5344CB8AC3E}">
        <p14:creationId xmlns:p14="http://schemas.microsoft.com/office/powerpoint/2010/main" val="1226405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954107"/>
          </a:xfrm>
          <a:prstGeom prst="rect">
            <a:avLst/>
          </a:prstGeom>
          <a:noFill/>
        </p:spPr>
        <p:txBody>
          <a:bodyPr wrap="square" rtlCol="0">
            <a:spAutoFit/>
          </a:bodyPr>
          <a:lstStyle/>
          <a:p>
            <a:pPr algn="just"/>
            <a:r>
              <a:rPr lang="es-AR" sz="2000" b="1" u="sng" cap="all" dirty="0"/>
              <a:t>Sistema multiprocesador fuertemente acoplado:</a:t>
            </a:r>
          </a:p>
          <a:p>
            <a:pPr algn="just"/>
            <a:endParaRPr lang="es-AR" cap="all" dirty="0"/>
          </a:p>
          <a:p>
            <a:pPr algn="just"/>
            <a:endParaRPr lang="es-AR" cap="all" dirty="0"/>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a:extLst>
              <a:ext uri="{FF2B5EF4-FFF2-40B4-BE49-F238E27FC236}">
                <a16:creationId xmlns:a16="http://schemas.microsoft.com/office/drawing/2014/main" id="{9035ECEF-195A-4BF9-B0CF-19038C971648}"/>
              </a:ext>
            </a:extLst>
          </p:cNvPr>
          <p:cNvPicPr>
            <a:picLocks noChangeAspect="1"/>
          </p:cNvPicPr>
          <p:nvPr/>
        </p:nvPicPr>
        <p:blipFill>
          <a:blip r:embed="rId5"/>
          <a:stretch>
            <a:fillRect/>
          </a:stretch>
        </p:blipFill>
        <p:spPr>
          <a:xfrm>
            <a:off x="1308620" y="1558423"/>
            <a:ext cx="10681251" cy="4301656"/>
          </a:xfrm>
          <a:prstGeom prst="rect">
            <a:avLst/>
          </a:prstGeom>
        </p:spPr>
      </p:pic>
    </p:spTree>
    <p:extLst>
      <p:ext uri="{BB962C8B-B14F-4D97-AF65-F5344CB8AC3E}">
        <p14:creationId xmlns:p14="http://schemas.microsoft.com/office/powerpoint/2010/main" val="3377462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954107"/>
          </a:xfrm>
          <a:prstGeom prst="rect">
            <a:avLst/>
          </a:prstGeom>
          <a:noFill/>
        </p:spPr>
        <p:txBody>
          <a:bodyPr wrap="square" rtlCol="0">
            <a:spAutoFit/>
          </a:bodyPr>
          <a:lstStyle/>
          <a:p>
            <a:pPr algn="just"/>
            <a:r>
              <a:rPr lang="es-AR" sz="2000" b="1" u="sng" cap="all" dirty="0"/>
              <a:t>Sistema multiprocesador débilmente acoplado:</a:t>
            </a:r>
          </a:p>
          <a:p>
            <a:pPr algn="just"/>
            <a:endParaRPr lang="es-AR" cap="all" dirty="0"/>
          </a:p>
          <a:p>
            <a:pPr algn="just"/>
            <a:endParaRPr lang="es-AR" cap="all" dirty="0"/>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a:extLst>
              <a:ext uri="{FF2B5EF4-FFF2-40B4-BE49-F238E27FC236}">
                <a16:creationId xmlns:a16="http://schemas.microsoft.com/office/drawing/2014/main" id="{D03B71C9-7120-4638-BC61-80C2D14823EF}"/>
              </a:ext>
            </a:extLst>
          </p:cNvPr>
          <p:cNvPicPr>
            <a:picLocks noChangeAspect="1"/>
          </p:cNvPicPr>
          <p:nvPr/>
        </p:nvPicPr>
        <p:blipFill>
          <a:blip r:embed="rId5"/>
          <a:stretch>
            <a:fillRect/>
          </a:stretch>
        </p:blipFill>
        <p:spPr>
          <a:xfrm>
            <a:off x="1119611" y="1727002"/>
            <a:ext cx="10849970" cy="3775442"/>
          </a:xfrm>
          <a:prstGeom prst="rect">
            <a:avLst/>
          </a:prstGeom>
        </p:spPr>
      </p:pic>
    </p:spTree>
    <p:extLst>
      <p:ext uri="{BB962C8B-B14F-4D97-AF65-F5344CB8AC3E}">
        <p14:creationId xmlns:p14="http://schemas.microsoft.com/office/powerpoint/2010/main" val="2342494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5 CuadroTexto">
            <a:extLst>
              <a:ext uri="{FF2B5EF4-FFF2-40B4-BE49-F238E27FC236}">
                <a16:creationId xmlns:a16="http://schemas.microsoft.com/office/drawing/2014/main" id="{5DA09ECA-AED8-4AF7-B8C4-961BC3E98586}"/>
              </a:ext>
            </a:extLst>
          </p:cNvPr>
          <p:cNvSpPr txBox="1"/>
          <p:nvPr/>
        </p:nvSpPr>
        <p:spPr>
          <a:xfrm>
            <a:off x="1145897" y="1128926"/>
            <a:ext cx="10681252" cy="4524315"/>
          </a:xfrm>
          <a:prstGeom prst="rect">
            <a:avLst/>
          </a:prstGeom>
          <a:noFill/>
        </p:spPr>
        <p:txBody>
          <a:bodyPr wrap="square" rtlCol="0">
            <a:spAutoFit/>
          </a:bodyPr>
          <a:lstStyle/>
          <a:p>
            <a:pPr algn="just"/>
            <a:r>
              <a:rPr lang="es-AR" sz="2400" b="1" u="sng" cap="all" dirty="0"/>
              <a:t>PROGRAMACIÓN CONCURRENTE:</a:t>
            </a:r>
          </a:p>
          <a:p>
            <a:pPr algn="just"/>
            <a:endParaRPr lang="es-AR" sz="2400" cap="all" dirty="0"/>
          </a:p>
          <a:p>
            <a:pPr algn="just"/>
            <a:r>
              <a:rPr lang="es-AR" sz="2400" cap="all" dirty="0"/>
              <a:t>CUANDO VARIOS PROCESOS SE EJECUTAN CONCURRENTEMENTE PUEDEN COLABORAR ENTRE SÍ O COMPETIR POR LOS RECURSOS DEL SISTEMA.</a:t>
            </a:r>
          </a:p>
          <a:p>
            <a:pPr algn="just"/>
            <a:endParaRPr lang="es-AR" sz="2400" cap="all" dirty="0"/>
          </a:p>
          <a:p>
            <a:pPr algn="just"/>
            <a:r>
              <a:rPr lang="es-AR" sz="2400" cap="all" dirty="0"/>
              <a:t>ES NECESARIO ESTABLECER MECANISMOS DE </a:t>
            </a:r>
            <a:r>
              <a:rPr lang="es-AR" sz="2400" b="1" u="sng" cap="all" dirty="0"/>
              <a:t>COMUNICACIÓN Y SINCRONIZACIÓN</a:t>
            </a:r>
            <a:r>
              <a:rPr lang="es-AR" sz="2400" cap="all" dirty="0"/>
              <a:t> PARA LA COLABORACIÓN Y COMPETENCIA DE PROCESOS CONCURRENTES.</a:t>
            </a:r>
          </a:p>
          <a:p>
            <a:pPr algn="just"/>
            <a:endParaRPr lang="es-AR" sz="2400" cap="all" dirty="0"/>
          </a:p>
          <a:p>
            <a:pPr algn="just"/>
            <a:r>
              <a:rPr lang="es-AR" sz="2400" cap="all" dirty="0"/>
              <a:t>LA PROGRAMACIÓN CONCURRENTE ES LA DISCIPLINA INFORMÁTICA QUE SE ENCARGA DE RESOLVER LOS PROBLEMAS INHERENTES A LA EJECUCIÓN CONCURRENTE: COMUNICACIÓN Y SINCRONIZACIÓN.</a:t>
            </a:r>
          </a:p>
          <a:p>
            <a:pPr algn="just"/>
            <a:endParaRPr lang="es-AR" sz="2400" cap="all" dirty="0"/>
          </a:p>
        </p:txBody>
      </p:sp>
    </p:spTree>
    <p:extLst>
      <p:ext uri="{BB962C8B-B14F-4D97-AF65-F5344CB8AC3E}">
        <p14:creationId xmlns:p14="http://schemas.microsoft.com/office/powerpoint/2010/main" val="3535467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0" y="997921"/>
            <a:ext cx="10900111" cy="4832092"/>
          </a:xfrm>
          <a:prstGeom prst="rect">
            <a:avLst/>
          </a:prstGeom>
          <a:noFill/>
        </p:spPr>
        <p:txBody>
          <a:bodyPr wrap="square" rtlCol="0">
            <a:spAutoFit/>
          </a:bodyPr>
          <a:lstStyle/>
          <a:p>
            <a:pPr algn="just"/>
            <a:r>
              <a:rPr lang="es-AR" sz="2000" b="1" u="sng" cap="all" dirty="0"/>
              <a:t>QUE PUEDE EJECUTARSE CONCURRENTE:</a:t>
            </a:r>
          </a:p>
          <a:p>
            <a:pPr algn="just"/>
            <a:endParaRPr lang="es-AR" cap="all" dirty="0"/>
          </a:p>
          <a:p>
            <a:pPr algn="just"/>
            <a:r>
              <a:rPr lang="es-AR" cap="all" dirty="0"/>
              <a:t>PARA PODER HACER USO DE LA PROGRAMACIÓN CONCURRENTE, DEBEMOS CORRER DOS O MÁS PROCESOS EN UN MISMO PROGRAMA DE MANERA SIMULTANEA. </a:t>
            </a:r>
          </a:p>
          <a:p>
            <a:pPr algn="just"/>
            <a:endParaRPr lang="es-AR" cap="all" dirty="0"/>
          </a:p>
          <a:p>
            <a:pPr algn="just"/>
            <a:r>
              <a:rPr lang="es-AR" cap="all" dirty="0"/>
              <a:t>ESTO IMPLICA QUE DEBEMOS PARTIR EL CÓDIGO EN PROCESOS Y HACERLOS CORRER CONCURRENTEMENTE.</a:t>
            </a:r>
          </a:p>
          <a:p>
            <a:pPr algn="just"/>
            <a:endParaRPr lang="es-AR" cap="all" dirty="0"/>
          </a:p>
          <a:p>
            <a:pPr algn="just"/>
            <a:r>
              <a:rPr lang="es-AR" cap="all" dirty="0"/>
              <a:t>SIN EMBARGO, PARA PARTIR EL CÓDIGO EN PROCESOS, DEBEMOS TENER EN CUENTA QUE NO CUALQUIER PARTE DE UN PROGRAMA PUEDE CORRER CONCURRENTEMENTE.</a:t>
            </a:r>
          </a:p>
          <a:p>
            <a:pPr algn="just"/>
            <a:endParaRPr lang="es-AR" cap="all" dirty="0"/>
          </a:p>
          <a:p>
            <a:pPr algn="just"/>
            <a:r>
              <a:rPr lang="es-AR" cap="all" dirty="0"/>
              <a:t>HAY CIERTAS SENTENCIAS QUE SI NO SE EJECUTAN EN CIERTO ORDEN CAMBIARÁN EL RESULTADO OBTENIDO, SIENDO ÉSTE INCORRECTO. ESTAS SENTENCIAS NO PUEDEN EJECUTARSE CONCURRENTEMENTE.</a:t>
            </a:r>
          </a:p>
          <a:p>
            <a:pPr algn="just"/>
            <a:endParaRPr lang="es-AR" cap="all" dirty="0"/>
          </a:p>
          <a:p>
            <a:pPr algn="just"/>
            <a:r>
              <a:rPr lang="es-AR" cap="all" dirty="0"/>
              <a:t>POR OTRO LADO, EXISTEN CONJUNTOS DE SENTENCIAS QUE SIN IMPORTAR EL ORDEN DE EJECUCIÓN ARROJAN EL MISMO RESULTADO. ESTAS SON LAS SENTENCIAS QUE PUEDEN EJECUTARSE CONCURRENTEMENTE Y SI LA ARQUITECTURA HARDWARE SUBYACENTE LO PERMITE, EJECUTARLAS SIMULTÁNEAMENTE (PARALELO) INCREMENTANDO LA VELOCIDAD DE EJECUCIÓN DEL PROGRAMA.</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7680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945010" cy="5386090"/>
          </a:xfrm>
          <a:prstGeom prst="rect">
            <a:avLst/>
          </a:prstGeom>
          <a:noFill/>
        </p:spPr>
        <p:txBody>
          <a:bodyPr wrap="square" rtlCol="0">
            <a:spAutoFit/>
          </a:bodyPr>
          <a:lstStyle/>
          <a:p>
            <a:pPr algn="just"/>
            <a:r>
              <a:rPr lang="es-AR" sz="2000" b="1" u="sng" cap="all" dirty="0"/>
              <a:t>ESPECIFICACIÓN DE EJECUCIÓN CONCURRENTE (CONT.):</a:t>
            </a:r>
          </a:p>
          <a:p>
            <a:pPr algn="just"/>
            <a:endParaRPr lang="es-AR" cap="all" dirty="0"/>
          </a:p>
          <a:p>
            <a:pPr algn="just"/>
            <a:r>
              <a:rPr lang="es-AR" cap="all" dirty="0"/>
              <a:t>SUPONGAMOS LAS SENTENCIAS:</a:t>
            </a:r>
          </a:p>
          <a:p>
            <a:pPr algn="just"/>
            <a:endParaRPr lang="es-AR" cap="all" dirty="0"/>
          </a:p>
          <a:p>
            <a:pPr algn="just"/>
            <a:r>
              <a:rPr lang="es-AR" cap="all" dirty="0"/>
              <a:t>1 PRECIO_COPA := PRECIO_COPA * 1,1; 		/*INCREMENTO DEL VALOR DE LAS COPAS EN 10 %*/</a:t>
            </a:r>
          </a:p>
          <a:p>
            <a:pPr algn="just"/>
            <a:r>
              <a:rPr lang="es-AR" cap="all" dirty="0"/>
              <a:t>2 PRECIO_RELOJ := PRECIO_RELOJ * 1,15; 		/*INCREMENTO DEL VALOR DEL RELOJ EN 15 %*/</a:t>
            </a:r>
          </a:p>
          <a:p>
            <a:pPr algn="just"/>
            <a:r>
              <a:rPr lang="es-AR" cap="all" dirty="0"/>
              <a:t>3 MONTO := PRECIO_RELOJ + PRECIO_COPA * 4; 		/*CLIENTE LLEVA UN RELOJ Y 4 COPAS*/</a:t>
            </a:r>
          </a:p>
          <a:p>
            <a:pPr algn="just"/>
            <a:r>
              <a:rPr lang="es-AR" cap="all" dirty="0"/>
              <a:t>4 INPUT PAGO;					/*INGRESO EL MONTO CON QUE ABONA EL CLIENTE*/</a:t>
            </a:r>
          </a:p>
          <a:p>
            <a:pPr algn="just"/>
            <a:r>
              <a:rPr lang="es-AR" cap="all" dirty="0"/>
              <a:t>5 VUELTO := PAGO – monto;				/*DETERMINO EL VUELTO A DEVOLVER AL CLIENTE*/</a:t>
            </a:r>
          </a:p>
          <a:p>
            <a:pPr algn="just"/>
            <a:endParaRPr lang="es-AR" cap="all" dirty="0"/>
          </a:p>
          <a:p>
            <a:pPr algn="just"/>
            <a:r>
              <a:rPr lang="es-AR" cap="all" dirty="0"/>
              <a:t>LAS SENTENCIAS 1 Y 2 PUEDEN EJECUTARSE EN CUALQUIER ORDEN, Y EL RESULTADO SIEMPRE SERÁ EL MISMO. ESTAS SENTENCIAS PUEDEN EJECUTARSE CONCURRENTEMENTE.</a:t>
            </a:r>
          </a:p>
          <a:p>
            <a:pPr algn="just"/>
            <a:endParaRPr lang="es-AR" cap="all" dirty="0"/>
          </a:p>
          <a:p>
            <a:pPr algn="just"/>
            <a:r>
              <a:rPr lang="es-AR" cap="all" dirty="0"/>
              <a:t>POR OTRO LADO, TANTO LAS SENTENCIAS 1 Y 2 DEBEN EJECUTARSE ANTES DE LA SENTENCIA 3. SI EN ESTE CASO SE ALTERA EL ORDEN DE EJECUCIÓN DE CUALQUEIRA DE ELLAS CON LA SENTENCIA 3, EL RESULTADO OBTENIDO SERÍA OTRO (ERRONEO).</a:t>
            </a:r>
          </a:p>
          <a:p>
            <a:pPr algn="just"/>
            <a:endParaRPr lang="es-AR" cap="all" dirty="0"/>
          </a:p>
          <a:p>
            <a:pPr algn="just"/>
            <a:r>
              <a:rPr lang="es-AR" cap="all" dirty="0"/>
              <a:t>LAS SENTENCIAS 3 Y 4 DEBEN EJECUTRSE SECUENCIALMENTE ANTES DE LA SENTENCIA 5, POR LO QUE EN ESTE CASO, TAMPOCO PUEDEN EJECUTARSE CONCURRENTEMENTE.</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1760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5609228"/>
          </a:xfrm>
          <a:prstGeom prst="rect">
            <a:avLst/>
          </a:prstGeom>
          <a:noFill/>
        </p:spPr>
        <p:txBody>
          <a:bodyPr wrap="square" rtlCol="0">
            <a:spAutoFit/>
          </a:bodyPr>
          <a:lstStyle/>
          <a:p>
            <a:pPr algn="just"/>
            <a:r>
              <a:rPr lang="es-AR" sz="2000" b="1" u="sng" cap="all" dirty="0"/>
              <a:t>CONDICIONES DE BRENSTEIN:</a:t>
            </a:r>
          </a:p>
          <a:p>
            <a:pPr algn="just"/>
            <a:endParaRPr lang="es-AR" sz="1400" cap="all" dirty="0"/>
          </a:p>
          <a:p>
            <a:pPr algn="just"/>
            <a:r>
              <a:rPr lang="es-AR" cap="all" dirty="0"/>
              <a:t>DEFINAMOS LOS SIGUIENTES CONJUNTOS:</a:t>
            </a:r>
          </a:p>
          <a:p>
            <a:pPr algn="just"/>
            <a:endParaRPr lang="es-AR" sz="1600" cap="all" dirty="0"/>
          </a:p>
          <a:p>
            <a:pPr algn="just"/>
            <a:r>
              <a:rPr lang="es-AR" sz="2400" b="1" cap="all" dirty="0"/>
              <a:t>S</a:t>
            </a:r>
            <a:r>
              <a:rPr lang="es-AR" sz="2400" b="1" cap="all" baseline="-25000" dirty="0"/>
              <a:t>K</a:t>
            </a:r>
            <a:r>
              <a:rPr lang="es-AR" sz="2400" b="1" cap="all" dirty="0"/>
              <a:t>:</a:t>
            </a:r>
            <a:r>
              <a:rPr lang="es-AR" cap="all" dirty="0"/>
              <a:t> CONJUNTO DE INSTRUCCIONES.</a:t>
            </a:r>
          </a:p>
          <a:p>
            <a:pPr algn="just"/>
            <a:endParaRPr lang="es-AR" sz="1600" cap="all" dirty="0"/>
          </a:p>
          <a:p>
            <a:pPr algn="just"/>
            <a:r>
              <a:rPr lang="es-AR" sz="2400" b="1" cap="all" dirty="0"/>
              <a:t>L(S</a:t>
            </a:r>
            <a:r>
              <a:rPr lang="es-AR" sz="2400" b="1" cap="all" baseline="-25000" dirty="0"/>
              <a:t>K</a:t>
            </a:r>
            <a:r>
              <a:rPr lang="es-AR" sz="2400" b="1" cap="all" dirty="0"/>
              <a:t>) = {A</a:t>
            </a:r>
            <a:r>
              <a:rPr lang="es-AR" sz="2400" b="1" cap="all" baseline="-25000" dirty="0"/>
              <a:t>1</a:t>
            </a:r>
            <a:r>
              <a:rPr lang="es-AR" sz="2400" b="1" cap="all" dirty="0"/>
              <a:t>, A</a:t>
            </a:r>
            <a:r>
              <a:rPr lang="es-AR" sz="2400" b="1" cap="all" baseline="-25000" dirty="0"/>
              <a:t>2</a:t>
            </a:r>
            <a:r>
              <a:rPr lang="es-AR" sz="2400" b="1" cap="all" dirty="0"/>
              <a:t>, …, A</a:t>
            </a:r>
            <a:r>
              <a:rPr lang="es-AR" sz="2400" b="1" cap="all" baseline="-25000" dirty="0"/>
              <a:t>N</a:t>
            </a:r>
            <a:r>
              <a:rPr lang="es-AR" sz="2400" b="1" cap="all" dirty="0"/>
              <a:t>}: </a:t>
            </a:r>
            <a:r>
              <a:rPr lang="es-AR" cap="all" dirty="0"/>
              <a:t>CONJUNTO DE LECTURA. FORMADO POR LAS VARIABLES QUE SON REFERENCIADAS (SE LEEN) POR UN SUBCONJUTNO DE S</a:t>
            </a:r>
            <a:r>
              <a:rPr lang="es-AR" cap="all" baseline="-25000" dirty="0"/>
              <a:t>K</a:t>
            </a:r>
            <a:r>
              <a:rPr lang="es-AR" cap="all" dirty="0"/>
              <a:t>.</a:t>
            </a:r>
          </a:p>
          <a:p>
            <a:pPr algn="just"/>
            <a:endParaRPr lang="es-AR" sz="1600" cap="all" dirty="0"/>
          </a:p>
          <a:p>
            <a:pPr algn="just"/>
            <a:r>
              <a:rPr lang="es-AR" sz="2400" b="1" cap="all" dirty="0"/>
              <a:t>E(S</a:t>
            </a:r>
            <a:r>
              <a:rPr lang="es-AR" sz="2400" b="1" cap="all" baseline="-25000" dirty="0"/>
              <a:t>K</a:t>
            </a:r>
            <a:r>
              <a:rPr lang="es-AR" sz="2400" b="1" cap="all" dirty="0"/>
              <a:t>) = {B</a:t>
            </a:r>
            <a:r>
              <a:rPr lang="es-AR" sz="2400" b="1" cap="all" baseline="-25000" dirty="0"/>
              <a:t>1</a:t>
            </a:r>
            <a:r>
              <a:rPr lang="es-AR" sz="2400" b="1" cap="all" dirty="0"/>
              <a:t>, B</a:t>
            </a:r>
            <a:r>
              <a:rPr lang="es-AR" sz="2400" b="1" cap="all" baseline="-25000" dirty="0"/>
              <a:t>2</a:t>
            </a:r>
            <a:r>
              <a:rPr lang="es-AR" sz="2400" b="1" cap="all" dirty="0"/>
              <a:t>, …, B</a:t>
            </a:r>
            <a:r>
              <a:rPr lang="es-AR" sz="2400" b="1" cap="all" baseline="-25000" dirty="0"/>
              <a:t>M</a:t>
            </a:r>
            <a:r>
              <a:rPr lang="es-AR" sz="2400" b="1" cap="all" dirty="0"/>
              <a:t>}: </a:t>
            </a:r>
            <a:r>
              <a:rPr lang="es-AR" cap="all" dirty="0"/>
              <a:t>CONJUNTO DE ESCRITURA. FORMADO POR LAS VARIABLES CUYOS VALORES SON ACTUALIZADOS (SE ESCRIBEN) POR UN SUBCONJUNTO DE </a:t>
            </a:r>
            <a:r>
              <a:rPr lang="es-AR" sz="2400" b="1" cap="all" dirty="0"/>
              <a:t>S</a:t>
            </a:r>
            <a:r>
              <a:rPr lang="es-AR" sz="2400" b="1" cap="all" baseline="-25000" dirty="0"/>
              <a:t>K</a:t>
            </a:r>
            <a:r>
              <a:rPr lang="es-AR" cap="all" dirty="0"/>
              <a:t>.</a:t>
            </a:r>
          </a:p>
          <a:p>
            <a:pPr algn="just"/>
            <a:endParaRPr lang="es-AR" sz="1600" cap="all" dirty="0"/>
          </a:p>
          <a:p>
            <a:pPr algn="just"/>
            <a:r>
              <a:rPr lang="es-AR" cap="all" dirty="0"/>
              <a:t>Dos conjuntos de instrucciones </a:t>
            </a:r>
            <a:r>
              <a:rPr lang="es-AR" sz="2400" b="1" cap="all" dirty="0"/>
              <a:t>s</a:t>
            </a:r>
            <a:r>
              <a:rPr lang="es-AR" sz="2400" b="1" cap="all" baseline="-25000" dirty="0"/>
              <a:t>i</a:t>
            </a:r>
            <a:r>
              <a:rPr lang="es-AR" cap="all" dirty="0"/>
              <a:t> y </a:t>
            </a:r>
            <a:r>
              <a:rPr lang="es-AR" sz="2400" b="1" cap="all" dirty="0" err="1"/>
              <a:t>s</a:t>
            </a:r>
            <a:r>
              <a:rPr lang="es-AR" sz="2400" b="1" cap="all" baseline="-25000" dirty="0" err="1"/>
              <a:t>j</a:t>
            </a:r>
            <a:r>
              <a:rPr lang="es-AR" cap="all" dirty="0"/>
              <a:t> pueden ejecutarse concurrentemente si se cumple:</a:t>
            </a:r>
          </a:p>
          <a:p>
            <a:pPr algn="just"/>
            <a:endParaRPr lang="es-AR" sz="1050" cap="all" dirty="0"/>
          </a:p>
          <a:p>
            <a:pPr algn="ctr"/>
            <a:r>
              <a:rPr lang="es-AR" sz="2400" b="1" cap="all" dirty="0"/>
              <a:t>l(s</a:t>
            </a:r>
            <a:r>
              <a:rPr lang="es-AR" sz="2400" b="1" cap="all" baseline="-25000" dirty="0"/>
              <a:t>i</a:t>
            </a:r>
            <a:r>
              <a:rPr lang="es-AR" sz="2400" b="1" cap="all" dirty="0"/>
              <a:t>) </a:t>
            </a:r>
            <a:r>
              <a:rPr lang="es-AR" sz="2400" b="1" dirty="0">
                <a:latin typeface="Calibri" panose="020F0502020204030204" pitchFamily="34" charset="0"/>
              </a:rPr>
              <a:t>∩</a:t>
            </a:r>
            <a:r>
              <a:rPr lang="es-AR" sz="2400" b="1" dirty="0">
                <a:latin typeface="MS Shell Dlg 2" panose="020B0604030504040204" pitchFamily="34" charset="0"/>
              </a:rPr>
              <a:t> </a:t>
            </a:r>
            <a:r>
              <a:rPr lang="es-AR" sz="2400" b="1" cap="all" dirty="0"/>
              <a:t>E(</a:t>
            </a:r>
            <a:r>
              <a:rPr lang="es-AR" sz="2400" b="1" cap="all" dirty="0" err="1"/>
              <a:t>s</a:t>
            </a:r>
            <a:r>
              <a:rPr lang="es-AR" sz="2400" b="1" cap="all" baseline="-25000" dirty="0" err="1"/>
              <a:t>j</a:t>
            </a:r>
            <a:r>
              <a:rPr lang="es-AR" sz="2400" b="1" cap="all" dirty="0"/>
              <a:t>) = </a:t>
            </a:r>
            <a:r>
              <a:rPr lang="es-AR" sz="2400" b="1" dirty="0">
                <a:latin typeface="Calibri" panose="020F0502020204030204" pitchFamily="34" charset="0"/>
              </a:rPr>
              <a:t>Ø</a:t>
            </a:r>
            <a:endParaRPr lang="es-AR" sz="2400" b="1" dirty="0">
              <a:latin typeface="MS Shell Dlg 2" panose="020B0604030504040204" pitchFamily="34" charset="0"/>
            </a:endParaRPr>
          </a:p>
          <a:p>
            <a:pPr algn="ctr"/>
            <a:r>
              <a:rPr lang="es-AR" sz="2400" b="1" cap="all" dirty="0"/>
              <a:t>E(s</a:t>
            </a:r>
            <a:r>
              <a:rPr lang="es-AR" sz="2400" b="1" cap="all" baseline="-25000" dirty="0"/>
              <a:t>i</a:t>
            </a:r>
            <a:r>
              <a:rPr lang="es-AR" sz="2400" b="1" cap="all" dirty="0"/>
              <a:t>) </a:t>
            </a:r>
            <a:r>
              <a:rPr lang="es-AR" sz="2400" b="1" dirty="0">
                <a:latin typeface="Calibri" panose="020F0502020204030204" pitchFamily="34" charset="0"/>
              </a:rPr>
              <a:t>∩</a:t>
            </a:r>
            <a:r>
              <a:rPr lang="es-AR" sz="2400" b="1" dirty="0">
                <a:latin typeface="MS Shell Dlg 2" panose="020B0604030504040204" pitchFamily="34" charset="0"/>
              </a:rPr>
              <a:t> </a:t>
            </a:r>
            <a:r>
              <a:rPr lang="es-AR" sz="2400" b="1" cap="all" dirty="0"/>
              <a:t>l(</a:t>
            </a:r>
            <a:r>
              <a:rPr lang="es-AR" sz="2400" b="1" cap="all" dirty="0" err="1"/>
              <a:t>s</a:t>
            </a:r>
            <a:r>
              <a:rPr lang="es-AR" sz="2400" b="1" cap="all" baseline="-25000" dirty="0" err="1"/>
              <a:t>j</a:t>
            </a:r>
            <a:r>
              <a:rPr lang="es-AR" sz="2400" b="1" cap="all" dirty="0"/>
              <a:t>) = </a:t>
            </a:r>
            <a:r>
              <a:rPr lang="es-AR" sz="2400" b="1" dirty="0">
                <a:latin typeface="Calibri" panose="020F0502020204030204" pitchFamily="34" charset="0"/>
              </a:rPr>
              <a:t>Ø</a:t>
            </a:r>
            <a:endParaRPr lang="es-AR" sz="2400" b="1" dirty="0">
              <a:latin typeface="MS Shell Dlg 2" panose="020B0604030504040204" pitchFamily="34" charset="0"/>
            </a:endParaRPr>
          </a:p>
          <a:p>
            <a:pPr algn="ctr"/>
            <a:r>
              <a:rPr lang="es-AR" sz="2400" b="1" cap="all" dirty="0"/>
              <a:t>E(s</a:t>
            </a:r>
            <a:r>
              <a:rPr lang="es-AR" sz="2400" b="1" cap="all" baseline="-25000" dirty="0"/>
              <a:t>i</a:t>
            </a:r>
            <a:r>
              <a:rPr lang="es-AR" sz="2400" b="1" cap="all" dirty="0"/>
              <a:t>) </a:t>
            </a:r>
            <a:r>
              <a:rPr lang="es-AR" sz="2400" b="1" dirty="0">
                <a:latin typeface="Calibri" panose="020F0502020204030204" pitchFamily="34" charset="0"/>
              </a:rPr>
              <a:t>∩</a:t>
            </a:r>
            <a:r>
              <a:rPr lang="es-AR" sz="2400" b="1" dirty="0">
                <a:latin typeface="MS Shell Dlg 2" panose="020B0604030504040204" pitchFamily="34" charset="0"/>
              </a:rPr>
              <a:t> </a:t>
            </a:r>
            <a:r>
              <a:rPr lang="es-AR" sz="2400" b="1" cap="all" dirty="0"/>
              <a:t>E(</a:t>
            </a:r>
            <a:r>
              <a:rPr lang="es-AR" sz="2400" b="1" cap="all" dirty="0" err="1"/>
              <a:t>s</a:t>
            </a:r>
            <a:r>
              <a:rPr lang="es-AR" sz="2400" b="1" cap="all" baseline="-25000" dirty="0" err="1"/>
              <a:t>j</a:t>
            </a:r>
            <a:r>
              <a:rPr lang="es-AR" sz="2400" b="1" cap="all" dirty="0"/>
              <a:t>) = </a:t>
            </a:r>
            <a:r>
              <a:rPr lang="es-AR" sz="2400" b="1" dirty="0">
                <a:latin typeface="Calibri" panose="020F0502020204030204" pitchFamily="34" charset="0"/>
              </a:rPr>
              <a:t>Ø</a:t>
            </a:r>
            <a:endParaRPr lang="es-AR" sz="2400" b="1" dirty="0">
              <a:latin typeface="MS Shell Dlg 2" panose="020B0604030504040204" pitchFamily="34" charset="0"/>
            </a:endParaRPr>
          </a:p>
          <a:p>
            <a:pPr algn="just"/>
            <a:endParaRPr lang="es-AR" cap="all" dirty="0"/>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9224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2893100"/>
          </a:xfrm>
          <a:prstGeom prst="rect">
            <a:avLst/>
          </a:prstGeom>
          <a:noFill/>
        </p:spPr>
        <p:txBody>
          <a:bodyPr wrap="square" rtlCol="0">
            <a:spAutoFit/>
          </a:bodyPr>
          <a:lstStyle/>
          <a:p>
            <a:pPr algn="just"/>
            <a:r>
              <a:rPr lang="es-AR" sz="2000" b="1" u="sng" cap="all" dirty="0"/>
              <a:t>EJEMPLO:</a:t>
            </a:r>
          </a:p>
          <a:p>
            <a:pPr algn="just"/>
            <a:endParaRPr lang="es-AR" cap="all" dirty="0"/>
          </a:p>
          <a:p>
            <a:pPr algn="just"/>
            <a:r>
              <a:rPr lang="es-AR" cap="all" dirty="0"/>
              <a:t>SEA:</a:t>
            </a:r>
          </a:p>
          <a:p>
            <a:pPr algn="just"/>
            <a:endParaRPr lang="es-AR" cap="all" dirty="0"/>
          </a:p>
          <a:p>
            <a:pPr algn="just"/>
            <a:endParaRPr lang="es-AR" cap="all" dirty="0"/>
          </a:p>
          <a:p>
            <a:pPr algn="just"/>
            <a:endParaRPr lang="es-AR" cap="all" dirty="0"/>
          </a:p>
          <a:p>
            <a:pPr algn="just"/>
            <a:endParaRPr lang="es-AR" cap="all" dirty="0"/>
          </a:p>
          <a:p>
            <a:pPr algn="just"/>
            <a:endParaRPr lang="es-AR" cap="all" dirty="0"/>
          </a:p>
          <a:p>
            <a:pPr algn="just"/>
            <a:endParaRPr lang="es-AR" cap="all" dirty="0"/>
          </a:p>
          <a:p>
            <a:pPr algn="just"/>
            <a:r>
              <a:rPr lang="es-AR" cap="all" dirty="0"/>
              <a:t>CALCULAMOS LOS CONJUNTOS DE LECTURA Y ESCRITURA:</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a:extLst>
              <a:ext uri="{FF2B5EF4-FFF2-40B4-BE49-F238E27FC236}">
                <a16:creationId xmlns:a16="http://schemas.microsoft.com/office/drawing/2014/main" id="{77888EE2-F442-4641-99CB-FBC61A2308D5}"/>
              </a:ext>
            </a:extLst>
          </p:cNvPr>
          <p:cNvPicPr>
            <a:picLocks noChangeAspect="1"/>
          </p:cNvPicPr>
          <p:nvPr/>
        </p:nvPicPr>
        <p:blipFill>
          <a:blip r:embed="rId5"/>
          <a:stretch>
            <a:fillRect/>
          </a:stretch>
        </p:blipFill>
        <p:spPr>
          <a:xfrm>
            <a:off x="2148776" y="1581481"/>
            <a:ext cx="3135173" cy="1763534"/>
          </a:xfrm>
          <a:prstGeom prst="rect">
            <a:avLst/>
          </a:prstGeom>
        </p:spPr>
      </p:pic>
      <p:pic>
        <p:nvPicPr>
          <p:cNvPr id="10" name="Imagen 9">
            <a:extLst>
              <a:ext uri="{FF2B5EF4-FFF2-40B4-BE49-F238E27FC236}">
                <a16:creationId xmlns:a16="http://schemas.microsoft.com/office/drawing/2014/main" id="{F1487B77-4606-4F09-B88F-80EF090881A4}"/>
              </a:ext>
            </a:extLst>
          </p:cNvPr>
          <p:cNvPicPr>
            <a:picLocks noChangeAspect="1"/>
          </p:cNvPicPr>
          <p:nvPr/>
        </p:nvPicPr>
        <p:blipFill>
          <a:blip r:embed="rId6"/>
          <a:stretch>
            <a:fillRect/>
          </a:stretch>
        </p:blipFill>
        <p:spPr>
          <a:xfrm>
            <a:off x="2861344" y="3953589"/>
            <a:ext cx="4845209" cy="1815451"/>
          </a:xfrm>
          <a:prstGeom prst="rect">
            <a:avLst/>
          </a:prstGeom>
        </p:spPr>
      </p:pic>
    </p:spTree>
    <p:extLst>
      <p:ext uri="{BB962C8B-B14F-4D97-AF65-F5344CB8AC3E}">
        <p14:creationId xmlns:p14="http://schemas.microsoft.com/office/powerpoint/2010/main" val="2253761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892552"/>
          </a:xfrm>
          <a:prstGeom prst="rect">
            <a:avLst/>
          </a:prstGeom>
          <a:noFill/>
        </p:spPr>
        <p:txBody>
          <a:bodyPr wrap="square" rtlCol="0">
            <a:spAutoFit/>
          </a:bodyPr>
          <a:lstStyle/>
          <a:p>
            <a:pPr algn="just"/>
            <a:r>
              <a:rPr lang="es-AR" sz="2000" b="1" u="sng" cap="all" dirty="0"/>
              <a:t>EJEMPLO (CONT.):</a:t>
            </a:r>
          </a:p>
          <a:p>
            <a:pPr algn="just"/>
            <a:endParaRPr lang="es-AR" sz="1400" cap="all" dirty="0"/>
          </a:p>
          <a:p>
            <a:pPr algn="just"/>
            <a:r>
              <a:rPr lang="es-AR" cap="all" dirty="0"/>
              <a:t>Aplicamos las condiciones de Bernstein a estos conjuntos:</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a:extLst>
              <a:ext uri="{FF2B5EF4-FFF2-40B4-BE49-F238E27FC236}">
                <a16:creationId xmlns:a16="http://schemas.microsoft.com/office/drawing/2014/main" id="{4B0A6515-33C0-4A14-96E8-AE139DC5A176}"/>
              </a:ext>
            </a:extLst>
          </p:cNvPr>
          <p:cNvPicPr>
            <a:picLocks noChangeAspect="1"/>
          </p:cNvPicPr>
          <p:nvPr/>
        </p:nvPicPr>
        <p:blipFill>
          <a:blip r:embed="rId5"/>
          <a:stretch>
            <a:fillRect/>
          </a:stretch>
        </p:blipFill>
        <p:spPr>
          <a:xfrm>
            <a:off x="1990120" y="1866250"/>
            <a:ext cx="8259328" cy="4448796"/>
          </a:xfrm>
          <a:prstGeom prst="rect">
            <a:avLst/>
          </a:prstGeom>
        </p:spPr>
      </p:pic>
    </p:spTree>
    <p:extLst>
      <p:ext uri="{BB962C8B-B14F-4D97-AF65-F5344CB8AC3E}">
        <p14:creationId xmlns:p14="http://schemas.microsoft.com/office/powerpoint/2010/main" val="2841966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1231106"/>
          </a:xfrm>
          <a:prstGeom prst="rect">
            <a:avLst/>
          </a:prstGeom>
          <a:noFill/>
        </p:spPr>
        <p:txBody>
          <a:bodyPr wrap="square" rtlCol="0">
            <a:spAutoFit/>
          </a:bodyPr>
          <a:lstStyle/>
          <a:p>
            <a:pPr algn="just"/>
            <a:r>
              <a:rPr lang="es-AR" sz="2000" b="1" u="sng" cap="all" dirty="0"/>
              <a:t>EJEMPLO (CONT. 2):</a:t>
            </a:r>
          </a:p>
          <a:p>
            <a:pPr algn="just"/>
            <a:endParaRPr lang="es-AR" cap="all" dirty="0"/>
          </a:p>
          <a:p>
            <a:pPr algn="just"/>
            <a:r>
              <a:rPr lang="es-AR" cap="all" dirty="0"/>
              <a:t>Podemos visualizar las sentencias que pueden ejecutarse concurrentemente en el siguiente cuadro resumen:</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a:extLst>
              <a:ext uri="{FF2B5EF4-FFF2-40B4-BE49-F238E27FC236}">
                <a16:creationId xmlns:a16="http://schemas.microsoft.com/office/drawing/2014/main" id="{EEC64897-3E52-411C-A662-C8535FB5B4CF}"/>
              </a:ext>
            </a:extLst>
          </p:cNvPr>
          <p:cNvPicPr>
            <a:picLocks noChangeAspect="1"/>
          </p:cNvPicPr>
          <p:nvPr/>
        </p:nvPicPr>
        <p:blipFill>
          <a:blip r:embed="rId5"/>
          <a:stretch>
            <a:fillRect/>
          </a:stretch>
        </p:blipFill>
        <p:spPr>
          <a:xfrm>
            <a:off x="3611581" y="2312548"/>
            <a:ext cx="4854533" cy="3694246"/>
          </a:xfrm>
          <a:prstGeom prst="rect">
            <a:avLst/>
          </a:prstGeom>
        </p:spPr>
      </p:pic>
    </p:spTree>
    <p:extLst>
      <p:ext uri="{BB962C8B-B14F-4D97-AF65-F5344CB8AC3E}">
        <p14:creationId xmlns:p14="http://schemas.microsoft.com/office/powerpoint/2010/main" val="1608193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954107"/>
          </a:xfrm>
          <a:prstGeom prst="rect">
            <a:avLst/>
          </a:prstGeom>
          <a:noFill/>
        </p:spPr>
        <p:txBody>
          <a:bodyPr wrap="square" rtlCol="0">
            <a:spAutoFit/>
          </a:bodyPr>
          <a:lstStyle/>
          <a:p>
            <a:pPr algn="just"/>
            <a:r>
              <a:rPr lang="es-AR" sz="2000" b="1" u="sng" cap="all" dirty="0"/>
              <a:t>Especificación de ejecución concurrente – GRAFOS DE PRECEDENCIAS:</a:t>
            </a:r>
          </a:p>
          <a:p>
            <a:pPr algn="just"/>
            <a:endParaRPr lang="es-AR" cap="all" dirty="0"/>
          </a:p>
          <a:p>
            <a:pPr algn="just"/>
            <a:endParaRPr lang="es-AR" cap="all" dirty="0"/>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a:extLst>
              <a:ext uri="{FF2B5EF4-FFF2-40B4-BE49-F238E27FC236}">
                <a16:creationId xmlns:a16="http://schemas.microsoft.com/office/drawing/2014/main" id="{861D6554-F9BF-4CD8-86EA-AFDC08AC61CF}"/>
              </a:ext>
            </a:extLst>
          </p:cNvPr>
          <p:cNvPicPr>
            <a:picLocks noChangeAspect="1"/>
          </p:cNvPicPr>
          <p:nvPr/>
        </p:nvPicPr>
        <p:blipFill>
          <a:blip r:embed="rId5"/>
          <a:stretch>
            <a:fillRect/>
          </a:stretch>
        </p:blipFill>
        <p:spPr>
          <a:xfrm>
            <a:off x="6279277" y="1620962"/>
            <a:ext cx="2251951" cy="4472184"/>
          </a:xfrm>
          <a:prstGeom prst="rect">
            <a:avLst/>
          </a:prstGeom>
        </p:spPr>
      </p:pic>
      <p:pic>
        <p:nvPicPr>
          <p:cNvPr id="14" name="Imagen 13">
            <a:extLst>
              <a:ext uri="{FF2B5EF4-FFF2-40B4-BE49-F238E27FC236}">
                <a16:creationId xmlns:a16="http://schemas.microsoft.com/office/drawing/2014/main" id="{E5FE8587-8234-4FA7-82C4-3B45D917F786}"/>
              </a:ext>
            </a:extLst>
          </p:cNvPr>
          <p:cNvPicPr>
            <a:picLocks noChangeAspect="1"/>
          </p:cNvPicPr>
          <p:nvPr/>
        </p:nvPicPr>
        <p:blipFill>
          <a:blip r:embed="rId6"/>
          <a:stretch>
            <a:fillRect/>
          </a:stretch>
        </p:blipFill>
        <p:spPr>
          <a:xfrm>
            <a:off x="1482277" y="1511929"/>
            <a:ext cx="3135173" cy="1763534"/>
          </a:xfrm>
          <a:prstGeom prst="rect">
            <a:avLst/>
          </a:prstGeom>
        </p:spPr>
      </p:pic>
      <p:pic>
        <p:nvPicPr>
          <p:cNvPr id="15" name="Imagen 14">
            <a:extLst>
              <a:ext uri="{FF2B5EF4-FFF2-40B4-BE49-F238E27FC236}">
                <a16:creationId xmlns:a16="http://schemas.microsoft.com/office/drawing/2014/main" id="{4F67F3F8-FD5F-4D52-9F7E-6EFDD0469E95}"/>
              </a:ext>
            </a:extLst>
          </p:cNvPr>
          <p:cNvPicPr>
            <a:picLocks noChangeAspect="1"/>
          </p:cNvPicPr>
          <p:nvPr/>
        </p:nvPicPr>
        <p:blipFill>
          <a:blip r:embed="rId7"/>
          <a:stretch>
            <a:fillRect/>
          </a:stretch>
        </p:blipFill>
        <p:spPr>
          <a:xfrm>
            <a:off x="1669320" y="3371474"/>
            <a:ext cx="3507732" cy="2669345"/>
          </a:xfrm>
          <a:prstGeom prst="rect">
            <a:avLst/>
          </a:prstGeom>
        </p:spPr>
      </p:pic>
    </p:spTree>
    <p:extLst>
      <p:ext uri="{BB962C8B-B14F-4D97-AF65-F5344CB8AC3E}">
        <p14:creationId xmlns:p14="http://schemas.microsoft.com/office/powerpoint/2010/main" val="2978488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3231654"/>
          </a:xfrm>
          <a:prstGeom prst="rect">
            <a:avLst/>
          </a:prstGeom>
          <a:noFill/>
        </p:spPr>
        <p:txBody>
          <a:bodyPr wrap="square" rtlCol="0">
            <a:spAutoFit/>
          </a:bodyPr>
          <a:lstStyle/>
          <a:p>
            <a:pPr algn="just"/>
            <a:r>
              <a:rPr lang="es-AR" sz="2400" b="1" u="sng" cap="all" dirty="0"/>
              <a:t>Especificación de ejecución concurrente – SENTENCIAS COBEGIN-COEND:</a:t>
            </a:r>
          </a:p>
          <a:p>
            <a:pPr algn="just"/>
            <a:endParaRPr lang="es-AR" sz="2000" cap="all" dirty="0"/>
          </a:p>
          <a:p>
            <a:pPr algn="just"/>
            <a:r>
              <a:rPr lang="es-AR" sz="2000" cap="all" dirty="0"/>
              <a:t>Begin</a:t>
            </a:r>
          </a:p>
          <a:p>
            <a:pPr algn="just"/>
            <a:r>
              <a:rPr lang="es-AR" sz="2000" cap="all" dirty="0"/>
              <a:t>       </a:t>
            </a:r>
            <a:r>
              <a:rPr lang="es-AR" sz="2000" cap="all" dirty="0" err="1"/>
              <a:t>cobegin</a:t>
            </a:r>
            <a:endParaRPr lang="es-AR" sz="2000" cap="all" dirty="0"/>
          </a:p>
          <a:p>
            <a:pPr algn="just"/>
            <a:r>
              <a:rPr lang="es-AR" sz="2000" cap="all" dirty="0"/>
              <a:t>              a := x + y;</a:t>
            </a:r>
          </a:p>
          <a:p>
            <a:pPr algn="just"/>
            <a:r>
              <a:rPr lang="es-AR" sz="2000" cap="all" dirty="0"/>
              <a:t>              b := z – 1;</a:t>
            </a:r>
          </a:p>
          <a:p>
            <a:pPr algn="just"/>
            <a:r>
              <a:rPr lang="es-AR" sz="2000" cap="all" dirty="0"/>
              <a:t>       </a:t>
            </a:r>
            <a:r>
              <a:rPr lang="es-AR" sz="2000" cap="all" dirty="0" err="1"/>
              <a:t>coend</a:t>
            </a:r>
            <a:endParaRPr lang="es-AR" sz="2000" cap="all" dirty="0"/>
          </a:p>
          <a:p>
            <a:pPr algn="just"/>
            <a:r>
              <a:rPr lang="es-AR" sz="2000" cap="all" dirty="0"/>
              <a:t>       c := a – b;</a:t>
            </a:r>
          </a:p>
          <a:p>
            <a:pPr algn="just"/>
            <a:r>
              <a:rPr lang="es-AR" sz="2000" cap="all" dirty="0"/>
              <a:t>       w := c + 1;</a:t>
            </a:r>
          </a:p>
          <a:p>
            <a:pPr algn="just"/>
            <a:r>
              <a:rPr lang="es-AR" sz="2000" cap="all" dirty="0" err="1"/>
              <a:t>end</a:t>
            </a:r>
            <a:endParaRPr lang="es-AR" sz="2000" cap="all" dirty="0"/>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Imagen 13">
            <a:extLst>
              <a:ext uri="{FF2B5EF4-FFF2-40B4-BE49-F238E27FC236}">
                <a16:creationId xmlns:a16="http://schemas.microsoft.com/office/drawing/2014/main" id="{DF5ABE5A-FC5B-41F3-B2DD-18263965A78B}"/>
              </a:ext>
            </a:extLst>
          </p:cNvPr>
          <p:cNvPicPr>
            <a:picLocks noChangeAspect="1"/>
          </p:cNvPicPr>
          <p:nvPr/>
        </p:nvPicPr>
        <p:blipFill>
          <a:blip r:embed="rId5"/>
          <a:stretch>
            <a:fillRect/>
          </a:stretch>
        </p:blipFill>
        <p:spPr>
          <a:xfrm>
            <a:off x="4921513" y="1432823"/>
            <a:ext cx="3135173" cy="1763534"/>
          </a:xfrm>
          <a:prstGeom prst="rect">
            <a:avLst/>
          </a:prstGeom>
        </p:spPr>
      </p:pic>
      <p:pic>
        <p:nvPicPr>
          <p:cNvPr id="15" name="Imagen 14">
            <a:extLst>
              <a:ext uri="{FF2B5EF4-FFF2-40B4-BE49-F238E27FC236}">
                <a16:creationId xmlns:a16="http://schemas.microsoft.com/office/drawing/2014/main" id="{BA5E4A95-FF5A-45E0-8F99-F8BD19A926B1}"/>
              </a:ext>
            </a:extLst>
          </p:cNvPr>
          <p:cNvPicPr>
            <a:picLocks noChangeAspect="1"/>
          </p:cNvPicPr>
          <p:nvPr/>
        </p:nvPicPr>
        <p:blipFill>
          <a:blip r:embed="rId6"/>
          <a:stretch>
            <a:fillRect/>
          </a:stretch>
        </p:blipFill>
        <p:spPr>
          <a:xfrm>
            <a:off x="5108556" y="3292368"/>
            <a:ext cx="3507732" cy="2669345"/>
          </a:xfrm>
          <a:prstGeom prst="rect">
            <a:avLst/>
          </a:prstGeom>
        </p:spPr>
      </p:pic>
    </p:spTree>
    <p:extLst>
      <p:ext uri="{BB962C8B-B14F-4D97-AF65-F5344CB8AC3E}">
        <p14:creationId xmlns:p14="http://schemas.microsoft.com/office/powerpoint/2010/main" val="2021611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3231654"/>
          </a:xfrm>
          <a:prstGeom prst="rect">
            <a:avLst/>
          </a:prstGeom>
          <a:noFill/>
        </p:spPr>
        <p:txBody>
          <a:bodyPr wrap="square" rtlCol="0">
            <a:spAutoFit/>
          </a:bodyPr>
          <a:lstStyle/>
          <a:p>
            <a:pPr algn="just"/>
            <a:r>
              <a:rPr lang="es-AR" sz="2400" b="1" u="sng" cap="all" dirty="0"/>
              <a:t>ejercicio:</a:t>
            </a:r>
          </a:p>
          <a:p>
            <a:pPr algn="just"/>
            <a:endParaRPr lang="es-AR" sz="2000" cap="all" dirty="0"/>
          </a:p>
          <a:p>
            <a:pPr algn="just"/>
            <a:r>
              <a:rPr lang="es-MX" sz="2000" cap="all" dirty="0"/>
              <a:t>Plantear todas las condiciones de Brenstein, construir el grafo de precedencia y el programa concurrente para las siguientes sentencias:</a:t>
            </a:r>
          </a:p>
          <a:p>
            <a:pPr algn="just"/>
            <a:endParaRPr lang="es-MX" sz="2000" dirty="0"/>
          </a:p>
          <a:p>
            <a:pPr algn="just"/>
            <a:r>
              <a:rPr lang="es-MX" sz="2000" dirty="0"/>
              <a:t>S1: cuadrado := x * x;</a:t>
            </a:r>
          </a:p>
          <a:p>
            <a:pPr algn="just"/>
            <a:r>
              <a:rPr lang="es-MX" sz="2000" dirty="0"/>
              <a:t>S2: m1 := a * cuadrado ;</a:t>
            </a:r>
          </a:p>
          <a:p>
            <a:pPr algn="just"/>
            <a:r>
              <a:rPr lang="es-MX" sz="2000" dirty="0"/>
              <a:t>S3: m2 := b * x;</a:t>
            </a:r>
          </a:p>
          <a:p>
            <a:pPr algn="just"/>
            <a:r>
              <a:rPr lang="es-MX" sz="2000" dirty="0"/>
              <a:t>S4: z := m1 + m2;</a:t>
            </a:r>
          </a:p>
          <a:p>
            <a:pPr algn="just"/>
            <a:r>
              <a:rPr lang="es-MX" sz="2000" dirty="0"/>
              <a:t>S5: y := z + c;</a:t>
            </a:r>
            <a:endParaRPr lang="es-AR" sz="2000" dirty="0"/>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40531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5386090"/>
          </a:xfrm>
          <a:prstGeom prst="rect">
            <a:avLst/>
          </a:prstGeom>
          <a:noFill/>
        </p:spPr>
        <p:txBody>
          <a:bodyPr wrap="square" rtlCol="0">
            <a:spAutoFit/>
          </a:bodyPr>
          <a:lstStyle/>
          <a:p>
            <a:pPr algn="just"/>
            <a:r>
              <a:rPr lang="es-AR" sz="2000" b="1" u="sng" cap="all" dirty="0"/>
              <a:t>Problemas de la programación concurrente:</a:t>
            </a:r>
          </a:p>
          <a:p>
            <a:pPr algn="just"/>
            <a:endParaRPr lang="es-AR" cap="all" dirty="0"/>
          </a:p>
          <a:p>
            <a:pPr algn="just"/>
            <a:r>
              <a:rPr lang="es-AR" cap="all" dirty="0"/>
              <a:t>Existen una serie de situaciones que pueden ocurrir durante la ejecución concurrente de un programa si no se tienen los cuidados necesarios para evitarlos. Estos inconvenientes son:</a:t>
            </a:r>
          </a:p>
          <a:p>
            <a:pPr algn="just"/>
            <a:endParaRPr lang="es-AR" cap="all" dirty="0"/>
          </a:p>
          <a:p>
            <a:pPr algn="just"/>
            <a:r>
              <a:rPr lang="es-AR" b="1" i="1" u="sng" cap="all" dirty="0"/>
              <a:t>Exclusión mutua</a:t>
            </a:r>
            <a:r>
              <a:rPr lang="es-AR" cap="all" dirty="0"/>
              <a:t>: cuando un MISMO recurso es REQUERIDO POR DOS PROCESOS, AMBOS NO PUEDEN OBTENERLO SIMULTÁNEAMENTE.</a:t>
            </a:r>
          </a:p>
          <a:p>
            <a:pPr algn="just"/>
            <a:endParaRPr lang="es-AR" cap="all" dirty="0"/>
          </a:p>
          <a:p>
            <a:pPr algn="just"/>
            <a:r>
              <a:rPr lang="es-AR" b="1" i="1" u="sng" cap="all" dirty="0"/>
              <a:t>Condición de sincronización</a:t>
            </a:r>
            <a:r>
              <a:rPr lang="es-AR" cap="all" dirty="0"/>
              <a:t>: HAY OCACIONES EN QUE UN PROCESO DEBE ESPERAR QUE OCURRA UN EVENTO PARA PODER EJECUTARSE (POR EJEMPLO, QUE UN RECURSO SEA LIBERADO).</a:t>
            </a:r>
          </a:p>
          <a:p>
            <a:pPr algn="just"/>
            <a:endParaRPr lang="es-AR" cap="all" dirty="0"/>
          </a:p>
          <a:p>
            <a:pPr algn="just"/>
            <a:r>
              <a:rPr lang="es-AR" b="1" i="1" u="sng" cap="all" dirty="0"/>
              <a:t>Interbloqueo</a:t>
            </a:r>
            <a:r>
              <a:rPr lang="es-AR" cap="all" dirty="0"/>
              <a:t>: CUANDO TODOS LOS PROCESOS ESTÁN ESPERANDO QUE OCURRA UN SUCESO QUE NUNCA SE PRODUCIRÁ.</a:t>
            </a:r>
          </a:p>
          <a:p>
            <a:pPr algn="just"/>
            <a:endParaRPr lang="es-AR" cap="all" dirty="0"/>
          </a:p>
          <a:p>
            <a:pPr algn="just"/>
            <a:r>
              <a:rPr lang="es-AR" b="1" i="1" u="sng" cap="all" dirty="0"/>
              <a:t>Interbloqueo activo</a:t>
            </a:r>
            <a:r>
              <a:rPr lang="es-AR" cap="all" dirty="0"/>
              <a:t>: SE PRODUCE CUANDO UN SISTEMA EJECUTA UNA SERIE DE INSTRUCCIONES SIN HACER NINGÚN PROGRESO.</a:t>
            </a:r>
          </a:p>
          <a:p>
            <a:pPr algn="just"/>
            <a:endParaRPr lang="es-AR" cap="all" dirty="0"/>
          </a:p>
          <a:p>
            <a:pPr algn="just"/>
            <a:r>
              <a:rPr lang="es-AR" b="1" i="1" u="sng" cap="all" dirty="0"/>
              <a:t>Inanición</a:t>
            </a:r>
            <a:r>
              <a:rPr lang="es-AR" cap="all" dirty="0"/>
              <a:t>: CUANDO UN GRUPO DE PROCESOS NUNCA PROGRESAN PORQUE NO SE LES OTORGA TIEMPO DE PROCESADOR PARA AVANZAR.</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8686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4976389" cy="4278094"/>
          </a:xfrm>
          <a:prstGeom prst="rect">
            <a:avLst/>
          </a:prstGeom>
          <a:noFill/>
        </p:spPr>
        <p:txBody>
          <a:bodyPr wrap="square" rtlCol="0">
            <a:spAutoFit/>
          </a:bodyPr>
          <a:lstStyle/>
          <a:p>
            <a:pPr algn="just"/>
            <a:r>
              <a:rPr lang="es-AR" sz="2000" b="1" u="sng" cap="all" dirty="0"/>
              <a:t>EXCLUSIÓN MUTUA:</a:t>
            </a:r>
          </a:p>
          <a:p>
            <a:pPr algn="just"/>
            <a:endParaRPr lang="es-AR" cap="all" dirty="0"/>
          </a:p>
          <a:p>
            <a:pPr algn="just"/>
            <a:r>
              <a:rPr lang="es-AR" cap="all" dirty="0"/>
              <a:t>CUANDO UN MISMO RECURSO ES REQUERIDO POR DOS PROCESOS, ÉSTOS NO PUEDEN ACCEDERLO SIMULTÁNEAMENTE, DE LO CONTRARIO EL RESULTADO PUEDE SER INESPERADO.</a:t>
            </a:r>
          </a:p>
          <a:p>
            <a:pPr algn="just"/>
            <a:endParaRPr lang="es-AR" cap="all" dirty="0"/>
          </a:p>
          <a:p>
            <a:pPr algn="just"/>
            <a:r>
              <a:rPr lang="es-AR" cap="all" dirty="0"/>
              <a:t>LA SECCIÓN DE CÓDIGO QUE CONTIENE LA INSTRUCCIÓN DE ACCESO A ESTE RECURSO EN CADA PROCESO SE DENOMINA REGIÓN CRÍTICA.</a:t>
            </a:r>
          </a:p>
          <a:p>
            <a:pPr algn="just"/>
            <a:endParaRPr lang="es-AR" cap="all" dirty="0"/>
          </a:p>
          <a:p>
            <a:pPr algn="just"/>
            <a:r>
              <a:rPr lang="es-AR" cap="all" dirty="0"/>
              <a:t>DOS PROCESOS NO PUEDEN ACCEDER SIMULTÁNEAMENTE A SU REGIÓN CRÍTICA, EL ACCESO A CADA REGIÓN CRÍTICA DEBE REALIZARSE EN EXCLUSIÓN MUTUA.</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Imagen 9">
            <a:extLst>
              <a:ext uri="{FF2B5EF4-FFF2-40B4-BE49-F238E27FC236}">
                <a16:creationId xmlns:a16="http://schemas.microsoft.com/office/drawing/2014/main" id="{42CD529D-5BA7-48CE-90A8-A0CA119BC2E1}"/>
              </a:ext>
            </a:extLst>
          </p:cNvPr>
          <p:cNvPicPr>
            <a:picLocks noChangeAspect="1"/>
          </p:cNvPicPr>
          <p:nvPr/>
        </p:nvPicPr>
        <p:blipFill>
          <a:blip r:embed="rId5"/>
          <a:stretch>
            <a:fillRect/>
          </a:stretch>
        </p:blipFill>
        <p:spPr>
          <a:xfrm>
            <a:off x="6291618" y="1128926"/>
            <a:ext cx="5900381" cy="5028986"/>
          </a:xfrm>
          <a:prstGeom prst="rect">
            <a:avLst/>
          </a:prstGeom>
        </p:spPr>
      </p:pic>
    </p:spTree>
    <p:extLst>
      <p:ext uri="{BB962C8B-B14F-4D97-AF65-F5344CB8AC3E}">
        <p14:creationId xmlns:p14="http://schemas.microsoft.com/office/powerpoint/2010/main" val="1842594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5170646"/>
          </a:xfrm>
          <a:prstGeom prst="rect">
            <a:avLst/>
          </a:prstGeom>
          <a:noFill/>
        </p:spPr>
        <p:txBody>
          <a:bodyPr wrap="square" rtlCol="0">
            <a:spAutoFit/>
          </a:bodyPr>
          <a:lstStyle/>
          <a:p>
            <a:pPr algn="just"/>
            <a:r>
              <a:rPr lang="es-AR" sz="2400" b="1" u="sng" cap="all" dirty="0"/>
              <a:t>Condición de sincronización (cont.):</a:t>
            </a:r>
          </a:p>
          <a:p>
            <a:pPr algn="just"/>
            <a:endParaRPr lang="es-AR" sz="2000" cap="all" dirty="0"/>
          </a:p>
          <a:p>
            <a:pPr algn="just"/>
            <a:r>
              <a:rPr lang="es-AR" sz="2200" cap="all" dirty="0"/>
              <a:t>¿Qué ocurre cuando el lector o el gestor tratan de poner una imagen y el buffer o la cola están llenos?</a:t>
            </a:r>
          </a:p>
          <a:p>
            <a:pPr algn="just"/>
            <a:endParaRPr lang="es-AR" sz="2200" cap="all" dirty="0"/>
          </a:p>
          <a:p>
            <a:pPr algn="just"/>
            <a:r>
              <a:rPr lang="es-AR" sz="2200" cap="all" dirty="0"/>
              <a:t>Que ocurre cuando el gestor o impresor tratan de tomar una imagen y el buffer o la cola están vacíos?</a:t>
            </a:r>
          </a:p>
          <a:p>
            <a:pPr algn="just"/>
            <a:endParaRPr lang="es-AR" sz="2200" cap="all" dirty="0"/>
          </a:p>
          <a:p>
            <a:pPr algn="just"/>
            <a:r>
              <a:rPr lang="es-AR" sz="2200" cap="all" dirty="0"/>
              <a:t>Estos son casos en que un proceso no puede realizar una acción sobre un recurso hasta que no cambie de estado. Denominamos a la situación condición de sincronización.</a:t>
            </a:r>
          </a:p>
          <a:p>
            <a:pPr algn="just"/>
            <a:endParaRPr lang="es-AR" sz="2200" cap="all" dirty="0"/>
          </a:p>
          <a:p>
            <a:pPr algn="just"/>
            <a:r>
              <a:rPr lang="es-AR" sz="2200" cap="all" dirty="0"/>
              <a:t>La programación concurrente proporciona mecanismos para bloquear procesos que no puedan hacer algo en un momento determinado a la espera de un evento.</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0399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1072388" cy="2616101"/>
          </a:xfrm>
          <a:prstGeom prst="rect">
            <a:avLst/>
          </a:prstGeom>
          <a:noFill/>
        </p:spPr>
        <p:txBody>
          <a:bodyPr wrap="square" rtlCol="0">
            <a:spAutoFit/>
          </a:bodyPr>
          <a:lstStyle/>
          <a:p>
            <a:pPr algn="just"/>
            <a:r>
              <a:rPr lang="es-AR" sz="2000" b="1" u="sng" cap="all" dirty="0"/>
              <a:t>interbloqueo:</a:t>
            </a:r>
          </a:p>
          <a:p>
            <a:pPr algn="just"/>
            <a:endParaRPr lang="es-AR" cap="all" dirty="0"/>
          </a:p>
          <a:p>
            <a:pPr algn="just"/>
            <a:r>
              <a:rPr lang="es-MX" cap="all" dirty="0"/>
              <a:t>el bloqueo mutuo, interbloqueo, traba mortal, </a:t>
            </a:r>
            <a:r>
              <a:rPr lang="es-MX" cap="all" dirty="0" err="1"/>
              <a:t>deadlock</a:t>
            </a:r>
            <a:r>
              <a:rPr lang="es-MX" cap="all" dirty="0"/>
              <a:t>, o abrazo mortal, se produce cuando todos los procesos están esperando que ocurra un evento que nunca se producirá.</a:t>
            </a:r>
          </a:p>
          <a:p>
            <a:pPr algn="just"/>
            <a:endParaRPr lang="es-AR" cap="all" dirty="0"/>
          </a:p>
          <a:p>
            <a:pPr algn="just"/>
            <a:r>
              <a:rPr lang="es-MX" cap="all" dirty="0"/>
              <a:t>dos procesos diferentes (A y B), cada uno con un recurso diferente asignado (R1 y R2), En este caso es visible la condición de espera circular en la que los procesos se encuentran, donde cada uno solicita un recurso que está asignado a otro proceso.</a:t>
            </a:r>
          </a:p>
          <a:p>
            <a:pPr algn="just"/>
            <a:endParaRPr lang="es-MX" cap="all" dirty="0"/>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a:extLst>
              <a:ext uri="{FF2B5EF4-FFF2-40B4-BE49-F238E27FC236}">
                <a16:creationId xmlns:a16="http://schemas.microsoft.com/office/drawing/2014/main" id="{50297A15-770A-4507-8537-1281F2327F6E}"/>
              </a:ext>
            </a:extLst>
          </p:cNvPr>
          <p:cNvPicPr>
            <a:picLocks noChangeAspect="1"/>
          </p:cNvPicPr>
          <p:nvPr/>
        </p:nvPicPr>
        <p:blipFill>
          <a:blip r:embed="rId5"/>
          <a:stretch>
            <a:fillRect/>
          </a:stretch>
        </p:blipFill>
        <p:spPr>
          <a:xfrm>
            <a:off x="8429631" y="3233740"/>
            <a:ext cx="3496065" cy="2804983"/>
          </a:xfrm>
          <a:prstGeom prst="rect">
            <a:avLst/>
          </a:prstGeom>
        </p:spPr>
      </p:pic>
      <p:sp>
        <p:nvSpPr>
          <p:cNvPr id="14" name="5 CuadroTexto">
            <a:extLst>
              <a:ext uri="{FF2B5EF4-FFF2-40B4-BE49-F238E27FC236}">
                <a16:creationId xmlns:a16="http://schemas.microsoft.com/office/drawing/2014/main" id="{61A1D33E-1265-44E7-A40D-377721AE61CE}"/>
              </a:ext>
            </a:extLst>
          </p:cNvPr>
          <p:cNvSpPr txBox="1"/>
          <p:nvPr/>
        </p:nvSpPr>
        <p:spPr>
          <a:xfrm>
            <a:off x="1119611" y="3549786"/>
            <a:ext cx="6937711" cy="2031325"/>
          </a:xfrm>
          <a:prstGeom prst="rect">
            <a:avLst/>
          </a:prstGeom>
          <a:noFill/>
        </p:spPr>
        <p:txBody>
          <a:bodyPr wrap="square" rtlCol="0">
            <a:spAutoFit/>
          </a:bodyPr>
          <a:lstStyle/>
          <a:p>
            <a:pPr algn="just"/>
            <a:r>
              <a:rPr lang="es-MX" cap="all" dirty="0"/>
              <a:t>Al proceso a se le asigna el recurso r1 e intenta acceder al recurso r2 (que tiene b). al proceso b se le asigna el recurso r2 e intenta acceder al recurso r1 (que tiene a). Así a espera a que b libere r2 y b estará esperando que a libere el recurso r1.</a:t>
            </a:r>
          </a:p>
          <a:p>
            <a:pPr algn="just"/>
            <a:endParaRPr lang="es-MX" cap="all" dirty="0"/>
          </a:p>
          <a:p>
            <a:pPr algn="just"/>
            <a:r>
              <a:rPr lang="es-MX" cap="all" dirty="0"/>
              <a:t>La programación concurrente debe proporcionar los medios para que esto no suceda.</a:t>
            </a:r>
            <a:endParaRPr lang="es-AR" cap="all" dirty="0"/>
          </a:p>
        </p:txBody>
      </p:sp>
    </p:spTree>
    <p:extLst>
      <p:ext uri="{BB962C8B-B14F-4D97-AF65-F5344CB8AC3E}">
        <p14:creationId xmlns:p14="http://schemas.microsoft.com/office/powerpoint/2010/main" val="11371854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31">
            <a:extLst>
              <a:ext uri="{FF2B5EF4-FFF2-40B4-BE49-F238E27FC236}">
                <a16:creationId xmlns:a16="http://schemas.microsoft.com/office/drawing/2014/main" id="{452E838D-7BB9-4864-AE07-88664BFD6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8" y="6422"/>
            <a:ext cx="11410951" cy="9079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Imagen 30">
            <a:extLst>
              <a:ext uri="{FF2B5EF4-FFF2-40B4-BE49-F238E27FC236}">
                <a16:creationId xmlns:a16="http://schemas.microsoft.com/office/drawing/2014/main" id="{8E90C719-CF33-4486-9AEB-EA64319F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 y="1725"/>
            <a:ext cx="1076624" cy="1623753"/>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3198" y="6377614"/>
            <a:ext cx="12195197" cy="221966"/>
          </a:xfrm>
          <a:prstGeom prst="rect">
            <a:avLst/>
          </a:prstGeom>
          <a:solidFill>
            <a:srgbClr val="6800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2 CuadroTexto"/>
          <p:cNvSpPr txBox="1"/>
          <p:nvPr/>
        </p:nvSpPr>
        <p:spPr>
          <a:xfrm>
            <a:off x="10177664" y="6315046"/>
            <a:ext cx="2080591" cy="338554"/>
          </a:xfrm>
          <a:prstGeom prst="rect">
            <a:avLst/>
          </a:prstGeom>
          <a:noFill/>
        </p:spPr>
        <p:txBody>
          <a:bodyPr wrap="square" rtlCol="0">
            <a:spAutoFit/>
          </a:bodyPr>
          <a:lstStyle/>
          <a:p>
            <a:r>
              <a:rPr lang="es-ES" sz="1600" b="1" dirty="0">
                <a:solidFill>
                  <a:srgbClr val="FFFFFF"/>
                </a:solidFill>
                <a:latin typeface="Calibri Light" panose="020F0302020204030204" pitchFamily="34" charset="0"/>
                <a:ea typeface="Calibri" panose="020F0502020204030204" pitchFamily="34" charset="0"/>
                <a:cs typeface="Calibri Light" panose="020F0302020204030204" pitchFamily="34" charset="0"/>
              </a:rPr>
              <a:t>Modalidad Virtual</a:t>
            </a:r>
          </a:p>
        </p:txBody>
      </p:sp>
      <p:sp>
        <p:nvSpPr>
          <p:cNvPr id="11" name="1 Título">
            <a:extLst>
              <a:ext uri="{FF2B5EF4-FFF2-40B4-BE49-F238E27FC236}">
                <a16:creationId xmlns:a16="http://schemas.microsoft.com/office/drawing/2014/main" id="{580E64F2-5285-450B-9979-ADA4942F6DF8}"/>
              </a:ext>
            </a:extLst>
          </p:cNvPr>
          <p:cNvSpPr txBox="1">
            <a:spLocks/>
          </p:cNvSpPr>
          <p:nvPr/>
        </p:nvSpPr>
        <p:spPr>
          <a:xfrm>
            <a:off x="781048" y="95209"/>
            <a:ext cx="10515600" cy="819191"/>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s-AR" b="1" dirty="0">
              <a:solidFill>
                <a:schemeClr val="bg1">
                  <a:lumMod val="95000"/>
                </a:schemeClr>
              </a:solidFill>
              <a:effectLst>
                <a:outerShdw blurRad="38100" dist="38100" dir="2700000" algn="tl">
                  <a:srgbClr val="000000">
                    <a:alpha val="43137"/>
                  </a:srgbClr>
                </a:outerShdw>
              </a:effectLst>
            </a:endParaRPr>
          </a:p>
        </p:txBody>
      </p:sp>
      <p:sp>
        <p:nvSpPr>
          <p:cNvPr id="6" name="5 CuadroTexto"/>
          <p:cNvSpPr txBox="1"/>
          <p:nvPr/>
        </p:nvSpPr>
        <p:spPr>
          <a:xfrm>
            <a:off x="1119611" y="997921"/>
            <a:ext cx="10681252" cy="2339102"/>
          </a:xfrm>
          <a:prstGeom prst="rect">
            <a:avLst/>
          </a:prstGeom>
          <a:noFill/>
        </p:spPr>
        <p:txBody>
          <a:bodyPr wrap="square" rtlCol="0">
            <a:spAutoFit/>
          </a:bodyPr>
          <a:lstStyle/>
          <a:p>
            <a:pPr algn="just"/>
            <a:r>
              <a:rPr lang="es-AR" sz="2000" b="1" u="sng" cap="all" dirty="0"/>
              <a:t>Interbloqueo activo:</a:t>
            </a:r>
          </a:p>
          <a:p>
            <a:pPr algn="just"/>
            <a:endParaRPr lang="es-AR" cap="all" dirty="0"/>
          </a:p>
          <a:p>
            <a:pPr algn="just"/>
            <a:r>
              <a:rPr lang="es-AR" cap="all" dirty="0"/>
              <a:t>Se produce cuando un sistema ejecuta una serie de instrucciones sin hacer ningún progreso.</a:t>
            </a:r>
          </a:p>
          <a:p>
            <a:pPr algn="just"/>
            <a:endParaRPr lang="es-AR" cap="all" dirty="0"/>
          </a:p>
          <a:p>
            <a:pPr algn="just"/>
            <a:r>
              <a:rPr lang="es-AR" cap="all" dirty="0"/>
              <a:t>Los procesos están esperando algún recurso que tiene otro proceso y que no es liberado.</a:t>
            </a:r>
          </a:p>
          <a:p>
            <a:pPr algn="just"/>
            <a:endParaRPr lang="es-AR" cap="all" dirty="0"/>
          </a:p>
          <a:p>
            <a:pPr algn="just"/>
            <a:r>
              <a:rPr lang="es-AR" cap="all" dirty="0"/>
              <a:t>PERO los procesos no están bloqueados, cambian de estado continuamente, pero sin un avance real.</a:t>
            </a:r>
          </a:p>
        </p:txBody>
      </p:sp>
      <p:sp>
        <p:nvSpPr>
          <p:cNvPr id="13" name="Cuadro de texto 2">
            <a:extLst>
              <a:ext uri="{FF2B5EF4-FFF2-40B4-BE49-F238E27FC236}">
                <a16:creationId xmlns:a16="http://schemas.microsoft.com/office/drawing/2014/main" id="{AAE8F54E-1B3A-4600-AFCB-9226D0D550E2}"/>
              </a:ext>
            </a:extLst>
          </p:cNvPr>
          <p:cNvSpPr txBox="1">
            <a:spLocks noChangeArrowheads="1"/>
          </p:cNvSpPr>
          <p:nvPr/>
        </p:nvSpPr>
        <p:spPr bwMode="auto">
          <a:xfrm>
            <a:off x="2049260" y="0"/>
            <a:ext cx="8460035" cy="8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4800" b="0" i="0" u="none" strike="noStrike" cap="none" normalizeH="0" baseline="0" dirty="0">
                <a:ln>
                  <a:noFill/>
                </a:ln>
                <a:solidFill>
                  <a:srgbClr val="FFFFFF"/>
                </a:solidFill>
                <a:effectLst/>
                <a:latin typeface="Calibri Light" panose="020F0302020204030204" pitchFamily="34" charset="0"/>
                <a:ea typeface="Calibri" panose="020F0502020204030204" pitchFamily="34" charset="0"/>
                <a:cs typeface="Calibri Light" panose="020F0302020204030204" pitchFamily="34" charset="0"/>
              </a:rPr>
              <a:t>PROGRAMACION CONCURRENTE</a:t>
            </a:r>
          </a:p>
        </p:txBody>
      </p:sp>
      <p:pic>
        <p:nvPicPr>
          <p:cNvPr id="12" name="Picture 5">
            <a:extLst>
              <a:ext uri="{FF2B5EF4-FFF2-40B4-BE49-F238E27FC236}">
                <a16:creationId xmlns:a16="http://schemas.microsoft.com/office/drawing/2014/main" id="{6B9287C5-A5BC-4517-9AB1-8F2E3194B7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278" y="5808678"/>
            <a:ext cx="947333" cy="104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5 CuadroTexto">
            <a:extLst>
              <a:ext uri="{FF2B5EF4-FFF2-40B4-BE49-F238E27FC236}">
                <a16:creationId xmlns:a16="http://schemas.microsoft.com/office/drawing/2014/main" id="{6F6CA8CF-4121-4DEE-8E12-6A0DD3FF60C0}"/>
              </a:ext>
            </a:extLst>
          </p:cNvPr>
          <p:cNvSpPr txBox="1"/>
          <p:nvPr/>
        </p:nvSpPr>
        <p:spPr>
          <a:xfrm>
            <a:off x="1119611" y="3638707"/>
            <a:ext cx="10681252" cy="2616101"/>
          </a:xfrm>
          <a:prstGeom prst="rect">
            <a:avLst/>
          </a:prstGeom>
          <a:noFill/>
        </p:spPr>
        <p:txBody>
          <a:bodyPr wrap="square" rtlCol="0">
            <a:spAutoFit/>
          </a:bodyPr>
          <a:lstStyle/>
          <a:p>
            <a:pPr algn="just"/>
            <a:r>
              <a:rPr lang="es-AR" sz="2000" b="1" u="sng" cap="all" dirty="0"/>
              <a:t>inanición:</a:t>
            </a:r>
          </a:p>
          <a:p>
            <a:pPr algn="just"/>
            <a:endParaRPr lang="es-AR" cap="all" dirty="0"/>
          </a:p>
          <a:p>
            <a:pPr algn="just"/>
            <a:r>
              <a:rPr lang="es-MX" cap="all" dirty="0"/>
              <a:t>La inanición es una situación en la que todos los procesos de baja prioridad se bloquean y los procesos de alta prioridad continúan. </a:t>
            </a:r>
          </a:p>
          <a:p>
            <a:pPr algn="just"/>
            <a:endParaRPr lang="es-MX" cap="all" dirty="0"/>
          </a:p>
          <a:p>
            <a:pPr algn="just"/>
            <a:r>
              <a:rPr lang="es-MX" cap="all" dirty="0"/>
              <a:t>En cualquier sistema, las solicitudes de recursos de alta/baja prioridad se suceden dinámicamente. </a:t>
            </a:r>
          </a:p>
          <a:p>
            <a:pPr algn="just"/>
            <a:endParaRPr lang="es-MX" cap="all" dirty="0"/>
          </a:p>
          <a:p>
            <a:pPr algn="just"/>
            <a:r>
              <a:rPr lang="es-MX" cap="all" dirty="0"/>
              <a:t>se requiere alguna política para decidir quién recibe apoyo y cuándo.</a:t>
            </a:r>
            <a:endParaRPr lang="es-AR" cap="all" dirty="0"/>
          </a:p>
        </p:txBody>
      </p:sp>
    </p:spTree>
    <p:extLst>
      <p:ext uri="{BB962C8B-B14F-4D97-AF65-F5344CB8AC3E}">
        <p14:creationId xmlns:p14="http://schemas.microsoft.com/office/powerpoint/2010/main" val="297645505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2624</TotalTime>
  <Words>1449</Words>
  <Application>Microsoft Office PowerPoint</Application>
  <PresentationFormat>Panorámica</PresentationFormat>
  <Paragraphs>184</Paragraphs>
  <Slides>20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Arial</vt:lpstr>
      <vt:lpstr>Calibri</vt:lpstr>
      <vt:lpstr>Calibri Light</vt:lpstr>
      <vt:lpstr>MS Shell Dlg 2</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Marcela Lepore</dc:creator>
  <cp:lastModifiedBy>Nicolas Perez</cp:lastModifiedBy>
  <cp:revision>100</cp:revision>
  <dcterms:created xsi:type="dcterms:W3CDTF">2020-03-19T18:50:23Z</dcterms:created>
  <dcterms:modified xsi:type="dcterms:W3CDTF">2024-04-17T00:22:37Z</dcterms:modified>
</cp:coreProperties>
</file>