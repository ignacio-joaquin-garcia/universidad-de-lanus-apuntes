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258" r:id="rId3"/>
    <p:sldId id="310" r:id="rId4"/>
    <p:sldId id="262" r:id="rId5"/>
    <p:sldId id="345" r:id="rId6"/>
    <p:sldId id="346" r:id="rId7"/>
    <p:sldId id="347" r:id="rId8"/>
    <p:sldId id="341" r:id="rId9"/>
    <p:sldId id="342" r:id="rId10"/>
    <p:sldId id="343" r:id="rId11"/>
    <p:sldId id="344" r:id="rId12"/>
    <p:sldId id="350" r:id="rId13"/>
    <p:sldId id="369" r:id="rId14"/>
    <p:sldId id="311" r:id="rId15"/>
    <p:sldId id="313" r:id="rId16"/>
    <p:sldId id="314" r:id="rId17"/>
    <p:sldId id="326" r:id="rId18"/>
    <p:sldId id="332" r:id="rId19"/>
    <p:sldId id="317" r:id="rId20"/>
    <p:sldId id="318" r:id="rId21"/>
    <p:sldId id="335" r:id="rId22"/>
    <p:sldId id="336" r:id="rId23"/>
    <p:sldId id="337" r:id="rId24"/>
    <p:sldId id="370" r:id="rId25"/>
    <p:sldId id="371" r:id="rId2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63B28-680B-40BA-BAF0-CDDC1C32F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6F4BC6-62A8-4F2A-A42D-0CB1F807D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BAFB7C-8E0E-468F-BA89-55C5C2FE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28/5/2024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0D0081-D60A-4E86-81F7-38193259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70CF7D-0519-41B0-874B-4E2C56616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438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0AE3C-5B09-4B46-BBE0-E673EEB44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1456C3-604C-4687-B146-FB214A08B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BEEDC8-078C-4C48-BBDF-4E4D4501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28/5/2024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039649-4BA3-4028-A347-55F274A7E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36CBE0-807B-4634-9176-7C7E6E8B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0743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7C40E-A093-4F77-96EE-E8F47941A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465B42-274D-40BA-A6F3-946ADCF4B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304BA1-F4EF-439F-90ED-A2CC2A9A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28/5/2024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A60864-18DE-4CFC-BF66-FE2811758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621648-0A93-4FD8-9CB6-5343C0019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7045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F827C-B803-48F5-B86D-B92952360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1C588F-852B-449F-975E-7C26A4C79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28B925-1FBB-4681-8B11-C508AF837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E38973-6C14-4026-9C4D-C8F1B2E8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28/5/2024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B0F547-15CD-4553-A2D1-C3755DDC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283AA8-CF3A-4FCB-8CD5-107F8477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52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43476-8475-4AAE-8E41-9E8F1CBF2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72FE43-6B8E-4D8B-A3D9-6CA2EE859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87F4137-2056-4EE9-BE5D-B34E3F026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4C370E-B9FC-4E8F-A17D-63E708CE5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D64075D-9E2E-41D3-866F-0F4199976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BF94304-FF68-429E-B125-EB35E568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28/5/2024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B26C90-E586-4C20-A1EE-79559DBC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F78CF1F-BD71-4DFC-AD85-72720AE6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17652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745E7-0DCE-49AB-83CC-67F69A7AA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B90C12-73D7-4B91-A3FE-D9B03C5A3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28/5/2024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9FF3BAE-5BC0-4D7A-BD33-A2C6B7B0B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88DC54-A363-424C-A66E-950C9D5C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3665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5BD7976-1394-4FC8-B8D7-865E9C8DE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28/5/2024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8F63C5-9F51-4E93-91AC-A9EE785BE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9FE922-64D4-4A87-98A1-87862CBB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97064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E68F91-98B7-4F11-A12E-1213B9CDF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A87097-9CCE-42FD-8F05-1A78140C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E4BB82-AF48-4C1B-9587-B5F2D6E85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C612D5-09C0-4352-B682-F703B649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28/5/2024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1DD472-0CA2-466D-8863-FA5B915C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38939B-14DE-44A5-BF29-1558C10E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89542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7ADDE8-35D2-4AB3-BFEB-3E15FBBF7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99135E0-503E-4D1E-BD85-3906593DE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C74D96-865F-42AB-A40B-F9A6791D6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13BF82-44D5-4EC7-BF47-69B8AF76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28/5/2024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A47EA8-0240-4B42-8C01-394F3771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600F27-6E77-447C-8A24-E6FAA7675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5796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CA8E7-3B8D-47F4-B1A0-D0DE2E7E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4FD2CF1-4A6B-468C-9999-AE864B208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215B36-3672-4CAF-BE64-1FB65A513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28/5/2024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73B271-8FF8-4297-82AE-18DA7918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0AE8A8-8DE3-4451-9530-27CC790B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5374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0D33723-CDF3-422D-9100-08480E6F2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542780-6BE9-4593-95AF-99AFC00C3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F9F894-81B8-47EC-9C56-0D39A5139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28/5/2024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1B4CFC-A971-433A-817E-EDD6C689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080314-209B-470D-B49D-A95C8B9C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18814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E58368F-FEC0-423C-95A5-91E91030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680BC2-7904-4295-A612-13C8CEDB4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FDD47F-EA9A-4BBB-A3D9-D197C902D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3F69A-07CA-4FA6-8659-3F8184DE9D62}" type="datetimeFigureOut">
              <a:rPr lang="es-AR" smtClean="0"/>
              <a:t>28/5/2024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3967D6-450C-40DE-969C-8C418C949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BC9104-6A80-480C-BEE8-98E6B663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4851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Cuadro de texto 2">
            <a:extLst>
              <a:ext uri="{FF2B5EF4-FFF2-40B4-BE49-F238E27FC236}">
                <a16:creationId xmlns:a16="http://schemas.microsoft.com/office/drawing/2014/main" id="{AAE8F54E-1B3A-4600-AFCB-9226D0D55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260" y="0"/>
            <a:ext cx="8460035" cy="86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4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PROGRAMACION CONCURRENTE</a:t>
            </a: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78E808B5-78A4-442D-997A-D45503893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3788" y="1185071"/>
            <a:ext cx="3071579" cy="3402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4 CuadroTexto">
            <a:extLst>
              <a:ext uri="{FF2B5EF4-FFF2-40B4-BE49-F238E27FC236}">
                <a16:creationId xmlns:a16="http://schemas.microsoft.com/office/drawing/2014/main" id="{16345EA6-5AC8-4BF4-80DC-1231B30A0EE5}"/>
              </a:ext>
            </a:extLst>
          </p:cNvPr>
          <p:cNvSpPr txBox="1"/>
          <p:nvPr/>
        </p:nvSpPr>
        <p:spPr>
          <a:xfrm>
            <a:off x="2220676" y="4835813"/>
            <a:ext cx="73978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000" b="1" cap="all" dirty="0"/>
              <a:t>PROGRAMACIÓN CONCURRENTE</a:t>
            </a:r>
          </a:p>
          <a:p>
            <a:pPr algn="ctr"/>
            <a:r>
              <a:rPr lang="es-AR" sz="4000" b="1" cap="all" dirty="0"/>
              <a:t>Redes de Petri</a:t>
            </a:r>
          </a:p>
        </p:txBody>
      </p:sp>
      <p:pic>
        <p:nvPicPr>
          <p:cNvPr id="15" name="Picture 5">
            <a:extLst>
              <a:ext uri="{FF2B5EF4-FFF2-40B4-BE49-F238E27FC236}">
                <a16:creationId xmlns:a16="http://schemas.microsoft.com/office/drawing/2014/main" id="{C7858944-FA40-423E-992B-7FA36F4AD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073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119610" y="976968"/>
            <a:ext cx="10900111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dirty="0"/>
              <a:t>REDES DE PETRI:</a:t>
            </a:r>
          </a:p>
          <a:p>
            <a:pPr algn="just"/>
            <a:endParaRPr lang="es-AR" sz="2400" cap="all" dirty="0"/>
          </a:p>
          <a:p>
            <a:pPr algn="just"/>
            <a:r>
              <a:rPr lang="es-AR" sz="2400" cap="all" dirty="0"/>
              <a:t>Las redes de Petri son una herramienta de modelado muy efectiva para la representación y el análisis de procesos concurrentes y sistemas de tiempo real.</a:t>
            </a:r>
          </a:p>
          <a:p>
            <a:pPr algn="just"/>
            <a:endParaRPr lang="es-AR" sz="2400" cap="all" dirty="0"/>
          </a:p>
          <a:p>
            <a:pPr algn="just"/>
            <a:r>
              <a:rPr lang="es-AR" sz="2400" cap="all" dirty="0"/>
              <a:t>Los fenómenos o procesos físicos son representados mediante un modelo matemático para su estudio. Mediante la manipulación de este modelo se pueden adquirir conocimientos del fenómeno modelado sin los riesgos, costos e inconvenientes de manipular el fenómeno real.</a:t>
            </a:r>
          </a:p>
          <a:p>
            <a:pPr algn="just"/>
            <a:endParaRPr lang="es-AR" sz="2400" cap="all" dirty="0"/>
          </a:p>
          <a:p>
            <a:pPr algn="just"/>
            <a:r>
              <a:rPr lang="es-AR" sz="2400" cap="all" dirty="0"/>
              <a:t>Las redes de Petri como herramienta para especificar sistemas de tiempo real, tienen su antecedente en las máquinas de estado.</a:t>
            </a:r>
          </a:p>
        </p:txBody>
      </p:sp>
    </p:spTree>
    <p:extLst>
      <p:ext uri="{BB962C8B-B14F-4D97-AF65-F5344CB8AC3E}">
        <p14:creationId xmlns:p14="http://schemas.microsoft.com/office/powerpoint/2010/main" val="3710627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cap="all" dirty="0"/>
              <a:t>Representación de Redes de Petri:</a:t>
            </a:r>
          </a:p>
          <a:p>
            <a:pPr algn="just"/>
            <a:endParaRPr lang="es-AR" sz="2400" cap="all" dirty="0"/>
          </a:p>
          <a:p>
            <a:pPr algn="just"/>
            <a:r>
              <a:rPr lang="es-AR" sz="2400" cap="all" dirty="0"/>
              <a:t>Las Redes de Petri se representan mediante un grafo, donde existen dos tipos de nodos y los arcos son dirigidos.</a:t>
            </a:r>
          </a:p>
          <a:p>
            <a:pPr algn="just"/>
            <a:endParaRPr lang="es-AR" sz="2400" cap="all" dirty="0"/>
          </a:p>
          <a:p>
            <a:pPr algn="just"/>
            <a:r>
              <a:rPr lang="es-AR" sz="2400" cap="all" dirty="0"/>
              <a:t>Los nodo pueden representar plazas o lugares y transiciones. </a:t>
            </a:r>
          </a:p>
          <a:p>
            <a:pPr algn="just"/>
            <a:endParaRPr lang="es-AR" sz="2400" cap="all" dirty="0"/>
          </a:p>
          <a:p>
            <a:pPr algn="just"/>
            <a:r>
              <a:rPr lang="es-AR" sz="2400" cap="all" dirty="0"/>
              <a:t>Los arcos unen las plazas con las transiciones, nunca habrá:</a:t>
            </a:r>
          </a:p>
          <a:p>
            <a:pPr algn="just"/>
            <a:endParaRPr lang="es-AR" sz="2400" cap="all" dirty="0"/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400" cap="all" dirty="0"/>
              <a:t>Arcos que unan dos transiciones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400" cap="all" dirty="0"/>
              <a:t>Arcos que unan dos plazas o lugares.</a:t>
            </a:r>
          </a:p>
        </p:txBody>
      </p:sp>
    </p:spTree>
    <p:extLst>
      <p:ext uri="{BB962C8B-B14F-4D97-AF65-F5344CB8AC3E}">
        <p14:creationId xmlns:p14="http://schemas.microsoft.com/office/powerpoint/2010/main" val="3802179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3200" b="1" u="sng" cap="all" dirty="0"/>
              <a:t>Elementos en una Rede de Petri:</a:t>
            </a:r>
          </a:p>
          <a:p>
            <a:pPr algn="just"/>
            <a:endParaRPr lang="es-AR" sz="2800" cap="all" dirty="0"/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800" cap="all" dirty="0"/>
              <a:t>Plaza o lugar.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800" cap="all" dirty="0"/>
              <a:t>Transiciones.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800" cap="all" dirty="0"/>
              <a:t>Arcos dirigidos (pueden ser etiquetados).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800" cap="all" dirty="0"/>
              <a:t>Entrada de una transición.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800" cap="all" dirty="0"/>
              <a:t>Salida de una transición.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800" cap="all" dirty="0"/>
              <a:t>Marca o testigo.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800" cap="all" dirty="0"/>
              <a:t>Cantidad de testigos de una plaza.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800" cap="all" dirty="0"/>
              <a:t>Marcado de una Red de Petri.</a:t>
            </a:r>
          </a:p>
        </p:txBody>
      </p:sp>
    </p:spTree>
    <p:extLst>
      <p:ext uri="{BB962C8B-B14F-4D97-AF65-F5344CB8AC3E}">
        <p14:creationId xmlns:p14="http://schemas.microsoft.com/office/powerpoint/2010/main" val="3178353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1EC868C-2704-44E9-8B47-F6E70C017E7A}"/>
              </a:ext>
            </a:extLst>
          </p:cNvPr>
          <p:cNvSpPr/>
          <p:nvPr/>
        </p:nvSpPr>
        <p:spPr>
          <a:xfrm>
            <a:off x="4821496" y="3554415"/>
            <a:ext cx="1665027" cy="151490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46A205A-5720-4EB2-8DD6-331572593AF9}"/>
              </a:ext>
            </a:extLst>
          </p:cNvPr>
          <p:cNvSpPr txBox="1"/>
          <p:nvPr/>
        </p:nvSpPr>
        <p:spPr>
          <a:xfrm>
            <a:off x="1242199" y="1006282"/>
            <a:ext cx="101948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3600" b="1" u="sng" cap="all" dirty="0"/>
              <a:t>Elementos en una Rede de Petri:</a:t>
            </a:r>
          </a:p>
          <a:p>
            <a:pPr algn="just"/>
            <a:endParaRPr lang="es-AR" sz="3200" cap="all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3200" cap="all" dirty="0"/>
              <a:t>Plaza o lugar: se representa por un círculo.</a:t>
            </a:r>
          </a:p>
        </p:txBody>
      </p:sp>
    </p:spTree>
    <p:extLst>
      <p:ext uri="{BB962C8B-B14F-4D97-AF65-F5344CB8AC3E}">
        <p14:creationId xmlns:p14="http://schemas.microsoft.com/office/powerpoint/2010/main" val="2868491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C4EBAF8-B0AA-4C1A-B429-9406B9C73031}"/>
              </a:ext>
            </a:extLst>
          </p:cNvPr>
          <p:cNvSpPr/>
          <p:nvPr/>
        </p:nvSpPr>
        <p:spPr>
          <a:xfrm>
            <a:off x="3207225" y="3138647"/>
            <a:ext cx="272955" cy="2347415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09D70AD-D555-4AE3-8A18-8ACF86AF430F}"/>
              </a:ext>
            </a:extLst>
          </p:cNvPr>
          <p:cNvSpPr txBox="1"/>
          <p:nvPr/>
        </p:nvSpPr>
        <p:spPr>
          <a:xfrm>
            <a:off x="1119611" y="976968"/>
            <a:ext cx="101948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3600" b="1" u="sng" cap="all" dirty="0"/>
              <a:t>Elementos en una Rede de Petri:</a:t>
            </a:r>
          </a:p>
          <a:p>
            <a:pPr algn="just"/>
            <a:endParaRPr lang="es-AR" sz="3200" cap="all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3200" cap="all" dirty="0"/>
              <a:t>Transiciones: segmentos rectilíneos.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1915BF6-49E4-4293-AEE8-9E92D8581F10}"/>
              </a:ext>
            </a:extLst>
          </p:cNvPr>
          <p:cNvSpPr/>
          <p:nvPr/>
        </p:nvSpPr>
        <p:spPr>
          <a:xfrm rot="5400000">
            <a:off x="7401637" y="2922619"/>
            <a:ext cx="272955" cy="2347415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73976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70408EFE-BF19-44C3-9454-D498737E8388}"/>
              </a:ext>
            </a:extLst>
          </p:cNvPr>
          <p:cNvCxnSpPr>
            <a:cxnSpLocks/>
          </p:cNvCxnSpPr>
          <p:nvPr/>
        </p:nvCxnSpPr>
        <p:spPr>
          <a:xfrm>
            <a:off x="3903259" y="4043148"/>
            <a:ext cx="343468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E02BD2F-06D8-4D74-88ED-8A8B1A49C06F}"/>
              </a:ext>
            </a:extLst>
          </p:cNvPr>
          <p:cNvSpPr txBox="1"/>
          <p:nvPr/>
        </p:nvSpPr>
        <p:spPr>
          <a:xfrm>
            <a:off x="1119611" y="975802"/>
            <a:ext cx="101948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3600" b="1" u="sng" cap="all" dirty="0"/>
              <a:t>Elementos en una Rede de Petri:</a:t>
            </a:r>
          </a:p>
          <a:p>
            <a:pPr algn="just"/>
            <a:endParaRPr lang="es-AR" sz="3200" cap="all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3200" cap="all" dirty="0"/>
              <a:t>Arcos dirigidos: unen plazas y transiciones.</a:t>
            </a:r>
          </a:p>
        </p:txBody>
      </p:sp>
    </p:spTree>
    <p:extLst>
      <p:ext uri="{BB962C8B-B14F-4D97-AF65-F5344CB8AC3E}">
        <p14:creationId xmlns:p14="http://schemas.microsoft.com/office/powerpoint/2010/main" val="709519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1EC868C-2704-44E9-8B47-F6E70C017E7A}"/>
              </a:ext>
            </a:extLst>
          </p:cNvPr>
          <p:cNvSpPr/>
          <p:nvPr/>
        </p:nvSpPr>
        <p:spPr>
          <a:xfrm>
            <a:off x="3309708" y="3568569"/>
            <a:ext cx="1665027" cy="151490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C4EBAF8-B0AA-4C1A-B429-9406B9C73031}"/>
              </a:ext>
            </a:extLst>
          </p:cNvPr>
          <p:cNvSpPr/>
          <p:nvPr/>
        </p:nvSpPr>
        <p:spPr>
          <a:xfrm>
            <a:off x="6912717" y="3152311"/>
            <a:ext cx="272955" cy="2347415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70408EFE-BF19-44C3-9454-D498737E8388}"/>
              </a:ext>
            </a:extLst>
          </p:cNvPr>
          <p:cNvCxnSpPr/>
          <p:nvPr/>
        </p:nvCxnSpPr>
        <p:spPr>
          <a:xfrm>
            <a:off x="4974735" y="4326019"/>
            <a:ext cx="1897039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06ED515-1E0A-4C70-AC0D-06C34621E1BA}"/>
              </a:ext>
            </a:extLst>
          </p:cNvPr>
          <p:cNvSpPr txBox="1"/>
          <p:nvPr/>
        </p:nvSpPr>
        <p:spPr>
          <a:xfrm>
            <a:off x="1242199" y="1014356"/>
            <a:ext cx="101948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3200" b="1" u="sng" cap="all" dirty="0"/>
              <a:t>Elementos en una Rede de Petri:</a:t>
            </a:r>
          </a:p>
          <a:p>
            <a:pPr algn="just"/>
            <a:endParaRPr lang="es-AR" sz="2800" cap="all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800" cap="all" dirty="0"/>
              <a:t>Entrada de una transición: una plaza es entrada de una transición si hay un arco dirigido de la plaza a la transición.</a:t>
            </a:r>
          </a:p>
        </p:txBody>
      </p:sp>
    </p:spTree>
    <p:extLst>
      <p:ext uri="{BB962C8B-B14F-4D97-AF65-F5344CB8AC3E}">
        <p14:creationId xmlns:p14="http://schemas.microsoft.com/office/powerpoint/2010/main" val="296638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1EC868C-2704-44E9-8B47-F6E70C017E7A}"/>
              </a:ext>
            </a:extLst>
          </p:cNvPr>
          <p:cNvSpPr/>
          <p:nvPr/>
        </p:nvSpPr>
        <p:spPr>
          <a:xfrm>
            <a:off x="5791202" y="3554415"/>
            <a:ext cx="1665027" cy="151490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C4EBAF8-B0AA-4C1A-B429-9406B9C73031}"/>
              </a:ext>
            </a:extLst>
          </p:cNvPr>
          <p:cNvSpPr/>
          <p:nvPr/>
        </p:nvSpPr>
        <p:spPr>
          <a:xfrm>
            <a:off x="3377823" y="3155285"/>
            <a:ext cx="272955" cy="2347415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70408EFE-BF19-44C3-9454-D498737E8388}"/>
              </a:ext>
            </a:extLst>
          </p:cNvPr>
          <p:cNvCxnSpPr>
            <a:cxnSpLocks/>
          </p:cNvCxnSpPr>
          <p:nvPr/>
        </p:nvCxnSpPr>
        <p:spPr>
          <a:xfrm>
            <a:off x="3650778" y="4293250"/>
            <a:ext cx="214042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70E5E28-CB36-4BAA-B044-247CBB6BC88D}"/>
              </a:ext>
            </a:extLst>
          </p:cNvPr>
          <p:cNvSpPr txBox="1"/>
          <p:nvPr/>
        </p:nvSpPr>
        <p:spPr>
          <a:xfrm>
            <a:off x="1150076" y="990494"/>
            <a:ext cx="101948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3200" b="1" u="sng" cap="all" dirty="0"/>
              <a:t>Elementos en una Rede de Petri:</a:t>
            </a:r>
          </a:p>
          <a:p>
            <a:pPr algn="just"/>
            <a:endParaRPr lang="es-AR" sz="2800" cap="all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800" cap="all" dirty="0"/>
              <a:t>Salida de una transición: una plaza es salida de una transición si hay un arco dirigido de la transición a la plaza.</a:t>
            </a:r>
          </a:p>
        </p:txBody>
      </p:sp>
    </p:spTree>
    <p:extLst>
      <p:ext uri="{BB962C8B-B14F-4D97-AF65-F5344CB8AC3E}">
        <p14:creationId xmlns:p14="http://schemas.microsoft.com/office/powerpoint/2010/main" val="2724663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1EC868C-2704-44E9-8B47-F6E70C017E7A}"/>
              </a:ext>
            </a:extLst>
          </p:cNvPr>
          <p:cNvSpPr/>
          <p:nvPr/>
        </p:nvSpPr>
        <p:spPr>
          <a:xfrm>
            <a:off x="4552022" y="3297637"/>
            <a:ext cx="1665027" cy="151490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07174DF-3319-4255-BA20-F14FBAA1E927}"/>
              </a:ext>
            </a:extLst>
          </p:cNvPr>
          <p:cNvSpPr txBox="1"/>
          <p:nvPr/>
        </p:nvSpPr>
        <p:spPr>
          <a:xfrm>
            <a:off x="1119611" y="923148"/>
            <a:ext cx="1019487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3600" b="1" u="sng" cap="all" dirty="0"/>
              <a:t>Elementos en una Rede de Petri:</a:t>
            </a:r>
          </a:p>
          <a:p>
            <a:pPr algn="just"/>
            <a:endParaRPr lang="es-AR" sz="3200" cap="all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3200" cap="all" dirty="0"/>
              <a:t>Marca o testigo: se representa por un punto dentro de una plaza.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0992345-7885-46C9-A84D-D57E309F04A9}"/>
              </a:ext>
            </a:extLst>
          </p:cNvPr>
          <p:cNvSpPr/>
          <p:nvPr/>
        </p:nvSpPr>
        <p:spPr>
          <a:xfrm>
            <a:off x="5282177" y="3944104"/>
            <a:ext cx="204716" cy="2219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1738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1EC868C-2704-44E9-8B47-F6E70C017E7A}"/>
              </a:ext>
            </a:extLst>
          </p:cNvPr>
          <p:cNvSpPr/>
          <p:nvPr/>
        </p:nvSpPr>
        <p:spPr>
          <a:xfrm>
            <a:off x="3398292" y="3445158"/>
            <a:ext cx="1665027" cy="151490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06C4866-9BAA-4FDD-949E-C591F98FD07B}"/>
              </a:ext>
            </a:extLst>
          </p:cNvPr>
          <p:cNvSpPr txBox="1"/>
          <p:nvPr/>
        </p:nvSpPr>
        <p:spPr>
          <a:xfrm>
            <a:off x="1119611" y="965323"/>
            <a:ext cx="101948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sz="3600" b="1" u="sng" cap="all" dirty="0"/>
              <a:t>Elementos en una Rede de Petri:</a:t>
            </a:r>
          </a:p>
          <a:p>
            <a:pPr algn="just"/>
            <a:endParaRPr lang="es-AR" sz="3200" cap="all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3200" cap="all" dirty="0"/>
              <a:t>Cantidad de testigos de una plaza: es de 0 a N.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B024435C-C5D5-4C10-A066-ADDCD46E803E}"/>
              </a:ext>
            </a:extLst>
          </p:cNvPr>
          <p:cNvSpPr/>
          <p:nvPr/>
        </p:nvSpPr>
        <p:spPr>
          <a:xfrm>
            <a:off x="3821867" y="3915155"/>
            <a:ext cx="204716" cy="2219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2663113D-AFD7-43AD-98BF-D3690D2E2FE2}"/>
              </a:ext>
            </a:extLst>
          </p:cNvPr>
          <p:cNvSpPr/>
          <p:nvPr/>
        </p:nvSpPr>
        <p:spPr>
          <a:xfrm>
            <a:off x="4442593" y="3915155"/>
            <a:ext cx="204716" cy="2219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521F9A7D-FFF6-4671-9048-59B10ABF0CF2}"/>
              </a:ext>
            </a:extLst>
          </p:cNvPr>
          <p:cNvSpPr/>
          <p:nvPr/>
        </p:nvSpPr>
        <p:spPr>
          <a:xfrm>
            <a:off x="4128447" y="4376093"/>
            <a:ext cx="204716" cy="2219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76DB022E-7AE4-4803-9F17-B2102E409369}"/>
              </a:ext>
            </a:extLst>
          </p:cNvPr>
          <p:cNvSpPr/>
          <p:nvPr/>
        </p:nvSpPr>
        <p:spPr>
          <a:xfrm>
            <a:off x="6278468" y="3429000"/>
            <a:ext cx="1665027" cy="151490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D9E5E46-2B34-4512-B0FA-CC1DFA7457A2}"/>
              </a:ext>
            </a:extLst>
          </p:cNvPr>
          <p:cNvSpPr/>
          <p:nvPr/>
        </p:nvSpPr>
        <p:spPr>
          <a:xfrm>
            <a:off x="7008623" y="4094842"/>
            <a:ext cx="204716" cy="2219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AFAD78B9-AF36-4C34-942E-833190DBCD10}"/>
              </a:ext>
            </a:extLst>
          </p:cNvPr>
          <p:cNvSpPr/>
          <p:nvPr/>
        </p:nvSpPr>
        <p:spPr>
          <a:xfrm>
            <a:off x="781048" y="3445157"/>
            <a:ext cx="1665027" cy="151490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719BB5A7-2E53-4923-A373-8921A66C4E57}"/>
              </a:ext>
            </a:extLst>
          </p:cNvPr>
          <p:cNvSpPr/>
          <p:nvPr/>
        </p:nvSpPr>
        <p:spPr>
          <a:xfrm>
            <a:off x="9345150" y="3429994"/>
            <a:ext cx="1665027" cy="151490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0010C3E4-888B-460E-A64F-AAB557D5A084}"/>
              </a:ext>
            </a:extLst>
          </p:cNvPr>
          <p:cNvSpPr/>
          <p:nvPr/>
        </p:nvSpPr>
        <p:spPr>
          <a:xfrm>
            <a:off x="9781393" y="3868038"/>
            <a:ext cx="204716" cy="2219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B5D92701-6B62-41A0-9070-E385AA87CA54}"/>
              </a:ext>
            </a:extLst>
          </p:cNvPr>
          <p:cNvSpPr/>
          <p:nvPr/>
        </p:nvSpPr>
        <p:spPr>
          <a:xfrm>
            <a:off x="10422352" y="3836690"/>
            <a:ext cx="204716" cy="2219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4AA9F4BF-748B-4FD6-AA51-5FF62550B7DF}"/>
              </a:ext>
            </a:extLst>
          </p:cNvPr>
          <p:cNvSpPr/>
          <p:nvPr/>
        </p:nvSpPr>
        <p:spPr>
          <a:xfrm>
            <a:off x="9781393" y="4396193"/>
            <a:ext cx="204716" cy="2219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C9DEA1AB-E5F3-47FD-908A-34EA728EC597}"/>
              </a:ext>
            </a:extLst>
          </p:cNvPr>
          <p:cNvSpPr/>
          <p:nvPr/>
        </p:nvSpPr>
        <p:spPr>
          <a:xfrm>
            <a:off x="10406937" y="4354369"/>
            <a:ext cx="204716" cy="2219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85208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1EC868C-2704-44E9-8B47-F6E70C017E7A}"/>
              </a:ext>
            </a:extLst>
          </p:cNvPr>
          <p:cNvSpPr/>
          <p:nvPr/>
        </p:nvSpPr>
        <p:spPr>
          <a:xfrm>
            <a:off x="3398292" y="3445158"/>
            <a:ext cx="1665027" cy="151490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B024435C-C5D5-4C10-A066-ADDCD46E803E}"/>
              </a:ext>
            </a:extLst>
          </p:cNvPr>
          <p:cNvSpPr/>
          <p:nvPr/>
        </p:nvSpPr>
        <p:spPr>
          <a:xfrm>
            <a:off x="3821867" y="3915155"/>
            <a:ext cx="204716" cy="2219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2663113D-AFD7-43AD-98BF-D3690D2E2FE2}"/>
              </a:ext>
            </a:extLst>
          </p:cNvPr>
          <p:cNvSpPr/>
          <p:nvPr/>
        </p:nvSpPr>
        <p:spPr>
          <a:xfrm>
            <a:off x="4442593" y="3915155"/>
            <a:ext cx="204716" cy="2219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521F9A7D-FFF6-4671-9048-59B10ABF0CF2}"/>
              </a:ext>
            </a:extLst>
          </p:cNvPr>
          <p:cNvSpPr/>
          <p:nvPr/>
        </p:nvSpPr>
        <p:spPr>
          <a:xfrm>
            <a:off x="4128447" y="4376093"/>
            <a:ext cx="204716" cy="2219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76DB022E-7AE4-4803-9F17-B2102E409369}"/>
              </a:ext>
            </a:extLst>
          </p:cNvPr>
          <p:cNvSpPr/>
          <p:nvPr/>
        </p:nvSpPr>
        <p:spPr>
          <a:xfrm>
            <a:off x="6278468" y="3429000"/>
            <a:ext cx="1665027" cy="151490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D9E5E46-2B34-4512-B0FA-CC1DFA7457A2}"/>
              </a:ext>
            </a:extLst>
          </p:cNvPr>
          <p:cNvSpPr/>
          <p:nvPr/>
        </p:nvSpPr>
        <p:spPr>
          <a:xfrm>
            <a:off x="7008623" y="4094842"/>
            <a:ext cx="204716" cy="2219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AFAD78B9-AF36-4C34-942E-833190DBCD10}"/>
              </a:ext>
            </a:extLst>
          </p:cNvPr>
          <p:cNvSpPr/>
          <p:nvPr/>
        </p:nvSpPr>
        <p:spPr>
          <a:xfrm>
            <a:off x="781048" y="3445157"/>
            <a:ext cx="1665027" cy="151490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719BB5A7-2E53-4923-A373-8921A66C4E57}"/>
              </a:ext>
            </a:extLst>
          </p:cNvPr>
          <p:cNvSpPr/>
          <p:nvPr/>
        </p:nvSpPr>
        <p:spPr>
          <a:xfrm>
            <a:off x="9345150" y="3429994"/>
            <a:ext cx="1665027" cy="1514901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0010C3E4-888B-460E-A64F-AAB557D5A084}"/>
              </a:ext>
            </a:extLst>
          </p:cNvPr>
          <p:cNvSpPr/>
          <p:nvPr/>
        </p:nvSpPr>
        <p:spPr>
          <a:xfrm>
            <a:off x="9781393" y="3868038"/>
            <a:ext cx="204716" cy="2219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B5D92701-6B62-41A0-9070-E385AA87CA54}"/>
              </a:ext>
            </a:extLst>
          </p:cNvPr>
          <p:cNvSpPr/>
          <p:nvPr/>
        </p:nvSpPr>
        <p:spPr>
          <a:xfrm>
            <a:off x="10422352" y="3836690"/>
            <a:ext cx="204716" cy="2219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4AA9F4BF-748B-4FD6-AA51-5FF62550B7DF}"/>
              </a:ext>
            </a:extLst>
          </p:cNvPr>
          <p:cNvSpPr/>
          <p:nvPr/>
        </p:nvSpPr>
        <p:spPr>
          <a:xfrm>
            <a:off x="9781393" y="4396193"/>
            <a:ext cx="204716" cy="2219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C9DEA1AB-E5F3-47FD-908A-34EA728EC597}"/>
              </a:ext>
            </a:extLst>
          </p:cNvPr>
          <p:cNvSpPr/>
          <p:nvPr/>
        </p:nvSpPr>
        <p:spPr>
          <a:xfrm>
            <a:off x="10406937" y="4354369"/>
            <a:ext cx="204716" cy="2219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8" name="4 Rectángulo">
            <a:extLst>
              <a:ext uri="{FF2B5EF4-FFF2-40B4-BE49-F238E27FC236}">
                <a16:creationId xmlns:a16="http://schemas.microsoft.com/office/drawing/2014/main" id="{02BEB153-F46D-49EE-9716-FC7061B626E6}"/>
              </a:ext>
            </a:extLst>
          </p:cNvPr>
          <p:cNvSpPr/>
          <p:nvPr/>
        </p:nvSpPr>
        <p:spPr>
          <a:xfrm>
            <a:off x="1168400" y="1035735"/>
            <a:ext cx="10375900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3200" b="1" u="sng" cap="all" dirty="0"/>
              <a:t>Elementos en una Rede de Petri:</a:t>
            </a:r>
          </a:p>
          <a:p>
            <a:pPr algn="just"/>
            <a:endParaRPr lang="es-AR" sz="2800" cap="all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800" cap="all" dirty="0"/>
              <a:t>Marcado de una Red de Petri: es el conjunto de testigos asociado a cada una de las plazas de una red en un instante determinado.</a:t>
            </a:r>
          </a:p>
          <a:p>
            <a:pPr marL="342900" indent="-342900" algn="just">
              <a:buFont typeface="Arial" pitchFamily="34" charset="0"/>
              <a:buChar char="•"/>
            </a:pPr>
            <a:endParaRPr lang="es-AR" sz="2800" cap="all" dirty="0"/>
          </a:p>
          <a:p>
            <a:pPr marL="342900" indent="-342900" algn="just">
              <a:buFont typeface="Arial" pitchFamily="34" charset="0"/>
              <a:buChar char="•"/>
            </a:pPr>
            <a:endParaRPr lang="es-AR" sz="2800" cap="all" dirty="0"/>
          </a:p>
          <a:p>
            <a:pPr marL="342900" indent="-342900" algn="just">
              <a:buFont typeface="Arial" pitchFamily="34" charset="0"/>
              <a:buChar char="•"/>
            </a:pPr>
            <a:endParaRPr lang="es-AR" sz="2800" cap="all" dirty="0"/>
          </a:p>
          <a:p>
            <a:pPr marL="342900" indent="-342900" algn="just">
              <a:buFont typeface="Arial" pitchFamily="34" charset="0"/>
              <a:buChar char="•"/>
            </a:pPr>
            <a:endParaRPr lang="es-AR" sz="2800" cap="all" dirty="0"/>
          </a:p>
          <a:p>
            <a:pPr marL="342900" indent="-342900" algn="just">
              <a:buFont typeface="Arial" pitchFamily="34" charset="0"/>
              <a:buChar char="•"/>
            </a:pPr>
            <a:endParaRPr lang="es-AR" sz="2800" cap="all" dirty="0"/>
          </a:p>
          <a:p>
            <a:pPr marL="342900" indent="-342900" algn="just">
              <a:buFont typeface="Arial" pitchFamily="34" charset="0"/>
              <a:buChar char="•"/>
            </a:pPr>
            <a:endParaRPr lang="es-AR" sz="2800" cap="all" dirty="0"/>
          </a:p>
          <a:p>
            <a:pPr lvl="7" algn="just"/>
            <a:r>
              <a:rPr lang="es-AR" sz="3600" b="1" cap="all" dirty="0"/>
              <a:t>	(0, 3, 1, 4)</a:t>
            </a:r>
          </a:p>
        </p:txBody>
      </p:sp>
    </p:spTree>
    <p:extLst>
      <p:ext uri="{BB962C8B-B14F-4D97-AF65-F5344CB8AC3E}">
        <p14:creationId xmlns:p14="http://schemas.microsoft.com/office/powerpoint/2010/main" val="1667160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cap="all" dirty="0"/>
              <a:t>Elementos en una Rede de Petri:</a:t>
            </a:r>
          </a:p>
          <a:p>
            <a:pPr algn="just"/>
            <a:endParaRPr lang="es-AR" sz="2400" cap="all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400" cap="all" dirty="0"/>
              <a:t>Plaza o lugar: se representa por un círculo.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400" cap="all" dirty="0"/>
              <a:t>Transiciones: segmentos rectilíneos.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400" cap="all" dirty="0"/>
              <a:t>Arcos dirigidos: unen plazas y transiciones.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400" cap="all" dirty="0"/>
              <a:t>Entrada de una transición: una plaza es entrada de una transición si hay un arco dirigido de la plaza a la transición.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400" cap="all" dirty="0"/>
              <a:t>Salida de una transición: una plaza es salida de una transición si hay un arco dirigido de la transición a la plaza.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400" cap="all" dirty="0"/>
              <a:t>Marca o testigo: se representa por un punto dentro de una plaza.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400" cap="all" dirty="0"/>
              <a:t>Cantidad de testigos de una plaza: es de 0 a N.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400" cap="all" dirty="0"/>
              <a:t>Marcado de una Red de Petri: es el conjunto de testigos asociado a cada una de las plazas de una red en un instante determinado.</a:t>
            </a:r>
          </a:p>
        </p:txBody>
      </p:sp>
    </p:spTree>
    <p:extLst>
      <p:ext uri="{BB962C8B-B14F-4D97-AF65-F5344CB8AC3E}">
        <p14:creationId xmlns:p14="http://schemas.microsoft.com/office/powerpoint/2010/main" val="2785761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cap="all" dirty="0"/>
              <a:t>Grafico de una Red de Petri:</a:t>
            </a:r>
          </a:p>
        </p:txBody>
      </p:sp>
      <p:sp>
        <p:nvSpPr>
          <p:cNvPr id="4" name="3 Elipse"/>
          <p:cNvSpPr/>
          <p:nvPr/>
        </p:nvSpPr>
        <p:spPr>
          <a:xfrm>
            <a:off x="709864" y="3031959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5 Elipse"/>
          <p:cNvSpPr/>
          <p:nvPr/>
        </p:nvSpPr>
        <p:spPr>
          <a:xfrm>
            <a:off x="1010652" y="3633536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9 Conector recto"/>
          <p:cNvCxnSpPr/>
          <p:nvPr/>
        </p:nvCxnSpPr>
        <p:spPr>
          <a:xfrm>
            <a:off x="2622885" y="2947737"/>
            <a:ext cx="12031" cy="1118936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Elipse"/>
          <p:cNvSpPr/>
          <p:nvPr/>
        </p:nvSpPr>
        <p:spPr>
          <a:xfrm>
            <a:off x="3725780" y="1776664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16 Elipse"/>
          <p:cNvSpPr/>
          <p:nvPr/>
        </p:nvSpPr>
        <p:spPr>
          <a:xfrm>
            <a:off x="3749843" y="3990475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17 Elipse"/>
          <p:cNvSpPr/>
          <p:nvPr/>
        </p:nvSpPr>
        <p:spPr>
          <a:xfrm>
            <a:off x="7166811" y="1764632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18 Elipse"/>
          <p:cNvSpPr/>
          <p:nvPr/>
        </p:nvSpPr>
        <p:spPr>
          <a:xfrm>
            <a:off x="7311192" y="3978443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19 Elipse"/>
          <p:cNvSpPr/>
          <p:nvPr/>
        </p:nvSpPr>
        <p:spPr>
          <a:xfrm>
            <a:off x="946484" y="3304673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20 Elipse"/>
          <p:cNvSpPr/>
          <p:nvPr/>
        </p:nvSpPr>
        <p:spPr>
          <a:xfrm>
            <a:off x="1307431" y="3424989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21 Elipse"/>
          <p:cNvSpPr/>
          <p:nvPr/>
        </p:nvSpPr>
        <p:spPr>
          <a:xfrm>
            <a:off x="4114799" y="2201779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22 Elipse"/>
          <p:cNvSpPr/>
          <p:nvPr/>
        </p:nvSpPr>
        <p:spPr>
          <a:xfrm>
            <a:off x="4102768" y="4403558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23 Elipse"/>
          <p:cNvSpPr/>
          <p:nvPr/>
        </p:nvSpPr>
        <p:spPr>
          <a:xfrm>
            <a:off x="7579896" y="4247146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24 Elipse"/>
          <p:cNvSpPr/>
          <p:nvPr/>
        </p:nvSpPr>
        <p:spPr>
          <a:xfrm>
            <a:off x="7784432" y="4511842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6" name="25 Conector recto"/>
          <p:cNvCxnSpPr/>
          <p:nvPr/>
        </p:nvCxnSpPr>
        <p:spPr>
          <a:xfrm>
            <a:off x="5939590" y="1692442"/>
            <a:ext cx="12031" cy="1118936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5951623" y="3882190"/>
            <a:ext cx="12031" cy="1118936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>
            <a:off x="9777664" y="2811379"/>
            <a:ext cx="12031" cy="1118936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curvado"/>
          <p:cNvCxnSpPr>
            <a:endCxn id="16" idx="2"/>
          </p:cNvCxnSpPr>
          <p:nvPr/>
        </p:nvCxnSpPr>
        <p:spPr>
          <a:xfrm flipV="1">
            <a:off x="2634916" y="2263943"/>
            <a:ext cx="1090864" cy="960520"/>
          </a:xfrm>
          <a:prstGeom prst="curvedConnector3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curvado"/>
          <p:cNvCxnSpPr>
            <a:endCxn id="17" idx="2"/>
          </p:cNvCxnSpPr>
          <p:nvPr/>
        </p:nvCxnSpPr>
        <p:spPr>
          <a:xfrm>
            <a:off x="2654969" y="3810000"/>
            <a:ext cx="1094874" cy="667754"/>
          </a:xfrm>
          <a:prstGeom prst="curvedConnector3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 de flecha"/>
          <p:cNvCxnSpPr>
            <a:stCxn id="4" idx="6"/>
          </p:cNvCxnSpPr>
          <p:nvPr/>
        </p:nvCxnSpPr>
        <p:spPr>
          <a:xfrm>
            <a:off x="1660358" y="3519238"/>
            <a:ext cx="962526" cy="601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 de flecha"/>
          <p:cNvCxnSpPr>
            <a:stCxn id="16" idx="6"/>
          </p:cNvCxnSpPr>
          <p:nvPr/>
        </p:nvCxnSpPr>
        <p:spPr>
          <a:xfrm flipV="1">
            <a:off x="4676274" y="2249905"/>
            <a:ext cx="1255294" cy="1403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 de flecha"/>
          <p:cNvCxnSpPr>
            <a:stCxn id="17" idx="6"/>
          </p:cNvCxnSpPr>
          <p:nvPr/>
        </p:nvCxnSpPr>
        <p:spPr>
          <a:xfrm flipV="1">
            <a:off x="4700337" y="4475747"/>
            <a:ext cx="1243263" cy="200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 de flecha"/>
          <p:cNvCxnSpPr>
            <a:endCxn id="18" idx="2"/>
          </p:cNvCxnSpPr>
          <p:nvPr/>
        </p:nvCxnSpPr>
        <p:spPr>
          <a:xfrm flipV="1">
            <a:off x="5959643" y="2251911"/>
            <a:ext cx="1207168" cy="802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 de flecha"/>
          <p:cNvCxnSpPr>
            <a:endCxn id="19" idx="2"/>
          </p:cNvCxnSpPr>
          <p:nvPr/>
        </p:nvCxnSpPr>
        <p:spPr>
          <a:xfrm>
            <a:off x="5983706" y="4461712"/>
            <a:ext cx="1327486" cy="401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curvado"/>
          <p:cNvCxnSpPr/>
          <p:nvPr/>
        </p:nvCxnSpPr>
        <p:spPr>
          <a:xfrm>
            <a:off x="8117306" y="2281990"/>
            <a:ext cx="1652336" cy="894347"/>
          </a:xfrm>
          <a:prstGeom prst="curvedConnector3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curvado"/>
          <p:cNvCxnSpPr/>
          <p:nvPr/>
        </p:nvCxnSpPr>
        <p:spPr>
          <a:xfrm flipV="1">
            <a:off x="8273716" y="3597442"/>
            <a:ext cx="1519989" cy="850232"/>
          </a:xfrm>
          <a:prstGeom prst="curvedConnector3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curvado"/>
          <p:cNvCxnSpPr>
            <a:endCxn id="4" idx="2"/>
          </p:cNvCxnSpPr>
          <p:nvPr/>
        </p:nvCxnSpPr>
        <p:spPr>
          <a:xfrm rot="10800000" flipV="1">
            <a:off x="709864" y="3352798"/>
            <a:ext cx="9103896" cy="166439"/>
          </a:xfrm>
          <a:prstGeom prst="curvedConnector5">
            <a:avLst>
              <a:gd name="adj1" fmla="val -13766"/>
              <a:gd name="adj2" fmla="val 1404802"/>
              <a:gd name="adj3" fmla="val 10568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3" name="2072 Conector recto de flecha"/>
          <p:cNvCxnSpPr>
            <a:stCxn id="18" idx="7"/>
          </p:cNvCxnSpPr>
          <p:nvPr/>
        </p:nvCxnSpPr>
        <p:spPr>
          <a:xfrm flipV="1">
            <a:off x="7978108" y="1371600"/>
            <a:ext cx="2621713" cy="53575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2074 Conector recto de flecha"/>
          <p:cNvCxnSpPr>
            <a:stCxn id="24" idx="7"/>
          </p:cNvCxnSpPr>
          <p:nvPr/>
        </p:nvCxnSpPr>
        <p:spPr>
          <a:xfrm flipV="1">
            <a:off x="7744209" y="1684421"/>
            <a:ext cx="2807486" cy="2585631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2076 Conector recto de flecha"/>
          <p:cNvCxnSpPr/>
          <p:nvPr/>
        </p:nvCxnSpPr>
        <p:spPr>
          <a:xfrm flipV="1">
            <a:off x="9336505" y="1997242"/>
            <a:ext cx="1227221" cy="105878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9" name="2078 Conector recto de flecha"/>
          <p:cNvCxnSpPr/>
          <p:nvPr/>
        </p:nvCxnSpPr>
        <p:spPr>
          <a:xfrm flipV="1">
            <a:off x="9793705" y="2286000"/>
            <a:ext cx="830179" cy="529389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37 CuadroTexto"/>
          <p:cNvSpPr txBox="1"/>
          <p:nvPr/>
        </p:nvSpPr>
        <p:spPr>
          <a:xfrm>
            <a:off x="10539663" y="1203158"/>
            <a:ext cx="15400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Plaza</a:t>
            </a:r>
          </a:p>
          <a:p>
            <a:r>
              <a:rPr lang="es-AR" dirty="0"/>
              <a:t>Testigo</a:t>
            </a:r>
          </a:p>
          <a:p>
            <a:r>
              <a:rPr lang="es-AR" dirty="0"/>
              <a:t>Arco dirigido</a:t>
            </a:r>
          </a:p>
          <a:p>
            <a:r>
              <a:rPr lang="es-AR" dirty="0"/>
              <a:t>Transición</a:t>
            </a:r>
          </a:p>
        </p:txBody>
      </p:sp>
    </p:spTree>
    <p:extLst>
      <p:ext uri="{BB962C8B-B14F-4D97-AF65-F5344CB8AC3E}">
        <p14:creationId xmlns:p14="http://schemas.microsoft.com/office/powerpoint/2010/main" val="147015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400" b="1" u="sng" cap="all" dirty="0"/>
              <a:t>Disparo y evolución del marcado:</a:t>
            </a:r>
          </a:p>
          <a:p>
            <a:pPr algn="just"/>
            <a:endParaRPr lang="es-AR" sz="2000" cap="all" dirty="0"/>
          </a:p>
          <a:p>
            <a:pPr algn="just"/>
            <a:r>
              <a:rPr lang="es-AR" sz="2200" cap="all" dirty="0"/>
              <a:t>Las Redes de Petri son útiles para representar procesos concurrentes y sistemas de tiempo real. Deben poder modelizar algún tipo de dinamismo.</a:t>
            </a:r>
          </a:p>
          <a:p>
            <a:pPr algn="just"/>
            <a:endParaRPr lang="es-AR" sz="2200" cap="all" dirty="0"/>
          </a:p>
          <a:p>
            <a:pPr algn="just"/>
            <a:r>
              <a:rPr lang="es-AR" sz="2200" cap="all" dirty="0"/>
              <a:t>El dinamismo, de las Redes de Petri se representa mediante los disparos de transiciones y evolución del marcado.</a:t>
            </a:r>
          </a:p>
          <a:p>
            <a:pPr algn="just"/>
            <a:endParaRPr lang="es-AR" sz="2200" cap="all" dirty="0"/>
          </a:p>
          <a:p>
            <a:pPr algn="just"/>
            <a:r>
              <a:rPr lang="es-AR" sz="2200" cap="all" dirty="0"/>
              <a:t>Proceso de disparo: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200" cap="all" dirty="0"/>
              <a:t>Una transición está habilitada si todas las plazas de entrada están marcadas (con testigos).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200" cap="all" dirty="0"/>
              <a:t>Una transición habilitada se puede disparar.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200" cap="all" dirty="0"/>
              <a:t>El disparo consiste en quitar un testigo de cada plaza de entrada y agregar un testigo a cada plaza de salida.</a:t>
            </a:r>
          </a:p>
        </p:txBody>
      </p:sp>
    </p:spTree>
    <p:extLst>
      <p:ext uri="{BB962C8B-B14F-4D97-AF65-F5344CB8AC3E}">
        <p14:creationId xmlns:p14="http://schemas.microsoft.com/office/powerpoint/2010/main" val="3425322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cap="all" dirty="0"/>
              <a:t>Representación del disparo de una transición habilitada:</a:t>
            </a:r>
          </a:p>
        </p:txBody>
      </p:sp>
      <p:sp>
        <p:nvSpPr>
          <p:cNvPr id="11" name="10 Elipse"/>
          <p:cNvSpPr/>
          <p:nvPr/>
        </p:nvSpPr>
        <p:spPr>
          <a:xfrm>
            <a:off x="513348" y="1909011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Elipse"/>
          <p:cNvSpPr/>
          <p:nvPr/>
        </p:nvSpPr>
        <p:spPr>
          <a:xfrm>
            <a:off x="501318" y="4495801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Elipse"/>
          <p:cNvSpPr/>
          <p:nvPr/>
        </p:nvSpPr>
        <p:spPr>
          <a:xfrm>
            <a:off x="3509211" y="1909011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Elipse"/>
          <p:cNvSpPr/>
          <p:nvPr/>
        </p:nvSpPr>
        <p:spPr>
          <a:xfrm>
            <a:off x="3581401" y="4435643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7" name="16 Conector recto"/>
          <p:cNvCxnSpPr/>
          <p:nvPr/>
        </p:nvCxnSpPr>
        <p:spPr>
          <a:xfrm>
            <a:off x="2450432" y="3076073"/>
            <a:ext cx="12031" cy="1118936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curvado"/>
          <p:cNvCxnSpPr>
            <a:endCxn id="14" idx="2"/>
          </p:cNvCxnSpPr>
          <p:nvPr/>
        </p:nvCxnSpPr>
        <p:spPr>
          <a:xfrm flipV="1">
            <a:off x="2466474" y="2396290"/>
            <a:ext cx="1042737" cy="912394"/>
          </a:xfrm>
          <a:prstGeom prst="curvedConnector3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curvado"/>
          <p:cNvCxnSpPr>
            <a:stCxn id="11" idx="6"/>
          </p:cNvCxnSpPr>
          <p:nvPr/>
        </p:nvCxnSpPr>
        <p:spPr>
          <a:xfrm>
            <a:off x="1463842" y="2396290"/>
            <a:ext cx="1002632" cy="924426"/>
          </a:xfrm>
          <a:prstGeom prst="curvedConnector3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curvado"/>
          <p:cNvCxnSpPr>
            <a:stCxn id="13" idx="6"/>
          </p:cNvCxnSpPr>
          <p:nvPr/>
        </p:nvCxnSpPr>
        <p:spPr>
          <a:xfrm flipV="1">
            <a:off x="1451812" y="3994484"/>
            <a:ext cx="1002630" cy="988596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curvado"/>
          <p:cNvCxnSpPr>
            <a:endCxn id="16" idx="2"/>
          </p:cNvCxnSpPr>
          <p:nvPr/>
        </p:nvCxnSpPr>
        <p:spPr>
          <a:xfrm>
            <a:off x="2490537" y="4006516"/>
            <a:ext cx="1090864" cy="916406"/>
          </a:xfrm>
          <a:prstGeom prst="curvedConnector3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28 Flecha derecha"/>
          <p:cNvSpPr/>
          <p:nvPr/>
        </p:nvSpPr>
        <p:spPr>
          <a:xfrm>
            <a:off x="4969042" y="3284621"/>
            <a:ext cx="1864895" cy="637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Disparo de t</a:t>
            </a:r>
          </a:p>
        </p:txBody>
      </p:sp>
      <p:sp>
        <p:nvSpPr>
          <p:cNvPr id="33" name="32 Elipse"/>
          <p:cNvSpPr/>
          <p:nvPr/>
        </p:nvSpPr>
        <p:spPr>
          <a:xfrm>
            <a:off x="914399" y="2346158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33 Elipse"/>
          <p:cNvSpPr/>
          <p:nvPr/>
        </p:nvSpPr>
        <p:spPr>
          <a:xfrm>
            <a:off x="878304" y="4716379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5" name="34 Elipse"/>
          <p:cNvSpPr/>
          <p:nvPr/>
        </p:nvSpPr>
        <p:spPr>
          <a:xfrm>
            <a:off x="697830" y="5053263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6" name="35 Elipse"/>
          <p:cNvSpPr/>
          <p:nvPr/>
        </p:nvSpPr>
        <p:spPr>
          <a:xfrm>
            <a:off x="1046746" y="5017168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7" name="36 Elipse"/>
          <p:cNvSpPr/>
          <p:nvPr/>
        </p:nvSpPr>
        <p:spPr>
          <a:xfrm>
            <a:off x="3934326" y="2286000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37 Elipse"/>
          <p:cNvSpPr/>
          <p:nvPr/>
        </p:nvSpPr>
        <p:spPr>
          <a:xfrm>
            <a:off x="7535779" y="1880937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9" name="38 Elipse"/>
          <p:cNvSpPr/>
          <p:nvPr/>
        </p:nvSpPr>
        <p:spPr>
          <a:xfrm>
            <a:off x="7523749" y="4467727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0" name="39 Elipse"/>
          <p:cNvSpPr/>
          <p:nvPr/>
        </p:nvSpPr>
        <p:spPr>
          <a:xfrm>
            <a:off x="10531642" y="1880937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1" name="40 Elipse"/>
          <p:cNvSpPr/>
          <p:nvPr/>
        </p:nvSpPr>
        <p:spPr>
          <a:xfrm>
            <a:off x="10603832" y="4407569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2" name="41 Conector recto"/>
          <p:cNvCxnSpPr/>
          <p:nvPr/>
        </p:nvCxnSpPr>
        <p:spPr>
          <a:xfrm>
            <a:off x="9472863" y="3047999"/>
            <a:ext cx="12031" cy="1118936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curvado"/>
          <p:cNvCxnSpPr>
            <a:endCxn id="40" idx="2"/>
          </p:cNvCxnSpPr>
          <p:nvPr/>
        </p:nvCxnSpPr>
        <p:spPr>
          <a:xfrm flipV="1">
            <a:off x="9488905" y="2368216"/>
            <a:ext cx="1042737" cy="912394"/>
          </a:xfrm>
          <a:prstGeom prst="curvedConnector3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curvado"/>
          <p:cNvCxnSpPr>
            <a:stCxn id="38" idx="6"/>
          </p:cNvCxnSpPr>
          <p:nvPr/>
        </p:nvCxnSpPr>
        <p:spPr>
          <a:xfrm>
            <a:off x="8486273" y="2368216"/>
            <a:ext cx="1002632" cy="924426"/>
          </a:xfrm>
          <a:prstGeom prst="curvedConnector3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curvado"/>
          <p:cNvCxnSpPr>
            <a:stCxn id="39" idx="6"/>
          </p:cNvCxnSpPr>
          <p:nvPr/>
        </p:nvCxnSpPr>
        <p:spPr>
          <a:xfrm flipV="1">
            <a:off x="8474243" y="3966410"/>
            <a:ext cx="1002630" cy="988596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curvado"/>
          <p:cNvCxnSpPr>
            <a:endCxn id="41" idx="2"/>
          </p:cNvCxnSpPr>
          <p:nvPr/>
        </p:nvCxnSpPr>
        <p:spPr>
          <a:xfrm>
            <a:off x="9512968" y="3978442"/>
            <a:ext cx="1090864" cy="916406"/>
          </a:xfrm>
          <a:prstGeom prst="curvedConnector3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46 Elipse"/>
          <p:cNvSpPr/>
          <p:nvPr/>
        </p:nvSpPr>
        <p:spPr>
          <a:xfrm>
            <a:off x="11028946" y="2402305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8" name="47 Elipse"/>
          <p:cNvSpPr/>
          <p:nvPr/>
        </p:nvSpPr>
        <p:spPr>
          <a:xfrm>
            <a:off x="7768387" y="4724400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9" name="48 Elipse"/>
          <p:cNvSpPr/>
          <p:nvPr/>
        </p:nvSpPr>
        <p:spPr>
          <a:xfrm>
            <a:off x="10968788" y="4796589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0" name="49 Elipse"/>
          <p:cNvSpPr/>
          <p:nvPr/>
        </p:nvSpPr>
        <p:spPr>
          <a:xfrm>
            <a:off x="8009019" y="5013157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1" name="50 Elipse"/>
          <p:cNvSpPr/>
          <p:nvPr/>
        </p:nvSpPr>
        <p:spPr>
          <a:xfrm>
            <a:off x="10788315" y="2125578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2" name="51 CuadroTexto"/>
          <p:cNvSpPr txBox="1"/>
          <p:nvPr/>
        </p:nvSpPr>
        <p:spPr>
          <a:xfrm>
            <a:off x="2346159" y="2658979"/>
            <a:ext cx="216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t</a:t>
            </a:r>
          </a:p>
        </p:txBody>
      </p:sp>
      <p:sp>
        <p:nvSpPr>
          <p:cNvPr id="53" name="52 CuadroTexto"/>
          <p:cNvSpPr txBox="1"/>
          <p:nvPr/>
        </p:nvSpPr>
        <p:spPr>
          <a:xfrm>
            <a:off x="9332496" y="2630906"/>
            <a:ext cx="216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316223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400" b="1" u="sng" cap="all" dirty="0"/>
              <a:t>Disparo en redes con arcos etiquetados:</a:t>
            </a:r>
          </a:p>
          <a:p>
            <a:pPr algn="just"/>
            <a:endParaRPr lang="es-AR" sz="2200" cap="all" dirty="0"/>
          </a:p>
          <a:p>
            <a:pPr algn="just"/>
            <a:r>
              <a:rPr lang="es-AR" sz="2200" cap="all" dirty="0"/>
              <a:t>Las redes con arcos etiquetados están representando la cantidad de testigo requeridos para habilitar una transición y la cantidad de testigos que se mueven en un disparo.</a:t>
            </a:r>
          </a:p>
          <a:p>
            <a:pPr algn="just"/>
            <a:endParaRPr lang="es-AR" sz="2200" cap="all" dirty="0"/>
          </a:p>
          <a:p>
            <a:pPr algn="just"/>
            <a:r>
              <a:rPr lang="es-AR" sz="2200" cap="all" dirty="0"/>
              <a:t>Proceso de disparo: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200" cap="all" dirty="0"/>
              <a:t>Una transición está habilitada si todas las plazas de entrada están marcadas con una cantidad de testigos igual o mayor a la etiqueta del arco que une la plaza con la transición.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200" cap="all" dirty="0"/>
              <a:t>Una transición habilitada se puede disparar.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200" cap="all" dirty="0"/>
              <a:t>El disparo consiste en quitar la cantidad de testigos de cada plaza de entrada igual a la etiqueta del arco entre la plaza y la transición y agregar la cantidad de testigos a cada plaza de salida igual a la etiqueta de los arcos que unen la transición con la plaza.</a:t>
            </a:r>
          </a:p>
        </p:txBody>
      </p:sp>
    </p:spTree>
    <p:extLst>
      <p:ext uri="{BB962C8B-B14F-4D97-AF65-F5344CB8AC3E}">
        <p14:creationId xmlns:p14="http://schemas.microsoft.com/office/powerpoint/2010/main" val="4056294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10 Elipse"/>
          <p:cNvSpPr/>
          <p:nvPr/>
        </p:nvSpPr>
        <p:spPr>
          <a:xfrm>
            <a:off x="513348" y="1909011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Elipse"/>
          <p:cNvSpPr/>
          <p:nvPr/>
        </p:nvSpPr>
        <p:spPr>
          <a:xfrm>
            <a:off x="501318" y="4495801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Elipse"/>
          <p:cNvSpPr/>
          <p:nvPr/>
        </p:nvSpPr>
        <p:spPr>
          <a:xfrm>
            <a:off x="3509211" y="1909011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Elipse"/>
          <p:cNvSpPr/>
          <p:nvPr/>
        </p:nvSpPr>
        <p:spPr>
          <a:xfrm>
            <a:off x="3581401" y="4435643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7" name="16 Conector recto"/>
          <p:cNvCxnSpPr/>
          <p:nvPr/>
        </p:nvCxnSpPr>
        <p:spPr>
          <a:xfrm>
            <a:off x="2450432" y="3076073"/>
            <a:ext cx="12031" cy="1118936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curvado"/>
          <p:cNvCxnSpPr>
            <a:endCxn id="14" idx="2"/>
          </p:cNvCxnSpPr>
          <p:nvPr/>
        </p:nvCxnSpPr>
        <p:spPr>
          <a:xfrm flipV="1">
            <a:off x="2466474" y="2396290"/>
            <a:ext cx="1042737" cy="912394"/>
          </a:xfrm>
          <a:prstGeom prst="curvedConnector3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curvado"/>
          <p:cNvCxnSpPr>
            <a:stCxn id="11" idx="6"/>
          </p:cNvCxnSpPr>
          <p:nvPr/>
        </p:nvCxnSpPr>
        <p:spPr>
          <a:xfrm>
            <a:off x="1463842" y="2396290"/>
            <a:ext cx="1002632" cy="924426"/>
          </a:xfrm>
          <a:prstGeom prst="curvedConnector3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curvado"/>
          <p:cNvCxnSpPr>
            <a:stCxn id="13" idx="6"/>
          </p:cNvCxnSpPr>
          <p:nvPr/>
        </p:nvCxnSpPr>
        <p:spPr>
          <a:xfrm flipV="1">
            <a:off x="1451812" y="3994484"/>
            <a:ext cx="1002630" cy="988596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curvado"/>
          <p:cNvCxnSpPr>
            <a:endCxn id="16" idx="2"/>
          </p:cNvCxnSpPr>
          <p:nvPr/>
        </p:nvCxnSpPr>
        <p:spPr>
          <a:xfrm>
            <a:off x="2490537" y="4006516"/>
            <a:ext cx="1090864" cy="916406"/>
          </a:xfrm>
          <a:prstGeom prst="curvedConnector3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28 Flecha derecha"/>
          <p:cNvSpPr/>
          <p:nvPr/>
        </p:nvSpPr>
        <p:spPr>
          <a:xfrm>
            <a:off x="4969042" y="3284621"/>
            <a:ext cx="1864895" cy="637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Disparo de t</a:t>
            </a:r>
          </a:p>
        </p:txBody>
      </p:sp>
      <p:sp>
        <p:nvSpPr>
          <p:cNvPr id="33" name="32 Elipse"/>
          <p:cNvSpPr/>
          <p:nvPr/>
        </p:nvSpPr>
        <p:spPr>
          <a:xfrm>
            <a:off x="914399" y="2346158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33 Elipse"/>
          <p:cNvSpPr/>
          <p:nvPr/>
        </p:nvSpPr>
        <p:spPr>
          <a:xfrm>
            <a:off x="878304" y="4716379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5" name="34 Elipse"/>
          <p:cNvSpPr/>
          <p:nvPr/>
        </p:nvSpPr>
        <p:spPr>
          <a:xfrm>
            <a:off x="697830" y="5053263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6" name="35 Elipse"/>
          <p:cNvSpPr/>
          <p:nvPr/>
        </p:nvSpPr>
        <p:spPr>
          <a:xfrm>
            <a:off x="1046746" y="5017168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7" name="36 Elipse"/>
          <p:cNvSpPr/>
          <p:nvPr/>
        </p:nvSpPr>
        <p:spPr>
          <a:xfrm>
            <a:off x="3934326" y="2286000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37 Elipse"/>
          <p:cNvSpPr/>
          <p:nvPr/>
        </p:nvSpPr>
        <p:spPr>
          <a:xfrm>
            <a:off x="7535779" y="1880937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9" name="38 Elipse"/>
          <p:cNvSpPr/>
          <p:nvPr/>
        </p:nvSpPr>
        <p:spPr>
          <a:xfrm>
            <a:off x="7523749" y="4467727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0" name="39 Elipse"/>
          <p:cNvSpPr/>
          <p:nvPr/>
        </p:nvSpPr>
        <p:spPr>
          <a:xfrm>
            <a:off x="10531642" y="1880937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1" name="40 Elipse"/>
          <p:cNvSpPr/>
          <p:nvPr/>
        </p:nvSpPr>
        <p:spPr>
          <a:xfrm>
            <a:off x="10603832" y="4407569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2" name="41 Conector recto"/>
          <p:cNvCxnSpPr/>
          <p:nvPr/>
        </p:nvCxnSpPr>
        <p:spPr>
          <a:xfrm>
            <a:off x="9472863" y="3047999"/>
            <a:ext cx="12031" cy="1118936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curvado"/>
          <p:cNvCxnSpPr>
            <a:endCxn id="40" idx="2"/>
          </p:cNvCxnSpPr>
          <p:nvPr/>
        </p:nvCxnSpPr>
        <p:spPr>
          <a:xfrm flipV="1">
            <a:off x="9488905" y="2368216"/>
            <a:ext cx="1042737" cy="912394"/>
          </a:xfrm>
          <a:prstGeom prst="curvedConnector3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curvado"/>
          <p:cNvCxnSpPr>
            <a:stCxn id="38" idx="6"/>
          </p:cNvCxnSpPr>
          <p:nvPr/>
        </p:nvCxnSpPr>
        <p:spPr>
          <a:xfrm>
            <a:off x="8486273" y="2368216"/>
            <a:ext cx="1002632" cy="924426"/>
          </a:xfrm>
          <a:prstGeom prst="curvedConnector3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curvado"/>
          <p:cNvCxnSpPr>
            <a:stCxn id="39" idx="6"/>
          </p:cNvCxnSpPr>
          <p:nvPr/>
        </p:nvCxnSpPr>
        <p:spPr>
          <a:xfrm flipV="1">
            <a:off x="8474243" y="3966410"/>
            <a:ext cx="1002630" cy="988596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curvado"/>
          <p:cNvCxnSpPr>
            <a:endCxn id="41" idx="2"/>
          </p:cNvCxnSpPr>
          <p:nvPr/>
        </p:nvCxnSpPr>
        <p:spPr>
          <a:xfrm>
            <a:off x="9512968" y="3978442"/>
            <a:ext cx="1090864" cy="916406"/>
          </a:xfrm>
          <a:prstGeom prst="curvedConnector3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46 Elipse"/>
          <p:cNvSpPr/>
          <p:nvPr/>
        </p:nvSpPr>
        <p:spPr>
          <a:xfrm>
            <a:off x="11028946" y="2402305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8" name="47 Elipse"/>
          <p:cNvSpPr/>
          <p:nvPr/>
        </p:nvSpPr>
        <p:spPr>
          <a:xfrm>
            <a:off x="7900735" y="4844716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9" name="48 Elipse"/>
          <p:cNvSpPr/>
          <p:nvPr/>
        </p:nvSpPr>
        <p:spPr>
          <a:xfrm>
            <a:off x="11197388" y="4977063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0" name="49 Elipse"/>
          <p:cNvSpPr/>
          <p:nvPr/>
        </p:nvSpPr>
        <p:spPr>
          <a:xfrm>
            <a:off x="10992851" y="4640179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1" name="50 Elipse"/>
          <p:cNvSpPr/>
          <p:nvPr/>
        </p:nvSpPr>
        <p:spPr>
          <a:xfrm>
            <a:off x="10788315" y="2125578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2" name="51 Rectángulo"/>
          <p:cNvSpPr/>
          <p:nvPr/>
        </p:nvSpPr>
        <p:spPr>
          <a:xfrm>
            <a:off x="1168400" y="1035735"/>
            <a:ext cx="103759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000" b="1" u="sng" cap="all" dirty="0"/>
              <a:t>Representación del disparo de una transición con arcos etiquetados: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3068054" y="4126832"/>
            <a:ext cx="28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3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1612232" y="4283242"/>
            <a:ext cx="276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2</a:t>
            </a:r>
          </a:p>
        </p:txBody>
      </p:sp>
      <p:sp>
        <p:nvSpPr>
          <p:cNvPr id="53" name="52 CuadroTexto"/>
          <p:cNvSpPr txBox="1"/>
          <p:nvPr/>
        </p:nvSpPr>
        <p:spPr>
          <a:xfrm>
            <a:off x="8658727" y="4158916"/>
            <a:ext cx="276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2</a:t>
            </a:r>
          </a:p>
        </p:txBody>
      </p:sp>
      <p:sp>
        <p:nvSpPr>
          <p:cNvPr id="54" name="53 CuadroTexto"/>
          <p:cNvSpPr txBox="1"/>
          <p:nvPr/>
        </p:nvSpPr>
        <p:spPr>
          <a:xfrm>
            <a:off x="10102518" y="4158917"/>
            <a:ext cx="28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3</a:t>
            </a:r>
          </a:p>
        </p:txBody>
      </p:sp>
      <p:sp>
        <p:nvSpPr>
          <p:cNvPr id="55" name="54 Elipse"/>
          <p:cNvSpPr/>
          <p:nvPr/>
        </p:nvSpPr>
        <p:spPr>
          <a:xfrm>
            <a:off x="10788314" y="4977063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6 CuadroTexto"/>
          <p:cNvSpPr txBox="1"/>
          <p:nvPr/>
        </p:nvSpPr>
        <p:spPr>
          <a:xfrm>
            <a:off x="3934326" y="5594684"/>
            <a:ext cx="4336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u="sng" cap="all" dirty="0"/>
              <a:t>Nota</a:t>
            </a:r>
            <a:r>
              <a:rPr lang="es-AR" b="1" cap="all" dirty="0"/>
              <a:t>: los arcos no etiquetados tienen un peso equivalente a uno (1)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2346159" y="2658979"/>
            <a:ext cx="216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t</a:t>
            </a:r>
          </a:p>
        </p:txBody>
      </p:sp>
      <p:sp>
        <p:nvSpPr>
          <p:cNvPr id="56" name="55 CuadroTexto"/>
          <p:cNvSpPr txBox="1"/>
          <p:nvPr/>
        </p:nvSpPr>
        <p:spPr>
          <a:xfrm>
            <a:off x="9344528" y="2606842"/>
            <a:ext cx="216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769966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44337" y="975577"/>
            <a:ext cx="103759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cap="all" dirty="0"/>
              <a:t>Programación concurrente:</a:t>
            </a:r>
          </a:p>
          <a:p>
            <a:pPr algn="just"/>
            <a:endParaRPr lang="es-AR" sz="2400" cap="all" dirty="0"/>
          </a:p>
          <a:p>
            <a:pPr algn="just"/>
            <a:r>
              <a:rPr lang="es-AR" sz="2400" cap="all" dirty="0"/>
              <a:t>Las Redes de Petri son una herramienta ideal para modelizar procesos concurrentes y su dinamismo. </a:t>
            </a:r>
          </a:p>
          <a:p>
            <a:pPr algn="just"/>
            <a:endParaRPr lang="es-AR" sz="2400" cap="all" dirty="0"/>
          </a:p>
          <a:p>
            <a:pPr algn="just"/>
            <a:r>
              <a:rPr lang="es-AR" sz="2400" cap="all" dirty="0"/>
              <a:t>La forma de interpretar cada elemento de la programación concurrente con los elementos de una Red de Petri es la siguiente:</a:t>
            </a:r>
          </a:p>
          <a:p>
            <a:pPr algn="just"/>
            <a:endParaRPr lang="es-AR" sz="2400" cap="all" dirty="0"/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400" cap="all" dirty="0"/>
              <a:t>Transiciones: representan los procesos del programa.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400" cap="all" dirty="0"/>
              <a:t>Plazas: representan las condiciones necesarias para que se ejecute un proceso.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400" cap="all" dirty="0"/>
              <a:t>Arcos dirigidos: relacionan condiciones y procesos.</a:t>
            </a:r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400" cap="all" dirty="0"/>
              <a:t>Testigos: si están presentes en una plaza indican que se verifica la condición que representa esa plaza.</a:t>
            </a:r>
          </a:p>
        </p:txBody>
      </p:sp>
    </p:spTree>
    <p:extLst>
      <p:ext uri="{BB962C8B-B14F-4D97-AF65-F5344CB8AC3E}">
        <p14:creationId xmlns:p14="http://schemas.microsoft.com/office/powerpoint/2010/main" val="229915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62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32305" y="951514"/>
            <a:ext cx="103759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cap="all" dirty="0"/>
              <a:t>Exclusión mutua:</a:t>
            </a:r>
          </a:p>
        </p:txBody>
      </p:sp>
      <p:sp>
        <p:nvSpPr>
          <p:cNvPr id="11" name="10 Elipse"/>
          <p:cNvSpPr/>
          <p:nvPr/>
        </p:nvSpPr>
        <p:spPr>
          <a:xfrm>
            <a:off x="5931568" y="3753852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Elipse"/>
          <p:cNvSpPr/>
          <p:nvPr/>
        </p:nvSpPr>
        <p:spPr>
          <a:xfrm>
            <a:off x="1608222" y="1511969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Elipse"/>
          <p:cNvSpPr/>
          <p:nvPr/>
        </p:nvSpPr>
        <p:spPr>
          <a:xfrm>
            <a:off x="1981201" y="1896980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3" name="32 Elipse"/>
          <p:cNvSpPr/>
          <p:nvPr/>
        </p:nvSpPr>
        <p:spPr>
          <a:xfrm>
            <a:off x="2879559" y="3360822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33 Elipse"/>
          <p:cNvSpPr/>
          <p:nvPr/>
        </p:nvSpPr>
        <p:spPr>
          <a:xfrm>
            <a:off x="1628275" y="5189622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5" name="34 Conector recto"/>
          <p:cNvCxnSpPr/>
          <p:nvPr/>
        </p:nvCxnSpPr>
        <p:spPr>
          <a:xfrm flipH="1">
            <a:off x="2711118" y="2855496"/>
            <a:ext cx="1331491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 flipH="1">
            <a:off x="2791330" y="4800601"/>
            <a:ext cx="1331491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40 Elipse"/>
          <p:cNvSpPr/>
          <p:nvPr/>
        </p:nvSpPr>
        <p:spPr>
          <a:xfrm>
            <a:off x="8097254" y="3416968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2" name="41 Conector recto"/>
          <p:cNvCxnSpPr/>
          <p:nvPr/>
        </p:nvCxnSpPr>
        <p:spPr>
          <a:xfrm flipH="1">
            <a:off x="7928813" y="2911642"/>
            <a:ext cx="1331491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"/>
          <p:cNvCxnSpPr/>
          <p:nvPr/>
        </p:nvCxnSpPr>
        <p:spPr>
          <a:xfrm flipH="1">
            <a:off x="8009025" y="4856747"/>
            <a:ext cx="1331491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43 Elipse"/>
          <p:cNvSpPr/>
          <p:nvPr/>
        </p:nvSpPr>
        <p:spPr>
          <a:xfrm>
            <a:off x="9773655" y="1483895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5" name="44 Elipse"/>
          <p:cNvSpPr/>
          <p:nvPr/>
        </p:nvSpPr>
        <p:spPr>
          <a:xfrm>
            <a:off x="10146634" y="1880938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6" name="45 Elipse"/>
          <p:cNvSpPr/>
          <p:nvPr/>
        </p:nvSpPr>
        <p:spPr>
          <a:xfrm>
            <a:off x="9661360" y="5197643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7" name="46 Elipse"/>
          <p:cNvSpPr/>
          <p:nvPr/>
        </p:nvSpPr>
        <p:spPr>
          <a:xfrm>
            <a:off x="5554581" y="3352801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8" name="47 Conector curvado"/>
          <p:cNvCxnSpPr>
            <a:stCxn id="13" idx="6"/>
          </p:cNvCxnSpPr>
          <p:nvPr/>
        </p:nvCxnSpPr>
        <p:spPr>
          <a:xfrm>
            <a:off x="2558716" y="1999248"/>
            <a:ext cx="629651" cy="828173"/>
          </a:xfrm>
          <a:prstGeom prst="curved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curvado"/>
          <p:cNvCxnSpPr>
            <a:endCxn id="34" idx="6"/>
          </p:cNvCxnSpPr>
          <p:nvPr/>
        </p:nvCxnSpPr>
        <p:spPr>
          <a:xfrm rot="5400000">
            <a:off x="2379244" y="5024188"/>
            <a:ext cx="852238" cy="453188"/>
          </a:xfrm>
          <a:prstGeom prst="curved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 de flecha"/>
          <p:cNvCxnSpPr>
            <a:endCxn id="33" idx="0"/>
          </p:cNvCxnSpPr>
          <p:nvPr/>
        </p:nvCxnSpPr>
        <p:spPr>
          <a:xfrm>
            <a:off x="3344778" y="2839453"/>
            <a:ext cx="10028" cy="52136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 de flecha"/>
          <p:cNvCxnSpPr>
            <a:stCxn id="33" idx="4"/>
          </p:cNvCxnSpPr>
          <p:nvPr/>
        </p:nvCxnSpPr>
        <p:spPr>
          <a:xfrm>
            <a:off x="3354806" y="4335380"/>
            <a:ext cx="26067" cy="4531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 de flecha"/>
          <p:cNvCxnSpPr>
            <a:stCxn id="41" idx="4"/>
          </p:cNvCxnSpPr>
          <p:nvPr/>
        </p:nvCxnSpPr>
        <p:spPr>
          <a:xfrm>
            <a:off x="8572501" y="4391526"/>
            <a:ext cx="30077" cy="48126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65 Conector recto de flecha"/>
          <p:cNvCxnSpPr>
            <a:endCxn id="41" idx="0"/>
          </p:cNvCxnSpPr>
          <p:nvPr/>
        </p:nvCxnSpPr>
        <p:spPr>
          <a:xfrm>
            <a:off x="8552449" y="2939717"/>
            <a:ext cx="20052" cy="47725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67 Conector curvado"/>
          <p:cNvCxnSpPr>
            <a:stCxn id="44" idx="2"/>
          </p:cNvCxnSpPr>
          <p:nvPr/>
        </p:nvCxnSpPr>
        <p:spPr>
          <a:xfrm rot="10800000" flipV="1">
            <a:off x="8891337" y="1971173"/>
            <a:ext cx="882319" cy="904373"/>
          </a:xfrm>
          <a:prstGeom prst="curved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73 Conector curvado"/>
          <p:cNvCxnSpPr>
            <a:endCxn id="46" idx="2"/>
          </p:cNvCxnSpPr>
          <p:nvPr/>
        </p:nvCxnSpPr>
        <p:spPr>
          <a:xfrm rot="16200000" flipH="1">
            <a:off x="8930440" y="4954001"/>
            <a:ext cx="788069" cy="673771"/>
          </a:xfrm>
          <a:prstGeom prst="curved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133 Conector recto de flecha"/>
          <p:cNvCxnSpPr/>
          <p:nvPr/>
        </p:nvCxnSpPr>
        <p:spPr>
          <a:xfrm>
            <a:off x="3677652" y="2330116"/>
            <a:ext cx="10028" cy="52136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100 Conector recto"/>
          <p:cNvCxnSpPr/>
          <p:nvPr/>
        </p:nvCxnSpPr>
        <p:spPr>
          <a:xfrm flipV="1">
            <a:off x="3693695" y="2337274"/>
            <a:ext cx="1528010" cy="888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139 Conector recto"/>
          <p:cNvCxnSpPr>
            <a:stCxn id="47" idx="1"/>
          </p:cNvCxnSpPr>
          <p:nvPr/>
        </p:nvCxnSpPr>
        <p:spPr>
          <a:xfrm flipH="1" flipV="1">
            <a:off x="5233737" y="2334126"/>
            <a:ext cx="460041" cy="116139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142 Conector recto"/>
          <p:cNvCxnSpPr>
            <a:stCxn id="47" idx="7"/>
          </p:cNvCxnSpPr>
          <p:nvPr/>
        </p:nvCxnSpPr>
        <p:spPr>
          <a:xfrm flipV="1">
            <a:off x="6365878" y="2346158"/>
            <a:ext cx="299617" cy="114936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144 Conector recto de flecha"/>
          <p:cNvCxnSpPr/>
          <p:nvPr/>
        </p:nvCxnSpPr>
        <p:spPr>
          <a:xfrm>
            <a:off x="8317831" y="2374232"/>
            <a:ext cx="10028" cy="52136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145 Conector recto"/>
          <p:cNvCxnSpPr/>
          <p:nvPr/>
        </p:nvCxnSpPr>
        <p:spPr>
          <a:xfrm>
            <a:off x="6677526" y="2346158"/>
            <a:ext cx="1636295" cy="240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149 Conector recto de flecha"/>
          <p:cNvCxnSpPr>
            <a:endCxn id="47" idx="3"/>
          </p:cNvCxnSpPr>
          <p:nvPr/>
        </p:nvCxnSpPr>
        <p:spPr>
          <a:xfrm flipV="1">
            <a:off x="5209674" y="4184638"/>
            <a:ext cx="484104" cy="147020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158 Conector recto de flecha"/>
          <p:cNvCxnSpPr>
            <a:endCxn id="47" idx="5"/>
          </p:cNvCxnSpPr>
          <p:nvPr/>
        </p:nvCxnSpPr>
        <p:spPr>
          <a:xfrm flipH="1" flipV="1">
            <a:off x="6365878" y="4184638"/>
            <a:ext cx="576343" cy="151833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162 Conector recto"/>
          <p:cNvCxnSpPr/>
          <p:nvPr/>
        </p:nvCxnSpPr>
        <p:spPr>
          <a:xfrm flipV="1">
            <a:off x="3665622" y="5641948"/>
            <a:ext cx="1528010" cy="888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163 Conector recto"/>
          <p:cNvCxnSpPr/>
          <p:nvPr/>
        </p:nvCxnSpPr>
        <p:spPr>
          <a:xfrm flipV="1">
            <a:off x="6926180" y="5678905"/>
            <a:ext cx="1423736" cy="200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164 Conector recto"/>
          <p:cNvCxnSpPr/>
          <p:nvPr/>
        </p:nvCxnSpPr>
        <p:spPr>
          <a:xfrm flipV="1">
            <a:off x="3681663" y="4812632"/>
            <a:ext cx="0" cy="85424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167 Conector recto"/>
          <p:cNvCxnSpPr/>
          <p:nvPr/>
        </p:nvCxnSpPr>
        <p:spPr>
          <a:xfrm flipV="1">
            <a:off x="8333874" y="4844716"/>
            <a:ext cx="0" cy="85424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125 CuadroTexto"/>
          <p:cNvSpPr txBox="1"/>
          <p:nvPr/>
        </p:nvSpPr>
        <p:spPr>
          <a:xfrm>
            <a:off x="529390" y="1828800"/>
            <a:ext cx="111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Proceso 1</a:t>
            </a:r>
          </a:p>
        </p:txBody>
      </p:sp>
      <p:sp>
        <p:nvSpPr>
          <p:cNvPr id="171" name="170 CuadroTexto"/>
          <p:cNvSpPr txBox="1"/>
          <p:nvPr/>
        </p:nvSpPr>
        <p:spPr>
          <a:xfrm>
            <a:off x="10740190" y="1764632"/>
            <a:ext cx="111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Proceso 2</a:t>
            </a:r>
          </a:p>
        </p:txBody>
      </p:sp>
      <p:sp>
        <p:nvSpPr>
          <p:cNvPr id="172" name="171 CuadroTexto"/>
          <p:cNvSpPr txBox="1"/>
          <p:nvPr/>
        </p:nvSpPr>
        <p:spPr>
          <a:xfrm>
            <a:off x="5494421" y="4736431"/>
            <a:ext cx="111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Semáforo</a:t>
            </a:r>
          </a:p>
        </p:txBody>
      </p:sp>
    </p:spTree>
    <p:extLst>
      <p:ext uri="{BB962C8B-B14F-4D97-AF65-F5344CB8AC3E}">
        <p14:creationId xmlns:p14="http://schemas.microsoft.com/office/powerpoint/2010/main" val="904388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62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12 Elipse"/>
          <p:cNvSpPr/>
          <p:nvPr/>
        </p:nvSpPr>
        <p:spPr>
          <a:xfrm>
            <a:off x="1608222" y="1511969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Elipse"/>
          <p:cNvSpPr/>
          <p:nvPr/>
        </p:nvSpPr>
        <p:spPr>
          <a:xfrm>
            <a:off x="1981201" y="1896980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3" name="32 Elipse"/>
          <p:cNvSpPr/>
          <p:nvPr/>
        </p:nvSpPr>
        <p:spPr>
          <a:xfrm>
            <a:off x="2879559" y="3360822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5" name="34 Conector recto"/>
          <p:cNvCxnSpPr/>
          <p:nvPr/>
        </p:nvCxnSpPr>
        <p:spPr>
          <a:xfrm flipH="1">
            <a:off x="2711118" y="2855496"/>
            <a:ext cx="1331491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 flipH="1">
            <a:off x="2791330" y="4800601"/>
            <a:ext cx="1331491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40 Elipse"/>
          <p:cNvSpPr/>
          <p:nvPr/>
        </p:nvSpPr>
        <p:spPr>
          <a:xfrm>
            <a:off x="8097254" y="3416968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2" name="41 Conector recto"/>
          <p:cNvCxnSpPr/>
          <p:nvPr/>
        </p:nvCxnSpPr>
        <p:spPr>
          <a:xfrm flipH="1">
            <a:off x="7928813" y="2911642"/>
            <a:ext cx="1331491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"/>
          <p:cNvCxnSpPr/>
          <p:nvPr/>
        </p:nvCxnSpPr>
        <p:spPr>
          <a:xfrm flipH="1">
            <a:off x="8009025" y="4856747"/>
            <a:ext cx="1331491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43 Elipse"/>
          <p:cNvSpPr/>
          <p:nvPr/>
        </p:nvSpPr>
        <p:spPr>
          <a:xfrm>
            <a:off x="9773655" y="1483895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5" name="44 Elipse"/>
          <p:cNvSpPr/>
          <p:nvPr/>
        </p:nvSpPr>
        <p:spPr>
          <a:xfrm>
            <a:off x="10146634" y="1880938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7" name="46 Elipse"/>
          <p:cNvSpPr/>
          <p:nvPr/>
        </p:nvSpPr>
        <p:spPr>
          <a:xfrm>
            <a:off x="5554581" y="3352801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8" name="47 Conector curvado"/>
          <p:cNvCxnSpPr>
            <a:stCxn id="13" idx="6"/>
          </p:cNvCxnSpPr>
          <p:nvPr/>
        </p:nvCxnSpPr>
        <p:spPr>
          <a:xfrm>
            <a:off x="2558716" y="1999248"/>
            <a:ext cx="629651" cy="828173"/>
          </a:xfrm>
          <a:prstGeom prst="curved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curvado"/>
          <p:cNvCxnSpPr>
            <a:endCxn id="13" idx="4"/>
          </p:cNvCxnSpPr>
          <p:nvPr/>
        </p:nvCxnSpPr>
        <p:spPr>
          <a:xfrm rot="16200000" flipV="1">
            <a:off x="1388645" y="3181351"/>
            <a:ext cx="2338136" cy="948488"/>
          </a:xfrm>
          <a:prstGeom prst="curvedConnector3">
            <a:avLst>
              <a:gd name="adj1" fmla="val -4519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 de flecha"/>
          <p:cNvCxnSpPr>
            <a:endCxn id="33" idx="0"/>
          </p:cNvCxnSpPr>
          <p:nvPr/>
        </p:nvCxnSpPr>
        <p:spPr>
          <a:xfrm>
            <a:off x="3344778" y="2839453"/>
            <a:ext cx="10028" cy="52136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 de flecha"/>
          <p:cNvCxnSpPr>
            <a:stCxn id="33" idx="4"/>
          </p:cNvCxnSpPr>
          <p:nvPr/>
        </p:nvCxnSpPr>
        <p:spPr>
          <a:xfrm>
            <a:off x="3354806" y="4335380"/>
            <a:ext cx="26067" cy="4531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 de flecha"/>
          <p:cNvCxnSpPr>
            <a:stCxn id="41" idx="4"/>
          </p:cNvCxnSpPr>
          <p:nvPr/>
        </p:nvCxnSpPr>
        <p:spPr>
          <a:xfrm>
            <a:off x="8572501" y="4391526"/>
            <a:ext cx="30077" cy="48126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65 Conector recto de flecha"/>
          <p:cNvCxnSpPr>
            <a:endCxn id="41" idx="0"/>
          </p:cNvCxnSpPr>
          <p:nvPr/>
        </p:nvCxnSpPr>
        <p:spPr>
          <a:xfrm>
            <a:off x="8552449" y="2939717"/>
            <a:ext cx="20052" cy="47725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67 Conector curvado"/>
          <p:cNvCxnSpPr>
            <a:stCxn id="44" idx="2"/>
          </p:cNvCxnSpPr>
          <p:nvPr/>
        </p:nvCxnSpPr>
        <p:spPr>
          <a:xfrm rot="10800000" flipV="1">
            <a:off x="8891337" y="1971173"/>
            <a:ext cx="882319" cy="904373"/>
          </a:xfrm>
          <a:prstGeom prst="curved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73 Conector curvado"/>
          <p:cNvCxnSpPr>
            <a:endCxn id="44" idx="4"/>
          </p:cNvCxnSpPr>
          <p:nvPr/>
        </p:nvCxnSpPr>
        <p:spPr>
          <a:xfrm rot="5400000" flipH="1" flipV="1">
            <a:off x="8399046" y="3046997"/>
            <a:ext cx="2438399" cy="1261313"/>
          </a:xfrm>
          <a:prstGeom prst="curvedConnector3">
            <a:avLst>
              <a:gd name="adj1" fmla="val -35855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142 Conector recto"/>
          <p:cNvCxnSpPr>
            <a:stCxn id="47" idx="7"/>
          </p:cNvCxnSpPr>
          <p:nvPr/>
        </p:nvCxnSpPr>
        <p:spPr>
          <a:xfrm flipV="1">
            <a:off x="6365878" y="2346158"/>
            <a:ext cx="299617" cy="114936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144 Conector recto de flecha"/>
          <p:cNvCxnSpPr/>
          <p:nvPr/>
        </p:nvCxnSpPr>
        <p:spPr>
          <a:xfrm>
            <a:off x="8317831" y="2374232"/>
            <a:ext cx="10028" cy="52136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145 Conector recto"/>
          <p:cNvCxnSpPr/>
          <p:nvPr/>
        </p:nvCxnSpPr>
        <p:spPr>
          <a:xfrm>
            <a:off x="6677526" y="2346158"/>
            <a:ext cx="1636295" cy="240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149 Conector recto de flecha"/>
          <p:cNvCxnSpPr>
            <a:endCxn id="47" idx="3"/>
          </p:cNvCxnSpPr>
          <p:nvPr/>
        </p:nvCxnSpPr>
        <p:spPr>
          <a:xfrm flipV="1">
            <a:off x="5209674" y="4184638"/>
            <a:ext cx="484104" cy="147020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162 Conector recto"/>
          <p:cNvCxnSpPr/>
          <p:nvPr/>
        </p:nvCxnSpPr>
        <p:spPr>
          <a:xfrm flipV="1">
            <a:off x="3665622" y="5641948"/>
            <a:ext cx="1528010" cy="888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164 Conector recto"/>
          <p:cNvCxnSpPr/>
          <p:nvPr/>
        </p:nvCxnSpPr>
        <p:spPr>
          <a:xfrm flipV="1">
            <a:off x="3681663" y="4812632"/>
            <a:ext cx="0" cy="85424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125 CuadroTexto"/>
          <p:cNvSpPr txBox="1"/>
          <p:nvPr/>
        </p:nvSpPr>
        <p:spPr>
          <a:xfrm>
            <a:off x="457200" y="1756610"/>
            <a:ext cx="1323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Productor</a:t>
            </a:r>
          </a:p>
        </p:txBody>
      </p:sp>
      <p:sp>
        <p:nvSpPr>
          <p:cNvPr id="171" name="170 CuadroTexto"/>
          <p:cNvSpPr txBox="1"/>
          <p:nvPr/>
        </p:nvSpPr>
        <p:spPr>
          <a:xfrm>
            <a:off x="10740190" y="1764632"/>
            <a:ext cx="1363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Consumidor</a:t>
            </a:r>
          </a:p>
        </p:txBody>
      </p:sp>
      <p:sp>
        <p:nvSpPr>
          <p:cNvPr id="172" name="171 CuadroTexto"/>
          <p:cNvSpPr txBox="1"/>
          <p:nvPr/>
        </p:nvSpPr>
        <p:spPr>
          <a:xfrm>
            <a:off x="5698958" y="4363452"/>
            <a:ext cx="786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Buffer</a:t>
            </a:r>
          </a:p>
        </p:txBody>
      </p:sp>
      <p:sp>
        <p:nvSpPr>
          <p:cNvPr id="50" name="49 Rectángulo"/>
          <p:cNvSpPr/>
          <p:nvPr/>
        </p:nvSpPr>
        <p:spPr>
          <a:xfrm>
            <a:off x="1084179" y="903387"/>
            <a:ext cx="103759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cap="all" dirty="0"/>
              <a:t>Productor consumidor con buffer infinito:</a:t>
            </a:r>
          </a:p>
        </p:txBody>
      </p:sp>
      <p:sp>
        <p:nvSpPr>
          <p:cNvPr id="54" name="53 CuadroTexto"/>
          <p:cNvSpPr txBox="1"/>
          <p:nvPr/>
        </p:nvSpPr>
        <p:spPr>
          <a:xfrm>
            <a:off x="3473116" y="3052011"/>
            <a:ext cx="1323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Produce</a:t>
            </a:r>
          </a:p>
        </p:txBody>
      </p:sp>
      <p:sp>
        <p:nvSpPr>
          <p:cNvPr id="56" name="55 CuadroTexto"/>
          <p:cNvSpPr txBox="1"/>
          <p:nvPr/>
        </p:nvSpPr>
        <p:spPr>
          <a:xfrm>
            <a:off x="7271085" y="3252537"/>
            <a:ext cx="1363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Consume</a:t>
            </a:r>
          </a:p>
        </p:txBody>
      </p:sp>
    </p:spTree>
    <p:extLst>
      <p:ext uri="{BB962C8B-B14F-4D97-AF65-F5344CB8AC3E}">
        <p14:creationId xmlns:p14="http://schemas.microsoft.com/office/powerpoint/2010/main" val="2517514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62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12 Elipse"/>
          <p:cNvSpPr/>
          <p:nvPr/>
        </p:nvSpPr>
        <p:spPr>
          <a:xfrm>
            <a:off x="1608222" y="1511969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Elipse"/>
          <p:cNvSpPr/>
          <p:nvPr/>
        </p:nvSpPr>
        <p:spPr>
          <a:xfrm>
            <a:off x="1981201" y="1896980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3" name="32 Elipse"/>
          <p:cNvSpPr/>
          <p:nvPr/>
        </p:nvSpPr>
        <p:spPr>
          <a:xfrm>
            <a:off x="2879559" y="3360822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5" name="34 Conector recto"/>
          <p:cNvCxnSpPr/>
          <p:nvPr/>
        </p:nvCxnSpPr>
        <p:spPr>
          <a:xfrm flipH="1">
            <a:off x="2711118" y="2855496"/>
            <a:ext cx="1331491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 flipH="1">
            <a:off x="2791330" y="4800601"/>
            <a:ext cx="1331491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40 Elipse"/>
          <p:cNvSpPr/>
          <p:nvPr/>
        </p:nvSpPr>
        <p:spPr>
          <a:xfrm>
            <a:off x="8097254" y="3416968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2" name="41 Conector recto"/>
          <p:cNvCxnSpPr/>
          <p:nvPr/>
        </p:nvCxnSpPr>
        <p:spPr>
          <a:xfrm flipH="1">
            <a:off x="7928813" y="2911642"/>
            <a:ext cx="1331491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"/>
          <p:cNvCxnSpPr/>
          <p:nvPr/>
        </p:nvCxnSpPr>
        <p:spPr>
          <a:xfrm flipH="1">
            <a:off x="8009025" y="4856747"/>
            <a:ext cx="1331491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43 Elipse"/>
          <p:cNvSpPr/>
          <p:nvPr/>
        </p:nvSpPr>
        <p:spPr>
          <a:xfrm>
            <a:off x="9773655" y="1483895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5" name="44 Elipse"/>
          <p:cNvSpPr/>
          <p:nvPr/>
        </p:nvSpPr>
        <p:spPr>
          <a:xfrm>
            <a:off x="10146634" y="1880938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7" name="46 Elipse"/>
          <p:cNvSpPr/>
          <p:nvPr/>
        </p:nvSpPr>
        <p:spPr>
          <a:xfrm>
            <a:off x="4014539" y="1536033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8" name="47 Conector curvado"/>
          <p:cNvCxnSpPr>
            <a:stCxn id="13" idx="6"/>
          </p:cNvCxnSpPr>
          <p:nvPr/>
        </p:nvCxnSpPr>
        <p:spPr>
          <a:xfrm>
            <a:off x="2558716" y="1999248"/>
            <a:ext cx="629651" cy="828173"/>
          </a:xfrm>
          <a:prstGeom prst="curved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curvado"/>
          <p:cNvCxnSpPr>
            <a:endCxn id="13" idx="4"/>
          </p:cNvCxnSpPr>
          <p:nvPr/>
        </p:nvCxnSpPr>
        <p:spPr>
          <a:xfrm rot="16200000" flipV="1">
            <a:off x="1388645" y="3181351"/>
            <a:ext cx="2338136" cy="948488"/>
          </a:xfrm>
          <a:prstGeom prst="curvedConnector3">
            <a:avLst>
              <a:gd name="adj1" fmla="val -4519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 de flecha"/>
          <p:cNvCxnSpPr>
            <a:endCxn id="33" idx="0"/>
          </p:cNvCxnSpPr>
          <p:nvPr/>
        </p:nvCxnSpPr>
        <p:spPr>
          <a:xfrm>
            <a:off x="3344778" y="2839453"/>
            <a:ext cx="10028" cy="52136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 de flecha"/>
          <p:cNvCxnSpPr>
            <a:stCxn id="33" idx="4"/>
          </p:cNvCxnSpPr>
          <p:nvPr/>
        </p:nvCxnSpPr>
        <p:spPr>
          <a:xfrm>
            <a:off x="3354806" y="4335380"/>
            <a:ext cx="26067" cy="4531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 de flecha"/>
          <p:cNvCxnSpPr>
            <a:stCxn id="41" idx="4"/>
          </p:cNvCxnSpPr>
          <p:nvPr/>
        </p:nvCxnSpPr>
        <p:spPr>
          <a:xfrm>
            <a:off x="8572501" y="4391526"/>
            <a:ext cx="30077" cy="48126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65 Conector recto de flecha"/>
          <p:cNvCxnSpPr>
            <a:endCxn id="41" idx="0"/>
          </p:cNvCxnSpPr>
          <p:nvPr/>
        </p:nvCxnSpPr>
        <p:spPr>
          <a:xfrm>
            <a:off x="8552449" y="2939717"/>
            <a:ext cx="20052" cy="47725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67 Conector curvado"/>
          <p:cNvCxnSpPr>
            <a:stCxn id="44" idx="2"/>
          </p:cNvCxnSpPr>
          <p:nvPr/>
        </p:nvCxnSpPr>
        <p:spPr>
          <a:xfrm rot="10800000" flipV="1">
            <a:off x="8891337" y="1971173"/>
            <a:ext cx="882319" cy="904373"/>
          </a:xfrm>
          <a:prstGeom prst="curved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73 Conector curvado"/>
          <p:cNvCxnSpPr>
            <a:endCxn id="44" idx="4"/>
          </p:cNvCxnSpPr>
          <p:nvPr/>
        </p:nvCxnSpPr>
        <p:spPr>
          <a:xfrm rot="5400000" flipH="1" flipV="1">
            <a:off x="8399046" y="3046997"/>
            <a:ext cx="2438399" cy="1261313"/>
          </a:xfrm>
          <a:prstGeom prst="curvedConnector3">
            <a:avLst>
              <a:gd name="adj1" fmla="val -35855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125 CuadroTexto"/>
          <p:cNvSpPr txBox="1"/>
          <p:nvPr/>
        </p:nvSpPr>
        <p:spPr>
          <a:xfrm>
            <a:off x="256672" y="1756610"/>
            <a:ext cx="1524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cap="all" dirty="0"/>
              <a:t>Productor</a:t>
            </a:r>
          </a:p>
        </p:txBody>
      </p:sp>
      <p:sp>
        <p:nvSpPr>
          <p:cNvPr id="171" name="170 CuadroTexto"/>
          <p:cNvSpPr txBox="1"/>
          <p:nvPr/>
        </p:nvSpPr>
        <p:spPr>
          <a:xfrm>
            <a:off x="10740190" y="1764632"/>
            <a:ext cx="1363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cap="all" dirty="0"/>
              <a:t>Consumidor</a:t>
            </a:r>
          </a:p>
        </p:txBody>
      </p:sp>
      <p:sp>
        <p:nvSpPr>
          <p:cNvPr id="172" name="171 CuadroTexto"/>
          <p:cNvSpPr txBox="1"/>
          <p:nvPr/>
        </p:nvSpPr>
        <p:spPr>
          <a:xfrm>
            <a:off x="4916904" y="1560094"/>
            <a:ext cx="958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cap="all" dirty="0"/>
              <a:t>Buffer vacíos</a:t>
            </a:r>
          </a:p>
        </p:txBody>
      </p:sp>
      <p:sp>
        <p:nvSpPr>
          <p:cNvPr id="50" name="49 Rectángulo"/>
          <p:cNvSpPr/>
          <p:nvPr/>
        </p:nvSpPr>
        <p:spPr>
          <a:xfrm>
            <a:off x="1084179" y="903387"/>
            <a:ext cx="103759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cap="all" dirty="0"/>
              <a:t>Productor consumidor con buffer finito:</a:t>
            </a:r>
          </a:p>
        </p:txBody>
      </p:sp>
      <p:sp>
        <p:nvSpPr>
          <p:cNvPr id="56" name="55 CuadroTexto"/>
          <p:cNvSpPr txBox="1"/>
          <p:nvPr/>
        </p:nvSpPr>
        <p:spPr>
          <a:xfrm>
            <a:off x="7271085" y="3252537"/>
            <a:ext cx="1363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Consume</a:t>
            </a:r>
          </a:p>
        </p:txBody>
      </p:sp>
      <p:sp>
        <p:nvSpPr>
          <p:cNvPr id="46" name="45 Elipse"/>
          <p:cNvSpPr/>
          <p:nvPr/>
        </p:nvSpPr>
        <p:spPr>
          <a:xfrm>
            <a:off x="6765760" y="1580149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52" name="51 Conector curvado"/>
          <p:cNvCxnSpPr>
            <a:stCxn id="47" idx="2"/>
          </p:cNvCxnSpPr>
          <p:nvPr/>
        </p:nvCxnSpPr>
        <p:spPr>
          <a:xfrm rot="10800000" flipV="1">
            <a:off x="3653589" y="2023312"/>
            <a:ext cx="360951" cy="836194"/>
          </a:xfrm>
          <a:prstGeom prst="curved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curvado"/>
          <p:cNvCxnSpPr>
            <a:stCxn id="46" idx="6"/>
          </p:cNvCxnSpPr>
          <p:nvPr/>
        </p:nvCxnSpPr>
        <p:spPr>
          <a:xfrm>
            <a:off x="7716254" y="2067428"/>
            <a:ext cx="621630" cy="820151"/>
          </a:xfrm>
          <a:prstGeom prst="curved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56 CuadroTexto"/>
          <p:cNvSpPr txBox="1"/>
          <p:nvPr/>
        </p:nvSpPr>
        <p:spPr>
          <a:xfrm>
            <a:off x="5891459" y="1616243"/>
            <a:ext cx="914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cap="all" dirty="0"/>
              <a:t>Buffer llenos</a:t>
            </a:r>
          </a:p>
        </p:txBody>
      </p:sp>
      <p:sp>
        <p:nvSpPr>
          <p:cNvPr id="58" name="57 Elipse"/>
          <p:cNvSpPr/>
          <p:nvPr/>
        </p:nvSpPr>
        <p:spPr>
          <a:xfrm>
            <a:off x="4227095" y="1796718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9" name="58 Elipse"/>
          <p:cNvSpPr/>
          <p:nvPr/>
        </p:nvSpPr>
        <p:spPr>
          <a:xfrm>
            <a:off x="4588043" y="1796717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1" name="60 Elipse"/>
          <p:cNvSpPr/>
          <p:nvPr/>
        </p:nvSpPr>
        <p:spPr>
          <a:xfrm>
            <a:off x="4239127" y="2121569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2" name="61 Elipse"/>
          <p:cNvSpPr/>
          <p:nvPr/>
        </p:nvSpPr>
        <p:spPr>
          <a:xfrm>
            <a:off x="4563980" y="2109538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3" name="62 CuadroTexto"/>
          <p:cNvSpPr txBox="1"/>
          <p:nvPr/>
        </p:nvSpPr>
        <p:spPr>
          <a:xfrm>
            <a:off x="3649579" y="1519990"/>
            <a:ext cx="537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Pp</a:t>
            </a:r>
          </a:p>
        </p:txBody>
      </p:sp>
      <p:sp>
        <p:nvSpPr>
          <p:cNvPr id="65" name="64 CuadroTexto"/>
          <p:cNvSpPr txBox="1"/>
          <p:nvPr/>
        </p:nvSpPr>
        <p:spPr>
          <a:xfrm>
            <a:off x="7579895" y="1515979"/>
            <a:ext cx="537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Pc</a:t>
            </a:r>
          </a:p>
        </p:txBody>
      </p:sp>
      <p:cxnSp>
        <p:nvCxnSpPr>
          <p:cNvPr id="69" name="68 Conector recto de flecha"/>
          <p:cNvCxnSpPr>
            <a:endCxn id="46" idx="3"/>
          </p:cNvCxnSpPr>
          <p:nvPr/>
        </p:nvCxnSpPr>
        <p:spPr>
          <a:xfrm flipV="1">
            <a:off x="3958389" y="2411986"/>
            <a:ext cx="2946568" cy="284581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"/>
          <p:cNvCxnSpPr/>
          <p:nvPr/>
        </p:nvCxnSpPr>
        <p:spPr>
          <a:xfrm flipH="1" flipV="1">
            <a:off x="3681663" y="4812633"/>
            <a:ext cx="288758" cy="42110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75 Conector recto"/>
          <p:cNvCxnSpPr/>
          <p:nvPr/>
        </p:nvCxnSpPr>
        <p:spPr>
          <a:xfrm flipV="1">
            <a:off x="7904747" y="4868780"/>
            <a:ext cx="405063" cy="46120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77 Conector recto de flecha"/>
          <p:cNvCxnSpPr>
            <a:endCxn id="47" idx="5"/>
          </p:cNvCxnSpPr>
          <p:nvPr/>
        </p:nvCxnSpPr>
        <p:spPr>
          <a:xfrm flipH="1" flipV="1">
            <a:off x="4825836" y="2367870"/>
            <a:ext cx="3078911" cy="297415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9" name="2048 CuadroTexto"/>
          <p:cNvSpPr txBox="1"/>
          <p:nvPr/>
        </p:nvSpPr>
        <p:spPr>
          <a:xfrm>
            <a:off x="3260558" y="5317958"/>
            <a:ext cx="5570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b="1" cap="all" dirty="0"/>
              <a:t>El sitio «Buffers llenos» son los productos disponibles y «Buffers vacíos» la cantidad de lugares disponibles en el depósito: Pp + Pc = 4</a:t>
            </a:r>
          </a:p>
        </p:txBody>
      </p:sp>
    </p:spTree>
    <p:extLst>
      <p:ext uri="{BB962C8B-B14F-4D97-AF65-F5344CB8AC3E}">
        <p14:creationId xmlns:p14="http://schemas.microsoft.com/office/powerpoint/2010/main" val="3419873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62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12 Elipse"/>
          <p:cNvSpPr/>
          <p:nvPr/>
        </p:nvSpPr>
        <p:spPr>
          <a:xfrm>
            <a:off x="1187117" y="1499937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Elipse"/>
          <p:cNvSpPr/>
          <p:nvPr/>
        </p:nvSpPr>
        <p:spPr>
          <a:xfrm>
            <a:off x="1560096" y="1884948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3" name="32 Elipse"/>
          <p:cNvSpPr/>
          <p:nvPr/>
        </p:nvSpPr>
        <p:spPr>
          <a:xfrm>
            <a:off x="2458454" y="3348790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33 Elipse"/>
          <p:cNvSpPr/>
          <p:nvPr/>
        </p:nvSpPr>
        <p:spPr>
          <a:xfrm>
            <a:off x="1628275" y="5189622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5" name="34 Conector recto"/>
          <p:cNvCxnSpPr/>
          <p:nvPr/>
        </p:nvCxnSpPr>
        <p:spPr>
          <a:xfrm flipH="1">
            <a:off x="2290013" y="2843464"/>
            <a:ext cx="1331491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 flipH="1">
            <a:off x="2370225" y="4788569"/>
            <a:ext cx="1331491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40 Elipse"/>
          <p:cNvSpPr/>
          <p:nvPr/>
        </p:nvSpPr>
        <p:spPr>
          <a:xfrm>
            <a:off x="5907507" y="3356810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2" name="41 Conector recto"/>
          <p:cNvCxnSpPr/>
          <p:nvPr/>
        </p:nvCxnSpPr>
        <p:spPr>
          <a:xfrm flipH="1">
            <a:off x="5739066" y="2851484"/>
            <a:ext cx="1331491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"/>
          <p:cNvCxnSpPr/>
          <p:nvPr/>
        </p:nvCxnSpPr>
        <p:spPr>
          <a:xfrm flipH="1">
            <a:off x="5819278" y="4796589"/>
            <a:ext cx="1331491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43 Elipse"/>
          <p:cNvSpPr/>
          <p:nvPr/>
        </p:nvSpPr>
        <p:spPr>
          <a:xfrm>
            <a:off x="7271087" y="1435769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5" name="44 Elipse"/>
          <p:cNvSpPr/>
          <p:nvPr/>
        </p:nvSpPr>
        <p:spPr>
          <a:xfrm>
            <a:off x="7632035" y="1784685"/>
            <a:ext cx="192505" cy="156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6" name="45 Elipse"/>
          <p:cNvSpPr/>
          <p:nvPr/>
        </p:nvSpPr>
        <p:spPr>
          <a:xfrm>
            <a:off x="7327234" y="5161548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7" name="46 Elipse"/>
          <p:cNvSpPr/>
          <p:nvPr/>
        </p:nvSpPr>
        <p:spPr>
          <a:xfrm>
            <a:off x="4182981" y="3328737"/>
            <a:ext cx="950494" cy="974558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8" name="47 Conector curvado"/>
          <p:cNvCxnSpPr>
            <a:stCxn id="13" idx="6"/>
          </p:cNvCxnSpPr>
          <p:nvPr/>
        </p:nvCxnSpPr>
        <p:spPr>
          <a:xfrm>
            <a:off x="2137611" y="1987216"/>
            <a:ext cx="629651" cy="828173"/>
          </a:xfrm>
          <a:prstGeom prst="curved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curvado"/>
          <p:cNvCxnSpPr/>
          <p:nvPr/>
        </p:nvCxnSpPr>
        <p:spPr>
          <a:xfrm rot="5400000">
            <a:off x="1958139" y="5012156"/>
            <a:ext cx="852238" cy="453188"/>
          </a:xfrm>
          <a:prstGeom prst="curved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 de flecha"/>
          <p:cNvCxnSpPr>
            <a:endCxn id="33" idx="0"/>
          </p:cNvCxnSpPr>
          <p:nvPr/>
        </p:nvCxnSpPr>
        <p:spPr>
          <a:xfrm>
            <a:off x="2923673" y="2827421"/>
            <a:ext cx="10028" cy="52136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 de flecha"/>
          <p:cNvCxnSpPr>
            <a:stCxn id="33" idx="4"/>
          </p:cNvCxnSpPr>
          <p:nvPr/>
        </p:nvCxnSpPr>
        <p:spPr>
          <a:xfrm>
            <a:off x="2933701" y="4323348"/>
            <a:ext cx="26067" cy="4531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 de flecha"/>
          <p:cNvCxnSpPr>
            <a:stCxn id="41" idx="4"/>
          </p:cNvCxnSpPr>
          <p:nvPr/>
        </p:nvCxnSpPr>
        <p:spPr>
          <a:xfrm>
            <a:off x="6382754" y="4331368"/>
            <a:ext cx="30077" cy="48126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65 Conector recto de flecha"/>
          <p:cNvCxnSpPr>
            <a:endCxn id="41" idx="0"/>
          </p:cNvCxnSpPr>
          <p:nvPr/>
        </p:nvCxnSpPr>
        <p:spPr>
          <a:xfrm>
            <a:off x="6362702" y="2879559"/>
            <a:ext cx="20052" cy="47725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67 Conector curvado"/>
          <p:cNvCxnSpPr>
            <a:stCxn id="44" idx="2"/>
          </p:cNvCxnSpPr>
          <p:nvPr/>
        </p:nvCxnSpPr>
        <p:spPr>
          <a:xfrm rot="10800000" flipV="1">
            <a:off x="6629401" y="1923048"/>
            <a:ext cx="641687" cy="880310"/>
          </a:xfrm>
          <a:prstGeom prst="curved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73 Conector curvado"/>
          <p:cNvCxnSpPr>
            <a:endCxn id="46" idx="2"/>
          </p:cNvCxnSpPr>
          <p:nvPr/>
        </p:nvCxnSpPr>
        <p:spPr>
          <a:xfrm rot="16200000" flipH="1">
            <a:off x="6560219" y="4881812"/>
            <a:ext cx="848228" cy="685802"/>
          </a:xfrm>
          <a:prstGeom prst="curved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133 Conector recto de flecha"/>
          <p:cNvCxnSpPr/>
          <p:nvPr/>
        </p:nvCxnSpPr>
        <p:spPr>
          <a:xfrm>
            <a:off x="3256547" y="2318084"/>
            <a:ext cx="10028" cy="52136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100 Conector recto"/>
          <p:cNvCxnSpPr/>
          <p:nvPr/>
        </p:nvCxnSpPr>
        <p:spPr>
          <a:xfrm>
            <a:off x="3272590" y="2334126"/>
            <a:ext cx="60157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139 Conector recto"/>
          <p:cNvCxnSpPr>
            <a:stCxn id="47" idx="1"/>
          </p:cNvCxnSpPr>
          <p:nvPr/>
        </p:nvCxnSpPr>
        <p:spPr>
          <a:xfrm flipH="1" flipV="1">
            <a:off x="3862137" y="2310062"/>
            <a:ext cx="460041" cy="116139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142 Conector recto"/>
          <p:cNvCxnSpPr>
            <a:stCxn id="47" idx="7"/>
          </p:cNvCxnSpPr>
          <p:nvPr/>
        </p:nvCxnSpPr>
        <p:spPr>
          <a:xfrm flipV="1">
            <a:off x="4994278" y="2322094"/>
            <a:ext cx="299617" cy="114936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144 Conector recto de flecha"/>
          <p:cNvCxnSpPr/>
          <p:nvPr/>
        </p:nvCxnSpPr>
        <p:spPr>
          <a:xfrm>
            <a:off x="6128084" y="2314074"/>
            <a:ext cx="10028" cy="52136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145 Conector recto"/>
          <p:cNvCxnSpPr/>
          <p:nvPr/>
        </p:nvCxnSpPr>
        <p:spPr>
          <a:xfrm flipV="1">
            <a:off x="5281863" y="2310063"/>
            <a:ext cx="842211" cy="1203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149 Conector recto de flecha"/>
          <p:cNvCxnSpPr>
            <a:endCxn id="47" idx="3"/>
          </p:cNvCxnSpPr>
          <p:nvPr/>
        </p:nvCxnSpPr>
        <p:spPr>
          <a:xfrm flipV="1">
            <a:off x="3838074" y="4160574"/>
            <a:ext cx="484104" cy="147020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158 Conector recto de flecha"/>
          <p:cNvCxnSpPr>
            <a:endCxn id="47" idx="5"/>
          </p:cNvCxnSpPr>
          <p:nvPr/>
        </p:nvCxnSpPr>
        <p:spPr>
          <a:xfrm flipH="1" flipV="1">
            <a:off x="4994278" y="4160574"/>
            <a:ext cx="576343" cy="151833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162 Conector recto"/>
          <p:cNvCxnSpPr/>
          <p:nvPr/>
        </p:nvCxnSpPr>
        <p:spPr>
          <a:xfrm flipV="1">
            <a:off x="3244517" y="5618747"/>
            <a:ext cx="605589" cy="200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163 Conector recto"/>
          <p:cNvCxnSpPr/>
          <p:nvPr/>
        </p:nvCxnSpPr>
        <p:spPr>
          <a:xfrm flipV="1">
            <a:off x="5582653" y="5654843"/>
            <a:ext cx="0" cy="1203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164 Conector recto"/>
          <p:cNvCxnSpPr/>
          <p:nvPr/>
        </p:nvCxnSpPr>
        <p:spPr>
          <a:xfrm flipV="1">
            <a:off x="3260558" y="4800600"/>
            <a:ext cx="0" cy="85424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167 Conector recto"/>
          <p:cNvCxnSpPr/>
          <p:nvPr/>
        </p:nvCxnSpPr>
        <p:spPr>
          <a:xfrm flipV="1">
            <a:off x="6144127" y="4784558"/>
            <a:ext cx="0" cy="85424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125 CuadroTexto"/>
          <p:cNvSpPr txBox="1"/>
          <p:nvPr/>
        </p:nvSpPr>
        <p:spPr>
          <a:xfrm>
            <a:off x="227432" y="1720515"/>
            <a:ext cx="1035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cap="all" dirty="0"/>
              <a:t>Lector</a:t>
            </a:r>
          </a:p>
        </p:txBody>
      </p:sp>
      <p:sp>
        <p:nvSpPr>
          <p:cNvPr id="171" name="170 CuadroTexto"/>
          <p:cNvSpPr txBox="1"/>
          <p:nvPr/>
        </p:nvSpPr>
        <p:spPr>
          <a:xfrm>
            <a:off x="6372727" y="1343527"/>
            <a:ext cx="111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b="1" cap="all" dirty="0"/>
              <a:t>Escritor</a:t>
            </a:r>
          </a:p>
        </p:txBody>
      </p:sp>
      <p:sp>
        <p:nvSpPr>
          <p:cNvPr id="49" name="48 Rectángulo"/>
          <p:cNvSpPr/>
          <p:nvPr/>
        </p:nvSpPr>
        <p:spPr>
          <a:xfrm>
            <a:off x="1084179" y="903387"/>
            <a:ext cx="44142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cap="all" dirty="0"/>
              <a:t>Lector y escritores:</a:t>
            </a:r>
          </a:p>
        </p:txBody>
      </p:sp>
      <p:cxnSp>
        <p:nvCxnSpPr>
          <p:cNvPr id="56" name="55 Conector recto"/>
          <p:cNvCxnSpPr/>
          <p:nvPr/>
        </p:nvCxnSpPr>
        <p:spPr>
          <a:xfrm flipV="1">
            <a:off x="5574633" y="5654842"/>
            <a:ext cx="573504" cy="401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57 CuadroTexto"/>
          <p:cNvSpPr txBox="1"/>
          <p:nvPr/>
        </p:nvSpPr>
        <p:spPr>
          <a:xfrm>
            <a:off x="4447675" y="3605463"/>
            <a:ext cx="376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/>
              <a:t>N</a:t>
            </a:r>
          </a:p>
        </p:txBody>
      </p:sp>
      <p:sp>
        <p:nvSpPr>
          <p:cNvPr id="59" name="58 CuadroTexto"/>
          <p:cNvSpPr txBox="1"/>
          <p:nvPr/>
        </p:nvSpPr>
        <p:spPr>
          <a:xfrm>
            <a:off x="5382128" y="1892967"/>
            <a:ext cx="376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/>
              <a:t>N</a:t>
            </a:r>
          </a:p>
        </p:txBody>
      </p:sp>
      <p:sp>
        <p:nvSpPr>
          <p:cNvPr id="61" name="60 CuadroTexto"/>
          <p:cNvSpPr txBox="1"/>
          <p:nvPr/>
        </p:nvSpPr>
        <p:spPr>
          <a:xfrm>
            <a:off x="5586664" y="5225715"/>
            <a:ext cx="376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/>
              <a:t>N</a:t>
            </a:r>
          </a:p>
        </p:txBody>
      </p:sp>
      <p:sp>
        <p:nvSpPr>
          <p:cNvPr id="23" name="22 CuadroTexto"/>
          <p:cNvSpPr txBox="1"/>
          <p:nvPr/>
        </p:nvSpPr>
        <p:spPr>
          <a:xfrm>
            <a:off x="8434139" y="2401302"/>
            <a:ext cx="36215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cap="all" dirty="0"/>
              <a:t>Hay N-lectores: dos o más lectores pueden acceder concurrentemente, pero cuando el escritor está escribiendo quita todos los testigos y nadie puede leer.</a:t>
            </a:r>
          </a:p>
        </p:txBody>
      </p:sp>
    </p:spTree>
    <p:extLst>
      <p:ext uri="{BB962C8B-B14F-4D97-AF65-F5344CB8AC3E}">
        <p14:creationId xmlns:p14="http://schemas.microsoft.com/office/powerpoint/2010/main" val="3957880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400" b="1" u="sng" cap="all" dirty="0"/>
              <a:t>EJERCICIOS:</a:t>
            </a:r>
          </a:p>
          <a:p>
            <a:pPr algn="just"/>
            <a:endParaRPr lang="es-AR" sz="2000" cap="all" dirty="0"/>
          </a:p>
          <a:p>
            <a:pPr marL="914400" lvl="1" indent="-457200" algn="just">
              <a:buFont typeface="+mj-lt"/>
              <a:buAutoNum type="arabicPeriod"/>
            </a:pPr>
            <a:r>
              <a:rPr lang="es-AR" sz="2000" cap="all" dirty="0"/>
              <a:t>EN EL PROBLEMA DE PRODUCTOR CONSUMIDOR CON BUFFER ILIMITADO AGREGAR UN SEMÁFORO PARA INCLUIR LA EXCLUSIÓN MUTUA.</a:t>
            </a:r>
          </a:p>
          <a:p>
            <a:pPr marL="914400" lvl="1" indent="-457200" algn="just">
              <a:buFont typeface="+mj-lt"/>
              <a:buAutoNum type="arabicPeriod"/>
            </a:pPr>
            <a:endParaRPr lang="es-AR" sz="2000" cap="all" dirty="0"/>
          </a:p>
          <a:p>
            <a:pPr marL="914400" lvl="1" indent="-457200" algn="just">
              <a:buFont typeface="+mj-lt"/>
              <a:buAutoNum type="arabicPeriod"/>
            </a:pPr>
            <a:r>
              <a:rPr lang="es-AR" sz="2000" cap="all" dirty="0"/>
              <a:t>EN EL PROBLEMA DE PRODUCTOR CONSUMIDOR CON BUFFER LIMITADO AGREGAR UN SEMÁFORO PARA INCLUIR LA EXCLUSIÓN MUTUA.</a:t>
            </a:r>
          </a:p>
          <a:p>
            <a:pPr lvl="1" algn="just"/>
            <a:endParaRPr lang="es-AR" sz="2000" cap="all" dirty="0"/>
          </a:p>
        </p:txBody>
      </p:sp>
    </p:spTree>
    <p:extLst>
      <p:ext uri="{BB962C8B-B14F-4D97-AF65-F5344CB8AC3E}">
        <p14:creationId xmlns:p14="http://schemas.microsoft.com/office/powerpoint/2010/main" val="9190754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 DE PETRI</a:t>
            </a: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cap="all" dirty="0"/>
              <a:t>CODIFICACIÓN:</a:t>
            </a:r>
          </a:p>
          <a:p>
            <a:pPr algn="just"/>
            <a:endParaRPr lang="es-AR" sz="2400" cap="all" dirty="0"/>
          </a:p>
          <a:p>
            <a:pPr algn="just"/>
            <a:r>
              <a:rPr lang="es-AR" sz="2400" cap="all" dirty="0"/>
              <a:t>ESCRIBA UN PSEUDOCÓDIGO PARA PASAR DE LOS GRAFOS QUE REPRESENTAN LAS REDES DE PETRI Y QUE SIMPLIFIQUE LA CODIFICACIÓN (A APRTIR DEL MODELO) DE PROCESOS EN PASCAL-FC</a:t>
            </a:r>
          </a:p>
          <a:p>
            <a:pPr algn="just"/>
            <a:endParaRPr lang="es-AR" sz="2400" cap="all" dirty="0"/>
          </a:p>
          <a:p>
            <a:pPr algn="just"/>
            <a:r>
              <a:rPr lang="es-AR" sz="2400" cap="all" dirty="0"/>
              <a:t>¿CÓMO ADAPTARÍA EL PSEUDOCÓDIGO PARA ADAPTARLO A HILOS EN JAVA?</a:t>
            </a:r>
          </a:p>
          <a:p>
            <a:pPr algn="just"/>
            <a:endParaRPr lang="es-AR" sz="2400" cap="all" dirty="0"/>
          </a:p>
          <a:p>
            <a:pPr lvl="3" algn="just"/>
            <a:r>
              <a:rPr lang="es-AR" sz="2800" b="1" cap="all" dirty="0"/>
              <a:t>RED DE PETRI </a:t>
            </a:r>
            <a:r>
              <a:rPr lang="es-AR" sz="2800" b="1" cap="all" dirty="0">
                <a:sym typeface="Wingdings" panose="05000000000000000000" pitchFamily="2" charset="2"/>
              </a:rPr>
              <a:t> PSEUDOCÓDIGO  CÓDIGO JAVA</a:t>
            </a:r>
          </a:p>
          <a:p>
            <a:pPr algn="just"/>
            <a:endParaRPr lang="es-AR" sz="2400" cap="all" dirty="0"/>
          </a:p>
        </p:txBody>
      </p:sp>
    </p:spTree>
    <p:extLst>
      <p:ext uri="{BB962C8B-B14F-4D97-AF65-F5344CB8AC3E}">
        <p14:creationId xmlns:p14="http://schemas.microsoft.com/office/powerpoint/2010/main" val="3476272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1615</TotalTime>
  <Words>1179</Words>
  <Application>Microsoft Office PowerPoint</Application>
  <PresentationFormat>Panorámica</PresentationFormat>
  <Paragraphs>183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Marcela Lepore</dc:creator>
  <cp:lastModifiedBy>Nicolas Perez</cp:lastModifiedBy>
  <cp:revision>77</cp:revision>
  <dcterms:created xsi:type="dcterms:W3CDTF">2020-03-19T18:50:23Z</dcterms:created>
  <dcterms:modified xsi:type="dcterms:W3CDTF">2024-05-29T01:21:16Z</dcterms:modified>
</cp:coreProperties>
</file>