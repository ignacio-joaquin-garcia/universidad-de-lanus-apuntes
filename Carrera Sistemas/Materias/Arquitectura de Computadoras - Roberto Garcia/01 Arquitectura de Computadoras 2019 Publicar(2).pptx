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2"/>
  </p:notesMasterIdLst>
  <p:sldIdLst>
    <p:sldId id="355" r:id="rId2"/>
    <p:sldId id="406" r:id="rId3"/>
    <p:sldId id="407" r:id="rId4"/>
    <p:sldId id="408" r:id="rId5"/>
    <p:sldId id="409" r:id="rId6"/>
    <p:sldId id="410" r:id="rId7"/>
    <p:sldId id="411" r:id="rId8"/>
    <p:sldId id="412" r:id="rId9"/>
    <p:sldId id="484" r:id="rId10"/>
    <p:sldId id="486" r:id="rId11"/>
    <p:sldId id="547" r:id="rId12"/>
    <p:sldId id="488" r:id="rId13"/>
    <p:sldId id="490" r:id="rId14"/>
    <p:sldId id="491" r:id="rId15"/>
    <p:sldId id="413" r:id="rId16"/>
    <p:sldId id="414" r:id="rId17"/>
    <p:sldId id="416" r:id="rId18"/>
    <p:sldId id="415" r:id="rId19"/>
    <p:sldId id="476" r:id="rId20"/>
    <p:sldId id="477" r:id="rId21"/>
    <p:sldId id="478" r:id="rId22"/>
    <p:sldId id="479" r:id="rId23"/>
    <p:sldId id="418" r:id="rId24"/>
    <p:sldId id="458" r:id="rId25"/>
    <p:sldId id="447" r:id="rId26"/>
    <p:sldId id="548" r:id="rId27"/>
    <p:sldId id="549" r:id="rId28"/>
    <p:sldId id="550" r:id="rId29"/>
    <p:sldId id="551" r:id="rId30"/>
    <p:sldId id="552" r:id="rId31"/>
    <p:sldId id="553" r:id="rId32"/>
    <p:sldId id="554" r:id="rId33"/>
    <p:sldId id="555" r:id="rId34"/>
    <p:sldId id="556" r:id="rId35"/>
    <p:sldId id="557" r:id="rId36"/>
    <p:sldId id="558" r:id="rId37"/>
    <p:sldId id="559" r:id="rId38"/>
    <p:sldId id="459" r:id="rId39"/>
    <p:sldId id="460" r:id="rId40"/>
    <p:sldId id="461" r:id="rId41"/>
    <p:sldId id="462" r:id="rId42"/>
    <p:sldId id="463" r:id="rId43"/>
    <p:sldId id="533" r:id="rId44"/>
    <p:sldId id="534" r:id="rId45"/>
    <p:sldId id="535" r:id="rId46"/>
    <p:sldId id="536" r:id="rId47"/>
    <p:sldId id="493" r:id="rId48"/>
    <p:sldId id="465" r:id="rId49"/>
    <p:sldId id="466" r:id="rId50"/>
    <p:sldId id="467" r:id="rId51"/>
    <p:sldId id="468" r:id="rId52"/>
    <p:sldId id="494" r:id="rId53"/>
    <p:sldId id="469" r:id="rId54"/>
    <p:sldId id="470" r:id="rId55"/>
    <p:sldId id="471" r:id="rId56"/>
    <p:sldId id="529" r:id="rId57"/>
    <p:sldId id="530" r:id="rId58"/>
    <p:sldId id="532" r:id="rId59"/>
    <p:sldId id="294" r:id="rId60"/>
    <p:sldId id="295" r:id="rId61"/>
    <p:sldId id="296" r:id="rId62"/>
    <p:sldId id="297" r:id="rId63"/>
    <p:sldId id="298" r:id="rId64"/>
    <p:sldId id="299" r:id="rId65"/>
    <p:sldId id="300" r:id="rId66"/>
    <p:sldId id="301" r:id="rId67"/>
    <p:sldId id="302" r:id="rId68"/>
    <p:sldId id="303" r:id="rId69"/>
    <p:sldId id="304" r:id="rId70"/>
    <p:sldId id="305" r:id="rId71"/>
    <p:sldId id="306" r:id="rId72"/>
    <p:sldId id="499" r:id="rId73"/>
    <p:sldId id="523" r:id="rId74"/>
    <p:sldId id="525" r:id="rId75"/>
    <p:sldId id="526" r:id="rId76"/>
    <p:sldId id="498" r:id="rId77"/>
    <p:sldId id="518" r:id="rId78"/>
    <p:sldId id="537" r:id="rId79"/>
    <p:sldId id="604" r:id="rId80"/>
    <p:sldId id="515" r:id="rId81"/>
    <p:sldId id="516" r:id="rId82"/>
    <p:sldId id="520" r:id="rId83"/>
    <p:sldId id="521" r:id="rId84"/>
    <p:sldId id="522" r:id="rId85"/>
    <p:sldId id="500" r:id="rId86"/>
    <p:sldId id="501" r:id="rId87"/>
    <p:sldId id="502" r:id="rId88"/>
    <p:sldId id="503" r:id="rId89"/>
    <p:sldId id="504" r:id="rId90"/>
    <p:sldId id="505" r:id="rId91"/>
    <p:sldId id="506" r:id="rId92"/>
    <p:sldId id="560" r:id="rId93"/>
    <p:sldId id="561" r:id="rId94"/>
    <p:sldId id="562" r:id="rId95"/>
    <p:sldId id="563" r:id="rId96"/>
    <p:sldId id="564" r:id="rId97"/>
    <p:sldId id="565" r:id="rId98"/>
    <p:sldId id="566" r:id="rId99"/>
    <p:sldId id="567" r:id="rId100"/>
    <p:sldId id="568" r:id="rId101"/>
    <p:sldId id="569" r:id="rId102"/>
    <p:sldId id="570" r:id="rId103"/>
    <p:sldId id="571" r:id="rId104"/>
    <p:sldId id="572" r:id="rId105"/>
    <p:sldId id="573" r:id="rId106"/>
    <p:sldId id="574" r:id="rId107"/>
    <p:sldId id="575" r:id="rId108"/>
    <p:sldId id="576" r:id="rId109"/>
    <p:sldId id="577" r:id="rId110"/>
    <p:sldId id="578" r:id="rId111"/>
  </p:sldIdLst>
  <p:sldSz cx="10693400" cy="7559675"/>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E4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49" autoAdjust="0"/>
    <p:restoredTop sz="90364" autoAdjust="0"/>
  </p:normalViewPr>
  <p:slideViewPr>
    <p:cSldViewPr>
      <p:cViewPr varScale="1">
        <p:scale>
          <a:sx n="58" d="100"/>
          <a:sy n="58" d="100"/>
        </p:scale>
        <p:origin x="1086" y="66"/>
      </p:cViewPr>
      <p:guideLst>
        <p:guide orient="horz" pos="2189"/>
        <p:guide pos="2880"/>
      </p:guideLst>
    </p:cSldViewPr>
  </p:slideViewPr>
  <p:outlineViewPr>
    <p:cViewPr>
      <p:scale>
        <a:sx n="33" d="100"/>
        <a:sy n="33" d="100"/>
      </p:scale>
      <p:origin x="0" y="-9792"/>
    </p:cViewPr>
  </p:outlin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25F77836-1314-41FA-9299-542E2CFFEEF2}" type="datetimeFigureOut">
              <a:rPr lang="es-ES" smtClean="0"/>
              <a:t>03/08/2019</a:t>
            </a:fld>
            <a:endParaRPr lang="es-ES"/>
          </a:p>
        </p:txBody>
      </p:sp>
      <p:sp>
        <p:nvSpPr>
          <p:cNvPr id="4" name="Marcador de imagen de diapositiva 3"/>
          <p:cNvSpPr>
            <a:spLocks noGrp="1" noRot="1" noChangeAspect="1"/>
          </p:cNvSpPr>
          <p:nvPr>
            <p:ph type="sldImg" idx="2"/>
          </p:nvPr>
        </p:nvSpPr>
        <p:spPr>
          <a:xfrm>
            <a:off x="1030288" y="1241425"/>
            <a:ext cx="4737100" cy="33496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6B7DDF70-79A8-4239-9D66-261FBAB69E9E}" type="slidenum">
              <a:rPr lang="es-ES" smtClean="0"/>
              <a:t>‹Nº›</a:t>
            </a:fld>
            <a:endParaRPr lang="es-ES"/>
          </a:p>
        </p:txBody>
      </p:sp>
    </p:spTree>
    <p:extLst>
      <p:ext uri="{BB962C8B-B14F-4D97-AF65-F5344CB8AC3E}">
        <p14:creationId xmlns:p14="http://schemas.microsoft.com/office/powerpoint/2010/main" val="2652780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a:t>
            </a:fld>
            <a:endParaRPr lang="es-ES"/>
          </a:p>
        </p:txBody>
      </p:sp>
    </p:spTree>
    <p:extLst>
      <p:ext uri="{BB962C8B-B14F-4D97-AF65-F5344CB8AC3E}">
        <p14:creationId xmlns:p14="http://schemas.microsoft.com/office/powerpoint/2010/main" val="644347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smtClean="0"/>
              <a:t>Ojo! En la programación se escribe &lt;</a:t>
            </a:r>
            <a:r>
              <a:rPr lang="es-ES" dirty="0" err="1" smtClean="0"/>
              <a:t>opcode</a:t>
            </a:r>
            <a:r>
              <a:rPr lang="es-ES" dirty="0" smtClean="0"/>
              <a:t>&gt; &lt;Registro&gt;</a:t>
            </a:r>
            <a:r>
              <a:rPr lang="es-ES" baseline="0" dirty="0" smtClean="0"/>
              <a:t> , </a:t>
            </a:r>
            <a:r>
              <a:rPr lang="es-ES" baseline="0" dirty="0" smtClean="0">
                <a:solidFill>
                  <a:srgbClr val="FF0000"/>
                </a:solidFill>
              </a:rPr>
              <a:t>&lt;Destino&gt;</a:t>
            </a:r>
          </a:p>
          <a:p>
            <a:r>
              <a:rPr lang="es-ES" baseline="0" dirty="0" smtClean="0"/>
              <a:t>En absoluto se representa en los 14 bits que se muestra </a:t>
            </a:r>
            <a:r>
              <a:rPr lang="es-ES" dirty="0" smtClean="0"/>
              <a:t>&lt;</a:t>
            </a:r>
            <a:r>
              <a:rPr lang="es-ES" dirty="0" err="1" smtClean="0"/>
              <a:t>opcode</a:t>
            </a:r>
            <a:r>
              <a:rPr lang="es-ES" dirty="0" smtClean="0"/>
              <a:t>&gt; </a:t>
            </a:r>
            <a:r>
              <a:rPr lang="es-ES" baseline="0" dirty="0" smtClean="0"/>
              <a:t>, </a:t>
            </a:r>
            <a:r>
              <a:rPr lang="es-ES" baseline="0" dirty="0" smtClean="0">
                <a:solidFill>
                  <a:srgbClr val="FF0000"/>
                </a:solidFill>
              </a:rPr>
              <a:t>&lt;Destino&gt;</a:t>
            </a:r>
            <a:r>
              <a:rPr lang="es-ES" baseline="0" dirty="0" smtClean="0"/>
              <a:t> </a:t>
            </a:r>
            <a:r>
              <a:rPr lang="es-ES" dirty="0" smtClean="0"/>
              <a:t>&lt;Registro&gt;</a:t>
            </a:r>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19</a:t>
            </a:fld>
            <a:endParaRPr lang="es-ES"/>
          </a:p>
        </p:txBody>
      </p:sp>
    </p:spTree>
    <p:extLst>
      <p:ext uri="{BB962C8B-B14F-4D97-AF65-F5344CB8AC3E}">
        <p14:creationId xmlns:p14="http://schemas.microsoft.com/office/powerpoint/2010/main" val="3958392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20</a:t>
            </a:fld>
            <a:endParaRPr lang="es-ES"/>
          </a:p>
        </p:txBody>
      </p:sp>
    </p:spTree>
    <p:extLst>
      <p:ext uri="{BB962C8B-B14F-4D97-AF65-F5344CB8AC3E}">
        <p14:creationId xmlns:p14="http://schemas.microsoft.com/office/powerpoint/2010/main" val="2273765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21</a:t>
            </a:fld>
            <a:endParaRPr lang="es-ES"/>
          </a:p>
        </p:txBody>
      </p:sp>
    </p:spTree>
    <p:extLst>
      <p:ext uri="{BB962C8B-B14F-4D97-AF65-F5344CB8AC3E}">
        <p14:creationId xmlns:p14="http://schemas.microsoft.com/office/powerpoint/2010/main" val="1066803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22</a:t>
            </a:fld>
            <a:endParaRPr lang="es-ES"/>
          </a:p>
        </p:txBody>
      </p:sp>
    </p:spTree>
    <p:extLst>
      <p:ext uri="{BB962C8B-B14F-4D97-AF65-F5344CB8AC3E}">
        <p14:creationId xmlns:p14="http://schemas.microsoft.com/office/powerpoint/2010/main" val="2034048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43</a:t>
            </a:fld>
            <a:endParaRPr lang="es-ES"/>
          </a:p>
        </p:txBody>
      </p:sp>
    </p:spTree>
    <p:extLst>
      <p:ext uri="{BB962C8B-B14F-4D97-AF65-F5344CB8AC3E}">
        <p14:creationId xmlns:p14="http://schemas.microsoft.com/office/powerpoint/2010/main" val="3157651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ltLang="es-ES" smtClean="0"/>
          </a:p>
        </p:txBody>
      </p:sp>
      <p:sp>
        <p:nvSpPr>
          <p:cNvPr id="58372"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3EBA06-2BA4-4625-85B8-B28711463882}" type="slidenum">
              <a:rPr lang="es-AR" altLang="es-ES"/>
              <a:pPr eaLnBrk="1" hangingPunct="1"/>
              <a:t>44</a:t>
            </a:fld>
            <a:endParaRPr lang="es-AR" altLang="es-ES"/>
          </a:p>
        </p:txBody>
      </p:sp>
    </p:spTree>
    <p:extLst>
      <p:ext uri="{BB962C8B-B14F-4D97-AF65-F5344CB8AC3E}">
        <p14:creationId xmlns:p14="http://schemas.microsoft.com/office/powerpoint/2010/main" val="2398099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s-AR" altLang="es-ES" smtClean="0"/>
              <a:t>En las dos últimas instrucciones de suma funcionan automáticamente tres señalizadores. </a:t>
            </a:r>
          </a:p>
          <a:p>
            <a:r>
              <a:rPr lang="es-AR" altLang="es-ES" smtClean="0"/>
              <a:t>El FZ, de cero, que pasa a valer 1 si el resultado de la operación es 0. </a:t>
            </a:r>
          </a:p>
          <a:p>
            <a:r>
              <a:rPr lang="es-AR" altLang="es-ES" smtClean="0"/>
              <a:t>El de acarreo, FC, que se pone a 1 cuando hay acarreo en la suma de los dos bits de más peso de los operandos, y finalmente el señalizador de acarreo intermedio, FDC, que adquiere el valor 1 cuando hay acarreo al sumar los dos bits que ocupan el lugar 4.° (bit 3) de los operandos. Este último señalizador es muy interesante si se trabaja con dígitos BCD.</a:t>
            </a:r>
          </a:p>
          <a:p>
            <a:endParaRPr lang="es-AR" altLang="es-ES" smtClean="0"/>
          </a:p>
        </p:txBody>
      </p:sp>
      <p:sp>
        <p:nvSpPr>
          <p:cNvPr id="5939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8429D1-D185-4416-94DA-C6C0A7C2169B}" type="slidenum">
              <a:rPr lang="es-AR" altLang="es-ES"/>
              <a:pPr eaLnBrk="1" hangingPunct="1"/>
              <a:t>45</a:t>
            </a:fld>
            <a:endParaRPr lang="es-AR" altLang="es-ES"/>
          </a:p>
        </p:txBody>
      </p:sp>
    </p:spTree>
    <p:extLst>
      <p:ext uri="{BB962C8B-B14F-4D97-AF65-F5344CB8AC3E}">
        <p14:creationId xmlns:p14="http://schemas.microsoft.com/office/powerpoint/2010/main" val="2382711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ltLang="es-ES" smtClean="0"/>
          </a:p>
        </p:txBody>
      </p:sp>
      <p:sp>
        <p:nvSpPr>
          <p:cNvPr id="6042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941CCD-9E7D-4C70-AEB4-68115F76DE86}" type="slidenum">
              <a:rPr lang="es-AR" altLang="es-ES"/>
              <a:pPr eaLnBrk="1" hangingPunct="1"/>
              <a:t>46</a:t>
            </a:fld>
            <a:endParaRPr lang="es-AR" altLang="es-ES"/>
          </a:p>
        </p:txBody>
      </p:sp>
    </p:spTree>
    <p:extLst>
      <p:ext uri="{BB962C8B-B14F-4D97-AF65-F5344CB8AC3E}">
        <p14:creationId xmlns:p14="http://schemas.microsoft.com/office/powerpoint/2010/main" val="3137822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59</a:t>
            </a:fld>
            <a:endParaRPr lang="es-ES"/>
          </a:p>
        </p:txBody>
      </p:sp>
    </p:spTree>
    <p:extLst>
      <p:ext uri="{BB962C8B-B14F-4D97-AF65-F5344CB8AC3E}">
        <p14:creationId xmlns:p14="http://schemas.microsoft.com/office/powerpoint/2010/main" val="7107729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60</a:t>
            </a:fld>
            <a:endParaRPr lang="es-ES"/>
          </a:p>
        </p:txBody>
      </p:sp>
    </p:spTree>
    <p:extLst>
      <p:ext uri="{BB962C8B-B14F-4D97-AF65-F5344CB8AC3E}">
        <p14:creationId xmlns:p14="http://schemas.microsoft.com/office/powerpoint/2010/main" val="218817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61</a:t>
            </a:fld>
            <a:endParaRPr lang="es-ES"/>
          </a:p>
        </p:txBody>
      </p:sp>
    </p:spTree>
    <p:extLst>
      <p:ext uri="{BB962C8B-B14F-4D97-AF65-F5344CB8AC3E}">
        <p14:creationId xmlns:p14="http://schemas.microsoft.com/office/powerpoint/2010/main" val="2695774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62</a:t>
            </a:fld>
            <a:endParaRPr lang="es-ES"/>
          </a:p>
        </p:txBody>
      </p:sp>
    </p:spTree>
    <p:extLst>
      <p:ext uri="{BB962C8B-B14F-4D97-AF65-F5344CB8AC3E}">
        <p14:creationId xmlns:p14="http://schemas.microsoft.com/office/powerpoint/2010/main" val="3170024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63</a:t>
            </a:fld>
            <a:endParaRPr lang="es-ES"/>
          </a:p>
        </p:txBody>
      </p:sp>
    </p:spTree>
    <p:extLst>
      <p:ext uri="{BB962C8B-B14F-4D97-AF65-F5344CB8AC3E}">
        <p14:creationId xmlns:p14="http://schemas.microsoft.com/office/powerpoint/2010/main" val="3873824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64</a:t>
            </a:fld>
            <a:endParaRPr lang="es-ES"/>
          </a:p>
        </p:txBody>
      </p:sp>
    </p:spTree>
    <p:extLst>
      <p:ext uri="{BB962C8B-B14F-4D97-AF65-F5344CB8AC3E}">
        <p14:creationId xmlns:p14="http://schemas.microsoft.com/office/powerpoint/2010/main" val="21623425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65</a:t>
            </a:fld>
            <a:endParaRPr lang="es-ES"/>
          </a:p>
        </p:txBody>
      </p:sp>
    </p:spTree>
    <p:extLst>
      <p:ext uri="{BB962C8B-B14F-4D97-AF65-F5344CB8AC3E}">
        <p14:creationId xmlns:p14="http://schemas.microsoft.com/office/powerpoint/2010/main" val="10599578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66</a:t>
            </a:fld>
            <a:endParaRPr lang="es-ES"/>
          </a:p>
        </p:txBody>
      </p:sp>
    </p:spTree>
    <p:extLst>
      <p:ext uri="{BB962C8B-B14F-4D97-AF65-F5344CB8AC3E}">
        <p14:creationId xmlns:p14="http://schemas.microsoft.com/office/powerpoint/2010/main" val="27832168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67</a:t>
            </a:fld>
            <a:endParaRPr lang="es-ES"/>
          </a:p>
        </p:txBody>
      </p:sp>
    </p:spTree>
    <p:extLst>
      <p:ext uri="{BB962C8B-B14F-4D97-AF65-F5344CB8AC3E}">
        <p14:creationId xmlns:p14="http://schemas.microsoft.com/office/powerpoint/2010/main" val="42855594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68</a:t>
            </a:fld>
            <a:endParaRPr lang="es-ES"/>
          </a:p>
        </p:txBody>
      </p:sp>
    </p:spTree>
    <p:extLst>
      <p:ext uri="{BB962C8B-B14F-4D97-AF65-F5344CB8AC3E}">
        <p14:creationId xmlns:p14="http://schemas.microsoft.com/office/powerpoint/2010/main" val="3352732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69</a:t>
            </a:fld>
            <a:endParaRPr lang="es-ES"/>
          </a:p>
        </p:txBody>
      </p:sp>
    </p:spTree>
    <p:extLst>
      <p:ext uri="{BB962C8B-B14F-4D97-AF65-F5344CB8AC3E}">
        <p14:creationId xmlns:p14="http://schemas.microsoft.com/office/powerpoint/2010/main" val="2104853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70</a:t>
            </a:fld>
            <a:endParaRPr lang="es-ES"/>
          </a:p>
        </p:txBody>
      </p:sp>
    </p:spTree>
    <p:extLst>
      <p:ext uri="{BB962C8B-B14F-4D97-AF65-F5344CB8AC3E}">
        <p14:creationId xmlns:p14="http://schemas.microsoft.com/office/powerpoint/2010/main" val="5701118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71</a:t>
            </a:fld>
            <a:endParaRPr lang="es-ES"/>
          </a:p>
        </p:txBody>
      </p:sp>
    </p:spTree>
    <p:extLst>
      <p:ext uri="{BB962C8B-B14F-4D97-AF65-F5344CB8AC3E}">
        <p14:creationId xmlns:p14="http://schemas.microsoft.com/office/powerpoint/2010/main" val="3162061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6B7DDF70-79A8-4239-9D66-261FBAB69E9E}" type="slidenum">
              <a:rPr lang="es-ES" smtClean="0"/>
              <a:t>90</a:t>
            </a:fld>
            <a:endParaRPr lang="es-ES"/>
          </a:p>
        </p:txBody>
      </p:sp>
    </p:spTree>
    <p:extLst>
      <p:ext uri="{BB962C8B-B14F-4D97-AF65-F5344CB8AC3E}">
        <p14:creationId xmlns:p14="http://schemas.microsoft.com/office/powerpoint/2010/main" val="3946106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AR" altLang="es-AR" smtClean="0"/>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Segoe UI" panose="020B0502040204020203" pitchFamily="34" charset="0"/>
              </a:defRPr>
            </a:lvl1pPr>
            <a:lvl2pPr marL="742950" indent="-285750">
              <a:defRPr>
                <a:solidFill>
                  <a:schemeClr val="tx1"/>
                </a:solidFill>
                <a:latin typeface="Segoe UI" panose="020B0502040204020203" pitchFamily="34" charset="0"/>
              </a:defRPr>
            </a:lvl2pPr>
            <a:lvl3pPr marL="1143000" indent="-228600">
              <a:defRPr>
                <a:solidFill>
                  <a:schemeClr val="tx1"/>
                </a:solidFill>
                <a:latin typeface="Segoe UI" panose="020B0502040204020203" pitchFamily="34" charset="0"/>
              </a:defRPr>
            </a:lvl3pPr>
            <a:lvl4pPr marL="1600200" indent="-228600">
              <a:defRPr>
                <a:solidFill>
                  <a:schemeClr val="tx1"/>
                </a:solidFill>
                <a:latin typeface="Segoe UI" panose="020B0502040204020203" pitchFamily="34" charset="0"/>
              </a:defRPr>
            </a:lvl4pPr>
            <a:lvl5pPr marL="2057400" indent="-228600">
              <a:defRPr>
                <a:solidFill>
                  <a:schemeClr val="tx1"/>
                </a:solidFill>
                <a:latin typeface="Segoe UI" panose="020B0502040204020203" pitchFamily="34" charset="0"/>
              </a:defRPr>
            </a:lvl5pPr>
            <a:lvl6pPr marL="2514600" indent="-228600" eaLnBrk="0" fontAlgn="base" hangingPunct="0">
              <a:spcBef>
                <a:spcPct val="0"/>
              </a:spcBef>
              <a:spcAft>
                <a:spcPct val="0"/>
              </a:spcAft>
              <a:defRPr>
                <a:solidFill>
                  <a:schemeClr val="tx1"/>
                </a:solidFill>
                <a:latin typeface="Segoe UI" panose="020B0502040204020203" pitchFamily="34" charset="0"/>
              </a:defRPr>
            </a:lvl6pPr>
            <a:lvl7pPr marL="2971800" indent="-228600" eaLnBrk="0" fontAlgn="base" hangingPunct="0">
              <a:spcBef>
                <a:spcPct val="0"/>
              </a:spcBef>
              <a:spcAft>
                <a:spcPct val="0"/>
              </a:spcAft>
              <a:defRPr>
                <a:solidFill>
                  <a:schemeClr val="tx1"/>
                </a:solidFill>
                <a:latin typeface="Segoe UI" panose="020B0502040204020203" pitchFamily="34" charset="0"/>
              </a:defRPr>
            </a:lvl7pPr>
            <a:lvl8pPr marL="3429000" indent="-228600" eaLnBrk="0" fontAlgn="base" hangingPunct="0">
              <a:spcBef>
                <a:spcPct val="0"/>
              </a:spcBef>
              <a:spcAft>
                <a:spcPct val="0"/>
              </a:spcAft>
              <a:defRPr>
                <a:solidFill>
                  <a:schemeClr val="tx1"/>
                </a:solidFill>
                <a:latin typeface="Segoe UI" panose="020B0502040204020203" pitchFamily="34" charset="0"/>
              </a:defRPr>
            </a:lvl8pPr>
            <a:lvl9pPr marL="3886200" indent="-228600" eaLnBrk="0" fontAlgn="base" hangingPunct="0">
              <a:spcBef>
                <a:spcPct val="0"/>
              </a:spcBef>
              <a:spcAft>
                <a:spcPct val="0"/>
              </a:spcAft>
              <a:defRPr>
                <a:solidFill>
                  <a:schemeClr val="tx1"/>
                </a:solidFill>
                <a:latin typeface="Segoe UI" panose="020B0502040204020203" pitchFamily="34" charset="0"/>
              </a:defRPr>
            </a:lvl9pPr>
          </a:lstStyle>
          <a:p>
            <a:pPr fontAlgn="base">
              <a:spcBef>
                <a:spcPct val="0"/>
              </a:spcBef>
              <a:spcAft>
                <a:spcPct val="0"/>
              </a:spcAft>
            </a:pPr>
            <a:fld id="{F398555E-18A9-4ECF-B91D-4D1B1F60D133}" type="slidenum">
              <a:rPr lang="en-US" altLang="es-AR" smtClean="0">
                <a:latin typeface="Calibri" panose="020F0502020204030204" pitchFamily="34" charset="0"/>
              </a:rPr>
              <a:pPr fontAlgn="base">
                <a:spcBef>
                  <a:spcPct val="0"/>
                </a:spcBef>
                <a:spcAft>
                  <a:spcPct val="0"/>
                </a:spcAft>
              </a:pPr>
              <a:t>92</a:t>
            </a:fld>
            <a:endParaRPr lang="en-US" altLang="es-AR" smtClean="0">
              <a:latin typeface="Calibri" panose="020F0502020204030204" pitchFamily="34" charset="0"/>
            </a:endParaRPr>
          </a:p>
        </p:txBody>
      </p:sp>
    </p:spTree>
    <p:extLst>
      <p:ext uri="{BB962C8B-B14F-4D97-AF65-F5344CB8AC3E}">
        <p14:creationId xmlns:p14="http://schemas.microsoft.com/office/powerpoint/2010/main" val="575042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www.licrgarcia.webnode.com.ar/"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hyperlink" Target="http://files.licrgarcia.webnode.com.ar/200000437-177dd18788/Proyecto%201.pdsprj" TargetMode="External"/><Relationship Id="rId2" Type="http://schemas.openxmlformats.org/officeDocument/2006/relationships/hyperlink" Target="http://files.licrgarcia.webnode.com.ar/200000439-ee096ef033/Diagramas%20de%20flujo.vsd" TargetMode="External"/><Relationship Id="rId1" Type="http://schemas.openxmlformats.org/officeDocument/2006/relationships/slideLayout" Target="../slideLayouts/slideLayout7.xml"/><Relationship Id="rId5" Type="http://schemas.openxmlformats.org/officeDocument/2006/relationships/hyperlink" Target="http://files.licrgarcia.webnode.com.ar/200000438-04ee205e76/TP%20turnos.doc" TargetMode="External"/><Relationship Id="rId4" Type="http://schemas.openxmlformats.org/officeDocument/2006/relationships/hyperlink" Target="http://files.licrgarcia.webnode.com.ar/200000440-acf6eadf0a/TP-turnos-solucion.asm"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6.jpeg"/></Relationships>
</file>

<file path=ppt/slides/_rels/slide6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6.jpeg"/></Relationships>
</file>

<file path=ppt/slides/_rels/slide6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30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e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4.gi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txBox="1">
            <a:spLocks/>
          </p:cNvSpPr>
          <p:nvPr/>
        </p:nvSpPr>
        <p:spPr>
          <a:xfrm>
            <a:off x="457200" y="3246437"/>
            <a:ext cx="96901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ts val="6100"/>
              </a:lnSpc>
            </a:pPr>
            <a:r>
              <a:rPr lang="es-AR" sz="4397" b="1" i="1" dirty="0" smtClean="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PROGRAMACIÓN</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7656811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499" y="520700"/>
            <a:ext cx="9431921" cy="5919569"/>
          </a:xfrm>
          <a:prstGeom prst="rect">
            <a:avLst/>
          </a:prstGeom>
          <a:noFill/>
        </p:spPr>
        <p:txBody>
          <a:bodyPr wrap="square" lIns="0" tIns="0" rIns="0" rtlCol="0">
            <a:spAutoFit/>
          </a:bodyPr>
          <a:lstStyle/>
          <a:p>
            <a:pPr algn="ctr">
              <a:lnSpc>
                <a:spcPts val="3200"/>
              </a:lnSpc>
              <a:spcBef>
                <a:spcPct val="0"/>
              </a:spcBef>
              <a:tabLst>
                <a:tab pos="2590800" algn="l"/>
              </a:tabLst>
            </a:pPr>
            <a:r>
              <a:rPr lang="en-US" altLang="zh-CN" sz="3600" b="1" i="1" dirty="0" err="1" smtClean="0">
                <a:solidFill>
                  <a:srgbClr val="FF0000"/>
                </a:solidFill>
                <a:effectLst>
                  <a:outerShdw blurRad="38100" dist="38100" dir="2700000" algn="tl">
                    <a:srgbClr val="000000">
                      <a:alpha val="43137"/>
                    </a:srgbClr>
                  </a:outerShdw>
                </a:effectLst>
                <a:latin typeface="Calibri" panose="020F0502020204030204" pitchFamily="34" charset="0"/>
              </a:rPr>
              <a:t>Programa</a:t>
            </a:r>
            <a:r>
              <a:rPr lang="en-US" altLang="zh-CN" sz="3600" b="1" i="1" dirty="0" smtClean="0">
                <a:solidFill>
                  <a:srgbClr val="FF0000"/>
                </a:solidFill>
                <a:effectLst>
                  <a:outerShdw blurRad="38100" dist="38100" dir="2700000" algn="tl">
                    <a:srgbClr val="000000">
                      <a:alpha val="43137"/>
                    </a:srgbClr>
                  </a:outerShdw>
                </a:effectLst>
                <a:latin typeface="Calibri" panose="020F0502020204030204" pitchFamily="34" charset="0"/>
              </a:rPr>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Ensamblador</a:t>
            </a:r>
          </a:p>
          <a:p>
            <a:pPr>
              <a:lnSpc>
                <a:spcPts val="1000"/>
              </a:lnSpc>
            </a:pPr>
            <a:endParaRPr lang="en-US" altLang="zh-CN" sz="3600" dirty="0" smtClean="0"/>
          </a:p>
          <a:p>
            <a:pPr>
              <a:lnSpc>
                <a:spcPts val="1000"/>
              </a:lnSpc>
            </a:pPr>
            <a:endParaRPr lang="en-US" altLang="zh-CN" dirty="0" smtClean="0"/>
          </a:p>
          <a:p>
            <a:pPr>
              <a:lnSpc>
                <a:spcPts val="1000"/>
              </a:lnSpc>
            </a:pPr>
            <a:endParaRPr lang="en-US" altLang="zh-CN" dirty="0" smtClean="0"/>
          </a:p>
          <a:p>
            <a:pPr>
              <a:lnSpc>
                <a:spcPts val="4000"/>
              </a:lnSpc>
              <a:tabLst>
                <a:tab pos="2590800" algn="l"/>
              </a:tabLst>
            </a:pPr>
            <a:r>
              <a:rPr lang="en-US" altLang="zh-CN" sz="3200" b="1" dirty="0" smtClean="0">
                <a:solidFill>
                  <a:srgbClr val="000000"/>
                </a:solidFill>
                <a:latin typeface="Times New Roman" pitchFamily="18" charset="0"/>
                <a:cs typeface="Times New Roman" pitchFamily="18" charset="0"/>
              </a:rPr>
              <a:t>El</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programa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ensamblador</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un</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software </a:t>
            </a:r>
            <a:r>
              <a:rPr lang="en-US" altLang="zh-CN" sz="3200" b="1" dirty="0" err="1" smtClean="0">
                <a:solidFill>
                  <a:srgbClr val="000000"/>
                </a:solidFill>
                <a:latin typeface="Times New Roman" pitchFamily="18" charset="0"/>
                <a:cs typeface="Times New Roman" pitchFamily="18" charset="0"/>
              </a:rPr>
              <a:t>que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se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encarga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traducir</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los</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nemonicos</a:t>
            </a:r>
            <a:r>
              <a:rPr lang="en-US" altLang="zh-CN" sz="3200" b="1" dirty="0" smtClean="0">
                <a:solidFill>
                  <a:srgbClr val="000000"/>
                </a:solidFill>
                <a:latin typeface="Times New Roman" pitchFamily="18" charset="0"/>
                <a:cs typeface="Times New Roman" pitchFamily="18" charset="0"/>
              </a:rPr>
              <a:t> y</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símbolos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alfanuméricos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del</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programa</a:t>
            </a:r>
            <a:r>
              <a:rPr lang="en-US" altLang="zh-CN" sz="3200" b="1" dirty="0" smtClean="0">
                <a:solidFill>
                  <a:srgbClr val="000000"/>
                </a:solidFill>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escrito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en</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ensamblador</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por</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el</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usuario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a </a:t>
            </a:r>
            <a:r>
              <a:rPr lang="en-US" altLang="zh-CN" sz="3200" b="1" dirty="0" err="1" smtClean="0">
                <a:solidFill>
                  <a:srgbClr val="000000"/>
                </a:solidFill>
                <a:latin typeface="Times New Roman" pitchFamily="18" charset="0"/>
                <a:cs typeface="Times New Roman" pitchFamily="18" charset="0"/>
              </a:rPr>
              <a:t>código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maquina.</a:t>
            </a:r>
          </a:p>
          <a:p>
            <a:pPr>
              <a:lnSpc>
                <a:spcPts val="1000"/>
              </a:lnSpc>
            </a:pPr>
            <a:endParaRPr lang="en-US" altLang="zh-CN" sz="3200" dirty="0" smtClean="0"/>
          </a:p>
          <a:p>
            <a:pPr>
              <a:lnSpc>
                <a:spcPts val="3600"/>
              </a:lnSpc>
              <a:tabLst>
                <a:tab pos="2590800" algn="l"/>
              </a:tabLst>
            </a:pPr>
            <a:endParaRPr lang="en-US" altLang="zh-CN" sz="3200" b="1" dirty="0" smtClean="0">
              <a:solidFill>
                <a:srgbClr val="000000"/>
              </a:solidFill>
              <a:latin typeface="Times New Roman" pitchFamily="18" charset="0"/>
              <a:cs typeface="Times New Roman" pitchFamily="18" charset="0"/>
            </a:endParaRPr>
          </a:p>
          <a:p>
            <a:pPr>
              <a:lnSpc>
                <a:spcPts val="3600"/>
              </a:lnSpc>
              <a:tabLst>
                <a:tab pos="2590800" algn="l"/>
              </a:tabLst>
            </a:pPr>
            <a:r>
              <a:rPr lang="en-US" altLang="zh-CN" sz="3200" b="1" dirty="0" smtClean="0">
                <a:solidFill>
                  <a:srgbClr val="000000"/>
                </a:solidFill>
                <a:latin typeface="Times New Roman" pitchFamily="18" charset="0"/>
                <a:cs typeface="Times New Roman" pitchFamily="18" charset="0"/>
              </a:rPr>
              <a:t>El</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programa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escrito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en</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lenguaje</a:t>
            </a:r>
            <a:r>
              <a:rPr lang="en-US" altLang="zh-CN" sz="3200" b="1" dirty="0" smtClean="0">
                <a:solidFill>
                  <a:srgbClr val="000000"/>
                </a:solidFill>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ensamblador</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recibe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el</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nombre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a:t>
            </a:r>
            <a:r>
              <a:rPr lang="en-US" altLang="zh-CN" sz="3200" dirty="0" smtClean="0">
                <a:latin typeface="Times New Roman" pitchFamily="18" charset="0"/>
                <a:cs typeface="Times New Roman" pitchFamily="18" charset="0"/>
              </a:rPr>
              <a:t> </a:t>
            </a:r>
            <a:r>
              <a:rPr lang="en-US" altLang="zh-CN" sz="3200" b="1" u="sng"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3200" b="1" u="sng"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u="sng"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fuente</a:t>
            </a:r>
            <a:r>
              <a:rPr lang="en-US" altLang="zh-CN" sz="3200" b="1" dirty="0" smtClean="0">
                <a:solidFill>
                  <a:srgbClr val="000000"/>
                </a:solidFill>
                <a:latin typeface="Times New Roman" pitchFamily="18" charset="0"/>
                <a:cs typeface="Times New Roman" pitchFamily="18" charset="0"/>
              </a:rPr>
              <a:t>.</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Suele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tener</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extensión</a:t>
            </a:r>
            <a:r>
              <a:rPr lang="en-US" altLang="zh-CN" sz="3200" dirty="0" smtClean="0">
                <a:latin typeface="Times New Roman" pitchFamily="18" charset="0"/>
                <a:cs typeface="Times New Roman" pitchFamily="18" charset="0"/>
              </a:rPr>
              <a:t> </a:t>
            </a:r>
            <a:r>
              <a:rPr lang="en-US" altLang="zh-CN" sz="3200" b="1" dirty="0" smtClean="0">
                <a:solidFill>
                  <a:srgbClr val="FF0000"/>
                </a:solidFill>
                <a:latin typeface="Times New Roman" pitchFamily="18" charset="0"/>
                <a:cs typeface="Times New Roman" pitchFamily="18" charset="0"/>
              </a:rPr>
              <a:t>*.asm.</a:t>
            </a:r>
          </a:p>
          <a:p>
            <a:pPr>
              <a:lnSpc>
                <a:spcPts val="1000"/>
              </a:lnSpc>
            </a:pPr>
            <a:endParaRPr lang="en-US" altLang="zh-CN" sz="3200" dirty="0" smtClean="0"/>
          </a:p>
          <a:p>
            <a:pPr>
              <a:lnSpc>
                <a:spcPts val="3600"/>
              </a:lnSpc>
              <a:tabLst>
                <a:tab pos="2590800" algn="l"/>
              </a:tabLst>
            </a:pPr>
            <a:r>
              <a:rPr lang="en-US" altLang="zh-CN" sz="3200" b="1" dirty="0" smtClean="0">
                <a:solidFill>
                  <a:srgbClr val="000000"/>
                </a:solidFill>
                <a:latin typeface="Times New Roman" pitchFamily="18" charset="0"/>
                <a:cs typeface="Times New Roman" pitchFamily="18" charset="0"/>
              </a:rPr>
              <a:t>El</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programa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ensamblador</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proporciona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un </a:t>
            </a:r>
            <a:r>
              <a:rPr lang="en-US" altLang="zh-CN" sz="3200" b="1" dirty="0" err="1" smtClean="0">
                <a:solidFill>
                  <a:srgbClr val="000000"/>
                </a:solidFill>
                <a:latin typeface="Times New Roman" pitchFamily="18" charset="0"/>
                <a:cs typeface="Times New Roman" pitchFamily="18" charset="0"/>
              </a:rPr>
              <a:t>archivo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en</a:t>
            </a:r>
            <a:r>
              <a:rPr lang="en-US" altLang="zh-CN" sz="3200" dirty="0" smtClean="0">
                <a:latin typeface="Times New Roman" pitchFamily="18" charset="0"/>
                <a:cs typeface="Times New Roman" pitchFamily="18" charset="0"/>
              </a:rPr>
              <a:t> </a:t>
            </a:r>
            <a:r>
              <a:rPr lang="en-US" altLang="zh-CN" sz="3200" b="1" u="sng"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lenguaje</a:t>
            </a:r>
            <a:r>
              <a:rPr lang="en-US" altLang="zh-CN" sz="3200" u="sng"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u="sng"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maquina</a:t>
            </a:r>
            <a:r>
              <a:rPr lang="en-US" altLang="zh-CN" sz="3200" u="sng"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que</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suele</a:t>
            </a:r>
            <a:r>
              <a:rPr lang="en-US" altLang="zh-CN" sz="3200" b="1" dirty="0" smtClean="0">
                <a:solidFill>
                  <a:srgbClr val="000000"/>
                </a:solidFill>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tener</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extensión</a:t>
            </a:r>
            <a:r>
              <a:rPr lang="en-US" altLang="zh-CN" sz="3200" dirty="0" smtClean="0">
                <a:latin typeface="Times New Roman" pitchFamily="18" charset="0"/>
                <a:cs typeface="Times New Roman" pitchFamily="18" charset="0"/>
              </a:rPr>
              <a:t> </a:t>
            </a:r>
            <a:r>
              <a:rPr lang="en-US" altLang="zh-CN" sz="3200" b="1" dirty="0" smtClean="0">
                <a:solidFill>
                  <a:srgbClr val="FF0000"/>
                </a:solidFill>
                <a:latin typeface="Times New Roman" pitchFamily="18" charset="0"/>
                <a:cs typeface="Times New Roman" pitchFamily="18" charset="0"/>
              </a:rPr>
              <a:t>*.hex.</a:t>
            </a:r>
          </a:p>
        </p:txBody>
      </p:sp>
    </p:spTree>
    <p:extLst>
      <p:ext uri="{BB962C8B-B14F-4D97-AF65-F5344CB8AC3E}">
        <p14:creationId xmlns:p14="http://schemas.microsoft.com/office/powerpoint/2010/main" val="4066319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406400"/>
            <a:ext cx="9431921" cy="2277547"/>
          </a:xfrm>
          <a:prstGeom prst="rect">
            <a:avLst/>
          </a:prstGeom>
          <a:noFill/>
        </p:spPr>
        <p:txBody>
          <a:bodyPr wrap="square" lIns="0" tIns="0" rIns="0" rtlCol="0">
            <a:spAutoFit/>
          </a:bodyPr>
          <a:lstStyle/>
          <a:p>
            <a:pPr>
              <a:lnSpc>
                <a:spcPts val="3200"/>
              </a:lnSpc>
              <a:tabLst>
                <a:tab pos="2590800" algn="l"/>
              </a:tabLst>
            </a:pPr>
            <a:r>
              <a:rPr lang="en-US" altLang="zh-CN" dirty="0" smtClean="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Programa Ensamblador</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400"/>
              </a:lnSpc>
              <a:tabLst>
                <a:tab pos="2590800" algn="l"/>
              </a:tabLst>
            </a:pPr>
            <a:r>
              <a:rPr lang="en-US" altLang="zh-CN" sz="3200" b="1" dirty="0" smtClean="0">
                <a:solidFill>
                  <a:srgbClr val="000000"/>
                </a:solidFill>
                <a:latin typeface="Times New Roman" pitchFamily="18" charset="0"/>
                <a:cs typeface="Times New Roman" pitchFamily="18" charset="0"/>
              </a:rPr>
              <a:t>El</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ensamblador</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mas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utilizado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para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los PIC’s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el</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MPASM</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que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trabaja</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dentro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del </a:t>
            </a:r>
            <a:r>
              <a:rPr lang="en-US" altLang="zh-CN" sz="3200" b="1" dirty="0" err="1" smtClean="0">
                <a:solidFill>
                  <a:srgbClr val="000000"/>
                </a:solidFill>
                <a:latin typeface="Times New Roman" pitchFamily="18" charset="0"/>
                <a:cs typeface="Times New Roman" pitchFamily="18" charset="0"/>
              </a:rPr>
              <a:t>entorno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del</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software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llamado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MPLAB</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que</a:t>
            </a:r>
            <a:r>
              <a:rPr lang="en-US" altLang="zh-CN" sz="3200" b="1" dirty="0" smtClean="0">
                <a:solidFill>
                  <a:srgbClr val="000000"/>
                </a:solidFill>
                <a:latin typeface="Times New Roman" pitchFamily="18" charset="0"/>
                <a:cs typeface="Times New Roman" pitchFamily="18" charset="0"/>
              </a:rPr>
              <a:t> se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describirá</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mas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adelante.</a:t>
            </a:r>
          </a:p>
        </p:txBody>
      </p:sp>
      <p:sp>
        <p:nvSpPr>
          <p:cNvPr id="15" name="TextBox 1"/>
          <p:cNvSpPr txBox="1"/>
          <p:nvPr/>
        </p:nvSpPr>
        <p:spPr>
          <a:xfrm>
            <a:off x="1079500" y="3454400"/>
            <a:ext cx="139700" cy="406400"/>
          </a:xfrm>
          <a:prstGeom prst="rect">
            <a:avLst/>
          </a:prstGeom>
          <a:noFill/>
        </p:spPr>
        <p:txBody>
          <a:bodyPr wrap="none" lIns="0" tIns="0" rIns="0" rtlCol="0">
            <a:spAutoFit/>
          </a:bodyPr>
          <a:lstStyle/>
          <a:p>
            <a:pPr>
              <a:lnSpc>
                <a:spcPts val="3200"/>
              </a:lnSpc>
              <a:tabLst/>
            </a:pPr>
            <a:r>
              <a:rPr lang="en-US" altLang="zh-CN" sz="2315" dirty="0" smtClean="0">
                <a:solidFill>
                  <a:srgbClr val="FC0128"/>
                </a:solidFill>
                <a:latin typeface="Arial Black" pitchFamily="18" charset="0"/>
                <a:cs typeface="Arial Black" pitchFamily="18" charset="0"/>
              </a:rPr>
              <a:t>–</a:t>
            </a:r>
          </a:p>
        </p:txBody>
      </p:sp>
      <p:sp>
        <p:nvSpPr>
          <p:cNvPr id="16" name="TextBox 1"/>
          <p:cNvSpPr txBox="1"/>
          <p:nvPr/>
        </p:nvSpPr>
        <p:spPr>
          <a:xfrm>
            <a:off x="1384300" y="3492500"/>
            <a:ext cx="6477000" cy="355600"/>
          </a:xfrm>
          <a:prstGeom prst="rect">
            <a:avLst/>
          </a:prstGeom>
          <a:noFill/>
        </p:spPr>
        <p:txBody>
          <a:bodyPr wrap="none" lIns="0" tIns="0" rIns="0" rtlCol="0">
            <a:spAutoFit/>
          </a:bodyPr>
          <a:lstStyle/>
          <a:p>
            <a:pPr>
              <a:lnSpc>
                <a:spcPts val="2800"/>
              </a:lnSpc>
              <a:tabLst/>
            </a:pPr>
            <a:r>
              <a:rPr lang="en-US" altLang="zh-CN" sz="3084" b="1" dirty="0" smtClean="0">
                <a:solidFill>
                  <a:srgbClr val="000000"/>
                </a:solidFill>
                <a:latin typeface="Times New Roman" pitchFamily="18" charset="0"/>
                <a:cs typeface="Times New Roman" pitchFamily="18" charset="0"/>
              </a:rPr>
              <a:t>Disponible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en</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www.microchip.com</a:t>
            </a:r>
          </a:p>
        </p:txBody>
      </p:sp>
    </p:spTree>
    <p:extLst>
      <p:ext uri="{BB962C8B-B14F-4D97-AF65-F5344CB8AC3E}">
        <p14:creationId xmlns:p14="http://schemas.microsoft.com/office/powerpoint/2010/main" val="39753541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381000"/>
            <a:ext cx="8593250" cy="1700466"/>
          </a:xfrm>
          <a:prstGeom prst="rect">
            <a:avLst/>
          </a:prstGeom>
          <a:noFill/>
        </p:spPr>
        <p:txBody>
          <a:bodyPr wrap="none" lIns="0" tIns="0" rIns="0" rtlCol="0">
            <a:spAutoFit/>
          </a:bodyPr>
          <a:lstStyle/>
          <a:p>
            <a:pPr>
              <a:lnSpc>
                <a:spcPts val="2800"/>
              </a:lnSpc>
              <a:tabLst>
                <a:tab pos="1663700" algn="l"/>
              </a:tabLst>
            </a:pPr>
            <a:r>
              <a:rPr lang="en-US" altLang="zh-CN" dirty="0" smtClean="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Archivos Resultante del Ensamblado</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800"/>
              </a:lnSpc>
              <a:tabLst>
                <a:tab pos="1663700" algn="l"/>
              </a:tabLst>
            </a:pPr>
            <a:r>
              <a:rPr lang="en-US" altLang="zh-CN" sz="3084" b="1" dirty="0" smtClean="0">
                <a:solidFill>
                  <a:srgbClr val="000000"/>
                </a:solidFill>
                <a:latin typeface="Times New Roman" pitchFamily="18" charset="0"/>
                <a:cs typeface="Times New Roman" pitchFamily="18" charset="0"/>
              </a:rPr>
              <a:t>Tras</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el</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ensamblado</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del</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archivo</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*.asm</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se</a:t>
            </a:r>
          </a:p>
          <a:p>
            <a:pPr>
              <a:lnSpc>
                <a:spcPts val="3300"/>
              </a:lnSpc>
              <a:tabLst>
                <a:tab pos="1663700" algn="l"/>
              </a:tabLst>
            </a:pPr>
            <a:r>
              <a:rPr lang="en-US" altLang="zh-CN" sz="3084" b="1" dirty="0" smtClean="0">
                <a:solidFill>
                  <a:srgbClr val="000000"/>
                </a:solidFill>
                <a:latin typeface="Times New Roman" pitchFamily="18" charset="0"/>
                <a:cs typeface="Times New Roman" pitchFamily="18" charset="0"/>
              </a:rPr>
              <a:t>producen</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varios</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archivos.</a:t>
            </a:r>
          </a:p>
        </p:txBody>
      </p:sp>
      <p:sp>
        <p:nvSpPr>
          <p:cNvPr id="16" name="TextBox 1"/>
          <p:cNvSpPr txBox="1"/>
          <p:nvPr/>
        </p:nvSpPr>
        <p:spPr>
          <a:xfrm>
            <a:off x="1384300" y="2247900"/>
            <a:ext cx="9000121" cy="3893374"/>
          </a:xfrm>
          <a:prstGeom prst="rect">
            <a:avLst/>
          </a:prstGeom>
          <a:noFill/>
        </p:spPr>
        <p:txBody>
          <a:bodyPr wrap="square" lIns="0" tIns="0" rIns="0" rtlCol="0">
            <a:spAutoFit/>
          </a:bodyPr>
          <a:lstStyle/>
          <a:p>
            <a:pPr>
              <a:lnSpc>
                <a:spcPts val="2400"/>
              </a:lnSpc>
              <a:tabLst/>
            </a:pPr>
            <a:r>
              <a:rPr lang="en-US" altLang="zh-CN" sz="2645" b="1"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2645"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ejecutable</a:t>
            </a:r>
            <a:r>
              <a:rPr lang="en-US" altLang="zh-CN" sz="2645"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a:t>
            </a:r>
            <a:r>
              <a:rPr lang="en-US" altLang="zh-CN" sz="2645"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hexadecimal.</a:t>
            </a:r>
            <a:r>
              <a:rPr lang="en-US" altLang="zh-CN" sz="2645"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Es</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un</a:t>
            </a:r>
            <a:r>
              <a:rPr lang="en-US" altLang="zh-CN" sz="2645" dirty="0" smtClean="0">
                <a:latin typeface="Times New Roman" pitchFamily="18" charset="0"/>
                <a:cs typeface="Times New Roman" pitchFamily="18" charset="0"/>
              </a:rPr>
              <a:t> </a:t>
            </a:r>
            <a:r>
              <a:rPr lang="en-US" altLang="zh-CN" sz="2645" b="1" dirty="0" err="1" smtClean="0">
                <a:solidFill>
                  <a:srgbClr val="000000"/>
                </a:solidFill>
                <a:latin typeface="Times New Roman" pitchFamily="18" charset="0"/>
                <a:cs typeface="Times New Roman" pitchFamily="18" charset="0"/>
              </a:rPr>
              <a:t>archivo</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con la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extensión</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*.hex</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Contiene</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los</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códigos</a:t>
            </a:r>
            <a:r>
              <a:rPr lang="en-US" altLang="zh-CN" sz="2645" dirty="0" smtClean="0">
                <a:latin typeface="Times New Roman" pitchFamily="18" charset="0"/>
                <a:cs typeface="Times New Roman" pitchFamily="18" charset="0"/>
              </a:rPr>
              <a:t> </a:t>
            </a:r>
            <a:r>
              <a:rPr lang="en-US" altLang="zh-CN" sz="2645" b="1" dirty="0" err="1" smtClean="0">
                <a:solidFill>
                  <a:srgbClr val="000000"/>
                </a:solidFill>
                <a:latin typeface="Times New Roman" pitchFamily="18" charset="0"/>
                <a:cs typeface="Times New Roman" pitchFamily="18" charset="0"/>
              </a:rPr>
              <a:t>maquina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del </a:t>
            </a:r>
            <a:r>
              <a:rPr lang="en-US" altLang="zh-CN" sz="2645" b="1" dirty="0" err="1" smtClean="0">
                <a:solidFill>
                  <a:srgbClr val="000000"/>
                </a:solidFill>
                <a:latin typeface="Times New Roman" pitchFamily="18" charset="0"/>
                <a:cs typeface="Times New Roman" pitchFamily="18" charset="0"/>
              </a:rPr>
              <a:t>programa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que</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servirán</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para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grabar</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la</a:t>
            </a:r>
            <a:r>
              <a:rPr lang="en-US" altLang="zh-CN" sz="2645" dirty="0" smtClean="0">
                <a:latin typeface="Times New Roman" pitchFamily="18" charset="0"/>
                <a:cs typeface="Times New Roman" pitchFamily="18" charset="0"/>
              </a:rPr>
              <a:t> </a:t>
            </a:r>
            <a:r>
              <a:rPr lang="en-US" altLang="zh-CN" sz="2645" b="1" dirty="0" err="1" smtClean="0">
                <a:solidFill>
                  <a:srgbClr val="000000"/>
                </a:solidFill>
                <a:latin typeface="Times New Roman" pitchFamily="18" charset="0"/>
                <a:cs typeface="Times New Roman" pitchFamily="18" charset="0"/>
              </a:rPr>
              <a:t>memoria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de </a:t>
            </a:r>
            <a:r>
              <a:rPr lang="en-US" altLang="zh-CN" sz="2645" b="1" dirty="0" err="1" smtClean="0">
                <a:solidFill>
                  <a:srgbClr val="000000"/>
                </a:solidFill>
                <a:latin typeface="Times New Roman" pitchFamily="18" charset="0"/>
                <a:cs typeface="Times New Roman" pitchFamily="18" charset="0"/>
              </a:rPr>
              <a:t>programa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del</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microcontrolador</a:t>
            </a:r>
          </a:p>
          <a:p>
            <a:pPr>
              <a:lnSpc>
                <a:spcPts val="1000"/>
              </a:lnSpc>
            </a:pPr>
            <a:endParaRPr lang="en-US" altLang="zh-CN" dirty="0" smtClean="0"/>
          </a:p>
          <a:p>
            <a:pPr>
              <a:lnSpc>
                <a:spcPts val="2400"/>
              </a:lnSpc>
              <a:tabLst/>
            </a:pPr>
            <a:r>
              <a:rPr lang="en-US" altLang="zh-CN" sz="2645" b="1"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2645"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2645"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errores.</a:t>
            </a:r>
            <a:r>
              <a:rPr lang="en-US" altLang="zh-CN" sz="2645"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Es</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un</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archivo</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con</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la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extension *.err</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Contiene</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los</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errores</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producidos</a:t>
            </a:r>
            <a:r>
              <a:rPr lang="en-US" altLang="zh-CN" sz="2645" dirty="0" smtClean="0">
                <a:latin typeface="Times New Roman" pitchFamily="18" charset="0"/>
                <a:cs typeface="Times New Roman" pitchFamily="18" charset="0"/>
              </a:rPr>
              <a:t> </a:t>
            </a:r>
            <a:r>
              <a:rPr lang="en-US" altLang="zh-CN" sz="2645" b="1" dirty="0" err="1" smtClean="0">
                <a:solidFill>
                  <a:srgbClr val="000000"/>
                </a:solidFill>
                <a:latin typeface="Times New Roman" pitchFamily="18" charset="0"/>
                <a:cs typeface="Times New Roman" pitchFamily="18" charset="0"/>
              </a:rPr>
              <a:t>durante</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el </a:t>
            </a:r>
            <a:r>
              <a:rPr lang="en-US" altLang="zh-CN" sz="2645" b="1" dirty="0" err="1" smtClean="0">
                <a:solidFill>
                  <a:srgbClr val="000000"/>
                </a:solidFill>
                <a:latin typeface="Times New Roman" pitchFamily="18" charset="0"/>
                <a:cs typeface="Times New Roman" pitchFamily="18" charset="0"/>
              </a:rPr>
              <a:t>proceso</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de</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ensamblado.</a:t>
            </a:r>
          </a:p>
          <a:p>
            <a:pPr>
              <a:lnSpc>
                <a:spcPts val="1000"/>
              </a:lnSpc>
            </a:pPr>
            <a:endParaRPr lang="en-US" altLang="zh-CN" dirty="0" smtClean="0"/>
          </a:p>
          <a:p>
            <a:pPr>
              <a:lnSpc>
                <a:spcPts val="2400"/>
              </a:lnSpc>
              <a:tabLst/>
            </a:pPr>
            <a:r>
              <a:rPr lang="en-US" altLang="zh-CN" sz="2645" b="1" i="1" u="sng" dirty="0" err="1"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2645" b="1"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de </a:t>
            </a:r>
            <a:r>
              <a:rPr lang="en-US" altLang="zh-CN" sz="2645" b="1" i="1" u="sng" dirty="0" err="1"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reporte</a:t>
            </a:r>
            <a:r>
              <a:rPr lang="en-US" altLang="zh-CN" sz="2645" b="1"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2645" i="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Es</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un</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archivo</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con</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la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extensión</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a:t>
            </a:r>
            <a:r>
              <a:rPr lang="en-US" altLang="zh-CN" sz="2645" b="1" dirty="0" err="1" smtClean="0">
                <a:solidFill>
                  <a:srgbClr val="000000"/>
                </a:solidFill>
                <a:latin typeface="Times New Roman" pitchFamily="18" charset="0"/>
                <a:cs typeface="Times New Roman" pitchFamily="18" charset="0"/>
              </a:rPr>
              <a:t>lst</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a:t>
            </a:r>
          </a:p>
          <a:p>
            <a:pPr>
              <a:lnSpc>
                <a:spcPts val="2800"/>
              </a:lnSpc>
              <a:tabLst/>
            </a:pPr>
            <a:r>
              <a:rPr lang="en-US" altLang="zh-CN" sz="2645" b="1" dirty="0" smtClean="0">
                <a:solidFill>
                  <a:srgbClr val="000000"/>
                </a:solidFill>
                <a:latin typeface="Times New Roman" pitchFamily="18" charset="0"/>
                <a:cs typeface="Times New Roman" pitchFamily="18" charset="0"/>
              </a:rPr>
              <a:t>Contiene</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toda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la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información</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del</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programa:</a:t>
            </a:r>
            <a:r>
              <a:rPr lang="en-US" altLang="zh-CN" sz="2645" dirty="0" smtClean="0">
                <a:latin typeface="Times New Roman" pitchFamily="18" charset="0"/>
                <a:cs typeface="Times New Roman" pitchFamily="18" charset="0"/>
              </a:rPr>
              <a:t> </a:t>
            </a:r>
            <a:r>
              <a:rPr lang="en-US" altLang="zh-CN" sz="2645" b="1" dirty="0" err="1" smtClean="0">
                <a:solidFill>
                  <a:srgbClr val="000000"/>
                </a:solidFill>
                <a:latin typeface="Times New Roman" pitchFamily="18" charset="0"/>
                <a:cs typeface="Times New Roman" pitchFamily="18" charset="0"/>
              </a:rPr>
              <a:t>codigo</a:t>
            </a:r>
            <a:r>
              <a:rPr lang="en-US" altLang="zh-CN" sz="2645" b="1" dirty="0" smtClean="0">
                <a:solidFill>
                  <a:srgbClr val="000000"/>
                </a:solidFill>
                <a:latin typeface="Times New Roman" pitchFamily="18" charset="0"/>
                <a:cs typeface="Times New Roman" pitchFamily="18" charset="0"/>
              </a:rPr>
              <a:t> </a:t>
            </a:r>
            <a:r>
              <a:rPr lang="en-US" altLang="zh-CN" sz="2645" b="1" dirty="0" err="1" smtClean="0">
                <a:solidFill>
                  <a:srgbClr val="000000"/>
                </a:solidFill>
                <a:latin typeface="Times New Roman" pitchFamily="18" charset="0"/>
                <a:cs typeface="Times New Roman" pitchFamily="18" charset="0"/>
              </a:rPr>
              <a:t>fuente</a:t>
            </a:r>
            <a:r>
              <a:rPr lang="en-US" altLang="zh-CN" sz="2645" b="1" dirty="0" smtClean="0">
                <a:solidFill>
                  <a:srgbClr val="000000"/>
                </a:solidFill>
                <a:latin typeface="Times New Roman" pitchFamily="18" charset="0"/>
                <a:cs typeface="Times New Roman" pitchFamily="18" charset="0"/>
              </a:rPr>
              <a:t>,</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códigos</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maquina,</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direcciones</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de</a:t>
            </a:r>
            <a:r>
              <a:rPr lang="en-US" altLang="zh-CN" sz="2645" dirty="0" smtClean="0">
                <a:latin typeface="Times New Roman" pitchFamily="18" charset="0"/>
                <a:cs typeface="Times New Roman" pitchFamily="18" charset="0"/>
              </a:rPr>
              <a:t> </a:t>
            </a:r>
            <a:r>
              <a:rPr lang="en-US" altLang="zh-CN" sz="2645" b="1" dirty="0" err="1" smtClean="0">
                <a:solidFill>
                  <a:srgbClr val="000000"/>
                </a:solidFill>
                <a:latin typeface="Times New Roman" pitchFamily="18" charset="0"/>
                <a:cs typeface="Times New Roman" pitchFamily="18" charset="0"/>
              </a:rPr>
              <a:t>cada</a:t>
            </a:r>
            <a:r>
              <a:rPr lang="en-US" altLang="zh-CN" sz="2645" b="1" dirty="0" smtClean="0">
                <a:solidFill>
                  <a:srgbClr val="000000"/>
                </a:solidFill>
                <a:latin typeface="Times New Roman" pitchFamily="18" charset="0"/>
                <a:cs typeface="Times New Roman" pitchFamily="18" charset="0"/>
              </a:rPr>
              <a:t> </a:t>
            </a:r>
            <a:r>
              <a:rPr lang="en-US" altLang="zh-CN" sz="2645" b="1" dirty="0" err="1" smtClean="0">
                <a:solidFill>
                  <a:srgbClr val="000000"/>
                </a:solidFill>
                <a:latin typeface="Times New Roman" pitchFamily="18" charset="0"/>
                <a:cs typeface="Times New Roman" pitchFamily="18" charset="0"/>
              </a:rPr>
              <a:t>instrucción</a:t>
            </a:r>
            <a:r>
              <a:rPr lang="en-US" altLang="zh-CN" sz="2645" b="1" dirty="0" smtClean="0">
                <a:solidFill>
                  <a:srgbClr val="000000"/>
                </a:solidFill>
                <a:latin typeface="Times New Roman" pitchFamily="18" charset="0"/>
                <a:cs typeface="Times New Roman" pitchFamily="18" charset="0"/>
              </a:rPr>
              <a:t>,</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errores</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producidos,</a:t>
            </a:r>
            <a:r>
              <a:rPr lang="en-US" altLang="zh-CN" sz="2645" dirty="0" smtClean="0">
                <a:latin typeface="Times New Roman" pitchFamily="18" charset="0"/>
                <a:cs typeface="Times New Roman" pitchFamily="18" charset="0"/>
              </a:rPr>
              <a:t> </a:t>
            </a:r>
            <a:r>
              <a:rPr lang="en-US" altLang="zh-CN" sz="2645" b="1" dirty="0" smtClean="0">
                <a:solidFill>
                  <a:srgbClr val="000000"/>
                </a:solidFill>
                <a:latin typeface="Times New Roman" pitchFamily="18" charset="0"/>
                <a:cs typeface="Times New Roman" pitchFamily="18" charset="0"/>
              </a:rPr>
              <a:t>etc.</a:t>
            </a:r>
          </a:p>
        </p:txBody>
      </p:sp>
    </p:spTree>
    <p:extLst>
      <p:ext uri="{BB962C8B-B14F-4D97-AF65-F5344CB8AC3E}">
        <p14:creationId xmlns:p14="http://schemas.microsoft.com/office/powerpoint/2010/main" val="2768333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34931" y="1767077"/>
            <a:ext cx="7150607" cy="749807"/>
          </a:xfrm>
          <a:custGeom>
            <a:avLst/>
            <a:gdLst>
              <a:gd name="connsiteX0" fmla="*/ 0 w 7150607"/>
              <a:gd name="connsiteY0" fmla="*/ 0 h 749807"/>
              <a:gd name="connsiteX1" fmla="*/ 0 w 7150607"/>
              <a:gd name="connsiteY1" fmla="*/ 749807 h 749807"/>
              <a:gd name="connsiteX2" fmla="*/ 7150607 w 7150607"/>
              <a:gd name="connsiteY2" fmla="*/ 749807 h 749807"/>
              <a:gd name="connsiteX3" fmla="*/ 7150607 w 7150607"/>
              <a:gd name="connsiteY3" fmla="*/ 0 h 749807"/>
              <a:gd name="connsiteX4" fmla="*/ 0 w 7150607"/>
              <a:gd name="connsiteY4" fmla="*/ 0 h 74980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7150607" h="749807">
                <a:moveTo>
                  <a:pt x="0" y="0"/>
                </a:moveTo>
                <a:lnTo>
                  <a:pt x="0" y="749807"/>
                </a:lnTo>
                <a:lnTo>
                  <a:pt x="7150607" y="749807"/>
                </a:lnTo>
                <a:lnTo>
                  <a:pt x="7150607" y="0"/>
                </a:lnTo>
                <a:lnTo>
                  <a:pt x="0" y="0"/>
                </a:lnTo>
              </a:path>
            </a:pathLst>
          </a:custGeom>
          <a:solidFill>
            <a:srgbClr val="C0C0C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217049" y="1915667"/>
            <a:ext cx="2707385" cy="601217"/>
          </a:xfrm>
          <a:custGeom>
            <a:avLst/>
            <a:gdLst>
              <a:gd name="connsiteX0" fmla="*/ 0 w 2707385"/>
              <a:gd name="connsiteY0" fmla="*/ 0 h 601217"/>
              <a:gd name="connsiteX1" fmla="*/ 0 w 2707385"/>
              <a:gd name="connsiteY1" fmla="*/ 601217 h 601217"/>
              <a:gd name="connsiteX2" fmla="*/ 2707385 w 2707385"/>
              <a:gd name="connsiteY2" fmla="*/ 601217 h 601217"/>
              <a:gd name="connsiteX3" fmla="*/ 2707385 w 2707385"/>
              <a:gd name="connsiteY3" fmla="*/ 0 h 601217"/>
              <a:gd name="connsiteX4" fmla="*/ 0 w 2707385"/>
              <a:gd name="connsiteY4" fmla="*/ 0 h 60121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601217">
                <a:moveTo>
                  <a:pt x="0" y="0"/>
                </a:moveTo>
                <a:lnTo>
                  <a:pt x="0" y="601217"/>
                </a:lnTo>
                <a:lnTo>
                  <a:pt x="2707385" y="601217"/>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200010" y="1915667"/>
            <a:ext cx="2707385" cy="601217"/>
          </a:xfrm>
          <a:custGeom>
            <a:avLst/>
            <a:gdLst>
              <a:gd name="connsiteX0" fmla="*/ 0 w 2707385"/>
              <a:gd name="connsiteY0" fmla="*/ 0 h 601217"/>
              <a:gd name="connsiteX1" fmla="*/ 0 w 2707385"/>
              <a:gd name="connsiteY1" fmla="*/ 601217 h 601217"/>
              <a:gd name="connsiteX2" fmla="*/ 2707385 w 2707385"/>
              <a:gd name="connsiteY2" fmla="*/ 601217 h 601217"/>
              <a:gd name="connsiteX3" fmla="*/ 2707385 w 2707385"/>
              <a:gd name="connsiteY3" fmla="*/ 0 h 601217"/>
              <a:gd name="connsiteX4" fmla="*/ 0 w 2707385"/>
              <a:gd name="connsiteY4" fmla="*/ 0 h 60121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601217">
                <a:moveTo>
                  <a:pt x="0" y="0"/>
                </a:moveTo>
                <a:lnTo>
                  <a:pt x="0" y="601217"/>
                </a:lnTo>
                <a:lnTo>
                  <a:pt x="2707385" y="601217"/>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34931" y="2516885"/>
            <a:ext cx="7150607" cy="505968"/>
          </a:xfrm>
          <a:custGeom>
            <a:avLst/>
            <a:gdLst>
              <a:gd name="connsiteX0" fmla="*/ 0 w 7150607"/>
              <a:gd name="connsiteY0" fmla="*/ 0 h 505968"/>
              <a:gd name="connsiteX1" fmla="*/ 0 w 7150607"/>
              <a:gd name="connsiteY1" fmla="*/ 505968 h 505968"/>
              <a:gd name="connsiteX2" fmla="*/ 7150607 w 7150607"/>
              <a:gd name="connsiteY2" fmla="*/ 505968 h 505968"/>
              <a:gd name="connsiteX3" fmla="*/ 7150607 w 7150607"/>
              <a:gd name="connsiteY3" fmla="*/ 0 h 505968"/>
              <a:gd name="connsiteX4" fmla="*/ 0 w 7150607"/>
              <a:gd name="connsiteY4" fmla="*/ 0 h 50596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7150607" h="505968">
                <a:moveTo>
                  <a:pt x="0" y="0"/>
                </a:moveTo>
                <a:lnTo>
                  <a:pt x="0" y="505968"/>
                </a:lnTo>
                <a:lnTo>
                  <a:pt x="7150607" y="505968"/>
                </a:lnTo>
                <a:lnTo>
                  <a:pt x="7150607" y="0"/>
                </a:lnTo>
                <a:lnTo>
                  <a:pt x="0" y="0"/>
                </a:lnTo>
              </a:path>
            </a:pathLst>
          </a:custGeom>
          <a:solidFill>
            <a:srgbClr val="C0C0C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217049" y="2516885"/>
            <a:ext cx="2707385" cy="257556"/>
          </a:xfrm>
          <a:custGeom>
            <a:avLst/>
            <a:gdLst>
              <a:gd name="connsiteX0" fmla="*/ 0 w 2707385"/>
              <a:gd name="connsiteY0" fmla="*/ 0 h 257556"/>
              <a:gd name="connsiteX1" fmla="*/ 0 w 2707385"/>
              <a:gd name="connsiteY1" fmla="*/ 257556 h 257556"/>
              <a:gd name="connsiteX2" fmla="*/ 2707385 w 2707385"/>
              <a:gd name="connsiteY2" fmla="*/ 257556 h 257556"/>
              <a:gd name="connsiteX3" fmla="*/ 2707385 w 2707385"/>
              <a:gd name="connsiteY3" fmla="*/ 0 h 257556"/>
              <a:gd name="connsiteX4" fmla="*/ 0 w 2707385"/>
              <a:gd name="connsiteY4" fmla="*/ 0 h 25755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257556">
                <a:moveTo>
                  <a:pt x="0" y="0"/>
                </a:moveTo>
                <a:lnTo>
                  <a:pt x="0" y="257556"/>
                </a:lnTo>
                <a:lnTo>
                  <a:pt x="2707385" y="257556"/>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3"/>
          <p:cNvSpPr/>
          <p:nvPr/>
        </p:nvSpPr>
        <p:spPr>
          <a:xfrm>
            <a:off x="7200010" y="2516885"/>
            <a:ext cx="2707385" cy="257556"/>
          </a:xfrm>
          <a:custGeom>
            <a:avLst/>
            <a:gdLst>
              <a:gd name="connsiteX0" fmla="*/ 0 w 2707385"/>
              <a:gd name="connsiteY0" fmla="*/ 0 h 257556"/>
              <a:gd name="connsiteX1" fmla="*/ 0 w 2707385"/>
              <a:gd name="connsiteY1" fmla="*/ 257556 h 257556"/>
              <a:gd name="connsiteX2" fmla="*/ 2707385 w 2707385"/>
              <a:gd name="connsiteY2" fmla="*/ 257556 h 257556"/>
              <a:gd name="connsiteX3" fmla="*/ 2707385 w 2707385"/>
              <a:gd name="connsiteY3" fmla="*/ 0 h 257556"/>
              <a:gd name="connsiteX4" fmla="*/ 0 w 2707385"/>
              <a:gd name="connsiteY4" fmla="*/ 0 h 25755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257556">
                <a:moveTo>
                  <a:pt x="0" y="0"/>
                </a:moveTo>
                <a:lnTo>
                  <a:pt x="0" y="257556"/>
                </a:lnTo>
                <a:lnTo>
                  <a:pt x="2707385" y="257556"/>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3"/>
          <p:cNvSpPr/>
          <p:nvPr/>
        </p:nvSpPr>
        <p:spPr>
          <a:xfrm>
            <a:off x="1880501" y="4174235"/>
            <a:ext cx="7234428" cy="13716"/>
          </a:xfrm>
          <a:custGeom>
            <a:avLst/>
            <a:gdLst>
              <a:gd name="connsiteX0" fmla="*/ 0 w 7234428"/>
              <a:gd name="connsiteY0" fmla="*/ 6858 h 13716"/>
              <a:gd name="connsiteX1" fmla="*/ 7234427 w 7234428"/>
              <a:gd name="connsiteY1" fmla="*/ 6858 h 13716"/>
            </a:gdLst>
            <a:ahLst/>
            <a:cxnLst>
              <a:cxn ang="0">
                <a:pos x="connsiteX0" y="connsiteY0"/>
              </a:cxn>
              <a:cxn ang="1">
                <a:pos x="connsiteX1" y="connsiteY1"/>
              </a:cxn>
            </a:cxnLst>
            <a:rect l="l" t="t" r="r" b="b"/>
            <a:pathLst>
              <a:path w="7234428" h="13716">
                <a:moveTo>
                  <a:pt x="0" y="6858"/>
                </a:moveTo>
                <a:lnTo>
                  <a:pt x="7234427" y="6858"/>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3"/>
          <p:cNvPicPr>
            <a:picLocks noChangeAspect="1" noChangeArrowheads="1"/>
          </p:cNvPicPr>
          <p:nvPr/>
        </p:nvPicPr>
        <p:blipFill>
          <a:blip r:embed="rId2"/>
          <a:srcRect/>
          <a:stretch>
            <a:fillRect/>
          </a:stretch>
        </p:blipFill>
        <p:spPr bwMode="auto">
          <a:xfrm>
            <a:off x="3009900" y="1752600"/>
            <a:ext cx="7200900" cy="2413000"/>
          </a:xfrm>
          <a:prstGeom prst="rect">
            <a:avLst/>
          </a:prstGeom>
          <a:noFill/>
        </p:spPr>
      </p:pic>
      <p:pic>
        <p:nvPicPr>
          <p:cNvPr id="23" name="Picture 3"/>
          <p:cNvPicPr>
            <a:picLocks noChangeAspect="1" noChangeArrowheads="1"/>
          </p:cNvPicPr>
          <p:nvPr/>
        </p:nvPicPr>
        <p:blipFill>
          <a:blip r:embed="rId3"/>
          <a:srcRect/>
          <a:stretch>
            <a:fillRect/>
          </a:stretch>
        </p:blipFill>
        <p:spPr bwMode="auto">
          <a:xfrm>
            <a:off x="774700" y="4178300"/>
            <a:ext cx="2286000" cy="2006600"/>
          </a:xfrm>
          <a:prstGeom prst="rect">
            <a:avLst/>
          </a:prstGeom>
          <a:noFill/>
        </p:spPr>
      </p:pic>
      <p:pic>
        <p:nvPicPr>
          <p:cNvPr id="24" name="Picture 3"/>
          <p:cNvPicPr>
            <a:picLocks noChangeAspect="1" noChangeArrowheads="1"/>
          </p:cNvPicPr>
          <p:nvPr/>
        </p:nvPicPr>
        <p:blipFill>
          <a:blip r:embed="rId4"/>
          <a:srcRect/>
          <a:stretch>
            <a:fillRect/>
          </a:stretch>
        </p:blipFill>
        <p:spPr bwMode="auto">
          <a:xfrm>
            <a:off x="3162300" y="4216400"/>
            <a:ext cx="2286000" cy="1955800"/>
          </a:xfrm>
          <a:prstGeom prst="rect">
            <a:avLst/>
          </a:prstGeom>
          <a:noFill/>
        </p:spPr>
      </p:pic>
      <p:pic>
        <p:nvPicPr>
          <p:cNvPr id="25" name="Picture 3"/>
          <p:cNvPicPr>
            <a:picLocks noChangeAspect="1" noChangeArrowheads="1"/>
          </p:cNvPicPr>
          <p:nvPr/>
        </p:nvPicPr>
        <p:blipFill>
          <a:blip r:embed="rId5"/>
          <a:srcRect/>
          <a:stretch>
            <a:fillRect/>
          </a:stretch>
        </p:blipFill>
        <p:spPr bwMode="auto">
          <a:xfrm>
            <a:off x="5600700" y="4203700"/>
            <a:ext cx="2286000" cy="1955800"/>
          </a:xfrm>
          <a:prstGeom prst="rect">
            <a:avLst/>
          </a:prstGeom>
          <a:noFill/>
        </p:spPr>
      </p:pic>
      <p:pic>
        <p:nvPicPr>
          <p:cNvPr id="26" name="Picture 3"/>
          <p:cNvPicPr>
            <a:picLocks noChangeAspect="1" noChangeArrowheads="1"/>
          </p:cNvPicPr>
          <p:nvPr/>
        </p:nvPicPr>
        <p:blipFill>
          <a:blip r:embed="rId6"/>
          <a:srcRect/>
          <a:stretch>
            <a:fillRect/>
          </a:stretch>
        </p:blipFill>
        <p:spPr bwMode="auto">
          <a:xfrm>
            <a:off x="7975600" y="4165600"/>
            <a:ext cx="2286000" cy="1981200"/>
          </a:xfrm>
          <a:prstGeom prst="rect">
            <a:avLst/>
          </a:prstGeom>
          <a:noFill/>
        </p:spPr>
      </p:pic>
      <p:sp>
        <p:nvSpPr>
          <p:cNvPr id="2" name="TextBox 1"/>
          <p:cNvSpPr txBox="1"/>
          <p:nvPr/>
        </p:nvSpPr>
        <p:spPr>
          <a:xfrm>
            <a:off x="2616200" y="330200"/>
            <a:ext cx="6913303" cy="437364"/>
          </a:xfrm>
          <a:prstGeom prst="rect">
            <a:avLst/>
          </a:prstGeom>
          <a:noFill/>
        </p:spPr>
        <p:txBody>
          <a:bodyPr wrap="none" lIns="0" tIns="0" rIns="0" rtlCol="0">
            <a:spAutoFit/>
          </a:bodyPr>
          <a:lstStyle/>
          <a:p>
            <a:pPr>
              <a:lnSpc>
                <a:spcPts val="28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Archivos Resultante del Ensamblado</a:t>
            </a:r>
          </a:p>
        </p:txBody>
      </p:sp>
      <p:sp>
        <p:nvSpPr>
          <p:cNvPr id="27" name="TextBox 1"/>
          <p:cNvSpPr txBox="1"/>
          <p:nvPr/>
        </p:nvSpPr>
        <p:spPr>
          <a:xfrm>
            <a:off x="3708400" y="2146300"/>
            <a:ext cx="1701800" cy="393700"/>
          </a:xfrm>
          <a:prstGeom prst="rect">
            <a:avLst/>
          </a:prstGeom>
          <a:noFill/>
        </p:spPr>
        <p:txBody>
          <a:bodyPr wrap="none" lIns="0" tIns="0" rIns="0" rtlCol="0">
            <a:spAutoFit/>
          </a:bodyPr>
          <a:lstStyle/>
          <a:p>
            <a:pPr>
              <a:lnSpc>
                <a:spcPts val="3100"/>
              </a:lnSpc>
              <a:tabLst/>
            </a:pPr>
            <a:r>
              <a:rPr lang="en-US" altLang="zh-CN" sz="2645" dirty="0" smtClean="0">
                <a:solidFill>
                  <a:srgbClr val="000000"/>
                </a:solidFill>
                <a:latin typeface="Tahoma" pitchFamily="18" charset="0"/>
                <a:cs typeface="Tahoma" pitchFamily="18" charset="0"/>
              </a:rPr>
              <a:t>MPASM.exe</a:t>
            </a:r>
          </a:p>
        </p:txBody>
      </p:sp>
      <p:sp>
        <p:nvSpPr>
          <p:cNvPr id="28" name="TextBox 1"/>
          <p:cNvSpPr txBox="1"/>
          <p:nvPr/>
        </p:nvSpPr>
        <p:spPr>
          <a:xfrm>
            <a:off x="7721600" y="2146300"/>
            <a:ext cx="1651000" cy="393700"/>
          </a:xfrm>
          <a:prstGeom prst="rect">
            <a:avLst/>
          </a:prstGeom>
          <a:noFill/>
        </p:spPr>
        <p:txBody>
          <a:bodyPr wrap="none" lIns="0" tIns="0" rIns="0" rtlCol="0">
            <a:spAutoFit/>
          </a:bodyPr>
          <a:lstStyle/>
          <a:p>
            <a:pPr>
              <a:lnSpc>
                <a:spcPts val="3100"/>
              </a:lnSpc>
              <a:tabLst/>
            </a:pPr>
            <a:r>
              <a:rPr lang="en-US" altLang="zh-CN" sz="2645" dirty="0" smtClean="0">
                <a:solidFill>
                  <a:srgbClr val="000000"/>
                </a:solidFill>
                <a:latin typeface="Tahoma" pitchFamily="18" charset="0"/>
                <a:cs typeface="Tahoma" pitchFamily="18" charset="0"/>
              </a:rPr>
              <a:t>fuente.asm</a:t>
            </a:r>
          </a:p>
        </p:txBody>
      </p:sp>
      <p:sp>
        <p:nvSpPr>
          <p:cNvPr id="29" name="TextBox 1"/>
          <p:cNvSpPr txBox="1"/>
          <p:nvPr/>
        </p:nvSpPr>
        <p:spPr>
          <a:xfrm>
            <a:off x="1117600" y="5334000"/>
            <a:ext cx="1574800" cy="393700"/>
          </a:xfrm>
          <a:prstGeom prst="rect">
            <a:avLst/>
          </a:prstGeom>
          <a:noFill/>
        </p:spPr>
        <p:txBody>
          <a:bodyPr wrap="none" lIns="0" tIns="0" rIns="0" rtlCol="0">
            <a:spAutoFit/>
          </a:bodyPr>
          <a:lstStyle/>
          <a:p>
            <a:pPr>
              <a:lnSpc>
                <a:spcPts val="3100"/>
              </a:lnSpc>
              <a:tabLst/>
            </a:pPr>
            <a:r>
              <a:rPr lang="en-US" altLang="zh-CN" sz="2645" dirty="0" smtClean="0">
                <a:solidFill>
                  <a:srgbClr val="000000"/>
                </a:solidFill>
                <a:latin typeface="Tahoma" pitchFamily="18" charset="0"/>
                <a:cs typeface="Tahoma" pitchFamily="18" charset="0"/>
              </a:rPr>
              <a:t>fuente.hex</a:t>
            </a:r>
          </a:p>
        </p:txBody>
      </p:sp>
      <p:sp>
        <p:nvSpPr>
          <p:cNvPr id="30" name="TextBox 1"/>
          <p:cNvSpPr txBox="1"/>
          <p:nvPr/>
        </p:nvSpPr>
        <p:spPr>
          <a:xfrm>
            <a:off x="3556000" y="5321300"/>
            <a:ext cx="1460500" cy="393700"/>
          </a:xfrm>
          <a:prstGeom prst="rect">
            <a:avLst/>
          </a:prstGeom>
          <a:noFill/>
        </p:spPr>
        <p:txBody>
          <a:bodyPr wrap="none" lIns="0" tIns="0" rIns="0" rtlCol="0">
            <a:spAutoFit/>
          </a:bodyPr>
          <a:lstStyle/>
          <a:p>
            <a:pPr>
              <a:lnSpc>
                <a:spcPts val="3100"/>
              </a:lnSpc>
              <a:tabLst/>
            </a:pPr>
            <a:r>
              <a:rPr lang="en-US" altLang="zh-CN" sz="2645" dirty="0" smtClean="0">
                <a:solidFill>
                  <a:srgbClr val="000000"/>
                </a:solidFill>
                <a:latin typeface="Tahoma" pitchFamily="18" charset="0"/>
                <a:cs typeface="Tahoma" pitchFamily="18" charset="0"/>
              </a:rPr>
              <a:t>fuente.err</a:t>
            </a:r>
          </a:p>
        </p:txBody>
      </p:sp>
      <p:sp>
        <p:nvSpPr>
          <p:cNvPr id="31" name="TextBox 1"/>
          <p:cNvSpPr txBox="1"/>
          <p:nvPr/>
        </p:nvSpPr>
        <p:spPr>
          <a:xfrm>
            <a:off x="6045200" y="5308600"/>
            <a:ext cx="1384300" cy="393700"/>
          </a:xfrm>
          <a:prstGeom prst="rect">
            <a:avLst/>
          </a:prstGeom>
          <a:noFill/>
        </p:spPr>
        <p:txBody>
          <a:bodyPr wrap="none" lIns="0" tIns="0" rIns="0" rtlCol="0">
            <a:spAutoFit/>
          </a:bodyPr>
          <a:lstStyle/>
          <a:p>
            <a:pPr>
              <a:lnSpc>
                <a:spcPts val="3100"/>
              </a:lnSpc>
              <a:tabLst/>
            </a:pPr>
            <a:r>
              <a:rPr lang="en-US" altLang="zh-CN" sz="2645" dirty="0" smtClean="0">
                <a:solidFill>
                  <a:srgbClr val="000000"/>
                </a:solidFill>
                <a:latin typeface="Tahoma" pitchFamily="18" charset="0"/>
                <a:cs typeface="Tahoma" pitchFamily="18" charset="0"/>
              </a:rPr>
              <a:t>fuente.lst</a:t>
            </a:r>
          </a:p>
        </p:txBody>
      </p:sp>
      <p:sp>
        <p:nvSpPr>
          <p:cNvPr id="1024" name="TextBox 1"/>
          <p:cNvSpPr txBox="1"/>
          <p:nvPr/>
        </p:nvSpPr>
        <p:spPr>
          <a:xfrm>
            <a:off x="8737600" y="5295900"/>
            <a:ext cx="736600" cy="393700"/>
          </a:xfrm>
          <a:prstGeom prst="rect">
            <a:avLst/>
          </a:prstGeom>
          <a:noFill/>
        </p:spPr>
        <p:txBody>
          <a:bodyPr wrap="none" lIns="0" tIns="0" rIns="0" rtlCol="0">
            <a:spAutoFit/>
          </a:bodyPr>
          <a:lstStyle/>
          <a:p>
            <a:pPr>
              <a:lnSpc>
                <a:spcPts val="3100"/>
              </a:lnSpc>
              <a:tabLst/>
            </a:pPr>
            <a:r>
              <a:rPr lang="en-US" altLang="zh-CN" sz="2645" dirty="0" smtClean="0">
                <a:solidFill>
                  <a:srgbClr val="000000"/>
                </a:solidFill>
                <a:latin typeface="Tahoma" pitchFamily="18" charset="0"/>
                <a:cs typeface="Tahoma" pitchFamily="18" charset="0"/>
              </a:rPr>
              <a:t>otros</a:t>
            </a:r>
          </a:p>
        </p:txBody>
      </p:sp>
    </p:spTree>
    <p:extLst>
      <p:ext uri="{BB962C8B-B14F-4D97-AF65-F5344CB8AC3E}">
        <p14:creationId xmlns:p14="http://schemas.microsoft.com/office/powerpoint/2010/main" val="19267490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499" y="419100"/>
            <a:ext cx="9431921" cy="3149580"/>
          </a:xfrm>
          <a:prstGeom prst="rect">
            <a:avLst/>
          </a:prstGeom>
          <a:noFill/>
        </p:spPr>
        <p:txBody>
          <a:bodyPr wrap="square" lIns="0" tIns="0" rIns="0" rtlCol="0">
            <a:spAutoFit/>
          </a:bodyPr>
          <a:lstStyle/>
          <a:p>
            <a:pPr>
              <a:lnSpc>
                <a:spcPts val="3200"/>
              </a:lnSpc>
              <a:tabLst>
                <a:tab pos="3543300" algn="l"/>
              </a:tabLst>
            </a:pPr>
            <a:r>
              <a:rPr lang="en-US" altLang="zh-CN" sz="3200" dirty="0" smtClean="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Código Fuente</a:t>
            </a:r>
          </a:p>
          <a:p>
            <a:pPr>
              <a:lnSpc>
                <a:spcPts val="1000"/>
              </a:lnSpc>
            </a:pPr>
            <a:endParaRPr lang="en-US" altLang="zh-CN" sz="3200" dirty="0" smtClean="0"/>
          </a:p>
          <a:p>
            <a:pPr>
              <a:lnSpc>
                <a:spcPts val="1000"/>
              </a:lnSpc>
            </a:pPr>
            <a:endParaRPr lang="en-US" altLang="zh-CN" sz="3200" dirty="0" smtClean="0"/>
          </a:p>
          <a:p>
            <a:pPr>
              <a:lnSpc>
                <a:spcPts val="1000"/>
              </a:lnSpc>
            </a:pPr>
            <a:endParaRPr lang="en-US" altLang="zh-CN" sz="3200" dirty="0" smtClean="0"/>
          </a:p>
          <a:p>
            <a:pPr>
              <a:lnSpc>
                <a:spcPts val="1000"/>
              </a:lnSpc>
            </a:pPr>
            <a:endParaRPr lang="en-US" altLang="zh-CN" sz="3200" dirty="0" smtClean="0"/>
          </a:p>
          <a:p>
            <a:pPr>
              <a:lnSpc>
                <a:spcPts val="3400"/>
              </a:lnSpc>
              <a:tabLst>
                <a:tab pos="3543300" algn="l"/>
              </a:tabLst>
            </a:pPr>
            <a:r>
              <a:rPr lang="en-US" altLang="zh-CN" sz="3200" b="1" dirty="0" smtClean="0">
                <a:solidFill>
                  <a:srgbClr val="000000"/>
                </a:solidFill>
                <a:latin typeface="Times New Roman" pitchFamily="18" charset="0"/>
                <a:cs typeface="Times New Roman" pitchFamily="18" charset="0"/>
              </a:rPr>
              <a:t>El</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código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fuente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esta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compuesto</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por</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una</a:t>
            </a:r>
            <a:r>
              <a:rPr lang="en-US" altLang="zh-CN" sz="3200" b="1" dirty="0" smtClean="0">
                <a:solidFill>
                  <a:srgbClr val="000000"/>
                </a:solidFill>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sucesión</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líneas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programa.</a:t>
            </a:r>
            <a:r>
              <a:rPr lang="en-US" altLang="zh-CN" sz="3200" dirty="0" smtClean="0">
                <a:latin typeface="Times New Roman" pitchFamily="18" charset="0"/>
                <a:cs typeface="Times New Roman" pitchFamily="18" charset="0"/>
              </a:rPr>
              <a:t> </a:t>
            </a:r>
          </a:p>
          <a:p>
            <a:pPr>
              <a:lnSpc>
                <a:spcPts val="3400"/>
              </a:lnSpc>
              <a:tabLst>
                <a:tab pos="3543300" algn="l"/>
              </a:tabLst>
            </a:pPr>
            <a:endParaRPr lang="en-US" altLang="zh-CN" sz="3200" b="1" dirty="0" smtClean="0">
              <a:solidFill>
                <a:srgbClr val="000000"/>
              </a:solidFill>
              <a:latin typeface="Times New Roman" pitchFamily="18" charset="0"/>
              <a:cs typeface="Times New Roman" pitchFamily="18" charset="0"/>
            </a:endParaRPr>
          </a:p>
          <a:p>
            <a:pPr>
              <a:lnSpc>
                <a:spcPts val="3400"/>
              </a:lnSpc>
              <a:tabLst>
                <a:tab pos="3543300" algn="l"/>
              </a:tabLst>
            </a:pPr>
            <a:r>
              <a:rPr lang="en-US" altLang="zh-CN" sz="3200" b="1" dirty="0" err="1" smtClean="0">
                <a:solidFill>
                  <a:srgbClr val="000000"/>
                </a:solidFill>
                <a:latin typeface="Times New Roman" pitchFamily="18" charset="0"/>
                <a:cs typeface="Times New Roman" pitchFamily="18" charset="0"/>
              </a:rPr>
              <a:t>Todos</a:t>
            </a:r>
            <a:r>
              <a:rPr lang="en-US" altLang="zh-CN" sz="3200" b="1" dirty="0" smtClean="0">
                <a:solidFill>
                  <a:srgbClr val="000000"/>
                </a:solidFill>
                <a:latin typeface="Times New Roman" pitchFamily="18" charset="0"/>
                <a:cs typeface="Times New Roman" pitchFamily="18" charset="0"/>
              </a:rPr>
              <a:t> los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archivos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fuentes</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poseen</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una</a:t>
            </a:r>
            <a:r>
              <a:rPr lang="en-US" altLang="zh-CN" sz="3200" b="1" dirty="0" smtClean="0">
                <a:solidFill>
                  <a:srgbClr val="000000"/>
                </a:solidFill>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estructura</a:t>
            </a:r>
            <a:r>
              <a:rPr lang="en-US" altLang="zh-CN" sz="3200" b="1" dirty="0" smtClean="0">
                <a:solidFill>
                  <a:srgbClr val="000000"/>
                </a:solidFill>
                <a:latin typeface="Times New Roman" pitchFamily="18" charset="0"/>
                <a:cs typeface="Times New Roman" pitchFamily="18" charset="0"/>
              </a:rPr>
              <a:t> similar</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independientemente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del </a:t>
            </a:r>
            <a:r>
              <a:rPr lang="en-US" altLang="zh-CN" sz="3200" b="1" dirty="0" err="1" smtClean="0">
                <a:solidFill>
                  <a:srgbClr val="000000"/>
                </a:solidFill>
                <a:latin typeface="Times New Roman" pitchFamily="18" charset="0"/>
                <a:cs typeface="Times New Roman" pitchFamily="18" charset="0"/>
              </a:rPr>
              <a:t>procesador</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utilizado.</a:t>
            </a:r>
          </a:p>
        </p:txBody>
      </p:sp>
      <p:sp>
        <p:nvSpPr>
          <p:cNvPr id="15" name="TextBox 1"/>
          <p:cNvSpPr txBox="1"/>
          <p:nvPr/>
        </p:nvSpPr>
        <p:spPr>
          <a:xfrm>
            <a:off x="1079500" y="4051300"/>
            <a:ext cx="139700" cy="2095500"/>
          </a:xfrm>
          <a:prstGeom prst="rect">
            <a:avLst/>
          </a:prstGeom>
          <a:noFill/>
        </p:spPr>
        <p:txBody>
          <a:bodyPr wrap="none" lIns="0" tIns="0" rIns="0" rtlCol="0">
            <a:spAutoFit/>
          </a:bodyPr>
          <a:lstStyle/>
          <a:p>
            <a:pPr>
              <a:lnSpc>
                <a:spcPts val="3200"/>
              </a:lnSpc>
              <a:tabLst/>
            </a:pPr>
            <a:r>
              <a:rPr lang="en-US" altLang="zh-CN" sz="2315" dirty="0" smtClean="0">
                <a:solidFill>
                  <a:srgbClr val="FC0128"/>
                </a:solidFill>
                <a:latin typeface="Arial Black" pitchFamily="18" charset="0"/>
                <a:cs typeface="Arial Black" pitchFamily="18" charset="0"/>
              </a:rPr>
              <a:t>–</a:t>
            </a:r>
          </a:p>
          <a:p>
            <a:pPr>
              <a:lnSpc>
                <a:spcPts val="1000"/>
              </a:lnSpc>
            </a:pPr>
            <a:endParaRPr lang="en-US" altLang="zh-CN" dirty="0" smtClean="0"/>
          </a:p>
          <a:p>
            <a:pPr>
              <a:lnSpc>
                <a:spcPts val="3400"/>
              </a:lnSpc>
              <a:tabLst/>
            </a:pPr>
            <a:r>
              <a:rPr lang="en-US" altLang="zh-CN" sz="2315" dirty="0" smtClean="0">
                <a:solidFill>
                  <a:srgbClr val="FC0128"/>
                </a:solidFill>
                <a:latin typeface="Arial Black" pitchFamily="18" charset="0"/>
                <a:cs typeface="Arial Black" pitchFamily="18" charset="0"/>
              </a:rPr>
              <a:t>–</a:t>
            </a:r>
          </a:p>
          <a:p>
            <a:pPr>
              <a:lnSpc>
                <a:spcPts val="1000"/>
              </a:lnSpc>
            </a:pPr>
            <a:endParaRPr lang="en-US" altLang="zh-CN" dirty="0" smtClean="0"/>
          </a:p>
          <a:p>
            <a:pPr>
              <a:lnSpc>
                <a:spcPts val="3400"/>
              </a:lnSpc>
              <a:tabLst/>
            </a:pPr>
            <a:r>
              <a:rPr lang="en-US" altLang="zh-CN" sz="2315" dirty="0" smtClean="0">
                <a:solidFill>
                  <a:srgbClr val="FC0128"/>
                </a:solidFill>
                <a:latin typeface="Arial Black" pitchFamily="18" charset="0"/>
                <a:cs typeface="Arial Black" pitchFamily="18" charset="0"/>
              </a:rPr>
              <a:t>–</a:t>
            </a:r>
          </a:p>
          <a:p>
            <a:pPr>
              <a:lnSpc>
                <a:spcPts val="1000"/>
              </a:lnSpc>
            </a:pPr>
            <a:endParaRPr lang="en-US" altLang="zh-CN" dirty="0" smtClean="0"/>
          </a:p>
          <a:p>
            <a:pPr>
              <a:lnSpc>
                <a:spcPts val="3400"/>
              </a:lnSpc>
              <a:tabLst/>
            </a:pPr>
            <a:r>
              <a:rPr lang="en-US" altLang="zh-CN" sz="2315" dirty="0" smtClean="0">
                <a:solidFill>
                  <a:srgbClr val="FC0128"/>
                </a:solidFill>
                <a:latin typeface="Arial Black" pitchFamily="18" charset="0"/>
                <a:cs typeface="Arial Black" pitchFamily="18" charset="0"/>
              </a:rPr>
              <a:t>–</a:t>
            </a:r>
          </a:p>
        </p:txBody>
      </p:sp>
      <p:sp>
        <p:nvSpPr>
          <p:cNvPr id="16" name="TextBox 1"/>
          <p:cNvSpPr txBox="1"/>
          <p:nvPr/>
        </p:nvSpPr>
        <p:spPr>
          <a:xfrm>
            <a:off x="1384300" y="4089400"/>
            <a:ext cx="5341206" cy="2098010"/>
          </a:xfrm>
          <a:prstGeom prst="rect">
            <a:avLst/>
          </a:prstGeom>
          <a:noFill/>
        </p:spPr>
        <p:txBody>
          <a:bodyPr wrap="none" lIns="0" tIns="0" rIns="0" rtlCol="0">
            <a:spAutoFit/>
          </a:bodyPr>
          <a:lstStyle/>
          <a:p>
            <a:pPr>
              <a:lnSpc>
                <a:spcPts val="2800"/>
              </a:lnSpc>
              <a:tabLst/>
            </a:pPr>
            <a:r>
              <a:rPr lang="en-US" altLang="zh-CN" sz="3084" b="1" dirty="0" smtClean="0">
                <a:solidFill>
                  <a:srgbClr val="000000"/>
                </a:solidFill>
                <a:latin typeface="Times New Roman" pitchFamily="18" charset="0"/>
                <a:cs typeface="Times New Roman" pitchFamily="18" charset="0"/>
              </a:rPr>
              <a:t>Campo</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etiquetas</a:t>
            </a:r>
          </a:p>
          <a:p>
            <a:pPr>
              <a:lnSpc>
                <a:spcPts val="1000"/>
              </a:lnSpc>
            </a:pPr>
            <a:endParaRPr lang="en-US" altLang="zh-CN" dirty="0" smtClean="0"/>
          </a:p>
          <a:p>
            <a:pPr>
              <a:lnSpc>
                <a:spcPts val="3400"/>
              </a:lnSpc>
              <a:tabLst/>
            </a:pPr>
            <a:r>
              <a:rPr lang="en-US" altLang="zh-CN" sz="3084" b="1" dirty="0" smtClean="0">
                <a:solidFill>
                  <a:srgbClr val="000000"/>
                </a:solidFill>
                <a:latin typeface="Times New Roman" pitchFamily="18" charset="0"/>
                <a:cs typeface="Times New Roman" pitchFamily="18" charset="0"/>
              </a:rPr>
              <a:t>Campo</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códigos</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operación</a:t>
            </a:r>
          </a:p>
          <a:p>
            <a:pPr>
              <a:lnSpc>
                <a:spcPts val="1000"/>
              </a:lnSpc>
            </a:pPr>
            <a:endParaRPr lang="en-US" altLang="zh-CN" dirty="0" smtClean="0"/>
          </a:p>
          <a:p>
            <a:pPr>
              <a:lnSpc>
                <a:spcPts val="3400"/>
              </a:lnSpc>
              <a:tabLst/>
            </a:pPr>
            <a:r>
              <a:rPr lang="en-US" altLang="zh-CN" sz="3084" b="1" dirty="0" smtClean="0">
                <a:solidFill>
                  <a:srgbClr val="000000"/>
                </a:solidFill>
                <a:latin typeface="Times New Roman" pitchFamily="18" charset="0"/>
                <a:cs typeface="Times New Roman" pitchFamily="18" charset="0"/>
              </a:rPr>
              <a:t>Campo</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de</a:t>
            </a:r>
            <a:r>
              <a:rPr lang="en-US" altLang="zh-CN" sz="3084" dirty="0" smtClean="0">
                <a:latin typeface="Times New Roman" pitchFamily="18" charset="0"/>
                <a:cs typeface="Times New Roman" pitchFamily="18" charset="0"/>
              </a:rPr>
              <a:t> </a:t>
            </a:r>
            <a:r>
              <a:rPr lang="en-US" altLang="zh-CN" sz="3084" b="1" dirty="0" err="1" smtClean="0">
                <a:solidFill>
                  <a:srgbClr val="000000"/>
                </a:solidFill>
                <a:latin typeface="Times New Roman" pitchFamily="18" charset="0"/>
                <a:cs typeface="Times New Roman" pitchFamily="18" charset="0"/>
              </a:rPr>
              <a:t>operándos</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y</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datos</a:t>
            </a:r>
          </a:p>
          <a:p>
            <a:pPr>
              <a:lnSpc>
                <a:spcPts val="1000"/>
              </a:lnSpc>
            </a:pPr>
            <a:endParaRPr lang="en-US" altLang="zh-CN" dirty="0" smtClean="0"/>
          </a:p>
          <a:p>
            <a:pPr>
              <a:lnSpc>
                <a:spcPts val="3400"/>
              </a:lnSpc>
              <a:tabLst/>
            </a:pPr>
            <a:r>
              <a:rPr lang="en-US" altLang="zh-CN" sz="3084" b="1" dirty="0" smtClean="0">
                <a:solidFill>
                  <a:srgbClr val="000000"/>
                </a:solidFill>
                <a:latin typeface="Times New Roman" pitchFamily="18" charset="0"/>
                <a:cs typeface="Times New Roman" pitchFamily="18" charset="0"/>
              </a:rPr>
              <a:t>Campo</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comentarios</a:t>
            </a:r>
          </a:p>
        </p:txBody>
      </p:sp>
    </p:spTree>
    <p:extLst>
      <p:ext uri="{BB962C8B-B14F-4D97-AF65-F5344CB8AC3E}">
        <p14:creationId xmlns:p14="http://schemas.microsoft.com/office/powerpoint/2010/main" val="1497796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2340749" y="1460753"/>
            <a:ext cx="13716" cy="217169"/>
          </a:xfrm>
          <a:custGeom>
            <a:avLst/>
            <a:gdLst>
              <a:gd name="connsiteX0" fmla="*/ 6858 w 13716"/>
              <a:gd name="connsiteY0" fmla="*/ 0 h 217169"/>
              <a:gd name="connsiteX1" fmla="*/ 6858 w 13716"/>
              <a:gd name="connsiteY1" fmla="*/ 217169 h 217169"/>
            </a:gdLst>
            <a:ahLst/>
            <a:cxnLst>
              <a:cxn ang="0">
                <a:pos x="connsiteX0" y="connsiteY0"/>
              </a:cxn>
              <a:cxn ang="1">
                <a:pos x="connsiteX1" y="connsiteY1"/>
              </a:cxn>
            </a:cxnLst>
            <a:rect l="l" t="t" r="r" b="b"/>
            <a:pathLst>
              <a:path w="13716" h="217169">
                <a:moveTo>
                  <a:pt x="6858" y="0"/>
                </a:moveTo>
                <a:lnTo>
                  <a:pt x="6858" y="217169"/>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Freeform 3"/>
          <p:cNvSpPr/>
          <p:nvPr/>
        </p:nvSpPr>
        <p:spPr>
          <a:xfrm>
            <a:off x="2922917" y="1460753"/>
            <a:ext cx="13716" cy="217169"/>
          </a:xfrm>
          <a:custGeom>
            <a:avLst/>
            <a:gdLst>
              <a:gd name="connsiteX0" fmla="*/ 6858 w 13716"/>
              <a:gd name="connsiteY0" fmla="*/ 0 h 217169"/>
              <a:gd name="connsiteX1" fmla="*/ 6858 w 13716"/>
              <a:gd name="connsiteY1" fmla="*/ 217169 h 217169"/>
            </a:gdLst>
            <a:ahLst/>
            <a:cxnLst>
              <a:cxn ang="0">
                <a:pos x="connsiteX0" y="connsiteY0"/>
              </a:cxn>
              <a:cxn ang="1">
                <a:pos x="connsiteX1" y="connsiteY1"/>
              </a:cxn>
            </a:cxnLst>
            <a:rect l="l" t="t" r="r" b="b"/>
            <a:pathLst>
              <a:path w="13716" h="217169">
                <a:moveTo>
                  <a:pt x="6858" y="0"/>
                </a:moveTo>
                <a:lnTo>
                  <a:pt x="6858" y="217169"/>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Freeform 3"/>
          <p:cNvSpPr/>
          <p:nvPr/>
        </p:nvSpPr>
        <p:spPr>
          <a:xfrm>
            <a:off x="4098683" y="1460753"/>
            <a:ext cx="13716" cy="217169"/>
          </a:xfrm>
          <a:custGeom>
            <a:avLst/>
            <a:gdLst>
              <a:gd name="connsiteX0" fmla="*/ 6858 w 13716"/>
              <a:gd name="connsiteY0" fmla="*/ 0 h 217169"/>
              <a:gd name="connsiteX1" fmla="*/ 6858 w 13716"/>
              <a:gd name="connsiteY1" fmla="*/ 217169 h 217169"/>
            </a:gdLst>
            <a:ahLst/>
            <a:cxnLst>
              <a:cxn ang="0">
                <a:pos x="connsiteX0" y="connsiteY0"/>
              </a:cxn>
              <a:cxn ang="1">
                <a:pos x="connsiteX1" y="connsiteY1"/>
              </a:cxn>
            </a:cxnLst>
            <a:rect l="l" t="t" r="r" b="b"/>
            <a:pathLst>
              <a:path w="13716" h="217169">
                <a:moveTo>
                  <a:pt x="6858" y="0"/>
                </a:moveTo>
                <a:lnTo>
                  <a:pt x="6858" y="217169"/>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2340749" y="1677923"/>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Freeform 3"/>
          <p:cNvSpPr/>
          <p:nvPr/>
        </p:nvSpPr>
        <p:spPr>
          <a:xfrm>
            <a:off x="2922917" y="1677923"/>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Freeform 3"/>
          <p:cNvSpPr/>
          <p:nvPr/>
        </p:nvSpPr>
        <p:spPr>
          <a:xfrm>
            <a:off x="4098683" y="1677923"/>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3"/>
          <p:cNvSpPr/>
          <p:nvPr/>
        </p:nvSpPr>
        <p:spPr>
          <a:xfrm>
            <a:off x="2340749"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Freeform 3"/>
          <p:cNvSpPr/>
          <p:nvPr/>
        </p:nvSpPr>
        <p:spPr>
          <a:xfrm>
            <a:off x="2922917"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Freeform 3"/>
          <p:cNvSpPr/>
          <p:nvPr/>
        </p:nvSpPr>
        <p:spPr>
          <a:xfrm>
            <a:off x="4098683"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3"/>
          <p:cNvSpPr/>
          <p:nvPr/>
        </p:nvSpPr>
        <p:spPr>
          <a:xfrm>
            <a:off x="2340749"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Freeform 3"/>
          <p:cNvSpPr/>
          <p:nvPr/>
        </p:nvSpPr>
        <p:spPr>
          <a:xfrm>
            <a:off x="2922917"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Freeform 3"/>
          <p:cNvSpPr/>
          <p:nvPr/>
        </p:nvSpPr>
        <p:spPr>
          <a:xfrm>
            <a:off x="4098683"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Freeform 3"/>
          <p:cNvSpPr/>
          <p:nvPr/>
        </p:nvSpPr>
        <p:spPr>
          <a:xfrm>
            <a:off x="2340749"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Freeform 3"/>
          <p:cNvSpPr/>
          <p:nvPr/>
        </p:nvSpPr>
        <p:spPr>
          <a:xfrm>
            <a:off x="2922917"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Freeform 3"/>
          <p:cNvSpPr/>
          <p:nvPr/>
        </p:nvSpPr>
        <p:spPr>
          <a:xfrm>
            <a:off x="4098683"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Freeform 3"/>
          <p:cNvSpPr/>
          <p:nvPr/>
        </p:nvSpPr>
        <p:spPr>
          <a:xfrm>
            <a:off x="2340749" y="5033771"/>
            <a:ext cx="13716" cy="838962"/>
          </a:xfrm>
          <a:custGeom>
            <a:avLst/>
            <a:gdLst>
              <a:gd name="connsiteX0" fmla="*/ 6858 w 13716"/>
              <a:gd name="connsiteY0" fmla="*/ 0 h 838962"/>
              <a:gd name="connsiteX1" fmla="*/ 6858 w 13716"/>
              <a:gd name="connsiteY1" fmla="*/ 838962 h 838962"/>
            </a:gdLst>
            <a:ahLst/>
            <a:cxnLst>
              <a:cxn ang="0">
                <a:pos x="connsiteX0" y="connsiteY0"/>
              </a:cxn>
              <a:cxn ang="1">
                <a:pos x="connsiteX1" y="connsiteY1"/>
              </a:cxn>
            </a:cxnLst>
            <a:rect l="l" t="t" r="r" b="b"/>
            <a:pathLst>
              <a:path w="13716" h="838962">
                <a:moveTo>
                  <a:pt x="6858" y="0"/>
                </a:moveTo>
                <a:lnTo>
                  <a:pt x="6858" y="83896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Freeform 3"/>
          <p:cNvSpPr/>
          <p:nvPr/>
        </p:nvSpPr>
        <p:spPr>
          <a:xfrm>
            <a:off x="2922917" y="5033771"/>
            <a:ext cx="13716" cy="838962"/>
          </a:xfrm>
          <a:custGeom>
            <a:avLst/>
            <a:gdLst>
              <a:gd name="connsiteX0" fmla="*/ 6858 w 13716"/>
              <a:gd name="connsiteY0" fmla="*/ 0 h 838962"/>
              <a:gd name="connsiteX1" fmla="*/ 6858 w 13716"/>
              <a:gd name="connsiteY1" fmla="*/ 838962 h 838962"/>
            </a:gdLst>
            <a:ahLst/>
            <a:cxnLst>
              <a:cxn ang="0">
                <a:pos x="connsiteX0" y="connsiteY0"/>
              </a:cxn>
              <a:cxn ang="1">
                <a:pos x="connsiteX1" y="connsiteY1"/>
              </a:cxn>
            </a:cxnLst>
            <a:rect l="l" t="t" r="r" b="b"/>
            <a:pathLst>
              <a:path w="13716" h="838962">
                <a:moveTo>
                  <a:pt x="6858" y="0"/>
                </a:moveTo>
                <a:lnTo>
                  <a:pt x="6858" y="83896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Freeform 3"/>
          <p:cNvSpPr/>
          <p:nvPr/>
        </p:nvSpPr>
        <p:spPr>
          <a:xfrm>
            <a:off x="4098683" y="5033771"/>
            <a:ext cx="13716" cy="838962"/>
          </a:xfrm>
          <a:custGeom>
            <a:avLst/>
            <a:gdLst>
              <a:gd name="connsiteX0" fmla="*/ 6858 w 13716"/>
              <a:gd name="connsiteY0" fmla="*/ 0 h 838962"/>
              <a:gd name="connsiteX1" fmla="*/ 6858 w 13716"/>
              <a:gd name="connsiteY1" fmla="*/ 838962 h 838962"/>
            </a:gdLst>
            <a:ahLst/>
            <a:cxnLst>
              <a:cxn ang="0">
                <a:pos x="connsiteX0" y="connsiteY0"/>
              </a:cxn>
              <a:cxn ang="1">
                <a:pos x="connsiteX1" y="connsiteY1"/>
              </a:cxn>
            </a:cxnLst>
            <a:rect l="l" t="t" r="r" b="b"/>
            <a:pathLst>
              <a:path w="13716" h="838962">
                <a:moveTo>
                  <a:pt x="6858" y="0"/>
                </a:moveTo>
                <a:lnTo>
                  <a:pt x="6858" y="83896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3"/>
          <p:cNvSpPr/>
          <p:nvPr/>
        </p:nvSpPr>
        <p:spPr>
          <a:xfrm>
            <a:off x="2340749" y="5885434"/>
            <a:ext cx="13716" cy="825500"/>
          </a:xfrm>
          <a:custGeom>
            <a:avLst/>
            <a:gdLst>
              <a:gd name="connsiteX0" fmla="*/ 6857 w 13716"/>
              <a:gd name="connsiteY0" fmla="*/ 0 h 825500"/>
              <a:gd name="connsiteX1" fmla="*/ 6857 w 13716"/>
              <a:gd name="connsiteY1" fmla="*/ 825500 h 825500"/>
            </a:gdLst>
            <a:ahLst/>
            <a:cxnLst>
              <a:cxn ang="0">
                <a:pos x="connsiteX0" y="connsiteY0"/>
              </a:cxn>
              <a:cxn ang="1">
                <a:pos x="connsiteX1" y="connsiteY1"/>
              </a:cxn>
            </a:cxnLst>
            <a:rect l="l" t="t" r="r" b="b"/>
            <a:pathLst>
              <a:path w="13716" h="825500">
                <a:moveTo>
                  <a:pt x="6857" y="0"/>
                </a:moveTo>
                <a:lnTo>
                  <a:pt x="6857" y="82550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4" name="Freeform 3"/>
          <p:cNvSpPr/>
          <p:nvPr/>
        </p:nvSpPr>
        <p:spPr>
          <a:xfrm>
            <a:off x="2922917" y="5885434"/>
            <a:ext cx="13716" cy="825500"/>
          </a:xfrm>
          <a:custGeom>
            <a:avLst/>
            <a:gdLst>
              <a:gd name="connsiteX0" fmla="*/ 6857 w 13716"/>
              <a:gd name="connsiteY0" fmla="*/ 0 h 825500"/>
              <a:gd name="connsiteX1" fmla="*/ 6857 w 13716"/>
              <a:gd name="connsiteY1" fmla="*/ 825500 h 825500"/>
            </a:gdLst>
            <a:ahLst/>
            <a:cxnLst>
              <a:cxn ang="0">
                <a:pos x="connsiteX0" y="connsiteY0"/>
              </a:cxn>
              <a:cxn ang="1">
                <a:pos x="connsiteX1" y="connsiteY1"/>
              </a:cxn>
            </a:cxnLst>
            <a:rect l="l" t="t" r="r" b="b"/>
            <a:pathLst>
              <a:path w="13716" h="825500">
                <a:moveTo>
                  <a:pt x="6857" y="0"/>
                </a:moveTo>
                <a:lnTo>
                  <a:pt x="6857" y="82550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5" name="Freeform 3"/>
          <p:cNvSpPr/>
          <p:nvPr/>
        </p:nvSpPr>
        <p:spPr>
          <a:xfrm>
            <a:off x="4098683" y="5885434"/>
            <a:ext cx="13716" cy="825500"/>
          </a:xfrm>
          <a:custGeom>
            <a:avLst/>
            <a:gdLst>
              <a:gd name="connsiteX0" fmla="*/ 6858 w 13716"/>
              <a:gd name="connsiteY0" fmla="*/ 0 h 825500"/>
              <a:gd name="connsiteX1" fmla="*/ 6858 w 13716"/>
              <a:gd name="connsiteY1" fmla="*/ 825500 h 825500"/>
            </a:gdLst>
            <a:ahLst/>
            <a:cxnLst>
              <a:cxn ang="0">
                <a:pos x="connsiteX0" y="connsiteY0"/>
              </a:cxn>
              <a:cxn ang="1">
                <a:pos x="connsiteX1" y="connsiteY1"/>
              </a:cxn>
            </a:cxnLst>
            <a:rect l="l" t="t" r="r" b="b"/>
            <a:pathLst>
              <a:path w="13716" h="825500">
                <a:moveTo>
                  <a:pt x="6858" y="0"/>
                </a:moveTo>
                <a:lnTo>
                  <a:pt x="6858" y="82550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6"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9" name="Freeform 3"/>
          <p:cNvSpPr/>
          <p:nvPr/>
        </p:nvSpPr>
        <p:spPr>
          <a:xfrm>
            <a:off x="2340749" y="6711695"/>
            <a:ext cx="13716" cy="509016"/>
          </a:xfrm>
          <a:custGeom>
            <a:avLst/>
            <a:gdLst>
              <a:gd name="connsiteX0" fmla="*/ 6858 w 13716"/>
              <a:gd name="connsiteY0" fmla="*/ 0 h 509016"/>
              <a:gd name="connsiteX1" fmla="*/ 6858 w 13716"/>
              <a:gd name="connsiteY1" fmla="*/ 509016 h 509016"/>
            </a:gdLst>
            <a:ahLst/>
            <a:cxnLst>
              <a:cxn ang="0">
                <a:pos x="connsiteX0" y="connsiteY0"/>
              </a:cxn>
              <a:cxn ang="1">
                <a:pos x="connsiteX1" y="connsiteY1"/>
              </a:cxn>
            </a:cxnLst>
            <a:rect l="l" t="t" r="r" b="b"/>
            <a:pathLst>
              <a:path w="13716" h="509016">
                <a:moveTo>
                  <a:pt x="6858" y="0"/>
                </a:moveTo>
                <a:lnTo>
                  <a:pt x="6858" y="509016"/>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0" name="Freeform 3"/>
          <p:cNvSpPr/>
          <p:nvPr/>
        </p:nvSpPr>
        <p:spPr>
          <a:xfrm>
            <a:off x="2922917" y="6711695"/>
            <a:ext cx="13716" cy="526542"/>
          </a:xfrm>
          <a:custGeom>
            <a:avLst/>
            <a:gdLst>
              <a:gd name="connsiteX0" fmla="*/ 6858 w 13716"/>
              <a:gd name="connsiteY0" fmla="*/ 0 h 526542"/>
              <a:gd name="connsiteX1" fmla="*/ 6858 w 13716"/>
              <a:gd name="connsiteY1" fmla="*/ 526542 h 526542"/>
            </a:gdLst>
            <a:ahLst/>
            <a:cxnLst>
              <a:cxn ang="0">
                <a:pos x="connsiteX0" y="connsiteY0"/>
              </a:cxn>
              <a:cxn ang="1">
                <a:pos x="connsiteX1" y="connsiteY1"/>
              </a:cxn>
            </a:cxnLst>
            <a:rect l="l" t="t" r="r" b="b"/>
            <a:pathLst>
              <a:path w="13716" h="526542">
                <a:moveTo>
                  <a:pt x="6858" y="0"/>
                </a:moveTo>
                <a:lnTo>
                  <a:pt x="6858" y="52654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1" name="Freeform 3"/>
          <p:cNvSpPr/>
          <p:nvPr/>
        </p:nvSpPr>
        <p:spPr>
          <a:xfrm>
            <a:off x="4098683" y="6711695"/>
            <a:ext cx="13716" cy="526542"/>
          </a:xfrm>
          <a:custGeom>
            <a:avLst/>
            <a:gdLst>
              <a:gd name="connsiteX0" fmla="*/ 6858 w 13716"/>
              <a:gd name="connsiteY0" fmla="*/ 0 h 526542"/>
              <a:gd name="connsiteX1" fmla="*/ 6858 w 13716"/>
              <a:gd name="connsiteY1" fmla="*/ 526542 h 526542"/>
            </a:gdLst>
            <a:ahLst/>
            <a:cxnLst>
              <a:cxn ang="0">
                <a:pos x="connsiteX0" y="connsiteY0"/>
              </a:cxn>
              <a:cxn ang="1">
                <a:pos x="connsiteX1" y="connsiteY1"/>
              </a:cxn>
            </a:cxnLst>
            <a:rect l="l" t="t" r="r" b="b"/>
            <a:pathLst>
              <a:path w="13716" h="526542">
                <a:moveTo>
                  <a:pt x="6858" y="0"/>
                </a:moveTo>
                <a:lnTo>
                  <a:pt x="6858" y="52654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32" name="Picture 3"/>
          <p:cNvPicPr>
            <a:picLocks noChangeAspect="1" noChangeArrowheads="1"/>
          </p:cNvPicPr>
          <p:nvPr/>
        </p:nvPicPr>
        <p:blipFill>
          <a:blip r:embed="rId2"/>
          <a:srcRect/>
          <a:stretch>
            <a:fillRect/>
          </a:stretch>
        </p:blipFill>
        <p:spPr bwMode="auto">
          <a:xfrm>
            <a:off x="1028700" y="1752600"/>
            <a:ext cx="8928100" cy="5245100"/>
          </a:xfrm>
          <a:prstGeom prst="rect">
            <a:avLst/>
          </a:prstGeom>
          <a:noFill/>
        </p:spPr>
      </p:pic>
      <p:sp>
        <p:nvSpPr>
          <p:cNvPr id="2" name="TextBox 1"/>
          <p:cNvSpPr txBox="1"/>
          <p:nvPr/>
        </p:nvSpPr>
        <p:spPr>
          <a:xfrm>
            <a:off x="3429000" y="317500"/>
            <a:ext cx="5257800" cy="406400"/>
          </a:xfrm>
          <a:prstGeom prst="rect">
            <a:avLst/>
          </a:prstGeom>
          <a:noFill/>
        </p:spPr>
        <p:txBody>
          <a:bodyPr wrap="none" lIns="0" tIns="0" rIns="0" rtlCol="0">
            <a:spAutoFit/>
          </a:bodyPr>
          <a:lstStyle/>
          <a:p>
            <a:pPr>
              <a:lnSpc>
                <a:spcPts val="3200"/>
              </a:lnSpc>
              <a:tabLst/>
            </a:pPr>
            <a:r>
              <a:rPr lang="en-US" altLang="zh-CN" sz="3527" b="1" dirty="0" smtClean="0">
                <a:solidFill>
                  <a:srgbClr val="000000"/>
                </a:solidFill>
                <a:latin typeface="Times New Roman" pitchFamily="18" charset="0"/>
                <a:cs typeface="Times New Roman" pitchFamily="18" charset="0"/>
              </a:rPr>
              <a:t>Código</a:t>
            </a:r>
            <a:r>
              <a:rPr lang="en-US" altLang="zh-CN" sz="3527" dirty="0" smtClean="0">
                <a:latin typeface="Times New Roman" pitchFamily="18" charset="0"/>
                <a:cs typeface="Times New Roman" pitchFamily="18" charset="0"/>
              </a:rPr>
              <a:t> </a:t>
            </a:r>
            <a:r>
              <a:rPr lang="en-US" altLang="zh-CN" sz="3527" b="1" dirty="0" smtClean="0">
                <a:solidFill>
                  <a:srgbClr val="000000"/>
                </a:solidFill>
                <a:latin typeface="Times New Roman" pitchFamily="18" charset="0"/>
                <a:cs typeface="Times New Roman" pitchFamily="18" charset="0"/>
              </a:rPr>
              <a:t>Fuente</a:t>
            </a:r>
            <a:r>
              <a:rPr lang="en-US" altLang="zh-CN" sz="3527" dirty="0" smtClean="0">
                <a:latin typeface="Times New Roman" pitchFamily="18" charset="0"/>
                <a:cs typeface="Times New Roman" pitchFamily="18" charset="0"/>
              </a:rPr>
              <a:t> </a:t>
            </a:r>
            <a:r>
              <a:rPr lang="en-US" altLang="zh-CN" sz="3527" b="1" dirty="0" smtClean="0">
                <a:solidFill>
                  <a:srgbClr val="000000"/>
                </a:solidFill>
                <a:latin typeface="Times New Roman" pitchFamily="18" charset="0"/>
                <a:cs typeface="Times New Roman" pitchFamily="18" charset="0"/>
              </a:rPr>
              <a:t>-</a:t>
            </a:r>
            <a:r>
              <a:rPr lang="en-US" altLang="zh-CN" sz="3527" dirty="0" smtClean="0">
                <a:latin typeface="Times New Roman" pitchFamily="18" charset="0"/>
                <a:cs typeface="Times New Roman" pitchFamily="18" charset="0"/>
              </a:rPr>
              <a:t> </a:t>
            </a:r>
            <a:r>
              <a:rPr lang="en-US" altLang="zh-CN" sz="3527" b="1" dirty="0" smtClean="0">
                <a:solidFill>
                  <a:srgbClr val="000000"/>
                </a:solidFill>
                <a:latin typeface="Times New Roman" pitchFamily="18" charset="0"/>
                <a:cs typeface="Times New Roman" pitchFamily="18" charset="0"/>
              </a:rPr>
              <a:t>Ejemplo</a:t>
            </a:r>
          </a:p>
        </p:txBody>
      </p:sp>
    </p:spTree>
    <p:extLst>
      <p:ext uri="{BB962C8B-B14F-4D97-AF65-F5344CB8AC3E}">
        <p14:creationId xmlns:p14="http://schemas.microsoft.com/office/powerpoint/2010/main" val="20143603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517277" y="1895094"/>
            <a:ext cx="14478" cy="621791"/>
          </a:xfrm>
          <a:custGeom>
            <a:avLst/>
            <a:gdLst>
              <a:gd name="connsiteX0" fmla="*/ 7239 w 14478"/>
              <a:gd name="connsiteY0" fmla="*/ 0 h 621791"/>
              <a:gd name="connsiteX1" fmla="*/ 7239 w 14478"/>
              <a:gd name="connsiteY1" fmla="*/ 621791 h 621791"/>
            </a:gdLst>
            <a:ahLst/>
            <a:cxnLst>
              <a:cxn ang="0">
                <a:pos x="connsiteX0" y="connsiteY0"/>
              </a:cxn>
              <a:cxn ang="1">
                <a:pos x="connsiteX1" y="connsiteY1"/>
              </a:cxn>
            </a:cxnLst>
            <a:rect l="l" t="t" r="r" b="b"/>
            <a:pathLst>
              <a:path w="14478" h="621791">
                <a:moveTo>
                  <a:pt x="7239" y="0"/>
                </a:moveTo>
                <a:lnTo>
                  <a:pt x="7239" y="62179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Freeform 3"/>
          <p:cNvSpPr/>
          <p:nvPr/>
        </p:nvSpPr>
        <p:spPr>
          <a:xfrm>
            <a:off x="4740287" y="1895094"/>
            <a:ext cx="13715" cy="621791"/>
          </a:xfrm>
          <a:custGeom>
            <a:avLst/>
            <a:gdLst>
              <a:gd name="connsiteX0" fmla="*/ 6858 w 13715"/>
              <a:gd name="connsiteY0" fmla="*/ 0 h 621791"/>
              <a:gd name="connsiteX1" fmla="*/ 6858 w 13715"/>
              <a:gd name="connsiteY1" fmla="*/ 621791 h 621791"/>
            </a:gdLst>
            <a:ahLst/>
            <a:cxnLst>
              <a:cxn ang="0">
                <a:pos x="connsiteX0" y="connsiteY0"/>
              </a:cxn>
              <a:cxn ang="1">
                <a:pos x="connsiteX1" y="connsiteY1"/>
              </a:cxn>
            </a:cxnLst>
            <a:rect l="l" t="t" r="r" b="b"/>
            <a:pathLst>
              <a:path w="13715" h="621791">
                <a:moveTo>
                  <a:pt x="6858" y="0"/>
                </a:moveTo>
                <a:lnTo>
                  <a:pt x="6858" y="62179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Freeform 3"/>
          <p:cNvSpPr/>
          <p:nvPr/>
        </p:nvSpPr>
        <p:spPr>
          <a:xfrm>
            <a:off x="7087996" y="1895094"/>
            <a:ext cx="13716" cy="621791"/>
          </a:xfrm>
          <a:custGeom>
            <a:avLst/>
            <a:gdLst>
              <a:gd name="connsiteX0" fmla="*/ 6858 w 13716"/>
              <a:gd name="connsiteY0" fmla="*/ 0 h 621791"/>
              <a:gd name="connsiteX1" fmla="*/ 6858 w 13716"/>
              <a:gd name="connsiteY1" fmla="*/ 621791 h 621791"/>
            </a:gdLst>
            <a:ahLst/>
            <a:cxnLst>
              <a:cxn ang="0">
                <a:pos x="connsiteX0" y="connsiteY0"/>
              </a:cxn>
              <a:cxn ang="1">
                <a:pos x="connsiteX1" y="connsiteY1"/>
              </a:cxn>
            </a:cxnLst>
            <a:rect l="l" t="t" r="r" b="b"/>
            <a:pathLst>
              <a:path w="13716" h="621791">
                <a:moveTo>
                  <a:pt x="6858" y="0"/>
                </a:moveTo>
                <a:lnTo>
                  <a:pt x="6858" y="62179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517277" y="2516885"/>
            <a:ext cx="14478" cy="838961"/>
          </a:xfrm>
          <a:custGeom>
            <a:avLst/>
            <a:gdLst>
              <a:gd name="connsiteX0" fmla="*/ 7239 w 14478"/>
              <a:gd name="connsiteY0" fmla="*/ 0 h 838961"/>
              <a:gd name="connsiteX1" fmla="*/ 7239 w 14478"/>
              <a:gd name="connsiteY1" fmla="*/ 838961 h 838961"/>
            </a:gdLst>
            <a:ahLst/>
            <a:cxnLst>
              <a:cxn ang="0">
                <a:pos x="connsiteX0" y="connsiteY0"/>
              </a:cxn>
              <a:cxn ang="1">
                <a:pos x="connsiteX1" y="connsiteY1"/>
              </a:cxn>
            </a:cxnLst>
            <a:rect l="l" t="t" r="r" b="b"/>
            <a:pathLst>
              <a:path w="14478" h="838961">
                <a:moveTo>
                  <a:pt x="7239" y="0"/>
                </a:moveTo>
                <a:lnTo>
                  <a:pt x="7239"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Freeform 3"/>
          <p:cNvSpPr/>
          <p:nvPr/>
        </p:nvSpPr>
        <p:spPr>
          <a:xfrm>
            <a:off x="4740287" y="2516885"/>
            <a:ext cx="13715" cy="838961"/>
          </a:xfrm>
          <a:custGeom>
            <a:avLst/>
            <a:gdLst>
              <a:gd name="connsiteX0" fmla="*/ 6858 w 13715"/>
              <a:gd name="connsiteY0" fmla="*/ 0 h 838961"/>
              <a:gd name="connsiteX1" fmla="*/ 6858 w 13715"/>
              <a:gd name="connsiteY1" fmla="*/ 838961 h 838961"/>
            </a:gdLst>
            <a:ahLst/>
            <a:cxnLst>
              <a:cxn ang="0">
                <a:pos x="connsiteX0" y="connsiteY0"/>
              </a:cxn>
              <a:cxn ang="1">
                <a:pos x="connsiteX1" y="connsiteY1"/>
              </a:cxn>
            </a:cxnLst>
            <a:rect l="l" t="t" r="r" b="b"/>
            <a:pathLst>
              <a:path w="13715"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Freeform 3"/>
          <p:cNvSpPr/>
          <p:nvPr/>
        </p:nvSpPr>
        <p:spPr>
          <a:xfrm>
            <a:off x="7087996"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3"/>
          <p:cNvSpPr/>
          <p:nvPr/>
        </p:nvSpPr>
        <p:spPr>
          <a:xfrm>
            <a:off x="3517277" y="3355847"/>
            <a:ext cx="14478" cy="838961"/>
          </a:xfrm>
          <a:custGeom>
            <a:avLst/>
            <a:gdLst>
              <a:gd name="connsiteX0" fmla="*/ 7239 w 14478"/>
              <a:gd name="connsiteY0" fmla="*/ 0 h 838961"/>
              <a:gd name="connsiteX1" fmla="*/ 7239 w 14478"/>
              <a:gd name="connsiteY1" fmla="*/ 838961 h 838961"/>
            </a:gdLst>
            <a:ahLst/>
            <a:cxnLst>
              <a:cxn ang="0">
                <a:pos x="connsiteX0" y="connsiteY0"/>
              </a:cxn>
              <a:cxn ang="1">
                <a:pos x="connsiteX1" y="connsiteY1"/>
              </a:cxn>
            </a:cxnLst>
            <a:rect l="l" t="t" r="r" b="b"/>
            <a:pathLst>
              <a:path w="14478" h="838961">
                <a:moveTo>
                  <a:pt x="7239" y="0"/>
                </a:moveTo>
                <a:lnTo>
                  <a:pt x="7239"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Freeform 3"/>
          <p:cNvSpPr/>
          <p:nvPr/>
        </p:nvSpPr>
        <p:spPr>
          <a:xfrm>
            <a:off x="4740287" y="3355847"/>
            <a:ext cx="13715" cy="838961"/>
          </a:xfrm>
          <a:custGeom>
            <a:avLst/>
            <a:gdLst>
              <a:gd name="connsiteX0" fmla="*/ 6858 w 13715"/>
              <a:gd name="connsiteY0" fmla="*/ 0 h 838961"/>
              <a:gd name="connsiteX1" fmla="*/ 6858 w 13715"/>
              <a:gd name="connsiteY1" fmla="*/ 838961 h 838961"/>
            </a:gdLst>
            <a:ahLst/>
            <a:cxnLst>
              <a:cxn ang="0">
                <a:pos x="connsiteX0" y="connsiteY0"/>
              </a:cxn>
              <a:cxn ang="1">
                <a:pos x="connsiteX1" y="connsiteY1"/>
              </a:cxn>
            </a:cxnLst>
            <a:rect l="l" t="t" r="r" b="b"/>
            <a:pathLst>
              <a:path w="13715"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Freeform 3"/>
          <p:cNvSpPr/>
          <p:nvPr/>
        </p:nvSpPr>
        <p:spPr>
          <a:xfrm>
            <a:off x="7087996"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3"/>
          <p:cNvSpPr/>
          <p:nvPr/>
        </p:nvSpPr>
        <p:spPr>
          <a:xfrm>
            <a:off x="3517277" y="4194809"/>
            <a:ext cx="14478" cy="838961"/>
          </a:xfrm>
          <a:custGeom>
            <a:avLst/>
            <a:gdLst>
              <a:gd name="connsiteX0" fmla="*/ 7239 w 14478"/>
              <a:gd name="connsiteY0" fmla="*/ 0 h 838961"/>
              <a:gd name="connsiteX1" fmla="*/ 7239 w 14478"/>
              <a:gd name="connsiteY1" fmla="*/ 838961 h 838961"/>
            </a:gdLst>
            <a:ahLst/>
            <a:cxnLst>
              <a:cxn ang="0">
                <a:pos x="connsiteX0" y="connsiteY0"/>
              </a:cxn>
              <a:cxn ang="1">
                <a:pos x="connsiteX1" y="connsiteY1"/>
              </a:cxn>
            </a:cxnLst>
            <a:rect l="l" t="t" r="r" b="b"/>
            <a:pathLst>
              <a:path w="14478" h="838961">
                <a:moveTo>
                  <a:pt x="7239" y="0"/>
                </a:moveTo>
                <a:lnTo>
                  <a:pt x="7239"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Freeform 3"/>
          <p:cNvSpPr/>
          <p:nvPr/>
        </p:nvSpPr>
        <p:spPr>
          <a:xfrm>
            <a:off x="4740287" y="4194809"/>
            <a:ext cx="13715" cy="838961"/>
          </a:xfrm>
          <a:custGeom>
            <a:avLst/>
            <a:gdLst>
              <a:gd name="connsiteX0" fmla="*/ 6858 w 13715"/>
              <a:gd name="connsiteY0" fmla="*/ 0 h 838961"/>
              <a:gd name="connsiteX1" fmla="*/ 6858 w 13715"/>
              <a:gd name="connsiteY1" fmla="*/ 838961 h 838961"/>
            </a:gdLst>
            <a:ahLst/>
            <a:cxnLst>
              <a:cxn ang="0">
                <a:pos x="connsiteX0" y="connsiteY0"/>
              </a:cxn>
              <a:cxn ang="1">
                <a:pos x="connsiteX1" y="connsiteY1"/>
              </a:cxn>
            </a:cxnLst>
            <a:rect l="l" t="t" r="r" b="b"/>
            <a:pathLst>
              <a:path w="13715"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Freeform 3"/>
          <p:cNvSpPr/>
          <p:nvPr/>
        </p:nvSpPr>
        <p:spPr>
          <a:xfrm>
            <a:off x="7087996"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5" name="Picture 3"/>
          <p:cNvPicPr>
            <a:picLocks noChangeAspect="1" noChangeArrowheads="1"/>
          </p:cNvPicPr>
          <p:nvPr/>
        </p:nvPicPr>
        <p:blipFill>
          <a:blip r:embed="rId2"/>
          <a:srcRect/>
          <a:stretch>
            <a:fillRect/>
          </a:stretch>
        </p:blipFill>
        <p:spPr bwMode="auto">
          <a:xfrm>
            <a:off x="936297" y="951870"/>
            <a:ext cx="8737600" cy="4114800"/>
          </a:xfrm>
          <a:prstGeom prst="rect">
            <a:avLst/>
          </a:prstGeom>
          <a:noFill/>
        </p:spPr>
      </p:pic>
      <p:sp>
        <p:nvSpPr>
          <p:cNvPr id="2" name="TextBox 1"/>
          <p:cNvSpPr txBox="1"/>
          <p:nvPr/>
        </p:nvSpPr>
        <p:spPr>
          <a:xfrm>
            <a:off x="3429000" y="317500"/>
            <a:ext cx="4619854" cy="475836"/>
          </a:xfrm>
          <a:prstGeom prst="rect">
            <a:avLst/>
          </a:prstGeom>
          <a:noFill/>
        </p:spPr>
        <p:txBody>
          <a:bodyPr wrap="none" lIns="0" tIns="0" rIns="0" rtlCol="0">
            <a:spAutoFit/>
          </a:bodyPr>
          <a:lstStyle/>
          <a:p>
            <a:pPr>
              <a:lnSpc>
                <a:spcPts val="32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Código Fuente - Ejemplo</a:t>
            </a:r>
          </a:p>
        </p:txBody>
      </p:sp>
      <p:sp>
        <p:nvSpPr>
          <p:cNvPr id="1024" name="1023 Rectángulo"/>
          <p:cNvSpPr/>
          <p:nvPr/>
        </p:nvSpPr>
        <p:spPr>
          <a:xfrm>
            <a:off x="2673350" y="5227637"/>
            <a:ext cx="5346700" cy="2144177"/>
          </a:xfrm>
          <a:prstGeom prst="rect">
            <a:avLst/>
          </a:prstGeom>
        </p:spPr>
        <p:txBody>
          <a:bodyPr>
            <a:spAutoFit/>
          </a:bodyPr>
          <a:lstStyle/>
          <a:p>
            <a:pPr>
              <a:lnSpc>
                <a:spcPts val="28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etiquetas</a:t>
            </a:r>
            <a:endParaRPr lang="en-US" altLang="zh-CN" b="1" dirty="0">
              <a:solidFill>
                <a:srgbClr val="000000"/>
              </a:solidFill>
              <a:latin typeface="Times New Roman" pitchFamily="18" charset="0"/>
              <a:cs typeface="Times New Roman" pitchFamily="18" charset="0"/>
            </a:endParaRPr>
          </a:p>
          <a:p>
            <a:pPr>
              <a:lnSpc>
                <a:spcPts val="1000"/>
              </a:lnSpc>
            </a:pPr>
            <a:endParaRPr lang="en-US" altLang="zh-CN" dirty="0"/>
          </a:p>
          <a:p>
            <a:pPr>
              <a:lnSpc>
                <a:spcPts val="34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códigos</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operación</a:t>
            </a:r>
            <a:endParaRPr lang="en-US" altLang="zh-CN" b="1" dirty="0">
              <a:solidFill>
                <a:srgbClr val="000000"/>
              </a:solidFill>
              <a:latin typeface="Times New Roman" pitchFamily="18" charset="0"/>
              <a:cs typeface="Times New Roman" pitchFamily="18" charset="0"/>
            </a:endParaRPr>
          </a:p>
          <a:p>
            <a:pPr>
              <a:lnSpc>
                <a:spcPts val="1000"/>
              </a:lnSpc>
            </a:pPr>
            <a:endParaRPr lang="en-US" altLang="zh-CN" dirty="0"/>
          </a:p>
          <a:p>
            <a:pPr>
              <a:lnSpc>
                <a:spcPts val="34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smtClean="0">
                <a:solidFill>
                  <a:srgbClr val="000000"/>
                </a:solidFill>
                <a:latin typeface="Times New Roman" pitchFamily="18" charset="0"/>
                <a:cs typeface="Times New Roman" pitchFamily="18" charset="0"/>
              </a:rPr>
              <a:t>operándos</a:t>
            </a:r>
            <a:r>
              <a:rPr lang="en-US" altLang="zh-CN" dirty="0" smtClean="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y</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datos</a:t>
            </a:r>
            <a:endParaRPr lang="en-US" altLang="zh-CN" b="1" dirty="0">
              <a:solidFill>
                <a:srgbClr val="000000"/>
              </a:solidFill>
              <a:latin typeface="Times New Roman" pitchFamily="18" charset="0"/>
              <a:cs typeface="Times New Roman" pitchFamily="18" charset="0"/>
            </a:endParaRPr>
          </a:p>
          <a:p>
            <a:pPr>
              <a:lnSpc>
                <a:spcPts val="1000"/>
              </a:lnSpc>
            </a:pPr>
            <a:endParaRPr lang="en-US" altLang="zh-CN" dirty="0"/>
          </a:p>
          <a:p>
            <a:pPr>
              <a:lnSpc>
                <a:spcPts val="34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comentarios</a:t>
            </a:r>
            <a:endParaRPr lang="en-US" altLang="zh-CN" b="1" dirty="0">
              <a:solidFill>
                <a:srgbClr val="000000"/>
              </a:solidFill>
              <a:latin typeface="Times New Roman" pitchFamily="18" charset="0"/>
              <a:cs typeface="Times New Roman" pitchFamily="18" charset="0"/>
            </a:endParaRPr>
          </a:p>
        </p:txBody>
      </p:sp>
      <p:cxnSp>
        <p:nvCxnSpPr>
          <p:cNvPr id="1027" name="1026 Conector angular"/>
          <p:cNvCxnSpPr/>
          <p:nvPr/>
        </p:nvCxnSpPr>
        <p:spPr>
          <a:xfrm rot="16200000" flipV="1">
            <a:off x="2179351" y="4962238"/>
            <a:ext cx="841948" cy="146050"/>
          </a:xfrm>
          <a:prstGeom prst="bentConnector3">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29" name="1028 Conector angular"/>
          <p:cNvCxnSpPr/>
          <p:nvPr/>
        </p:nvCxnSpPr>
        <p:spPr>
          <a:xfrm rot="10800000">
            <a:off x="3975100" y="4846637"/>
            <a:ext cx="1981200" cy="1219200"/>
          </a:xfrm>
          <a:prstGeom prst="bentConnector3">
            <a:avLst>
              <a:gd name="adj1" fmla="val -2520"/>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32" name="1031 Conector angular"/>
          <p:cNvCxnSpPr/>
          <p:nvPr/>
        </p:nvCxnSpPr>
        <p:spPr>
          <a:xfrm rot="5400000" flipH="1" flipV="1">
            <a:off x="5214271" y="5207666"/>
            <a:ext cx="2246058" cy="762000"/>
          </a:xfrm>
          <a:prstGeom prst="bentConnector3">
            <a:avLst>
              <a:gd name="adj1" fmla="val -1942"/>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41" name="1040 Conector angular"/>
          <p:cNvCxnSpPr/>
          <p:nvPr/>
        </p:nvCxnSpPr>
        <p:spPr>
          <a:xfrm rot="5400000" flipH="1" flipV="1">
            <a:off x="5075010" y="3585933"/>
            <a:ext cx="3778378" cy="3318206"/>
          </a:xfrm>
          <a:prstGeom prst="bentConnector3">
            <a:avLst>
              <a:gd name="adj1" fmla="val -1740"/>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7580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673100" y="393700"/>
            <a:ext cx="2451100" cy="406400"/>
          </a:xfrm>
          <a:prstGeom prst="rect">
            <a:avLst/>
          </a:prstGeom>
          <a:noFill/>
        </p:spPr>
        <p:txBody>
          <a:bodyPr wrap="none" lIns="0" tIns="0" rIns="0" rtlCol="0">
            <a:spAutoFit/>
          </a:bodyPr>
          <a:lstStyle/>
          <a:p>
            <a:pPr>
              <a:lnSpc>
                <a:spcPts val="1400"/>
              </a:lnSpc>
              <a:tabLst/>
            </a:pPr>
            <a:r>
              <a:rPr lang="en-US" altLang="zh-CN" sz="1542" dirty="0" smtClean="0">
                <a:solidFill>
                  <a:srgbClr val="FFFFFF"/>
                </a:solidFill>
                <a:latin typeface="Times New Roman" pitchFamily="18" charset="0"/>
                <a:cs typeface="Times New Roman" pitchFamily="18" charset="0"/>
              </a:rPr>
              <a:t>Programación</a:t>
            </a:r>
            <a:r>
              <a:rPr lang="en-US" altLang="zh-CN" sz="1542" dirty="0" smtClean="0">
                <a:latin typeface="Times New Roman" pitchFamily="18" charset="0"/>
                <a:cs typeface="Times New Roman" pitchFamily="18" charset="0"/>
              </a:rPr>
              <a:t> </a:t>
            </a:r>
            <a:r>
              <a:rPr lang="en-US" altLang="zh-CN" sz="1542" dirty="0" smtClean="0">
                <a:solidFill>
                  <a:srgbClr val="FFFFFF"/>
                </a:solidFill>
                <a:latin typeface="Times New Roman" pitchFamily="18" charset="0"/>
                <a:cs typeface="Times New Roman" pitchFamily="18" charset="0"/>
              </a:rPr>
              <a:t>Assembler</a:t>
            </a:r>
            <a:r>
              <a:rPr lang="en-US" altLang="zh-CN" sz="1542" dirty="0" smtClean="0">
                <a:latin typeface="Times New Roman" pitchFamily="18" charset="0"/>
                <a:cs typeface="Times New Roman" pitchFamily="18" charset="0"/>
              </a:rPr>
              <a:t> </a:t>
            </a:r>
            <a:r>
              <a:rPr lang="en-US" altLang="zh-CN" sz="1542" dirty="0" smtClean="0">
                <a:solidFill>
                  <a:srgbClr val="FFFFFF"/>
                </a:solidFill>
                <a:latin typeface="Times New Roman" pitchFamily="18" charset="0"/>
                <a:cs typeface="Times New Roman" pitchFamily="18" charset="0"/>
              </a:rPr>
              <a:t>de</a:t>
            </a:r>
          </a:p>
          <a:p>
            <a:pPr>
              <a:lnSpc>
                <a:spcPts val="1800"/>
              </a:lnSpc>
              <a:tabLst/>
            </a:pPr>
            <a:r>
              <a:rPr lang="en-US" altLang="zh-CN" sz="1542" dirty="0" smtClean="0">
                <a:solidFill>
                  <a:srgbClr val="FFFFFF"/>
                </a:solidFill>
                <a:latin typeface="Times New Roman" pitchFamily="18" charset="0"/>
                <a:cs typeface="Times New Roman" pitchFamily="18" charset="0"/>
              </a:rPr>
              <a:t>PIC</a:t>
            </a:r>
            <a:r>
              <a:rPr lang="en-US" altLang="zh-CN" sz="1026" dirty="0" smtClean="0">
                <a:solidFill>
                  <a:srgbClr val="FFFFFF"/>
                </a:solidFill>
                <a:latin typeface="Symbol" pitchFamily="18" charset="0"/>
                <a:cs typeface="Symbol" pitchFamily="18" charset="0"/>
              </a:rPr>
              <a:t>®</a:t>
            </a:r>
            <a:r>
              <a:rPr lang="en-US" altLang="zh-CN" sz="1542" dirty="0" smtClean="0">
                <a:latin typeface="Times New Roman" pitchFamily="18" charset="0"/>
                <a:cs typeface="Times New Roman" pitchFamily="18" charset="0"/>
              </a:rPr>
              <a:t> </a:t>
            </a:r>
            <a:r>
              <a:rPr lang="en-US" altLang="zh-CN" sz="1542" dirty="0" smtClean="0">
                <a:solidFill>
                  <a:srgbClr val="FFFFFF"/>
                </a:solidFill>
                <a:latin typeface="Times New Roman" pitchFamily="18" charset="0"/>
                <a:cs typeface="Times New Roman" pitchFamily="18" charset="0"/>
              </a:rPr>
              <a:t>Línea</a:t>
            </a:r>
            <a:r>
              <a:rPr lang="en-US" altLang="zh-CN" sz="1542" dirty="0" smtClean="0">
                <a:latin typeface="Times New Roman" pitchFamily="18" charset="0"/>
                <a:cs typeface="Times New Roman" pitchFamily="18" charset="0"/>
              </a:rPr>
              <a:t> </a:t>
            </a:r>
            <a:r>
              <a:rPr lang="en-US" altLang="zh-CN" sz="1542" dirty="0" smtClean="0">
                <a:solidFill>
                  <a:srgbClr val="FFFFFF"/>
                </a:solidFill>
                <a:latin typeface="Times New Roman" pitchFamily="18" charset="0"/>
                <a:cs typeface="Times New Roman" pitchFamily="18" charset="0"/>
              </a:rPr>
              <a:t>Base</a:t>
            </a:r>
          </a:p>
        </p:txBody>
      </p:sp>
      <p:sp>
        <p:nvSpPr>
          <p:cNvPr id="5" name="TextBox 1"/>
          <p:cNvSpPr txBox="1"/>
          <p:nvPr/>
        </p:nvSpPr>
        <p:spPr>
          <a:xfrm>
            <a:off x="673100" y="3378200"/>
            <a:ext cx="9474200" cy="559127"/>
          </a:xfrm>
          <a:prstGeom prst="rect">
            <a:avLst/>
          </a:prstGeom>
          <a:noFill/>
        </p:spPr>
        <p:txBody>
          <a:bodyPr wrap="square" lIns="0" tIns="0" rIns="0" rtlCol="0">
            <a:spAutoFit/>
          </a:bodyPr>
          <a:lstStyle/>
          <a:p>
            <a:pPr algn="ctr">
              <a:lnSpc>
                <a:spcPts val="4000"/>
              </a:lnSpc>
              <a:tabLst/>
            </a:pPr>
            <a:r>
              <a:rPr lang="en-US" altLang="zh-CN" sz="4409" b="1" i="1" u="sng" dirty="0" err="1" smtClean="0">
                <a:solidFill>
                  <a:srgbClr val="FF0000"/>
                </a:solidFill>
                <a:effectLst>
                  <a:outerShdw blurRad="38100" dist="38100" dir="2700000" algn="tl">
                    <a:srgbClr val="000000">
                      <a:alpha val="43137"/>
                    </a:srgbClr>
                  </a:outerShdw>
                </a:effectLst>
                <a:latin typeface="Arial" pitchFamily="34" charset="0"/>
                <a:cs typeface="Arial" pitchFamily="34" charset="0"/>
              </a:rPr>
              <a:t>Directivas</a:t>
            </a:r>
            <a:r>
              <a:rPr lang="en-US" altLang="zh-CN" sz="4409" b="1" i="1" u="sng" dirty="0" smtClean="0">
                <a:solidFill>
                  <a:srgbClr val="FF0000"/>
                </a:solidFill>
                <a:effectLst>
                  <a:outerShdw blurRad="38100" dist="38100" dir="2700000" algn="tl">
                    <a:srgbClr val="000000">
                      <a:alpha val="43137"/>
                    </a:srgbClr>
                  </a:outerShdw>
                </a:effectLst>
                <a:latin typeface="Arial" pitchFamily="34" charset="0"/>
                <a:cs typeface="Arial" pitchFamily="34" charset="0"/>
              </a:rPr>
              <a:t> del </a:t>
            </a:r>
            <a:r>
              <a:rPr lang="en-US" altLang="zh-CN" sz="4409" b="1" i="1" u="sng" dirty="0" err="1" smtClean="0">
                <a:solidFill>
                  <a:srgbClr val="FF0000"/>
                </a:solidFill>
                <a:effectLst>
                  <a:outerShdw blurRad="38100" dist="38100" dir="2700000" algn="tl">
                    <a:srgbClr val="000000">
                      <a:alpha val="43137"/>
                    </a:srgbClr>
                  </a:outerShdw>
                </a:effectLst>
                <a:latin typeface="Arial" pitchFamily="34" charset="0"/>
                <a:cs typeface="Arial" pitchFamily="34" charset="0"/>
              </a:rPr>
              <a:t>Ensamblador</a:t>
            </a:r>
            <a:endParaRPr lang="en-US" altLang="zh-CN" sz="4409" b="1" i="1" u="sng" dirty="0" smtClean="0">
              <a:solidFill>
                <a:srgbClr val="FF0000"/>
              </a:solidFill>
              <a:effectLst>
                <a:outerShdw blurRad="38100" dist="38100" dir="2700000" algn="tl">
                  <a:srgbClr val="000000">
                    <a:alpha val="43137"/>
                  </a:srgbClr>
                </a:outerShdw>
              </a:effectLst>
              <a:latin typeface="Arial" pitchFamily="34" charset="0"/>
              <a:cs typeface="Arial" pitchFamily="34" charset="0"/>
            </a:endParaRPr>
          </a:p>
        </p:txBody>
      </p:sp>
    </p:spTree>
    <p:extLst>
      <p:ext uri="{BB962C8B-B14F-4D97-AF65-F5344CB8AC3E}">
        <p14:creationId xmlns:p14="http://schemas.microsoft.com/office/powerpoint/2010/main" val="7655586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342900"/>
            <a:ext cx="6644319" cy="1405513"/>
          </a:xfrm>
          <a:prstGeom prst="rect">
            <a:avLst/>
          </a:prstGeom>
          <a:noFill/>
        </p:spPr>
        <p:txBody>
          <a:bodyPr wrap="none" lIns="0" tIns="0" rIns="0" rtlCol="0">
            <a:spAutoFit/>
          </a:bodyPr>
          <a:lstStyle/>
          <a:p>
            <a:pPr>
              <a:lnSpc>
                <a:spcPts val="3200"/>
              </a:lnSpc>
              <a:tabLst>
                <a:tab pos="3479800" algn="l"/>
              </a:tabLst>
            </a:pPr>
            <a:r>
              <a:rPr lang="en-US" altLang="zh-CN" dirty="0" smtClean="0"/>
              <a:t>	</a:t>
            </a:r>
            <a:r>
              <a:rPr lang="en-US" altLang="zh-CN" sz="3527" b="1" dirty="0" smtClean="0">
                <a:solidFill>
                  <a:srgbClr val="FF0000"/>
                </a:solidFill>
                <a:latin typeface="Times New Roman" pitchFamily="18" charset="0"/>
                <a:cs typeface="Times New Roman" pitchFamily="18" charset="0"/>
              </a:rPr>
              <a:t>Directiva</a:t>
            </a:r>
            <a:r>
              <a:rPr lang="en-US" altLang="zh-CN" sz="3527" dirty="0" smtClean="0">
                <a:solidFill>
                  <a:srgbClr val="FF0000"/>
                </a:solidFill>
                <a:latin typeface="Times New Roman" pitchFamily="18" charset="0"/>
                <a:cs typeface="Times New Roman" pitchFamily="18" charset="0"/>
              </a:rPr>
              <a:t> </a:t>
            </a:r>
            <a:r>
              <a:rPr lang="en-US" altLang="zh-CN" sz="3527" b="1" dirty="0" smtClean="0">
                <a:solidFill>
                  <a:srgbClr val="FF0000"/>
                </a:solidFill>
                <a:latin typeface="Times New Roman" pitchFamily="18" charset="0"/>
                <a:cs typeface="Times New Roman" pitchFamily="18" charset="0"/>
              </a:rPr>
              <a:t>:</a:t>
            </a:r>
            <a:r>
              <a:rPr lang="en-US" altLang="zh-CN" sz="3527" dirty="0" smtClean="0">
                <a:solidFill>
                  <a:srgbClr val="FF0000"/>
                </a:solidFill>
                <a:latin typeface="Times New Roman" pitchFamily="18" charset="0"/>
                <a:cs typeface="Times New Roman" pitchFamily="18" charset="0"/>
              </a:rPr>
              <a:t> </a:t>
            </a:r>
            <a:r>
              <a:rPr lang="en-US" altLang="zh-CN" sz="3527" b="1" dirty="0" smtClean="0">
                <a:solidFill>
                  <a:srgbClr val="FF0000"/>
                </a:solidFill>
                <a:latin typeface="Times New Roman" pitchFamily="18" charset="0"/>
                <a:cs typeface="Times New Roman" pitchFamily="18" charset="0"/>
              </a:rPr>
              <a:t>EQU</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400"/>
              </a:lnSpc>
              <a:tabLst>
                <a:tab pos="3479800" algn="l"/>
              </a:tabLst>
            </a:pPr>
            <a:r>
              <a:rPr lang="en-US" altLang="zh-CN" sz="3527"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Define</a:t>
            </a:r>
            <a:r>
              <a:rPr lang="en-US" altLang="zh-CN" sz="3527" b="1"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smtClean="0">
                <a:effectLst>
                  <a:outerShdw blurRad="38100" dist="38100" dir="2700000" algn="tl">
                    <a:srgbClr val="000000">
                      <a:alpha val="43137"/>
                    </a:srgbClr>
                  </a:outerShdw>
                </a:effectLst>
                <a:latin typeface="Times New Roman" pitchFamily="18" charset="0"/>
                <a:cs typeface="Times New Roman" pitchFamily="18" charset="0"/>
              </a:rPr>
              <a:t>constantes</a:t>
            </a:r>
            <a:r>
              <a:rPr lang="en-US" altLang="zh-CN" sz="3527" b="1" i="1" dirty="0" smtClean="0">
                <a:effectLst>
                  <a:outerShdw blurRad="38100" dist="38100" dir="2700000" algn="tl">
                    <a:srgbClr val="000000">
                      <a:alpha val="43137"/>
                    </a:srgbClr>
                  </a:outerShdw>
                </a:effectLst>
                <a:latin typeface="Times New Roman" pitchFamily="18" charset="0"/>
                <a:cs typeface="Times New Roman" pitchFamily="18" charset="0"/>
              </a:rPr>
              <a:t> en assembler</a:t>
            </a:r>
            <a:endParaRPr lang="en-US" altLang="zh-CN" sz="3527"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6" name="TextBox 1"/>
          <p:cNvSpPr txBox="1"/>
          <p:nvPr/>
        </p:nvSpPr>
        <p:spPr>
          <a:xfrm>
            <a:off x="1384300" y="1874837"/>
            <a:ext cx="8763000" cy="2816156"/>
          </a:xfrm>
          <a:prstGeom prst="rect">
            <a:avLst/>
          </a:prstGeom>
          <a:noFill/>
        </p:spPr>
        <p:txBody>
          <a:bodyPr wrap="square" lIns="0" tIns="0" rIns="0" rtlCol="0">
            <a:spAutoFit/>
          </a:bodyPr>
          <a:lstStyle/>
          <a:p>
            <a:pPr>
              <a:lnSpc>
                <a:spcPts val="2800"/>
              </a:lnSpc>
              <a:tabLst/>
            </a:pP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Es</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una</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directiva</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asignación</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p>
          <a:p>
            <a:pPr>
              <a:lnSpc>
                <a:spcPts val="2800"/>
              </a:lnSpc>
              <a:tabLst/>
            </a:pPr>
            <a:endPar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2800"/>
              </a:lnSpc>
              <a:tabLst/>
            </a:pP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valor &lt;expr&gt;</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es</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asignado</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la</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etiqueta</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&lt;label&gt;</a:t>
            </a:r>
          </a:p>
          <a:p>
            <a:pPr>
              <a:lnSpc>
                <a:spcPts val="2800"/>
              </a:lnSpc>
              <a:tabLst/>
            </a:pPr>
            <a:endParaRPr lang="es-AR" sz="3200" i="1" dirty="0" smtClean="0">
              <a:solidFill>
                <a:srgbClr val="002060"/>
              </a:solidFill>
              <a:effectLst>
                <a:outerShdw blurRad="38100" dist="38100" dir="2700000" algn="tl">
                  <a:srgbClr val="000000">
                    <a:alpha val="43137"/>
                  </a:srgbClr>
                </a:outerShdw>
              </a:effectLst>
            </a:endParaRPr>
          </a:p>
          <a:p>
            <a:pPr>
              <a:lnSpc>
                <a:spcPts val="2800"/>
              </a:lnSpc>
              <a:tabLst/>
            </a:pPr>
            <a:r>
              <a:rPr lang="es-AR" sz="3200" i="1" dirty="0" smtClean="0">
                <a:solidFill>
                  <a:srgbClr val="002060"/>
                </a:solidFill>
                <a:effectLst>
                  <a:outerShdw blurRad="38100" dist="38100" dir="2700000" algn="tl">
                    <a:srgbClr val="000000">
                      <a:alpha val="43137"/>
                    </a:srgbClr>
                  </a:outerShdw>
                </a:effectLst>
              </a:rPr>
              <a:t>La </a:t>
            </a:r>
            <a:r>
              <a:rPr lang="es-AR" sz="3200" i="1" dirty="0">
                <a:solidFill>
                  <a:srgbClr val="002060"/>
                </a:solidFill>
                <a:effectLst>
                  <a:outerShdw blurRad="38100" dist="38100" dir="2700000" algn="tl">
                    <a:srgbClr val="000000">
                      <a:alpha val="43137"/>
                    </a:srgbClr>
                  </a:outerShdw>
                </a:effectLst>
              </a:rPr>
              <a:t>directiva EQU permite al programador "igualar" nombres personalizados a datos o direcciones.</a:t>
            </a:r>
            <a:endParaRPr lang="en-US" altLang="zh-CN" sz="3084" b="1" i="1" dirty="0" smtClean="0">
              <a:solidFill>
                <a:srgbClr val="00206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1000"/>
              </a:lnSpc>
            </a:pPr>
            <a:endParaRPr lang="en-US" altLang="zh-CN" i="1" dirty="0" smtClean="0">
              <a:effectLst>
                <a:outerShdw blurRad="38100" dist="38100" dir="2700000" algn="tl">
                  <a:srgbClr val="000000">
                    <a:alpha val="43137"/>
                  </a:srgbClr>
                </a:outerShdw>
              </a:effectLst>
            </a:endParaRPr>
          </a:p>
          <a:p>
            <a:pPr>
              <a:lnSpc>
                <a:spcPts val="1000"/>
              </a:lnSpc>
            </a:pPr>
            <a:endParaRPr lang="en-US" altLang="zh-CN" i="1" dirty="0" smtClean="0">
              <a:effectLst>
                <a:outerShdw blurRad="38100" dist="38100" dir="2700000" algn="tl">
                  <a:srgbClr val="000000">
                    <a:alpha val="43137"/>
                  </a:srgbClr>
                </a:outerShdw>
              </a:effectLst>
            </a:endParaRPr>
          </a:p>
          <a:p>
            <a:pPr>
              <a:lnSpc>
                <a:spcPts val="2800"/>
              </a:lnSpc>
              <a:tabLst/>
            </a:pPr>
            <a:r>
              <a:rPr lang="en-US" altLang="zh-CN" sz="3084" b="1" dirty="0" smtClean="0">
                <a:solidFill>
                  <a:srgbClr val="FF0000"/>
                </a:solidFill>
                <a:latin typeface="Times New Roman" pitchFamily="18" charset="0"/>
                <a:cs typeface="Times New Roman" pitchFamily="18" charset="0"/>
              </a:rPr>
              <a:t>&lt;label&gt;</a:t>
            </a:r>
            <a:r>
              <a:rPr lang="en-US" altLang="zh-CN" sz="3084" dirty="0" smtClean="0">
                <a:solidFill>
                  <a:srgbClr val="FF0000"/>
                </a:solidFill>
                <a:latin typeface="Times New Roman" pitchFamily="18" charset="0"/>
                <a:cs typeface="Times New Roman" pitchFamily="18" charset="0"/>
              </a:rPr>
              <a:t> </a:t>
            </a:r>
            <a:r>
              <a:rPr lang="en-US" altLang="zh-CN" sz="3084" b="1" dirty="0" smtClean="0">
                <a:solidFill>
                  <a:srgbClr val="FF0000"/>
                </a:solidFill>
                <a:latin typeface="Times New Roman" pitchFamily="18" charset="0"/>
                <a:cs typeface="Times New Roman" pitchFamily="18" charset="0"/>
              </a:rPr>
              <a:t>EQU</a:t>
            </a:r>
            <a:r>
              <a:rPr lang="en-US" altLang="zh-CN" sz="3084" dirty="0" smtClean="0">
                <a:solidFill>
                  <a:srgbClr val="FF0000"/>
                </a:solidFill>
                <a:latin typeface="Times New Roman" pitchFamily="18" charset="0"/>
                <a:cs typeface="Times New Roman" pitchFamily="18" charset="0"/>
              </a:rPr>
              <a:t> </a:t>
            </a:r>
            <a:r>
              <a:rPr lang="en-US" altLang="zh-CN" sz="3084" b="1" dirty="0" smtClean="0">
                <a:solidFill>
                  <a:srgbClr val="FF0000"/>
                </a:solidFill>
                <a:latin typeface="Times New Roman" pitchFamily="18" charset="0"/>
                <a:cs typeface="Times New Roman" pitchFamily="18" charset="0"/>
              </a:rPr>
              <a:t>&lt;expr&gt;</a:t>
            </a:r>
          </a:p>
        </p:txBody>
      </p:sp>
      <p:cxnSp>
        <p:nvCxnSpPr>
          <p:cNvPr id="17" name="16 Conector recto"/>
          <p:cNvCxnSpPr/>
          <p:nvPr/>
        </p:nvCxnSpPr>
        <p:spPr>
          <a:xfrm>
            <a:off x="309257" y="69040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317500" y="69802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12 Rectángulo"/>
          <p:cNvSpPr/>
          <p:nvPr/>
        </p:nvSpPr>
        <p:spPr>
          <a:xfrm>
            <a:off x="2673350" y="4541837"/>
            <a:ext cx="5346700" cy="2308324"/>
          </a:xfrm>
          <a:prstGeom prst="rect">
            <a:avLst/>
          </a:prstGeom>
        </p:spPr>
        <p:txBody>
          <a:bodyPr>
            <a:spAutoFit/>
          </a:bodyPr>
          <a:lstStyle/>
          <a:p>
            <a:r>
              <a:rPr lang="es-AR" b="1" dirty="0">
                <a:effectLst>
                  <a:outerShdw blurRad="38100" dist="38100" dir="2700000" algn="tl">
                    <a:srgbClr val="000000">
                      <a:alpha val="43137"/>
                    </a:srgbClr>
                  </a:outerShdw>
                </a:effectLst>
              </a:rPr>
              <a:t>    Ejemplos:</a:t>
            </a:r>
          </a:p>
          <a:p>
            <a:r>
              <a:rPr lang="es-AR" b="1" dirty="0" err="1">
                <a:effectLst>
                  <a:outerShdw blurRad="38100" dist="38100" dir="2700000" algn="tl">
                    <a:srgbClr val="000000">
                      <a:alpha val="43137"/>
                    </a:srgbClr>
                  </a:outerShdw>
                </a:effectLst>
              </a:rPr>
              <a:t>temp</a:t>
            </a:r>
            <a:r>
              <a:rPr lang="es-AR" b="1" dirty="0">
                <a:effectLst>
                  <a:outerShdw blurRad="38100" dist="38100" dir="2700000" algn="tl">
                    <a:srgbClr val="000000">
                      <a:alpha val="43137"/>
                    </a:srgbClr>
                  </a:outerShdw>
                </a:effectLst>
              </a:rPr>
              <a:t>    </a:t>
            </a:r>
            <a:r>
              <a:rPr lang="es-AR" b="1" dirty="0" smtClean="0">
                <a:effectLst>
                  <a:outerShdw blurRad="38100" dist="38100" dir="2700000" algn="tl">
                    <a:srgbClr val="000000">
                      <a:alpha val="43137"/>
                    </a:srgbClr>
                  </a:outerShdw>
                </a:effectLst>
              </a:rPr>
              <a:t>   EQU    </a:t>
            </a:r>
            <a:r>
              <a:rPr lang="es-AR" b="1" dirty="0">
                <a:effectLst>
                  <a:outerShdw blurRad="38100" dist="38100" dir="2700000" algn="tl">
                    <a:srgbClr val="000000">
                      <a:alpha val="43137"/>
                    </a:srgbClr>
                  </a:outerShdw>
                </a:effectLst>
              </a:rPr>
              <a:t>12</a:t>
            </a:r>
          </a:p>
          <a:p>
            <a:r>
              <a:rPr lang="es-AR" b="1" dirty="0">
                <a:effectLst>
                  <a:outerShdw blurRad="38100" dist="38100" dir="2700000" algn="tl">
                    <a:srgbClr val="000000">
                      <a:alpha val="43137"/>
                    </a:srgbClr>
                  </a:outerShdw>
                </a:effectLst>
              </a:rPr>
              <a:t>DATO    </a:t>
            </a:r>
            <a:r>
              <a:rPr lang="es-AR" b="1" dirty="0" smtClean="0">
                <a:effectLst>
                  <a:outerShdw blurRad="38100" dist="38100" dir="2700000" algn="tl">
                    <a:srgbClr val="000000">
                      <a:alpha val="43137"/>
                    </a:srgbClr>
                  </a:outerShdw>
                </a:effectLst>
              </a:rPr>
              <a:t>  EQU    </a:t>
            </a:r>
            <a:r>
              <a:rPr lang="es-AR" b="1" dirty="0">
                <a:effectLst>
                  <a:outerShdw blurRad="38100" dist="38100" dir="2700000" algn="tl">
                    <a:srgbClr val="000000">
                      <a:alpha val="43137"/>
                    </a:srgbClr>
                  </a:outerShdw>
                </a:effectLst>
              </a:rPr>
              <a:t>22</a:t>
            </a:r>
          </a:p>
          <a:p>
            <a:r>
              <a:rPr lang="en-US" b="1" dirty="0">
                <a:effectLst>
                  <a:outerShdw blurRad="38100" dist="38100" dir="2700000" algn="tl">
                    <a:srgbClr val="000000">
                      <a:alpha val="43137"/>
                    </a:srgbClr>
                  </a:outerShdw>
                </a:effectLst>
              </a:rPr>
              <a:t>PORT_A  EQU    5</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START   </a:t>
            </a:r>
            <a:r>
              <a:rPr lang="en-US" b="1" dirty="0" smtClean="0">
                <a:effectLst>
                  <a:outerShdw blurRad="38100" dist="38100" dir="2700000" algn="tl">
                    <a:srgbClr val="000000">
                      <a:alpha val="43137"/>
                    </a:srgbClr>
                  </a:outerShdw>
                </a:effectLst>
              </a:rPr>
              <a:t>   EQU    </a:t>
            </a:r>
            <a:r>
              <a:rPr lang="en-US" b="1" dirty="0">
                <a:effectLst>
                  <a:outerShdw blurRad="38100" dist="38100" dir="2700000" algn="tl">
                    <a:srgbClr val="000000">
                      <a:alpha val="43137"/>
                    </a:srgbClr>
                  </a:outerShdw>
                </a:effectLst>
              </a:rPr>
              <a:t>0</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CARRY   </a:t>
            </a:r>
            <a:r>
              <a:rPr lang="en-US" b="1" dirty="0" smtClean="0">
                <a:effectLst>
                  <a:outerShdw blurRad="38100" dist="38100" dir="2700000" algn="tl">
                    <a:srgbClr val="000000">
                      <a:alpha val="43137"/>
                    </a:srgbClr>
                  </a:outerShdw>
                </a:effectLst>
              </a:rPr>
              <a:t>  EQU    </a:t>
            </a:r>
            <a:r>
              <a:rPr lang="en-US" b="1" dirty="0">
                <a:effectLst>
                  <a:outerShdw blurRad="38100" dist="38100" dir="2700000" algn="tl">
                    <a:srgbClr val="000000">
                      <a:alpha val="43137"/>
                    </a:srgbClr>
                  </a:outerShdw>
                </a:effectLst>
              </a:rPr>
              <a:t>3</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TIEMPO  EQU    5</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Bank_1  EQU    BSF STATUS,RP0</a:t>
            </a:r>
            <a:endParaRPr lang="es-AR"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743518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p:cNvSpPr txBox="1"/>
          <p:nvPr/>
        </p:nvSpPr>
        <p:spPr>
          <a:xfrm>
            <a:off x="952500" y="427037"/>
            <a:ext cx="6668364" cy="1405513"/>
          </a:xfrm>
          <a:prstGeom prst="rect">
            <a:avLst/>
          </a:prstGeom>
          <a:noFill/>
        </p:spPr>
        <p:txBody>
          <a:bodyPr wrap="none" lIns="0" tIns="0" rIns="0" rtlCol="0">
            <a:spAutoFit/>
          </a:bodyPr>
          <a:lstStyle/>
          <a:p>
            <a:pPr>
              <a:lnSpc>
                <a:spcPts val="3200"/>
              </a:lnSpc>
              <a:tabLst>
                <a:tab pos="3454400" algn="l"/>
              </a:tabLst>
            </a:pPr>
            <a:r>
              <a:rPr lang="en-US" altLang="zh-CN" dirty="0" smtClean="0"/>
              <a:t>	</a:t>
            </a:r>
            <a:r>
              <a:rPr lang="en-US" altLang="zh-CN" sz="3527" b="1" dirty="0" smtClean="0">
                <a:solidFill>
                  <a:srgbClr val="FF0000"/>
                </a:solidFill>
                <a:latin typeface="Times New Roman" pitchFamily="18" charset="0"/>
                <a:cs typeface="Times New Roman" pitchFamily="18" charset="0"/>
              </a:rPr>
              <a:t>Directiva</a:t>
            </a:r>
            <a:r>
              <a:rPr lang="en-US" altLang="zh-CN" sz="3527" dirty="0" smtClean="0">
                <a:solidFill>
                  <a:srgbClr val="FF0000"/>
                </a:solidFill>
                <a:latin typeface="Times New Roman" pitchFamily="18" charset="0"/>
                <a:cs typeface="Times New Roman" pitchFamily="18" charset="0"/>
              </a:rPr>
              <a:t> </a:t>
            </a:r>
            <a:r>
              <a:rPr lang="en-US" altLang="zh-CN" sz="3527" b="1" dirty="0" smtClean="0">
                <a:solidFill>
                  <a:srgbClr val="FF0000"/>
                </a:solidFill>
                <a:latin typeface="Times New Roman" pitchFamily="18" charset="0"/>
                <a:cs typeface="Times New Roman" pitchFamily="18" charset="0"/>
              </a:rPr>
              <a:t>:</a:t>
            </a:r>
            <a:r>
              <a:rPr lang="en-US" altLang="zh-CN" sz="3527" dirty="0" smtClean="0">
                <a:solidFill>
                  <a:srgbClr val="FF0000"/>
                </a:solidFill>
                <a:latin typeface="Times New Roman" pitchFamily="18" charset="0"/>
                <a:cs typeface="Times New Roman" pitchFamily="18" charset="0"/>
              </a:rPr>
              <a:t> </a:t>
            </a:r>
            <a:r>
              <a:rPr lang="en-US" altLang="zh-CN" sz="3527" b="1" dirty="0" smtClean="0">
                <a:solidFill>
                  <a:srgbClr val="FF0000"/>
                </a:solidFill>
                <a:latin typeface="Times New Roman" pitchFamily="18" charset="0"/>
                <a:cs typeface="Times New Roman" pitchFamily="18" charset="0"/>
              </a:rPr>
              <a:t>ORG</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400"/>
              </a:lnSpc>
              <a:tabLst>
                <a:tab pos="3454400" algn="l"/>
              </a:tabLst>
            </a:pPr>
            <a:r>
              <a:rPr lang="en-US" altLang="zh-CN" sz="3527" b="1" dirty="0" smtClean="0">
                <a:solidFill>
                  <a:srgbClr val="000000"/>
                </a:solidFill>
                <a:latin typeface="Times New Roman" pitchFamily="18" charset="0"/>
                <a:cs typeface="Times New Roman" pitchFamily="18" charset="0"/>
              </a:rPr>
              <a:t>Set</a:t>
            </a:r>
            <a:r>
              <a:rPr lang="en-US" altLang="zh-CN" sz="3527" dirty="0" smtClean="0">
                <a:latin typeface="Times New Roman" pitchFamily="18" charset="0"/>
                <a:cs typeface="Times New Roman" pitchFamily="18" charset="0"/>
              </a:rPr>
              <a:t> </a:t>
            </a:r>
            <a:r>
              <a:rPr lang="en-US" altLang="zh-CN" sz="3527" b="1" dirty="0" smtClean="0">
                <a:solidFill>
                  <a:srgbClr val="000000"/>
                </a:solidFill>
                <a:latin typeface="Times New Roman" pitchFamily="18" charset="0"/>
                <a:cs typeface="Times New Roman" pitchFamily="18" charset="0"/>
              </a:rPr>
              <a:t>program</a:t>
            </a:r>
            <a:r>
              <a:rPr lang="en-US" altLang="zh-CN" sz="3527" dirty="0" smtClean="0">
                <a:latin typeface="Times New Roman" pitchFamily="18" charset="0"/>
                <a:cs typeface="Times New Roman" pitchFamily="18" charset="0"/>
              </a:rPr>
              <a:t> </a:t>
            </a:r>
            <a:r>
              <a:rPr lang="en-US" altLang="zh-CN" sz="3527" b="1" dirty="0" smtClean="0">
                <a:solidFill>
                  <a:srgbClr val="000000"/>
                </a:solidFill>
                <a:latin typeface="Times New Roman" pitchFamily="18" charset="0"/>
                <a:cs typeface="Times New Roman" pitchFamily="18" charset="0"/>
              </a:rPr>
              <a:t>origin</a:t>
            </a:r>
          </a:p>
        </p:txBody>
      </p:sp>
      <p:sp>
        <p:nvSpPr>
          <p:cNvPr id="5" name="TextBox 1"/>
          <p:cNvSpPr txBox="1"/>
          <p:nvPr/>
        </p:nvSpPr>
        <p:spPr>
          <a:xfrm>
            <a:off x="1384300" y="2014537"/>
            <a:ext cx="8372485" cy="1379865"/>
          </a:xfrm>
          <a:prstGeom prst="rect">
            <a:avLst/>
          </a:prstGeom>
          <a:noFill/>
        </p:spPr>
        <p:txBody>
          <a:bodyPr wrap="none" lIns="0" tIns="0" rIns="0" rtlCol="0">
            <a:spAutoFit/>
          </a:bodyPr>
          <a:lstStyle/>
          <a:p>
            <a:pPr>
              <a:lnSpc>
                <a:spcPts val="2800"/>
              </a:lnSpc>
              <a:tabLst/>
            </a:pP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Indica</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al</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programa</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ensamblador</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en</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que</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dirección</a:t>
            </a:r>
            <a:endPar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2800"/>
              </a:lnSpc>
              <a:tabLst/>
            </a:pPr>
            <a:r>
              <a:rPr lang="en-US" altLang="zh-CN" sz="3084"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inicia</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084"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programa.</a:t>
            </a:r>
          </a:p>
          <a:p>
            <a:pPr>
              <a:lnSpc>
                <a:spcPts val="1000"/>
              </a:lnSpc>
            </a:pPr>
            <a:endParaRPr lang="en-US" altLang="zh-CN" dirty="0" smtClean="0"/>
          </a:p>
          <a:p>
            <a:pPr>
              <a:lnSpc>
                <a:spcPts val="1000"/>
              </a:lnSpc>
            </a:pPr>
            <a:endParaRPr lang="en-US" altLang="zh-CN" dirty="0" smtClean="0"/>
          </a:p>
          <a:p>
            <a:pPr>
              <a:lnSpc>
                <a:spcPts val="2800"/>
              </a:lnSpc>
              <a:tabLst/>
            </a:pPr>
            <a:r>
              <a:rPr lang="en-US" altLang="zh-CN" sz="3084" b="1" dirty="0" smtClean="0">
                <a:solidFill>
                  <a:srgbClr val="FF0000"/>
                </a:solidFill>
                <a:latin typeface="Times New Roman" pitchFamily="18" charset="0"/>
                <a:cs typeface="Times New Roman" pitchFamily="18" charset="0"/>
              </a:rPr>
              <a:t>ORG</a:t>
            </a:r>
            <a:r>
              <a:rPr lang="en-US" altLang="zh-CN" sz="3084" dirty="0" smtClean="0">
                <a:solidFill>
                  <a:srgbClr val="FF0000"/>
                </a:solidFill>
                <a:latin typeface="Times New Roman" pitchFamily="18" charset="0"/>
                <a:cs typeface="Times New Roman" pitchFamily="18" charset="0"/>
              </a:rPr>
              <a:t> </a:t>
            </a:r>
            <a:r>
              <a:rPr lang="en-US" altLang="zh-CN" sz="3084" b="1" dirty="0" smtClean="0">
                <a:solidFill>
                  <a:srgbClr val="FF0000"/>
                </a:solidFill>
                <a:latin typeface="Times New Roman" pitchFamily="18" charset="0"/>
                <a:cs typeface="Times New Roman" pitchFamily="18" charset="0"/>
              </a:rPr>
              <a:t>0</a:t>
            </a:r>
          </a:p>
        </p:txBody>
      </p:sp>
      <p:sp>
        <p:nvSpPr>
          <p:cNvPr id="6" name="5 Rectángulo"/>
          <p:cNvSpPr/>
          <p:nvPr/>
        </p:nvSpPr>
        <p:spPr>
          <a:xfrm>
            <a:off x="1308100" y="3551237"/>
            <a:ext cx="8229600" cy="1938992"/>
          </a:xfrm>
          <a:prstGeom prst="rect">
            <a:avLst/>
          </a:prstGeom>
        </p:spPr>
        <p:txBody>
          <a:bodyPr wrap="square">
            <a:spAutoFit/>
          </a:bodyPr>
          <a:lstStyle/>
          <a:p>
            <a:r>
              <a:rPr lang="es-AR" sz="2400" b="1" i="1" dirty="0">
                <a:effectLst>
                  <a:outerShdw blurRad="38100" dist="38100" dir="2700000" algn="tl">
                    <a:srgbClr val="000000">
                      <a:alpha val="43137"/>
                    </a:srgbClr>
                  </a:outerShdw>
                </a:effectLst>
              </a:rPr>
              <a:t>Esta directiva dice al ensamblador a partir de que posición de memoria de programa se situarán las siguientes instrucciones. Rutinas de comienzo, subrutinas de interrupción y otros programas deben comenzar en locaciones de memoria fijados por la estructura del </a:t>
            </a:r>
            <a:r>
              <a:rPr lang="es-AR" sz="2400" b="1" i="1" dirty="0" err="1">
                <a:effectLst>
                  <a:outerShdw blurRad="38100" dist="38100" dir="2700000" algn="tl">
                    <a:srgbClr val="000000">
                      <a:alpha val="43137"/>
                    </a:srgbClr>
                  </a:outerShdw>
                </a:effectLst>
              </a:rPr>
              <a:t>microcontrolador</a:t>
            </a:r>
            <a:r>
              <a:rPr lang="es-AR" sz="2400" b="1" i="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6678998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368300"/>
            <a:ext cx="9271000" cy="2905924"/>
          </a:xfrm>
          <a:prstGeom prst="rect">
            <a:avLst/>
          </a:prstGeom>
          <a:noFill/>
        </p:spPr>
        <p:txBody>
          <a:bodyPr wrap="square" lIns="0" tIns="0" rIns="0" rtlCol="0">
            <a:spAutoFit/>
          </a:bodyPr>
          <a:lstStyle/>
          <a:p>
            <a:pPr>
              <a:lnSpc>
                <a:spcPts val="3200"/>
              </a:lnSpc>
              <a:tabLst>
                <a:tab pos="2844800" algn="l"/>
              </a:tabLst>
            </a:pPr>
            <a:r>
              <a:rPr lang="en-US" altLang="zh-CN" dirty="0" smtClean="0"/>
              <a:t>	</a:t>
            </a:r>
            <a:r>
              <a:rPr lang="en-US" altLang="zh-CN" sz="3200" b="1" dirty="0" smtClean="0">
                <a:solidFill>
                  <a:srgbClr val="FF0000"/>
                </a:solidFill>
                <a:latin typeface="Times New Roman" pitchFamily="18" charset="0"/>
                <a:cs typeface="Times New Roman" pitchFamily="18" charset="0"/>
              </a:rPr>
              <a:t>Directiva</a:t>
            </a:r>
            <a:r>
              <a:rPr lang="en-US" altLang="zh-CN" sz="3200" dirty="0" smtClean="0">
                <a:solidFill>
                  <a:srgbClr val="FF0000"/>
                </a:solidFill>
                <a:latin typeface="Times New Roman" pitchFamily="18" charset="0"/>
                <a:cs typeface="Times New Roman" pitchFamily="18" charset="0"/>
              </a:rPr>
              <a:t> </a:t>
            </a:r>
            <a:r>
              <a:rPr lang="en-US" altLang="zh-CN" sz="3200" b="1" dirty="0" smtClean="0">
                <a:solidFill>
                  <a:srgbClr val="FF0000"/>
                </a:solidFill>
                <a:latin typeface="Times New Roman" pitchFamily="18" charset="0"/>
                <a:cs typeface="Times New Roman" pitchFamily="18" charset="0"/>
              </a:rPr>
              <a:t>:</a:t>
            </a:r>
            <a:r>
              <a:rPr lang="en-US" altLang="zh-CN" sz="3200" dirty="0" smtClean="0">
                <a:solidFill>
                  <a:srgbClr val="FF0000"/>
                </a:solidFill>
                <a:latin typeface="Times New Roman" pitchFamily="18" charset="0"/>
                <a:cs typeface="Times New Roman" pitchFamily="18" charset="0"/>
              </a:rPr>
              <a:t> </a:t>
            </a:r>
            <a:r>
              <a:rPr lang="en-US" altLang="zh-CN" sz="3200" b="1" dirty="0" smtClean="0">
                <a:solidFill>
                  <a:srgbClr val="FF0000"/>
                </a:solidFill>
                <a:latin typeface="Times New Roman" pitchFamily="18" charset="0"/>
                <a:cs typeface="Times New Roman" pitchFamily="18" charset="0"/>
              </a:rPr>
              <a:t>__CONFIG</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900"/>
              </a:lnSpc>
              <a:tabLst>
                <a:tab pos="4419600" algn="l"/>
              </a:tabLst>
            </a:pP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Esta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directiva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sirve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MPLAB</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durante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la</a:t>
            </a:r>
          </a:p>
          <a:p>
            <a:pPr>
              <a:lnSpc>
                <a:spcPts val="4200"/>
              </a:lnSpc>
              <a:tabLst>
                <a:tab pos="381000" algn="l"/>
                <a:tab pos="4419600" algn="l"/>
              </a:tabLst>
            </a:pPr>
            <a:r>
              <a:rPr lang="en-US" altLang="zh-CN" sz="3527"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grabación</a:t>
            </a:r>
            <a:r>
              <a:rPr lang="en-US" altLang="zh-CN" sz="3527"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del</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microcontrolador</a:t>
            </a:r>
            <a:r>
              <a:rPr lang="en-US" altLang="zh-CN" sz="3527"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t>
            </a:r>
          </a:p>
          <a:p>
            <a:pPr>
              <a:lnSpc>
                <a:spcPts val="4200"/>
              </a:lnSpc>
              <a:tabLst>
                <a:tab pos="381000" algn="l"/>
                <a:tab pos="4419600" algn="l"/>
              </a:tabLst>
            </a:pPr>
            <a:endPar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3800"/>
              </a:lnSpc>
              <a:tabLst>
                <a:tab pos="2844800" algn="l"/>
              </a:tabLst>
            </a:pPr>
            <a:endParaRPr lang="en-US" altLang="zh-CN" sz="3527" b="1" dirty="0" smtClean="0">
              <a:solidFill>
                <a:srgbClr val="000000"/>
              </a:solidFill>
              <a:latin typeface="Times New Roman" pitchFamily="18" charset="0"/>
              <a:cs typeface="Times New Roman" pitchFamily="18" charset="0"/>
            </a:endParaRPr>
          </a:p>
        </p:txBody>
      </p:sp>
      <p:sp>
        <p:nvSpPr>
          <p:cNvPr id="16" name="TextBox 1"/>
          <p:cNvSpPr txBox="1"/>
          <p:nvPr/>
        </p:nvSpPr>
        <p:spPr>
          <a:xfrm>
            <a:off x="1384300" y="2472252"/>
            <a:ext cx="8143255" cy="393185"/>
          </a:xfrm>
          <a:prstGeom prst="rect">
            <a:avLst/>
          </a:prstGeom>
          <a:noFill/>
        </p:spPr>
        <p:txBody>
          <a:bodyPr wrap="none" lIns="0" tIns="0" rIns="0" rtlCol="0">
            <a:spAutoFit/>
          </a:bodyPr>
          <a:lstStyle/>
          <a:p>
            <a:pPr>
              <a:lnSpc>
                <a:spcPts val="2900"/>
              </a:lnSpc>
              <a:tabLst/>
            </a:pPr>
            <a:r>
              <a:rPr lang="en-US" altLang="zh-CN" sz="2202" b="1" dirty="0" smtClean="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__CONFIG</a:t>
            </a:r>
            <a:r>
              <a:rPr lang="en-US" altLang="zh-CN" sz="2202" b="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smtClean="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_CP_OFF</a:t>
            </a:r>
            <a:r>
              <a:rPr lang="en-US" altLang="zh-CN" sz="2202" b="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smtClean="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&amp;</a:t>
            </a:r>
            <a:r>
              <a:rPr lang="en-US" altLang="zh-CN" sz="2202" b="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smtClean="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_WDT_OFF</a:t>
            </a:r>
            <a:r>
              <a:rPr lang="en-US" altLang="zh-CN" sz="2202" b="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smtClean="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&amp;</a:t>
            </a:r>
            <a:r>
              <a:rPr lang="en-US" altLang="zh-CN" sz="2202" b="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smtClean="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_PWRTE_ON</a:t>
            </a:r>
            <a:r>
              <a:rPr lang="en-US" altLang="zh-CN" sz="2202" b="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smtClean="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&amp;</a:t>
            </a:r>
            <a:r>
              <a:rPr lang="en-US" altLang="zh-CN" sz="2202" b="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smtClean="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_XT_OSC</a:t>
            </a:r>
          </a:p>
        </p:txBody>
      </p:sp>
      <p:sp>
        <p:nvSpPr>
          <p:cNvPr id="17" name="TextBox 1"/>
          <p:cNvSpPr txBox="1"/>
          <p:nvPr/>
        </p:nvSpPr>
        <p:spPr>
          <a:xfrm>
            <a:off x="952500" y="3168893"/>
            <a:ext cx="1854200" cy="406400"/>
          </a:xfrm>
          <a:prstGeom prst="rect">
            <a:avLst/>
          </a:prstGeom>
          <a:noFill/>
        </p:spPr>
        <p:txBody>
          <a:bodyPr wrap="none" lIns="0" tIns="0" rIns="0" rtlCol="0">
            <a:spAutoFit/>
          </a:bodyPr>
          <a:lstStyle/>
          <a:p>
            <a:pPr>
              <a:lnSpc>
                <a:spcPts val="3200"/>
              </a:lnSpc>
              <a:tabLst/>
            </a:pPr>
            <a:r>
              <a:rPr lang="en-US" altLang="zh-CN" sz="3527" b="1" dirty="0" smtClean="0">
                <a:solidFill>
                  <a:srgbClr val="000000"/>
                </a:solidFill>
                <a:latin typeface="Times New Roman" pitchFamily="18" charset="0"/>
                <a:cs typeface="Times New Roman" pitchFamily="18" charset="0"/>
              </a:rPr>
              <a:t>Significa</a:t>
            </a:r>
          </a:p>
        </p:txBody>
      </p:sp>
      <p:sp>
        <p:nvSpPr>
          <p:cNvPr id="19" name="TextBox 1"/>
          <p:cNvSpPr txBox="1"/>
          <p:nvPr/>
        </p:nvSpPr>
        <p:spPr>
          <a:xfrm>
            <a:off x="1384300" y="3841993"/>
            <a:ext cx="7676973" cy="3290644"/>
          </a:xfrm>
          <a:prstGeom prst="rect">
            <a:avLst/>
          </a:prstGeom>
          <a:noFill/>
        </p:spPr>
        <p:txBody>
          <a:bodyPr wrap="none" lIns="0" tIns="0" rIns="0" rtlCol="0">
            <a:spAutoFit/>
          </a:bodyPr>
          <a:lstStyle/>
          <a:p>
            <a:pPr>
              <a:lnSpc>
                <a:spcPts val="2800"/>
              </a:lnSpc>
              <a:tabLst>
                <a:tab pos="444500" algn="l"/>
              </a:tabLst>
            </a:pPr>
            <a:r>
              <a:rPr lang="en-US" altLang="zh-CN" sz="3084" b="1" dirty="0" smtClean="0">
                <a:solidFill>
                  <a:srgbClr val="000000"/>
                </a:solidFill>
                <a:latin typeface="Times New Roman" pitchFamily="18" charset="0"/>
                <a:cs typeface="Times New Roman" pitchFamily="18" charset="0"/>
              </a:rPr>
              <a:t>No</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hay</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protección</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código</a:t>
            </a:r>
          </a:p>
          <a:p>
            <a:pPr>
              <a:lnSpc>
                <a:spcPts val="2700"/>
              </a:lnSpc>
              <a:tabLst>
                <a:tab pos="444500" algn="l"/>
              </a:tabLst>
            </a:pPr>
            <a:r>
              <a:rPr lang="en-US" altLang="zh-CN" sz="2400" b="1" dirty="0" smtClean="0">
                <a:effectLst>
                  <a:outerShdw blurRad="38100" dist="38100" dir="2700000" algn="tl">
                    <a:srgbClr val="000000">
                      <a:alpha val="43137"/>
                    </a:srgbClr>
                  </a:outerShdw>
                </a:effectLst>
              </a:rPr>
              <a:t>	</a:t>
            </a:r>
            <a:r>
              <a:rPr lang="en-US" altLang="zh-CN" sz="2400" b="1" dirty="0" smtClean="0">
                <a:solidFill>
                  <a:srgbClr val="FF0000"/>
                </a:solidFill>
                <a:effectLst>
                  <a:outerShdw blurRad="38100" dist="38100" dir="2700000" algn="tl">
                    <a:srgbClr val="000000">
                      <a:alpha val="43137"/>
                    </a:srgbClr>
                  </a:outerShdw>
                </a:effectLst>
                <a:cs typeface="Arial Unicode MS" pitchFamily="18" charset="0"/>
              </a:rPr>
              <a:t>_CP_OFF</a:t>
            </a:r>
          </a:p>
          <a:p>
            <a:pPr>
              <a:lnSpc>
                <a:spcPts val="1000"/>
              </a:lnSpc>
            </a:pPr>
            <a:endParaRPr lang="en-US" altLang="zh-CN" dirty="0" smtClean="0"/>
          </a:p>
          <a:p>
            <a:pPr>
              <a:lnSpc>
                <a:spcPts val="2900"/>
              </a:lnSpc>
              <a:tabLst>
                <a:tab pos="444500" algn="l"/>
              </a:tabLst>
            </a:pPr>
            <a:r>
              <a:rPr lang="en-US" altLang="zh-CN" sz="3084" b="1" dirty="0" smtClean="0">
                <a:solidFill>
                  <a:srgbClr val="000000"/>
                </a:solidFill>
                <a:latin typeface="Times New Roman" pitchFamily="18" charset="0"/>
                <a:cs typeface="Times New Roman" pitchFamily="18" charset="0"/>
              </a:rPr>
              <a:t>No</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se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habilita</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el</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Watchdog</a:t>
            </a:r>
          </a:p>
          <a:p>
            <a:pPr>
              <a:lnSpc>
                <a:spcPts val="2700"/>
              </a:lnSpc>
              <a:tabLst>
                <a:tab pos="444500" algn="l"/>
              </a:tabLst>
            </a:pPr>
            <a:r>
              <a:rPr lang="en-US" altLang="zh-CN" sz="2400" b="1" dirty="0">
                <a:solidFill>
                  <a:srgbClr val="FF0000"/>
                </a:solidFill>
                <a:effectLst>
                  <a:outerShdw blurRad="38100" dist="38100" dir="2700000" algn="tl">
                    <a:srgbClr val="000000">
                      <a:alpha val="43137"/>
                    </a:srgbClr>
                  </a:outerShdw>
                </a:effectLst>
              </a:rPr>
              <a:t>	_WDT_OFF</a:t>
            </a:r>
          </a:p>
          <a:p>
            <a:pPr>
              <a:lnSpc>
                <a:spcPts val="1000"/>
              </a:lnSpc>
            </a:pPr>
            <a:endParaRPr lang="en-US" altLang="zh-CN" dirty="0" smtClean="0"/>
          </a:p>
          <a:p>
            <a:pPr>
              <a:lnSpc>
                <a:spcPts val="2900"/>
              </a:lnSpc>
              <a:tabLst>
                <a:tab pos="444500" algn="l"/>
              </a:tabLst>
            </a:pPr>
            <a:r>
              <a:rPr lang="en-US" altLang="zh-CN" sz="3084" b="1" dirty="0" smtClean="0">
                <a:solidFill>
                  <a:srgbClr val="000000"/>
                </a:solidFill>
                <a:latin typeface="Times New Roman" pitchFamily="18" charset="0"/>
                <a:cs typeface="Times New Roman" pitchFamily="18" charset="0"/>
              </a:rPr>
              <a:t>Se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habilita</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el</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reset</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mediante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Power</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Up</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Timer</a:t>
            </a:r>
          </a:p>
          <a:p>
            <a:pPr>
              <a:lnSpc>
                <a:spcPts val="2700"/>
              </a:lnSpc>
              <a:tabLst>
                <a:tab pos="444500" algn="l"/>
              </a:tabLst>
            </a:pPr>
            <a:r>
              <a:rPr lang="en-US" altLang="zh-CN" sz="2400" b="1" dirty="0">
                <a:solidFill>
                  <a:srgbClr val="FF0000"/>
                </a:solidFill>
                <a:effectLst>
                  <a:outerShdw blurRad="38100" dist="38100" dir="2700000" algn="tl">
                    <a:srgbClr val="000000">
                      <a:alpha val="43137"/>
                    </a:srgbClr>
                  </a:outerShdw>
                </a:effectLst>
              </a:rPr>
              <a:t>	_PWRTE_ON</a:t>
            </a:r>
          </a:p>
          <a:p>
            <a:pPr>
              <a:lnSpc>
                <a:spcPts val="1000"/>
              </a:lnSpc>
            </a:pPr>
            <a:endParaRPr lang="en-US" altLang="zh-CN" dirty="0" smtClean="0"/>
          </a:p>
          <a:p>
            <a:pPr>
              <a:lnSpc>
                <a:spcPts val="2900"/>
              </a:lnSpc>
              <a:tabLst>
                <a:tab pos="444500" algn="l"/>
              </a:tabLst>
            </a:pPr>
            <a:r>
              <a:rPr lang="en-US" altLang="zh-CN" sz="3084" b="1" dirty="0" smtClean="0">
                <a:solidFill>
                  <a:srgbClr val="000000"/>
                </a:solidFill>
                <a:latin typeface="Times New Roman" pitchFamily="18" charset="0"/>
                <a:cs typeface="Times New Roman" pitchFamily="18" charset="0"/>
              </a:rPr>
              <a:t>Se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utiliza</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el</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oscilador</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cristal</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de</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cuarzo</a:t>
            </a:r>
          </a:p>
          <a:p>
            <a:pPr>
              <a:lnSpc>
                <a:spcPts val="2700"/>
              </a:lnSpc>
              <a:tabLst>
                <a:tab pos="444500" algn="l"/>
              </a:tabLst>
            </a:pPr>
            <a:r>
              <a:rPr lang="en-US" altLang="zh-CN" sz="2400" b="1" dirty="0">
                <a:effectLst>
                  <a:outerShdw blurRad="38100" dist="38100" dir="2700000" algn="tl">
                    <a:srgbClr val="000000">
                      <a:alpha val="43137"/>
                    </a:srgbClr>
                  </a:outerShdw>
                </a:effectLst>
              </a:rPr>
              <a:t>	</a:t>
            </a:r>
            <a:r>
              <a:rPr lang="en-US" altLang="zh-CN" sz="2400" b="1" dirty="0">
                <a:solidFill>
                  <a:srgbClr val="FF0000"/>
                </a:solidFill>
                <a:effectLst>
                  <a:outerShdw blurRad="38100" dist="38100" dir="2700000" algn="tl">
                    <a:srgbClr val="000000">
                      <a:alpha val="43137"/>
                    </a:srgbClr>
                  </a:outerShdw>
                </a:effectLst>
              </a:rPr>
              <a:t>_XT_OSC</a:t>
            </a:r>
          </a:p>
        </p:txBody>
      </p:sp>
    </p:spTree>
    <p:extLst>
      <p:ext uri="{BB962C8B-B14F-4D97-AF65-F5344CB8AC3E}">
        <p14:creationId xmlns:p14="http://schemas.microsoft.com/office/powerpoint/2010/main" val="4674725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419099"/>
            <a:ext cx="9431921" cy="2392963"/>
          </a:xfrm>
          <a:prstGeom prst="rect">
            <a:avLst/>
          </a:prstGeom>
          <a:noFill/>
        </p:spPr>
        <p:txBody>
          <a:bodyPr wrap="square" lIns="0" tIns="0" rIns="0" rtlCol="0">
            <a:spAutoFit/>
          </a:bodyPr>
          <a:lstStyle/>
          <a:p>
            <a:pPr>
              <a:lnSpc>
                <a:spcPts val="3200"/>
              </a:lnSpc>
              <a:tabLst>
                <a:tab pos="2844800" algn="l"/>
              </a:tabLst>
            </a:pPr>
            <a:r>
              <a:rPr lang="en-US" altLang="zh-CN" sz="3200" dirty="0" smtClean="0"/>
              <a:t>	</a:t>
            </a:r>
            <a:r>
              <a:rPr lang="en-US" altLang="zh-CN" sz="3200" b="1" dirty="0">
                <a:solidFill>
                  <a:srgbClr val="FF0000"/>
                </a:solidFill>
                <a:latin typeface="Times New Roman" pitchFamily="18" charset="0"/>
                <a:cs typeface="Times New Roman" pitchFamily="18" charset="0"/>
              </a:rPr>
              <a:t>Directiva : Include &lt;P16F684A.INC&gt;</a:t>
            </a:r>
          </a:p>
          <a:p>
            <a:pPr>
              <a:lnSpc>
                <a:spcPts val="1000"/>
              </a:lnSpc>
            </a:pPr>
            <a:endParaRPr lang="en-US" altLang="zh-CN" sz="3200" dirty="0" smtClean="0"/>
          </a:p>
          <a:p>
            <a:pPr>
              <a:lnSpc>
                <a:spcPts val="1000"/>
              </a:lnSpc>
            </a:pPr>
            <a:endParaRPr lang="en-US" altLang="zh-CN" sz="3200" dirty="0" smtClean="0"/>
          </a:p>
          <a:p>
            <a:pPr>
              <a:lnSpc>
                <a:spcPts val="1000"/>
              </a:lnSpc>
            </a:pPr>
            <a:endParaRPr lang="en-US" altLang="zh-CN" sz="3200" dirty="0" smtClean="0"/>
          </a:p>
          <a:p>
            <a:pPr>
              <a:lnSpc>
                <a:spcPts val="1000"/>
              </a:lnSpc>
            </a:pPr>
            <a:endParaRPr lang="en-US" altLang="zh-CN" sz="3200" dirty="0" smtClean="0"/>
          </a:p>
          <a:p>
            <a:pPr>
              <a:lnSpc>
                <a:spcPts val="3700"/>
              </a:lnSpc>
              <a:tabLst>
                <a:tab pos="1917700" algn="l"/>
              </a:tabLst>
            </a:pP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Indica</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en</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donde</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se</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localizan</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las </a:t>
            </a:r>
            <a:r>
              <a:rPr lang="en-US" altLang="zh-CN" sz="3200"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etiquetas</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que</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nombran</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los</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diferentes</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registros</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y</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valor</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que</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le</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corresponde</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 </a:t>
            </a:r>
            <a:r>
              <a:rPr lang="en-US" altLang="zh-CN" sz="3200" b="1" i="1" dirty="0" err="1"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cada</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uno</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2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ellos.</a:t>
            </a:r>
          </a:p>
        </p:txBody>
      </p:sp>
      <p:sp>
        <p:nvSpPr>
          <p:cNvPr id="14" name="TextBox 1"/>
          <p:cNvSpPr txBox="1"/>
          <p:nvPr/>
        </p:nvSpPr>
        <p:spPr>
          <a:xfrm>
            <a:off x="954763" y="3322637"/>
            <a:ext cx="7973337" cy="1405513"/>
          </a:xfrm>
          <a:prstGeom prst="rect">
            <a:avLst/>
          </a:prstGeom>
          <a:noFill/>
        </p:spPr>
        <p:txBody>
          <a:bodyPr wrap="none" lIns="0" tIns="0" rIns="0" rtlCol="0">
            <a:spAutoFit/>
          </a:bodyPr>
          <a:lstStyle/>
          <a:p>
            <a:pPr>
              <a:lnSpc>
                <a:spcPts val="3200"/>
              </a:lnSpc>
              <a:tabLst>
                <a:tab pos="2844800" algn="l"/>
              </a:tabLst>
            </a:pPr>
            <a:r>
              <a:rPr lang="en-US" altLang="zh-CN" dirty="0" smtClean="0"/>
              <a:t>	</a:t>
            </a:r>
            <a:r>
              <a:rPr lang="en-US" altLang="zh-CN" sz="3200" b="1" dirty="0">
                <a:solidFill>
                  <a:srgbClr val="FF0000"/>
                </a:solidFill>
                <a:latin typeface="Times New Roman" pitchFamily="18" charset="0"/>
                <a:cs typeface="Times New Roman" pitchFamily="18" charset="0"/>
              </a:rPr>
              <a:t>Directiva : LIST P=16F628A</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400"/>
              </a:lnSpc>
              <a:tabLst>
                <a:tab pos="2349500" algn="l"/>
              </a:tabLst>
            </a:pPr>
            <a:r>
              <a:rPr lang="en-US" altLang="zh-CN" sz="3527"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Indica</a:t>
            </a:r>
            <a:r>
              <a:rPr lang="en-US" altLang="zh-CN" sz="3527"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527"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tipo</a:t>
            </a:r>
            <a:r>
              <a:rPr lang="en-US" altLang="zh-CN" sz="3527"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527"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microprocesador</a:t>
            </a:r>
            <a:r>
              <a:rPr lang="en-US" altLang="zh-CN" sz="3527"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utilizado</a:t>
            </a:r>
          </a:p>
        </p:txBody>
      </p:sp>
      <p:cxnSp>
        <p:nvCxnSpPr>
          <p:cNvPr id="15" name="14 Conector recto"/>
          <p:cNvCxnSpPr/>
          <p:nvPr/>
        </p:nvCxnSpPr>
        <p:spPr>
          <a:xfrm>
            <a:off x="309257" y="29416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317500" y="3031499"/>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317500" y="46942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325743" y="4784099"/>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9" name="TextBox 1"/>
          <p:cNvSpPr txBox="1"/>
          <p:nvPr/>
        </p:nvSpPr>
        <p:spPr>
          <a:xfrm>
            <a:off x="927100" y="4999037"/>
            <a:ext cx="5590248" cy="1405513"/>
          </a:xfrm>
          <a:prstGeom prst="rect">
            <a:avLst/>
          </a:prstGeom>
          <a:noFill/>
        </p:spPr>
        <p:txBody>
          <a:bodyPr wrap="none" lIns="0" tIns="0" rIns="0" rtlCol="0">
            <a:spAutoFit/>
          </a:bodyPr>
          <a:lstStyle/>
          <a:p>
            <a:pPr>
              <a:lnSpc>
                <a:spcPts val="3200"/>
              </a:lnSpc>
              <a:tabLst>
                <a:tab pos="2844800" algn="l"/>
              </a:tabLst>
            </a:pPr>
            <a:r>
              <a:rPr lang="en-US" altLang="zh-CN" dirty="0" smtClean="0"/>
              <a:t>	</a:t>
            </a:r>
            <a:r>
              <a:rPr lang="en-US" altLang="zh-CN" sz="3200" b="1" dirty="0">
                <a:solidFill>
                  <a:srgbClr val="FF0000"/>
                </a:solidFill>
                <a:latin typeface="Times New Roman" pitchFamily="18" charset="0"/>
                <a:cs typeface="Times New Roman" pitchFamily="18" charset="0"/>
              </a:rPr>
              <a:t>Directiva: END</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400"/>
              </a:lnSpc>
              <a:tabLst>
                <a:tab pos="3556000" algn="l"/>
              </a:tabLst>
            </a:pPr>
            <a:r>
              <a:rPr lang="en-US" altLang="zh-CN" sz="3527" b="1" dirty="0" smtClean="0">
                <a:solidFill>
                  <a:srgbClr val="000000"/>
                </a:solidFill>
                <a:latin typeface="Times New Roman" pitchFamily="18" charset="0"/>
                <a:cs typeface="Times New Roman" pitchFamily="18" charset="0"/>
              </a:rPr>
              <a:t>End</a:t>
            </a:r>
            <a:r>
              <a:rPr lang="en-US" altLang="zh-CN" sz="3527" dirty="0" smtClean="0">
                <a:latin typeface="Times New Roman" pitchFamily="18" charset="0"/>
                <a:cs typeface="Times New Roman" pitchFamily="18" charset="0"/>
              </a:rPr>
              <a:t> </a:t>
            </a:r>
            <a:r>
              <a:rPr lang="en-US" altLang="zh-CN" sz="3527" b="1" dirty="0" smtClean="0">
                <a:solidFill>
                  <a:srgbClr val="000000"/>
                </a:solidFill>
                <a:latin typeface="Times New Roman" pitchFamily="18" charset="0"/>
                <a:cs typeface="Times New Roman" pitchFamily="18" charset="0"/>
              </a:rPr>
              <a:t>program</a:t>
            </a:r>
            <a:r>
              <a:rPr lang="en-US" altLang="zh-CN" sz="3527" dirty="0" smtClean="0">
                <a:latin typeface="Times New Roman" pitchFamily="18" charset="0"/>
                <a:cs typeface="Times New Roman" pitchFamily="18" charset="0"/>
              </a:rPr>
              <a:t> </a:t>
            </a:r>
            <a:r>
              <a:rPr lang="en-US" altLang="zh-CN" sz="3527" b="1" dirty="0" smtClean="0">
                <a:solidFill>
                  <a:srgbClr val="000000"/>
                </a:solidFill>
                <a:latin typeface="Times New Roman" pitchFamily="18" charset="0"/>
                <a:cs typeface="Times New Roman" pitchFamily="18" charset="0"/>
              </a:rPr>
              <a:t>block</a:t>
            </a:r>
          </a:p>
        </p:txBody>
      </p:sp>
      <p:sp>
        <p:nvSpPr>
          <p:cNvPr id="20" name="TextBox 1"/>
          <p:cNvSpPr txBox="1"/>
          <p:nvPr/>
        </p:nvSpPr>
        <p:spPr>
          <a:xfrm>
            <a:off x="1358900" y="6535737"/>
            <a:ext cx="4737100" cy="355600"/>
          </a:xfrm>
          <a:prstGeom prst="rect">
            <a:avLst/>
          </a:prstGeom>
          <a:noFill/>
        </p:spPr>
        <p:txBody>
          <a:bodyPr wrap="none" lIns="0" tIns="0" rIns="0" rtlCol="0">
            <a:spAutoFit/>
          </a:bodyPr>
          <a:lstStyle/>
          <a:p>
            <a:pPr>
              <a:lnSpc>
                <a:spcPts val="2800"/>
              </a:lnSpc>
              <a:tabLst/>
            </a:pPr>
            <a:r>
              <a:rPr lang="en-US" altLang="zh-CN" sz="3084" b="1" dirty="0" smtClean="0">
                <a:solidFill>
                  <a:srgbClr val="000000"/>
                </a:solidFill>
                <a:latin typeface="Times New Roman" pitchFamily="18" charset="0"/>
                <a:cs typeface="Times New Roman" pitchFamily="18" charset="0"/>
              </a:rPr>
              <a:t>Indica</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el</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fin</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del</a:t>
            </a:r>
            <a:r>
              <a:rPr lang="en-US" altLang="zh-CN" sz="3084" dirty="0" smtClean="0">
                <a:latin typeface="Times New Roman" pitchFamily="18" charset="0"/>
                <a:cs typeface="Times New Roman" pitchFamily="18" charset="0"/>
              </a:rPr>
              <a:t> </a:t>
            </a:r>
            <a:r>
              <a:rPr lang="en-US" altLang="zh-CN" sz="3084" b="1" dirty="0" smtClean="0">
                <a:solidFill>
                  <a:srgbClr val="000000"/>
                </a:solidFill>
                <a:latin typeface="Times New Roman" pitchFamily="18" charset="0"/>
                <a:cs typeface="Times New Roman" pitchFamily="18" charset="0"/>
              </a:rPr>
              <a:t>programa</a:t>
            </a:r>
          </a:p>
        </p:txBody>
      </p:sp>
    </p:spTree>
    <p:extLst>
      <p:ext uri="{BB962C8B-B14F-4D97-AF65-F5344CB8AC3E}">
        <p14:creationId xmlns:p14="http://schemas.microsoft.com/office/powerpoint/2010/main" val="12969025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Guía de Lectura</a:t>
            </a:r>
            <a:endParaRPr lang="es-ES" dirty="0"/>
          </a:p>
        </p:txBody>
      </p:sp>
      <p:sp>
        <p:nvSpPr>
          <p:cNvPr id="3" name="Marcador de contenido 2"/>
          <p:cNvSpPr>
            <a:spLocks noGrp="1"/>
          </p:cNvSpPr>
          <p:nvPr>
            <p:ph idx="1"/>
          </p:nvPr>
        </p:nvSpPr>
        <p:spPr>
          <a:xfrm>
            <a:off x="457200" y="1189037"/>
            <a:ext cx="9766300" cy="6172199"/>
          </a:xfrm>
        </p:spPr>
        <p:txBody>
          <a:bodyPr>
            <a:normAutofit/>
          </a:bodyPr>
          <a:lstStyle/>
          <a:p>
            <a:pPr marL="0" indent="0">
              <a:buNone/>
            </a:pPr>
            <a:r>
              <a:rPr lang="es-ES" sz="4000" dirty="0" smtClean="0"/>
              <a:t>1.- 03 </a:t>
            </a:r>
            <a:r>
              <a:rPr lang="es-ES" sz="4000" dirty="0"/>
              <a:t>Directivas del </a:t>
            </a:r>
            <a:r>
              <a:rPr lang="es-ES" sz="4000" dirty="0" smtClean="0"/>
              <a:t>ensamblador.PDF</a:t>
            </a:r>
          </a:p>
          <a:p>
            <a:pPr marL="0" indent="0">
              <a:buNone/>
            </a:pPr>
            <a:endParaRPr lang="es-ES" sz="4000" dirty="0"/>
          </a:p>
          <a:p>
            <a:pPr marL="0" indent="0">
              <a:buNone/>
            </a:pPr>
            <a:endParaRPr lang="es-ES" sz="4000" dirty="0" smtClean="0"/>
          </a:p>
          <a:p>
            <a:pPr marL="0" indent="0">
              <a:buNone/>
            </a:pPr>
            <a:r>
              <a:rPr lang="es-ES" sz="4000" dirty="0" smtClean="0"/>
              <a:t>2.- 05 </a:t>
            </a:r>
            <a:r>
              <a:rPr lang="es-ES" sz="4000" dirty="0"/>
              <a:t>Técnicas de Programación.PDF</a:t>
            </a:r>
          </a:p>
          <a:p>
            <a:pPr marL="0" indent="0">
              <a:buNone/>
            </a:pPr>
            <a:endParaRPr lang="es-ES" sz="2200" dirty="0" smtClean="0"/>
          </a:p>
          <a:p>
            <a:pPr marL="0" indent="0">
              <a:buNone/>
            </a:pPr>
            <a:endParaRPr lang="es-ES" sz="2200" dirty="0" smtClean="0"/>
          </a:p>
        </p:txBody>
      </p:sp>
    </p:spTree>
    <p:extLst>
      <p:ext uri="{BB962C8B-B14F-4D97-AF65-F5344CB8AC3E}">
        <p14:creationId xmlns:p14="http://schemas.microsoft.com/office/powerpoint/2010/main" val="22132621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表格 4"/>
          <p:cNvGraphicFramePr>
            <a:graphicFrameLocks noGrp="1"/>
          </p:cNvGraphicFramePr>
          <p:nvPr>
            <p:extLst>
              <p:ext uri="{D42A27DB-BD31-4B8C-83A1-F6EECF244321}">
                <p14:modId xmlns:p14="http://schemas.microsoft.com/office/powerpoint/2010/main" val="3636784020"/>
              </p:ext>
            </p:extLst>
          </p:nvPr>
        </p:nvGraphicFramePr>
        <p:xfrm>
          <a:off x="897140" y="1671065"/>
          <a:ext cx="9279635" cy="5308472"/>
        </p:xfrm>
        <a:graphic>
          <a:graphicData uri="http://schemas.openxmlformats.org/drawingml/2006/table">
            <a:tbl>
              <a:tblPr/>
              <a:tblGrid>
                <a:gridCol w="3092576">
                  <a:extLst>
                    <a:ext uri="{9D8B030D-6E8A-4147-A177-3AD203B41FA5}">
                      <a16:colId xmlns="" xmlns:a16="http://schemas.microsoft.com/office/drawing/2014/main" val="20000"/>
                    </a:ext>
                  </a:extLst>
                </a:gridCol>
                <a:gridCol w="3094482">
                  <a:extLst>
                    <a:ext uri="{9D8B030D-6E8A-4147-A177-3AD203B41FA5}">
                      <a16:colId xmlns="" xmlns:a16="http://schemas.microsoft.com/office/drawing/2014/main" val="20001"/>
                    </a:ext>
                  </a:extLst>
                </a:gridCol>
                <a:gridCol w="3092577">
                  <a:extLst>
                    <a:ext uri="{9D8B030D-6E8A-4147-A177-3AD203B41FA5}">
                      <a16:colId xmlns="" xmlns:a16="http://schemas.microsoft.com/office/drawing/2014/main" val="20002"/>
                    </a:ext>
                  </a:extLst>
                </a:gridCol>
              </a:tblGrid>
              <a:tr h="632841">
                <a:tc>
                  <a:txBody>
                    <a:bodyPr/>
                    <a:lstStyle/>
                    <a:p>
                      <a:pPr algn="ctr"/>
                      <a:r>
                        <a:rPr lang="en-US" altLang="zh-CN" sz="3084" b="1" dirty="0" smtClean="0">
                          <a:solidFill>
                            <a:srgbClr val="000000"/>
                          </a:solidFill>
                          <a:latin typeface="Times New Roman" pitchFamily="18" charset="0"/>
                          <a:cs typeface="Times New Roman" pitchFamily="18" charset="0"/>
                        </a:rPr>
                        <a:t>TIPO</a:t>
                      </a:r>
                      <a:endParaRPr lang="zh-CN" altLang="en-US" sz="3084" b="1" dirty="0" smtClean="0">
                        <a:solidFill>
                          <a:srgbClr val="000000"/>
                        </a:solidFill>
                        <a:latin typeface="Times New Roman" pitchFamily="18" charset="0"/>
                        <a:cs typeface="Times New Roman" pitchFamily="18" charset="0"/>
                      </a:endParaRPr>
                    </a:p>
                  </a:txBody>
                  <a:tcPr>
                    <a:lnL w="0" cmpd="sng">
                      <a:solidFill>
                        <a:srgbClr val="000000"/>
                      </a:solidFill>
                      <a:prstDash val="solid"/>
                    </a:lnL>
                    <a:lnR w="1" cap="flat" cmpd="sng" algn="ctr">
                      <a:solidFill>
                        <a:srgbClr val="000000"/>
                      </a:solidFill>
                      <a:prstDash val="solid"/>
                      <a:round/>
                      <a:headEnd type="none" w="med" len="med"/>
                      <a:tailEnd type="none" w="med" len="med"/>
                    </a:lnR>
                    <a:lnT w="1" cmpd="sng">
                      <a:solidFill>
                        <a:srgbClr val="000000"/>
                      </a:solidFill>
                      <a:prstDash val="soli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dirty="0" smtClean="0">
                          <a:solidFill>
                            <a:srgbClr val="000000"/>
                          </a:solidFill>
                          <a:latin typeface="Times New Roman" pitchFamily="18" charset="0"/>
                          <a:cs typeface="Times New Roman" pitchFamily="18" charset="0"/>
                        </a:rPr>
                        <a:t>SINTAXIS</a:t>
                      </a:r>
                      <a:endParaRPr lang="zh-CN" altLang="en-US" sz="3084" b="1" dirty="0" smtClean="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dirty="0" smtClean="0">
                          <a:solidFill>
                            <a:srgbClr val="000000"/>
                          </a:solidFill>
                          <a:latin typeface="Times New Roman" pitchFamily="18" charset="0"/>
                          <a:cs typeface="Times New Roman" pitchFamily="18" charset="0"/>
                        </a:rPr>
                        <a:t>Ejemplo</a:t>
                      </a:r>
                      <a:endParaRPr lang="zh-CN" altLang="en-US" sz="3084" b="1" dirty="0" smtClean="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2" cmpd="sng">
                      <a:solidFill>
                        <a:srgbClr val="000000"/>
                      </a:solidFill>
                      <a:prstDash val="soli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0"/>
                  </a:ext>
                </a:extLst>
              </a:tr>
              <a:tr h="1315592">
                <a:tc>
                  <a:txBody>
                    <a:bodyPr/>
                    <a:lstStyle/>
                    <a:p>
                      <a:pPr algn="l"/>
                      <a:r>
                        <a:rPr lang="en-US" altLang="zh-CN" sz="3084" b="1" dirty="0" smtClean="0">
                          <a:solidFill>
                            <a:srgbClr val="FF0000"/>
                          </a:solidFill>
                          <a:latin typeface="Times New Roman" pitchFamily="18" charset="0"/>
                          <a:cs typeface="Times New Roman" pitchFamily="18" charset="0"/>
                        </a:rPr>
                        <a:t>Decimal</a:t>
                      </a:r>
                      <a:endParaRPr lang="zh-CN" altLang="en-US" sz="3084" b="1" dirty="0" smtClean="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D’&lt;cantidad&gt;’</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d’&lt;cantidad&gt;’</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.&lt;cantidad&gt;&lt;cantidad&gt;</a:t>
                      </a:r>
                      <a:endParaRPr lang="zh-CN" altLang="en-US" sz="2202" b="1" dirty="0" smtClean="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err="1" smtClean="0">
                          <a:solidFill>
                            <a:srgbClr val="000000"/>
                          </a:solidFill>
                          <a:latin typeface="Times New Roman" pitchFamily="18" charset="0"/>
                          <a:cs typeface="Times New Roman" pitchFamily="18" charset="0"/>
                        </a:rPr>
                        <a:t>Movlwl</a:t>
                      </a:r>
                      <a:r>
                        <a:rPr lang="en-US" altLang="zh-CN" sz="2202" b="1" dirty="0" smtClean="0">
                          <a:solidFill>
                            <a:srgbClr val="000000"/>
                          </a:solidFill>
                          <a:latin typeface="Times New Roman" pitchFamily="18" charset="0"/>
                          <a:cs typeface="Times New Roman" pitchFamily="18" charset="0"/>
                        </a:rPr>
                        <a:t> </a:t>
                      </a:r>
                      <a:r>
                        <a:rPr lang="en-US" altLang="zh-CN" sz="2202" b="1" dirty="0" smtClean="0">
                          <a:solidFill>
                            <a:srgbClr val="FF0000"/>
                          </a:solidFill>
                          <a:latin typeface="Times New Roman" pitchFamily="18" charset="0"/>
                          <a:cs typeface="Times New Roman" pitchFamily="18" charset="0"/>
                        </a:rPr>
                        <a:t>D</a:t>
                      </a:r>
                      <a:r>
                        <a:rPr lang="en-US" altLang="zh-CN" sz="2202" b="1" dirty="0" smtClean="0">
                          <a:solidFill>
                            <a:srgbClr val="000000"/>
                          </a:solidFill>
                          <a:latin typeface="Times New Roman" pitchFamily="18" charset="0"/>
                          <a:cs typeface="Times New Roman" pitchFamily="18" charset="0"/>
                        </a:rPr>
                        <a:t>’109’</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err="1" smtClean="0">
                          <a:solidFill>
                            <a:srgbClr val="000000"/>
                          </a:solidFill>
                          <a:latin typeface="Times New Roman" pitchFamily="18" charset="0"/>
                          <a:cs typeface="Times New Roman" pitchFamily="18" charset="0"/>
                        </a:rPr>
                        <a:t>Movlw</a:t>
                      </a:r>
                      <a:r>
                        <a:rPr lang="en-US" altLang="zh-CN" sz="2202" b="1" dirty="0" smtClean="0">
                          <a:solidFill>
                            <a:srgbClr val="000000"/>
                          </a:solidFill>
                          <a:latin typeface="Times New Roman" pitchFamily="18" charset="0"/>
                          <a:cs typeface="Times New Roman" pitchFamily="18" charset="0"/>
                        </a:rPr>
                        <a:t> </a:t>
                      </a:r>
                      <a:r>
                        <a:rPr lang="en-US" altLang="zh-CN" sz="2202" b="1" dirty="0" smtClean="0">
                          <a:solidFill>
                            <a:srgbClr val="FF0000"/>
                          </a:solidFill>
                          <a:latin typeface="Times New Roman" pitchFamily="18" charset="0"/>
                          <a:cs typeface="Times New Roman" pitchFamily="18" charset="0"/>
                        </a:rPr>
                        <a:t>d</a:t>
                      </a:r>
                      <a:r>
                        <a:rPr lang="en-US" altLang="zh-CN" sz="2202" b="1" dirty="0" smtClean="0">
                          <a:solidFill>
                            <a:srgbClr val="000000"/>
                          </a:solidFill>
                          <a:latin typeface="Times New Roman" pitchFamily="18" charset="0"/>
                          <a:cs typeface="Times New Roman" pitchFamily="18" charset="0"/>
                        </a:rPr>
                        <a:t>’109’</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Movlw</a:t>
                      </a:r>
                      <a:r>
                        <a:rPr lang="en-US" altLang="zh-CN" sz="2202" b="1" dirty="0" smtClean="0">
                          <a:solidFill>
                            <a:srgbClr val="FF0000"/>
                          </a:solidFill>
                          <a:latin typeface="Times New Roman" pitchFamily="18" charset="0"/>
                          <a:cs typeface="Times New Roman" pitchFamily="18" charset="0"/>
                        </a:rPr>
                        <a:t>.</a:t>
                      </a:r>
                      <a:r>
                        <a:rPr lang="en-US" altLang="zh-CN" sz="2202" b="1" dirty="0" smtClean="0">
                          <a:solidFill>
                            <a:srgbClr val="000000"/>
                          </a:solidFill>
                          <a:latin typeface="Times New Roman" pitchFamily="18" charset="0"/>
                          <a:cs typeface="Times New Roman" pitchFamily="18" charset="0"/>
                        </a:rPr>
                        <a:t>109 109</a:t>
                      </a:r>
                      <a:endParaRPr lang="zh-CN" altLang="en-US" sz="2202" b="1" dirty="0" smtClean="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044827">
                <a:tc>
                  <a:txBody>
                    <a:bodyPr/>
                    <a:lstStyle/>
                    <a:p>
                      <a:pPr algn="l"/>
                      <a:r>
                        <a:rPr lang="en-US" altLang="zh-CN" sz="3084" b="1" dirty="0" smtClean="0">
                          <a:solidFill>
                            <a:srgbClr val="FF0000"/>
                          </a:solidFill>
                          <a:latin typeface="Times New Roman" pitchFamily="18" charset="0"/>
                          <a:cs typeface="Times New Roman" pitchFamily="18" charset="0"/>
                        </a:rPr>
                        <a:t>Hexadecimal</a:t>
                      </a:r>
                      <a:endParaRPr lang="zh-CN" altLang="en-US" sz="3084" b="1" dirty="0" smtClean="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H’&lt;cantidad&gt;’</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h’&lt;cantidad&gt;’</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0x&lt;cantidad&gt;</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&lt;cantidad&gt;H</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&lt;cantidad&gt;h</a:t>
                      </a:r>
                      <a:endParaRPr lang="zh-CN" altLang="en-US" sz="2202" b="1" dirty="0" smtClean="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Movlw</a:t>
                      </a:r>
                      <a:r>
                        <a:rPr lang="en-US" altLang="zh-CN" sz="2202" b="1" dirty="0" smtClean="0">
                          <a:solidFill>
                            <a:srgbClr val="FF0000"/>
                          </a:solidFill>
                          <a:latin typeface="Times New Roman" pitchFamily="18" charset="0"/>
                          <a:cs typeface="Times New Roman" pitchFamily="18" charset="0"/>
                        </a:rPr>
                        <a:t>H</a:t>
                      </a:r>
                      <a:r>
                        <a:rPr lang="en-US" altLang="zh-CN" sz="2202" b="1" dirty="0" smtClean="0">
                          <a:solidFill>
                            <a:srgbClr val="000000"/>
                          </a:solidFill>
                          <a:latin typeface="Times New Roman" pitchFamily="18" charset="0"/>
                          <a:cs typeface="Times New Roman" pitchFamily="18" charset="0"/>
                        </a:rPr>
                        <a:t>’6D’</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momovlwl</a:t>
                      </a:r>
                      <a:r>
                        <a:rPr lang="en-US" altLang="zh-CN" sz="2202" b="1" dirty="0" smtClean="0">
                          <a:solidFill>
                            <a:srgbClr val="FF0000"/>
                          </a:solidFill>
                          <a:latin typeface="Times New Roman" pitchFamily="18" charset="0"/>
                          <a:cs typeface="Times New Roman" pitchFamily="18" charset="0"/>
                        </a:rPr>
                        <a:t>h</a:t>
                      </a:r>
                      <a:r>
                        <a:rPr lang="en-US" altLang="zh-CN" sz="2202" b="1" dirty="0" smtClean="0">
                          <a:solidFill>
                            <a:srgbClr val="000000"/>
                          </a:solidFill>
                          <a:latin typeface="Times New Roman" pitchFamily="18" charset="0"/>
                          <a:cs typeface="Times New Roman" pitchFamily="18" charset="0"/>
                        </a:rPr>
                        <a:t>’6D’</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movlw0</a:t>
                      </a:r>
                      <a:r>
                        <a:rPr lang="en-US" altLang="zh-CN" sz="2202" b="1" dirty="0" smtClean="0">
                          <a:solidFill>
                            <a:srgbClr val="FF0000"/>
                          </a:solidFill>
                          <a:latin typeface="Times New Roman" pitchFamily="18" charset="0"/>
                          <a:cs typeface="Times New Roman" pitchFamily="18" charset="0"/>
                        </a:rPr>
                        <a:t>x</a:t>
                      </a:r>
                      <a:r>
                        <a:rPr lang="en-US" altLang="zh-CN" sz="2202" b="1" dirty="0" smtClean="0">
                          <a:solidFill>
                            <a:srgbClr val="000000"/>
                          </a:solidFill>
                          <a:latin typeface="Times New Roman" pitchFamily="18" charset="0"/>
                          <a:cs typeface="Times New Roman" pitchFamily="18" charset="0"/>
                        </a:rPr>
                        <a:t>6D</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movlw6D</a:t>
                      </a:r>
                      <a:r>
                        <a:rPr lang="en-US" altLang="zh-CN" sz="2202" b="1" dirty="0" smtClean="0">
                          <a:solidFill>
                            <a:srgbClr val="FF0000"/>
                          </a:solidFill>
                          <a:latin typeface="Times New Roman" pitchFamily="18" charset="0"/>
                          <a:cs typeface="Times New Roman" pitchFamily="18" charset="0"/>
                        </a:rPr>
                        <a:t>H</a:t>
                      </a:r>
                      <a:endParaRPr lang="zh-CN" altLang="en-US" sz="2202" b="1" dirty="0" smtClean="0">
                        <a:solidFill>
                          <a:srgbClr val="FF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movlw6D</a:t>
                      </a:r>
                      <a:r>
                        <a:rPr lang="en-US" altLang="zh-CN" sz="2202" b="1" dirty="0" smtClean="0">
                          <a:solidFill>
                            <a:srgbClr val="FF0000"/>
                          </a:solidFill>
                          <a:latin typeface="Times New Roman" pitchFamily="18" charset="0"/>
                          <a:cs typeface="Times New Roman" pitchFamily="18" charset="0"/>
                        </a:rPr>
                        <a:t>h</a:t>
                      </a:r>
                      <a:endParaRPr lang="zh-CN" altLang="en-US" sz="2202" b="1" dirty="0" smtClean="0">
                        <a:solidFill>
                          <a:srgbClr val="FF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2"/>
                  </a:ext>
                </a:extLst>
              </a:tr>
              <a:tr h="1315212">
                <a:tc>
                  <a:txBody>
                    <a:bodyPr/>
                    <a:lstStyle/>
                    <a:p>
                      <a:pPr algn="l"/>
                      <a:r>
                        <a:rPr lang="en-US" altLang="zh-CN" sz="3084" b="1" dirty="0" smtClean="0">
                          <a:solidFill>
                            <a:srgbClr val="FF0000"/>
                          </a:solidFill>
                          <a:latin typeface="Times New Roman" pitchFamily="18" charset="0"/>
                          <a:cs typeface="Times New Roman" pitchFamily="18" charset="0"/>
                        </a:rPr>
                        <a:t>Octal</a:t>
                      </a:r>
                      <a:endParaRPr lang="zh-CN" altLang="en-US" sz="3084" b="1" dirty="0" smtClean="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mpd="sng">
                      <a:solidFill>
                        <a:srgbClr val="000000"/>
                      </a:solidFill>
                      <a:prstDash val="soli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O’&lt;cantidad&gt;’</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o’&lt;cantidad&gt;’</a:t>
                      </a:r>
                      <a:endParaRPr lang="zh-CN" altLang="en-US" sz="2202" b="1" dirty="0" smtClean="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Movlw</a:t>
                      </a:r>
                      <a:r>
                        <a:rPr lang="en-US" altLang="zh-CN" sz="2202" b="1" dirty="0" smtClean="0">
                          <a:solidFill>
                            <a:srgbClr val="FF0000"/>
                          </a:solidFill>
                          <a:latin typeface="Times New Roman" pitchFamily="18" charset="0"/>
                          <a:cs typeface="Times New Roman" pitchFamily="18" charset="0"/>
                        </a:rPr>
                        <a:t>O</a:t>
                      </a:r>
                      <a:r>
                        <a:rPr lang="en-US" altLang="zh-CN" sz="2202" b="1" dirty="0" smtClean="0">
                          <a:solidFill>
                            <a:srgbClr val="000000"/>
                          </a:solidFill>
                          <a:latin typeface="Times New Roman" pitchFamily="18" charset="0"/>
                          <a:cs typeface="Times New Roman" pitchFamily="18" charset="0"/>
                        </a:rPr>
                        <a:t>’155’</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movlw</a:t>
                      </a:r>
                      <a:r>
                        <a:rPr lang="en-US" altLang="zh-CN" sz="2202" b="1" dirty="0" smtClean="0">
                          <a:solidFill>
                            <a:srgbClr val="FF0000"/>
                          </a:solidFill>
                          <a:latin typeface="Times New Roman" pitchFamily="18" charset="0"/>
                          <a:cs typeface="Times New Roman" pitchFamily="18" charset="0"/>
                        </a:rPr>
                        <a:t>o</a:t>
                      </a:r>
                      <a:r>
                        <a:rPr lang="en-US" altLang="zh-CN" sz="2202" b="1" dirty="0" smtClean="0">
                          <a:solidFill>
                            <a:srgbClr val="000000"/>
                          </a:solidFill>
                          <a:latin typeface="Times New Roman" pitchFamily="18" charset="0"/>
                          <a:cs typeface="Times New Roman" pitchFamily="18" charset="0"/>
                        </a:rPr>
                        <a:t>’155’</a:t>
                      </a:r>
                      <a:endParaRPr lang="zh-CN" altLang="en-US" sz="2202" b="1" dirty="0" smtClean="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bl>
          </a:graphicData>
        </a:graphic>
      </p:graphicFrame>
      <p:sp>
        <p:nvSpPr>
          <p:cNvPr id="2" name="TextBox 1"/>
          <p:cNvSpPr txBox="1"/>
          <p:nvPr/>
        </p:nvSpPr>
        <p:spPr>
          <a:xfrm>
            <a:off x="2997200" y="355600"/>
            <a:ext cx="7233519" cy="398892"/>
          </a:xfrm>
          <a:prstGeom prst="rect">
            <a:avLst/>
          </a:prstGeom>
          <a:noFill/>
        </p:spPr>
        <p:txBody>
          <a:bodyPr wrap="none" lIns="0" tIns="0" rIns="0" rtlCol="0">
            <a:spAutoFit/>
          </a:bodyPr>
          <a:lstStyle/>
          <a:p>
            <a:pPr>
              <a:lnSpc>
                <a:spcPts val="24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Constante Numéricas y Alfanuméricas</a:t>
            </a:r>
          </a:p>
        </p:txBody>
      </p:sp>
    </p:spTree>
    <p:extLst>
      <p:ext uri="{BB962C8B-B14F-4D97-AF65-F5344CB8AC3E}">
        <p14:creationId xmlns:p14="http://schemas.microsoft.com/office/powerpoint/2010/main" val="10968044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表格 4"/>
          <p:cNvGraphicFramePr>
            <a:graphicFrameLocks noGrp="1"/>
          </p:cNvGraphicFramePr>
          <p:nvPr>
            <p:extLst>
              <p:ext uri="{D42A27DB-BD31-4B8C-83A1-F6EECF244321}">
                <p14:modId xmlns:p14="http://schemas.microsoft.com/office/powerpoint/2010/main" val="4205741895"/>
              </p:ext>
            </p:extLst>
          </p:nvPr>
        </p:nvGraphicFramePr>
        <p:xfrm>
          <a:off x="897140" y="1671065"/>
          <a:ext cx="9279635" cy="5112638"/>
        </p:xfrm>
        <a:graphic>
          <a:graphicData uri="http://schemas.openxmlformats.org/drawingml/2006/table">
            <a:tbl>
              <a:tblPr/>
              <a:tblGrid>
                <a:gridCol w="3092576">
                  <a:extLst>
                    <a:ext uri="{9D8B030D-6E8A-4147-A177-3AD203B41FA5}">
                      <a16:colId xmlns="" xmlns:a16="http://schemas.microsoft.com/office/drawing/2014/main" val="20000"/>
                    </a:ext>
                  </a:extLst>
                </a:gridCol>
                <a:gridCol w="3094482">
                  <a:extLst>
                    <a:ext uri="{9D8B030D-6E8A-4147-A177-3AD203B41FA5}">
                      <a16:colId xmlns="" xmlns:a16="http://schemas.microsoft.com/office/drawing/2014/main" val="20001"/>
                    </a:ext>
                  </a:extLst>
                </a:gridCol>
                <a:gridCol w="3092577">
                  <a:extLst>
                    <a:ext uri="{9D8B030D-6E8A-4147-A177-3AD203B41FA5}">
                      <a16:colId xmlns="" xmlns:a16="http://schemas.microsoft.com/office/drawing/2014/main" val="20002"/>
                    </a:ext>
                  </a:extLst>
                </a:gridCol>
              </a:tblGrid>
              <a:tr h="683133">
                <a:tc>
                  <a:txBody>
                    <a:bodyPr/>
                    <a:lstStyle/>
                    <a:p>
                      <a:pPr algn="ctr"/>
                      <a:r>
                        <a:rPr lang="en-US" altLang="zh-CN" sz="3084" b="1" dirty="0" smtClean="0">
                          <a:solidFill>
                            <a:srgbClr val="000000"/>
                          </a:solidFill>
                          <a:latin typeface="Times New Roman" pitchFamily="18" charset="0"/>
                          <a:cs typeface="Times New Roman" pitchFamily="18" charset="0"/>
                        </a:rPr>
                        <a:t>TIPO</a:t>
                      </a:r>
                      <a:endParaRPr lang="zh-CN" altLang="en-US" sz="3084" b="1" dirty="0" smtClean="0">
                        <a:solidFill>
                          <a:srgbClr val="000000"/>
                        </a:solidFill>
                        <a:latin typeface="Times New Roman" pitchFamily="18" charset="0"/>
                        <a:cs typeface="Times New Roman" pitchFamily="18" charset="0"/>
                      </a:endParaRPr>
                    </a:p>
                  </a:txBody>
                  <a:tcPr>
                    <a:lnL w="0" cmpd="sng">
                      <a:solidFill>
                        <a:srgbClr val="000000"/>
                      </a:solidFill>
                      <a:prstDash val="solid"/>
                    </a:lnL>
                    <a:lnR w="1" cap="flat" cmpd="sng" algn="ctr">
                      <a:solidFill>
                        <a:srgbClr val="000000"/>
                      </a:solidFill>
                      <a:prstDash val="solid"/>
                      <a:round/>
                      <a:headEnd type="none" w="med" len="med"/>
                      <a:tailEnd type="none" w="med" len="med"/>
                    </a:lnR>
                    <a:lnT w="1" cmpd="sng">
                      <a:solidFill>
                        <a:srgbClr val="000000"/>
                      </a:solidFill>
                      <a:prstDash val="soli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dirty="0" smtClean="0">
                          <a:solidFill>
                            <a:srgbClr val="000000"/>
                          </a:solidFill>
                          <a:latin typeface="Times New Roman" pitchFamily="18" charset="0"/>
                          <a:cs typeface="Times New Roman" pitchFamily="18" charset="0"/>
                        </a:rPr>
                        <a:t>SINTAXIS</a:t>
                      </a:r>
                      <a:endParaRPr lang="zh-CN" altLang="en-US" sz="3084" b="1" dirty="0" smtClean="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dirty="0" smtClean="0">
                          <a:solidFill>
                            <a:srgbClr val="000000"/>
                          </a:solidFill>
                          <a:latin typeface="Times New Roman" pitchFamily="18" charset="0"/>
                          <a:cs typeface="Times New Roman" pitchFamily="18" charset="0"/>
                        </a:rPr>
                        <a:t>Ejemplo</a:t>
                      </a:r>
                      <a:endParaRPr lang="zh-CN" altLang="en-US" sz="3084" b="1" dirty="0" smtClean="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2" cmpd="sng">
                      <a:solidFill>
                        <a:srgbClr val="000000"/>
                      </a:solidFill>
                      <a:prstDash val="soli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0"/>
                  </a:ext>
                </a:extLst>
              </a:tr>
              <a:tr h="1421130">
                <a:tc>
                  <a:txBody>
                    <a:bodyPr/>
                    <a:lstStyle/>
                    <a:p>
                      <a:pPr algn="l"/>
                      <a:r>
                        <a:rPr lang="en-US" altLang="zh-CN" sz="3084" b="1" dirty="0" smtClean="0">
                          <a:solidFill>
                            <a:srgbClr val="FF0000"/>
                          </a:solidFill>
                          <a:latin typeface="Times New Roman" pitchFamily="18" charset="0"/>
                          <a:cs typeface="Times New Roman" pitchFamily="18" charset="0"/>
                        </a:rPr>
                        <a:t>Binario</a:t>
                      </a:r>
                      <a:endParaRPr lang="zh-CN" altLang="en-US" sz="3084" b="1" dirty="0" smtClean="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B’&lt;cantidad&gt;’</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b’&lt;cantidad&gt;’cantidad</a:t>
                      </a:r>
                      <a:endParaRPr lang="zh-CN" altLang="en-US" sz="2202" b="1" dirty="0" smtClean="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Movlw</a:t>
                      </a:r>
                      <a:r>
                        <a:rPr lang="en-US" altLang="zh-CN" sz="2202" b="1" dirty="0" smtClean="0">
                          <a:solidFill>
                            <a:srgbClr val="FF0000"/>
                          </a:solidFill>
                          <a:latin typeface="Times New Roman" pitchFamily="18" charset="0"/>
                          <a:cs typeface="Times New Roman" pitchFamily="18" charset="0"/>
                        </a:rPr>
                        <a:t>B</a:t>
                      </a:r>
                      <a:r>
                        <a:rPr lang="en-US" altLang="zh-CN" sz="2202" b="1" dirty="0" smtClean="0">
                          <a:solidFill>
                            <a:srgbClr val="000000"/>
                          </a:solidFill>
                          <a:latin typeface="Times New Roman" pitchFamily="18" charset="0"/>
                          <a:cs typeface="Times New Roman" pitchFamily="18" charset="0"/>
                        </a:rPr>
                        <a:t>’01101101’</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movlw</a:t>
                      </a:r>
                      <a:r>
                        <a:rPr lang="en-US" altLang="zh-CN" sz="2202" b="1" dirty="0" smtClean="0">
                          <a:solidFill>
                            <a:srgbClr val="FF0000"/>
                          </a:solidFill>
                          <a:latin typeface="Times New Roman" pitchFamily="18" charset="0"/>
                          <a:cs typeface="Times New Roman" pitchFamily="18" charset="0"/>
                        </a:rPr>
                        <a:t>b</a:t>
                      </a:r>
                      <a:r>
                        <a:rPr lang="en-US" altLang="zh-CN" sz="2202" b="1" dirty="0" smtClean="0">
                          <a:solidFill>
                            <a:srgbClr val="000000"/>
                          </a:solidFill>
                          <a:latin typeface="Times New Roman" pitchFamily="18" charset="0"/>
                          <a:cs typeface="Times New Roman" pitchFamily="18" charset="0"/>
                        </a:rPr>
                        <a:t>’01101101’</a:t>
                      </a:r>
                      <a:endParaRPr lang="zh-CN" altLang="en-US" sz="2202" b="1" dirty="0" smtClean="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1587245">
                <a:tc>
                  <a:txBody>
                    <a:bodyPr/>
                    <a:lstStyle/>
                    <a:p>
                      <a:pPr algn="l"/>
                      <a:r>
                        <a:rPr lang="en-US" altLang="zh-CN" sz="3084" b="1" dirty="0" smtClean="0">
                          <a:solidFill>
                            <a:srgbClr val="FF0000"/>
                          </a:solidFill>
                          <a:latin typeface="Times New Roman" pitchFamily="18" charset="0"/>
                          <a:cs typeface="Times New Roman" pitchFamily="18" charset="0"/>
                        </a:rPr>
                        <a:t>ASCII</a:t>
                      </a:r>
                      <a:endParaRPr lang="zh-CN" altLang="en-US" sz="3084" b="1" dirty="0" smtClean="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A’&lt;carácter&gt;’&lt;carácter&gt;</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a’&lt;carácter&gt;’</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’&lt;carácter&gt;’&lt;carácter&gt;</a:t>
                      </a:r>
                      <a:endParaRPr lang="zh-CN" altLang="en-US" sz="2202" b="1" dirty="0" smtClean="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Movlw</a:t>
                      </a:r>
                      <a:r>
                        <a:rPr lang="en-US" altLang="zh-CN" sz="2202" b="1" dirty="0" smtClean="0">
                          <a:solidFill>
                            <a:srgbClr val="FF0000"/>
                          </a:solidFill>
                          <a:latin typeface="Times New Roman" pitchFamily="18" charset="0"/>
                          <a:cs typeface="Times New Roman" pitchFamily="18" charset="0"/>
                        </a:rPr>
                        <a:t>A</a:t>
                      </a:r>
                      <a:r>
                        <a:rPr lang="en-US" altLang="zh-CN" sz="2202" b="1" dirty="0" smtClean="0">
                          <a:solidFill>
                            <a:srgbClr val="000000"/>
                          </a:solidFill>
                          <a:latin typeface="Times New Roman" pitchFamily="18" charset="0"/>
                          <a:cs typeface="Times New Roman" pitchFamily="18" charset="0"/>
                        </a:rPr>
                        <a:t>’M’M</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movlw</a:t>
                      </a:r>
                      <a:r>
                        <a:rPr lang="en-US" altLang="zh-CN" sz="2202" b="1" dirty="0" smtClean="0">
                          <a:solidFill>
                            <a:srgbClr val="FF0000"/>
                          </a:solidFill>
                          <a:latin typeface="Times New Roman" pitchFamily="18" charset="0"/>
                          <a:cs typeface="Times New Roman" pitchFamily="18" charset="0"/>
                        </a:rPr>
                        <a:t>a</a:t>
                      </a:r>
                      <a:r>
                        <a:rPr lang="en-US" altLang="zh-CN" sz="2202" b="1" dirty="0" smtClean="0">
                          <a:solidFill>
                            <a:srgbClr val="000000"/>
                          </a:solidFill>
                          <a:latin typeface="Times New Roman" pitchFamily="18" charset="0"/>
                          <a:cs typeface="Times New Roman" pitchFamily="18" charset="0"/>
                        </a:rPr>
                        <a:t>’M’</a:t>
                      </a:r>
                      <a:endParaRPr lang="zh-CN" altLang="en-US" sz="2202" b="1" dirty="0" smtClean="0">
                        <a:solidFill>
                          <a:srgbClr val="000000"/>
                        </a:solidFill>
                        <a:latin typeface="Times New Roman" pitchFamily="18" charset="0"/>
                        <a:cs typeface="Times New Roman" pitchFamily="18" charset="0"/>
                      </a:endParaRPr>
                    </a:p>
                    <a:p>
                      <a:pPr algn="l"/>
                      <a:r>
                        <a:rPr lang="en-US" altLang="zh-CN" sz="2202" b="1" dirty="0" smtClean="0">
                          <a:solidFill>
                            <a:srgbClr val="000000"/>
                          </a:solidFill>
                          <a:latin typeface="Times New Roman" pitchFamily="18" charset="0"/>
                          <a:cs typeface="Times New Roman" pitchFamily="18" charset="0"/>
                        </a:rPr>
                        <a:t>movlw‘MM</a:t>
                      </a:r>
                      <a:endParaRPr lang="zh-CN" altLang="en-US" sz="2202" b="1" dirty="0" smtClean="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2"/>
                  </a:ext>
                </a:extLst>
              </a:tr>
              <a:tr h="1421130">
                <a:tc>
                  <a:txBody>
                    <a:bodyPr/>
                    <a:lstStyle/>
                    <a:p>
                      <a:pPr algn="l"/>
                      <a:r>
                        <a:rPr lang="en-US" altLang="zh-CN" sz="3084" b="1" dirty="0" smtClean="0">
                          <a:solidFill>
                            <a:srgbClr val="FF0000"/>
                          </a:solidFill>
                          <a:latin typeface="Times New Roman" pitchFamily="18" charset="0"/>
                          <a:cs typeface="Times New Roman" pitchFamily="18" charset="0"/>
                        </a:rPr>
                        <a:t>String</a:t>
                      </a:r>
                      <a:endParaRPr lang="zh-CN" altLang="en-US" sz="3084" b="1" dirty="0" smtClean="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mpd="sng">
                      <a:solidFill>
                        <a:srgbClr val="000000"/>
                      </a:solidFill>
                      <a:prstDash val="soli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“&lt;string&gt;”</a:t>
                      </a:r>
                      <a:endParaRPr lang="zh-CN" altLang="en-US" sz="2202" b="1" dirty="0" smtClean="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smtClean="0">
                          <a:solidFill>
                            <a:srgbClr val="000000"/>
                          </a:solidFill>
                          <a:latin typeface="Times New Roman" pitchFamily="18" charset="0"/>
                          <a:cs typeface="Times New Roman" pitchFamily="18" charset="0"/>
                        </a:rPr>
                        <a:t>DT</a:t>
                      </a:r>
                      <a:r>
                        <a:rPr lang="en-US" altLang="zh-CN" sz="2202" b="1" dirty="0" smtClean="0">
                          <a:solidFill>
                            <a:srgbClr val="FF0000"/>
                          </a:solidFill>
                          <a:latin typeface="Times New Roman" pitchFamily="18" charset="0"/>
                          <a:cs typeface="Times New Roman" pitchFamily="18" charset="0"/>
                        </a:rPr>
                        <a:t>“</a:t>
                      </a:r>
                      <a:r>
                        <a:rPr lang="en-US" altLang="zh-CN" sz="2202" b="1" dirty="0" smtClean="0">
                          <a:solidFill>
                            <a:srgbClr val="000000"/>
                          </a:solidFill>
                          <a:latin typeface="Times New Roman" pitchFamily="18" charset="0"/>
                          <a:cs typeface="Times New Roman" pitchFamily="18" charset="0"/>
                        </a:rPr>
                        <a:t>EstudiaDPE</a:t>
                      </a:r>
                      <a:r>
                        <a:rPr lang="en-US" altLang="zh-CN" sz="2202" b="1" dirty="0" smtClean="0">
                          <a:solidFill>
                            <a:srgbClr val="FF0000"/>
                          </a:solidFill>
                          <a:latin typeface="Times New Roman" pitchFamily="18" charset="0"/>
                          <a:cs typeface="Times New Roman" pitchFamily="18" charset="0"/>
                        </a:rPr>
                        <a:t>”</a:t>
                      </a:r>
                      <a:endParaRPr lang="zh-CN" altLang="en-US" sz="2202" b="1" dirty="0" smtClean="0">
                        <a:solidFill>
                          <a:srgbClr val="FF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bl>
          </a:graphicData>
        </a:graphic>
      </p:graphicFrame>
      <p:sp>
        <p:nvSpPr>
          <p:cNvPr id="2" name="TextBox 1"/>
          <p:cNvSpPr txBox="1"/>
          <p:nvPr/>
        </p:nvSpPr>
        <p:spPr>
          <a:xfrm>
            <a:off x="2997200" y="355600"/>
            <a:ext cx="7233519" cy="398892"/>
          </a:xfrm>
          <a:prstGeom prst="rect">
            <a:avLst/>
          </a:prstGeom>
          <a:noFill/>
        </p:spPr>
        <p:txBody>
          <a:bodyPr wrap="none" lIns="0" tIns="0" rIns="0" rtlCol="0">
            <a:spAutoFit/>
          </a:bodyPr>
          <a:lstStyle/>
          <a:p>
            <a:pPr>
              <a:lnSpc>
                <a:spcPts val="24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Constante Numéricas y Alfanuméricas</a:t>
            </a:r>
          </a:p>
        </p:txBody>
      </p:sp>
    </p:spTree>
    <p:extLst>
      <p:ext uri="{BB962C8B-B14F-4D97-AF65-F5344CB8AC3E}">
        <p14:creationId xmlns:p14="http://schemas.microsoft.com/office/powerpoint/2010/main" val="34018525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508000"/>
            <a:ext cx="9194800" cy="6471002"/>
          </a:xfrm>
          <a:prstGeom prst="rect">
            <a:avLst/>
          </a:prstGeom>
          <a:noFill/>
        </p:spPr>
        <p:txBody>
          <a:bodyPr wrap="square" lIns="0" tIns="0" rIns="0" rtlCol="0">
            <a:spAutoFit/>
          </a:bodyPr>
          <a:lstStyle/>
          <a:p>
            <a:pPr>
              <a:lnSpc>
                <a:spcPts val="3200"/>
              </a:lnSpc>
              <a:tabLst>
                <a:tab pos="2146300" algn="l"/>
              </a:tabLst>
            </a:pPr>
            <a:r>
              <a:rPr lang="en-US" altLang="zh-CN" dirty="0" smtClean="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Repertorio de Instrucciones</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2900"/>
              </a:lnSpc>
              <a:tabLst>
                <a:tab pos="2146300" algn="l"/>
              </a:tabLst>
            </a:pPr>
            <a:r>
              <a:rPr lang="en-US" altLang="zh-CN" sz="3200" b="1" dirty="0" smtClean="0">
                <a:solidFill>
                  <a:srgbClr val="000000"/>
                </a:solidFill>
                <a:latin typeface="Times New Roman" pitchFamily="18" charset="0"/>
                <a:cs typeface="Times New Roman" pitchFamily="18" charset="0"/>
              </a:rPr>
              <a:t>Es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un</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juego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reducido</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33</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instrucciones</a:t>
            </a:r>
            <a:r>
              <a:rPr lang="en-US" altLang="zh-CN" sz="3200" b="1" dirty="0" smtClean="0">
                <a:solidFill>
                  <a:srgbClr val="000000"/>
                </a:solidFill>
                <a:latin typeface="Times New Roman" pitchFamily="18" charset="0"/>
                <a:cs typeface="Times New Roman" pitchFamily="18" charset="0"/>
              </a:rPr>
              <a:t> simples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y</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rápidas</a:t>
            </a:r>
            <a:endParaRPr lang="en-US" altLang="zh-CN" sz="3200" b="1" dirty="0" smtClean="0">
              <a:solidFill>
                <a:srgbClr val="000000"/>
              </a:solidFill>
              <a:latin typeface="Times New Roman" pitchFamily="18" charset="0"/>
              <a:cs typeface="Times New Roman" pitchFamily="18" charset="0"/>
            </a:endParaRPr>
          </a:p>
          <a:p>
            <a:pPr>
              <a:lnSpc>
                <a:spcPts val="2900"/>
              </a:lnSpc>
              <a:tabLst>
                <a:tab pos="2146300" algn="l"/>
              </a:tabLst>
            </a:pPr>
            <a:endParaRPr lang="en-US" altLang="zh-CN" sz="3200" b="1" dirty="0" smtClean="0">
              <a:solidFill>
                <a:srgbClr val="000000"/>
              </a:solidFill>
              <a:latin typeface="Times New Roman" pitchFamily="18" charset="0"/>
              <a:cs typeface="Times New Roman" pitchFamily="18" charset="0"/>
            </a:endParaRPr>
          </a:p>
          <a:p>
            <a:pPr>
              <a:lnSpc>
                <a:spcPts val="1000"/>
              </a:lnSpc>
            </a:pPr>
            <a:endParaRPr lang="en-US" altLang="zh-CN" sz="3200" dirty="0" smtClean="0"/>
          </a:p>
          <a:p>
            <a:pPr>
              <a:lnSpc>
                <a:spcPts val="3400"/>
              </a:lnSpc>
              <a:tabLst>
                <a:tab pos="2146300" algn="l"/>
              </a:tabLst>
            </a:pPr>
            <a:r>
              <a:rPr lang="en-US" altLang="zh-CN" sz="3200" b="1" dirty="0" smtClean="0">
                <a:solidFill>
                  <a:srgbClr val="000000"/>
                </a:solidFill>
                <a:latin typeface="Times New Roman" pitchFamily="18" charset="0"/>
                <a:cs typeface="Times New Roman" pitchFamily="18" charset="0"/>
              </a:rPr>
              <a:t>La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mayoría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las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instrucciones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se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ejecutan</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en</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4</a:t>
            </a:r>
          </a:p>
          <a:p>
            <a:pPr>
              <a:lnSpc>
                <a:spcPts val="3700"/>
              </a:lnSpc>
              <a:tabLst>
                <a:tab pos="2146300" algn="l"/>
              </a:tabLst>
            </a:pPr>
            <a:r>
              <a:rPr lang="en-US" altLang="zh-CN" sz="3200" b="1" dirty="0" smtClean="0">
                <a:solidFill>
                  <a:srgbClr val="000000"/>
                </a:solidFill>
                <a:latin typeface="Times New Roman" pitchFamily="18" charset="0"/>
                <a:cs typeface="Times New Roman" pitchFamily="18" charset="0"/>
              </a:rPr>
              <a:t>ciclos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reloj,</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menos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las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salto</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que</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requieren</a:t>
            </a:r>
            <a:r>
              <a:rPr lang="en-US" altLang="zh-CN" sz="3200" b="1" dirty="0" smtClean="0">
                <a:solidFill>
                  <a:srgbClr val="000000"/>
                </a:solidFill>
                <a:latin typeface="Times New Roman" pitchFamily="18" charset="0"/>
                <a:cs typeface="Times New Roman" pitchFamily="18" charset="0"/>
              </a:rPr>
              <a:t> 8</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ciclos.</a:t>
            </a:r>
          </a:p>
          <a:p>
            <a:pPr>
              <a:lnSpc>
                <a:spcPts val="1000"/>
              </a:lnSpc>
            </a:pPr>
            <a:endParaRPr lang="en-US" altLang="zh-CN" sz="3200" dirty="0" smtClean="0"/>
          </a:p>
          <a:p>
            <a:pPr>
              <a:lnSpc>
                <a:spcPts val="3400"/>
              </a:lnSpc>
              <a:tabLst>
                <a:tab pos="2146300" algn="l"/>
              </a:tabLst>
            </a:pPr>
            <a:endParaRPr lang="en-US" altLang="zh-CN" sz="3200" b="1" dirty="0" smtClean="0">
              <a:solidFill>
                <a:srgbClr val="000000"/>
              </a:solidFill>
              <a:latin typeface="Times New Roman" pitchFamily="18" charset="0"/>
              <a:cs typeface="Times New Roman" pitchFamily="18" charset="0"/>
            </a:endParaRPr>
          </a:p>
          <a:p>
            <a:pPr>
              <a:lnSpc>
                <a:spcPts val="3400"/>
              </a:lnSpc>
              <a:tabLst>
                <a:tab pos="2146300" algn="l"/>
              </a:tabLst>
            </a:pPr>
            <a:r>
              <a:rPr lang="en-US" altLang="zh-CN" sz="3200" b="1" dirty="0" smtClean="0">
                <a:solidFill>
                  <a:srgbClr val="000000"/>
                </a:solidFill>
                <a:latin typeface="Times New Roman" pitchFamily="18" charset="0"/>
                <a:cs typeface="Times New Roman" pitchFamily="18" charset="0"/>
              </a:rPr>
              <a:t>Las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instrucciones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son</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ortogonales.</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Casi</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todas</a:t>
            </a:r>
            <a:r>
              <a:rPr lang="en-US" altLang="zh-CN" sz="3200" b="1" dirty="0" smtClean="0">
                <a:solidFill>
                  <a:srgbClr val="000000"/>
                </a:solidFill>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las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instrucciones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pueden</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usar</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cualquier</a:t>
            </a:r>
            <a:r>
              <a:rPr lang="en-US" altLang="zh-CN" sz="3200" b="1" dirty="0" smtClean="0">
                <a:solidFill>
                  <a:srgbClr val="000000"/>
                </a:solidFill>
                <a:latin typeface="Times New Roman" pitchFamily="18" charset="0"/>
                <a:cs typeface="Times New Roman" pitchFamily="18" charset="0"/>
              </a:rPr>
              <a:t> operando.</a:t>
            </a:r>
          </a:p>
          <a:p>
            <a:pPr>
              <a:lnSpc>
                <a:spcPts val="1000"/>
              </a:lnSpc>
            </a:pPr>
            <a:endParaRPr lang="en-US" altLang="zh-CN" sz="3200" dirty="0" smtClean="0"/>
          </a:p>
          <a:p>
            <a:pPr>
              <a:lnSpc>
                <a:spcPts val="3400"/>
              </a:lnSpc>
              <a:tabLst>
                <a:tab pos="2146300" algn="l"/>
              </a:tabLst>
            </a:pPr>
            <a:endParaRPr lang="en-US" altLang="zh-CN" sz="3200" b="1" dirty="0" smtClean="0">
              <a:solidFill>
                <a:srgbClr val="000000"/>
              </a:solidFill>
              <a:latin typeface="Times New Roman" pitchFamily="18" charset="0"/>
              <a:cs typeface="Times New Roman" pitchFamily="18" charset="0"/>
            </a:endParaRPr>
          </a:p>
          <a:p>
            <a:pPr>
              <a:lnSpc>
                <a:spcPts val="3400"/>
              </a:lnSpc>
              <a:tabLst>
                <a:tab pos="2146300" algn="l"/>
              </a:tabLst>
            </a:pPr>
            <a:r>
              <a:rPr lang="en-US" altLang="zh-CN" sz="3200" b="1" dirty="0" err="1" smtClean="0">
                <a:solidFill>
                  <a:srgbClr val="000000"/>
                </a:solidFill>
                <a:latin typeface="Times New Roman" pitchFamily="18" charset="0"/>
                <a:cs typeface="Times New Roman" pitchFamily="18" charset="0"/>
              </a:rPr>
              <a:t>Todas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las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instrucciones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tiene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la</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misma</a:t>
            </a:r>
            <a:r>
              <a:rPr lang="en-US" altLang="zh-CN" sz="3200" dirty="0" smtClean="0">
                <a:latin typeface="Times New Roman" pitchFamily="18" charset="0"/>
                <a:cs typeface="Times New Roman" pitchFamily="18" charset="0"/>
              </a:rPr>
              <a:t> </a:t>
            </a:r>
            <a:r>
              <a:rPr lang="en-US" altLang="zh-CN" sz="3200" b="1" dirty="0" err="1" smtClean="0">
                <a:solidFill>
                  <a:srgbClr val="000000"/>
                </a:solidFill>
                <a:latin typeface="Times New Roman" pitchFamily="18" charset="0"/>
                <a:cs typeface="Times New Roman" pitchFamily="18" charset="0"/>
              </a:rPr>
              <a:t>longitud</a:t>
            </a:r>
            <a:r>
              <a:rPr lang="en-US" altLang="zh-CN" sz="3200" b="1" dirty="0" smtClean="0">
                <a:solidFill>
                  <a:srgbClr val="000000"/>
                </a:solidFill>
                <a:latin typeface="Times New Roman" pitchFamily="18" charset="0"/>
                <a:cs typeface="Times New Roman" pitchFamily="18" charset="0"/>
              </a:rPr>
              <a:t>, 12</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bits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y</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todos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los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datos</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son</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de</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8</a:t>
            </a:r>
            <a:r>
              <a:rPr lang="en-US" altLang="zh-CN" sz="3200" dirty="0" smtClean="0">
                <a:latin typeface="Times New Roman" pitchFamily="18" charset="0"/>
                <a:cs typeface="Times New Roman" pitchFamily="18" charset="0"/>
              </a:rPr>
              <a:t> </a:t>
            </a:r>
            <a:r>
              <a:rPr lang="en-US" altLang="zh-CN" sz="3200" b="1" dirty="0" smtClean="0">
                <a:solidFill>
                  <a:srgbClr val="000000"/>
                </a:solidFill>
                <a:latin typeface="Times New Roman" pitchFamily="18" charset="0"/>
                <a:cs typeface="Times New Roman" pitchFamily="18" charset="0"/>
              </a:rPr>
              <a:t>bits.</a:t>
            </a:r>
          </a:p>
        </p:txBody>
      </p:sp>
    </p:spTree>
    <p:extLst>
      <p:ext uri="{BB962C8B-B14F-4D97-AF65-F5344CB8AC3E}">
        <p14:creationId xmlns:p14="http://schemas.microsoft.com/office/powerpoint/2010/main" val="20842191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427037"/>
            <a:ext cx="9042400" cy="6381234"/>
          </a:xfrm>
          <a:prstGeom prst="rect">
            <a:avLst/>
          </a:prstGeom>
          <a:noFill/>
        </p:spPr>
        <p:txBody>
          <a:bodyPr wrap="square" lIns="0" tIns="0" rIns="0" rtlCol="0">
            <a:spAutoFit/>
          </a:bodyPr>
          <a:lstStyle/>
          <a:p>
            <a:pPr>
              <a:lnSpc>
                <a:spcPts val="3200"/>
              </a:lnSpc>
              <a:tabLst>
                <a:tab pos="2146300" algn="l"/>
              </a:tabLst>
            </a:pPr>
            <a:r>
              <a:rPr lang="en-US" altLang="zh-CN" dirty="0" smtClean="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Repertorio de Instrucciones</a:t>
            </a:r>
          </a:p>
          <a:p>
            <a:pPr>
              <a:lnSpc>
                <a:spcPts val="1000"/>
              </a:lnSpc>
            </a:pPr>
            <a:endParaRPr lang="en-US" altLang="zh-CN" dirty="0" smtClean="0"/>
          </a:p>
          <a:p>
            <a:pPr>
              <a:lnSpc>
                <a:spcPts val="1000"/>
              </a:lnSpc>
            </a:pPr>
            <a:endParaRPr lang="en-US" altLang="zh-CN" dirty="0" smtClean="0"/>
          </a:p>
          <a:p>
            <a:pPr>
              <a:lnSpc>
                <a:spcPts val="3400"/>
              </a:lnSpc>
              <a:tabLst>
                <a:tab pos="2146300" algn="l"/>
              </a:tabLst>
            </a:pPr>
            <a:r>
              <a:rPr lang="en-US" altLang="zh-CN" sz="3200" b="1" dirty="0" err="1" smtClean="0">
                <a:solidFill>
                  <a:srgbClr val="002060"/>
                </a:solidFill>
                <a:latin typeface="Times New Roman" pitchFamily="18" charset="0"/>
                <a:cs typeface="Times New Roman" pitchFamily="18" charset="0"/>
              </a:rPr>
              <a:t>Instrucciones</a:t>
            </a:r>
            <a:r>
              <a:rPr lang="en-US" altLang="zh-CN" sz="3200" dirty="0" smtClean="0">
                <a:solidFill>
                  <a:srgbClr val="002060"/>
                </a:solidFill>
                <a:latin typeface="Times New Roman" pitchFamily="18" charset="0"/>
                <a:cs typeface="Times New Roman" pitchFamily="18" charset="0"/>
              </a:rPr>
              <a:t> </a:t>
            </a:r>
            <a:r>
              <a:rPr lang="en-US" altLang="zh-CN" sz="3200" b="1" dirty="0" smtClean="0">
                <a:solidFill>
                  <a:srgbClr val="002060"/>
                </a:solidFill>
                <a:latin typeface="Times New Roman" pitchFamily="18" charset="0"/>
                <a:cs typeface="Times New Roman" pitchFamily="18" charset="0"/>
              </a:rPr>
              <a:t>de</a:t>
            </a:r>
            <a:r>
              <a:rPr lang="en-US" altLang="zh-CN" sz="3200" dirty="0" smtClean="0">
                <a:solidFill>
                  <a:srgbClr val="002060"/>
                </a:solidFill>
                <a:latin typeface="Times New Roman" pitchFamily="18" charset="0"/>
                <a:cs typeface="Times New Roman" pitchFamily="18" charset="0"/>
              </a:rPr>
              <a:t> </a:t>
            </a:r>
            <a:r>
              <a:rPr lang="en-US" altLang="zh-CN" sz="3200" b="1" dirty="0" err="1" smtClean="0">
                <a:solidFill>
                  <a:srgbClr val="002060"/>
                </a:solidFill>
                <a:latin typeface="Times New Roman" pitchFamily="18" charset="0"/>
                <a:cs typeface="Times New Roman" pitchFamily="18" charset="0"/>
              </a:rPr>
              <a:t>Carga</a:t>
            </a:r>
            <a:endParaRPr lang="en-US" altLang="zh-CN" sz="3200" b="1" dirty="0" smtClean="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smtClean="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smtClean="0">
                <a:solidFill>
                  <a:srgbClr val="002060"/>
                </a:solidFill>
                <a:latin typeface="Times New Roman" pitchFamily="18" charset="0"/>
                <a:cs typeface="Times New Roman" pitchFamily="18" charset="0"/>
              </a:rPr>
              <a:t>Instrucciones</a:t>
            </a:r>
            <a:r>
              <a:rPr lang="en-US" altLang="zh-CN" sz="3200" dirty="0" smtClean="0">
                <a:solidFill>
                  <a:srgbClr val="002060"/>
                </a:solidFill>
                <a:latin typeface="Times New Roman" pitchFamily="18" charset="0"/>
                <a:cs typeface="Times New Roman" pitchFamily="18" charset="0"/>
              </a:rPr>
              <a:t> </a:t>
            </a:r>
            <a:r>
              <a:rPr lang="en-US" altLang="zh-CN" sz="3200" b="1" dirty="0" err="1" smtClean="0">
                <a:solidFill>
                  <a:srgbClr val="002060"/>
                </a:solidFill>
                <a:latin typeface="Times New Roman" pitchFamily="18" charset="0"/>
                <a:cs typeface="Times New Roman" pitchFamily="18" charset="0"/>
              </a:rPr>
              <a:t>Aritméticas</a:t>
            </a:r>
            <a:endParaRPr lang="en-US" altLang="zh-CN" sz="3200" b="1" dirty="0" smtClean="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smtClean="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smtClean="0">
                <a:solidFill>
                  <a:srgbClr val="002060"/>
                </a:solidFill>
                <a:latin typeface="Times New Roman" pitchFamily="18" charset="0"/>
                <a:cs typeface="Times New Roman" pitchFamily="18" charset="0"/>
              </a:rPr>
              <a:t>Instrucciones</a:t>
            </a:r>
            <a:r>
              <a:rPr lang="en-US" altLang="zh-CN" sz="3200" dirty="0" smtClean="0">
                <a:solidFill>
                  <a:srgbClr val="002060"/>
                </a:solidFill>
                <a:latin typeface="Times New Roman" pitchFamily="18" charset="0"/>
                <a:cs typeface="Times New Roman" pitchFamily="18" charset="0"/>
              </a:rPr>
              <a:t> </a:t>
            </a:r>
            <a:r>
              <a:rPr lang="en-US" altLang="zh-CN" sz="3200" b="1" dirty="0" err="1" smtClean="0">
                <a:solidFill>
                  <a:srgbClr val="002060"/>
                </a:solidFill>
                <a:latin typeface="Times New Roman" pitchFamily="18" charset="0"/>
                <a:cs typeface="Times New Roman" pitchFamily="18" charset="0"/>
              </a:rPr>
              <a:t>Lógicas</a:t>
            </a:r>
            <a:r>
              <a:rPr lang="en-US" altLang="zh-CN" sz="3200" b="1" dirty="0" smtClean="0">
                <a:solidFill>
                  <a:srgbClr val="002060"/>
                </a:solidFill>
                <a:latin typeface="Times New Roman" pitchFamily="18" charset="0"/>
                <a:cs typeface="Times New Roman" pitchFamily="18" charset="0"/>
              </a:rPr>
              <a:t> </a:t>
            </a:r>
          </a:p>
          <a:p>
            <a:pPr>
              <a:lnSpc>
                <a:spcPts val="3400"/>
              </a:lnSpc>
              <a:tabLst>
                <a:tab pos="2146300" algn="l"/>
              </a:tabLst>
            </a:pPr>
            <a:endParaRPr lang="en-US" altLang="zh-CN" sz="3200" b="1" dirty="0" smtClean="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smtClean="0">
                <a:solidFill>
                  <a:srgbClr val="002060"/>
                </a:solidFill>
                <a:latin typeface="Times New Roman" pitchFamily="18" charset="0"/>
                <a:cs typeface="Times New Roman" pitchFamily="18" charset="0"/>
              </a:rPr>
              <a:t>Instrucciones</a:t>
            </a:r>
            <a:r>
              <a:rPr lang="en-US" altLang="zh-CN" sz="3200" dirty="0" smtClean="0">
                <a:solidFill>
                  <a:srgbClr val="002060"/>
                </a:solidFill>
                <a:latin typeface="Times New Roman" pitchFamily="18" charset="0"/>
                <a:cs typeface="Times New Roman" pitchFamily="18" charset="0"/>
              </a:rPr>
              <a:t> </a:t>
            </a:r>
            <a:r>
              <a:rPr lang="en-US" altLang="zh-CN" sz="3200" b="1" dirty="0" smtClean="0">
                <a:solidFill>
                  <a:srgbClr val="002060"/>
                </a:solidFill>
                <a:latin typeface="Times New Roman" pitchFamily="18" charset="0"/>
                <a:cs typeface="Times New Roman" pitchFamily="18" charset="0"/>
              </a:rPr>
              <a:t>de</a:t>
            </a:r>
            <a:r>
              <a:rPr lang="en-US" altLang="zh-CN" sz="3200" dirty="0" smtClean="0">
                <a:solidFill>
                  <a:srgbClr val="002060"/>
                </a:solidFill>
                <a:latin typeface="Times New Roman" pitchFamily="18" charset="0"/>
                <a:cs typeface="Times New Roman" pitchFamily="18" charset="0"/>
              </a:rPr>
              <a:t> </a:t>
            </a:r>
            <a:r>
              <a:rPr lang="en-US" altLang="zh-CN" sz="3200" b="1" dirty="0" smtClean="0">
                <a:solidFill>
                  <a:srgbClr val="002060"/>
                </a:solidFill>
                <a:latin typeface="Times New Roman" pitchFamily="18" charset="0"/>
                <a:cs typeface="Times New Roman" pitchFamily="18" charset="0"/>
              </a:rPr>
              <a:t>bit</a:t>
            </a:r>
          </a:p>
          <a:p>
            <a:pPr>
              <a:lnSpc>
                <a:spcPts val="3400"/>
              </a:lnSpc>
              <a:tabLst>
                <a:tab pos="2146300" algn="l"/>
              </a:tabLst>
            </a:pPr>
            <a:endParaRPr lang="en-US" altLang="zh-CN" sz="3200" b="1" dirty="0" smtClean="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smtClean="0">
                <a:solidFill>
                  <a:srgbClr val="002060"/>
                </a:solidFill>
                <a:latin typeface="Times New Roman" pitchFamily="18" charset="0"/>
                <a:cs typeface="Times New Roman" pitchFamily="18" charset="0"/>
              </a:rPr>
              <a:t>Instrucciones</a:t>
            </a:r>
            <a:r>
              <a:rPr lang="en-US" altLang="zh-CN" sz="3200" dirty="0" smtClean="0">
                <a:solidFill>
                  <a:srgbClr val="002060"/>
                </a:solidFill>
                <a:latin typeface="Times New Roman" pitchFamily="18" charset="0"/>
                <a:cs typeface="Times New Roman" pitchFamily="18" charset="0"/>
              </a:rPr>
              <a:t> </a:t>
            </a:r>
            <a:r>
              <a:rPr lang="en-US" altLang="zh-CN" sz="3200" b="1" dirty="0" smtClean="0">
                <a:solidFill>
                  <a:srgbClr val="002060"/>
                </a:solidFill>
                <a:latin typeface="Times New Roman" pitchFamily="18" charset="0"/>
                <a:cs typeface="Times New Roman" pitchFamily="18" charset="0"/>
              </a:rPr>
              <a:t>de</a:t>
            </a:r>
            <a:r>
              <a:rPr lang="en-US" altLang="zh-CN" sz="3200" dirty="0" smtClean="0">
                <a:solidFill>
                  <a:srgbClr val="002060"/>
                </a:solidFill>
                <a:latin typeface="Times New Roman" pitchFamily="18" charset="0"/>
                <a:cs typeface="Times New Roman" pitchFamily="18" charset="0"/>
              </a:rPr>
              <a:t> </a:t>
            </a:r>
            <a:r>
              <a:rPr lang="en-US" altLang="zh-CN" sz="3200" b="1" dirty="0" err="1" smtClean="0">
                <a:solidFill>
                  <a:srgbClr val="002060"/>
                </a:solidFill>
                <a:latin typeface="Times New Roman" pitchFamily="18" charset="0"/>
                <a:cs typeface="Times New Roman" pitchFamily="18" charset="0"/>
              </a:rPr>
              <a:t>salto</a:t>
            </a:r>
            <a:endParaRPr lang="en-US" altLang="zh-CN" sz="3200" b="1" dirty="0" smtClean="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smtClean="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smtClean="0">
                <a:solidFill>
                  <a:srgbClr val="002060"/>
                </a:solidFill>
                <a:latin typeface="Times New Roman" pitchFamily="18" charset="0"/>
                <a:cs typeface="Times New Roman" pitchFamily="18" charset="0"/>
              </a:rPr>
              <a:t>Instrucciones</a:t>
            </a:r>
            <a:r>
              <a:rPr lang="en-US" altLang="zh-CN" sz="3200" dirty="0" smtClean="0">
                <a:solidFill>
                  <a:srgbClr val="002060"/>
                </a:solidFill>
                <a:latin typeface="Times New Roman" pitchFamily="18" charset="0"/>
                <a:cs typeface="Times New Roman" pitchFamily="18" charset="0"/>
              </a:rPr>
              <a:t> </a:t>
            </a:r>
            <a:r>
              <a:rPr lang="en-US" altLang="zh-CN" sz="3200" b="1" dirty="0" smtClean="0">
                <a:solidFill>
                  <a:srgbClr val="002060"/>
                </a:solidFill>
                <a:latin typeface="Times New Roman" pitchFamily="18" charset="0"/>
                <a:cs typeface="Times New Roman" pitchFamily="18" charset="0"/>
              </a:rPr>
              <a:t>para</a:t>
            </a:r>
            <a:r>
              <a:rPr lang="en-US" altLang="zh-CN" sz="3200" dirty="0" smtClean="0">
                <a:solidFill>
                  <a:srgbClr val="002060"/>
                </a:solidFill>
                <a:latin typeface="Times New Roman" pitchFamily="18" charset="0"/>
                <a:cs typeface="Times New Roman" pitchFamily="18" charset="0"/>
              </a:rPr>
              <a:t> </a:t>
            </a:r>
            <a:r>
              <a:rPr lang="en-US" altLang="zh-CN" sz="3200" b="1" dirty="0" smtClean="0">
                <a:solidFill>
                  <a:srgbClr val="002060"/>
                </a:solidFill>
                <a:latin typeface="Times New Roman" pitchFamily="18" charset="0"/>
                <a:cs typeface="Times New Roman" pitchFamily="18" charset="0"/>
              </a:rPr>
              <a:t>manejo</a:t>
            </a:r>
            <a:r>
              <a:rPr lang="en-US" altLang="zh-CN" sz="3200" dirty="0" smtClean="0">
                <a:solidFill>
                  <a:srgbClr val="002060"/>
                </a:solidFill>
                <a:latin typeface="Times New Roman" pitchFamily="18" charset="0"/>
                <a:cs typeface="Times New Roman" pitchFamily="18" charset="0"/>
              </a:rPr>
              <a:t> </a:t>
            </a:r>
            <a:r>
              <a:rPr lang="en-US" altLang="zh-CN" sz="3200" b="1" dirty="0" smtClean="0">
                <a:solidFill>
                  <a:srgbClr val="002060"/>
                </a:solidFill>
                <a:latin typeface="Times New Roman" pitchFamily="18" charset="0"/>
                <a:cs typeface="Times New Roman" pitchFamily="18" charset="0"/>
              </a:rPr>
              <a:t>de</a:t>
            </a:r>
            <a:r>
              <a:rPr lang="en-US" altLang="zh-CN" sz="3200" dirty="0" smtClean="0">
                <a:solidFill>
                  <a:srgbClr val="002060"/>
                </a:solidFill>
                <a:latin typeface="Times New Roman" pitchFamily="18" charset="0"/>
                <a:cs typeface="Times New Roman" pitchFamily="18" charset="0"/>
              </a:rPr>
              <a:t> </a:t>
            </a:r>
            <a:r>
              <a:rPr lang="en-US" altLang="zh-CN" sz="3200" b="1" dirty="0" err="1" smtClean="0">
                <a:solidFill>
                  <a:srgbClr val="002060"/>
                </a:solidFill>
                <a:latin typeface="Times New Roman" pitchFamily="18" charset="0"/>
                <a:cs typeface="Times New Roman" pitchFamily="18" charset="0"/>
              </a:rPr>
              <a:t>subrutinas</a:t>
            </a:r>
            <a:endParaRPr lang="en-US" altLang="zh-CN" sz="3200" b="1" dirty="0" smtClean="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smtClean="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smtClean="0">
                <a:solidFill>
                  <a:srgbClr val="002060"/>
                </a:solidFill>
                <a:latin typeface="Times New Roman" pitchFamily="18" charset="0"/>
                <a:cs typeface="Times New Roman" pitchFamily="18" charset="0"/>
              </a:rPr>
              <a:t>Instrucciones</a:t>
            </a:r>
            <a:r>
              <a:rPr lang="en-US" altLang="zh-CN" sz="3200" dirty="0" smtClean="0">
                <a:solidFill>
                  <a:srgbClr val="002060"/>
                </a:solidFill>
                <a:latin typeface="Times New Roman" pitchFamily="18" charset="0"/>
                <a:cs typeface="Times New Roman" pitchFamily="18" charset="0"/>
              </a:rPr>
              <a:t> </a:t>
            </a:r>
            <a:r>
              <a:rPr lang="en-US" altLang="zh-CN" sz="3200" b="1" dirty="0" smtClean="0">
                <a:solidFill>
                  <a:srgbClr val="002060"/>
                </a:solidFill>
                <a:latin typeface="Times New Roman" pitchFamily="18" charset="0"/>
                <a:cs typeface="Times New Roman" pitchFamily="18" charset="0"/>
              </a:rPr>
              <a:t>especiales</a:t>
            </a:r>
          </a:p>
        </p:txBody>
      </p:sp>
    </p:spTree>
    <p:extLst>
      <p:ext uri="{BB962C8B-B14F-4D97-AF65-F5344CB8AC3E}">
        <p14:creationId xmlns:p14="http://schemas.microsoft.com/office/powerpoint/2010/main" val="40433906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546100" y="330200"/>
            <a:ext cx="9601200" cy="716991"/>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a:t>Introducción</a:t>
            </a:r>
            <a:r>
              <a:rPr lang="en-US" altLang="zh-CN" dirty="0"/>
              <a:t> al Set de </a:t>
            </a:r>
            <a:r>
              <a:rPr lang="en-US" altLang="zh-CN" dirty="0" err="1"/>
              <a:t>Instrucciones</a:t>
            </a:r>
            <a:endParaRPr lang="en-US" altLang="zh-CN" dirty="0"/>
          </a:p>
        </p:txBody>
      </p:sp>
    </p:spTree>
    <p:extLst>
      <p:ext uri="{BB962C8B-B14F-4D97-AF65-F5344CB8AC3E}">
        <p14:creationId xmlns:p14="http://schemas.microsoft.com/office/powerpoint/2010/main" val="28939940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622300" y="342900"/>
            <a:ext cx="94487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smtClean="0"/>
              <a:t>Introducción</a:t>
            </a:r>
            <a:r>
              <a:rPr lang="en-US" altLang="zh-CN" dirty="0" smtClean="0"/>
              <a:t> al Set de </a:t>
            </a:r>
            <a:r>
              <a:rPr lang="en-US" altLang="zh-CN" dirty="0" err="1" smtClean="0"/>
              <a:t>Instrucciones</a:t>
            </a:r>
            <a:endParaRPr lang="en-US" altLang="zh-CN" dirty="0"/>
          </a:p>
        </p:txBody>
      </p:sp>
      <p:sp>
        <p:nvSpPr>
          <p:cNvPr id="3" name="TextBox 1"/>
          <p:cNvSpPr txBox="1"/>
          <p:nvPr/>
        </p:nvSpPr>
        <p:spPr>
          <a:xfrm>
            <a:off x="8102600" y="3187700"/>
            <a:ext cx="101600" cy="266700"/>
          </a:xfrm>
          <a:prstGeom prst="rect">
            <a:avLst/>
          </a:prstGeom>
          <a:noFill/>
        </p:spPr>
        <p:txBody>
          <a:bodyPr wrap="none" lIns="0" tIns="0" rIns="0" rtlCol="0">
            <a:spAutoFit/>
          </a:bodyPr>
          <a:lstStyle/>
          <a:p>
            <a:pPr>
              <a:lnSpc>
                <a:spcPts val="2100"/>
              </a:lnSpc>
              <a:tabLst/>
            </a:pPr>
            <a:r>
              <a:rPr lang="en-US" altLang="zh-CN" sz="1535" b="1" dirty="0" smtClean="0">
                <a:solidFill>
                  <a:srgbClr val="000000"/>
                </a:solidFill>
                <a:latin typeface="Times New Roman" pitchFamily="18" charset="0"/>
                <a:cs typeface="Times New Roman" pitchFamily="18" charset="0"/>
              </a:rPr>
              <a:t>0</a:t>
            </a:r>
          </a:p>
        </p:txBody>
      </p:sp>
      <p:sp>
        <p:nvSpPr>
          <p:cNvPr id="4" name="TextBox 1"/>
          <p:cNvSpPr txBox="1"/>
          <p:nvPr/>
        </p:nvSpPr>
        <p:spPr>
          <a:xfrm>
            <a:off x="5041900" y="3187700"/>
            <a:ext cx="101600" cy="266700"/>
          </a:xfrm>
          <a:prstGeom prst="rect">
            <a:avLst/>
          </a:prstGeom>
          <a:noFill/>
        </p:spPr>
        <p:txBody>
          <a:bodyPr wrap="none" lIns="0" tIns="0" rIns="0" rtlCol="0">
            <a:spAutoFit/>
          </a:bodyPr>
          <a:lstStyle/>
          <a:p>
            <a:pPr>
              <a:lnSpc>
                <a:spcPts val="2100"/>
              </a:lnSpc>
              <a:tabLst/>
            </a:pPr>
            <a:r>
              <a:rPr lang="en-US" altLang="zh-CN" sz="1535" b="1" dirty="0" smtClean="0">
                <a:solidFill>
                  <a:srgbClr val="000000"/>
                </a:solidFill>
                <a:latin typeface="Times New Roman" pitchFamily="18" charset="0"/>
                <a:cs typeface="Times New Roman" pitchFamily="18" charset="0"/>
              </a:rPr>
              <a:t>7</a:t>
            </a:r>
          </a:p>
        </p:txBody>
      </p:sp>
      <p:sp>
        <p:nvSpPr>
          <p:cNvPr id="5" name="TextBox 1"/>
          <p:cNvSpPr txBox="1"/>
          <p:nvPr/>
        </p:nvSpPr>
        <p:spPr>
          <a:xfrm>
            <a:off x="5473700" y="3187700"/>
            <a:ext cx="101600" cy="266700"/>
          </a:xfrm>
          <a:prstGeom prst="rect">
            <a:avLst/>
          </a:prstGeom>
          <a:noFill/>
        </p:spPr>
        <p:txBody>
          <a:bodyPr wrap="none" lIns="0" tIns="0" rIns="0" rtlCol="0">
            <a:spAutoFit/>
          </a:bodyPr>
          <a:lstStyle/>
          <a:p>
            <a:pPr>
              <a:lnSpc>
                <a:spcPts val="2100"/>
              </a:lnSpc>
              <a:tabLst/>
            </a:pPr>
            <a:r>
              <a:rPr lang="en-US" altLang="zh-CN" sz="1535" b="1" dirty="0" smtClean="0">
                <a:solidFill>
                  <a:srgbClr val="000000"/>
                </a:solidFill>
                <a:latin typeface="Times New Roman" pitchFamily="18" charset="0"/>
                <a:cs typeface="Times New Roman" pitchFamily="18" charset="0"/>
              </a:rPr>
              <a:t>6</a:t>
            </a:r>
          </a:p>
        </p:txBody>
      </p:sp>
      <p:sp>
        <p:nvSpPr>
          <p:cNvPr id="6" name="TextBox 1"/>
          <p:cNvSpPr txBox="1"/>
          <p:nvPr/>
        </p:nvSpPr>
        <p:spPr>
          <a:xfrm>
            <a:off x="4165600" y="3187700"/>
            <a:ext cx="101600" cy="266700"/>
          </a:xfrm>
          <a:prstGeom prst="rect">
            <a:avLst/>
          </a:prstGeom>
          <a:noFill/>
        </p:spPr>
        <p:txBody>
          <a:bodyPr wrap="none" lIns="0" tIns="0" rIns="0" rtlCol="0">
            <a:spAutoFit/>
          </a:bodyPr>
          <a:lstStyle/>
          <a:p>
            <a:pPr>
              <a:lnSpc>
                <a:spcPts val="2100"/>
              </a:lnSpc>
              <a:tabLst/>
            </a:pPr>
            <a:r>
              <a:rPr lang="en-US" altLang="zh-CN" sz="1535" b="1" dirty="0" smtClean="0">
                <a:solidFill>
                  <a:srgbClr val="000000"/>
                </a:solidFill>
                <a:latin typeface="Times New Roman" pitchFamily="18" charset="0"/>
                <a:cs typeface="Times New Roman" pitchFamily="18" charset="0"/>
              </a:rPr>
              <a:t>9</a:t>
            </a:r>
          </a:p>
        </p:txBody>
      </p:sp>
      <p:sp>
        <p:nvSpPr>
          <p:cNvPr id="7" name="TextBox 1"/>
          <p:cNvSpPr txBox="1"/>
          <p:nvPr/>
        </p:nvSpPr>
        <p:spPr>
          <a:xfrm>
            <a:off x="2349500" y="3187700"/>
            <a:ext cx="215900" cy="266700"/>
          </a:xfrm>
          <a:prstGeom prst="rect">
            <a:avLst/>
          </a:prstGeom>
          <a:noFill/>
        </p:spPr>
        <p:txBody>
          <a:bodyPr wrap="none" lIns="0" tIns="0" rIns="0" rtlCol="0">
            <a:spAutoFit/>
          </a:bodyPr>
          <a:lstStyle/>
          <a:p>
            <a:pPr>
              <a:lnSpc>
                <a:spcPts val="2100"/>
              </a:lnSpc>
              <a:tabLst/>
            </a:pPr>
            <a:r>
              <a:rPr lang="en-US" altLang="zh-CN" sz="1535" b="1" dirty="0" smtClean="0">
                <a:solidFill>
                  <a:srgbClr val="000000"/>
                </a:solidFill>
                <a:latin typeface="Times New Roman" pitchFamily="18" charset="0"/>
                <a:cs typeface="Times New Roman" pitchFamily="18" charset="0"/>
              </a:rPr>
              <a:t>13</a:t>
            </a:r>
          </a:p>
        </p:txBody>
      </p:sp>
      <p:sp>
        <p:nvSpPr>
          <p:cNvPr id="8" name="TextBox 1"/>
          <p:cNvSpPr txBox="1"/>
          <p:nvPr/>
        </p:nvSpPr>
        <p:spPr>
          <a:xfrm>
            <a:off x="3670300" y="3187700"/>
            <a:ext cx="215900" cy="266700"/>
          </a:xfrm>
          <a:prstGeom prst="rect">
            <a:avLst/>
          </a:prstGeom>
          <a:noFill/>
        </p:spPr>
        <p:txBody>
          <a:bodyPr wrap="none" lIns="0" tIns="0" rIns="0" rtlCol="0">
            <a:spAutoFit/>
          </a:bodyPr>
          <a:lstStyle/>
          <a:p>
            <a:pPr>
              <a:lnSpc>
                <a:spcPts val="2100"/>
              </a:lnSpc>
              <a:tabLst/>
            </a:pPr>
            <a:r>
              <a:rPr lang="en-US" altLang="zh-CN" sz="1535" b="1" dirty="0" smtClean="0">
                <a:solidFill>
                  <a:srgbClr val="000000"/>
                </a:solidFill>
                <a:latin typeface="Times New Roman" pitchFamily="18" charset="0"/>
                <a:cs typeface="Times New Roman" pitchFamily="18" charset="0"/>
              </a:rPr>
              <a:t>10</a:t>
            </a:r>
          </a:p>
        </p:txBody>
      </p:sp>
      <p:sp>
        <p:nvSpPr>
          <p:cNvPr id="9" name="TextBox 1"/>
          <p:cNvSpPr txBox="1"/>
          <p:nvPr/>
        </p:nvSpPr>
        <p:spPr>
          <a:xfrm>
            <a:off x="3873500" y="4076700"/>
            <a:ext cx="3962400" cy="698500"/>
          </a:xfrm>
          <a:prstGeom prst="rect">
            <a:avLst/>
          </a:prstGeom>
          <a:noFill/>
        </p:spPr>
        <p:txBody>
          <a:bodyPr wrap="none" lIns="0" tIns="0" rIns="0" rtlCol="0">
            <a:spAutoFit/>
          </a:bodyPr>
          <a:lstStyle/>
          <a:p>
            <a:pPr>
              <a:lnSpc>
                <a:spcPts val="2100"/>
              </a:lnSpc>
              <a:tabLst>
                <a:tab pos="1968500" algn="l"/>
              </a:tabLst>
            </a:pPr>
            <a:r>
              <a:rPr lang="en-US" altLang="zh-CN" dirty="0" smtClean="0"/>
              <a:t>	</a:t>
            </a:r>
            <a:r>
              <a:rPr lang="en-US" altLang="zh-CN" sz="1535" b="1" dirty="0" smtClean="0">
                <a:solidFill>
                  <a:srgbClr val="000000"/>
                </a:solidFill>
                <a:latin typeface="Times New Roman" pitchFamily="18" charset="0"/>
                <a:cs typeface="Times New Roman" pitchFamily="18" charset="0"/>
              </a:rPr>
              <a:t>File</a:t>
            </a:r>
            <a:r>
              <a:rPr lang="en-US" altLang="zh-CN" sz="1535" dirty="0" smtClean="0">
                <a:latin typeface="Times New Roman" pitchFamily="18" charset="0"/>
                <a:cs typeface="Times New Roman" pitchFamily="18" charset="0"/>
              </a:rPr>
              <a:t> </a:t>
            </a:r>
            <a:r>
              <a:rPr lang="en-US" altLang="zh-CN" sz="1535" b="1" dirty="0" smtClean="0">
                <a:solidFill>
                  <a:srgbClr val="000000"/>
                </a:solidFill>
                <a:latin typeface="Times New Roman" pitchFamily="18" charset="0"/>
                <a:cs typeface="Times New Roman" pitchFamily="18" charset="0"/>
              </a:rPr>
              <a:t>Register</a:t>
            </a:r>
            <a:r>
              <a:rPr lang="en-US" altLang="zh-CN" sz="1535" dirty="0" smtClean="0">
                <a:latin typeface="Times New Roman" pitchFamily="18" charset="0"/>
                <a:cs typeface="Times New Roman" pitchFamily="18" charset="0"/>
              </a:rPr>
              <a:t> </a:t>
            </a:r>
            <a:r>
              <a:rPr lang="en-US" altLang="zh-CN" sz="1535" b="1" dirty="0" smtClean="0">
                <a:solidFill>
                  <a:srgbClr val="000000"/>
                </a:solidFill>
                <a:latin typeface="Times New Roman" pitchFamily="18" charset="0"/>
                <a:cs typeface="Times New Roman" pitchFamily="18" charset="0"/>
              </a:rPr>
              <a:t>Address</a:t>
            </a:r>
          </a:p>
          <a:p>
            <a:pPr>
              <a:lnSpc>
                <a:spcPts val="1000"/>
              </a:lnSpc>
            </a:pPr>
            <a:endParaRPr lang="en-US" altLang="zh-CN" dirty="0" smtClean="0"/>
          </a:p>
          <a:p>
            <a:pPr>
              <a:lnSpc>
                <a:spcPts val="2400"/>
              </a:lnSpc>
              <a:tabLst>
                <a:tab pos="1968500" algn="l"/>
              </a:tabLst>
            </a:pPr>
            <a:r>
              <a:rPr lang="en-US" altLang="zh-CN" sz="1535" b="1" dirty="0" smtClean="0">
                <a:solidFill>
                  <a:srgbClr val="000000"/>
                </a:solidFill>
                <a:latin typeface="Times New Roman" pitchFamily="18" charset="0"/>
                <a:cs typeface="Times New Roman" pitchFamily="18" charset="0"/>
              </a:rPr>
              <a:t>Bit</a:t>
            </a:r>
            <a:r>
              <a:rPr lang="en-US" altLang="zh-CN" sz="1535" dirty="0" smtClean="0">
                <a:latin typeface="Times New Roman" pitchFamily="18" charset="0"/>
                <a:cs typeface="Times New Roman" pitchFamily="18" charset="0"/>
              </a:rPr>
              <a:t> </a:t>
            </a:r>
            <a:r>
              <a:rPr lang="en-US" altLang="zh-CN" sz="1535" b="1" dirty="0" smtClean="0">
                <a:solidFill>
                  <a:srgbClr val="000000"/>
                </a:solidFill>
                <a:latin typeface="Times New Roman" pitchFamily="18" charset="0"/>
                <a:cs typeface="Times New Roman" pitchFamily="18" charset="0"/>
              </a:rPr>
              <a:t>Position</a:t>
            </a:r>
            <a:r>
              <a:rPr lang="en-US" altLang="zh-CN" sz="1535" dirty="0" smtClean="0">
                <a:latin typeface="Times New Roman" pitchFamily="18" charset="0"/>
                <a:cs typeface="Times New Roman" pitchFamily="18" charset="0"/>
              </a:rPr>
              <a:t> </a:t>
            </a:r>
            <a:r>
              <a:rPr lang="en-US" altLang="zh-CN" sz="1535" b="1" dirty="0" smtClean="0">
                <a:solidFill>
                  <a:srgbClr val="000000"/>
                </a:solidFill>
                <a:latin typeface="Times New Roman" pitchFamily="18" charset="0"/>
                <a:cs typeface="Times New Roman" pitchFamily="18" charset="0"/>
              </a:rPr>
              <a:t>(0-7)</a:t>
            </a:r>
          </a:p>
        </p:txBody>
      </p:sp>
      <p:sp>
        <p:nvSpPr>
          <p:cNvPr id="10" name="TextBox 1"/>
          <p:cNvSpPr txBox="1"/>
          <p:nvPr/>
        </p:nvSpPr>
        <p:spPr>
          <a:xfrm>
            <a:off x="3517900" y="5041900"/>
            <a:ext cx="787400" cy="342900"/>
          </a:xfrm>
          <a:prstGeom prst="rect">
            <a:avLst/>
          </a:prstGeom>
          <a:noFill/>
        </p:spPr>
        <p:txBody>
          <a:bodyPr wrap="none" lIns="0" tIns="0" rIns="0" rtlCol="0">
            <a:spAutoFit/>
          </a:bodyPr>
          <a:lstStyle/>
          <a:p>
            <a:pPr>
              <a:lnSpc>
                <a:spcPts val="2700"/>
              </a:lnSpc>
              <a:tabLst/>
            </a:pPr>
            <a:r>
              <a:rPr lang="en-US" altLang="zh-CN" sz="3450" b="1" dirty="0" smtClean="0">
                <a:solidFill>
                  <a:srgbClr val="000000"/>
                </a:solidFill>
                <a:latin typeface="Courier New" pitchFamily="18" charset="0"/>
                <a:cs typeface="Courier New" pitchFamily="18" charset="0"/>
              </a:rPr>
              <a:t>BSF</a:t>
            </a:r>
          </a:p>
        </p:txBody>
      </p:sp>
      <p:sp>
        <p:nvSpPr>
          <p:cNvPr id="11" name="TextBox 1"/>
          <p:cNvSpPr txBox="1"/>
          <p:nvPr/>
        </p:nvSpPr>
        <p:spPr>
          <a:xfrm>
            <a:off x="5270500" y="5041900"/>
            <a:ext cx="1828800" cy="342900"/>
          </a:xfrm>
          <a:prstGeom prst="rect">
            <a:avLst/>
          </a:prstGeom>
          <a:noFill/>
        </p:spPr>
        <p:txBody>
          <a:bodyPr wrap="none" lIns="0" tIns="0" rIns="0" rtlCol="0">
            <a:spAutoFit/>
          </a:bodyPr>
          <a:lstStyle/>
          <a:p>
            <a:pPr>
              <a:lnSpc>
                <a:spcPts val="2700"/>
              </a:lnSpc>
              <a:tabLst/>
            </a:pPr>
            <a:r>
              <a:rPr lang="en-US" altLang="zh-CN" sz="3450" b="1" dirty="0" smtClean="0">
                <a:solidFill>
                  <a:srgbClr val="00009A"/>
                </a:solidFill>
                <a:latin typeface="Courier New" pitchFamily="18" charset="0"/>
                <a:cs typeface="Courier New" pitchFamily="18" charset="0"/>
              </a:rPr>
              <a:t>0x25</a:t>
            </a:r>
            <a:r>
              <a:rPr lang="en-US" altLang="zh-CN" sz="3450" b="1" dirty="0" smtClean="0">
                <a:solidFill>
                  <a:srgbClr val="CC0000"/>
                </a:solidFill>
                <a:latin typeface="Courier New" pitchFamily="18" charset="0"/>
                <a:cs typeface="Courier New" pitchFamily="18" charset="0"/>
              </a:rPr>
              <a:t>,</a:t>
            </a:r>
            <a:r>
              <a:rPr lang="en-US" altLang="zh-CN" sz="3450" dirty="0" smtClean="0">
                <a:latin typeface="Times New Roman" pitchFamily="18" charset="0"/>
                <a:cs typeface="Times New Roman" pitchFamily="18" charset="0"/>
              </a:rPr>
              <a:t>  </a:t>
            </a:r>
            <a:r>
              <a:rPr lang="en-US" altLang="zh-CN" sz="3450" b="1" dirty="0" smtClean="0">
                <a:solidFill>
                  <a:srgbClr val="CC0000"/>
                </a:solidFill>
                <a:latin typeface="Courier New" pitchFamily="18" charset="0"/>
                <a:cs typeface="Courier New" pitchFamily="18" charset="0"/>
              </a:rPr>
              <a:t>3</a:t>
            </a:r>
          </a:p>
        </p:txBody>
      </p:sp>
      <p:sp>
        <p:nvSpPr>
          <p:cNvPr id="12" name="TextBox 1"/>
          <p:cNvSpPr txBox="1"/>
          <p:nvPr/>
        </p:nvSpPr>
        <p:spPr>
          <a:xfrm>
            <a:off x="6743700" y="6032500"/>
            <a:ext cx="1079500" cy="266700"/>
          </a:xfrm>
          <a:prstGeom prst="rect">
            <a:avLst/>
          </a:prstGeom>
          <a:noFill/>
        </p:spPr>
        <p:txBody>
          <a:bodyPr wrap="none" lIns="0" tIns="0" rIns="0" rtlCol="0">
            <a:spAutoFit/>
          </a:bodyPr>
          <a:lstStyle/>
          <a:p>
            <a:pPr>
              <a:lnSpc>
                <a:spcPts val="2100"/>
              </a:lnSpc>
              <a:tabLst/>
            </a:pPr>
            <a:r>
              <a:rPr lang="en-US" altLang="zh-CN" sz="1535" b="1" dirty="0" smtClean="0">
                <a:solidFill>
                  <a:srgbClr val="000000"/>
                </a:solidFill>
                <a:latin typeface="Times New Roman" pitchFamily="18" charset="0"/>
                <a:cs typeface="Times New Roman" pitchFamily="18" charset="0"/>
              </a:rPr>
              <a:t>Bit</a:t>
            </a:r>
            <a:r>
              <a:rPr lang="en-US" altLang="zh-CN" sz="1535" dirty="0" smtClean="0">
                <a:latin typeface="Times New Roman" pitchFamily="18" charset="0"/>
                <a:cs typeface="Times New Roman" pitchFamily="18" charset="0"/>
              </a:rPr>
              <a:t> </a:t>
            </a:r>
            <a:r>
              <a:rPr lang="en-US" altLang="zh-CN" sz="1535" b="1" dirty="0" smtClean="0">
                <a:solidFill>
                  <a:srgbClr val="000000"/>
                </a:solidFill>
                <a:latin typeface="Times New Roman" pitchFamily="18" charset="0"/>
                <a:cs typeface="Times New Roman" pitchFamily="18" charset="0"/>
              </a:rPr>
              <a:t>Position</a:t>
            </a:r>
          </a:p>
        </p:txBody>
      </p:sp>
      <p:sp>
        <p:nvSpPr>
          <p:cNvPr id="13" name="TextBox 1"/>
          <p:cNvSpPr txBox="1"/>
          <p:nvPr/>
        </p:nvSpPr>
        <p:spPr>
          <a:xfrm>
            <a:off x="4089400" y="6032500"/>
            <a:ext cx="1993900" cy="266700"/>
          </a:xfrm>
          <a:prstGeom prst="rect">
            <a:avLst/>
          </a:prstGeom>
          <a:noFill/>
        </p:spPr>
        <p:txBody>
          <a:bodyPr wrap="none" lIns="0" tIns="0" rIns="0" rtlCol="0">
            <a:spAutoFit/>
          </a:bodyPr>
          <a:lstStyle/>
          <a:p>
            <a:pPr>
              <a:lnSpc>
                <a:spcPts val="2100"/>
              </a:lnSpc>
              <a:tabLst/>
            </a:pPr>
            <a:r>
              <a:rPr lang="en-US" altLang="zh-CN" sz="1535" b="1" dirty="0" smtClean="0">
                <a:solidFill>
                  <a:srgbClr val="000000"/>
                </a:solidFill>
                <a:latin typeface="Times New Roman" pitchFamily="18" charset="0"/>
                <a:cs typeface="Times New Roman" pitchFamily="18" charset="0"/>
              </a:rPr>
              <a:t>File</a:t>
            </a:r>
            <a:r>
              <a:rPr lang="en-US" altLang="zh-CN" sz="1535" dirty="0" smtClean="0">
                <a:latin typeface="Times New Roman" pitchFamily="18" charset="0"/>
                <a:cs typeface="Times New Roman" pitchFamily="18" charset="0"/>
              </a:rPr>
              <a:t> </a:t>
            </a:r>
            <a:r>
              <a:rPr lang="en-US" altLang="zh-CN" sz="1535" b="1" dirty="0" smtClean="0">
                <a:solidFill>
                  <a:srgbClr val="000000"/>
                </a:solidFill>
                <a:latin typeface="Times New Roman" pitchFamily="18" charset="0"/>
                <a:cs typeface="Times New Roman" pitchFamily="18" charset="0"/>
              </a:rPr>
              <a:t>Register</a:t>
            </a:r>
            <a:r>
              <a:rPr lang="en-US" altLang="zh-CN" sz="1535" dirty="0" smtClean="0">
                <a:latin typeface="Times New Roman" pitchFamily="18" charset="0"/>
                <a:cs typeface="Times New Roman" pitchFamily="18" charset="0"/>
              </a:rPr>
              <a:t> </a:t>
            </a:r>
            <a:r>
              <a:rPr lang="en-US" altLang="zh-CN" sz="1535" b="1" dirty="0" smtClean="0">
                <a:solidFill>
                  <a:srgbClr val="000000"/>
                </a:solidFill>
                <a:latin typeface="Times New Roman" pitchFamily="18" charset="0"/>
                <a:cs typeface="Times New Roman" pitchFamily="18" charset="0"/>
              </a:rPr>
              <a:t>Address</a:t>
            </a:r>
          </a:p>
        </p:txBody>
      </p:sp>
    </p:spTree>
    <p:extLst>
      <p:ext uri="{BB962C8B-B14F-4D97-AF65-F5344CB8AC3E}">
        <p14:creationId xmlns:p14="http://schemas.microsoft.com/office/powerpoint/2010/main" val="6241150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762000" y="330200"/>
            <a:ext cx="9169400"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smtClean="0"/>
              <a:t>Introducción</a:t>
            </a:r>
            <a:r>
              <a:rPr lang="en-US" altLang="zh-CN" dirty="0" smtClean="0"/>
              <a:t> al Set de </a:t>
            </a:r>
            <a:r>
              <a:rPr lang="en-US" altLang="zh-CN" dirty="0" err="1" smtClean="0"/>
              <a:t>Instrucciones</a:t>
            </a:r>
            <a:endParaRPr lang="en-US" altLang="zh-CN" dirty="0"/>
          </a:p>
        </p:txBody>
      </p:sp>
    </p:spTree>
    <p:extLst>
      <p:ext uri="{BB962C8B-B14F-4D97-AF65-F5344CB8AC3E}">
        <p14:creationId xmlns:p14="http://schemas.microsoft.com/office/powerpoint/2010/main" val="22891758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142" y="2070161"/>
            <a:ext cx="8877368" cy="1312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CuadroTexto"/>
          <p:cNvSpPr txBox="1"/>
          <p:nvPr/>
        </p:nvSpPr>
        <p:spPr>
          <a:xfrm>
            <a:off x="901891" y="1636180"/>
            <a:ext cx="5383205"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Operaciones Basadas en Bytes (Registros)</a:t>
            </a:r>
          </a:p>
        </p:txBody>
      </p:sp>
      <p:pic>
        <p:nvPicPr>
          <p:cNvPr id="2970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891" y="3970580"/>
            <a:ext cx="8889618" cy="682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CuadroTexto"/>
          <p:cNvSpPr txBox="1"/>
          <p:nvPr/>
        </p:nvSpPr>
        <p:spPr>
          <a:xfrm>
            <a:off x="901892" y="3541848"/>
            <a:ext cx="3855543"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Operaciones Orientadas a bits</a:t>
            </a:r>
          </a:p>
        </p:txBody>
      </p:sp>
      <p:pic>
        <p:nvPicPr>
          <p:cNvPr id="2970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142" y="5241025"/>
            <a:ext cx="8877368" cy="682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CuadroTexto"/>
          <p:cNvSpPr txBox="1"/>
          <p:nvPr/>
        </p:nvSpPr>
        <p:spPr>
          <a:xfrm>
            <a:off x="901891" y="4812293"/>
            <a:ext cx="4448654"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Operaciones Orientadas a Literales</a:t>
            </a:r>
          </a:p>
        </p:txBody>
      </p:sp>
      <p:pic>
        <p:nvPicPr>
          <p:cNvPr id="2970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1891" y="6509720"/>
            <a:ext cx="8889618" cy="682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12 CuadroTexto"/>
          <p:cNvSpPr txBox="1"/>
          <p:nvPr/>
        </p:nvSpPr>
        <p:spPr>
          <a:xfrm>
            <a:off x="901892" y="6080989"/>
            <a:ext cx="4054315"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Para las operaciones </a:t>
            </a:r>
            <a:r>
              <a:rPr lang="es-AR" sz="1984" b="1" dirty="0" err="1">
                <a:solidFill>
                  <a:srgbClr val="FF0000"/>
                </a:solidFill>
                <a:latin typeface="Arial" charset="0"/>
              </a:rPr>
              <a:t>call</a:t>
            </a:r>
            <a:r>
              <a:rPr lang="es-AR" sz="1984" b="1" dirty="0">
                <a:solidFill>
                  <a:srgbClr val="FF0000"/>
                </a:solidFill>
                <a:latin typeface="Arial" charset="0"/>
              </a:rPr>
              <a:t> y </a:t>
            </a:r>
            <a:r>
              <a:rPr lang="es-AR" sz="1984" b="1" dirty="0" err="1">
                <a:solidFill>
                  <a:srgbClr val="FF0000"/>
                </a:solidFill>
                <a:latin typeface="Arial" charset="0"/>
              </a:rPr>
              <a:t>goto</a:t>
            </a:r>
            <a:endParaRPr lang="es-AR" sz="1984" b="1" dirty="0">
              <a:solidFill>
                <a:srgbClr val="FF0000"/>
              </a:solidFill>
              <a:latin typeface="Arial" charset="0"/>
            </a:endParaRPr>
          </a:p>
        </p:txBody>
      </p:sp>
      <p:sp>
        <p:nvSpPr>
          <p:cNvPr id="12" name="TextBox 1"/>
          <p:cNvSpPr txBox="1"/>
          <p:nvPr/>
        </p:nvSpPr>
        <p:spPr>
          <a:xfrm>
            <a:off x="762000" y="330200"/>
            <a:ext cx="9169400"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smtClean="0"/>
              <a:t>Introducción</a:t>
            </a:r>
            <a:r>
              <a:rPr lang="en-US" altLang="zh-CN" dirty="0" smtClean="0"/>
              <a:t> al Set de </a:t>
            </a:r>
            <a:r>
              <a:rPr lang="en-US" altLang="zh-CN" dirty="0" err="1" smtClean="0"/>
              <a:t>Instrucciones</a:t>
            </a:r>
            <a:endParaRPr lang="en-US" altLang="zh-CN" dirty="0"/>
          </a:p>
        </p:txBody>
      </p:sp>
    </p:spTree>
    <p:extLst>
      <p:ext uri="{BB962C8B-B14F-4D97-AF65-F5344CB8AC3E}">
        <p14:creationId xmlns:p14="http://schemas.microsoft.com/office/powerpoint/2010/main" val="41603462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241300" y="30544"/>
            <a:ext cx="10109200" cy="7559293"/>
          </a:xfrm>
          <a:prstGeom prst="rect">
            <a:avLst/>
          </a:prstGeom>
          <a:noFill/>
        </p:spPr>
      </p:pic>
      <p:sp>
        <p:nvSpPr>
          <p:cNvPr id="2" name="TextBox 1"/>
          <p:cNvSpPr txBox="1"/>
          <p:nvPr/>
        </p:nvSpPr>
        <p:spPr>
          <a:xfrm>
            <a:off x="2070100" y="317500"/>
            <a:ext cx="6935297" cy="475836"/>
          </a:xfrm>
          <a:prstGeom prst="rect">
            <a:avLst/>
          </a:prstGeom>
          <a:noFill/>
        </p:spPr>
        <p:txBody>
          <a:bodyPr wrap="none" lIns="0" tIns="0" rIns="0" rtlCol="0">
            <a:spAutoFit/>
          </a:bodyPr>
          <a:lstStyle/>
          <a:p>
            <a:pPr>
              <a:lnSpc>
                <a:spcPts val="32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Set de instrucciones de la Linea Base</a:t>
            </a:r>
          </a:p>
        </p:txBody>
      </p:sp>
      <p:sp>
        <p:nvSpPr>
          <p:cNvPr id="3" name="TextBox 1"/>
          <p:cNvSpPr txBox="1"/>
          <p:nvPr/>
        </p:nvSpPr>
        <p:spPr>
          <a:xfrm>
            <a:off x="1079500" y="1333500"/>
            <a:ext cx="3683000" cy="228600"/>
          </a:xfrm>
          <a:prstGeom prst="rect">
            <a:avLst/>
          </a:prstGeom>
          <a:noFill/>
        </p:spPr>
        <p:txBody>
          <a:bodyPr wrap="none" lIns="0" tIns="0" rIns="0" rtlCol="0">
            <a:spAutoFit/>
          </a:bodyPr>
          <a:lstStyle/>
          <a:p>
            <a:pPr>
              <a:lnSpc>
                <a:spcPts val="1800"/>
              </a:lnSpc>
              <a:tabLst/>
            </a:pPr>
            <a:r>
              <a:rPr lang="en-US" altLang="zh-CN" sz="1986" b="1" dirty="0" smtClean="0">
                <a:solidFill>
                  <a:srgbClr val="FFFFFF"/>
                </a:solidFill>
                <a:latin typeface="Times New Roman" pitchFamily="18" charset="0"/>
                <a:cs typeface="Times New Roman" pitchFamily="18" charset="0"/>
              </a:rPr>
              <a:t>Operaciones</a:t>
            </a:r>
            <a:r>
              <a:rPr lang="en-US" altLang="zh-CN" sz="1986" dirty="0" smtClean="0">
                <a:latin typeface="Times New Roman" pitchFamily="18" charset="0"/>
                <a:cs typeface="Times New Roman" pitchFamily="18" charset="0"/>
              </a:rPr>
              <a:t> </a:t>
            </a:r>
            <a:r>
              <a:rPr lang="en-US" altLang="zh-CN" sz="1986" b="1" dirty="0" smtClean="0">
                <a:solidFill>
                  <a:srgbClr val="FFFFFF"/>
                </a:solidFill>
                <a:latin typeface="Times New Roman" pitchFamily="18" charset="0"/>
                <a:cs typeface="Times New Roman" pitchFamily="18" charset="0"/>
              </a:rPr>
              <a:t>orientadas</a:t>
            </a:r>
            <a:r>
              <a:rPr lang="en-US" altLang="zh-CN" sz="1986" dirty="0" smtClean="0">
                <a:latin typeface="Times New Roman" pitchFamily="18" charset="0"/>
                <a:cs typeface="Times New Roman" pitchFamily="18" charset="0"/>
              </a:rPr>
              <a:t> </a:t>
            </a:r>
            <a:r>
              <a:rPr lang="en-US" altLang="zh-CN" sz="1986" b="1" dirty="0" smtClean="0">
                <a:solidFill>
                  <a:srgbClr val="FFFFFF"/>
                </a:solidFill>
                <a:latin typeface="Times New Roman" pitchFamily="18" charset="0"/>
                <a:cs typeface="Times New Roman" pitchFamily="18" charset="0"/>
              </a:rPr>
              <a:t>a</a:t>
            </a:r>
            <a:r>
              <a:rPr lang="en-US" altLang="zh-CN" sz="1986" dirty="0" smtClean="0">
                <a:latin typeface="Times New Roman" pitchFamily="18" charset="0"/>
                <a:cs typeface="Times New Roman" pitchFamily="18" charset="0"/>
              </a:rPr>
              <a:t> </a:t>
            </a:r>
            <a:r>
              <a:rPr lang="en-US" altLang="zh-CN" sz="1986" b="1" dirty="0" smtClean="0">
                <a:solidFill>
                  <a:srgbClr val="FFFFFF"/>
                </a:solidFill>
                <a:latin typeface="Times New Roman" pitchFamily="18" charset="0"/>
                <a:cs typeface="Times New Roman" pitchFamily="18" charset="0"/>
              </a:rPr>
              <a:t>Byte</a:t>
            </a:r>
          </a:p>
        </p:txBody>
      </p:sp>
      <p:sp>
        <p:nvSpPr>
          <p:cNvPr id="4" name="TextBox 1"/>
          <p:cNvSpPr txBox="1"/>
          <p:nvPr/>
        </p:nvSpPr>
        <p:spPr>
          <a:xfrm>
            <a:off x="5994400" y="1333500"/>
            <a:ext cx="3517900" cy="228600"/>
          </a:xfrm>
          <a:prstGeom prst="rect">
            <a:avLst/>
          </a:prstGeom>
          <a:noFill/>
        </p:spPr>
        <p:txBody>
          <a:bodyPr wrap="none" lIns="0" tIns="0" rIns="0" rtlCol="0">
            <a:spAutoFit/>
          </a:bodyPr>
          <a:lstStyle/>
          <a:p>
            <a:pPr>
              <a:lnSpc>
                <a:spcPts val="1800"/>
              </a:lnSpc>
              <a:tabLst/>
            </a:pPr>
            <a:r>
              <a:rPr lang="en-US" altLang="zh-CN" sz="1986" b="1" dirty="0" smtClean="0">
                <a:solidFill>
                  <a:srgbClr val="FFFFFF"/>
                </a:solidFill>
                <a:latin typeface="Times New Roman" pitchFamily="18" charset="0"/>
                <a:cs typeface="Times New Roman" pitchFamily="18" charset="0"/>
              </a:rPr>
              <a:t>Operaciones</a:t>
            </a:r>
            <a:r>
              <a:rPr lang="en-US" altLang="zh-CN" sz="1986" dirty="0" smtClean="0">
                <a:latin typeface="Times New Roman" pitchFamily="18" charset="0"/>
                <a:cs typeface="Times New Roman" pitchFamily="18" charset="0"/>
              </a:rPr>
              <a:t> </a:t>
            </a:r>
            <a:r>
              <a:rPr lang="en-US" altLang="zh-CN" sz="1986" b="1" dirty="0" smtClean="0">
                <a:solidFill>
                  <a:srgbClr val="FFFFFF"/>
                </a:solidFill>
                <a:latin typeface="Times New Roman" pitchFamily="18" charset="0"/>
                <a:cs typeface="Times New Roman" pitchFamily="18" charset="0"/>
              </a:rPr>
              <a:t>Orientadas</a:t>
            </a:r>
            <a:r>
              <a:rPr lang="en-US" altLang="zh-CN" sz="1986" dirty="0" smtClean="0">
                <a:latin typeface="Times New Roman" pitchFamily="18" charset="0"/>
                <a:cs typeface="Times New Roman" pitchFamily="18" charset="0"/>
              </a:rPr>
              <a:t> </a:t>
            </a:r>
            <a:r>
              <a:rPr lang="en-US" altLang="zh-CN" sz="1986" b="1" dirty="0" smtClean="0">
                <a:solidFill>
                  <a:srgbClr val="FFFFFF"/>
                </a:solidFill>
                <a:latin typeface="Times New Roman" pitchFamily="18" charset="0"/>
                <a:cs typeface="Times New Roman" pitchFamily="18" charset="0"/>
              </a:rPr>
              <a:t>a</a:t>
            </a:r>
            <a:r>
              <a:rPr lang="en-US" altLang="zh-CN" sz="1986" dirty="0" smtClean="0">
                <a:latin typeface="Times New Roman" pitchFamily="18" charset="0"/>
                <a:cs typeface="Times New Roman" pitchFamily="18" charset="0"/>
              </a:rPr>
              <a:t> </a:t>
            </a:r>
            <a:r>
              <a:rPr lang="en-US" altLang="zh-CN" sz="1986" b="1" dirty="0" smtClean="0">
                <a:solidFill>
                  <a:srgbClr val="FFFFFF"/>
                </a:solidFill>
                <a:latin typeface="Times New Roman" pitchFamily="18" charset="0"/>
                <a:cs typeface="Times New Roman" pitchFamily="18" charset="0"/>
              </a:rPr>
              <a:t>Bit</a:t>
            </a:r>
          </a:p>
        </p:txBody>
      </p:sp>
      <p:sp>
        <p:nvSpPr>
          <p:cNvPr id="5" name="TextBox 1"/>
          <p:cNvSpPr txBox="1"/>
          <p:nvPr/>
        </p:nvSpPr>
        <p:spPr>
          <a:xfrm>
            <a:off x="876300" y="1701800"/>
            <a:ext cx="558800" cy="11303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addwf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andwf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clrf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clrw</a:t>
            </a:r>
          </a:p>
        </p:txBody>
      </p:sp>
      <p:sp>
        <p:nvSpPr>
          <p:cNvPr id="6" name="TextBox 1"/>
          <p:cNvSpPr txBox="1"/>
          <p:nvPr/>
        </p:nvSpPr>
        <p:spPr>
          <a:xfrm>
            <a:off x="1879600" y="1701800"/>
            <a:ext cx="228600" cy="11303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a:t>
            </a:r>
          </a:p>
        </p:txBody>
      </p:sp>
      <p:sp>
        <p:nvSpPr>
          <p:cNvPr id="7" name="TextBox 1"/>
          <p:cNvSpPr txBox="1"/>
          <p:nvPr/>
        </p:nvSpPr>
        <p:spPr>
          <a:xfrm>
            <a:off x="876300" y="2933700"/>
            <a:ext cx="457200" cy="1778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comf</a:t>
            </a:r>
          </a:p>
        </p:txBody>
      </p:sp>
      <p:sp>
        <p:nvSpPr>
          <p:cNvPr id="8" name="TextBox 1"/>
          <p:cNvSpPr txBox="1"/>
          <p:nvPr/>
        </p:nvSpPr>
        <p:spPr>
          <a:xfrm>
            <a:off x="1879600" y="2933700"/>
            <a:ext cx="228600" cy="1778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f,d</a:t>
            </a:r>
          </a:p>
        </p:txBody>
      </p:sp>
      <p:sp>
        <p:nvSpPr>
          <p:cNvPr id="9" name="TextBox 1"/>
          <p:cNvSpPr txBox="1"/>
          <p:nvPr/>
        </p:nvSpPr>
        <p:spPr>
          <a:xfrm>
            <a:off x="2324100" y="1701800"/>
            <a:ext cx="1219200" cy="11303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Add</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and</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AND</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with</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Clear</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Clear</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p>
        </p:txBody>
      </p:sp>
      <p:sp>
        <p:nvSpPr>
          <p:cNvPr id="10" name="TextBox 1"/>
          <p:cNvSpPr txBox="1"/>
          <p:nvPr/>
        </p:nvSpPr>
        <p:spPr>
          <a:xfrm>
            <a:off x="2324100" y="2933700"/>
            <a:ext cx="1295400" cy="1778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Complement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p:txBody>
      </p:sp>
      <p:sp>
        <p:nvSpPr>
          <p:cNvPr id="11" name="TextBox 1"/>
          <p:cNvSpPr txBox="1"/>
          <p:nvPr/>
        </p:nvSpPr>
        <p:spPr>
          <a:xfrm>
            <a:off x="5689600" y="1701800"/>
            <a:ext cx="457200" cy="11303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bcf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bsf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btfsc</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btfss</a:t>
            </a:r>
          </a:p>
        </p:txBody>
      </p:sp>
      <p:sp>
        <p:nvSpPr>
          <p:cNvPr id="12" name="TextBox 1"/>
          <p:cNvSpPr txBox="1"/>
          <p:nvPr/>
        </p:nvSpPr>
        <p:spPr>
          <a:xfrm>
            <a:off x="6705600" y="1701800"/>
            <a:ext cx="228600" cy="11303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f,b</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f,b</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f,b</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f,b</a:t>
            </a:r>
          </a:p>
        </p:txBody>
      </p:sp>
      <p:sp>
        <p:nvSpPr>
          <p:cNvPr id="13" name="TextBox 1"/>
          <p:cNvSpPr txBox="1"/>
          <p:nvPr/>
        </p:nvSpPr>
        <p:spPr>
          <a:xfrm>
            <a:off x="7150100" y="1701800"/>
            <a:ext cx="2057400" cy="11303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Bit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Clear</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Bit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Set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Bit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Test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Skip</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if</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Clear</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Bit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Test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Skip</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if</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Set</a:t>
            </a:r>
          </a:p>
        </p:txBody>
      </p:sp>
      <p:sp>
        <p:nvSpPr>
          <p:cNvPr id="14" name="TextBox 1"/>
          <p:cNvSpPr txBox="1"/>
          <p:nvPr/>
        </p:nvSpPr>
        <p:spPr>
          <a:xfrm>
            <a:off x="5613400" y="2921000"/>
            <a:ext cx="4279900" cy="228600"/>
          </a:xfrm>
          <a:prstGeom prst="rect">
            <a:avLst/>
          </a:prstGeom>
          <a:noFill/>
        </p:spPr>
        <p:txBody>
          <a:bodyPr wrap="none" lIns="0" tIns="0" rIns="0" rtlCol="0">
            <a:spAutoFit/>
          </a:bodyPr>
          <a:lstStyle/>
          <a:p>
            <a:pPr>
              <a:lnSpc>
                <a:spcPts val="1800"/>
              </a:lnSpc>
              <a:tabLst/>
            </a:pPr>
            <a:r>
              <a:rPr lang="en-US" altLang="zh-CN" sz="1986" b="1" dirty="0" smtClean="0">
                <a:solidFill>
                  <a:srgbClr val="FFFFFF"/>
                </a:solidFill>
                <a:latin typeface="Times New Roman" pitchFamily="18" charset="0"/>
                <a:cs typeface="Times New Roman" pitchFamily="18" charset="0"/>
              </a:rPr>
              <a:t>Operaciones</a:t>
            </a:r>
            <a:r>
              <a:rPr lang="en-US" altLang="zh-CN" sz="1986" dirty="0" smtClean="0">
                <a:latin typeface="Times New Roman" pitchFamily="18" charset="0"/>
                <a:cs typeface="Times New Roman" pitchFamily="18" charset="0"/>
              </a:rPr>
              <a:t> </a:t>
            </a:r>
            <a:r>
              <a:rPr lang="en-US" altLang="zh-CN" sz="1986" b="1" dirty="0" smtClean="0">
                <a:solidFill>
                  <a:srgbClr val="FFFFFF"/>
                </a:solidFill>
                <a:latin typeface="Times New Roman" pitchFamily="18" charset="0"/>
                <a:cs typeface="Times New Roman" pitchFamily="18" charset="0"/>
              </a:rPr>
              <a:t>con</a:t>
            </a:r>
            <a:r>
              <a:rPr lang="en-US" altLang="zh-CN" sz="1986" dirty="0" smtClean="0">
                <a:latin typeface="Times New Roman" pitchFamily="18" charset="0"/>
                <a:cs typeface="Times New Roman" pitchFamily="18" charset="0"/>
              </a:rPr>
              <a:t> </a:t>
            </a:r>
            <a:r>
              <a:rPr lang="en-US" altLang="zh-CN" sz="1986" b="1" dirty="0" smtClean="0">
                <a:solidFill>
                  <a:srgbClr val="FFFFFF"/>
                </a:solidFill>
                <a:latin typeface="Times New Roman" pitchFamily="18" charset="0"/>
                <a:cs typeface="Times New Roman" pitchFamily="18" charset="0"/>
              </a:rPr>
              <a:t>Literales</a:t>
            </a:r>
            <a:r>
              <a:rPr lang="en-US" altLang="zh-CN" sz="1986" dirty="0" smtClean="0">
                <a:latin typeface="Times New Roman" pitchFamily="18" charset="0"/>
                <a:cs typeface="Times New Roman" pitchFamily="18" charset="0"/>
              </a:rPr>
              <a:t> </a:t>
            </a:r>
            <a:r>
              <a:rPr lang="en-US" altLang="zh-CN" sz="1986" b="1" dirty="0" smtClean="0">
                <a:solidFill>
                  <a:srgbClr val="FFFFFF"/>
                </a:solidFill>
                <a:latin typeface="Times New Roman" pitchFamily="18" charset="0"/>
                <a:cs typeface="Times New Roman" pitchFamily="18" charset="0"/>
              </a:rPr>
              <a:t>y</a:t>
            </a:r>
            <a:r>
              <a:rPr lang="en-US" altLang="zh-CN" sz="1986" dirty="0" smtClean="0">
                <a:latin typeface="Times New Roman" pitchFamily="18" charset="0"/>
                <a:cs typeface="Times New Roman" pitchFamily="18" charset="0"/>
              </a:rPr>
              <a:t> </a:t>
            </a:r>
            <a:r>
              <a:rPr lang="en-US" altLang="zh-CN" sz="1986" b="1" dirty="0" smtClean="0">
                <a:solidFill>
                  <a:srgbClr val="FFFFFF"/>
                </a:solidFill>
                <a:latin typeface="Times New Roman" pitchFamily="18" charset="0"/>
                <a:cs typeface="Times New Roman" pitchFamily="18" charset="0"/>
              </a:rPr>
              <a:t>control</a:t>
            </a:r>
          </a:p>
        </p:txBody>
      </p:sp>
      <p:sp>
        <p:nvSpPr>
          <p:cNvPr id="15" name="TextBox 1"/>
          <p:cNvSpPr txBox="1"/>
          <p:nvPr/>
        </p:nvSpPr>
        <p:spPr>
          <a:xfrm>
            <a:off x="876300" y="3365500"/>
            <a:ext cx="609600" cy="33528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decf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decfsz</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incf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incfsz</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iorwf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movf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movwf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nop</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rlf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rrf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subwf</a:t>
            </a:r>
          </a:p>
        </p:txBody>
      </p:sp>
      <p:sp>
        <p:nvSpPr>
          <p:cNvPr id="16" name="TextBox 1"/>
          <p:cNvSpPr txBox="1"/>
          <p:nvPr/>
        </p:nvSpPr>
        <p:spPr>
          <a:xfrm>
            <a:off x="1879600" y="3365500"/>
            <a:ext cx="228600" cy="33528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f,d</a:t>
            </a:r>
          </a:p>
        </p:txBody>
      </p:sp>
      <p:sp>
        <p:nvSpPr>
          <p:cNvPr id="17" name="TextBox 1"/>
          <p:cNvSpPr txBox="1"/>
          <p:nvPr/>
        </p:nvSpPr>
        <p:spPr>
          <a:xfrm>
            <a:off x="2324100" y="3365500"/>
            <a:ext cx="2628900" cy="33528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Decrement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Decrement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Skip</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if</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0</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Increment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Increment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Skip</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if</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0</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Inclusive</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OR</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with</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Move</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Move</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to</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No</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Operation</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Rotate</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Left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through</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Carry</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Rotate</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Right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through</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Carry</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Subtract</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from</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p:txBody>
      </p:sp>
      <p:sp>
        <p:nvSpPr>
          <p:cNvPr id="18" name="TextBox 1"/>
          <p:cNvSpPr txBox="1"/>
          <p:nvPr/>
        </p:nvSpPr>
        <p:spPr>
          <a:xfrm>
            <a:off x="5689600" y="3365500"/>
            <a:ext cx="596900" cy="33401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andlw</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call</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clrwdt</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goto</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iorlw</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movlw</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option</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retlw</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sleep</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tris</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xorlw</a:t>
            </a:r>
          </a:p>
        </p:txBody>
      </p:sp>
      <p:sp>
        <p:nvSpPr>
          <p:cNvPr id="19" name="TextBox 1"/>
          <p:cNvSpPr txBox="1"/>
          <p:nvPr/>
        </p:nvSpPr>
        <p:spPr>
          <a:xfrm>
            <a:off x="6705600" y="3365500"/>
            <a:ext cx="101600" cy="33401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k</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k</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k</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k</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k</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k</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k</a:t>
            </a:r>
          </a:p>
        </p:txBody>
      </p:sp>
      <p:sp>
        <p:nvSpPr>
          <p:cNvPr id="20" name="TextBox 1"/>
          <p:cNvSpPr txBox="1"/>
          <p:nvPr/>
        </p:nvSpPr>
        <p:spPr>
          <a:xfrm>
            <a:off x="7150100" y="3365500"/>
            <a:ext cx="2501900" cy="33401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AND</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literal</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with</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Call</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subroutine</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Clear</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Watchdog</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Timer</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Go</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to</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address</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Inclusive</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OR</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literal</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with</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Move</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literal</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to</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Load</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OPTION</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Register</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Return</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with</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literal</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in</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Go</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into</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standby</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mode</a:t>
            </a:r>
          </a:p>
          <a:p>
            <a:pPr>
              <a:lnSpc>
                <a:spcPts val="1000"/>
              </a:lnSpc>
            </a:pPr>
            <a:endParaRPr lang="en-US" altLang="zh-CN" dirty="0" smtClean="0"/>
          </a:p>
          <a:p>
            <a:pPr>
              <a:lnSpc>
                <a:spcPts val="1400"/>
              </a:lnSpc>
              <a:tabLst/>
            </a:pPr>
            <a:r>
              <a:rPr lang="en-US" altLang="zh-CN" sz="1542" b="1" dirty="0" smtClean="0">
                <a:solidFill>
                  <a:srgbClr val="000000"/>
                </a:solidFill>
                <a:latin typeface="Times New Roman" pitchFamily="18" charset="0"/>
                <a:cs typeface="Times New Roman" pitchFamily="18" charset="0"/>
              </a:rPr>
              <a:t>Load</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TRIS</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Register</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Exclusive</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OR</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literal</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with</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p>
        </p:txBody>
      </p:sp>
      <p:sp>
        <p:nvSpPr>
          <p:cNvPr id="24" name="TextBox 1"/>
          <p:cNvSpPr txBox="1"/>
          <p:nvPr/>
        </p:nvSpPr>
        <p:spPr>
          <a:xfrm>
            <a:off x="876300" y="6756400"/>
            <a:ext cx="546100" cy="4953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swapf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xorwf</a:t>
            </a:r>
          </a:p>
        </p:txBody>
      </p:sp>
      <p:sp>
        <p:nvSpPr>
          <p:cNvPr id="25" name="TextBox 1"/>
          <p:cNvSpPr txBox="1"/>
          <p:nvPr/>
        </p:nvSpPr>
        <p:spPr>
          <a:xfrm>
            <a:off x="1879600" y="6756400"/>
            <a:ext cx="228600" cy="4953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f,d</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f,d</a:t>
            </a:r>
          </a:p>
        </p:txBody>
      </p:sp>
      <p:sp>
        <p:nvSpPr>
          <p:cNvPr id="26" name="TextBox 1"/>
          <p:cNvSpPr txBox="1"/>
          <p:nvPr/>
        </p:nvSpPr>
        <p:spPr>
          <a:xfrm>
            <a:off x="2324100" y="6756400"/>
            <a:ext cx="2044700" cy="495300"/>
          </a:xfrm>
          <a:prstGeom prst="rect">
            <a:avLst/>
          </a:prstGeom>
          <a:noFill/>
        </p:spPr>
        <p:txBody>
          <a:bodyPr wrap="none" lIns="0" tIns="0" rIns="0" rtlCol="0">
            <a:spAutoFit/>
          </a:bodyPr>
          <a:lstStyle/>
          <a:p>
            <a:pPr>
              <a:lnSpc>
                <a:spcPts val="1400"/>
              </a:lnSpc>
              <a:tabLst/>
            </a:pPr>
            <a:r>
              <a:rPr lang="en-US" altLang="zh-CN" sz="1542" b="1" dirty="0" smtClean="0">
                <a:solidFill>
                  <a:srgbClr val="000000"/>
                </a:solidFill>
                <a:latin typeface="Times New Roman" pitchFamily="18" charset="0"/>
                <a:cs typeface="Times New Roman" pitchFamily="18" charset="0"/>
              </a:rPr>
              <a:t>Swap</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nibbles</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in</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a:p>
            <a:pPr>
              <a:lnSpc>
                <a:spcPts val="1000"/>
              </a:lnSpc>
            </a:pPr>
            <a:endParaRPr lang="en-US" altLang="zh-CN" dirty="0" smtClean="0"/>
          </a:p>
          <a:p>
            <a:pPr>
              <a:lnSpc>
                <a:spcPts val="1500"/>
              </a:lnSpc>
              <a:tabLst/>
            </a:pPr>
            <a:r>
              <a:rPr lang="en-US" altLang="zh-CN" sz="1542" b="1" dirty="0" smtClean="0">
                <a:solidFill>
                  <a:srgbClr val="000000"/>
                </a:solidFill>
                <a:latin typeface="Times New Roman" pitchFamily="18" charset="0"/>
                <a:cs typeface="Times New Roman" pitchFamily="18" charset="0"/>
              </a:rPr>
              <a:t>Exclusive</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OR</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with</a:t>
            </a:r>
            <a:r>
              <a:rPr lang="en-US" altLang="zh-CN" sz="1542" dirty="0" smtClean="0">
                <a:latin typeface="Times New Roman" pitchFamily="18" charset="0"/>
                <a:cs typeface="Times New Roman" pitchFamily="18" charset="0"/>
              </a:rPr>
              <a:t> </a:t>
            </a:r>
            <a:r>
              <a:rPr lang="en-US" altLang="zh-CN" sz="1542" b="1" dirty="0" smtClean="0">
                <a:solidFill>
                  <a:srgbClr val="000000"/>
                </a:solidFill>
                <a:latin typeface="Times New Roman" pitchFamily="18" charset="0"/>
                <a:cs typeface="Times New Roman" pitchFamily="18" charset="0"/>
              </a:rPr>
              <a:t>f</a:t>
            </a:r>
          </a:p>
        </p:txBody>
      </p:sp>
    </p:spTree>
    <p:extLst>
      <p:ext uri="{BB962C8B-B14F-4D97-AF65-F5344CB8AC3E}">
        <p14:creationId xmlns:p14="http://schemas.microsoft.com/office/powerpoint/2010/main" val="26385076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155700" y="1171583"/>
            <a:ext cx="8462313" cy="6189654"/>
          </a:xfrm>
          <a:prstGeom prst="rect">
            <a:avLst/>
          </a:prstGeom>
        </p:spPr>
      </p:pic>
      <p:sp>
        <p:nvSpPr>
          <p:cNvPr id="5" name="CuadroTexto 4"/>
          <p:cNvSpPr txBox="1"/>
          <p:nvPr/>
        </p:nvSpPr>
        <p:spPr>
          <a:xfrm>
            <a:off x="981293" y="427037"/>
            <a:ext cx="8480207" cy="584775"/>
          </a:xfrm>
          <a:prstGeom prst="rect">
            <a:avLst/>
          </a:prstGeom>
          <a:noFill/>
        </p:spPr>
        <p:txBody>
          <a:bodyPr wrap="none" rtlCol="0">
            <a:spAutoFit/>
          </a:bodyPr>
          <a:lstStyle/>
          <a:p>
            <a:r>
              <a:rPr lang="es-ES" sz="3200" i="1" u="sng" dirty="0">
                <a:solidFill>
                  <a:srgbClr val="FF0000"/>
                </a:solidFill>
                <a:effectLst>
                  <a:outerShdw blurRad="38100" dist="38100" dir="2700000" algn="tl">
                    <a:srgbClr val="000000">
                      <a:alpha val="43137"/>
                    </a:srgbClr>
                  </a:outerShdw>
                </a:effectLst>
              </a:rPr>
              <a:t>01 El lenguaje ensamblador del PIC16F84A V1.pdf</a:t>
            </a:r>
          </a:p>
        </p:txBody>
      </p:sp>
    </p:spTree>
    <p:extLst>
      <p:ext uri="{BB962C8B-B14F-4D97-AF65-F5344CB8AC3E}">
        <p14:creationId xmlns:p14="http://schemas.microsoft.com/office/powerpoint/2010/main" val="38850418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Guía de Lectura</a:t>
            </a:r>
            <a:endParaRPr lang="es-ES" dirty="0"/>
          </a:p>
        </p:txBody>
      </p:sp>
      <p:sp>
        <p:nvSpPr>
          <p:cNvPr id="3" name="Marcador de contenido 2"/>
          <p:cNvSpPr>
            <a:spLocks noGrp="1"/>
          </p:cNvSpPr>
          <p:nvPr>
            <p:ph idx="1"/>
          </p:nvPr>
        </p:nvSpPr>
        <p:spPr>
          <a:xfrm>
            <a:off x="457200" y="1189037"/>
            <a:ext cx="8229600" cy="6172199"/>
          </a:xfrm>
        </p:spPr>
        <p:txBody>
          <a:bodyPr>
            <a:normAutofit/>
          </a:bodyPr>
          <a:lstStyle/>
          <a:p>
            <a:pPr marL="0" indent="0">
              <a:buNone/>
            </a:pPr>
            <a:r>
              <a:rPr lang="es-ES" sz="4200" dirty="0" smtClean="0">
                <a:hlinkClick r:id="rId2"/>
              </a:rPr>
              <a:t>www.licrgarcia.webnode.com.ar</a:t>
            </a:r>
            <a:endParaRPr lang="es-ES" sz="4200" dirty="0" smtClean="0"/>
          </a:p>
          <a:p>
            <a:pPr marL="0" indent="0">
              <a:buNone/>
            </a:pPr>
            <a:r>
              <a:rPr lang="es-ES" sz="2200" dirty="0"/>
              <a:t>01 El lenguaje ensamblador del PIC16F84A V1.pdf</a:t>
            </a:r>
            <a:endParaRPr lang="es-ES" sz="2200" dirty="0" smtClean="0"/>
          </a:p>
          <a:p>
            <a:pPr marL="0" indent="0">
              <a:buNone/>
            </a:pPr>
            <a:endParaRPr lang="es-ES" sz="2200" dirty="0" smtClean="0"/>
          </a:p>
        </p:txBody>
      </p:sp>
    </p:spTree>
    <p:extLst>
      <p:ext uri="{BB962C8B-B14F-4D97-AF65-F5344CB8AC3E}">
        <p14:creationId xmlns:p14="http://schemas.microsoft.com/office/powerpoint/2010/main" val="270118577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36700" y="2130425"/>
            <a:ext cx="7772400" cy="1470025"/>
          </a:xfrm>
        </p:spPr>
        <p:txBody>
          <a:bodyPr/>
          <a:lstStyle/>
          <a:p>
            <a:r>
              <a:rPr lang="es-ES" sz="4409" b="1" i="1" u="sng" dirty="0" smtClean="0">
                <a:solidFill>
                  <a:srgbClr val="FF0000"/>
                </a:solidFill>
                <a:latin typeface="Arial" pitchFamily="34" charset="0"/>
                <a:ea typeface="+mn-ea"/>
                <a:cs typeface="Arial" pitchFamily="34" charset="0"/>
              </a:rPr>
              <a:t>Configuración</a:t>
            </a:r>
            <a:r>
              <a:rPr lang="es-ES" b="1" i="1" u="sng" dirty="0" smtClean="0">
                <a:solidFill>
                  <a:srgbClr val="FF0000"/>
                </a:solidFill>
              </a:rPr>
              <a:t> Básica MP LAB</a:t>
            </a:r>
            <a:endParaRPr lang="es-ES" b="1" i="1" u="sng" dirty="0">
              <a:solidFill>
                <a:srgbClr val="FF0000"/>
              </a:solidFill>
            </a:endParaRPr>
          </a:p>
        </p:txBody>
      </p:sp>
      <p:sp>
        <p:nvSpPr>
          <p:cNvPr id="4" name="3 Subtítulo"/>
          <p:cNvSpPr>
            <a:spLocks noGrp="1"/>
          </p:cNvSpPr>
          <p:nvPr>
            <p:ph type="subTitle" idx="1"/>
          </p:nvPr>
        </p:nvSpPr>
        <p:spPr/>
        <p:txBody>
          <a:bodyPr/>
          <a:lstStyle/>
          <a:p>
            <a:endParaRPr lang="es-AR"/>
          </a:p>
        </p:txBody>
      </p:sp>
    </p:spTree>
    <p:extLst>
      <p:ext uri="{BB962C8B-B14F-4D97-AF65-F5344CB8AC3E}">
        <p14:creationId xmlns:p14="http://schemas.microsoft.com/office/powerpoint/2010/main" val="27980673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dirty="0" err="1" smtClean="0"/>
              <a:t>MPLab</a:t>
            </a:r>
            <a:r>
              <a:rPr lang="es-ES" dirty="0" smtClean="0"/>
              <a:t> Pantalla Inicial</a:t>
            </a:r>
            <a:endParaRPr lang="es-ES" dirty="0"/>
          </a:p>
        </p:txBody>
      </p:sp>
      <p:pic>
        <p:nvPicPr>
          <p:cNvPr id="6" name="Marcador de contenido 5"/>
          <p:cNvPicPr>
            <a:picLocks noGrp="1" noChangeAspect="1"/>
          </p:cNvPicPr>
          <p:nvPr>
            <p:ph idx="1"/>
          </p:nvPr>
        </p:nvPicPr>
        <p:blipFill>
          <a:blip r:embed="rId2"/>
          <a:stretch>
            <a:fillRect/>
          </a:stretch>
        </p:blipFill>
        <p:spPr>
          <a:xfrm>
            <a:off x="1496088" y="2012413"/>
            <a:ext cx="7659110" cy="5411948"/>
          </a:xfrm>
          <a:prstGeom prst="rect">
            <a:avLst/>
          </a:prstGeom>
        </p:spPr>
      </p:pic>
    </p:spTree>
    <p:extLst>
      <p:ext uri="{BB962C8B-B14F-4D97-AF65-F5344CB8AC3E}">
        <p14:creationId xmlns:p14="http://schemas.microsoft.com/office/powerpoint/2010/main" val="12124530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smtClean="0"/>
              <a:t>MPLab</a:t>
            </a:r>
            <a:r>
              <a:rPr lang="es-ES" dirty="0" smtClean="0"/>
              <a:t> – </a:t>
            </a:r>
            <a:r>
              <a:rPr lang="es-ES" dirty="0" err="1" smtClean="0"/>
              <a:t>Proyect</a:t>
            </a:r>
            <a:r>
              <a:rPr lang="es-ES" dirty="0" smtClean="0"/>
              <a:t> </a:t>
            </a:r>
            <a:r>
              <a:rPr lang="es-ES" dirty="0" err="1" smtClean="0"/>
              <a:t>Wizard</a:t>
            </a:r>
            <a:endParaRPr lang="es-ES" dirty="0"/>
          </a:p>
        </p:txBody>
      </p:sp>
      <p:pic>
        <p:nvPicPr>
          <p:cNvPr id="4" name="Marcador de contenido 3"/>
          <p:cNvPicPr>
            <a:picLocks noGrp="1" noChangeAspect="1"/>
          </p:cNvPicPr>
          <p:nvPr>
            <p:ph idx="1"/>
          </p:nvPr>
        </p:nvPicPr>
        <p:blipFill>
          <a:blip r:embed="rId2"/>
          <a:stretch>
            <a:fillRect/>
          </a:stretch>
        </p:blipFill>
        <p:spPr>
          <a:xfrm>
            <a:off x="1537171" y="2074442"/>
            <a:ext cx="7630357" cy="5391631"/>
          </a:xfrm>
          <a:prstGeom prst="rect">
            <a:avLst/>
          </a:prstGeom>
        </p:spPr>
      </p:pic>
    </p:spTree>
    <p:extLst>
      <p:ext uri="{BB962C8B-B14F-4D97-AF65-F5344CB8AC3E}">
        <p14:creationId xmlns:p14="http://schemas.microsoft.com/office/powerpoint/2010/main" val="19729103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err="1" smtClean="0"/>
              <a:t>MPLab</a:t>
            </a:r>
            <a:r>
              <a:rPr lang="es-ES" dirty="0" smtClean="0"/>
              <a:t> – Seleccionar Microcontrolador</a:t>
            </a:r>
            <a:endParaRPr lang="es-ES" dirty="0"/>
          </a:p>
        </p:txBody>
      </p:sp>
      <p:pic>
        <p:nvPicPr>
          <p:cNvPr id="4" name="Marcador de contenido 3"/>
          <p:cNvPicPr>
            <a:picLocks noGrp="1" noChangeAspect="1"/>
          </p:cNvPicPr>
          <p:nvPr>
            <p:ph idx="1"/>
          </p:nvPr>
        </p:nvPicPr>
        <p:blipFill>
          <a:blip r:embed="rId2"/>
          <a:stretch>
            <a:fillRect/>
          </a:stretch>
        </p:blipFill>
        <p:spPr>
          <a:xfrm>
            <a:off x="1459074" y="2012413"/>
            <a:ext cx="7757815" cy="5481694"/>
          </a:xfrm>
          <a:prstGeom prst="rect">
            <a:avLst/>
          </a:prstGeom>
        </p:spPr>
      </p:pic>
    </p:spTree>
    <p:extLst>
      <p:ext uri="{BB962C8B-B14F-4D97-AF65-F5344CB8AC3E}">
        <p14:creationId xmlns:p14="http://schemas.microsoft.com/office/powerpoint/2010/main" val="42031976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sz="4000" dirty="0" err="1" smtClean="0"/>
              <a:t>MPLab</a:t>
            </a:r>
            <a:r>
              <a:rPr lang="es-ES" sz="4000" dirty="0" smtClean="0"/>
              <a:t> – Seleccionar Lenguaje de Programación</a:t>
            </a:r>
            <a:endParaRPr lang="es-ES" sz="4000" dirty="0"/>
          </a:p>
        </p:txBody>
      </p:sp>
      <p:pic>
        <p:nvPicPr>
          <p:cNvPr id="4" name="Marcador de contenido 3"/>
          <p:cNvPicPr>
            <a:picLocks noGrp="1" noChangeAspect="1"/>
          </p:cNvPicPr>
          <p:nvPr>
            <p:ph idx="1"/>
          </p:nvPr>
        </p:nvPicPr>
        <p:blipFill>
          <a:blip r:embed="rId2"/>
          <a:stretch>
            <a:fillRect/>
          </a:stretch>
        </p:blipFill>
        <p:spPr>
          <a:xfrm>
            <a:off x="-62857" y="960437"/>
            <a:ext cx="10286357" cy="6599238"/>
          </a:xfrm>
          <a:prstGeom prst="rect">
            <a:avLst/>
          </a:prstGeom>
        </p:spPr>
      </p:pic>
    </p:spTree>
    <p:extLst>
      <p:ext uri="{BB962C8B-B14F-4D97-AF65-F5344CB8AC3E}">
        <p14:creationId xmlns:p14="http://schemas.microsoft.com/office/powerpoint/2010/main" val="18417919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smtClean="0"/>
              <a:t>MPLab</a:t>
            </a:r>
            <a:r>
              <a:rPr lang="es-ES" dirty="0" smtClean="0"/>
              <a:t> – Identificar Proyecto</a:t>
            </a:r>
            <a:endParaRPr lang="es-ES" dirty="0"/>
          </a:p>
        </p:txBody>
      </p:sp>
      <p:pic>
        <p:nvPicPr>
          <p:cNvPr id="4" name="Marcador de contenido 3"/>
          <p:cNvPicPr>
            <a:picLocks noGrp="1" noChangeAspect="1"/>
          </p:cNvPicPr>
          <p:nvPr>
            <p:ph idx="1"/>
          </p:nvPr>
        </p:nvPicPr>
        <p:blipFill>
          <a:blip r:embed="rId2"/>
          <a:stretch>
            <a:fillRect/>
          </a:stretch>
        </p:blipFill>
        <p:spPr>
          <a:xfrm>
            <a:off x="1437893" y="2012413"/>
            <a:ext cx="7850609" cy="5547262"/>
          </a:xfrm>
          <a:prstGeom prst="rect">
            <a:avLst/>
          </a:prstGeom>
        </p:spPr>
      </p:pic>
    </p:spTree>
    <p:extLst>
      <p:ext uri="{BB962C8B-B14F-4D97-AF65-F5344CB8AC3E}">
        <p14:creationId xmlns:p14="http://schemas.microsoft.com/office/powerpoint/2010/main" val="15799964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460500" y="1189037"/>
            <a:ext cx="7648346" cy="5404342"/>
          </a:xfrm>
          <a:prstGeom prst="rect">
            <a:avLst/>
          </a:prstGeom>
        </p:spPr>
      </p:pic>
    </p:spTree>
    <p:extLst>
      <p:ext uri="{BB962C8B-B14F-4D97-AF65-F5344CB8AC3E}">
        <p14:creationId xmlns:p14="http://schemas.microsoft.com/office/powerpoint/2010/main" val="327330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p:cNvPicPr>
            <a:picLocks noGrp="1" noChangeAspect="1"/>
          </p:cNvPicPr>
          <p:nvPr>
            <p:ph idx="1"/>
          </p:nvPr>
        </p:nvPicPr>
        <p:blipFill>
          <a:blip r:embed="rId2"/>
          <a:stretch>
            <a:fillRect/>
          </a:stretch>
        </p:blipFill>
        <p:spPr>
          <a:xfrm>
            <a:off x="1425921" y="1341437"/>
            <a:ext cx="7850609" cy="5547262"/>
          </a:xfrm>
          <a:prstGeom prst="rect">
            <a:avLst/>
          </a:prstGeom>
        </p:spPr>
      </p:pic>
      <p:sp>
        <p:nvSpPr>
          <p:cNvPr id="5" name="Título 1"/>
          <p:cNvSpPr>
            <a:spLocks noGrp="1"/>
          </p:cNvSpPr>
          <p:nvPr>
            <p:ph type="title"/>
          </p:nvPr>
        </p:nvSpPr>
        <p:spPr>
          <a:xfrm>
            <a:off x="457200" y="274638"/>
            <a:ext cx="8229600" cy="1143000"/>
          </a:xfrm>
        </p:spPr>
        <p:txBody>
          <a:bodyPr>
            <a:normAutofit/>
          </a:bodyPr>
          <a:lstStyle/>
          <a:p>
            <a:r>
              <a:rPr lang="es-ES" dirty="0" err="1" smtClean="0"/>
              <a:t>MPLab</a:t>
            </a:r>
            <a:r>
              <a:rPr lang="es-ES" dirty="0" smtClean="0"/>
              <a:t> – Estructura de un Proyecto</a:t>
            </a:r>
            <a:endParaRPr lang="es-ES" dirty="0"/>
          </a:p>
        </p:txBody>
      </p:sp>
    </p:spTree>
    <p:extLst>
      <p:ext uri="{BB962C8B-B14F-4D97-AF65-F5344CB8AC3E}">
        <p14:creationId xmlns:p14="http://schemas.microsoft.com/office/powerpoint/2010/main" val="33767056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Menú </a:t>
            </a:r>
            <a:r>
              <a:rPr lang="es-ES" dirty="0"/>
              <a:t>Project, </a:t>
            </a:r>
            <a:r>
              <a:rPr lang="es-ES" dirty="0" err="1"/>
              <a:t>Build</a:t>
            </a:r>
            <a:r>
              <a:rPr lang="es-ES" dirty="0"/>
              <a:t> </a:t>
            </a:r>
            <a:r>
              <a:rPr lang="es-ES" dirty="0" err="1"/>
              <a:t>options</a:t>
            </a:r>
            <a:endParaRPr lang="es-ES" dirty="0"/>
          </a:p>
        </p:txBody>
      </p:sp>
      <p:pic>
        <p:nvPicPr>
          <p:cNvPr id="4" name="Marcador de contenido 3"/>
          <p:cNvPicPr>
            <a:picLocks noGrp="1" noChangeAspect="1"/>
          </p:cNvPicPr>
          <p:nvPr>
            <p:ph idx="1"/>
          </p:nvPr>
        </p:nvPicPr>
        <p:blipFill>
          <a:blip r:embed="rId2"/>
          <a:stretch>
            <a:fillRect/>
          </a:stretch>
        </p:blipFill>
        <p:spPr>
          <a:xfrm>
            <a:off x="6095465" y="1485240"/>
            <a:ext cx="3862764" cy="5982460"/>
          </a:xfrm>
          <a:prstGeom prst="rect">
            <a:avLst/>
          </a:prstGeom>
        </p:spPr>
      </p:pic>
      <p:sp>
        <p:nvSpPr>
          <p:cNvPr id="5" name="CuadroTexto 4"/>
          <p:cNvSpPr txBox="1"/>
          <p:nvPr/>
        </p:nvSpPr>
        <p:spPr>
          <a:xfrm>
            <a:off x="550630" y="2392017"/>
            <a:ext cx="4796070" cy="3416320"/>
          </a:xfrm>
          <a:prstGeom prst="rect">
            <a:avLst/>
          </a:prstGeom>
          <a:noFill/>
        </p:spPr>
        <p:txBody>
          <a:bodyPr wrap="square" rtlCol="0">
            <a:spAutoFit/>
          </a:bodyPr>
          <a:lstStyle/>
          <a:p>
            <a:pPr marL="342900" indent="-342900">
              <a:buFont typeface="+mj-lt"/>
              <a:buAutoNum type="arabicPeriod"/>
            </a:pPr>
            <a:r>
              <a:rPr lang="es-ES" b="1" dirty="0" smtClean="0">
                <a:effectLst>
                  <a:outerShdw blurRad="38100" dist="38100" dir="2700000" algn="tl">
                    <a:srgbClr val="000000">
                      <a:alpha val="43137"/>
                    </a:srgbClr>
                  </a:outerShdw>
                </a:effectLst>
              </a:rPr>
              <a:t>Ir </a:t>
            </a:r>
            <a:r>
              <a:rPr lang="es-ES" b="1" dirty="0">
                <a:effectLst>
                  <a:outerShdw blurRad="38100" dist="38100" dir="2700000" algn="tl">
                    <a:srgbClr val="000000">
                      <a:alpha val="43137"/>
                    </a:srgbClr>
                  </a:outerShdw>
                </a:effectLst>
              </a:rPr>
              <a:t>al menú Project, </a:t>
            </a:r>
            <a:r>
              <a:rPr lang="es-ES" b="1" dirty="0" err="1">
                <a:effectLst>
                  <a:outerShdw blurRad="38100" dist="38100" dir="2700000" algn="tl">
                    <a:srgbClr val="000000">
                      <a:alpha val="43137"/>
                    </a:srgbClr>
                  </a:outerShdw>
                </a:effectLst>
              </a:rPr>
              <a:t>Build</a:t>
            </a:r>
            <a:r>
              <a:rPr lang="es-ES" b="1" dirty="0">
                <a:effectLst>
                  <a:outerShdw blurRad="38100" dist="38100" dir="2700000" algn="tl">
                    <a:srgbClr val="000000">
                      <a:alpha val="43137"/>
                    </a:srgbClr>
                  </a:outerShdw>
                </a:effectLst>
              </a:rPr>
              <a:t> </a:t>
            </a:r>
            <a:r>
              <a:rPr lang="es-ES" b="1" dirty="0" err="1">
                <a:effectLst>
                  <a:outerShdw blurRad="38100" dist="38100" dir="2700000" algn="tl">
                    <a:srgbClr val="000000">
                      <a:alpha val="43137"/>
                    </a:srgbClr>
                  </a:outerShdw>
                </a:effectLst>
              </a:rPr>
              <a:t>options</a:t>
            </a:r>
            <a:r>
              <a:rPr lang="es-ES" b="1" dirty="0">
                <a:effectLst>
                  <a:outerShdw blurRad="38100" dist="38100" dir="2700000" algn="tl">
                    <a:srgbClr val="000000">
                      <a:alpha val="43137"/>
                    </a:srgbClr>
                  </a:outerShdw>
                </a:effectLst>
              </a:rPr>
              <a:t> y elegir la solapa para configurar el MPASM </a:t>
            </a:r>
            <a:r>
              <a:rPr lang="es-ES" b="1" dirty="0" err="1">
                <a:effectLst>
                  <a:outerShdw blurRad="38100" dist="38100" dir="2700000" algn="tl">
                    <a:srgbClr val="000000">
                      <a:alpha val="43137"/>
                    </a:srgbClr>
                  </a:outerShdw>
                </a:effectLst>
              </a:rPr>
              <a:t>Assembler</a:t>
            </a:r>
            <a:r>
              <a:rPr lang="es-ES" b="1" dirty="0" smtClean="0">
                <a:effectLst>
                  <a:outerShdw blurRad="38100" dist="38100" dir="2700000" algn="tl">
                    <a:srgbClr val="000000">
                      <a:alpha val="43137"/>
                    </a:srgbClr>
                  </a:outerShdw>
                </a:effectLst>
              </a:rPr>
              <a:t>.</a:t>
            </a:r>
          </a:p>
          <a:p>
            <a:pPr marL="342900" indent="-342900">
              <a:buFont typeface="+mj-lt"/>
              <a:buAutoNum type="arabicPeriod"/>
            </a:pPr>
            <a:endParaRPr lang="es-ES" b="1" dirty="0">
              <a:effectLst>
                <a:outerShdw blurRad="38100" dist="38100" dir="2700000" algn="tl">
                  <a:srgbClr val="000000">
                    <a:alpha val="43137"/>
                  </a:srgbClr>
                </a:outerShdw>
              </a:effectLst>
            </a:endParaRPr>
          </a:p>
          <a:p>
            <a:pPr marL="342900" indent="-342900">
              <a:buFont typeface="+mj-lt"/>
              <a:buAutoNum type="arabicPeriod"/>
            </a:pPr>
            <a:r>
              <a:rPr lang="es-ES" b="1" dirty="0">
                <a:effectLst>
                  <a:outerShdw blurRad="38100" dist="38100" dir="2700000" algn="tl">
                    <a:srgbClr val="000000">
                      <a:alpha val="43137"/>
                    </a:srgbClr>
                  </a:outerShdw>
                </a:effectLst>
              </a:rPr>
              <a:t>Tildar la opción para deshabilitar la distinción entre mayúsculas y minúsculas, de forma que si editamos el programa con minúsculas, el ensamblador reconozca el archivo de encabezado que habitualmente está escrito en mayúsculas. </a:t>
            </a:r>
            <a:endParaRPr lang="es-ES" b="1" dirty="0" smtClean="0">
              <a:effectLst>
                <a:outerShdw blurRad="38100" dist="38100" dir="2700000" algn="tl">
                  <a:srgbClr val="000000">
                    <a:alpha val="43137"/>
                  </a:srgbClr>
                </a:outerShdw>
              </a:effectLst>
            </a:endParaRPr>
          </a:p>
          <a:p>
            <a:pPr marL="342900" indent="-342900">
              <a:buFont typeface="+mj-lt"/>
              <a:buAutoNum type="arabicPeriod"/>
            </a:pPr>
            <a:endParaRPr lang="es-ES" b="1" dirty="0" smtClean="0">
              <a:effectLst>
                <a:outerShdw blurRad="38100" dist="38100" dir="2700000" algn="tl">
                  <a:srgbClr val="000000">
                    <a:alpha val="43137"/>
                  </a:srgbClr>
                </a:outerShdw>
              </a:effectLst>
            </a:endParaRPr>
          </a:p>
          <a:p>
            <a:pPr marL="342900" indent="-342900">
              <a:buFont typeface="+mj-lt"/>
              <a:buAutoNum type="arabicPeriod"/>
            </a:pPr>
            <a:r>
              <a:rPr lang="es-ES" b="1" dirty="0" smtClean="0">
                <a:effectLst>
                  <a:outerShdw blurRad="38100" dist="38100" dir="2700000" algn="tl">
                    <a:srgbClr val="000000">
                      <a:alpha val="43137"/>
                    </a:srgbClr>
                  </a:outerShdw>
                </a:effectLst>
              </a:rPr>
              <a:t>Verificar </a:t>
            </a:r>
            <a:r>
              <a:rPr lang="es-ES" b="1" dirty="0">
                <a:effectLst>
                  <a:outerShdw blurRad="38100" dist="38100" dir="2700000" algn="tl">
                    <a:srgbClr val="000000">
                      <a:alpha val="43137"/>
                    </a:srgbClr>
                  </a:outerShdw>
                </a:effectLst>
              </a:rPr>
              <a:t>la opción de que trabaje en hexadecimal por defecto</a:t>
            </a:r>
            <a:r>
              <a:rPr lang="es-ES" b="1" dirty="0" smtClean="0">
                <a:effectLst>
                  <a:outerShdw blurRad="38100" dist="38100" dir="2700000" algn="tl">
                    <a:srgbClr val="000000">
                      <a:alpha val="43137"/>
                    </a:srgbClr>
                  </a:outerShdw>
                </a:effectLst>
              </a:rPr>
              <a:t>.</a:t>
            </a:r>
            <a:endParaRPr lang="es-ES" b="1" dirty="0">
              <a:effectLst>
                <a:outerShdw blurRad="38100" dist="38100" dir="2700000" algn="tl">
                  <a:srgbClr val="000000">
                    <a:alpha val="43137"/>
                  </a:srgbClr>
                </a:outerShdw>
              </a:effectLst>
            </a:endParaRPr>
          </a:p>
        </p:txBody>
      </p:sp>
      <p:sp>
        <p:nvSpPr>
          <p:cNvPr id="3" name="2 Elipse"/>
          <p:cNvSpPr/>
          <p:nvPr/>
        </p:nvSpPr>
        <p:spPr>
          <a:xfrm>
            <a:off x="6489700" y="3094037"/>
            <a:ext cx="17526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8318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8907747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Simulador - </a:t>
            </a:r>
            <a:r>
              <a:rPr lang="es-ES" dirty="0" err="1" smtClean="0"/>
              <a:t>Seteo</a:t>
            </a:r>
            <a:endParaRPr lang="es-ES" dirty="0"/>
          </a:p>
        </p:txBody>
      </p:sp>
      <p:sp>
        <p:nvSpPr>
          <p:cNvPr id="4" name="CuadroTexto 3"/>
          <p:cNvSpPr txBox="1"/>
          <p:nvPr/>
        </p:nvSpPr>
        <p:spPr>
          <a:xfrm>
            <a:off x="735172" y="2354918"/>
            <a:ext cx="4495816" cy="3693319"/>
          </a:xfrm>
          <a:prstGeom prst="rect">
            <a:avLst/>
          </a:prstGeom>
          <a:noFill/>
        </p:spPr>
        <p:txBody>
          <a:bodyPr wrap="square" rtlCol="0">
            <a:spAutoFit/>
          </a:bodyPr>
          <a:lstStyle/>
          <a:p>
            <a:r>
              <a:rPr lang="es-ES" b="1" dirty="0">
                <a:effectLst>
                  <a:outerShdw blurRad="38100" dist="38100" dir="2700000" algn="tl">
                    <a:srgbClr val="000000">
                      <a:alpha val="43137"/>
                    </a:srgbClr>
                  </a:outerShdw>
                </a:effectLst>
              </a:rPr>
              <a:t>Lo siguiente es elegir la herramienta para depuración (</a:t>
            </a:r>
            <a:r>
              <a:rPr lang="es-ES" b="1" dirty="0" err="1">
                <a:effectLst>
                  <a:outerShdw blurRad="38100" dist="38100" dir="2700000" algn="tl">
                    <a:srgbClr val="000000">
                      <a:alpha val="43137"/>
                    </a:srgbClr>
                  </a:outerShdw>
                </a:effectLst>
              </a:rPr>
              <a:t>debugger</a:t>
            </a:r>
            <a:r>
              <a:rPr lang="es-ES" b="1" dirty="0" smtClean="0">
                <a:effectLst>
                  <a:outerShdw blurRad="38100" dist="38100" dir="2700000" algn="tl">
                    <a:srgbClr val="000000">
                      <a:alpha val="43137"/>
                    </a:srgbClr>
                  </a:outerShdw>
                </a:effectLst>
              </a:rPr>
              <a:t>)</a:t>
            </a:r>
          </a:p>
          <a:p>
            <a:pPr marL="342900" indent="-342900">
              <a:buFont typeface="+mj-lt"/>
              <a:buAutoNum type="arabicPeriod"/>
            </a:pPr>
            <a:r>
              <a:rPr lang="es-ES" b="1" dirty="0" smtClean="0">
                <a:effectLst>
                  <a:outerShdw blurRad="38100" dist="38100" dir="2700000" algn="tl">
                    <a:srgbClr val="000000">
                      <a:alpha val="43137"/>
                    </a:srgbClr>
                  </a:outerShdw>
                </a:effectLst>
              </a:rPr>
              <a:t>Tildamos </a:t>
            </a:r>
            <a:r>
              <a:rPr lang="es-ES" b="1" dirty="0" err="1" smtClean="0">
                <a:effectLst>
                  <a:outerShdw blurRad="38100" dist="38100" dir="2700000" algn="tl">
                    <a:srgbClr val="000000">
                      <a:alpha val="43137"/>
                    </a:srgbClr>
                  </a:outerShdw>
                </a:effectLst>
              </a:rPr>
              <a:t>MPLabSim</a:t>
            </a:r>
            <a:r>
              <a:rPr lang="es-ES" b="1" dirty="0" smtClean="0">
                <a:effectLst>
                  <a:outerShdw blurRad="38100" dist="38100" dir="2700000" algn="tl">
                    <a:srgbClr val="000000">
                      <a:alpha val="43137"/>
                    </a:srgbClr>
                  </a:outerShdw>
                </a:effectLst>
              </a:rPr>
              <a:t>.</a:t>
            </a:r>
          </a:p>
          <a:p>
            <a:pPr marL="342900" indent="-342900">
              <a:buFont typeface="+mj-lt"/>
              <a:buAutoNum type="arabicPeriod"/>
            </a:pPr>
            <a:endParaRPr lang="es-ES" b="1" dirty="0" smtClean="0">
              <a:effectLst>
                <a:outerShdw blurRad="38100" dist="38100" dir="2700000" algn="tl">
                  <a:srgbClr val="000000">
                    <a:alpha val="43137"/>
                  </a:srgbClr>
                </a:outerShdw>
              </a:effectLst>
            </a:endParaRPr>
          </a:p>
          <a:p>
            <a:pPr marL="342900" indent="-342900">
              <a:buFont typeface="+mj-lt"/>
              <a:buAutoNum type="arabicPeriod"/>
            </a:pPr>
            <a:r>
              <a:rPr lang="es-ES" b="1" dirty="0" smtClean="0">
                <a:effectLst>
                  <a:outerShdw blurRad="38100" dist="38100" dir="2700000" algn="tl">
                    <a:srgbClr val="000000">
                      <a:alpha val="43137"/>
                    </a:srgbClr>
                  </a:outerShdw>
                </a:effectLst>
              </a:rPr>
              <a:t>Después </a:t>
            </a:r>
            <a:r>
              <a:rPr lang="es-ES" b="1" dirty="0">
                <a:effectLst>
                  <a:outerShdw blurRad="38100" dist="38100" dir="2700000" algn="tl">
                    <a:srgbClr val="000000">
                      <a:alpha val="43137"/>
                    </a:srgbClr>
                  </a:outerShdw>
                </a:effectLst>
              </a:rPr>
              <a:t>de esta elección debería aparecer una barra de herramientas que nos permitirá compilar y correr la compilación, ejecutar instrucción por instrucción, colocar puntos de detención, etc.; es decir serán las herramientas de depuración de nuestro programa (subrutina, función).</a:t>
            </a:r>
          </a:p>
          <a:p>
            <a:endParaRPr lang="es-ES" dirty="0"/>
          </a:p>
        </p:txBody>
      </p:sp>
      <p:pic>
        <p:nvPicPr>
          <p:cNvPr id="5" name="Imagen 4"/>
          <p:cNvPicPr>
            <a:picLocks noChangeAspect="1"/>
          </p:cNvPicPr>
          <p:nvPr/>
        </p:nvPicPr>
        <p:blipFill>
          <a:blip r:embed="rId2"/>
          <a:stretch>
            <a:fillRect/>
          </a:stretch>
        </p:blipFill>
        <p:spPr>
          <a:xfrm>
            <a:off x="5892280" y="1189037"/>
            <a:ext cx="4102620" cy="5562599"/>
          </a:xfrm>
          <a:prstGeom prst="rect">
            <a:avLst/>
          </a:prstGeom>
        </p:spPr>
      </p:pic>
      <p:sp>
        <p:nvSpPr>
          <p:cNvPr id="6" name="5 Elipse"/>
          <p:cNvSpPr/>
          <p:nvPr/>
        </p:nvSpPr>
        <p:spPr>
          <a:xfrm>
            <a:off x="6032500" y="41608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Elipse"/>
          <p:cNvSpPr/>
          <p:nvPr/>
        </p:nvSpPr>
        <p:spPr>
          <a:xfrm>
            <a:off x="6032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7 Elipse"/>
          <p:cNvSpPr/>
          <p:nvPr/>
        </p:nvSpPr>
        <p:spPr>
          <a:xfrm>
            <a:off x="8318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5788360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35172" y="1722437"/>
            <a:ext cx="4328233" cy="4796544"/>
          </a:xfrm>
        </p:spPr>
        <p:txBody>
          <a:bodyPr>
            <a:normAutofit fontScale="92500" lnSpcReduction="20000"/>
          </a:bodyPr>
          <a:lstStyle/>
          <a:p>
            <a:r>
              <a:rPr lang="es-ES" dirty="0"/>
              <a:t>Lo que deberemos elegir a continuación es la frecuencia del reloj para la simulación: menú </a:t>
            </a:r>
            <a:r>
              <a:rPr lang="es-ES" dirty="0" err="1"/>
              <a:t>Debugger</a:t>
            </a:r>
            <a:r>
              <a:rPr lang="es-ES" dirty="0"/>
              <a:t> (depuración), </a:t>
            </a:r>
            <a:r>
              <a:rPr lang="es-ES" dirty="0" err="1"/>
              <a:t>Settings</a:t>
            </a:r>
            <a:r>
              <a:rPr lang="es-ES" dirty="0"/>
              <a:t> (configuración), solapa </a:t>
            </a:r>
            <a:r>
              <a:rPr lang="es-ES" dirty="0" err="1"/>
              <a:t>Osc</a:t>
            </a:r>
            <a:r>
              <a:rPr lang="es-ES" dirty="0"/>
              <a:t>/Trace: elegir la frecuencia en el valor que usaremos comúnmente: 4 MHz. </a:t>
            </a:r>
            <a:endParaRPr lang="es-ES" dirty="0" smtClean="0"/>
          </a:p>
          <a:p>
            <a:r>
              <a:rPr lang="es-ES" dirty="0" smtClean="0"/>
              <a:t>Se </a:t>
            </a:r>
            <a:r>
              <a:rPr lang="es-ES" dirty="0"/>
              <a:t>podría elegir la </a:t>
            </a:r>
            <a:r>
              <a:rPr lang="es-ES" dirty="0" smtClean="0"/>
              <a:t>otra</a:t>
            </a:r>
            <a:endParaRPr lang="es-ES" dirty="0"/>
          </a:p>
        </p:txBody>
      </p:sp>
      <p:pic>
        <p:nvPicPr>
          <p:cNvPr id="4" name="Imagen 3"/>
          <p:cNvPicPr>
            <a:picLocks noChangeAspect="1"/>
          </p:cNvPicPr>
          <p:nvPr/>
        </p:nvPicPr>
        <p:blipFill>
          <a:blip r:embed="rId2"/>
          <a:stretch>
            <a:fillRect/>
          </a:stretch>
        </p:blipFill>
        <p:spPr>
          <a:xfrm>
            <a:off x="5473322" y="2218853"/>
            <a:ext cx="4942556" cy="4927109"/>
          </a:xfrm>
          <a:prstGeom prst="rect">
            <a:avLst/>
          </a:prstGeom>
        </p:spPr>
      </p:pic>
      <p:sp>
        <p:nvSpPr>
          <p:cNvPr id="5" name="4 Elipse"/>
          <p:cNvSpPr/>
          <p:nvPr/>
        </p:nvSpPr>
        <p:spPr>
          <a:xfrm>
            <a:off x="5727700" y="3627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8470900" y="35512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Elipse"/>
          <p:cNvSpPr/>
          <p:nvPr/>
        </p:nvSpPr>
        <p:spPr>
          <a:xfrm>
            <a:off x="5727700" y="48466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Título 1"/>
          <p:cNvSpPr>
            <a:spLocks noGrp="1"/>
          </p:cNvSpPr>
          <p:nvPr>
            <p:ph type="title"/>
          </p:nvPr>
        </p:nvSpPr>
        <p:spPr>
          <a:xfrm>
            <a:off x="457200" y="274638"/>
            <a:ext cx="8229600" cy="1143000"/>
          </a:xfrm>
        </p:spPr>
        <p:txBody>
          <a:bodyPr/>
          <a:lstStyle/>
          <a:p>
            <a:r>
              <a:rPr lang="es-ES" dirty="0" smtClean="0"/>
              <a:t>Simulador - </a:t>
            </a:r>
            <a:r>
              <a:rPr lang="es-ES" dirty="0" err="1" smtClean="0"/>
              <a:t>Seteo</a:t>
            </a:r>
            <a:endParaRPr lang="es-ES" dirty="0"/>
          </a:p>
        </p:txBody>
      </p:sp>
    </p:spTree>
    <p:extLst>
      <p:ext uri="{BB962C8B-B14F-4D97-AF65-F5344CB8AC3E}">
        <p14:creationId xmlns:p14="http://schemas.microsoft.com/office/powerpoint/2010/main" val="185627951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35171" y="1341437"/>
            <a:ext cx="4611529" cy="5562600"/>
          </a:xfrm>
        </p:spPr>
        <p:txBody>
          <a:bodyPr>
            <a:noAutofit/>
          </a:bodyPr>
          <a:lstStyle/>
          <a:p>
            <a:pPr marL="0" indent="0">
              <a:buNone/>
            </a:pPr>
            <a:r>
              <a:rPr lang="es-ES" sz="1400" b="1" dirty="0">
                <a:effectLst>
                  <a:outerShdw blurRad="38100" dist="38100" dir="2700000" algn="tl">
                    <a:srgbClr val="000000">
                      <a:alpha val="43137"/>
                    </a:srgbClr>
                  </a:outerShdw>
                </a:effectLst>
              </a:rPr>
              <a:t>Ahora sigue configurar al PIC, a través de la “palabra de configuración”. Esta palabra puede estar definida en el programa o aquí.</a:t>
            </a:r>
          </a:p>
          <a:p>
            <a:pPr marL="0" indent="0">
              <a:buNone/>
            </a:pPr>
            <a:r>
              <a:rPr lang="es-ES" sz="1400" b="1" dirty="0">
                <a:effectLst>
                  <a:outerShdw blurRad="38100" dist="38100" dir="2700000" algn="tl">
                    <a:srgbClr val="000000">
                      <a:alpha val="43137"/>
                    </a:srgbClr>
                  </a:outerShdw>
                </a:effectLst>
              </a:rPr>
              <a:t>Esta palabra establece los siguientes parámetros para el funcionamiento del PIC:</a:t>
            </a:r>
          </a:p>
          <a:p>
            <a:pPr marL="514350" lvl="0" indent="-514350">
              <a:buFont typeface="+mj-lt"/>
              <a:buAutoNum type="arabicPeriod"/>
            </a:pPr>
            <a:r>
              <a:rPr lang="es-ES" sz="1400" b="1" dirty="0">
                <a:effectLst>
                  <a:outerShdw blurRad="38100" dist="38100" dir="2700000" algn="tl">
                    <a:srgbClr val="000000">
                      <a:alpha val="43137"/>
                    </a:srgbClr>
                  </a:outerShdw>
                </a:effectLst>
              </a:rPr>
              <a:t>El tipo de reloj (oscilador) que va a usar (interno, externo, por cristal, etc.) Nosotros usaremos el RC interno porque no necesitamos una precisión extrema y no inutilizamos dos de las patas de E/S del PIC.</a:t>
            </a:r>
          </a:p>
          <a:p>
            <a:pPr marL="514350" lvl="0" indent="-514350">
              <a:buFont typeface="+mj-lt"/>
              <a:buAutoNum type="arabicPeriod"/>
            </a:pPr>
            <a:r>
              <a:rPr lang="es-ES" sz="1400" b="1" dirty="0">
                <a:effectLst>
                  <a:outerShdw blurRad="38100" dist="38100" dir="2700000" algn="tl">
                    <a:srgbClr val="000000">
                      <a:alpha val="43137"/>
                    </a:srgbClr>
                  </a:outerShdw>
                </a:effectLst>
              </a:rPr>
              <a:t>El </a:t>
            </a:r>
            <a:r>
              <a:rPr lang="es-ES" sz="1400" b="1" dirty="0" err="1">
                <a:effectLst>
                  <a:outerShdw blurRad="38100" dist="38100" dir="2700000" algn="tl">
                    <a:srgbClr val="000000">
                      <a:alpha val="43137"/>
                    </a:srgbClr>
                  </a:outerShdw>
                </a:effectLst>
              </a:rPr>
              <a:t>timer</a:t>
            </a:r>
            <a:r>
              <a:rPr lang="es-ES" sz="1400" b="1" dirty="0">
                <a:effectLst>
                  <a:outerShdw blurRad="38100" dist="38100" dir="2700000" algn="tl">
                    <a:srgbClr val="000000">
                      <a:alpha val="43137"/>
                    </a:srgbClr>
                  </a:outerShdw>
                </a:effectLst>
              </a:rPr>
              <a:t> denominado ”perro guardián” lo usaremos deshabilitado</a:t>
            </a:r>
          </a:p>
          <a:p>
            <a:pPr marL="514350" lvl="0" indent="-514350">
              <a:buFont typeface="+mj-lt"/>
              <a:buAutoNum type="arabicPeriod"/>
            </a:pPr>
            <a:r>
              <a:rPr lang="es-ES" sz="1400" b="1" dirty="0">
                <a:effectLst>
                  <a:outerShdw blurRad="38100" dist="38100" dir="2700000" algn="tl">
                    <a:srgbClr val="000000">
                      <a:alpha val="43137"/>
                    </a:srgbClr>
                  </a:outerShdw>
                </a:effectLst>
              </a:rPr>
              <a:t>El </a:t>
            </a:r>
            <a:r>
              <a:rPr lang="es-ES" sz="1400" b="1" dirty="0" err="1">
                <a:effectLst>
                  <a:outerShdw blurRad="38100" dist="38100" dir="2700000" algn="tl">
                    <a:srgbClr val="000000">
                      <a:alpha val="43137"/>
                    </a:srgbClr>
                  </a:outerShdw>
                </a:effectLst>
              </a:rPr>
              <a:t>timer</a:t>
            </a:r>
            <a:r>
              <a:rPr lang="es-ES" sz="1400" b="1" dirty="0">
                <a:effectLst>
                  <a:outerShdw blurRad="38100" dist="38100" dir="2700000" algn="tl">
                    <a:srgbClr val="000000">
                      <a:alpha val="43137"/>
                    </a:srgbClr>
                  </a:outerShdw>
                </a:effectLst>
              </a:rPr>
              <a:t> de encendido también deshabilitado</a:t>
            </a:r>
          </a:p>
          <a:p>
            <a:pPr marL="514350" lvl="0" indent="-514350">
              <a:buFont typeface="+mj-lt"/>
              <a:buAutoNum type="arabicPeriod"/>
            </a:pPr>
            <a:r>
              <a:rPr lang="es-ES" sz="1400" b="1" dirty="0">
                <a:effectLst>
                  <a:outerShdw blurRad="38100" dist="38100" dir="2700000" algn="tl">
                    <a:srgbClr val="000000">
                      <a:alpha val="43137"/>
                    </a:srgbClr>
                  </a:outerShdw>
                </a:effectLst>
              </a:rPr>
              <a:t>Habilitaremos el borrado total en un </a:t>
            </a:r>
            <a:r>
              <a:rPr lang="es-ES" sz="1400" b="1" dirty="0" err="1">
                <a:effectLst>
                  <a:outerShdw blurRad="38100" dist="38100" dir="2700000" algn="tl">
                    <a:srgbClr val="000000">
                      <a:alpha val="43137"/>
                    </a:srgbClr>
                  </a:outerShdw>
                </a:effectLst>
              </a:rPr>
              <a:t>reset</a:t>
            </a:r>
            <a:r>
              <a:rPr lang="es-ES" sz="1400" b="1" dirty="0">
                <a:effectLst>
                  <a:outerShdw blurRad="38100" dist="38100" dir="2700000" algn="tl">
                    <a:srgbClr val="000000">
                      <a:alpha val="43137"/>
                    </a:srgbClr>
                  </a:outerShdw>
                </a:effectLst>
              </a:rPr>
              <a:t>.</a:t>
            </a:r>
          </a:p>
          <a:p>
            <a:pPr marL="514350" lvl="0" indent="-514350">
              <a:buFont typeface="+mj-lt"/>
              <a:buAutoNum type="arabicPeriod"/>
            </a:pPr>
            <a:r>
              <a:rPr lang="es-ES" sz="1400" b="1" dirty="0">
                <a:effectLst>
                  <a:outerShdw blurRad="38100" dist="38100" dir="2700000" algn="tl">
                    <a:srgbClr val="000000">
                      <a:alpha val="43137"/>
                    </a:srgbClr>
                  </a:outerShdw>
                </a:effectLst>
              </a:rPr>
              <a:t>No interesa el siguiente que es la detección de apagado</a:t>
            </a:r>
          </a:p>
          <a:p>
            <a:pPr marL="514350" lvl="0" indent="-514350">
              <a:buFont typeface="+mj-lt"/>
              <a:buAutoNum type="arabicPeriod"/>
            </a:pPr>
            <a:r>
              <a:rPr lang="es-ES" sz="1400" b="1" dirty="0">
                <a:effectLst>
                  <a:outerShdw blurRad="38100" dist="38100" dir="2700000" algn="tl">
                    <a:srgbClr val="000000">
                      <a:alpha val="43137"/>
                    </a:srgbClr>
                  </a:outerShdw>
                </a:effectLst>
              </a:rPr>
              <a:t>La siguiente opción debe habilitarse para poder luego programar el PIC con tensiones normales (de lo contrario hace falta mayor tensión para programarlo)</a:t>
            </a:r>
          </a:p>
          <a:p>
            <a:pPr marL="514350" lvl="0" indent="-514350">
              <a:buFont typeface="+mj-lt"/>
              <a:buAutoNum type="arabicPeriod"/>
            </a:pPr>
            <a:r>
              <a:rPr lang="es-ES" sz="1400" b="1" dirty="0">
                <a:effectLst>
                  <a:outerShdw blurRad="38100" dist="38100" dir="2700000" algn="tl">
                    <a:srgbClr val="000000">
                      <a:alpha val="43137"/>
                    </a:srgbClr>
                  </a:outerShdw>
                </a:effectLst>
              </a:rPr>
              <a:t>Deshabilitamos la protección de lectura de la EEPROM</a:t>
            </a:r>
          </a:p>
          <a:p>
            <a:pPr marL="514350" lvl="0" indent="-514350">
              <a:buFont typeface="+mj-lt"/>
              <a:buAutoNum type="arabicPeriod"/>
            </a:pPr>
            <a:r>
              <a:rPr lang="es-ES" sz="1400" b="1" dirty="0">
                <a:effectLst>
                  <a:outerShdw blurRad="38100" dist="38100" dir="2700000" algn="tl">
                    <a:srgbClr val="000000">
                      <a:alpha val="43137"/>
                    </a:srgbClr>
                  </a:outerShdw>
                </a:effectLst>
              </a:rPr>
              <a:t>Deshabilitamos la protección del código del programa</a:t>
            </a:r>
          </a:p>
        </p:txBody>
      </p:sp>
      <p:pic>
        <p:nvPicPr>
          <p:cNvPr id="4" name="Imagen 3"/>
          <p:cNvPicPr>
            <a:picLocks noChangeAspect="1"/>
          </p:cNvPicPr>
          <p:nvPr/>
        </p:nvPicPr>
        <p:blipFill>
          <a:blip r:embed="rId2"/>
          <a:stretch>
            <a:fillRect/>
          </a:stretch>
        </p:blipFill>
        <p:spPr>
          <a:xfrm>
            <a:off x="5346700" y="2255837"/>
            <a:ext cx="5187097" cy="3017054"/>
          </a:xfrm>
          <a:prstGeom prst="rect">
            <a:avLst/>
          </a:prstGeom>
        </p:spPr>
      </p:pic>
      <p:sp>
        <p:nvSpPr>
          <p:cNvPr id="5" name="Elipse 4"/>
          <p:cNvSpPr/>
          <p:nvPr/>
        </p:nvSpPr>
        <p:spPr>
          <a:xfrm>
            <a:off x="6164666" y="3144224"/>
            <a:ext cx="251375" cy="33097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Título 1"/>
          <p:cNvSpPr>
            <a:spLocks noGrp="1"/>
          </p:cNvSpPr>
          <p:nvPr>
            <p:ph type="title"/>
          </p:nvPr>
        </p:nvSpPr>
        <p:spPr>
          <a:xfrm>
            <a:off x="457200" y="274638"/>
            <a:ext cx="8229600" cy="1143000"/>
          </a:xfrm>
        </p:spPr>
        <p:txBody>
          <a:bodyPr/>
          <a:lstStyle/>
          <a:p>
            <a:r>
              <a:rPr lang="es-ES" dirty="0" smtClean="0"/>
              <a:t>Simulador - </a:t>
            </a:r>
            <a:r>
              <a:rPr lang="es-ES" dirty="0" err="1" smtClean="0"/>
              <a:t>Seteo</a:t>
            </a:r>
            <a:endParaRPr lang="es-ES" dirty="0"/>
          </a:p>
        </p:txBody>
      </p:sp>
    </p:spTree>
    <p:extLst>
      <p:ext uri="{BB962C8B-B14F-4D97-AF65-F5344CB8AC3E}">
        <p14:creationId xmlns:p14="http://schemas.microsoft.com/office/powerpoint/2010/main" val="18872175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9385300" cy="1470025"/>
          </a:xfrm>
        </p:spPr>
        <p:txBody>
          <a:bodyPr/>
          <a:lstStyle/>
          <a:p>
            <a:r>
              <a:rPr lang="es-ES" b="1" dirty="0" smtClean="0">
                <a:solidFill>
                  <a:srgbClr val="FF0000"/>
                </a:solidFill>
                <a:effectLst>
                  <a:outerShdw blurRad="38100" dist="38100" dir="2700000" algn="tl">
                    <a:srgbClr val="000000">
                      <a:alpha val="43137"/>
                    </a:srgbClr>
                  </a:outerShdw>
                </a:effectLst>
              </a:rPr>
              <a:t>Practica Programación </a:t>
            </a:r>
            <a:r>
              <a:rPr lang="es-ES" b="1" dirty="0" err="1" smtClean="0">
                <a:solidFill>
                  <a:srgbClr val="FF0000"/>
                </a:solidFill>
                <a:effectLst>
                  <a:outerShdw blurRad="38100" dist="38100" dir="2700000" algn="tl">
                    <a:srgbClr val="000000">
                      <a:alpha val="43137"/>
                    </a:srgbClr>
                  </a:outerShdw>
                </a:effectLst>
              </a:rPr>
              <a:t>Assembler</a:t>
            </a:r>
            <a:endParaRPr lang="es-ES" b="1" dirty="0">
              <a:solidFill>
                <a:srgbClr val="FF0000"/>
              </a:solidFill>
              <a:effectLst>
                <a:outerShdw blurRad="38100" dist="38100" dir="2700000" algn="tl">
                  <a:srgbClr val="000000">
                    <a:alpha val="43137"/>
                  </a:srgbClr>
                </a:outerShdw>
              </a:effectLst>
            </a:endParaRPr>
          </a:p>
        </p:txBody>
      </p:sp>
      <p:sp>
        <p:nvSpPr>
          <p:cNvPr id="3" name="Subtítulo 2"/>
          <p:cNvSpPr>
            <a:spLocks noGrp="1"/>
          </p:cNvSpPr>
          <p:nvPr>
            <p:ph type="subTitle" idx="1"/>
          </p:nvPr>
        </p:nvSpPr>
        <p:spPr/>
        <p:txBody>
          <a:bodyPr/>
          <a:lstStyle/>
          <a:p>
            <a:r>
              <a:rPr lang="es-ES" u="sng" dirty="0" smtClean="0">
                <a:solidFill>
                  <a:schemeClr val="accent5">
                    <a:lumMod val="50000"/>
                  </a:schemeClr>
                </a:solidFill>
                <a:effectLst>
                  <a:outerShdw blurRad="38100" dist="38100" dir="2700000" algn="tl">
                    <a:srgbClr val="000000">
                      <a:alpha val="43137"/>
                    </a:srgbClr>
                  </a:outerShdw>
                </a:effectLst>
              </a:rPr>
              <a:t>Programas Simple</a:t>
            </a:r>
            <a:endParaRPr lang="es-ES" u="sng" dirty="0">
              <a:solidFill>
                <a:schemeClr val="accent5">
                  <a:lumMod val="5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168585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93700" y="847739"/>
            <a:ext cx="9829800" cy="6270516"/>
          </a:xfrm>
          <a:prstGeom prst="rect">
            <a:avLst/>
          </a:prstGeom>
        </p:spPr>
      </p:pic>
      <p:sp>
        <p:nvSpPr>
          <p:cNvPr id="3" name="CuadroTexto 2"/>
          <p:cNvSpPr txBox="1"/>
          <p:nvPr/>
        </p:nvSpPr>
        <p:spPr>
          <a:xfrm>
            <a:off x="1604011" y="293358"/>
            <a:ext cx="7529271" cy="362279"/>
          </a:xfrm>
          <a:prstGeom prst="rect">
            <a:avLst/>
          </a:prstGeom>
          <a:solidFill>
            <a:schemeClr val="tx1">
              <a:lumMod val="95000"/>
              <a:lumOff val="5000"/>
            </a:schemeClr>
          </a:solidFill>
        </p:spPr>
        <p:txBody>
          <a:bodyPr wrap="square" rtlCol="0">
            <a:spAutoFit/>
          </a:bodyPr>
          <a:lstStyle/>
          <a:p>
            <a:pPr algn="ctr"/>
            <a:r>
              <a:rPr lang="es-ES" sz="1754" b="1" dirty="0">
                <a:solidFill>
                  <a:schemeClr val="bg1"/>
                </a:solidFill>
              </a:rPr>
              <a:t>Estructura de un Programa Simple</a:t>
            </a:r>
          </a:p>
        </p:txBody>
      </p:sp>
    </p:spTree>
    <p:extLst>
      <p:ext uri="{BB962C8B-B14F-4D97-AF65-F5344CB8AC3E}">
        <p14:creationId xmlns:p14="http://schemas.microsoft.com/office/powerpoint/2010/main" val="412338024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330502" y="1218146"/>
            <a:ext cx="8054153" cy="5647164"/>
          </a:xfrm>
          <a:prstGeom prst="rect">
            <a:avLst/>
          </a:prstGeom>
        </p:spPr>
      </p:pic>
    </p:spTree>
    <p:extLst>
      <p:ext uri="{BB962C8B-B14F-4D97-AF65-F5344CB8AC3E}">
        <p14:creationId xmlns:p14="http://schemas.microsoft.com/office/powerpoint/2010/main" val="320146382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003300" y="282661"/>
            <a:ext cx="8686800" cy="7204029"/>
          </a:xfrm>
          <a:prstGeom prst="rect">
            <a:avLst/>
          </a:prstGeom>
        </p:spPr>
      </p:pic>
    </p:spTree>
    <p:extLst>
      <p:ext uri="{BB962C8B-B14F-4D97-AF65-F5344CB8AC3E}">
        <p14:creationId xmlns:p14="http://schemas.microsoft.com/office/powerpoint/2010/main" val="57198077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469900" y="410521"/>
            <a:ext cx="9677400" cy="6827421"/>
          </a:xfrm>
          <a:prstGeom prst="rect">
            <a:avLst/>
          </a:prstGeom>
        </p:spPr>
      </p:pic>
    </p:spTree>
    <p:extLst>
      <p:ext uri="{BB962C8B-B14F-4D97-AF65-F5344CB8AC3E}">
        <p14:creationId xmlns:p14="http://schemas.microsoft.com/office/powerpoint/2010/main" val="75784032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98500" y="2843212"/>
            <a:ext cx="9385300" cy="1470025"/>
          </a:xfrm>
        </p:spPr>
        <p:txBody>
          <a:bodyPr/>
          <a:lstStyle/>
          <a:p>
            <a:r>
              <a:rPr lang="es-ES" dirty="0" smtClean="0">
                <a:effectLst>
                  <a:outerShdw blurRad="38100" dist="38100" dir="2700000" algn="tl">
                    <a:srgbClr val="000000">
                      <a:alpha val="43137"/>
                    </a:srgbClr>
                  </a:outerShdw>
                </a:effectLst>
              </a:rPr>
              <a:t>Primer Programa </a:t>
            </a:r>
            <a:r>
              <a:rPr lang="es-ES" dirty="0" err="1" smtClean="0">
                <a:effectLst>
                  <a:outerShdw blurRad="38100" dist="38100" dir="2700000" algn="tl">
                    <a:srgbClr val="000000">
                      <a:alpha val="43137"/>
                    </a:srgbClr>
                  </a:outerShdw>
                </a:effectLst>
              </a:rPr>
              <a:t>Assembler</a:t>
            </a:r>
            <a:endParaRPr lang="es-E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2815562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Título"/>
          <p:cNvSpPr>
            <a:spLocks noGrp="1"/>
          </p:cNvSpPr>
          <p:nvPr>
            <p:ph type="title"/>
          </p:nvPr>
        </p:nvSpPr>
        <p:spPr>
          <a:xfrm>
            <a:off x="810895" y="302738"/>
            <a:ext cx="9071610" cy="619473"/>
          </a:xfrm>
          <a:ln>
            <a:solidFill>
              <a:schemeClr val="tx1"/>
            </a:solidFill>
            <a:miter lim="800000"/>
            <a:headEnd/>
            <a:tailEnd/>
          </a:ln>
        </p:spPr>
        <p:txBody>
          <a:bodyPr/>
          <a:lstStyle/>
          <a:p>
            <a:r>
              <a:rPr lang="es-AR" altLang="es-ES" sz="2646"/>
              <a:t>Primer Programa ASSEMBLER</a:t>
            </a:r>
          </a:p>
        </p:txBody>
      </p:sp>
      <p:pic>
        <p:nvPicPr>
          <p:cNvPr id="27651" name="3 Imag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145" y="1240697"/>
            <a:ext cx="4955787" cy="29678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7652" name="4 Image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76255" y="4446559"/>
            <a:ext cx="5500014" cy="2904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44140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810895" y="302738"/>
            <a:ext cx="9071610" cy="619473"/>
          </a:xfrm>
          <a:ln>
            <a:solidFill>
              <a:schemeClr val="tx1"/>
            </a:solidFill>
          </a:ln>
        </p:spPr>
        <p:txBody>
          <a:bodyPr>
            <a:normAutofit fontScale="90000"/>
          </a:bodyPr>
          <a:lstStyle/>
          <a:p>
            <a:pPr>
              <a:defRPr/>
            </a:pPr>
            <a:r>
              <a:rPr lang="es-AR" sz="2646" dirty="0"/>
              <a:t>Primer Programa ASSEMBLER</a:t>
            </a:r>
            <a:br>
              <a:rPr lang="es-AR" sz="2646" dirty="0"/>
            </a:br>
            <a:r>
              <a:rPr lang="es-AR" sz="2646" i="1" dirty="0"/>
              <a:t>(Comportamiento de las instrucciones)</a:t>
            </a:r>
            <a:endParaRPr lang="es-AR" sz="2646" dirty="0"/>
          </a:p>
        </p:txBody>
      </p:sp>
      <p:graphicFrame>
        <p:nvGraphicFramePr>
          <p:cNvPr id="5" name="4 Tabla"/>
          <p:cNvGraphicFramePr>
            <a:graphicFrameLocks noGrp="1"/>
          </p:cNvGraphicFramePr>
          <p:nvPr>
            <p:extLst>
              <p:ext uri="{D42A27DB-BD31-4B8C-83A1-F6EECF244321}">
                <p14:modId xmlns:p14="http://schemas.microsoft.com/office/powerpoint/2010/main" val="1422249292"/>
              </p:ext>
            </p:extLst>
          </p:nvPr>
        </p:nvGraphicFramePr>
        <p:xfrm>
          <a:off x="1986845" y="1240697"/>
          <a:ext cx="7169442" cy="5789443"/>
        </p:xfrm>
        <a:graphic>
          <a:graphicData uri="http://schemas.openxmlformats.org/drawingml/2006/table">
            <a:tbl>
              <a:tblPr firstRow="1" bandRow="1">
                <a:tableStyleId>{5C22544A-7EE6-4342-B048-85BDC9FD1C3A}</a:tableStyleId>
              </a:tblPr>
              <a:tblGrid>
                <a:gridCol w="1382836">
                  <a:extLst>
                    <a:ext uri="{9D8B030D-6E8A-4147-A177-3AD203B41FA5}">
                      <a16:colId xmlns="" xmlns:a16="http://schemas.microsoft.com/office/drawing/2014/main" val="20000"/>
                    </a:ext>
                  </a:extLst>
                </a:gridCol>
                <a:gridCol w="5786606">
                  <a:extLst>
                    <a:ext uri="{9D8B030D-6E8A-4147-A177-3AD203B41FA5}">
                      <a16:colId xmlns="" xmlns:a16="http://schemas.microsoft.com/office/drawing/2014/main" val="20001"/>
                    </a:ext>
                  </a:extLst>
                </a:gridCol>
              </a:tblGrid>
              <a:tr h="408733">
                <a:tc>
                  <a:txBody>
                    <a:bodyPr/>
                    <a:lstStyle/>
                    <a:p>
                      <a:endParaRPr lang="es-AR" sz="2000" dirty="0"/>
                    </a:p>
                  </a:txBody>
                  <a:tcPr marL="100789" marR="100789" marT="50391" marB="50391"/>
                </a:tc>
                <a:tc>
                  <a:txBody>
                    <a:bodyPr/>
                    <a:lstStyle/>
                    <a:p>
                      <a:endParaRPr lang="es-AR" sz="2000"/>
                    </a:p>
                  </a:txBody>
                  <a:tcPr marL="100789" marR="100789" marT="50391" marB="50391"/>
                </a:tc>
                <a:extLst>
                  <a:ext uri="{0D108BD9-81ED-4DB2-BD59-A6C34878D82A}">
                    <a16:rowId xmlns="" xmlns:a16="http://schemas.microsoft.com/office/drawing/2014/main" val="10000"/>
                  </a:ext>
                </a:extLst>
              </a:tr>
              <a:tr h="13103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smtClean="0">
                          <a:solidFill>
                            <a:schemeClr val="dk1"/>
                          </a:solidFill>
                          <a:effectLst/>
                          <a:latin typeface="+mn-lt"/>
                          <a:ea typeface="+mn-ea"/>
                          <a:cs typeface="+mn-cs"/>
                        </a:rPr>
                        <a:t>movlf</a:t>
                      </a:r>
                      <a:r>
                        <a:rPr lang="es-AR" sz="2000" b="1" i="1" kern="1200" dirty="0" smtClean="0">
                          <a:solidFill>
                            <a:schemeClr val="dk1"/>
                          </a:solidFill>
                          <a:effectLst/>
                          <a:latin typeface="+mn-lt"/>
                          <a:ea typeface="+mn-ea"/>
                          <a:cs typeface="+mn-cs"/>
                        </a:rPr>
                        <a:t> </a:t>
                      </a:r>
                      <a:r>
                        <a:rPr lang="es-AR" sz="2000" b="1" i="1" kern="1200" dirty="0" err="1" smtClean="0">
                          <a:solidFill>
                            <a:schemeClr val="dk1"/>
                          </a:solidFill>
                          <a:effectLst/>
                          <a:latin typeface="+mn-lt"/>
                          <a:ea typeface="+mn-ea"/>
                          <a:cs typeface="+mn-cs"/>
                        </a:rPr>
                        <a:t>f,d</a:t>
                      </a:r>
                      <a:r>
                        <a:rPr lang="es-AR" sz="2000" b="1" i="1" kern="1200" dirty="0" smtClean="0">
                          <a:solidFill>
                            <a:schemeClr val="dk1"/>
                          </a:solidFill>
                          <a:effectLst/>
                          <a:latin typeface="+mn-lt"/>
                          <a:ea typeface="+mn-ea"/>
                          <a:cs typeface="+mn-cs"/>
                        </a:rPr>
                        <a:t>:</a:t>
                      </a:r>
                      <a:endParaRPr lang="es-AR" sz="2000" dirty="0"/>
                    </a:p>
                  </a:txBody>
                  <a:tcPr marL="100789" marR="100789" marT="50391" marB="50391"/>
                </a:tc>
                <a:tc>
                  <a:txBody>
                    <a:bodyPr/>
                    <a:lstStyle/>
                    <a:p>
                      <a:r>
                        <a:rPr lang="es-AR" sz="2000" kern="1200" dirty="0" smtClean="0">
                          <a:solidFill>
                            <a:schemeClr val="dk1"/>
                          </a:solidFill>
                          <a:effectLst/>
                          <a:latin typeface="+mn-lt"/>
                          <a:ea typeface="+mn-ea"/>
                          <a:cs typeface="+mn-cs"/>
                        </a:rPr>
                        <a:t>Mueve el contenido del operando fuente, que es una posición de memoria de datos, al destino, que bien puede ser el </a:t>
                      </a:r>
                      <a:r>
                        <a:rPr lang="es-AR" sz="2000" i="1" u="sng" kern="1200" dirty="0" smtClean="0">
                          <a:solidFill>
                            <a:schemeClr val="dk1"/>
                          </a:solidFill>
                          <a:effectLst/>
                          <a:latin typeface="+mn-lt"/>
                          <a:ea typeface="+mn-ea"/>
                          <a:cs typeface="+mn-cs"/>
                        </a:rPr>
                        <a:t>registro W</a:t>
                      </a:r>
                      <a:r>
                        <a:rPr lang="es-AR" sz="2000" kern="1200" dirty="0" smtClean="0">
                          <a:solidFill>
                            <a:schemeClr val="dk1"/>
                          </a:solidFill>
                          <a:effectLst/>
                          <a:latin typeface="+mn-lt"/>
                          <a:ea typeface="+mn-ea"/>
                          <a:cs typeface="+mn-cs"/>
                        </a:rPr>
                        <a:t> cuando </a:t>
                      </a:r>
                      <a:r>
                        <a:rPr lang="es-AR" sz="2000" i="1" kern="1200" dirty="0" smtClean="0">
                          <a:solidFill>
                            <a:schemeClr val="dk1"/>
                          </a:solidFill>
                          <a:effectLst/>
                          <a:latin typeface="+mn-lt"/>
                          <a:ea typeface="+mn-ea"/>
                          <a:cs typeface="+mn-cs"/>
                        </a:rPr>
                        <a:t>d=0, </a:t>
                      </a:r>
                      <a:r>
                        <a:rPr lang="es-AR" sz="2000" kern="1200" dirty="0" smtClean="0">
                          <a:solidFill>
                            <a:schemeClr val="dk1"/>
                          </a:solidFill>
                          <a:effectLst/>
                          <a:latin typeface="+mn-lt"/>
                          <a:ea typeface="+mn-ea"/>
                          <a:cs typeface="+mn-cs"/>
                        </a:rPr>
                        <a:t> o el propio fuente cuando </a:t>
                      </a:r>
                      <a:r>
                        <a:rPr lang="es-AR" sz="2000" i="1" u="sng" kern="1200" dirty="0" smtClean="0">
                          <a:solidFill>
                            <a:schemeClr val="dk1"/>
                          </a:solidFill>
                          <a:effectLst/>
                          <a:latin typeface="+mn-lt"/>
                          <a:ea typeface="+mn-ea"/>
                          <a:cs typeface="+mn-cs"/>
                        </a:rPr>
                        <a:t>d=1</a:t>
                      </a:r>
                      <a:r>
                        <a:rPr lang="es-AR" sz="2000" kern="1200" dirty="0" smtClean="0">
                          <a:solidFill>
                            <a:schemeClr val="dk1"/>
                          </a:solidFill>
                          <a:effectLst/>
                          <a:latin typeface="+mn-lt"/>
                          <a:ea typeface="+mn-ea"/>
                          <a:cs typeface="+mn-cs"/>
                        </a:rPr>
                        <a:t>.</a:t>
                      </a:r>
                      <a:endParaRPr lang="es-AR" sz="2000" dirty="0"/>
                    </a:p>
                  </a:txBody>
                  <a:tcPr marL="100789" marR="100789" marT="50391" marB="50391"/>
                </a:tc>
                <a:extLst>
                  <a:ext uri="{0D108BD9-81ED-4DB2-BD59-A6C34878D82A}">
                    <a16:rowId xmlns="" xmlns:a16="http://schemas.microsoft.com/office/drawing/2014/main" val="10001"/>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smtClean="0">
                          <a:solidFill>
                            <a:schemeClr val="dk1"/>
                          </a:solidFill>
                          <a:effectLst/>
                          <a:latin typeface="+mn-lt"/>
                          <a:ea typeface="+mn-ea"/>
                          <a:cs typeface="+mn-cs"/>
                        </a:rPr>
                        <a:t>movwf</a:t>
                      </a:r>
                      <a:r>
                        <a:rPr lang="es-AR" sz="2000" b="1" i="1" kern="1200" dirty="0" smtClean="0">
                          <a:solidFill>
                            <a:schemeClr val="dk1"/>
                          </a:solidFill>
                          <a:effectLst/>
                          <a:latin typeface="+mn-lt"/>
                          <a:ea typeface="+mn-ea"/>
                          <a:cs typeface="+mn-cs"/>
                        </a:rPr>
                        <a:t> f:</a:t>
                      </a:r>
                      <a:endParaRPr lang="es-AR" sz="2000" b="1" i="1" kern="1200" dirty="0">
                        <a:solidFill>
                          <a:schemeClr val="dk1"/>
                        </a:solidFill>
                        <a:effectLst/>
                        <a:latin typeface="+mn-lt"/>
                        <a:ea typeface="+mn-ea"/>
                        <a:cs typeface="+mn-cs"/>
                      </a:endParaRPr>
                    </a:p>
                  </a:txBody>
                  <a:tcPr marL="100789" marR="100789" marT="50391" marB="50391"/>
                </a:tc>
                <a:tc>
                  <a:txBody>
                    <a:bodyPr/>
                    <a:lstStyle/>
                    <a:p>
                      <a:r>
                        <a:rPr lang="es-AR" sz="2000" dirty="0" smtClean="0"/>
                        <a:t>Mueve el contenido del registro W a la posición de la memoria de datos identificada</a:t>
                      </a:r>
                      <a:r>
                        <a:rPr lang="es-AR" sz="2000" baseline="0" dirty="0" smtClean="0"/>
                        <a:t> por </a:t>
                      </a:r>
                      <a:r>
                        <a:rPr lang="es-AR" sz="2000" i="1" u="sng" baseline="0" dirty="0" smtClean="0"/>
                        <a:t>f</a:t>
                      </a:r>
                      <a:r>
                        <a:rPr lang="es-AR" sz="2000" baseline="0" dirty="0" smtClean="0"/>
                        <a:t>. Realiza la transferencia W =&gt; f.</a:t>
                      </a:r>
                      <a:endParaRPr lang="es-AR" sz="2000" dirty="0"/>
                    </a:p>
                  </a:txBody>
                  <a:tcPr marL="100789" marR="100789" marT="50391" marB="50391"/>
                </a:tc>
                <a:extLst>
                  <a:ext uri="{0D108BD9-81ED-4DB2-BD59-A6C34878D82A}">
                    <a16:rowId xmlns="" xmlns:a16="http://schemas.microsoft.com/office/drawing/2014/main" val="10002"/>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smtClean="0">
                          <a:solidFill>
                            <a:schemeClr val="dk1"/>
                          </a:solidFill>
                          <a:effectLst/>
                          <a:latin typeface="+mn-lt"/>
                          <a:ea typeface="+mn-ea"/>
                          <a:cs typeface="+mn-cs"/>
                        </a:rPr>
                        <a:t>movlw</a:t>
                      </a:r>
                      <a:r>
                        <a:rPr lang="es-AR" sz="2000" b="1" i="1" kern="1200" dirty="0" smtClean="0">
                          <a:solidFill>
                            <a:schemeClr val="dk1"/>
                          </a:solidFill>
                          <a:effectLst/>
                          <a:latin typeface="+mn-lt"/>
                          <a:ea typeface="+mn-ea"/>
                          <a:cs typeface="+mn-cs"/>
                        </a:rPr>
                        <a:t> k:</a:t>
                      </a:r>
                      <a:endParaRPr lang="es-AR" sz="2000" b="1" i="1" kern="1200" dirty="0">
                        <a:solidFill>
                          <a:schemeClr val="dk1"/>
                        </a:solidFill>
                        <a:effectLst/>
                        <a:latin typeface="+mn-lt"/>
                        <a:ea typeface="+mn-ea"/>
                        <a:cs typeface="+mn-cs"/>
                      </a:endParaRPr>
                    </a:p>
                  </a:txBody>
                  <a:tcPr marL="100789" marR="100789" marT="50391" marB="50391"/>
                </a:tc>
                <a:tc>
                  <a:txBody>
                    <a:bodyPr/>
                    <a:lstStyle/>
                    <a:p>
                      <a:r>
                        <a:rPr lang="es-AR" sz="2000" dirty="0" smtClean="0"/>
                        <a:t>Mueve el literal </a:t>
                      </a:r>
                      <a:r>
                        <a:rPr lang="es-AR" sz="2000" i="1" u="sng" dirty="0" smtClean="0"/>
                        <a:t>k </a:t>
                      </a:r>
                      <a:r>
                        <a:rPr lang="es-AR" sz="2000" i="0" u="none" dirty="0" smtClean="0"/>
                        <a:t>incluido en el código de la instrucción al registro W. </a:t>
                      </a:r>
                      <a:r>
                        <a:rPr lang="es-AR" sz="2000" baseline="0" dirty="0" smtClean="0"/>
                        <a:t>Realiza la transferencia </a:t>
                      </a:r>
                      <a:r>
                        <a:rPr lang="es-AR" sz="2000" i="1" u="sng" baseline="0" dirty="0" smtClean="0"/>
                        <a:t>k</a:t>
                      </a:r>
                      <a:r>
                        <a:rPr lang="es-AR" sz="2000" baseline="0" dirty="0" smtClean="0"/>
                        <a:t> =&gt; W.</a:t>
                      </a:r>
                      <a:r>
                        <a:rPr lang="es-AR" sz="2000" i="0" u="none" dirty="0" smtClean="0"/>
                        <a:t> </a:t>
                      </a:r>
                      <a:r>
                        <a:rPr lang="es-AR" sz="2000" dirty="0" smtClean="0"/>
                        <a:t> </a:t>
                      </a:r>
                      <a:endParaRPr lang="es-AR" sz="2000" dirty="0"/>
                    </a:p>
                  </a:txBody>
                  <a:tcPr marL="100789" marR="100789" marT="50391" marB="50391"/>
                </a:tc>
                <a:extLst>
                  <a:ext uri="{0D108BD9-81ED-4DB2-BD59-A6C34878D82A}">
                    <a16:rowId xmlns="" xmlns:a16="http://schemas.microsoft.com/office/drawing/2014/main" val="10003"/>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smtClean="0">
                          <a:solidFill>
                            <a:schemeClr val="dk1"/>
                          </a:solidFill>
                          <a:effectLst/>
                          <a:latin typeface="+mn-lt"/>
                          <a:ea typeface="+mn-ea"/>
                          <a:cs typeface="+mn-cs"/>
                        </a:rPr>
                        <a:t>addwf</a:t>
                      </a:r>
                      <a:r>
                        <a:rPr lang="es-AR" sz="2000" b="1" i="1" kern="1200" dirty="0" smtClean="0">
                          <a:solidFill>
                            <a:schemeClr val="dk1"/>
                          </a:solidFill>
                          <a:effectLst/>
                          <a:latin typeface="+mn-lt"/>
                          <a:ea typeface="+mn-ea"/>
                          <a:cs typeface="+mn-cs"/>
                        </a:rPr>
                        <a:t> </a:t>
                      </a:r>
                      <a:r>
                        <a:rPr lang="es-AR" sz="2000" b="1" i="1" kern="1200" dirty="0" err="1" smtClean="0">
                          <a:solidFill>
                            <a:schemeClr val="dk1"/>
                          </a:solidFill>
                          <a:effectLst/>
                          <a:latin typeface="+mn-lt"/>
                          <a:ea typeface="+mn-ea"/>
                          <a:cs typeface="+mn-cs"/>
                        </a:rPr>
                        <a:t>f,d</a:t>
                      </a:r>
                      <a:r>
                        <a:rPr lang="es-AR" sz="2000" b="1" i="1" kern="1200" dirty="0" smtClean="0">
                          <a:solidFill>
                            <a:schemeClr val="dk1"/>
                          </a:solidFill>
                          <a:effectLst/>
                          <a:latin typeface="+mn-lt"/>
                          <a:ea typeface="+mn-ea"/>
                          <a:cs typeface="+mn-cs"/>
                        </a:rPr>
                        <a:t>:</a:t>
                      </a:r>
                      <a:endParaRPr lang="es-AR" sz="2000" b="1" i="1" kern="1200" dirty="0">
                        <a:solidFill>
                          <a:schemeClr val="dk1"/>
                        </a:solidFill>
                        <a:effectLst/>
                        <a:latin typeface="+mn-lt"/>
                        <a:ea typeface="+mn-ea"/>
                        <a:cs typeface="+mn-cs"/>
                      </a:endParaRPr>
                    </a:p>
                  </a:txBody>
                  <a:tcPr marL="100789" marR="100789" marT="50391" marB="5039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0" i="0" kern="1200" dirty="0" smtClean="0">
                          <a:solidFill>
                            <a:schemeClr val="dk1"/>
                          </a:solidFill>
                          <a:effectLst/>
                          <a:latin typeface="+mn-lt"/>
                          <a:ea typeface="+mn-ea"/>
                          <a:cs typeface="+mn-cs"/>
                        </a:rPr>
                        <a:t>Suma el contenido</a:t>
                      </a:r>
                      <a:r>
                        <a:rPr lang="es-AR" sz="2000" b="0" i="0" kern="1200" baseline="0" dirty="0" smtClean="0">
                          <a:solidFill>
                            <a:schemeClr val="dk1"/>
                          </a:solidFill>
                          <a:effectLst/>
                          <a:latin typeface="+mn-lt"/>
                          <a:ea typeface="+mn-ea"/>
                          <a:cs typeface="+mn-cs"/>
                        </a:rPr>
                        <a:t> del</a:t>
                      </a:r>
                      <a:r>
                        <a:rPr lang="es-AR" sz="2000" b="0" i="1" kern="1200" baseline="0" dirty="0" smtClean="0">
                          <a:solidFill>
                            <a:schemeClr val="dk1"/>
                          </a:solidFill>
                          <a:effectLst/>
                          <a:latin typeface="+mn-lt"/>
                          <a:ea typeface="+mn-ea"/>
                          <a:cs typeface="+mn-cs"/>
                        </a:rPr>
                        <a:t> </a:t>
                      </a:r>
                      <a:r>
                        <a:rPr lang="es-AR" sz="2000" b="0" i="1" u="sng" kern="1200" baseline="0" dirty="0" smtClean="0">
                          <a:solidFill>
                            <a:schemeClr val="dk1"/>
                          </a:solidFill>
                          <a:effectLst/>
                          <a:latin typeface="+mn-lt"/>
                          <a:ea typeface="+mn-ea"/>
                          <a:cs typeface="+mn-cs"/>
                        </a:rPr>
                        <a:t>registro W</a:t>
                      </a:r>
                      <a:r>
                        <a:rPr lang="es-AR" sz="2000" b="0" i="0" u="none" kern="1200" baseline="0" dirty="0" smtClean="0">
                          <a:solidFill>
                            <a:schemeClr val="dk1"/>
                          </a:solidFill>
                          <a:effectLst/>
                          <a:latin typeface="+mn-lt"/>
                          <a:ea typeface="+mn-ea"/>
                          <a:cs typeface="+mn-cs"/>
                        </a:rPr>
                        <a:t> con el de </a:t>
                      </a:r>
                      <a:r>
                        <a:rPr lang="es-AR" sz="2000" b="0" i="1" u="sng" kern="1200" baseline="0" dirty="0" smtClean="0">
                          <a:solidFill>
                            <a:schemeClr val="dk1"/>
                          </a:solidFill>
                          <a:effectLst/>
                          <a:latin typeface="+mn-lt"/>
                          <a:ea typeface="+mn-ea"/>
                          <a:cs typeface="+mn-cs"/>
                        </a:rPr>
                        <a:t>f</a:t>
                      </a:r>
                      <a:r>
                        <a:rPr lang="es-AR" sz="2000" b="0" i="0" u="none" kern="1200" baseline="0" dirty="0" smtClean="0">
                          <a:solidFill>
                            <a:schemeClr val="dk1"/>
                          </a:solidFill>
                          <a:effectLst/>
                          <a:latin typeface="+mn-lt"/>
                          <a:ea typeface="+mn-ea"/>
                          <a:cs typeface="+mn-cs"/>
                        </a:rPr>
                        <a:t> y deposita el resultado en </a:t>
                      </a:r>
                      <a:r>
                        <a:rPr lang="es-AR" sz="2000" b="0" i="0" u="sng" kern="1200" baseline="0" dirty="0" smtClean="0">
                          <a:solidFill>
                            <a:schemeClr val="dk1"/>
                          </a:solidFill>
                          <a:effectLst/>
                          <a:latin typeface="+mn-lt"/>
                          <a:ea typeface="+mn-ea"/>
                          <a:cs typeface="+mn-cs"/>
                        </a:rPr>
                        <a:t>W</a:t>
                      </a:r>
                      <a:r>
                        <a:rPr lang="es-AR" sz="2000" b="0" i="0" u="none" kern="1200" baseline="0" dirty="0" smtClean="0">
                          <a:solidFill>
                            <a:schemeClr val="dk1"/>
                          </a:solidFill>
                          <a:effectLst/>
                          <a:latin typeface="+mn-lt"/>
                          <a:ea typeface="+mn-ea"/>
                          <a:cs typeface="+mn-cs"/>
                        </a:rPr>
                        <a:t> si el valor de </a:t>
                      </a:r>
                      <a:r>
                        <a:rPr lang="es-AR" sz="2000" b="0" i="1" u="sng" kern="1200" baseline="0" dirty="0" smtClean="0">
                          <a:solidFill>
                            <a:schemeClr val="dk1"/>
                          </a:solidFill>
                          <a:effectLst/>
                          <a:latin typeface="+mn-lt"/>
                          <a:ea typeface="+mn-ea"/>
                          <a:cs typeface="+mn-cs"/>
                        </a:rPr>
                        <a:t>d= 0</a:t>
                      </a:r>
                      <a:r>
                        <a:rPr lang="es-AR" sz="2000" b="0" i="0" u="none" kern="1200" baseline="0" dirty="0" smtClean="0">
                          <a:solidFill>
                            <a:schemeClr val="dk1"/>
                          </a:solidFill>
                          <a:effectLst/>
                          <a:latin typeface="+mn-lt"/>
                          <a:ea typeface="+mn-ea"/>
                          <a:cs typeface="+mn-cs"/>
                        </a:rPr>
                        <a:t>. Si </a:t>
                      </a:r>
                      <a:r>
                        <a:rPr lang="es-AR" sz="2000" b="0" i="1" u="sng" kern="1200" baseline="0" dirty="0" smtClean="0">
                          <a:solidFill>
                            <a:schemeClr val="dk1"/>
                          </a:solidFill>
                          <a:effectLst/>
                          <a:latin typeface="+mn-lt"/>
                          <a:ea typeface="+mn-ea"/>
                          <a:cs typeface="+mn-cs"/>
                        </a:rPr>
                        <a:t>d= 1</a:t>
                      </a:r>
                      <a:r>
                        <a:rPr lang="es-AR" sz="2000" b="0" i="0" u="none" kern="1200" baseline="0" dirty="0" smtClean="0">
                          <a:solidFill>
                            <a:schemeClr val="dk1"/>
                          </a:solidFill>
                          <a:effectLst/>
                          <a:latin typeface="+mn-lt"/>
                          <a:ea typeface="+mn-ea"/>
                          <a:cs typeface="+mn-cs"/>
                        </a:rPr>
                        <a:t> lo deposita en </a:t>
                      </a:r>
                      <a:r>
                        <a:rPr lang="es-AR" sz="2000" b="0" i="1" u="sng" kern="1200" baseline="0" dirty="0" smtClean="0">
                          <a:solidFill>
                            <a:schemeClr val="dk1"/>
                          </a:solidFill>
                          <a:effectLst/>
                          <a:latin typeface="+mn-lt"/>
                          <a:ea typeface="+mn-ea"/>
                          <a:cs typeface="+mn-cs"/>
                        </a:rPr>
                        <a:t>f</a:t>
                      </a:r>
                      <a:r>
                        <a:rPr lang="es-AR" sz="2000" b="0" i="0" u="none" kern="1200" baseline="0" dirty="0" smtClean="0">
                          <a:solidFill>
                            <a:schemeClr val="dk1"/>
                          </a:solidFill>
                          <a:effectLst/>
                          <a:latin typeface="+mn-lt"/>
                          <a:ea typeface="+mn-ea"/>
                          <a:cs typeface="+mn-cs"/>
                        </a:rPr>
                        <a:t>. </a:t>
                      </a:r>
                      <a:r>
                        <a:rPr lang="es-AR" sz="2000" b="0" i="1" u="sng" kern="1200" baseline="0" dirty="0" smtClean="0">
                          <a:solidFill>
                            <a:schemeClr val="dk1"/>
                          </a:solidFill>
                          <a:effectLst/>
                          <a:latin typeface="+mn-lt"/>
                          <a:ea typeface="+mn-ea"/>
                          <a:cs typeface="+mn-cs"/>
                        </a:rPr>
                        <a:t> </a:t>
                      </a:r>
                      <a:r>
                        <a:rPr lang="es-AR" sz="2000" b="0" i="0" u="none" kern="1200" baseline="0" dirty="0" smtClean="0">
                          <a:solidFill>
                            <a:schemeClr val="dk1"/>
                          </a:solidFill>
                          <a:effectLst/>
                          <a:latin typeface="+mn-lt"/>
                          <a:ea typeface="+mn-ea"/>
                          <a:cs typeface="+mn-cs"/>
                        </a:rPr>
                        <a:t> </a:t>
                      </a:r>
                      <a:endParaRPr lang="es-AR" sz="2000" b="0" i="1" u="sng" kern="1200" dirty="0">
                        <a:solidFill>
                          <a:schemeClr val="dk1"/>
                        </a:solidFill>
                        <a:effectLst/>
                        <a:latin typeface="+mn-lt"/>
                        <a:ea typeface="+mn-ea"/>
                        <a:cs typeface="+mn-cs"/>
                      </a:endParaRPr>
                    </a:p>
                  </a:txBody>
                  <a:tcPr marL="100789" marR="100789" marT="50391" marB="50391"/>
                </a:tc>
                <a:extLst>
                  <a:ext uri="{0D108BD9-81ED-4DB2-BD59-A6C34878D82A}">
                    <a16:rowId xmlns="" xmlns:a16="http://schemas.microsoft.com/office/drawing/2014/main" val="10004"/>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smtClean="0">
                          <a:solidFill>
                            <a:schemeClr val="dk1"/>
                          </a:solidFill>
                          <a:effectLst/>
                          <a:latin typeface="+mn-lt"/>
                          <a:ea typeface="+mn-ea"/>
                          <a:cs typeface="+mn-cs"/>
                        </a:rPr>
                        <a:t>addlw</a:t>
                      </a:r>
                      <a:r>
                        <a:rPr lang="es-AR" sz="2000" b="1" i="1" kern="1200" dirty="0" smtClean="0">
                          <a:solidFill>
                            <a:schemeClr val="dk1"/>
                          </a:solidFill>
                          <a:effectLst/>
                          <a:latin typeface="+mn-lt"/>
                          <a:ea typeface="+mn-ea"/>
                          <a:cs typeface="+mn-cs"/>
                        </a:rPr>
                        <a:t> k:</a:t>
                      </a:r>
                      <a:endParaRPr lang="es-AR" sz="2000" b="1" i="1" kern="1200" dirty="0">
                        <a:solidFill>
                          <a:schemeClr val="dk1"/>
                        </a:solidFill>
                        <a:effectLst/>
                        <a:latin typeface="+mn-lt"/>
                        <a:ea typeface="+mn-ea"/>
                        <a:cs typeface="+mn-cs"/>
                      </a:endParaRPr>
                    </a:p>
                  </a:txBody>
                  <a:tcPr marL="100789" marR="100789" marT="50391" marB="50391"/>
                </a:tc>
                <a:tc>
                  <a:txBody>
                    <a:bodyPr/>
                    <a:lstStyle/>
                    <a:p>
                      <a:r>
                        <a:rPr lang="es-AR" sz="2000" b="0" dirty="0" smtClean="0"/>
                        <a:t>Suma al contenido del </a:t>
                      </a:r>
                      <a:r>
                        <a:rPr lang="es-AR" sz="2000" b="0" i="1" u="sng" dirty="0" smtClean="0"/>
                        <a:t>registro W</a:t>
                      </a:r>
                      <a:r>
                        <a:rPr lang="es-AR" sz="2000" b="0" i="0" u="none" dirty="0" smtClean="0"/>
                        <a:t> el literal que acompaña</a:t>
                      </a:r>
                      <a:r>
                        <a:rPr lang="es-AR" sz="2000" b="0" i="0" u="none" baseline="0" dirty="0" smtClean="0"/>
                        <a:t> a la instrucción y deposita el resultado en el </a:t>
                      </a:r>
                      <a:r>
                        <a:rPr lang="es-AR" sz="2000" b="0" i="1" u="sng" baseline="0" dirty="0" smtClean="0"/>
                        <a:t>registro W</a:t>
                      </a:r>
                      <a:r>
                        <a:rPr lang="es-AR" sz="2000" b="0" i="0" u="none" baseline="0" dirty="0" smtClean="0"/>
                        <a:t> </a:t>
                      </a:r>
                      <a:r>
                        <a:rPr lang="es-AR" sz="2000" b="0" i="1" u="none" baseline="0" dirty="0" smtClean="0"/>
                        <a:t>(W + k =&gt; W)</a:t>
                      </a:r>
                      <a:endParaRPr lang="es-AR" sz="2000" b="0" dirty="0"/>
                    </a:p>
                  </a:txBody>
                  <a:tcPr marL="100789" marR="100789" marT="50391" marB="50391"/>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209812491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p:nvPr>
        </p:nvSpPr>
        <p:spPr>
          <a:xfrm>
            <a:off x="810895" y="302738"/>
            <a:ext cx="9071610" cy="619473"/>
          </a:xfrm>
          <a:ln>
            <a:solidFill>
              <a:schemeClr val="tx1"/>
            </a:solidFill>
            <a:miter lim="800000"/>
            <a:headEnd/>
            <a:tailEnd/>
          </a:ln>
        </p:spPr>
        <p:txBody>
          <a:bodyPr/>
          <a:lstStyle/>
          <a:p>
            <a:r>
              <a:rPr lang="es-AR" altLang="es-ES" sz="2646"/>
              <a:t>Primer Programa ASSEMBLER (14 bits)</a:t>
            </a:r>
          </a:p>
        </p:txBody>
      </p:sp>
      <p:pic>
        <p:nvPicPr>
          <p:cNvPr id="30723" name="4 Imag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885" y="1415689"/>
            <a:ext cx="8887868" cy="2756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7 Rectángulo"/>
          <p:cNvSpPr/>
          <p:nvPr/>
        </p:nvSpPr>
        <p:spPr>
          <a:xfrm>
            <a:off x="1139881" y="2747381"/>
            <a:ext cx="8492385" cy="432056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s-AR" sz="1543" b="1" i="1" dirty="0">
                <a:solidFill>
                  <a:schemeClr val="tx1">
                    <a:lumMod val="85000"/>
                    <a:lumOff val="15000"/>
                  </a:schemeClr>
                </a:solidFill>
              </a:rPr>
              <a:t>LIST P  = 16F628</a:t>
            </a:r>
            <a:r>
              <a:rPr lang="es-AR" sz="1543" b="1" i="1" dirty="0">
                <a:solidFill>
                  <a:srgbClr val="FF0000"/>
                </a:solidFill>
              </a:rPr>
              <a:t>	</a:t>
            </a:r>
            <a:r>
              <a:rPr lang="es-AR" sz="1543" b="1" i="1" dirty="0" smtClean="0">
                <a:solidFill>
                  <a:srgbClr val="FF0000"/>
                </a:solidFill>
              </a:rPr>
              <a:t>   ; </a:t>
            </a:r>
            <a:r>
              <a:rPr lang="es-AR" sz="1543" b="1" i="1" dirty="0">
                <a:solidFill>
                  <a:srgbClr val="FF0000"/>
                </a:solidFill>
              </a:rPr>
              <a:t>Indica el modelo PIC que se utiliza</a:t>
            </a:r>
          </a:p>
          <a:p>
            <a:pPr>
              <a:defRPr/>
            </a:pPr>
            <a:r>
              <a:rPr lang="es-AR" sz="1543" b="1" i="1" dirty="0">
                <a:solidFill>
                  <a:srgbClr val="FF0000"/>
                </a:solidFill>
              </a:rPr>
              <a:t>		</a:t>
            </a:r>
            <a:r>
              <a:rPr lang="es-AR" sz="1543" b="1" i="1" dirty="0" smtClean="0">
                <a:solidFill>
                  <a:srgbClr val="FF0000"/>
                </a:solidFill>
              </a:rPr>
              <a:t>   ; </a:t>
            </a:r>
            <a:r>
              <a:rPr lang="es-AR" sz="1543" b="1" i="1" dirty="0">
                <a:solidFill>
                  <a:srgbClr val="FF0000"/>
                </a:solidFill>
              </a:rPr>
              <a:t>Es una directiva del Ensamblador</a:t>
            </a:r>
          </a:p>
          <a:p>
            <a:pPr>
              <a:defRPr/>
            </a:pPr>
            <a:r>
              <a:rPr lang="es-AR" sz="1543" b="1" i="1" dirty="0">
                <a:solidFill>
                  <a:srgbClr val="FF0000"/>
                </a:solidFill>
              </a:rPr>
              <a:t>		</a:t>
            </a:r>
            <a:r>
              <a:rPr lang="es-AR" sz="1543" b="1" i="1" dirty="0" smtClean="0">
                <a:solidFill>
                  <a:srgbClr val="FF0000"/>
                </a:solidFill>
              </a:rPr>
              <a:t>   ; </a:t>
            </a:r>
            <a:r>
              <a:rPr lang="es-AR" sz="1543" b="1" i="1" dirty="0">
                <a:solidFill>
                  <a:srgbClr val="FF0000"/>
                </a:solidFill>
              </a:rPr>
              <a:t>ZONA de ETIQUETAS</a:t>
            </a:r>
          </a:p>
          <a:p>
            <a:pPr>
              <a:defRPr/>
            </a:pPr>
            <a:r>
              <a:rPr lang="es-AR" sz="1543" b="1" i="1" dirty="0">
                <a:solidFill>
                  <a:schemeClr val="tx2">
                    <a:lumMod val="60000"/>
                    <a:lumOff val="40000"/>
                  </a:schemeClr>
                </a:solidFill>
              </a:rPr>
              <a:t>OPERANDO1</a:t>
            </a:r>
            <a:r>
              <a:rPr lang="es-AR" sz="1543" b="1" i="1" dirty="0">
                <a:solidFill>
                  <a:srgbClr val="FF0000"/>
                </a:solidFill>
              </a:rPr>
              <a:t> EQU </a:t>
            </a:r>
            <a:r>
              <a:rPr lang="es-AR" sz="1543" b="1" i="1" dirty="0" smtClean="0">
                <a:solidFill>
                  <a:srgbClr val="FF0000"/>
                </a:solidFill>
              </a:rPr>
              <a:t>0x0c  ;Define </a:t>
            </a:r>
            <a:r>
              <a:rPr lang="es-AR" sz="1543" b="1" i="1" dirty="0">
                <a:solidFill>
                  <a:srgbClr val="FF0000"/>
                </a:solidFill>
              </a:rPr>
              <a:t>la posición del operando 1</a:t>
            </a:r>
          </a:p>
          <a:p>
            <a:pPr>
              <a:defRPr/>
            </a:pPr>
            <a:r>
              <a:rPr lang="es-AR" sz="1543" b="1" i="1" dirty="0">
                <a:solidFill>
                  <a:schemeClr val="tx2">
                    <a:lumMod val="60000"/>
                    <a:lumOff val="40000"/>
                  </a:schemeClr>
                </a:solidFill>
              </a:rPr>
              <a:t>OPERANDO2</a:t>
            </a:r>
            <a:r>
              <a:rPr lang="es-AR" sz="1543" b="1" i="1" dirty="0">
                <a:solidFill>
                  <a:srgbClr val="FF0000"/>
                </a:solidFill>
              </a:rPr>
              <a:t> EQU </a:t>
            </a:r>
            <a:r>
              <a:rPr lang="es-AR" sz="1543" b="1" i="1" dirty="0" smtClean="0">
                <a:solidFill>
                  <a:srgbClr val="FF0000"/>
                </a:solidFill>
              </a:rPr>
              <a:t>0x0d  ;</a:t>
            </a:r>
            <a:r>
              <a:rPr lang="es-AR" sz="1543" b="1" i="1" dirty="0">
                <a:solidFill>
                  <a:srgbClr val="FF0000"/>
                </a:solidFill>
              </a:rPr>
              <a:t>Define la posición del operando 2</a:t>
            </a:r>
          </a:p>
          <a:p>
            <a:pPr>
              <a:defRPr/>
            </a:pPr>
            <a:r>
              <a:rPr lang="es-AR" sz="1543" b="1" i="1" dirty="0">
                <a:solidFill>
                  <a:schemeClr val="tx2">
                    <a:lumMod val="60000"/>
                    <a:lumOff val="40000"/>
                  </a:schemeClr>
                </a:solidFill>
              </a:rPr>
              <a:t>RESULTADO</a:t>
            </a:r>
            <a:r>
              <a:rPr lang="es-AR" sz="1543" b="1" i="1" dirty="0">
                <a:solidFill>
                  <a:srgbClr val="FF0000"/>
                </a:solidFill>
              </a:rPr>
              <a:t>   EQU </a:t>
            </a:r>
            <a:r>
              <a:rPr lang="es-AR" sz="1543" b="1" i="1" dirty="0" smtClean="0">
                <a:solidFill>
                  <a:srgbClr val="FF0000"/>
                </a:solidFill>
              </a:rPr>
              <a:t>0x0e  ;Define </a:t>
            </a:r>
            <a:r>
              <a:rPr lang="es-AR" sz="1543" b="1" i="1" dirty="0">
                <a:solidFill>
                  <a:srgbClr val="FF0000"/>
                </a:solidFill>
              </a:rPr>
              <a:t>la posición del resultado</a:t>
            </a:r>
          </a:p>
          <a:p>
            <a:pPr>
              <a:defRPr/>
            </a:pPr>
            <a:r>
              <a:rPr lang="es-AR" sz="1543" b="1" i="1" dirty="0">
                <a:solidFill>
                  <a:schemeClr val="tx1">
                    <a:lumMod val="85000"/>
                    <a:lumOff val="15000"/>
                  </a:schemeClr>
                </a:solidFill>
              </a:rPr>
              <a:t>ORG0</a:t>
            </a:r>
            <a:r>
              <a:rPr lang="es-AR" sz="1543" b="1" i="1" dirty="0">
                <a:solidFill>
                  <a:srgbClr val="FF0000"/>
                </a:solidFill>
              </a:rPr>
              <a:t>		</a:t>
            </a:r>
            <a:r>
              <a:rPr lang="es-AR" sz="1543" b="1" i="1" dirty="0" smtClean="0">
                <a:solidFill>
                  <a:srgbClr val="FF0000"/>
                </a:solidFill>
              </a:rPr>
              <a:t>   ;</a:t>
            </a:r>
            <a:r>
              <a:rPr lang="es-AR" sz="1543" b="1" i="1" dirty="0">
                <a:solidFill>
                  <a:srgbClr val="FF0000"/>
                </a:solidFill>
              </a:rPr>
              <a:t>Comando que indica al ensamblador </a:t>
            </a:r>
          </a:p>
          <a:p>
            <a:pPr>
              <a:defRPr/>
            </a:pPr>
            <a:r>
              <a:rPr lang="es-AR" sz="1543" b="1" i="1" dirty="0">
                <a:solidFill>
                  <a:srgbClr val="FF0000"/>
                </a:solidFill>
              </a:rPr>
              <a:t>		</a:t>
            </a:r>
            <a:r>
              <a:rPr lang="es-AR" sz="1543" b="1" i="1" dirty="0" smtClean="0">
                <a:solidFill>
                  <a:srgbClr val="FF0000"/>
                </a:solidFill>
              </a:rPr>
              <a:t>   ;</a:t>
            </a:r>
            <a:r>
              <a:rPr lang="es-AR" sz="1543" b="1" i="1" dirty="0">
                <a:solidFill>
                  <a:srgbClr val="FF0000"/>
                </a:solidFill>
              </a:rPr>
              <a:t>la dirección de memoria de programa </a:t>
            </a:r>
          </a:p>
          <a:p>
            <a:pPr>
              <a:defRPr/>
            </a:pPr>
            <a:r>
              <a:rPr lang="es-AR" sz="1543" b="1" i="1" dirty="0">
                <a:solidFill>
                  <a:srgbClr val="FF0000"/>
                </a:solidFill>
              </a:rPr>
              <a:t>		</a:t>
            </a:r>
            <a:r>
              <a:rPr lang="es-AR" sz="1543" b="1" i="1" dirty="0" smtClean="0">
                <a:solidFill>
                  <a:srgbClr val="FF0000"/>
                </a:solidFill>
              </a:rPr>
              <a:t>   ; </a:t>
            </a:r>
            <a:r>
              <a:rPr lang="es-AR" sz="1543" b="1" i="1" dirty="0">
                <a:solidFill>
                  <a:srgbClr val="FF0000"/>
                </a:solidFill>
              </a:rPr>
              <a:t>donde se situará  la siguiente instrucción</a:t>
            </a:r>
          </a:p>
          <a:p>
            <a:pPr>
              <a:defRPr/>
            </a:pPr>
            <a:r>
              <a:rPr lang="es-AR" sz="1543" b="1" i="1" dirty="0">
                <a:solidFill>
                  <a:srgbClr val="FF0000"/>
                </a:solidFill>
              </a:rPr>
              <a:t> </a:t>
            </a:r>
            <a:r>
              <a:rPr lang="es-AR" sz="1543" b="1" i="1" dirty="0" err="1">
                <a:solidFill>
                  <a:srgbClr val="FF0000"/>
                </a:solidFill>
              </a:rPr>
              <a:t>movlw</a:t>
            </a:r>
            <a:r>
              <a:rPr lang="es-AR" sz="1543" b="1" i="1" dirty="0">
                <a:solidFill>
                  <a:srgbClr val="FF0000"/>
                </a:solidFill>
              </a:rPr>
              <a:t>  </a:t>
            </a:r>
            <a:r>
              <a:rPr lang="es-AR" sz="1543" b="1" i="1" dirty="0">
                <a:solidFill>
                  <a:srgbClr val="00B050"/>
                </a:solidFill>
              </a:rPr>
              <a:t>05</a:t>
            </a:r>
            <a:r>
              <a:rPr lang="es-AR" sz="1543" b="1" i="1" dirty="0">
                <a:solidFill>
                  <a:srgbClr val="FF0000"/>
                </a:solidFill>
              </a:rPr>
              <a:t>		</a:t>
            </a:r>
            <a:r>
              <a:rPr lang="es-AR" sz="1543" b="1" i="1" dirty="0" smtClean="0">
                <a:solidFill>
                  <a:srgbClr val="FF0000"/>
                </a:solidFill>
              </a:rPr>
              <a:t>  ; </a:t>
            </a:r>
            <a:r>
              <a:rPr lang="es-AR" sz="1543" b="1" i="1" dirty="0">
                <a:solidFill>
                  <a:srgbClr val="FF0000"/>
                </a:solidFill>
              </a:rPr>
              <a:t>5 =&gt; W (primera instrucción)</a:t>
            </a:r>
          </a:p>
          <a:p>
            <a:pPr>
              <a:defRPr/>
            </a:pPr>
            <a:r>
              <a:rPr lang="es-AR" sz="1543" b="1" i="1" dirty="0">
                <a:solidFill>
                  <a:srgbClr val="FF0000"/>
                </a:solidFill>
              </a:rPr>
              <a:t> </a:t>
            </a:r>
            <a:r>
              <a:rPr lang="es-AR" sz="1543" b="1" i="1" dirty="0" err="1">
                <a:solidFill>
                  <a:srgbClr val="FF0000"/>
                </a:solidFill>
              </a:rPr>
              <a:t>movwf</a:t>
            </a:r>
            <a:r>
              <a:rPr lang="es-AR" sz="1543" b="1" i="1" dirty="0">
                <a:solidFill>
                  <a:srgbClr val="FF0000"/>
                </a:solidFill>
              </a:rPr>
              <a:t>   </a:t>
            </a:r>
            <a:r>
              <a:rPr lang="es-AR" sz="1543" b="1" i="1" dirty="0">
                <a:solidFill>
                  <a:schemeClr val="tx2">
                    <a:lumMod val="60000"/>
                    <a:lumOff val="40000"/>
                  </a:schemeClr>
                </a:solidFill>
              </a:rPr>
              <a:t>OPERANDO1 </a:t>
            </a:r>
            <a:r>
              <a:rPr lang="es-AR" sz="1543" b="1" i="1" dirty="0">
                <a:solidFill>
                  <a:srgbClr val="FF0000"/>
                </a:solidFill>
              </a:rPr>
              <a:t>	</a:t>
            </a:r>
            <a:r>
              <a:rPr lang="es-AR" sz="1543" b="1" i="1" dirty="0" smtClean="0">
                <a:solidFill>
                  <a:srgbClr val="FF0000"/>
                </a:solidFill>
              </a:rPr>
              <a:t>  ; </a:t>
            </a:r>
            <a:r>
              <a:rPr lang="es-AR" sz="1543" b="1" i="1" dirty="0">
                <a:solidFill>
                  <a:srgbClr val="FF0000"/>
                </a:solidFill>
              </a:rPr>
              <a:t>W =&gt; operando1</a:t>
            </a:r>
          </a:p>
          <a:p>
            <a:pPr>
              <a:defRPr/>
            </a:pPr>
            <a:r>
              <a:rPr lang="es-AR" sz="1543" b="1" i="1" dirty="0">
                <a:solidFill>
                  <a:srgbClr val="FF0000"/>
                </a:solidFill>
              </a:rPr>
              <a:t> </a:t>
            </a:r>
            <a:r>
              <a:rPr lang="es-AR" sz="1543" b="1" i="1" dirty="0" err="1">
                <a:solidFill>
                  <a:srgbClr val="FF0000"/>
                </a:solidFill>
              </a:rPr>
              <a:t>movlw</a:t>
            </a:r>
            <a:r>
              <a:rPr lang="es-AR" sz="1543" b="1" i="1" dirty="0">
                <a:solidFill>
                  <a:srgbClr val="FF0000"/>
                </a:solidFill>
              </a:rPr>
              <a:t>   </a:t>
            </a:r>
            <a:r>
              <a:rPr lang="es-AR" sz="1543" b="1" i="1" dirty="0">
                <a:solidFill>
                  <a:srgbClr val="00B050"/>
                </a:solidFill>
              </a:rPr>
              <a:t>02</a:t>
            </a:r>
            <a:r>
              <a:rPr lang="es-AR" sz="1543" b="1" i="1" dirty="0">
                <a:solidFill>
                  <a:srgbClr val="FF0000"/>
                </a:solidFill>
              </a:rPr>
              <a:t> 	</a:t>
            </a:r>
            <a:r>
              <a:rPr lang="es-AR" sz="1543" b="1" i="1" dirty="0" smtClean="0">
                <a:solidFill>
                  <a:srgbClr val="FF0000"/>
                </a:solidFill>
              </a:rPr>
              <a:t>  ; </a:t>
            </a:r>
            <a:r>
              <a:rPr lang="es-AR" sz="1543" b="1" i="1" dirty="0">
                <a:solidFill>
                  <a:srgbClr val="FF0000"/>
                </a:solidFill>
              </a:rPr>
              <a:t>2 =&gt; W</a:t>
            </a:r>
          </a:p>
          <a:p>
            <a:pPr>
              <a:defRPr/>
            </a:pPr>
            <a:r>
              <a:rPr lang="es-AR" sz="1543" b="1" i="1" dirty="0">
                <a:solidFill>
                  <a:srgbClr val="FF0000"/>
                </a:solidFill>
              </a:rPr>
              <a:t> </a:t>
            </a:r>
            <a:r>
              <a:rPr lang="es-AR" sz="1543" b="1" i="1" dirty="0" err="1">
                <a:solidFill>
                  <a:srgbClr val="FF0000"/>
                </a:solidFill>
              </a:rPr>
              <a:t>movwf</a:t>
            </a:r>
            <a:r>
              <a:rPr lang="es-AR" sz="1543" b="1" i="1" dirty="0">
                <a:solidFill>
                  <a:srgbClr val="FF0000"/>
                </a:solidFill>
              </a:rPr>
              <a:t>   </a:t>
            </a:r>
            <a:r>
              <a:rPr lang="es-AR" sz="1543" b="1" i="1" dirty="0">
                <a:solidFill>
                  <a:schemeClr val="tx2">
                    <a:lumMod val="60000"/>
                    <a:lumOff val="40000"/>
                  </a:schemeClr>
                </a:solidFill>
              </a:rPr>
              <a:t>OPERANDO2 </a:t>
            </a:r>
            <a:r>
              <a:rPr lang="es-AR" sz="1543" b="1" i="1" dirty="0">
                <a:solidFill>
                  <a:srgbClr val="FF0000"/>
                </a:solidFill>
              </a:rPr>
              <a:t>	</a:t>
            </a:r>
            <a:r>
              <a:rPr lang="es-AR" sz="1543" b="1" i="1" dirty="0" smtClean="0">
                <a:solidFill>
                  <a:srgbClr val="FF0000"/>
                </a:solidFill>
              </a:rPr>
              <a:t>  ; </a:t>
            </a:r>
            <a:r>
              <a:rPr lang="es-AR" sz="1543" b="1" i="1" dirty="0">
                <a:solidFill>
                  <a:srgbClr val="FF0000"/>
                </a:solidFill>
              </a:rPr>
              <a:t>W =&gt; operando2 </a:t>
            </a:r>
          </a:p>
          <a:p>
            <a:pPr>
              <a:defRPr/>
            </a:pPr>
            <a:r>
              <a:rPr lang="es-AR" sz="1543" b="1" i="1" dirty="0">
                <a:solidFill>
                  <a:srgbClr val="FF0000"/>
                </a:solidFill>
              </a:rPr>
              <a:t> </a:t>
            </a:r>
            <a:r>
              <a:rPr lang="es-AR" sz="1543" b="1" i="1" dirty="0" err="1">
                <a:solidFill>
                  <a:srgbClr val="FF0000"/>
                </a:solidFill>
              </a:rPr>
              <a:t>movfw</a:t>
            </a:r>
            <a:r>
              <a:rPr lang="es-AR" sz="1543" b="1" i="1" dirty="0">
                <a:solidFill>
                  <a:srgbClr val="FF0000"/>
                </a:solidFill>
              </a:rPr>
              <a:t>   </a:t>
            </a:r>
            <a:r>
              <a:rPr lang="es-AR" sz="1543" b="1" i="1" dirty="0">
                <a:solidFill>
                  <a:schemeClr val="tx2">
                    <a:lumMod val="60000"/>
                    <a:lumOff val="40000"/>
                  </a:schemeClr>
                </a:solidFill>
              </a:rPr>
              <a:t>OPERANDO1 </a:t>
            </a:r>
            <a:r>
              <a:rPr lang="es-AR" sz="1543" b="1" i="1" dirty="0" smtClean="0">
                <a:solidFill>
                  <a:schemeClr val="tx2">
                    <a:lumMod val="60000"/>
                    <a:lumOff val="40000"/>
                  </a:schemeClr>
                </a:solidFill>
              </a:rPr>
              <a:t>  </a:t>
            </a:r>
            <a:r>
              <a:rPr lang="es-AR" sz="1543" b="1" i="1" dirty="0" smtClean="0">
                <a:solidFill>
                  <a:srgbClr val="FF0000"/>
                </a:solidFill>
              </a:rPr>
              <a:t>; </a:t>
            </a:r>
            <a:r>
              <a:rPr lang="es-AR" sz="1543" b="1" i="1" dirty="0">
                <a:solidFill>
                  <a:srgbClr val="FF0000"/>
                </a:solidFill>
              </a:rPr>
              <a:t>operando 1 =&gt; W</a:t>
            </a:r>
          </a:p>
          <a:p>
            <a:pPr>
              <a:defRPr/>
            </a:pPr>
            <a:r>
              <a:rPr lang="es-AR" sz="1543" b="1" i="1" dirty="0">
                <a:solidFill>
                  <a:srgbClr val="FF0000"/>
                </a:solidFill>
              </a:rPr>
              <a:t> </a:t>
            </a:r>
            <a:r>
              <a:rPr lang="es-AR" sz="1543" b="1" i="1" dirty="0" err="1">
                <a:solidFill>
                  <a:srgbClr val="FF0000"/>
                </a:solidFill>
              </a:rPr>
              <a:t>addwf</a:t>
            </a:r>
            <a:r>
              <a:rPr lang="es-AR" sz="1543" b="1" i="1" dirty="0">
                <a:solidFill>
                  <a:srgbClr val="FF0000"/>
                </a:solidFill>
              </a:rPr>
              <a:t>   </a:t>
            </a:r>
            <a:r>
              <a:rPr lang="es-AR" sz="1543" b="1" i="1" dirty="0">
                <a:solidFill>
                  <a:schemeClr val="tx2">
                    <a:lumMod val="60000"/>
                    <a:lumOff val="40000"/>
                  </a:schemeClr>
                </a:solidFill>
              </a:rPr>
              <a:t>OPERANDO2</a:t>
            </a:r>
            <a:r>
              <a:rPr lang="es-AR" sz="1543" b="1" i="1" dirty="0">
                <a:solidFill>
                  <a:srgbClr val="FF0000"/>
                </a:solidFill>
              </a:rPr>
              <a:t>,  </a:t>
            </a:r>
            <a:r>
              <a:rPr lang="es-AR" sz="1543" b="1" i="1" dirty="0" smtClean="0">
                <a:solidFill>
                  <a:srgbClr val="00B050"/>
                </a:solidFill>
              </a:rPr>
              <a:t>0  </a:t>
            </a:r>
            <a:r>
              <a:rPr lang="es-AR" sz="1543" b="1" i="1" dirty="0" smtClean="0">
                <a:solidFill>
                  <a:srgbClr val="FF0000"/>
                </a:solidFill>
              </a:rPr>
              <a:t>; </a:t>
            </a:r>
            <a:r>
              <a:rPr lang="es-AR" sz="1543" b="1" i="1" dirty="0">
                <a:solidFill>
                  <a:srgbClr val="FF0000"/>
                </a:solidFill>
              </a:rPr>
              <a:t>W + operando2 =&gt; W</a:t>
            </a:r>
          </a:p>
          <a:p>
            <a:pPr>
              <a:defRPr/>
            </a:pPr>
            <a:r>
              <a:rPr lang="es-AR" sz="1543" b="1" i="1" dirty="0">
                <a:solidFill>
                  <a:srgbClr val="FF0000"/>
                </a:solidFill>
              </a:rPr>
              <a:t> </a:t>
            </a:r>
            <a:r>
              <a:rPr lang="es-AR" sz="1543" b="1" i="1" dirty="0" err="1">
                <a:solidFill>
                  <a:srgbClr val="FF0000"/>
                </a:solidFill>
              </a:rPr>
              <a:t>movwf</a:t>
            </a:r>
            <a:r>
              <a:rPr lang="es-AR" sz="1543" b="1" i="1" dirty="0">
                <a:solidFill>
                  <a:srgbClr val="FF0000"/>
                </a:solidFill>
              </a:rPr>
              <a:t>  </a:t>
            </a:r>
            <a:r>
              <a:rPr lang="es-AR" sz="1543" b="1" i="1" dirty="0">
                <a:solidFill>
                  <a:schemeClr val="tx2">
                    <a:lumMod val="60000"/>
                    <a:lumOff val="40000"/>
                  </a:schemeClr>
                </a:solidFill>
              </a:rPr>
              <a:t>RESULTADO</a:t>
            </a:r>
            <a:r>
              <a:rPr lang="es-AR" sz="1543" b="1" i="1" dirty="0">
                <a:solidFill>
                  <a:srgbClr val="FF0000"/>
                </a:solidFill>
              </a:rPr>
              <a:t>	</a:t>
            </a:r>
            <a:r>
              <a:rPr lang="es-AR" sz="1543" b="1" i="1" dirty="0" smtClean="0">
                <a:solidFill>
                  <a:srgbClr val="FF0000"/>
                </a:solidFill>
              </a:rPr>
              <a:t>  ; </a:t>
            </a:r>
            <a:r>
              <a:rPr lang="es-AR" sz="1543" b="1" i="1" dirty="0">
                <a:solidFill>
                  <a:srgbClr val="FF0000"/>
                </a:solidFill>
              </a:rPr>
              <a:t>W =&gt; resultado</a:t>
            </a:r>
          </a:p>
          <a:p>
            <a:pPr>
              <a:defRPr/>
            </a:pPr>
            <a:r>
              <a:rPr lang="es-AR" sz="1543" b="1" i="1" dirty="0">
                <a:solidFill>
                  <a:srgbClr val="FF0000"/>
                </a:solidFill>
              </a:rPr>
              <a:t> </a:t>
            </a:r>
            <a:r>
              <a:rPr lang="es-AR" sz="1543" b="1" i="1" dirty="0">
                <a:solidFill>
                  <a:schemeClr val="tx1">
                    <a:lumMod val="85000"/>
                    <a:lumOff val="15000"/>
                  </a:schemeClr>
                </a:solidFill>
              </a:rPr>
              <a:t>END</a:t>
            </a:r>
            <a:r>
              <a:rPr lang="es-AR" sz="1543" b="1" i="1" dirty="0">
                <a:solidFill>
                  <a:srgbClr val="FF0000"/>
                </a:solidFill>
              </a:rPr>
              <a:t>	</a:t>
            </a:r>
            <a:r>
              <a:rPr lang="es-AR" sz="1543" b="1" i="1">
                <a:solidFill>
                  <a:srgbClr val="FF0000"/>
                </a:solidFill>
              </a:rPr>
              <a:t>	</a:t>
            </a:r>
            <a:r>
              <a:rPr lang="es-AR" sz="1543" b="1" i="1" smtClean="0">
                <a:solidFill>
                  <a:srgbClr val="FF0000"/>
                </a:solidFill>
              </a:rPr>
              <a:t>  ; </a:t>
            </a:r>
            <a:r>
              <a:rPr lang="es-AR" sz="1543" b="1" i="1" dirty="0">
                <a:solidFill>
                  <a:srgbClr val="FF0000"/>
                </a:solidFill>
              </a:rPr>
              <a:t>Directiva de fin de programa</a:t>
            </a:r>
          </a:p>
        </p:txBody>
      </p:sp>
      <p:sp>
        <p:nvSpPr>
          <p:cNvPr id="30725" name="Rectangle 3"/>
          <p:cNvSpPr>
            <a:spLocks noChangeArrowheads="1"/>
          </p:cNvSpPr>
          <p:nvPr/>
        </p:nvSpPr>
        <p:spPr bwMode="auto">
          <a:xfrm>
            <a:off x="306917" y="53152"/>
            <a:ext cx="184731" cy="397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AR" altLang="es-ES" sz="1984">
              <a:cs typeface="Arial" panose="020B0604020202020204" pitchFamily="34" charset="0"/>
            </a:endParaRPr>
          </a:p>
        </p:txBody>
      </p:sp>
      <p:sp>
        <p:nvSpPr>
          <p:cNvPr id="30726" name="Rectangle 4"/>
          <p:cNvSpPr>
            <a:spLocks noChangeArrowheads="1"/>
          </p:cNvSpPr>
          <p:nvPr/>
        </p:nvSpPr>
        <p:spPr bwMode="auto">
          <a:xfrm>
            <a:off x="376914" y="609629"/>
            <a:ext cx="184731" cy="397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AR" altLang="es-ES" sz="1984"/>
          </a:p>
        </p:txBody>
      </p:sp>
      <p:sp>
        <p:nvSpPr>
          <p:cNvPr id="30727" name="Rectangle 5"/>
          <p:cNvSpPr>
            <a:spLocks noChangeArrowheads="1"/>
          </p:cNvSpPr>
          <p:nvPr/>
        </p:nvSpPr>
        <p:spPr bwMode="auto">
          <a:xfrm>
            <a:off x="376914" y="1181478"/>
            <a:ext cx="300082" cy="261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AR" altLang="es-ES" sz="1102">
                <a:ea typeface="Calibri" panose="020F0502020204030204" pitchFamily="34" charset="0"/>
                <a:cs typeface="Arial" panose="020B0604020202020204" pitchFamily="34" charset="0"/>
              </a:rPr>
              <a:t>   </a:t>
            </a:r>
            <a:endParaRPr lang="es-AR" altLang="es-ES" sz="1984">
              <a:ea typeface="Calibri" panose="020F0502020204030204" pitchFamily="34" charset="0"/>
              <a:cs typeface="Arial" panose="020B0604020202020204" pitchFamily="34" charset="0"/>
            </a:endParaRPr>
          </a:p>
        </p:txBody>
      </p:sp>
      <p:sp>
        <p:nvSpPr>
          <p:cNvPr id="12" name="11 CuadroTexto"/>
          <p:cNvSpPr txBox="1"/>
          <p:nvPr/>
        </p:nvSpPr>
        <p:spPr>
          <a:xfrm>
            <a:off x="6102668" y="5682006"/>
            <a:ext cx="3688841" cy="13476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5875">
            <a:solidFill>
              <a:srgbClr val="C00000"/>
            </a:solidFill>
            <a:prstDash val="sysDash"/>
          </a:ln>
          <a:effectLst>
            <a:outerShdw blurRad="50800" dist="38100" dir="2700000" algn="tl" rotWithShape="0">
              <a:prstClr val="black">
                <a:alpha val="40000"/>
              </a:prstClr>
            </a:outerShdw>
          </a:effectLst>
        </p:spPr>
        <p:txBody>
          <a:bodyPr>
            <a:spAutoFit/>
          </a:bodyPr>
          <a:lstStyle/>
          <a:p>
            <a:pPr marL="188989" indent="-188989">
              <a:buFont typeface="Arial" pitchFamily="34" charset="0"/>
              <a:buChar char="•"/>
              <a:defRPr/>
            </a:pPr>
            <a:r>
              <a:rPr lang="es-AR" sz="1323" b="1" dirty="0">
                <a:solidFill>
                  <a:schemeClr val="tx1">
                    <a:lumMod val="85000"/>
                    <a:lumOff val="15000"/>
                  </a:schemeClr>
                </a:solidFill>
                <a:latin typeface="Arial" charset="0"/>
              </a:rPr>
              <a:t>Directivas del Compilador en mayúsculas</a:t>
            </a:r>
          </a:p>
          <a:p>
            <a:pPr marL="188989" indent="-188989">
              <a:buFont typeface="Arial" pitchFamily="34" charset="0"/>
              <a:buChar char="•"/>
              <a:defRPr/>
            </a:pPr>
            <a:r>
              <a:rPr lang="es-AR" sz="1323" b="1" dirty="0">
                <a:solidFill>
                  <a:schemeClr val="tx2">
                    <a:lumMod val="60000"/>
                    <a:lumOff val="40000"/>
                  </a:schemeClr>
                </a:solidFill>
                <a:latin typeface="Arial" charset="0"/>
              </a:rPr>
              <a:t>Nombre de variables en mayúsculas</a:t>
            </a:r>
          </a:p>
          <a:p>
            <a:pPr marL="188989" indent="-188989">
              <a:buFont typeface="Arial" pitchFamily="34" charset="0"/>
              <a:buChar char="•"/>
              <a:defRPr/>
            </a:pPr>
            <a:r>
              <a:rPr lang="es-AR" sz="1323" b="1" dirty="0">
                <a:solidFill>
                  <a:srgbClr val="FF0000"/>
                </a:solidFill>
                <a:latin typeface="Arial" charset="0"/>
              </a:rPr>
              <a:t>Nemónicos en minúsculas</a:t>
            </a:r>
          </a:p>
          <a:p>
            <a:pPr marL="188989" indent="-188989">
              <a:buFont typeface="Arial" pitchFamily="34" charset="0"/>
              <a:buChar char="•"/>
              <a:defRPr/>
            </a:pPr>
            <a:r>
              <a:rPr lang="es-AR" sz="1543" b="1" i="1" dirty="0">
                <a:solidFill>
                  <a:srgbClr val="00B050"/>
                </a:solidFill>
                <a:latin typeface="Arial" charset="0"/>
              </a:rPr>
              <a:t>Valores de operando (constantes)</a:t>
            </a:r>
          </a:p>
          <a:p>
            <a:pPr marL="188989" indent="-188989">
              <a:buFont typeface="Arial" pitchFamily="34" charset="0"/>
              <a:buChar char="•"/>
              <a:defRPr/>
            </a:pPr>
            <a:r>
              <a:rPr lang="es-AR" sz="1323" dirty="0">
                <a:latin typeface="Arial" charset="0"/>
              </a:rPr>
              <a:t>Programas bien estructurado</a:t>
            </a:r>
          </a:p>
        </p:txBody>
      </p:sp>
      <p:sp>
        <p:nvSpPr>
          <p:cNvPr id="2" name="1 Cerrar llave"/>
          <p:cNvSpPr/>
          <p:nvPr/>
        </p:nvSpPr>
        <p:spPr>
          <a:xfrm>
            <a:off x="6655644" y="2906625"/>
            <a:ext cx="118995" cy="2001914"/>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AR" sz="1984"/>
          </a:p>
        </p:txBody>
      </p:sp>
      <p:sp>
        <p:nvSpPr>
          <p:cNvPr id="3" name="2 CuadroTexto"/>
          <p:cNvSpPr txBox="1"/>
          <p:nvPr/>
        </p:nvSpPr>
        <p:spPr>
          <a:xfrm>
            <a:off x="6874270" y="3690592"/>
            <a:ext cx="3076483" cy="397673"/>
          </a:xfrm>
          <a:prstGeom prst="rect">
            <a:avLst/>
          </a:prstGeom>
          <a:solidFill>
            <a:schemeClr val="accent3">
              <a:lumMod val="40000"/>
              <a:lumOff val="60000"/>
            </a:schemeClr>
          </a:solidFill>
        </p:spPr>
        <p:txBody>
          <a:bodyPr wrap="none">
            <a:spAutoFit/>
          </a:bodyPr>
          <a:lstStyle/>
          <a:p>
            <a:pPr algn="r">
              <a:defRPr/>
            </a:pPr>
            <a:r>
              <a:rPr lang="es-AR" sz="1984" i="1" dirty="0">
                <a:latin typeface="Arial" charset="0"/>
              </a:rPr>
              <a:t>Directivas del Compilador</a:t>
            </a:r>
          </a:p>
        </p:txBody>
      </p:sp>
    </p:spTree>
    <p:extLst>
      <p:ext uri="{BB962C8B-B14F-4D97-AF65-F5344CB8AC3E}">
        <p14:creationId xmlns:p14="http://schemas.microsoft.com/office/powerpoint/2010/main" val="82510121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9385300" cy="1470025"/>
          </a:xfrm>
        </p:spPr>
        <p:txBody>
          <a:bodyPr/>
          <a:lstStyle/>
          <a:p>
            <a:r>
              <a:rPr lang="es-ES" b="1" dirty="0" smtClean="0">
                <a:solidFill>
                  <a:srgbClr val="FF0000"/>
                </a:solidFill>
                <a:effectLst>
                  <a:outerShdw blurRad="38100" dist="38100" dir="2700000" algn="tl">
                    <a:srgbClr val="000000">
                      <a:alpha val="43137"/>
                    </a:srgbClr>
                  </a:outerShdw>
                </a:effectLst>
              </a:rPr>
              <a:t>Practica Programación </a:t>
            </a:r>
            <a:r>
              <a:rPr lang="es-ES" b="1" dirty="0" err="1" smtClean="0">
                <a:solidFill>
                  <a:srgbClr val="FF0000"/>
                </a:solidFill>
                <a:effectLst>
                  <a:outerShdw blurRad="38100" dist="38100" dir="2700000" algn="tl">
                    <a:srgbClr val="000000">
                      <a:alpha val="43137"/>
                    </a:srgbClr>
                  </a:outerShdw>
                </a:effectLst>
              </a:rPr>
              <a:t>Assembler</a:t>
            </a:r>
            <a:endParaRPr lang="es-ES" b="1" dirty="0">
              <a:solidFill>
                <a:srgbClr val="FF0000"/>
              </a:solidFill>
              <a:effectLst>
                <a:outerShdw blurRad="38100" dist="38100" dir="2700000" algn="tl">
                  <a:srgbClr val="000000">
                    <a:alpha val="43137"/>
                  </a:srgbClr>
                </a:outerShdw>
              </a:effectLst>
            </a:endParaRPr>
          </a:p>
        </p:txBody>
      </p:sp>
      <p:sp>
        <p:nvSpPr>
          <p:cNvPr id="3" name="Subtítulo 2"/>
          <p:cNvSpPr>
            <a:spLocks noGrp="1"/>
          </p:cNvSpPr>
          <p:nvPr>
            <p:ph type="subTitle" idx="1"/>
          </p:nvPr>
        </p:nvSpPr>
        <p:spPr>
          <a:xfrm>
            <a:off x="850900" y="3886200"/>
            <a:ext cx="8915400" cy="1752600"/>
          </a:xfrm>
        </p:spPr>
        <p:txBody>
          <a:bodyPr/>
          <a:lstStyle/>
          <a:p>
            <a:r>
              <a:rPr lang="es-ES" u="sng" dirty="0" smtClean="0">
                <a:solidFill>
                  <a:schemeClr val="accent5">
                    <a:lumMod val="50000"/>
                  </a:schemeClr>
                </a:solidFill>
                <a:effectLst>
                  <a:outerShdw blurRad="38100" dist="38100" dir="2700000" algn="tl">
                    <a:srgbClr val="000000">
                      <a:alpha val="43137"/>
                    </a:srgbClr>
                  </a:outerShdw>
                </a:effectLst>
              </a:rPr>
              <a:t>Practica 1</a:t>
            </a:r>
            <a:endParaRPr lang="es-ES" u="sng" dirty="0">
              <a:solidFill>
                <a:schemeClr val="accent5">
                  <a:lumMod val="5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5674839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65101" y="1142900"/>
            <a:ext cx="10129292" cy="4770537"/>
          </a:xfrm>
          <a:prstGeom prst="rect">
            <a:avLst/>
          </a:prstGeom>
        </p:spPr>
        <p:txBody>
          <a:bodyPr wrap="square">
            <a:spAutoFit/>
          </a:bodyPr>
          <a:lstStyle/>
          <a:p>
            <a:r>
              <a:rPr lang="es-ES" sz="1600" b="1" dirty="0">
                <a:latin typeface="Courier New" panose="02070309020205020404" pitchFamily="49" charset="0"/>
              </a:rPr>
              <a:t>;******************************************************************************</a:t>
            </a:r>
          </a:p>
          <a:p>
            <a:r>
              <a:rPr lang="es-ES" sz="1600" b="1" dirty="0">
                <a:latin typeface="Courier New" panose="02070309020205020404" pitchFamily="49" charset="0"/>
              </a:rPr>
              <a:t>;Practica 1 - Encendido de un Led</a:t>
            </a:r>
          </a:p>
          <a:p>
            <a:r>
              <a:rPr lang="es-ES" sz="1600" b="1" dirty="0">
                <a:latin typeface="Courier New" panose="02070309020205020404" pitchFamily="49" charset="0"/>
              </a:rPr>
              <a:t>;Este programa enciende un led conectado al puerto B del micro en el placa </a:t>
            </a:r>
          </a:p>
          <a:p>
            <a:r>
              <a:rPr lang="es-ES" sz="1600" b="1" dirty="0">
                <a:latin typeface="Courier New" panose="02070309020205020404" pitchFamily="49" charset="0"/>
              </a:rPr>
              <a:t>;******************************************************************************</a:t>
            </a:r>
          </a:p>
          <a:p>
            <a:r>
              <a:rPr lang="es-ES" sz="1600" b="1" dirty="0">
                <a:latin typeface="Courier New" panose="02070309020205020404" pitchFamily="49" charset="0"/>
              </a:rPr>
              <a:t>#</a:t>
            </a:r>
            <a:r>
              <a:rPr lang="es-ES" sz="1600" b="1" dirty="0" err="1">
                <a:latin typeface="Courier New" panose="02070309020205020404" pitchFamily="49" charset="0"/>
              </a:rPr>
              <a:t>include</a:t>
            </a:r>
            <a:r>
              <a:rPr lang="es-ES" sz="1600" b="1" dirty="0">
                <a:latin typeface="Courier New" panose="02070309020205020404" pitchFamily="49" charset="0"/>
              </a:rPr>
              <a:t> &lt;p16F628.inc&gt;	</a:t>
            </a:r>
            <a:r>
              <a:rPr lang="es-ES" sz="1600" b="1" dirty="0" smtClean="0">
                <a:latin typeface="Courier New" panose="02070309020205020404" pitchFamily="49" charset="0"/>
              </a:rPr>
              <a:t>    ;</a:t>
            </a:r>
            <a:r>
              <a:rPr lang="es-ES" sz="1600" b="1" dirty="0">
                <a:latin typeface="Courier New" panose="02070309020205020404" pitchFamily="49" charset="0"/>
              </a:rPr>
              <a:t>Incluimos el archivo que contiene los registros del </a:t>
            </a:r>
          </a:p>
          <a:p>
            <a:r>
              <a:rPr lang="es-ES" sz="1600" b="1" dirty="0">
                <a:latin typeface="Courier New" panose="02070309020205020404" pitchFamily="49" charset="0"/>
              </a:rPr>
              <a:t>			    </a:t>
            </a:r>
            <a:r>
              <a:rPr lang="es-ES" sz="1600" b="1" dirty="0" smtClean="0">
                <a:latin typeface="Courier New" panose="02070309020205020404" pitchFamily="49" charset="0"/>
              </a:rPr>
              <a:t>;micro </a:t>
            </a:r>
            <a:r>
              <a:rPr lang="es-ES" sz="1600" b="1" dirty="0">
                <a:latin typeface="Courier New" panose="02070309020205020404" pitchFamily="49" charset="0"/>
              </a:rPr>
              <a:t>que utilizaremos</a:t>
            </a:r>
          </a:p>
          <a:p>
            <a:endParaRPr lang="es-ES" sz="1600" b="1" dirty="0">
              <a:solidFill>
                <a:srgbClr val="FF0000"/>
              </a:solidFill>
              <a:latin typeface="Courier New" panose="02070309020205020404" pitchFamily="49" charset="0"/>
            </a:endParaRPr>
          </a:p>
          <a:p>
            <a:r>
              <a:rPr lang="es-ES" sz="1600" b="1" dirty="0">
                <a:solidFill>
                  <a:srgbClr val="FF0000"/>
                </a:solidFill>
                <a:latin typeface="Courier New" panose="02070309020205020404" pitchFamily="49" charset="0"/>
              </a:rPr>
              <a:t>     </a:t>
            </a:r>
            <a:r>
              <a:rPr lang="es-ES" sz="1600" b="1" dirty="0" err="1">
                <a:latin typeface="Courier New" panose="02070309020205020404" pitchFamily="49" charset="0"/>
              </a:rPr>
              <a:t>org</a:t>
            </a:r>
            <a:r>
              <a:rPr lang="es-ES" sz="1600" b="1" dirty="0">
                <a:latin typeface="Courier New" panose="02070309020205020404" pitchFamily="49" charset="0"/>
              </a:rPr>
              <a:t> 0		</a:t>
            </a:r>
            <a:r>
              <a:rPr lang="es-ES" sz="1600" b="1" dirty="0" smtClean="0">
                <a:latin typeface="Courier New" panose="02070309020205020404" pitchFamily="49" charset="0"/>
              </a:rPr>
              <a:t>    ;</a:t>
            </a:r>
            <a:r>
              <a:rPr lang="es-ES" sz="1600" b="1" dirty="0" err="1">
                <a:latin typeface="Courier New" panose="02070309020205020404" pitchFamily="49" charset="0"/>
              </a:rPr>
              <a:t>Instruccion</a:t>
            </a:r>
            <a:r>
              <a:rPr lang="es-ES" sz="1600" b="1" dirty="0">
                <a:latin typeface="Courier New" panose="02070309020205020404" pitchFamily="49" charset="0"/>
              </a:rPr>
              <a:t> al compilador, esta indica que el </a:t>
            </a:r>
            <a:r>
              <a:rPr lang="es-ES" sz="1600" b="1" dirty="0" err="1">
                <a:latin typeface="Courier New" panose="02070309020205020404" pitchFamily="49" charset="0"/>
              </a:rPr>
              <a:t>codigo</a:t>
            </a:r>
            <a:r>
              <a:rPr lang="es-ES" sz="1600" b="1" dirty="0">
                <a:latin typeface="Courier New" panose="02070309020205020404" pitchFamily="49" charset="0"/>
              </a:rPr>
              <a:t> </a:t>
            </a:r>
          </a:p>
          <a:p>
            <a:r>
              <a:rPr lang="es-ES" sz="1600" b="1" dirty="0">
                <a:latin typeface="Courier New" panose="02070309020205020404" pitchFamily="49" charset="0"/>
              </a:rPr>
              <a:t>                           ;precedente</a:t>
            </a:r>
          </a:p>
          <a:p>
            <a:r>
              <a:rPr lang="es-ES" sz="1600" b="1" dirty="0">
                <a:latin typeface="Courier New" panose="02070309020205020404" pitchFamily="49" charset="0"/>
              </a:rPr>
              <a:t>			</a:t>
            </a:r>
            <a:r>
              <a:rPr lang="es-ES" sz="1600" b="1" dirty="0" smtClean="0">
                <a:latin typeface="Courier New" panose="02070309020205020404" pitchFamily="49" charset="0"/>
              </a:rPr>
              <a:t>    ;</a:t>
            </a:r>
            <a:r>
              <a:rPr lang="es-ES" sz="1600" b="1" dirty="0">
                <a:latin typeface="Courier New" panose="02070309020205020404" pitchFamily="49" charset="0"/>
              </a:rPr>
              <a:t>a esta </a:t>
            </a:r>
            <a:r>
              <a:rPr lang="es-ES" sz="1600" b="1" dirty="0" err="1">
                <a:latin typeface="Courier New" panose="02070309020205020404" pitchFamily="49" charset="0"/>
              </a:rPr>
              <a:t>instruccion</a:t>
            </a:r>
            <a:r>
              <a:rPr lang="es-ES" sz="1600" b="1" dirty="0">
                <a:latin typeface="Courier New" panose="02070309020205020404" pitchFamily="49" charset="0"/>
              </a:rPr>
              <a:t> se situara en la </a:t>
            </a:r>
            <a:r>
              <a:rPr lang="es-ES" sz="1600" b="1" dirty="0" err="1">
                <a:latin typeface="Courier New" panose="02070309020205020404" pitchFamily="49" charset="0"/>
              </a:rPr>
              <a:t>direccion</a:t>
            </a:r>
            <a:r>
              <a:rPr lang="es-ES" sz="1600" b="1" dirty="0">
                <a:latin typeface="Courier New" panose="02070309020205020404" pitchFamily="49" charset="0"/>
              </a:rPr>
              <a:t> </a:t>
            </a:r>
          </a:p>
          <a:p>
            <a:r>
              <a:rPr lang="es-ES" sz="1600" b="1" dirty="0">
                <a:latin typeface="Courier New" panose="02070309020205020404" pitchFamily="49" charset="0"/>
              </a:rPr>
              <a:t>                           ;indicada, en este</a:t>
            </a:r>
          </a:p>
          <a:p>
            <a:r>
              <a:rPr lang="es-ES" sz="1600" b="1" dirty="0">
                <a:latin typeface="Courier New" panose="02070309020205020404" pitchFamily="49" charset="0"/>
              </a:rPr>
              <a:t>			</a:t>
            </a:r>
            <a:r>
              <a:rPr lang="es-ES" sz="1600" b="1" dirty="0" smtClean="0">
                <a:latin typeface="Courier New" panose="02070309020205020404" pitchFamily="49" charset="0"/>
              </a:rPr>
              <a:t>    ;</a:t>
            </a:r>
            <a:r>
              <a:rPr lang="es-ES" sz="1600" b="1" dirty="0">
                <a:latin typeface="Courier New" panose="02070309020205020404" pitchFamily="49" charset="0"/>
              </a:rPr>
              <a:t>caso la </a:t>
            </a:r>
            <a:r>
              <a:rPr lang="es-ES" sz="1600" b="1" dirty="0" err="1">
                <a:latin typeface="Courier New" panose="02070309020205020404" pitchFamily="49" charset="0"/>
              </a:rPr>
              <a:t>direccion</a:t>
            </a:r>
            <a:r>
              <a:rPr lang="es-ES" sz="1600" b="1" dirty="0">
                <a:latin typeface="Courier New" panose="02070309020205020404" pitchFamily="49" charset="0"/>
              </a:rPr>
              <a:t> 0 </a:t>
            </a:r>
            <a:r>
              <a:rPr lang="es-ES" sz="1600" b="1" dirty="0" err="1">
                <a:latin typeface="Courier New" panose="02070309020205020404" pitchFamily="49" charset="0"/>
              </a:rPr>
              <a:t>Hexa</a:t>
            </a:r>
            <a:endParaRPr lang="es-ES" sz="1600" b="1" dirty="0">
              <a:latin typeface="Courier New" panose="02070309020205020404" pitchFamily="49" charset="0"/>
            </a:endParaRPr>
          </a:p>
          <a:p>
            <a:r>
              <a:rPr lang="es-ES" sz="1600" b="1" dirty="0">
                <a:solidFill>
                  <a:schemeClr val="accent5">
                    <a:lumMod val="50000"/>
                  </a:schemeClr>
                </a:solidFill>
                <a:latin typeface="Courier New" panose="02070309020205020404" pitchFamily="49" charset="0"/>
              </a:rPr>
              <a:t>Inicio:</a:t>
            </a:r>
          </a:p>
          <a:p>
            <a:r>
              <a:rPr lang="es-ES" sz="1600" b="1" dirty="0">
                <a:latin typeface="Courier New" panose="02070309020205020404" pitchFamily="49" charset="0"/>
              </a:rPr>
              <a:t>     </a:t>
            </a:r>
            <a:r>
              <a:rPr lang="es-ES" sz="1600" b="1" dirty="0" err="1">
                <a:solidFill>
                  <a:srgbClr val="FF0000"/>
                </a:solidFill>
                <a:latin typeface="Courier New" panose="02070309020205020404" pitchFamily="49" charset="0"/>
              </a:rPr>
              <a:t>bsf</a:t>
            </a:r>
            <a:r>
              <a:rPr lang="es-ES" sz="1600" b="1" dirty="0">
                <a:latin typeface="Courier New" panose="02070309020205020404" pitchFamily="49" charset="0"/>
              </a:rPr>
              <a:t>     </a:t>
            </a:r>
            <a:r>
              <a:rPr lang="es-ES" sz="1600" b="1" dirty="0" smtClean="0">
                <a:solidFill>
                  <a:schemeClr val="tx2">
                    <a:lumMod val="75000"/>
                  </a:schemeClr>
                </a:solidFill>
                <a:latin typeface="Courier New" panose="02070309020205020404" pitchFamily="49" charset="0"/>
              </a:rPr>
              <a:t>STATUS</a:t>
            </a:r>
            <a:r>
              <a:rPr lang="es-ES" sz="1600" b="1" dirty="0" smtClean="0">
                <a:latin typeface="Courier New" panose="02070309020205020404" pitchFamily="49" charset="0"/>
              </a:rPr>
              <a:t>,</a:t>
            </a:r>
            <a:r>
              <a:rPr lang="es-ES" sz="1600" b="1" dirty="0" smtClean="0">
                <a:solidFill>
                  <a:schemeClr val="accent6">
                    <a:lumMod val="75000"/>
                  </a:schemeClr>
                </a:solidFill>
                <a:latin typeface="Courier New" panose="02070309020205020404" pitchFamily="49" charset="0"/>
              </a:rPr>
              <a:t>RP0    </a:t>
            </a:r>
            <a:r>
              <a:rPr lang="es-ES" sz="1600" b="1" dirty="0" smtClean="0">
                <a:latin typeface="Courier New" panose="02070309020205020404" pitchFamily="49" charset="0"/>
              </a:rPr>
              <a:t>;selecciono </a:t>
            </a:r>
            <a:r>
              <a:rPr lang="es-ES" sz="1600" b="1" dirty="0">
                <a:latin typeface="Courier New" panose="02070309020205020404" pitchFamily="49" charset="0"/>
              </a:rPr>
              <a:t>banco 1</a:t>
            </a:r>
          </a:p>
          <a:p>
            <a:r>
              <a:rPr lang="es-ES" sz="1600" b="1" dirty="0">
                <a:latin typeface="Courier New" panose="02070309020205020404" pitchFamily="49" charset="0"/>
              </a:rPr>
              <a:t>     </a:t>
            </a:r>
            <a:r>
              <a:rPr lang="es-ES" sz="1600" b="1" dirty="0" err="1">
                <a:solidFill>
                  <a:srgbClr val="FF0000"/>
                </a:solidFill>
                <a:latin typeface="Courier New" panose="02070309020205020404" pitchFamily="49" charset="0"/>
              </a:rPr>
              <a:t>bcf</a:t>
            </a:r>
            <a:r>
              <a:rPr lang="es-ES" sz="1600" b="1" dirty="0">
                <a:latin typeface="Courier New" panose="02070309020205020404" pitchFamily="49" charset="0"/>
              </a:rPr>
              <a:t>     </a:t>
            </a:r>
            <a:r>
              <a:rPr lang="es-ES" sz="1600" b="1" dirty="0">
                <a:solidFill>
                  <a:schemeClr val="tx2">
                    <a:lumMod val="75000"/>
                  </a:schemeClr>
                </a:solidFill>
                <a:latin typeface="Courier New" panose="02070309020205020404" pitchFamily="49" charset="0"/>
              </a:rPr>
              <a:t>TRISB</a:t>
            </a:r>
            <a:r>
              <a:rPr lang="es-ES" sz="1600" b="1" dirty="0">
                <a:latin typeface="Courier New" panose="02070309020205020404" pitchFamily="49" charset="0"/>
              </a:rPr>
              <a:t>,</a:t>
            </a:r>
            <a:r>
              <a:rPr lang="es-ES" sz="1600" b="1" dirty="0">
                <a:solidFill>
                  <a:schemeClr val="accent6">
                    <a:lumMod val="75000"/>
                  </a:schemeClr>
                </a:solidFill>
                <a:latin typeface="Courier New" panose="02070309020205020404" pitchFamily="49" charset="0"/>
              </a:rPr>
              <a:t>0</a:t>
            </a:r>
            <a:r>
              <a:rPr lang="es-ES" sz="1600" b="1" dirty="0">
                <a:latin typeface="Courier New" panose="02070309020205020404" pitchFamily="49" charset="0"/>
              </a:rPr>
              <a:t>	</a:t>
            </a:r>
            <a:r>
              <a:rPr lang="es-ES" sz="1600" b="1" dirty="0" smtClean="0">
                <a:latin typeface="Courier New" panose="02070309020205020404" pitchFamily="49" charset="0"/>
              </a:rPr>
              <a:t>    ;</a:t>
            </a:r>
            <a:r>
              <a:rPr lang="es-ES" sz="1600" b="1" dirty="0">
                <a:latin typeface="Courier New" panose="02070309020205020404" pitchFamily="49" charset="0"/>
              </a:rPr>
              <a:t>Configuro el pin RB0 como salida</a:t>
            </a:r>
          </a:p>
          <a:p>
            <a:r>
              <a:rPr lang="es-ES" sz="1600" b="1" dirty="0">
                <a:latin typeface="Courier New" panose="02070309020205020404" pitchFamily="49" charset="0"/>
              </a:rPr>
              <a:t>     </a:t>
            </a:r>
            <a:r>
              <a:rPr lang="es-ES" sz="1600" b="1" dirty="0" err="1">
                <a:solidFill>
                  <a:srgbClr val="FF0000"/>
                </a:solidFill>
                <a:latin typeface="Courier New" panose="02070309020205020404" pitchFamily="49" charset="0"/>
              </a:rPr>
              <a:t>bcf</a:t>
            </a:r>
            <a:r>
              <a:rPr lang="es-ES" sz="1600" b="1" dirty="0">
                <a:latin typeface="Courier New" panose="02070309020205020404" pitchFamily="49" charset="0"/>
              </a:rPr>
              <a:t>     </a:t>
            </a:r>
            <a:r>
              <a:rPr lang="es-ES" sz="1600" b="1" dirty="0" smtClean="0">
                <a:solidFill>
                  <a:schemeClr val="tx2">
                    <a:lumMod val="75000"/>
                  </a:schemeClr>
                </a:solidFill>
                <a:latin typeface="Courier New" panose="02070309020205020404" pitchFamily="49" charset="0"/>
              </a:rPr>
              <a:t>STATUS</a:t>
            </a:r>
            <a:r>
              <a:rPr lang="es-ES" sz="1600" b="1" dirty="0" smtClean="0">
                <a:latin typeface="Courier New" panose="02070309020205020404" pitchFamily="49" charset="0"/>
              </a:rPr>
              <a:t>,</a:t>
            </a:r>
            <a:r>
              <a:rPr lang="es-ES" sz="1600" b="1" dirty="0" smtClean="0">
                <a:solidFill>
                  <a:schemeClr val="accent6">
                    <a:lumMod val="75000"/>
                  </a:schemeClr>
                </a:solidFill>
                <a:latin typeface="Courier New" panose="02070309020205020404" pitchFamily="49" charset="0"/>
              </a:rPr>
              <a:t>RP0    </a:t>
            </a:r>
            <a:r>
              <a:rPr lang="es-ES" sz="1600" b="1" dirty="0" smtClean="0">
                <a:latin typeface="Courier New" panose="02070309020205020404" pitchFamily="49" charset="0"/>
              </a:rPr>
              <a:t>;Volvemos </a:t>
            </a:r>
            <a:r>
              <a:rPr lang="es-ES" sz="1600" b="1" dirty="0">
                <a:latin typeface="Courier New" panose="02070309020205020404" pitchFamily="49" charset="0"/>
              </a:rPr>
              <a:t>al banco 0</a:t>
            </a:r>
          </a:p>
          <a:p>
            <a:r>
              <a:rPr lang="es-ES" sz="1600" b="1" dirty="0">
                <a:latin typeface="Courier New" panose="02070309020205020404" pitchFamily="49" charset="0"/>
              </a:rPr>
              <a:t>     </a:t>
            </a:r>
            <a:r>
              <a:rPr lang="es-ES" sz="1600" b="1" dirty="0" err="1">
                <a:solidFill>
                  <a:srgbClr val="FF0000"/>
                </a:solidFill>
                <a:latin typeface="Courier New" panose="02070309020205020404" pitchFamily="49" charset="0"/>
              </a:rPr>
              <a:t>bsf</a:t>
            </a:r>
            <a:r>
              <a:rPr lang="es-ES" sz="1600" b="1" dirty="0">
                <a:solidFill>
                  <a:srgbClr val="FF0000"/>
                </a:solidFill>
                <a:latin typeface="Courier New" panose="02070309020205020404" pitchFamily="49" charset="0"/>
              </a:rPr>
              <a:t> </a:t>
            </a:r>
            <a:r>
              <a:rPr lang="es-ES" sz="1600" b="1" dirty="0">
                <a:latin typeface="Courier New" panose="02070309020205020404" pitchFamily="49" charset="0"/>
              </a:rPr>
              <a:t>    </a:t>
            </a:r>
            <a:r>
              <a:rPr lang="es-ES" sz="1600" b="1" dirty="0">
                <a:solidFill>
                  <a:schemeClr val="tx2">
                    <a:lumMod val="75000"/>
                  </a:schemeClr>
                </a:solidFill>
                <a:latin typeface="Courier New" panose="02070309020205020404" pitchFamily="49" charset="0"/>
              </a:rPr>
              <a:t>PORTB</a:t>
            </a:r>
            <a:r>
              <a:rPr lang="es-ES" sz="1600" b="1" dirty="0">
                <a:latin typeface="Courier New" panose="02070309020205020404" pitchFamily="49" charset="0"/>
              </a:rPr>
              <a:t>,</a:t>
            </a:r>
            <a:r>
              <a:rPr lang="es-ES" sz="1600" b="1" dirty="0">
                <a:solidFill>
                  <a:schemeClr val="accent6">
                    <a:lumMod val="75000"/>
                  </a:schemeClr>
                </a:solidFill>
                <a:latin typeface="Courier New" panose="02070309020205020404" pitchFamily="49" charset="0"/>
              </a:rPr>
              <a:t>0</a:t>
            </a:r>
            <a:r>
              <a:rPr lang="es-ES" sz="1600" b="1" dirty="0">
                <a:latin typeface="Courier New" panose="02070309020205020404" pitchFamily="49" charset="0"/>
              </a:rPr>
              <a:t>	</a:t>
            </a:r>
            <a:r>
              <a:rPr lang="es-ES" sz="1600" b="1" dirty="0" smtClean="0">
                <a:latin typeface="Courier New" panose="02070309020205020404" pitchFamily="49" charset="0"/>
              </a:rPr>
              <a:t>    ;</a:t>
            </a:r>
            <a:r>
              <a:rPr lang="es-ES" sz="1600" b="1" dirty="0">
                <a:latin typeface="Courier New" panose="02070309020205020404" pitchFamily="49" charset="0"/>
              </a:rPr>
              <a:t>Enciendo el Led</a:t>
            </a:r>
          </a:p>
          <a:p>
            <a:r>
              <a:rPr lang="es-ES" sz="1600" b="1" dirty="0">
                <a:latin typeface="Courier New" panose="02070309020205020404" pitchFamily="49" charset="0"/>
              </a:rPr>
              <a:t>     </a:t>
            </a:r>
            <a:r>
              <a:rPr lang="es-ES" sz="1600" b="1" dirty="0" err="1">
                <a:solidFill>
                  <a:srgbClr val="FF0000"/>
                </a:solidFill>
                <a:latin typeface="Courier New" panose="02070309020205020404" pitchFamily="49" charset="0"/>
              </a:rPr>
              <a:t>goto</a:t>
            </a:r>
            <a:r>
              <a:rPr lang="es-ES" sz="1600" b="1" dirty="0">
                <a:latin typeface="Courier New" panose="02070309020205020404" pitchFamily="49" charset="0"/>
              </a:rPr>
              <a:t>     $		</a:t>
            </a:r>
            <a:r>
              <a:rPr lang="es-ES" sz="1600" b="1" dirty="0" smtClean="0">
                <a:latin typeface="Courier New" panose="02070309020205020404" pitchFamily="49" charset="0"/>
              </a:rPr>
              <a:t>    ;</a:t>
            </a:r>
            <a:r>
              <a:rPr lang="es-ES" sz="1600" b="1" dirty="0">
                <a:latin typeface="Courier New" panose="02070309020205020404" pitchFamily="49" charset="0"/>
              </a:rPr>
              <a:t>Me quedo esperando</a:t>
            </a:r>
          </a:p>
          <a:p>
            <a:r>
              <a:rPr lang="es-ES" sz="1600" b="1" dirty="0">
                <a:latin typeface="Courier New" panose="02070309020205020404" pitchFamily="49" charset="0"/>
              </a:rPr>
              <a:t>     </a:t>
            </a:r>
            <a:r>
              <a:rPr lang="es-ES" sz="1600" b="1" dirty="0" err="1">
                <a:latin typeface="Courier New" panose="02070309020205020404" pitchFamily="49" charset="0"/>
              </a:rPr>
              <a:t>end</a:t>
            </a:r>
            <a:endParaRPr lang="es-ES" sz="1600" b="1" dirty="0">
              <a:latin typeface="Courier New" panose="02070309020205020404" pitchFamily="49" charset="0"/>
            </a:endParaRPr>
          </a:p>
        </p:txBody>
      </p:sp>
    </p:spTree>
    <p:extLst>
      <p:ext uri="{BB962C8B-B14F-4D97-AF65-F5344CB8AC3E}">
        <p14:creationId xmlns:p14="http://schemas.microsoft.com/office/powerpoint/2010/main" val="404634125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634745" y="1222822"/>
            <a:ext cx="7426713" cy="5537357"/>
          </a:xfrm>
          <a:prstGeom prst="rect">
            <a:avLst/>
          </a:prstGeom>
        </p:spPr>
      </p:pic>
    </p:spTree>
    <p:extLst>
      <p:ext uri="{BB962C8B-B14F-4D97-AF65-F5344CB8AC3E}">
        <p14:creationId xmlns:p14="http://schemas.microsoft.com/office/powerpoint/2010/main" val="58812569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805943" y="1203058"/>
            <a:ext cx="7111872" cy="5274355"/>
          </a:xfrm>
          <a:prstGeom prst="rect">
            <a:avLst/>
          </a:prstGeom>
        </p:spPr>
      </p:pic>
    </p:spTree>
    <p:extLst>
      <p:ext uri="{BB962C8B-B14F-4D97-AF65-F5344CB8AC3E}">
        <p14:creationId xmlns:p14="http://schemas.microsoft.com/office/powerpoint/2010/main" val="71840210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831571" y="1155989"/>
            <a:ext cx="7026396" cy="5480134"/>
          </a:xfrm>
          <a:prstGeom prst="rect">
            <a:avLst/>
          </a:prstGeom>
        </p:spPr>
      </p:pic>
    </p:spTree>
    <p:extLst>
      <p:ext uri="{BB962C8B-B14F-4D97-AF65-F5344CB8AC3E}">
        <p14:creationId xmlns:p14="http://schemas.microsoft.com/office/powerpoint/2010/main" val="15490384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9385300" cy="1470025"/>
          </a:xfrm>
        </p:spPr>
        <p:txBody>
          <a:bodyPr/>
          <a:lstStyle/>
          <a:p>
            <a:r>
              <a:rPr lang="es-ES" b="1" dirty="0" smtClean="0">
                <a:solidFill>
                  <a:srgbClr val="FF0000"/>
                </a:solidFill>
                <a:effectLst>
                  <a:outerShdw blurRad="38100" dist="38100" dir="2700000" algn="tl">
                    <a:srgbClr val="000000">
                      <a:alpha val="43137"/>
                    </a:srgbClr>
                  </a:outerShdw>
                </a:effectLst>
              </a:rPr>
              <a:t>Practica Programación </a:t>
            </a:r>
            <a:r>
              <a:rPr lang="es-ES" b="1" dirty="0" err="1" smtClean="0">
                <a:solidFill>
                  <a:srgbClr val="FF0000"/>
                </a:solidFill>
                <a:effectLst>
                  <a:outerShdw blurRad="38100" dist="38100" dir="2700000" algn="tl">
                    <a:srgbClr val="000000">
                      <a:alpha val="43137"/>
                    </a:srgbClr>
                  </a:outerShdw>
                </a:effectLst>
              </a:rPr>
              <a:t>Assembler</a:t>
            </a:r>
            <a:endParaRPr lang="es-ES" b="1" dirty="0">
              <a:solidFill>
                <a:srgbClr val="FF0000"/>
              </a:solidFill>
              <a:effectLst>
                <a:outerShdw blurRad="38100" dist="38100" dir="2700000" algn="tl">
                  <a:srgbClr val="000000">
                    <a:alpha val="43137"/>
                  </a:srgbClr>
                </a:outerShdw>
              </a:effectLst>
            </a:endParaRPr>
          </a:p>
        </p:txBody>
      </p:sp>
      <p:sp>
        <p:nvSpPr>
          <p:cNvPr id="3" name="Subtítulo 2"/>
          <p:cNvSpPr>
            <a:spLocks noGrp="1"/>
          </p:cNvSpPr>
          <p:nvPr>
            <p:ph type="subTitle" idx="1"/>
          </p:nvPr>
        </p:nvSpPr>
        <p:spPr>
          <a:xfrm>
            <a:off x="850900" y="3886200"/>
            <a:ext cx="8915400" cy="1752600"/>
          </a:xfrm>
        </p:spPr>
        <p:txBody>
          <a:bodyPr/>
          <a:lstStyle/>
          <a:p>
            <a:r>
              <a:rPr lang="es-ES" u="sng" dirty="0" smtClean="0">
                <a:solidFill>
                  <a:schemeClr val="accent5">
                    <a:lumMod val="50000"/>
                  </a:schemeClr>
                </a:solidFill>
                <a:effectLst>
                  <a:outerShdw blurRad="38100" dist="38100" dir="2700000" algn="tl">
                    <a:srgbClr val="000000">
                      <a:alpha val="43137"/>
                    </a:srgbClr>
                  </a:outerShdw>
                </a:effectLst>
              </a:rPr>
              <a:t>Practica 2</a:t>
            </a:r>
            <a:endParaRPr lang="es-ES" u="sng" dirty="0">
              <a:solidFill>
                <a:schemeClr val="accent5">
                  <a:lumMod val="5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7486622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359108" y="1191276"/>
            <a:ext cx="184731" cy="335348"/>
          </a:xfrm>
          <a:prstGeom prst="rect">
            <a:avLst/>
          </a:prstGeom>
          <a:noFill/>
        </p:spPr>
        <p:txBody>
          <a:bodyPr wrap="none" rtlCol="0">
            <a:spAutoFit/>
          </a:bodyPr>
          <a:lstStyle/>
          <a:p>
            <a:endParaRPr lang="es-ES" sz="1579" dirty="0"/>
          </a:p>
        </p:txBody>
      </p:sp>
      <p:sp>
        <p:nvSpPr>
          <p:cNvPr id="4" name="Rectángulo 3"/>
          <p:cNvSpPr/>
          <p:nvPr/>
        </p:nvSpPr>
        <p:spPr>
          <a:xfrm>
            <a:off x="359107" y="772318"/>
            <a:ext cx="10090898" cy="5860450"/>
          </a:xfrm>
          <a:prstGeom prst="rect">
            <a:avLst/>
          </a:prstGeom>
        </p:spPr>
        <p:txBody>
          <a:bodyPr wrap="square">
            <a:spAutoFit/>
          </a:bodyPr>
          <a:lstStyle/>
          <a:p>
            <a:r>
              <a:rPr lang="es-ES" sz="1136" b="1" dirty="0">
                <a:latin typeface="Courier New" panose="02070309020205020404" pitchFamily="49" charset="0"/>
              </a:rPr>
              <a:t>; *******************************************************************</a:t>
            </a:r>
          </a:p>
          <a:p>
            <a:r>
              <a:rPr lang="es-ES" sz="1136" b="1" dirty="0">
                <a:latin typeface="Courier New" panose="02070309020205020404" pitchFamily="49" charset="0"/>
              </a:rPr>
              <a:t>; Practica 2: Parpadeo</a:t>
            </a:r>
          </a:p>
          <a:p>
            <a:r>
              <a:rPr lang="es-ES" sz="1136" b="1" dirty="0">
                <a:latin typeface="Courier New" panose="02070309020205020404" pitchFamily="49" charset="0"/>
              </a:rPr>
              <a:t>; En la primera practica vimos como encender un led, ahora haremos una rutina de encendido y apagado del led.</a:t>
            </a:r>
          </a:p>
          <a:p>
            <a:r>
              <a:rPr lang="es-ES" sz="1136" b="1" dirty="0">
                <a:latin typeface="Courier New" panose="02070309020205020404" pitchFamily="49" charset="0"/>
              </a:rPr>
              <a:t>; Para poder ver el parpadeo debemos agregar un retardo a cada encendido y apagado del led.</a:t>
            </a:r>
          </a:p>
          <a:p>
            <a:r>
              <a:rPr lang="es-ES" sz="1136" b="1" dirty="0">
                <a:latin typeface="Courier New" panose="02070309020205020404" pitchFamily="49" charset="0"/>
              </a:rPr>
              <a:t>; *******************************************************************</a:t>
            </a:r>
          </a:p>
          <a:p>
            <a:r>
              <a:rPr lang="es-ES" sz="1136" b="1" dirty="0">
                <a:latin typeface="Courier New" panose="02070309020205020404" pitchFamily="49" charset="0"/>
              </a:rPr>
              <a:t>#</a:t>
            </a:r>
            <a:r>
              <a:rPr lang="es-ES" sz="1136" b="1" dirty="0" err="1">
                <a:latin typeface="Courier New" panose="02070309020205020404" pitchFamily="49" charset="0"/>
              </a:rPr>
              <a:t>include</a:t>
            </a:r>
            <a:r>
              <a:rPr lang="es-ES" sz="1136" b="1" dirty="0">
                <a:latin typeface="Courier New" panose="02070309020205020404" pitchFamily="49" charset="0"/>
              </a:rPr>
              <a:t> &lt;p16F628.inc&gt;</a:t>
            </a:r>
          </a:p>
          <a:p>
            <a:endParaRPr lang="es-ES" sz="1136" b="1" dirty="0">
              <a:latin typeface="Courier New" panose="02070309020205020404" pitchFamily="49" charset="0"/>
            </a:endParaRPr>
          </a:p>
          <a:p>
            <a:r>
              <a:rPr lang="es-ES" sz="1136" b="1" dirty="0">
                <a:latin typeface="Courier New" panose="02070309020205020404" pitchFamily="49" charset="0"/>
              </a:rPr>
              <a:t>Delay1               ; Definimos 2 registros que usaremos</a:t>
            </a:r>
          </a:p>
          <a:p>
            <a:r>
              <a:rPr lang="es-ES" sz="1136" b="1" dirty="0">
                <a:latin typeface="Courier New" panose="02070309020205020404" pitchFamily="49" charset="0"/>
              </a:rPr>
              <a:t>Delay2               ; en los retardos Delay1 y Delay2</a:t>
            </a:r>
          </a:p>
          <a:p>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org</a:t>
            </a:r>
            <a:r>
              <a:rPr lang="es-ES" sz="1136" b="1" dirty="0">
                <a:latin typeface="Courier New" panose="02070309020205020404" pitchFamily="49" charset="0"/>
              </a:rPr>
              <a:t> 0	  ; Iniciar el Programa en la dirección 0 de la memoria de programa</a:t>
            </a:r>
          </a:p>
          <a:p>
            <a:r>
              <a:rPr lang="es-ES" sz="1136" b="1" dirty="0">
                <a:latin typeface="Courier New" panose="02070309020205020404" pitchFamily="49" charset="0"/>
              </a:rPr>
              <a:t>Inicio:</a:t>
            </a:r>
          </a:p>
          <a:p>
            <a:r>
              <a:rPr lang="es-ES" sz="1136" b="1" dirty="0">
                <a:latin typeface="Courier New" panose="02070309020205020404" pitchFamily="49" charset="0"/>
              </a:rPr>
              <a:t>     </a:t>
            </a:r>
            <a:r>
              <a:rPr lang="es-ES" sz="1136" b="1" dirty="0" err="1">
                <a:latin typeface="Courier New" panose="02070309020205020404" pitchFamily="49" charset="0"/>
              </a:rPr>
              <a:t>bsf</a:t>
            </a:r>
            <a:r>
              <a:rPr lang="es-ES" sz="1136" b="1" dirty="0">
                <a:latin typeface="Courier New" panose="02070309020205020404" pitchFamily="49" charset="0"/>
              </a:rPr>
              <a:t>       STATUS,RP0     ; seleccionar banco 1 para su utilización</a:t>
            </a:r>
          </a:p>
          <a:p>
            <a:r>
              <a:rPr lang="es-ES" sz="1136" b="1" dirty="0">
                <a:latin typeface="Courier New" panose="02070309020205020404" pitchFamily="49" charset="0"/>
              </a:rPr>
              <a:t>     </a:t>
            </a:r>
            <a:r>
              <a:rPr lang="es-ES" sz="1136" b="1" dirty="0" err="1">
                <a:latin typeface="Courier New" panose="02070309020205020404" pitchFamily="49" charset="0"/>
              </a:rPr>
              <a:t>bcf</a:t>
            </a:r>
            <a:r>
              <a:rPr lang="es-ES" sz="1136" b="1" dirty="0">
                <a:latin typeface="Courier New" panose="02070309020205020404" pitchFamily="49" charset="0"/>
              </a:rPr>
              <a:t>       TRISB,0        ; Definir RB0 como salida</a:t>
            </a:r>
          </a:p>
          <a:p>
            <a:r>
              <a:rPr lang="es-ES" sz="1136" b="1" dirty="0">
                <a:latin typeface="Courier New" panose="02070309020205020404" pitchFamily="49" charset="0"/>
              </a:rPr>
              <a:t>     </a:t>
            </a:r>
            <a:r>
              <a:rPr lang="es-ES" sz="1136" b="1" dirty="0" err="1">
                <a:latin typeface="Courier New" panose="02070309020205020404" pitchFamily="49" charset="0"/>
              </a:rPr>
              <a:t>bcf</a:t>
            </a:r>
            <a:r>
              <a:rPr lang="es-ES" sz="1136" b="1" dirty="0">
                <a:latin typeface="Courier New" panose="02070309020205020404" pitchFamily="49" charset="0"/>
              </a:rPr>
              <a:t>       STATUS,RP0     ; Regresar al banco 0</a:t>
            </a:r>
          </a:p>
          <a:p>
            <a:endParaRPr lang="es-ES" sz="1136" b="1" dirty="0">
              <a:latin typeface="Courier New" panose="02070309020205020404" pitchFamily="49" charset="0"/>
            </a:endParaRPr>
          </a:p>
          <a:p>
            <a:r>
              <a:rPr lang="es-ES" sz="1136" b="1" dirty="0" err="1">
                <a:latin typeface="Courier New" panose="02070309020205020404" pitchFamily="49" charset="0"/>
              </a:rPr>
              <a:t>LoopPrincipal</a:t>
            </a:r>
            <a:r>
              <a:rPr lang="es-ES" sz="1136" b="1" dirty="0">
                <a:latin typeface="Courier New" panose="02070309020205020404" pitchFamily="49" charset="0"/>
              </a:rPr>
              <a:t>:		  ; Crear subrutina </a:t>
            </a:r>
            <a:r>
              <a:rPr lang="es-ES" sz="1136" b="1" dirty="0" err="1">
                <a:latin typeface="Courier New" panose="02070309020205020404" pitchFamily="49" charset="0"/>
              </a:rPr>
              <a:t>LoopEncendido</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bsf</a:t>
            </a:r>
            <a:r>
              <a:rPr lang="es-ES" sz="1136" b="1" dirty="0">
                <a:latin typeface="Courier New" panose="02070309020205020404" pitchFamily="49" charset="0"/>
              </a:rPr>
              <a:t>       PORTB,0        ; Encendemos led conectado a RB0</a:t>
            </a:r>
          </a:p>
          <a:p>
            <a:endParaRPr lang="es-ES" sz="1136" b="1" dirty="0">
              <a:latin typeface="Courier New" panose="02070309020205020404" pitchFamily="49" charset="0"/>
            </a:endParaRPr>
          </a:p>
          <a:p>
            <a:r>
              <a:rPr lang="es-ES" sz="1136" b="1" dirty="0" err="1">
                <a:latin typeface="Courier New" panose="02070309020205020404" pitchFamily="49" charset="0"/>
              </a:rPr>
              <a:t>LoopEncendido</a:t>
            </a:r>
            <a:r>
              <a:rPr lang="es-ES" sz="1136" b="1" dirty="0">
                <a:latin typeface="Courier New" panose="02070309020205020404" pitchFamily="49" charset="0"/>
              </a:rPr>
              <a:t>:		  ; Crear subrutina </a:t>
            </a:r>
            <a:r>
              <a:rPr lang="es-ES" sz="1136" b="1" dirty="0" err="1">
                <a:latin typeface="Courier New" panose="02070309020205020404" pitchFamily="49" charset="0"/>
              </a:rPr>
              <a:t>LoopEncendido</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decfsz</a:t>
            </a:r>
            <a:r>
              <a:rPr lang="es-ES" sz="1136" b="1" dirty="0">
                <a:latin typeface="Courier New" panose="02070309020205020404" pitchFamily="49" charset="0"/>
              </a:rPr>
              <a:t>    Delay1,f       ; Decremento Delay1 hasta llegar a cero</a:t>
            </a:r>
          </a:p>
          <a:p>
            <a:r>
              <a:rPr lang="es-ES" sz="1136" b="1" dirty="0">
                <a:latin typeface="Courier New" panose="02070309020205020404" pitchFamily="49" charset="0"/>
              </a:rPr>
              <a:t>     </a:t>
            </a:r>
            <a:r>
              <a:rPr lang="es-ES" sz="1136" b="1" dirty="0" err="1">
                <a:latin typeface="Courier New" panose="02070309020205020404" pitchFamily="49" charset="0"/>
              </a:rPr>
              <a:t>goto</a:t>
            </a:r>
            <a:r>
              <a:rPr lang="es-ES" sz="1136" b="1" dirty="0">
                <a:latin typeface="Courier New" panose="02070309020205020404" pitchFamily="49" charset="0"/>
              </a:rPr>
              <a:t>      </a:t>
            </a:r>
            <a:r>
              <a:rPr lang="es-ES" sz="1136" b="1" dirty="0" err="1">
                <a:latin typeface="Courier New" panose="02070309020205020404" pitchFamily="49" charset="0"/>
              </a:rPr>
              <a:t>LoopEncendido</a:t>
            </a:r>
            <a:r>
              <a:rPr lang="es-ES" sz="1136" b="1" dirty="0">
                <a:latin typeface="Courier New" panose="02070309020205020404" pitchFamily="49" charset="0"/>
              </a:rPr>
              <a:t>  ; Cada </a:t>
            </a:r>
            <a:r>
              <a:rPr lang="es-ES" sz="1136" b="1" dirty="0" err="1">
                <a:latin typeface="Courier New" panose="02070309020205020404" pitchFamily="49" charset="0"/>
              </a:rPr>
              <a:t>loop</a:t>
            </a:r>
            <a:r>
              <a:rPr lang="es-ES" sz="1136" b="1" dirty="0">
                <a:latin typeface="Courier New" panose="02070309020205020404" pitchFamily="49" charset="0"/>
              </a:rPr>
              <a:t> toma 3 ciclos de maquina * 256 </a:t>
            </a:r>
            <a:r>
              <a:rPr lang="es-ES" sz="1136" b="1" dirty="0" err="1">
                <a:latin typeface="Courier New" panose="02070309020205020404" pitchFamily="49" charset="0"/>
              </a:rPr>
              <a:t>loops</a:t>
            </a:r>
            <a:r>
              <a:rPr lang="es-ES" sz="1136" b="1" dirty="0">
                <a:latin typeface="Courier New" panose="02070309020205020404" pitchFamily="49" charset="0"/>
              </a:rPr>
              <a:t>= 768 instrucciones</a:t>
            </a:r>
          </a:p>
          <a:p>
            <a:r>
              <a:rPr lang="es-ES" sz="1136" b="1" dirty="0">
                <a:latin typeface="Courier New" panose="02070309020205020404" pitchFamily="49" charset="0"/>
              </a:rPr>
              <a:t>     </a:t>
            </a:r>
            <a:r>
              <a:rPr lang="es-ES" sz="1136" b="1" dirty="0" err="1">
                <a:latin typeface="Courier New" panose="02070309020205020404" pitchFamily="49" charset="0"/>
              </a:rPr>
              <a:t>decfsz</a:t>
            </a:r>
            <a:r>
              <a:rPr lang="es-ES" sz="1136" b="1" dirty="0">
                <a:latin typeface="Courier New" panose="02070309020205020404" pitchFamily="49" charset="0"/>
              </a:rPr>
              <a:t>    Delay2,f       ; el </a:t>
            </a:r>
            <a:r>
              <a:rPr lang="es-ES" sz="1136" b="1" dirty="0" err="1">
                <a:latin typeface="Courier New" panose="02070309020205020404" pitchFamily="49" charset="0"/>
              </a:rPr>
              <a:t>proximo</a:t>
            </a:r>
            <a:r>
              <a:rPr lang="es-ES" sz="1136" b="1" dirty="0">
                <a:latin typeface="Courier New" panose="02070309020205020404" pitchFamily="49" charset="0"/>
              </a:rPr>
              <a:t> </a:t>
            </a:r>
            <a:r>
              <a:rPr lang="es-ES" sz="1136" b="1" dirty="0" err="1">
                <a:latin typeface="Courier New" panose="02070309020205020404" pitchFamily="49" charset="0"/>
              </a:rPr>
              <a:t>loop</a:t>
            </a:r>
            <a:r>
              <a:rPr lang="es-ES" sz="1136" b="1" dirty="0">
                <a:latin typeface="Courier New" panose="02070309020205020404" pitchFamily="49" charset="0"/>
              </a:rPr>
              <a:t> toma 3 ciclos en volver al primer </a:t>
            </a:r>
            <a:r>
              <a:rPr lang="es-ES" sz="1136" b="1" dirty="0" err="1">
                <a:latin typeface="Courier New" panose="02070309020205020404" pitchFamily="49" charset="0"/>
              </a:rPr>
              <a:t>loop</a:t>
            </a:r>
            <a:r>
              <a:rPr lang="es-ES" sz="1136" b="1" dirty="0">
                <a:latin typeface="Courier New" panose="02070309020205020404" pitchFamily="49" charset="0"/>
              </a:rPr>
              <a:t>, </a:t>
            </a:r>
            <a:r>
              <a:rPr lang="es-ES" sz="1136" b="1" dirty="0" err="1">
                <a:latin typeface="Courier New" panose="02070309020205020404" pitchFamily="49" charset="0"/>
              </a:rPr>
              <a:t>asi</a:t>
            </a:r>
            <a:r>
              <a:rPr lang="es-ES" sz="1136" b="1" dirty="0">
                <a:latin typeface="Courier New" panose="02070309020205020404" pitchFamily="49" charset="0"/>
              </a:rPr>
              <a:t> 256 veces</a:t>
            </a:r>
          </a:p>
          <a:p>
            <a:r>
              <a:rPr lang="es-ES" sz="1136" b="1" dirty="0">
                <a:latin typeface="Courier New" panose="02070309020205020404" pitchFamily="49" charset="0"/>
              </a:rPr>
              <a:t>     </a:t>
            </a:r>
            <a:r>
              <a:rPr lang="es-ES" sz="1136" b="1" dirty="0" err="1">
                <a:latin typeface="Courier New" panose="02070309020205020404" pitchFamily="49" charset="0"/>
              </a:rPr>
              <a:t>goto</a:t>
            </a:r>
            <a:r>
              <a:rPr lang="es-ES" sz="1136" b="1" dirty="0">
                <a:latin typeface="Courier New" panose="02070309020205020404" pitchFamily="49" charset="0"/>
              </a:rPr>
              <a:t>      </a:t>
            </a:r>
            <a:r>
              <a:rPr lang="es-ES" sz="1136" b="1" dirty="0" err="1">
                <a:latin typeface="Courier New" panose="02070309020205020404" pitchFamily="49" charset="0"/>
              </a:rPr>
              <a:t>LoopEncendido</a:t>
            </a:r>
            <a:r>
              <a:rPr lang="es-ES" sz="1136" b="1" dirty="0">
                <a:latin typeface="Courier New" panose="02070309020205020404" pitchFamily="49" charset="0"/>
              </a:rPr>
              <a:t>  ; (768+3) * 256 = 197376 instrucciones / con ciclos de 1uSeg = 0.197 </a:t>
            </a:r>
            <a:r>
              <a:rPr lang="es-ES" sz="1136" b="1" dirty="0" err="1">
                <a:latin typeface="Courier New" panose="02070309020205020404" pitchFamily="49" charset="0"/>
              </a:rPr>
              <a:t>seg</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bcf</a:t>
            </a:r>
            <a:r>
              <a:rPr lang="es-ES" sz="1136" b="1" dirty="0">
                <a:latin typeface="Courier New" panose="02070309020205020404" pitchFamily="49" charset="0"/>
              </a:rPr>
              <a:t>       PORTB,0        ; apagamos el led en RB0</a:t>
            </a:r>
          </a:p>
          <a:p>
            <a:endParaRPr lang="es-ES" sz="1136" b="1" dirty="0">
              <a:latin typeface="Courier New" panose="02070309020205020404" pitchFamily="49" charset="0"/>
            </a:endParaRPr>
          </a:p>
          <a:p>
            <a:r>
              <a:rPr lang="es-ES" sz="1136" b="1" dirty="0" err="1">
                <a:latin typeface="Courier New" panose="02070309020205020404" pitchFamily="49" charset="0"/>
              </a:rPr>
              <a:t>LoopApagado</a:t>
            </a:r>
            <a:r>
              <a:rPr lang="es-ES" sz="1136" b="1" dirty="0">
                <a:latin typeface="Courier New" panose="02070309020205020404" pitchFamily="49" charset="0"/>
              </a:rPr>
              <a:t>:		  ; Crear subrutina </a:t>
            </a:r>
            <a:r>
              <a:rPr lang="es-ES" sz="1136" b="1" dirty="0" err="1">
                <a:latin typeface="Courier New" panose="02070309020205020404" pitchFamily="49" charset="0"/>
              </a:rPr>
              <a:t>LoopApagado</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decfsz</a:t>
            </a:r>
            <a:r>
              <a:rPr lang="es-ES" sz="1136" b="1" dirty="0">
                <a:latin typeface="Courier New" panose="02070309020205020404" pitchFamily="49" charset="0"/>
              </a:rPr>
              <a:t>    Delay1,f       ; hacemos el mismo retardo anterior</a:t>
            </a:r>
          </a:p>
          <a:p>
            <a:r>
              <a:rPr lang="es-ES" sz="1136" b="1" dirty="0">
                <a:latin typeface="Courier New" panose="02070309020205020404" pitchFamily="49" charset="0"/>
              </a:rPr>
              <a:t>     </a:t>
            </a:r>
            <a:r>
              <a:rPr lang="es-ES" sz="1136" b="1" dirty="0" err="1">
                <a:latin typeface="Courier New" panose="02070309020205020404" pitchFamily="49" charset="0"/>
              </a:rPr>
              <a:t>goto</a:t>
            </a:r>
            <a:r>
              <a:rPr lang="es-ES" sz="1136" b="1" dirty="0">
                <a:latin typeface="Courier New" panose="02070309020205020404" pitchFamily="49" charset="0"/>
              </a:rPr>
              <a:t>      </a:t>
            </a:r>
            <a:r>
              <a:rPr lang="es-ES" sz="1136" b="1" dirty="0" err="1">
                <a:latin typeface="Courier New" panose="02070309020205020404" pitchFamily="49" charset="0"/>
              </a:rPr>
              <a:t>LoopApagado</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decfsz</a:t>
            </a:r>
            <a:r>
              <a:rPr lang="es-ES" sz="1136" b="1" dirty="0">
                <a:latin typeface="Courier New" panose="02070309020205020404" pitchFamily="49" charset="0"/>
              </a:rPr>
              <a:t>    Delay2,f</a:t>
            </a:r>
          </a:p>
          <a:p>
            <a:r>
              <a:rPr lang="es-ES" sz="1136" b="1" dirty="0">
                <a:latin typeface="Courier New" panose="02070309020205020404" pitchFamily="49" charset="0"/>
              </a:rPr>
              <a:t>     </a:t>
            </a:r>
            <a:r>
              <a:rPr lang="es-ES" sz="1136" b="1" dirty="0" err="1">
                <a:latin typeface="Courier New" panose="02070309020205020404" pitchFamily="49" charset="0"/>
              </a:rPr>
              <a:t>goto</a:t>
            </a:r>
            <a:r>
              <a:rPr lang="es-ES" sz="1136" b="1" dirty="0">
                <a:latin typeface="Courier New" panose="02070309020205020404" pitchFamily="49" charset="0"/>
              </a:rPr>
              <a:t>      </a:t>
            </a:r>
            <a:r>
              <a:rPr lang="es-ES" sz="1136" b="1" dirty="0" err="1">
                <a:latin typeface="Courier New" panose="02070309020205020404" pitchFamily="49" charset="0"/>
              </a:rPr>
              <a:t>LoopApagado</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goto</a:t>
            </a:r>
            <a:r>
              <a:rPr lang="es-ES" sz="1136" b="1" dirty="0">
                <a:latin typeface="Courier New" panose="02070309020205020404" pitchFamily="49" charset="0"/>
              </a:rPr>
              <a:t>      </a:t>
            </a:r>
            <a:r>
              <a:rPr lang="es-ES" sz="1136" b="1" dirty="0" err="1">
                <a:latin typeface="Courier New" panose="02070309020205020404" pitchFamily="49" charset="0"/>
              </a:rPr>
              <a:t>LoopPrincipal</a:t>
            </a:r>
            <a:r>
              <a:rPr lang="es-ES" sz="1136" b="1" dirty="0">
                <a:latin typeface="Courier New" panose="02070309020205020404" pitchFamily="49" charset="0"/>
              </a:rPr>
              <a:t>   ; y volvemos todo de nuevo...</a:t>
            </a:r>
          </a:p>
          <a:p>
            <a:r>
              <a:rPr lang="es-ES" sz="1136" b="1" dirty="0">
                <a:latin typeface="Courier New" panose="02070309020205020404" pitchFamily="49" charset="0"/>
              </a:rPr>
              <a:t>     </a:t>
            </a:r>
            <a:r>
              <a:rPr lang="es-ES" sz="1136" b="1" dirty="0" err="1">
                <a:latin typeface="Courier New" panose="02070309020205020404" pitchFamily="49" charset="0"/>
              </a:rPr>
              <a:t>end</a:t>
            </a:r>
            <a:endParaRPr lang="es-ES" sz="1136" b="1" dirty="0">
              <a:latin typeface="Courier New" panose="02070309020205020404" pitchFamily="49" charset="0"/>
            </a:endParaRPr>
          </a:p>
        </p:txBody>
      </p:sp>
    </p:spTree>
    <p:extLst>
      <p:ext uri="{BB962C8B-B14F-4D97-AF65-F5344CB8AC3E}">
        <p14:creationId xmlns:p14="http://schemas.microsoft.com/office/powerpoint/2010/main" val="428183504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118" y="274637"/>
            <a:ext cx="8664982" cy="626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3950" y="5418137"/>
            <a:ext cx="37147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576934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268845" y="973662"/>
            <a:ext cx="6942729" cy="4887050"/>
          </a:xfrm>
          <a:prstGeom prst="rect">
            <a:avLst/>
          </a:prstGeom>
        </p:spPr>
      </p:pic>
    </p:spTree>
    <p:extLst>
      <p:ext uri="{BB962C8B-B14F-4D97-AF65-F5344CB8AC3E}">
        <p14:creationId xmlns:p14="http://schemas.microsoft.com/office/powerpoint/2010/main" val="261083529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685800" y="2130425"/>
            <a:ext cx="9385300" cy="147002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b="1" dirty="0" smtClean="0">
                <a:solidFill>
                  <a:srgbClr val="FF0000"/>
                </a:solidFill>
                <a:effectLst>
                  <a:outerShdw blurRad="38100" dist="38100" dir="2700000" algn="tl">
                    <a:srgbClr val="000000">
                      <a:alpha val="43137"/>
                    </a:srgbClr>
                  </a:outerShdw>
                </a:effectLst>
              </a:rPr>
              <a:t>Primer TP</a:t>
            </a:r>
          </a:p>
          <a:p>
            <a:pPr algn="l"/>
            <a:r>
              <a:rPr lang="es-ES" b="1" dirty="0" smtClean="0">
                <a:solidFill>
                  <a:srgbClr val="FF0000"/>
                </a:solidFill>
                <a:effectLst>
                  <a:outerShdw blurRad="38100" dist="38100" dir="2700000" algn="tl">
                    <a:srgbClr val="000000">
                      <a:alpha val="43137"/>
                    </a:srgbClr>
                  </a:outerShdw>
                </a:effectLst>
              </a:rPr>
              <a:t>Contador de Turnos</a:t>
            </a:r>
            <a:endParaRPr lang="es-ES"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6345532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079500" y="198437"/>
            <a:ext cx="5390771" cy="1754326"/>
          </a:xfrm>
          <a:prstGeom prst="rect">
            <a:avLst/>
          </a:prstGeom>
          <a:noFill/>
        </p:spPr>
        <p:txBody>
          <a:bodyPr wrap="none" rtlCol="0">
            <a:spAutoFit/>
          </a:bodyPr>
          <a:lstStyle/>
          <a:p>
            <a:pPr marL="342900" indent="-342900">
              <a:buFont typeface="+mj-lt"/>
              <a:buAutoNum type="arabicPeriod"/>
            </a:pPr>
            <a:r>
              <a:rPr lang="es-ES" i="1" dirty="0" smtClean="0">
                <a:effectLst>
                  <a:outerShdw blurRad="38100" dist="38100" dir="2700000" algn="tl">
                    <a:srgbClr val="000000">
                      <a:alpha val="43137"/>
                    </a:srgbClr>
                  </a:outerShdw>
                </a:effectLst>
              </a:rPr>
              <a:t>Descripción del TP</a:t>
            </a:r>
          </a:p>
          <a:p>
            <a:pPr marL="342900" indent="-342900">
              <a:buFont typeface="+mj-lt"/>
              <a:buAutoNum type="arabicPeriod"/>
            </a:pPr>
            <a:r>
              <a:rPr lang="es-ES" i="1" dirty="0" smtClean="0">
                <a:effectLst>
                  <a:outerShdw blurRad="38100" dist="38100" dir="2700000" algn="tl">
                    <a:srgbClr val="000000">
                      <a:alpha val="43137"/>
                    </a:srgbClr>
                  </a:outerShdw>
                </a:effectLst>
              </a:rPr>
              <a:t>Circuito </a:t>
            </a:r>
            <a:r>
              <a:rPr lang="es-ES" i="1" dirty="0" err="1" smtClean="0">
                <a:effectLst>
                  <a:outerShdw blurRad="38100" dist="38100" dir="2700000" algn="tl">
                    <a:srgbClr val="000000">
                      <a:alpha val="43137"/>
                    </a:srgbClr>
                  </a:outerShdw>
                </a:effectLst>
              </a:rPr>
              <a:t>Electrico</a:t>
            </a:r>
            <a:endParaRPr lang="es-ES" i="1" dirty="0" smtClean="0">
              <a:effectLst>
                <a:outerShdw blurRad="38100" dist="38100" dir="2700000" algn="tl">
                  <a:srgbClr val="000000">
                    <a:alpha val="43137"/>
                  </a:srgbClr>
                </a:outerShdw>
              </a:effectLst>
            </a:endParaRPr>
          </a:p>
          <a:p>
            <a:pPr marL="342900" indent="-342900">
              <a:buFont typeface="+mj-lt"/>
              <a:buAutoNum type="arabicPeriod"/>
            </a:pPr>
            <a:r>
              <a:rPr lang="es-ES" i="1" dirty="0" smtClean="0">
                <a:effectLst>
                  <a:outerShdw blurRad="38100" dist="38100" dir="2700000" algn="tl">
                    <a:srgbClr val="000000">
                      <a:alpha val="43137"/>
                    </a:srgbClr>
                  </a:outerShdw>
                </a:effectLst>
              </a:rPr>
              <a:t>Diagrama global</a:t>
            </a:r>
          </a:p>
          <a:p>
            <a:pPr marL="342900" indent="-342900">
              <a:buFont typeface="+mj-lt"/>
              <a:buAutoNum type="arabicPeriod"/>
            </a:pPr>
            <a:r>
              <a:rPr lang="es-ES" i="1" dirty="0" smtClean="0">
                <a:effectLst>
                  <a:outerShdw blurRad="38100" dist="38100" dir="2700000" algn="tl">
                    <a:srgbClr val="000000">
                      <a:alpha val="43137"/>
                    </a:srgbClr>
                  </a:outerShdw>
                </a:effectLst>
              </a:rPr>
              <a:t>Diagrama Detallado</a:t>
            </a:r>
          </a:p>
          <a:p>
            <a:pPr marL="342900" indent="-342900">
              <a:buFont typeface="+mj-lt"/>
              <a:buAutoNum type="arabicPeriod"/>
            </a:pPr>
            <a:r>
              <a:rPr lang="es-ES" i="1" dirty="0" smtClean="0">
                <a:effectLst>
                  <a:outerShdw blurRad="38100" dist="38100" dir="2700000" algn="tl">
                    <a:srgbClr val="000000">
                      <a:alpha val="43137"/>
                    </a:srgbClr>
                  </a:outerShdw>
                </a:effectLst>
              </a:rPr>
              <a:t>Codificación con descripción de bloque y sentencias</a:t>
            </a:r>
          </a:p>
          <a:p>
            <a:pPr marL="342900" indent="-342900">
              <a:buFont typeface="+mj-lt"/>
              <a:buAutoNum type="arabicPeriod"/>
            </a:pPr>
            <a:r>
              <a:rPr lang="es-ES" i="1" dirty="0" smtClean="0">
                <a:effectLst>
                  <a:outerShdw blurRad="38100" dist="38100" dir="2700000" algn="tl">
                    <a:srgbClr val="000000">
                      <a:alpha val="43137"/>
                    </a:srgbClr>
                  </a:outerShdw>
                </a:effectLst>
              </a:rPr>
              <a:t>Prueba </a:t>
            </a:r>
            <a:r>
              <a:rPr lang="es-ES" i="1" dirty="0" err="1" smtClean="0">
                <a:effectLst>
                  <a:outerShdw blurRad="38100" dist="38100" dir="2700000" algn="tl">
                    <a:srgbClr val="000000">
                      <a:alpha val="43137"/>
                    </a:srgbClr>
                  </a:outerShdw>
                </a:effectLst>
              </a:rPr>
              <a:t>Proteus</a:t>
            </a:r>
            <a:endParaRPr lang="es-AR" i="1" dirty="0">
              <a:effectLst>
                <a:outerShdw blurRad="38100" dist="38100" dir="2700000" algn="tl">
                  <a:srgbClr val="000000">
                    <a:alpha val="43137"/>
                  </a:srgbClr>
                </a:outerShdw>
              </a:effectLst>
            </a:endParaRPr>
          </a:p>
        </p:txBody>
      </p:sp>
      <p:sp>
        <p:nvSpPr>
          <p:cNvPr id="3" name="2 CuadroTexto"/>
          <p:cNvSpPr txBox="1"/>
          <p:nvPr/>
        </p:nvSpPr>
        <p:spPr>
          <a:xfrm>
            <a:off x="622300" y="1874837"/>
            <a:ext cx="9677400" cy="5632311"/>
          </a:xfrm>
          <a:prstGeom prst="rect">
            <a:avLst/>
          </a:prstGeom>
          <a:noFill/>
        </p:spPr>
        <p:txBody>
          <a:bodyPr wrap="square" rtlCol="0">
            <a:spAutoFit/>
          </a:bodyPr>
          <a:lstStyle/>
          <a:p>
            <a:r>
              <a:rPr lang="es-AR" dirty="0">
                <a:effectLst>
                  <a:outerShdw blurRad="38100" dist="38100" dir="2700000" algn="tl">
                    <a:srgbClr val="000000">
                      <a:alpha val="43137"/>
                    </a:srgbClr>
                  </a:outerShdw>
                </a:effectLst>
              </a:rPr>
              <a:t>A continuación se publica los </a:t>
            </a:r>
            <a:r>
              <a:rPr lang="es-AR" dirty="0" err="1">
                <a:effectLst>
                  <a:outerShdw blurRad="38100" dist="38100" dir="2700000" algn="tl">
                    <a:srgbClr val="000000">
                      <a:alpha val="43137"/>
                    </a:srgbClr>
                  </a:outerShdw>
                </a:effectLst>
              </a:rPr>
              <a:t>achivos</a:t>
            </a:r>
            <a:r>
              <a:rPr lang="es-AR" dirty="0">
                <a:effectLst>
                  <a:outerShdw blurRad="38100" dist="38100" dir="2700000" algn="tl">
                    <a:srgbClr val="000000">
                      <a:alpha val="43137"/>
                    </a:srgbClr>
                  </a:outerShdw>
                </a:effectLst>
              </a:rPr>
              <a:t> con la </a:t>
            </a:r>
            <a:r>
              <a:rPr lang="es-AR" dirty="0" err="1">
                <a:effectLst>
                  <a:outerShdw blurRad="38100" dist="38100" dir="2700000" algn="tl">
                    <a:srgbClr val="000000">
                      <a:alpha val="43137"/>
                    </a:srgbClr>
                  </a:outerShdw>
                </a:effectLst>
              </a:rPr>
              <a:t>proramacción</a:t>
            </a:r>
            <a:r>
              <a:rPr lang="es-AR" dirty="0">
                <a:effectLst>
                  <a:outerShdw blurRad="38100" dist="38100" dir="2700000" algn="tl">
                    <a:srgbClr val="000000">
                      <a:alpha val="43137"/>
                    </a:srgbClr>
                  </a:outerShdw>
                </a:effectLst>
              </a:rPr>
              <a:t> y el simulador </a:t>
            </a:r>
            <a:r>
              <a:rPr lang="es-AR" dirty="0" err="1">
                <a:effectLst>
                  <a:outerShdw blurRad="38100" dist="38100" dir="2700000" algn="tl">
                    <a:srgbClr val="000000">
                      <a:alpha val="43137"/>
                    </a:srgbClr>
                  </a:outerShdw>
                </a:effectLst>
              </a:rPr>
              <a:t>Proteus</a:t>
            </a:r>
            <a:r>
              <a:rPr lang="es-AR" dirty="0">
                <a:effectLst>
                  <a:outerShdw blurRad="38100" dist="38100" dir="2700000" algn="tl">
                    <a:srgbClr val="000000">
                      <a:alpha val="43137"/>
                    </a:srgbClr>
                  </a:outerShdw>
                </a:effectLst>
              </a:rPr>
              <a:t> para probar el programa. de acuerdo a lo </a:t>
            </a:r>
            <a:r>
              <a:rPr lang="es-AR" dirty="0" err="1">
                <a:effectLst>
                  <a:outerShdw blurRad="38100" dist="38100" dir="2700000" algn="tl">
                    <a:srgbClr val="000000">
                      <a:alpha val="43137"/>
                    </a:srgbClr>
                  </a:outerShdw>
                </a:effectLst>
              </a:rPr>
              <a:t>dasarrollado</a:t>
            </a:r>
            <a:r>
              <a:rPr lang="es-AR" dirty="0">
                <a:effectLst>
                  <a:outerShdw blurRad="38100" dist="38100" dir="2700000" algn="tl">
                    <a:srgbClr val="000000">
                      <a:alpha val="43137"/>
                    </a:srgbClr>
                  </a:outerShdw>
                </a:effectLst>
              </a:rPr>
              <a:t> en clase.</a:t>
            </a:r>
          </a:p>
          <a:p>
            <a:r>
              <a:rPr lang="es-AR" u="sng" dirty="0">
                <a:effectLst>
                  <a:outerShdw blurRad="38100" dist="38100" dir="2700000" algn="tl">
                    <a:srgbClr val="000000">
                      <a:alpha val="43137"/>
                    </a:srgbClr>
                  </a:outerShdw>
                </a:effectLst>
                <a:hlinkClick r:id="rId2"/>
              </a:rPr>
              <a:t>Diagramas de flujo.vsd (78336)</a:t>
            </a:r>
            <a:r>
              <a:rPr lang="es-AR" dirty="0">
                <a:effectLst>
                  <a:outerShdw blurRad="38100" dist="38100" dir="2700000" algn="tl">
                    <a:srgbClr val="000000">
                      <a:alpha val="43137"/>
                    </a:srgbClr>
                  </a:outerShdw>
                </a:effectLst>
              </a:rPr>
              <a:t/>
            </a:r>
            <a:br>
              <a:rPr lang="es-AR" dirty="0">
                <a:effectLst>
                  <a:outerShdw blurRad="38100" dist="38100" dir="2700000" algn="tl">
                    <a:srgbClr val="000000">
                      <a:alpha val="43137"/>
                    </a:srgbClr>
                  </a:outerShdw>
                </a:effectLst>
              </a:rPr>
            </a:br>
            <a:r>
              <a:rPr lang="es-AR" u="sng" dirty="0">
                <a:effectLst>
                  <a:outerShdw blurRad="38100" dist="38100" dir="2700000" algn="tl">
                    <a:srgbClr val="000000">
                      <a:alpha val="43137"/>
                    </a:srgbClr>
                  </a:outerShdw>
                </a:effectLst>
                <a:hlinkClick r:id="rId3"/>
              </a:rPr>
              <a:t>Proyecto 1.pdsprj (15136)</a:t>
            </a:r>
            <a:r>
              <a:rPr lang="es-AR" dirty="0">
                <a:effectLst>
                  <a:outerShdw blurRad="38100" dist="38100" dir="2700000" algn="tl">
                    <a:srgbClr val="000000">
                      <a:alpha val="43137"/>
                    </a:srgbClr>
                  </a:outerShdw>
                </a:effectLst>
              </a:rPr>
              <a:t/>
            </a:r>
            <a:br>
              <a:rPr lang="es-AR" dirty="0">
                <a:effectLst>
                  <a:outerShdw blurRad="38100" dist="38100" dir="2700000" algn="tl">
                    <a:srgbClr val="000000">
                      <a:alpha val="43137"/>
                    </a:srgbClr>
                  </a:outerShdw>
                </a:effectLst>
              </a:rPr>
            </a:br>
            <a:r>
              <a:rPr lang="es-AR" u="sng" dirty="0">
                <a:effectLst>
                  <a:outerShdw blurRad="38100" dist="38100" dir="2700000" algn="tl">
                    <a:srgbClr val="000000">
                      <a:alpha val="43137"/>
                    </a:srgbClr>
                  </a:outerShdw>
                </a:effectLst>
                <a:hlinkClick r:id="rId4"/>
              </a:rPr>
              <a:t>TP-turnos-solucion.asm (2732)</a:t>
            </a:r>
            <a:endParaRPr lang="es-AR" dirty="0">
              <a:effectLst>
                <a:outerShdw blurRad="38100" dist="38100" dir="2700000" algn="tl">
                  <a:srgbClr val="000000">
                    <a:alpha val="43137"/>
                  </a:srgbClr>
                </a:outerShdw>
              </a:effectLst>
            </a:endParaRPr>
          </a:p>
          <a:p>
            <a:r>
              <a:rPr lang="es-AR" dirty="0">
                <a:effectLst>
                  <a:outerShdw blurRad="38100" dist="38100" dir="2700000" algn="tl">
                    <a:srgbClr val="000000">
                      <a:alpha val="43137"/>
                    </a:srgbClr>
                  </a:outerShdw>
                </a:effectLst>
              </a:rPr>
              <a:t>Descripción del TP.  </a:t>
            </a:r>
            <a:r>
              <a:rPr lang="es-AR" u="sng" dirty="0">
                <a:effectLst>
                  <a:outerShdw blurRad="38100" dist="38100" dir="2700000" algn="tl">
                    <a:srgbClr val="000000">
                      <a:alpha val="43137"/>
                    </a:srgbClr>
                  </a:outerShdw>
                </a:effectLst>
                <a:hlinkClick r:id="rId5"/>
              </a:rPr>
              <a:t>TP turnos.doc (97792)</a:t>
            </a:r>
            <a:endParaRPr lang="es-AR" dirty="0">
              <a:effectLst>
                <a:outerShdw blurRad="38100" dist="38100" dir="2700000" algn="tl">
                  <a:srgbClr val="000000">
                    <a:alpha val="43137"/>
                  </a:srgbClr>
                </a:outerShdw>
              </a:effectLst>
            </a:endParaRPr>
          </a:p>
          <a:p>
            <a:r>
              <a:rPr lang="es-AR" dirty="0">
                <a:effectLst>
                  <a:outerShdw blurRad="38100" dist="38100" dir="2700000" algn="tl">
                    <a:srgbClr val="000000">
                      <a:alpha val="43137"/>
                    </a:srgbClr>
                  </a:outerShdw>
                </a:effectLst>
              </a:rPr>
              <a:t>Se solicita efectuar las siguientes actividades.</a:t>
            </a:r>
          </a:p>
          <a:p>
            <a:r>
              <a:rPr lang="es-AR" dirty="0">
                <a:effectLst>
                  <a:outerShdw blurRad="38100" dist="38100" dir="2700000" algn="tl">
                    <a:srgbClr val="000000">
                      <a:alpha val="43137"/>
                    </a:srgbClr>
                  </a:outerShdw>
                </a:effectLst>
              </a:rPr>
              <a:t>1.- Proyecto en </a:t>
            </a:r>
            <a:r>
              <a:rPr lang="es-AR" dirty="0" err="1">
                <a:effectLst>
                  <a:outerShdw blurRad="38100" dist="38100" dir="2700000" algn="tl">
                    <a:srgbClr val="000000">
                      <a:alpha val="43137"/>
                    </a:srgbClr>
                  </a:outerShdw>
                </a:effectLst>
              </a:rPr>
              <a:t>MPLab</a:t>
            </a:r>
            <a:endParaRPr lang="es-AR" dirty="0">
              <a:effectLst>
                <a:outerShdw blurRad="38100" dist="38100" dir="2700000" algn="tl">
                  <a:srgbClr val="000000">
                    <a:alpha val="43137"/>
                  </a:srgbClr>
                </a:outerShdw>
              </a:effectLst>
            </a:endParaRPr>
          </a:p>
          <a:p>
            <a:r>
              <a:rPr lang="es-AR" dirty="0">
                <a:effectLst>
                  <a:outerShdw blurRad="38100" dist="38100" dir="2700000" algn="tl">
                    <a:srgbClr val="000000">
                      <a:alpha val="43137"/>
                    </a:srgbClr>
                  </a:outerShdw>
                </a:effectLst>
              </a:rPr>
              <a:t>2.- Generar la descripción funcional de la programación del programa TP-turnos.asm</a:t>
            </a:r>
          </a:p>
          <a:p>
            <a:r>
              <a:rPr lang="es-AR" dirty="0">
                <a:effectLst>
                  <a:outerShdw blurRad="38100" dist="38100" dir="2700000" algn="tl">
                    <a:srgbClr val="000000">
                      <a:alpha val="43137"/>
                    </a:srgbClr>
                  </a:outerShdw>
                </a:effectLst>
              </a:rPr>
              <a:t>3.- Mediante la utilización de la IDE </a:t>
            </a:r>
            <a:r>
              <a:rPr lang="es-AR" dirty="0" err="1">
                <a:effectLst>
                  <a:outerShdw blurRad="38100" dist="38100" dir="2700000" algn="tl">
                    <a:srgbClr val="000000">
                      <a:alpha val="43137"/>
                    </a:srgbClr>
                  </a:outerShdw>
                </a:effectLst>
              </a:rPr>
              <a:t>MPLab</a:t>
            </a:r>
            <a:r>
              <a:rPr lang="es-AR" dirty="0">
                <a:effectLst>
                  <a:outerShdw blurRad="38100" dist="38100" dir="2700000" algn="tl">
                    <a:srgbClr val="000000">
                      <a:alpha val="43137"/>
                    </a:srgbClr>
                  </a:outerShdw>
                </a:effectLst>
              </a:rPr>
              <a:t> efectuar la ejecución paso a paso del programa mostrando la variación de los valores de las variables para efectuar la validación funcional de la solución presentada.</a:t>
            </a:r>
          </a:p>
          <a:p>
            <a:r>
              <a:rPr lang="es-AR" dirty="0">
                <a:effectLst>
                  <a:outerShdw blurRad="38100" dist="38100" dir="2700000" algn="tl">
                    <a:srgbClr val="000000">
                      <a:alpha val="43137"/>
                    </a:srgbClr>
                  </a:outerShdw>
                </a:effectLst>
              </a:rPr>
              <a:t>4.- </a:t>
            </a:r>
            <a:r>
              <a:rPr lang="es-AR" dirty="0" err="1">
                <a:effectLst>
                  <a:outerShdw blurRad="38100" dist="38100" dir="2700000" algn="tl">
                    <a:srgbClr val="000000">
                      <a:alpha val="43137"/>
                    </a:srgbClr>
                  </a:outerShdw>
                </a:effectLst>
              </a:rPr>
              <a:t>Mediate</a:t>
            </a:r>
            <a:r>
              <a:rPr lang="es-AR" dirty="0">
                <a:effectLst>
                  <a:outerShdw blurRad="38100" dist="38100" dir="2700000" algn="tl">
                    <a:srgbClr val="000000">
                      <a:alpha val="43137"/>
                    </a:srgbClr>
                  </a:outerShdw>
                </a:effectLst>
              </a:rPr>
              <a:t> el simulador </a:t>
            </a:r>
            <a:r>
              <a:rPr lang="es-AR" dirty="0" err="1">
                <a:effectLst>
                  <a:outerShdw blurRad="38100" dist="38100" dir="2700000" algn="tl">
                    <a:srgbClr val="000000">
                      <a:alpha val="43137"/>
                    </a:srgbClr>
                  </a:outerShdw>
                </a:effectLst>
              </a:rPr>
              <a:t>Proteus</a:t>
            </a:r>
            <a:r>
              <a:rPr lang="es-AR" dirty="0">
                <a:effectLst>
                  <a:outerShdw blurRad="38100" dist="38100" dir="2700000" algn="tl">
                    <a:srgbClr val="000000">
                      <a:alpha val="43137"/>
                    </a:srgbClr>
                  </a:outerShdw>
                </a:effectLst>
              </a:rPr>
              <a:t> se </a:t>
            </a:r>
            <a:r>
              <a:rPr lang="es-AR" dirty="0" err="1">
                <a:effectLst>
                  <a:outerShdw blurRad="38100" dist="38100" dir="2700000" algn="tl">
                    <a:srgbClr val="000000">
                      <a:alpha val="43137"/>
                    </a:srgbClr>
                  </a:outerShdw>
                </a:effectLst>
              </a:rPr>
              <a:t>procedera</a:t>
            </a:r>
            <a:r>
              <a:rPr lang="es-AR" dirty="0">
                <a:effectLst>
                  <a:outerShdw blurRad="38100" dist="38100" dir="2700000" algn="tl">
                    <a:srgbClr val="000000">
                      <a:alpha val="43137"/>
                    </a:srgbClr>
                  </a:outerShdw>
                </a:effectLst>
              </a:rPr>
              <a:t> a efectuar la prueba de la solución presentada (el contador de turnos debe comenzar con el valor inicial 00</a:t>
            </a:r>
          </a:p>
          <a:p>
            <a:r>
              <a:rPr lang="es-AR" dirty="0">
                <a:effectLst>
                  <a:outerShdw blurRad="38100" dist="38100" dir="2700000" algn="tl">
                    <a:srgbClr val="000000">
                      <a:alpha val="43137"/>
                    </a:srgbClr>
                  </a:outerShdw>
                </a:effectLst>
              </a:rPr>
              <a:t>4.- en los puntos 3 y 4 se deberá efectuar las capturas de pantallas que evidencie la actividad solicitada con los comentario de la representación de la misma.</a:t>
            </a:r>
          </a:p>
          <a:p>
            <a:r>
              <a:rPr lang="es-AR" dirty="0">
                <a:effectLst>
                  <a:outerShdw blurRad="38100" dist="38100" dir="2700000" algn="tl">
                    <a:srgbClr val="000000">
                      <a:alpha val="43137"/>
                    </a:srgbClr>
                  </a:outerShdw>
                </a:effectLst>
              </a:rPr>
              <a:t>5.- Si </a:t>
            </a:r>
            <a:r>
              <a:rPr lang="es-AR" dirty="0" err="1">
                <a:effectLst>
                  <a:outerShdw blurRad="38100" dist="38100" dir="2700000" algn="tl">
                    <a:srgbClr val="000000">
                      <a:alpha val="43137"/>
                    </a:srgbClr>
                  </a:outerShdw>
                </a:effectLst>
              </a:rPr>
              <a:t>hubere</a:t>
            </a:r>
            <a:r>
              <a:rPr lang="es-AR" dirty="0">
                <a:effectLst>
                  <a:outerShdw blurRad="38100" dist="38100" dir="2700000" algn="tl">
                    <a:srgbClr val="000000">
                      <a:alpha val="43137"/>
                    </a:srgbClr>
                  </a:outerShdw>
                </a:effectLst>
              </a:rPr>
              <a:t> que efectuar algún ajuste funcional </a:t>
            </a:r>
            <a:endParaRPr lang="es-AR" dirty="0" smtClean="0">
              <a:effectLst>
                <a:outerShdw blurRad="38100" dist="38100" dir="2700000" algn="tl">
                  <a:srgbClr val="000000">
                    <a:alpha val="43137"/>
                  </a:srgbClr>
                </a:outerShdw>
              </a:effectLst>
            </a:endParaRPr>
          </a:p>
          <a:p>
            <a:r>
              <a:rPr lang="es-AR" dirty="0" smtClean="0">
                <a:solidFill>
                  <a:srgbClr val="FF0000"/>
                </a:solidFill>
                <a:effectLst>
                  <a:outerShdw blurRad="38100" dist="38100" dir="2700000" algn="tl">
                    <a:srgbClr val="000000">
                      <a:alpha val="43137"/>
                    </a:srgbClr>
                  </a:outerShdw>
                </a:effectLst>
              </a:rPr>
              <a:t>6.- Responder </a:t>
            </a:r>
          </a:p>
          <a:p>
            <a:pPr marL="342900" indent="-342900">
              <a:buAutoNum type="alphaLcParenR"/>
            </a:pPr>
            <a:r>
              <a:rPr lang="es-AR" dirty="0" smtClean="0">
                <a:solidFill>
                  <a:srgbClr val="FF0000"/>
                </a:solidFill>
                <a:effectLst>
                  <a:outerShdw blurRad="38100" dist="38100" dir="2700000" algn="tl">
                    <a:srgbClr val="000000">
                      <a:alpha val="43137"/>
                    </a:srgbClr>
                  </a:outerShdw>
                </a:effectLst>
              </a:rPr>
              <a:t>cómo </a:t>
            </a:r>
            <a:r>
              <a:rPr lang="es-AR" dirty="0">
                <a:solidFill>
                  <a:srgbClr val="FF0000"/>
                </a:solidFill>
                <a:effectLst>
                  <a:outerShdw blurRad="38100" dist="38100" dir="2700000" algn="tl">
                    <a:srgbClr val="000000">
                      <a:alpha val="43137"/>
                    </a:srgbClr>
                  </a:outerShdw>
                </a:effectLst>
              </a:rPr>
              <a:t>funciona la tabla de conversión </a:t>
            </a:r>
            <a:endParaRPr lang="es-AR" dirty="0" smtClean="0">
              <a:solidFill>
                <a:srgbClr val="FF0000"/>
              </a:solidFill>
              <a:effectLst>
                <a:outerShdw blurRad="38100" dist="38100" dir="2700000" algn="tl">
                  <a:srgbClr val="000000">
                    <a:alpha val="43137"/>
                  </a:srgbClr>
                </a:outerShdw>
              </a:effectLst>
            </a:endParaRPr>
          </a:p>
          <a:p>
            <a:pPr marL="342900" indent="-342900">
              <a:buAutoNum type="alphaLcParenR"/>
            </a:pPr>
            <a:r>
              <a:rPr lang="es-AR" dirty="0" smtClean="0">
                <a:solidFill>
                  <a:srgbClr val="FF0000"/>
                </a:solidFill>
                <a:effectLst>
                  <a:outerShdw blurRad="38100" dist="38100" dir="2700000" algn="tl">
                    <a:srgbClr val="000000">
                      <a:alpha val="43137"/>
                    </a:srgbClr>
                  </a:outerShdw>
                </a:effectLst>
              </a:rPr>
              <a:t> explicar por </a:t>
            </a:r>
            <a:r>
              <a:rPr lang="es-AR" dirty="0">
                <a:solidFill>
                  <a:srgbClr val="FF0000"/>
                </a:solidFill>
                <a:effectLst>
                  <a:outerShdw blurRad="38100" dist="38100" dir="2700000" algn="tl">
                    <a:srgbClr val="000000">
                      <a:alpha val="43137"/>
                    </a:srgbClr>
                  </a:outerShdw>
                </a:effectLst>
              </a:rPr>
              <a:t>qué se elijen esos </a:t>
            </a:r>
            <a:r>
              <a:rPr lang="es-AR" dirty="0" smtClean="0">
                <a:solidFill>
                  <a:srgbClr val="FF0000"/>
                </a:solidFill>
                <a:effectLst>
                  <a:outerShdw blurRad="38100" dist="38100" dir="2700000" algn="tl">
                    <a:srgbClr val="000000">
                      <a:alpha val="43137"/>
                    </a:srgbClr>
                  </a:outerShdw>
                </a:effectLst>
              </a:rPr>
              <a:t>valores.</a:t>
            </a:r>
            <a:r>
              <a:rPr lang="es-AR" dirty="0">
                <a:solidFill>
                  <a:srgbClr val="FF0000"/>
                </a:solidFill>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124957192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5202375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578100" y="584200"/>
            <a:ext cx="6667500" cy="774700"/>
          </a:xfrm>
          <a:prstGeom prst="rect">
            <a:avLst/>
          </a:prstGeom>
          <a:noFill/>
        </p:spPr>
        <p:txBody>
          <a:bodyPr wrap="none" lIns="0" tIns="0" rIns="0" rtlCol="0">
            <a:spAutoFit/>
          </a:bodyPr>
          <a:lstStyle/>
          <a:p>
            <a:pPr>
              <a:lnSpc>
                <a:spcPts val="6100"/>
              </a:lnSpc>
              <a:tabLst/>
            </a:pPr>
            <a:r>
              <a:rPr lang="en-US" altLang="zh-CN" sz="4397" b="1" dirty="0" smtClean="0">
                <a:solidFill>
                  <a:srgbClr val="000000"/>
                </a:solidFill>
                <a:latin typeface="Times New Roman" pitchFamily="18" charset="0"/>
                <a:cs typeface="Times New Roman" pitchFamily="18" charset="0"/>
              </a:rPr>
              <a:t>Palabra</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de</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configuración</a:t>
            </a:r>
          </a:p>
        </p:txBody>
      </p:sp>
      <p:sp>
        <p:nvSpPr>
          <p:cNvPr id="3" name="TextBox 1"/>
          <p:cNvSpPr txBox="1"/>
          <p:nvPr/>
        </p:nvSpPr>
        <p:spPr>
          <a:xfrm>
            <a:off x="1104900" y="1625600"/>
            <a:ext cx="203200" cy="203200"/>
          </a:xfrm>
          <a:prstGeom prst="rect">
            <a:avLst/>
          </a:prstGeom>
          <a:noFill/>
        </p:spPr>
        <p:txBody>
          <a:bodyPr wrap="none" lIns="0" tIns="0" rIns="0" rtlCol="0">
            <a:spAutoFit/>
          </a:bodyPr>
          <a:lstStyle/>
          <a:p>
            <a:pPr>
              <a:lnSpc>
                <a:spcPts val="1600"/>
              </a:lnSpc>
              <a:tabLst/>
            </a:pPr>
            <a:r>
              <a:rPr lang="en-US" altLang="zh-CN" sz="1200" b="1" dirty="0" smtClean="0">
                <a:solidFill>
                  <a:srgbClr val="000000"/>
                </a:solidFill>
                <a:latin typeface="Times New Roman" pitchFamily="18" charset="0"/>
                <a:cs typeface="Times New Roman" pitchFamily="18" charset="0"/>
              </a:rPr>
              <a:t>CP</a:t>
            </a:r>
          </a:p>
        </p:txBody>
      </p:sp>
      <p:sp>
        <p:nvSpPr>
          <p:cNvPr id="4" name="TextBox 1"/>
          <p:cNvSpPr txBox="1"/>
          <p:nvPr/>
        </p:nvSpPr>
        <p:spPr>
          <a:xfrm>
            <a:off x="1803400" y="1625600"/>
            <a:ext cx="38100" cy="203200"/>
          </a:xfrm>
          <a:prstGeom prst="rect">
            <a:avLst/>
          </a:prstGeom>
          <a:noFill/>
        </p:spPr>
        <p:txBody>
          <a:bodyPr wrap="none" lIns="0" tIns="0" rIns="0" rtlCol="0">
            <a:spAutoFit/>
          </a:bodyPr>
          <a:lstStyle/>
          <a:p>
            <a:pPr>
              <a:lnSpc>
                <a:spcPts val="1600"/>
              </a:lnSpc>
              <a:tabLst/>
            </a:pPr>
            <a:r>
              <a:rPr lang="en-US" altLang="zh-CN" sz="1200" b="1" dirty="0" smtClean="0">
                <a:solidFill>
                  <a:srgbClr val="000000"/>
                </a:solidFill>
                <a:latin typeface="Times New Roman" pitchFamily="18" charset="0"/>
                <a:cs typeface="Times New Roman" pitchFamily="18" charset="0"/>
              </a:rPr>
              <a:t>-</a:t>
            </a:r>
          </a:p>
        </p:txBody>
      </p:sp>
      <p:sp>
        <p:nvSpPr>
          <p:cNvPr id="5" name="TextBox 1"/>
          <p:cNvSpPr txBox="1"/>
          <p:nvPr/>
        </p:nvSpPr>
        <p:spPr>
          <a:xfrm>
            <a:off x="2159000" y="1625600"/>
            <a:ext cx="1104900" cy="203200"/>
          </a:xfrm>
          <a:prstGeom prst="rect">
            <a:avLst/>
          </a:prstGeom>
          <a:noFill/>
        </p:spPr>
        <p:txBody>
          <a:bodyPr wrap="none" lIns="0" tIns="0" rIns="0" rtlCol="0">
            <a:spAutoFit/>
          </a:bodyPr>
          <a:lstStyle/>
          <a:p>
            <a:pPr>
              <a:lnSpc>
                <a:spcPts val="1600"/>
              </a:lnSpc>
              <a:tabLst/>
            </a:pPr>
            <a:r>
              <a:rPr lang="en-US" altLang="zh-CN" sz="1200" b="1" dirty="0" smtClean="0">
                <a:solidFill>
                  <a:srgbClr val="000000"/>
                </a:solidFill>
                <a:latin typeface="Times New Roman" pitchFamily="18" charset="0"/>
                <a:cs typeface="Times New Roman" pitchFamily="18" charset="0"/>
              </a:rPr>
              <a:t>DEBUG</a:t>
            </a:r>
            <a:r>
              <a:rPr lang="en-US" altLang="zh-CN" sz="1200" dirty="0" smtClean="0">
                <a:latin typeface="Times New Roman" pitchFamily="18" charset="0"/>
                <a:cs typeface="Times New Roman" pitchFamily="18" charset="0"/>
              </a:rPr>
              <a:t>    </a:t>
            </a:r>
            <a:r>
              <a:rPr lang="en-US" altLang="zh-CN" sz="1200" b="1" dirty="0" smtClean="0">
                <a:solidFill>
                  <a:srgbClr val="000000"/>
                </a:solidFill>
                <a:latin typeface="Times New Roman" pitchFamily="18" charset="0"/>
                <a:cs typeface="Times New Roman" pitchFamily="18" charset="0"/>
              </a:rPr>
              <a:t>WRT1</a:t>
            </a:r>
          </a:p>
        </p:txBody>
      </p:sp>
      <p:sp>
        <p:nvSpPr>
          <p:cNvPr id="6" name="TextBox 1"/>
          <p:cNvSpPr txBox="1"/>
          <p:nvPr/>
        </p:nvSpPr>
        <p:spPr>
          <a:xfrm>
            <a:off x="3454400" y="1625600"/>
            <a:ext cx="419100" cy="203200"/>
          </a:xfrm>
          <a:prstGeom prst="rect">
            <a:avLst/>
          </a:prstGeom>
          <a:noFill/>
        </p:spPr>
        <p:txBody>
          <a:bodyPr wrap="none" lIns="0" tIns="0" rIns="0" rtlCol="0">
            <a:spAutoFit/>
          </a:bodyPr>
          <a:lstStyle/>
          <a:p>
            <a:pPr>
              <a:lnSpc>
                <a:spcPts val="1600"/>
              </a:lnSpc>
              <a:tabLst/>
            </a:pPr>
            <a:r>
              <a:rPr lang="en-US" altLang="zh-CN" sz="1200" b="1" dirty="0" smtClean="0">
                <a:solidFill>
                  <a:srgbClr val="000000"/>
                </a:solidFill>
                <a:latin typeface="Times New Roman" pitchFamily="18" charset="0"/>
                <a:cs typeface="Times New Roman" pitchFamily="18" charset="0"/>
              </a:rPr>
              <a:t>WRT0</a:t>
            </a:r>
          </a:p>
        </p:txBody>
      </p:sp>
      <p:sp>
        <p:nvSpPr>
          <p:cNvPr id="7" name="TextBox 1"/>
          <p:cNvSpPr txBox="1"/>
          <p:nvPr/>
        </p:nvSpPr>
        <p:spPr>
          <a:xfrm>
            <a:off x="4127500" y="1625600"/>
            <a:ext cx="317500" cy="203200"/>
          </a:xfrm>
          <a:prstGeom prst="rect">
            <a:avLst/>
          </a:prstGeom>
          <a:noFill/>
        </p:spPr>
        <p:txBody>
          <a:bodyPr wrap="none" lIns="0" tIns="0" rIns="0" rtlCol="0">
            <a:spAutoFit/>
          </a:bodyPr>
          <a:lstStyle/>
          <a:p>
            <a:pPr>
              <a:lnSpc>
                <a:spcPts val="1600"/>
              </a:lnSpc>
              <a:tabLst/>
            </a:pPr>
            <a:r>
              <a:rPr lang="en-US" altLang="zh-CN" sz="1200" b="1" dirty="0" smtClean="0">
                <a:solidFill>
                  <a:srgbClr val="000000"/>
                </a:solidFill>
                <a:latin typeface="Times New Roman" pitchFamily="18" charset="0"/>
                <a:cs typeface="Times New Roman" pitchFamily="18" charset="0"/>
              </a:rPr>
              <a:t>CPD</a:t>
            </a:r>
          </a:p>
        </p:txBody>
      </p:sp>
      <p:sp>
        <p:nvSpPr>
          <p:cNvPr id="8" name="TextBox 1"/>
          <p:cNvSpPr txBox="1"/>
          <p:nvPr/>
        </p:nvSpPr>
        <p:spPr>
          <a:xfrm>
            <a:off x="4749800" y="1625600"/>
            <a:ext cx="279400" cy="203200"/>
          </a:xfrm>
          <a:prstGeom prst="rect">
            <a:avLst/>
          </a:prstGeom>
          <a:noFill/>
        </p:spPr>
        <p:txBody>
          <a:bodyPr wrap="none" lIns="0" tIns="0" rIns="0" rtlCol="0">
            <a:spAutoFit/>
          </a:bodyPr>
          <a:lstStyle/>
          <a:p>
            <a:pPr>
              <a:lnSpc>
                <a:spcPts val="1600"/>
              </a:lnSpc>
              <a:tabLst/>
            </a:pPr>
            <a:r>
              <a:rPr lang="en-US" altLang="zh-CN" sz="1200" b="1" dirty="0" smtClean="0">
                <a:solidFill>
                  <a:srgbClr val="000000"/>
                </a:solidFill>
                <a:latin typeface="Times New Roman" pitchFamily="18" charset="0"/>
                <a:cs typeface="Times New Roman" pitchFamily="18" charset="0"/>
              </a:rPr>
              <a:t>LVP</a:t>
            </a:r>
          </a:p>
        </p:txBody>
      </p:sp>
      <p:sp>
        <p:nvSpPr>
          <p:cNvPr id="9" name="TextBox 1"/>
          <p:cNvSpPr txBox="1"/>
          <p:nvPr/>
        </p:nvSpPr>
        <p:spPr>
          <a:xfrm>
            <a:off x="5232400" y="1625600"/>
            <a:ext cx="546100" cy="203200"/>
          </a:xfrm>
          <a:prstGeom prst="rect">
            <a:avLst/>
          </a:prstGeom>
          <a:noFill/>
        </p:spPr>
        <p:txBody>
          <a:bodyPr wrap="none" lIns="0" tIns="0" rIns="0" rtlCol="0">
            <a:spAutoFit/>
          </a:bodyPr>
          <a:lstStyle/>
          <a:p>
            <a:pPr>
              <a:lnSpc>
                <a:spcPts val="1600"/>
              </a:lnSpc>
              <a:tabLst/>
            </a:pPr>
            <a:r>
              <a:rPr lang="en-US" altLang="zh-CN" sz="1200" b="1" dirty="0" smtClean="0">
                <a:solidFill>
                  <a:srgbClr val="000000"/>
                </a:solidFill>
                <a:latin typeface="Times New Roman" pitchFamily="18" charset="0"/>
                <a:cs typeface="Times New Roman" pitchFamily="18" charset="0"/>
              </a:rPr>
              <a:t>BOREN</a:t>
            </a:r>
          </a:p>
        </p:txBody>
      </p:sp>
      <p:sp>
        <p:nvSpPr>
          <p:cNvPr id="10" name="TextBox 1"/>
          <p:cNvSpPr txBox="1"/>
          <p:nvPr/>
        </p:nvSpPr>
        <p:spPr>
          <a:xfrm>
            <a:off x="6096000" y="1625600"/>
            <a:ext cx="38100" cy="203200"/>
          </a:xfrm>
          <a:prstGeom prst="rect">
            <a:avLst/>
          </a:prstGeom>
          <a:noFill/>
        </p:spPr>
        <p:txBody>
          <a:bodyPr wrap="none" lIns="0" tIns="0" rIns="0" rtlCol="0">
            <a:spAutoFit/>
          </a:bodyPr>
          <a:lstStyle/>
          <a:p>
            <a:pPr>
              <a:lnSpc>
                <a:spcPts val="1600"/>
              </a:lnSpc>
              <a:tabLst/>
            </a:pPr>
            <a:r>
              <a:rPr lang="en-US" altLang="zh-CN" sz="1200" b="1" dirty="0" smtClean="0">
                <a:solidFill>
                  <a:srgbClr val="000000"/>
                </a:solidFill>
                <a:latin typeface="Times New Roman" pitchFamily="18" charset="0"/>
                <a:cs typeface="Times New Roman" pitchFamily="18" charset="0"/>
              </a:rPr>
              <a:t>-</a:t>
            </a:r>
          </a:p>
        </p:txBody>
      </p:sp>
      <p:sp>
        <p:nvSpPr>
          <p:cNvPr id="11" name="TextBox 1"/>
          <p:cNvSpPr txBox="1"/>
          <p:nvPr/>
        </p:nvSpPr>
        <p:spPr>
          <a:xfrm>
            <a:off x="6718300" y="1625600"/>
            <a:ext cx="38100" cy="203200"/>
          </a:xfrm>
          <a:prstGeom prst="rect">
            <a:avLst/>
          </a:prstGeom>
          <a:noFill/>
        </p:spPr>
        <p:txBody>
          <a:bodyPr wrap="none" lIns="0" tIns="0" rIns="0" rtlCol="0">
            <a:spAutoFit/>
          </a:bodyPr>
          <a:lstStyle/>
          <a:p>
            <a:pPr>
              <a:lnSpc>
                <a:spcPts val="1600"/>
              </a:lnSpc>
              <a:tabLst/>
            </a:pPr>
            <a:r>
              <a:rPr lang="en-US" altLang="zh-CN" sz="1200" b="1" dirty="0" smtClean="0">
                <a:solidFill>
                  <a:srgbClr val="000000"/>
                </a:solidFill>
                <a:latin typeface="Times New Roman" pitchFamily="18" charset="0"/>
                <a:cs typeface="Times New Roman" pitchFamily="18" charset="0"/>
              </a:rPr>
              <a:t>-</a:t>
            </a:r>
          </a:p>
        </p:txBody>
      </p:sp>
      <p:sp>
        <p:nvSpPr>
          <p:cNvPr id="12" name="TextBox 1"/>
          <p:cNvSpPr txBox="1"/>
          <p:nvPr/>
        </p:nvSpPr>
        <p:spPr>
          <a:xfrm>
            <a:off x="7099300" y="1625600"/>
            <a:ext cx="2628900" cy="203200"/>
          </a:xfrm>
          <a:prstGeom prst="rect">
            <a:avLst/>
          </a:prstGeom>
          <a:noFill/>
        </p:spPr>
        <p:txBody>
          <a:bodyPr wrap="none" lIns="0" tIns="0" rIns="0" rtlCol="0">
            <a:spAutoFit/>
          </a:bodyPr>
          <a:lstStyle/>
          <a:p>
            <a:pPr>
              <a:lnSpc>
                <a:spcPts val="1600"/>
              </a:lnSpc>
              <a:tabLst/>
            </a:pPr>
            <a:r>
              <a:rPr lang="en-US" altLang="zh-CN" sz="1200" b="1" dirty="0" smtClean="0">
                <a:solidFill>
                  <a:srgbClr val="000000"/>
                </a:solidFill>
                <a:latin typeface="Times New Roman" pitchFamily="18" charset="0"/>
                <a:cs typeface="Times New Roman" pitchFamily="18" charset="0"/>
              </a:rPr>
              <a:t>PWRTEN</a:t>
            </a:r>
            <a:r>
              <a:rPr lang="en-US" altLang="zh-CN" sz="1200" dirty="0" smtClean="0">
                <a:latin typeface="Times New Roman" pitchFamily="18" charset="0"/>
                <a:cs typeface="Times New Roman" pitchFamily="18" charset="0"/>
              </a:rPr>
              <a:t>    </a:t>
            </a:r>
            <a:r>
              <a:rPr lang="en-US" altLang="zh-CN" sz="1200" b="1" dirty="0" smtClean="0">
                <a:solidFill>
                  <a:srgbClr val="000000"/>
                </a:solidFill>
                <a:latin typeface="Times New Roman" pitchFamily="18" charset="0"/>
                <a:cs typeface="Times New Roman" pitchFamily="18" charset="0"/>
              </a:rPr>
              <a:t>WDTEN</a:t>
            </a:r>
            <a:r>
              <a:rPr lang="en-US" altLang="zh-CN" sz="1200" dirty="0" smtClean="0">
                <a:latin typeface="Times New Roman" pitchFamily="18" charset="0"/>
                <a:cs typeface="Times New Roman" pitchFamily="18" charset="0"/>
              </a:rPr>
              <a:t>    </a:t>
            </a:r>
            <a:r>
              <a:rPr lang="en-US" altLang="zh-CN" sz="1200" b="1" dirty="0" smtClean="0">
                <a:solidFill>
                  <a:srgbClr val="000000"/>
                </a:solidFill>
                <a:latin typeface="Times New Roman" pitchFamily="18" charset="0"/>
                <a:cs typeface="Times New Roman" pitchFamily="18" charset="0"/>
              </a:rPr>
              <a:t>FOSC1</a:t>
            </a:r>
            <a:r>
              <a:rPr lang="en-US" altLang="zh-CN" sz="1200" dirty="0" smtClean="0">
                <a:latin typeface="Times New Roman" pitchFamily="18" charset="0"/>
                <a:cs typeface="Times New Roman" pitchFamily="18" charset="0"/>
              </a:rPr>
              <a:t>   </a:t>
            </a:r>
            <a:r>
              <a:rPr lang="en-US" altLang="zh-CN" sz="1200" b="1" dirty="0" smtClean="0">
                <a:solidFill>
                  <a:srgbClr val="000000"/>
                </a:solidFill>
                <a:latin typeface="Times New Roman" pitchFamily="18" charset="0"/>
                <a:cs typeface="Times New Roman" pitchFamily="18" charset="0"/>
              </a:rPr>
              <a:t>FOSC0</a:t>
            </a:r>
          </a:p>
        </p:txBody>
      </p:sp>
      <p:sp>
        <p:nvSpPr>
          <p:cNvPr id="13" name="TextBox 1"/>
          <p:cNvSpPr txBox="1"/>
          <p:nvPr/>
        </p:nvSpPr>
        <p:spPr>
          <a:xfrm>
            <a:off x="9398000" y="1930400"/>
            <a:ext cx="279400" cy="190500"/>
          </a:xfrm>
          <a:prstGeom prst="rect">
            <a:avLst/>
          </a:prstGeom>
          <a:noFill/>
        </p:spPr>
        <p:txBody>
          <a:bodyPr wrap="none" lIns="0" tIns="0" rIns="0" rtlCol="0">
            <a:spAutoFit/>
          </a:bodyPr>
          <a:lstStyle/>
          <a:p>
            <a:pPr>
              <a:lnSpc>
                <a:spcPts val="1500"/>
              </a:lnSpc>
              <a:tabLst/>
            </a:pPr>
            <a:r>
              <a:rPr lang="en-US" altLang="zh-CN" sz="1200" dirty="0" smtClean="0">
                <a:solidFill>
                  <a:srgbClr val="000000"/>
                </a:solidFill>
                <a:latin typeface="Times New Roman" pitchFamily="18" charset="0"/>
                <a:cs typeface="Times New Roman" pitchFamily="18" charset="0"/>
              </a:rPr>
              <a:t>bit</a:t>
            </a:r>
            <a:r>
              <a:rPr lang="en-US" altLang="zh-CN" sz="1200" dirty="0" smtClean="0">
                <a:latin typeface="Times New Roman" pitchFamily="18" charset="0"/>
                <a:cs typeface="Times New Roman" pitchFamily="18" charset="0"/>
              </a:rPr>
              <a:t> </a:t>
            </a:r>
            <a:r>
              <a:rPr lang="en-US" altLang="zh-CN" sz="1200" dirty="0" smtClean="0">
                <a:solidFill>
                  <a:srgbClr val="000000"/>
                </a:solidFill>
                <a:latin typeface="Times New Roman" pitchFamily="18" charset="0"/>
                <a:cs typeface="Times New Roman" pitchFamily="18" charset="0"/>
              </a:rPr>
              <a:t>0</a:t>
            </a:r>
          </a:p>
        </p:txBody>
      </p:sp>
      <p:sp>
        <p:nvSpPr>
          <p:cNvPr id="14" name="TextBox 1"/>
          <p:cNvSpPr txBox="1"/>
          <p:nvPr/>
        </p:nvSpPr>
        <p:spPr>
          <a:xfrm>
            <a:off x="1028700" y="1968500"/>
            <a:ext cx="278923" cy="1354217"/>
          </a:xfrm>
          <a:prstGeom prst="rect">
            <a:avLst/>
          </a:prstGeom>
          <a:noFill/>
        </p:spPr>
        <p:txBody>
          <a:bodyPr wrap="none" lIns="0" tIns="0" rIns="0" rtlCol="0">
            <a:spAutoFit/>
          </a:bodyPr>
          <a:lstStyle/>
          <a:p>
            <a:pPr>
              <a:lnSpc>
                <a:spcPts val="1500"/>
              </a:lnSpc>
              <a:tabLst>
                <a:tab pos="63500" algn="l"/>
              </a:tabLst>
            </a:pPr>
            <a:r>
              <a:rPr lang="en-US" altLang="zh-CN" sz="1200" dirty="0" smtClean="0">
                <a:solidFill>
                  <a:srgbClr val="000000"/>
                </a:solidFill>
                <a:latin typeface="Times New Roman" pitchFamily="18" charset="0"/>
                <a:cs typeface="Times New Roman" pitchFamily="18" charset="0"/>
              </a:rPr>
              <a:t>bit</a:t>
            </a:r>
            <a:r>
              <a:rPr lang="en-US" altLang="zh-CN" sz="1200" dirty="0" smtClean="0">
                <a:latin typeface="Times New Roman" pitchFamily="18" charset="0"/>
                <a:cs typeface="Times New Roman" pitchFamily="18" charset="0"/>
              </a:rPr>
              <a:t> </a:t>
            </a:r>
            <a:r>
              <a:rPr lang="en-US" altLang="zh-CN" sz="1200" dirty="0" smtClean="0">
                <a:solidFill>
                  <a:srgbClr val="000000"/>
                </a:solidFill>
                <a:latin typeface="Times New Roman" pitchFamily="18" charset="0"/>
                <a:cs typeface="Times New Roman" pitchFamily="18" charset="0"/>
              </a:rPr>
              <a:t>1</a:t>
            </a:r>
          </a:p>
          <a:p>
            <a:pPr>
              <a:lnSpc>
                <a:spcPts val="1000"/>
              </a:lnSpc>
            </a:pPr>
            <a:endParaRPr lang="en-US" altLang="zh-CN" dirty="0" smtClean="0"/>
          </a:p>
          <a:p>
            <a:pPr>
              <a:lnSpc>
                <a:spcPts val="1000"/>
              </a:lnSpc>
            </a:pPr>
            <a:endParaRPr lang="en-US" altLang="zh-CN" dirty="0" smtClean="0"/>
          </a:p>
          <a:p>
            <a:pPr>
              <a:lnSpc>
                <a:spcPts val="1200"/>
              </a:lnSpc>
              <a:tabLst>
                <a:tab pos="63500" algn="l"/>
              </a:tabLst>
            </a:pPr>
            <a:r>
              <a:rPr lang="en-US" altLang="zh-CN" dirty="0" smtClean="0"/>
              <a:t>	</a:t>
            </a:r>
            <a:endParaRPr lang="en-US" altLang="zh-CN" sz="1397" dirty="0" smtClean="0">
              <a:solidFill>
                <a:srgbClr val="3365CC"/>
              </a:solidFill>
              <a:latin typeface="Times New Roman" pitchFamily="18" charset="0"/>
              <a:cs typeface="Times New Roman" pitchFamily="18" charset="0"/>
            </a:endParaRP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500"/>
              </a:lnSpc>
              <a:tabLst>
                <a:tab pos="63500" algn="l"/>
              </a:tabLst>
            </a:pPr>
            <a:r>
              <a:rPr lang="en-US" altLang="zh-CN" dirty="0" smtClean="0"/>
              <a:t>	</a:t>
            </a:r>
            <a:endParaRPr lang="en-US" altLang="zh-CN" sz="1397" dirty="0" smtClean="0">
              <a:solidFill>
                <a:srgbClr val="3365CC"/>
              </a:solidFill>
              <a:latin typeface="Times New Roman" pitchFamily="18" charset="0"/>
              <a:cs typeface="Times New Roman" pitchFamily="18" charset="0"/>
            </a:endParaRPr>
          </a:p>
        </p:txBody>
      </p:sp>
      <p:sp>
        <p:nvSpPr>
          <p:cNvPr id="15" name="TextBox 1"/>
          <p:cNvSpPr txBox="1"/>
          <p:nvPr/>
        </p:nvSpPr>
        <p:spPr>
          <a:xfrm>
            <a:off x="1549400" y="2286000"/>
            <a:ext cx="7251700" cy="1054100"/>
          </a:xfrm>
          <a:prstGeom prst="rect">
            <a:avLst/>
          </a:prstGeom>
          <a:noFill/>
        </p:spPr>
        <p:txBody>
          <a:bodyPr wrap="none" lIns="0" tIns="0" rIns="0" rtlCol="0">
            <a:spAutoFit/>
          </a:bodyPr>
          <a:lstStyle/>
          <a:p>
            <a:pPr>
              <a:lnSpc>
                <a:spcPts val="2700"/>
              </a:lnSpc>
              <a:tabLst/>
            </a:pPr>
            <a:r>
              <a:rPr lang="en-US" altLang="zh-CN" sz="1997" b="1" dirty="0" smtClean="0">
                <a:solidFill>
                  <a:srgbClr val="000000"/>
                </a:solidFill>
                <a:latin typeface="Times New Roman" pitchFamily="18" charset="0"/>
                <a:cs typeface="Times New Roman" pitchFamily="18" charset="0"/>
              </a:rPr>
              <a:t>Localizada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en</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la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memoria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Programa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fuera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alcance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del</a:t>
            </a:r>
          </a:p>
          <a:p>
            <a:pPr>
              <a:lnSpc>
                <a:spcPts val="2300"/>
              </a:lnSpc>
              <a:tabLst/>
            </a:pPr>
            <a:r>
              <a:rPr lang="en-US" altLang="zh-CN" sz="1997" b="1" dirty="0" smtClean="0">
                <a:solidFill>
                  <a:srgbClr val="000000"/>
                </a:solidFill>
                <a:latin typeface="Times New Roman" pitchFamily="18" charset="0"/>
                <a:cs typeface="Times New Roman" pitchFamily="18" charset="0"/>
              </a:rPr>
              <a:t>Contador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Programa</a:t>
            </a:r>
          </a:p>
          <a:p>
            <a:pPr>
              <a:lnSpc>
                <a:spcPts val="3100"/>
              </a:lnSpc>
              <a:tabLst/>
            </a:pPr>
            <a:r>
              <a:rPr lang="en-US" altLang="zh-CN" sz="1997" b="1" dirty="0" smtClean="0">
                <a:solidFill>
                  <a:srgbClr val="000000"/>
                </a:solidFill>
                <a:latin typeface="Times New Roman" pitchFamily="18" charset="0"/>
                <a:cs typeface="Times New Roman" pitchFamily="18" charset="0"/>
              </a:rPr>
              <a:t>Usada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para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programar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las</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características</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dispositivo:</a:t>
            </a:r>
          </a:p>
        </p:txBody>
      </p:sp>
      <p:sp>
        <p:nvSpPr>
          <p:cNvPr id="16" name="TextBox 1"/>
          <p:cNvSpPr txBox="1"/>
          <p:nvPr/>
        </p:nvSpPr>
        <p:spPr>
          <a:xfrm>
            <a:off x="1663700" y="3441700"/>
            <a:ext cx="127000" cy="2679700"/>
          </a:xfrm>
          <a:prstGeom prst="rect">
            <a:avLst/>
          </a:prstGeom>
          <a:noFill/>
        </p:spPr>
        <p:txBody>
          <a:bodyPr wrap="none" lIns="0" tIns="0" rIns="0" rtlCol="0">
            <a:spAutoFit/>
          </a:bodyPr>
          <a:lstStyle/>
          <a:p>
            <a:pPr>
              <a:lnSpc>
                <a:spcPts val="2400"/>
              </a:lnSpc>
              <a:tabLst/>
            </a:pPr>
            <a:r>
              <a:rPr lang="en-US" altLang="zh-CN" sz="1997" dirty="0" smtClean="0">
                <a:solidFill>
                  <a:srgbClr val="3365CC"/>
                </a:solidFill>
                <a:latin typeface="Symbol" pitchFamily="18" charset="0"/>
                <a:cs typeface="Symbol" pitchFamily="18" charset="0"/>
              </a:rPr>
              <a:t>−</a:t>
            </a:r>
          </a:p>
          <a:p>
            <a:pPr>
              <a:lnSpc>
                <a:spcPts val="3100"/>
              </a:lnSpc>
              <a:tabLst/>
            </a:pPr>
            <a:r>
              <a:rPr lang="en-US" altLang="zh-CN" sz="1997" dirty="0" smtClean="0">
                <a:solidFill>
                  <a:srgbClr val="3365CC"/>
                </a:solidFill>
                <a:latin typeface="Symbol" pitchFamily="18" charset="0"/>
                <a:cs typeface="Symbol" pitchFamily="18" charset="0"/>
              </a:rPr>
              <a:t>−</a:t>
            </a:r>
          </a:p>
          <a:p>
            <a:pPr>
              <a:lnSpc>
                <a:spcPts val="3100"/>
              </a:lnSpc>
              <a:tabLst/>
            </a:pPr>
            <a:r>
              <a:rPr lang="en-US" altLang="zh-CN" sz="1997" dirty="0" smtClean="0">
                <a:solidFill>
                  <a:srgbClr val="3365CC"/>
                </a:solidFill>
                <a:latin typeface="Symbol" pitchFamily="18" charset="0"/>
                <a:cs typeface="Symbol" pitchFamily="18" charset="0"/>
              </a:rPr>
              <a:t>−</a:t>
            </a:r>
          </a:p>
          <a:p>
            <a:pPr>
              <a:lnSpc>
                <a:spcPts val="3100"/>
              </a:lnSpc>
              <a:tabLst/>
            </a:pPr>
            <a:r>
              <a:rPr lang="en-US" altLang="zh-CN" sz="1997" dirty="0" smtClean="0">
                <a:solidFill>
                  <a:srgbClr val="3365CC"/>
                </a:solidFill>
                <a:latin typeface="Symbol" pitchFamily="18" charset="0"/>
                <a:cs typeface="Symbol" pitchFamily="18" charset="0"/>
              </a:rPr>
              <a:t>−</a:t>
            </a:r>
          </a:p>
          <a:p>
            <a:pPr>
              <a:lnSpc>
                <a:spcPts val="3100"/>
              </a:lnSpc>
              <a:tabLst/>
            </a:pPr>
            <a:r>
              <a:rPr lang="en-US" altLang="zh-CN" sz="1997" dirty="0" smtClean="0">
                <a:solidFill>
                  <a:srgbClr val="3365CC"/>
                </a:solidFill>
                <a:latin typeface="Symbol" pitchFamily="18" charset="0"/>
                <a:cs typeface="Symbol" pitchFamily="18" charset="0"/>
              </a:rPr>
              <a:t>−</a:t>
            </a:r>
          </a:p>
          <a:p>
            <a:pPr>
              <a:lnSpc>
                <a:spcPts val="3100"/>
              </a:lnSpc>
              <a:tabLst/>
            </a:pPr>
            <a:r>
              <a:rPr lang="en-US" altLang="zh-CN" sz="1997" dirty="0" smtClean="0">
                <a:solidFill>
                  <a:srgbClr val="3365CC"/>
                </a:solidFill>
                <a:latin typeface="Symbol" pitchFamily="18" charset="0"/>
                <a:cs typeface="Symbol" pitchFamily="18" charset="0"/>
              </a:rPr>
              <a:t>−</a:t>
            </a:r>
          </a:p>
          <a:p>
            <a:pPr>
              <a:lnSpc>
                <a:spcPts val="3100"/>
              </a:lnSpc>
              <a:tabLst/>
            </a:pPr>
            <a:r>
              <a:rPr lang="en-US" altLang="zh-CN" sz="1997" dirty="0" smtClean="0">
                <a:solidFill>
                  <a:srgbClr val="3365CC"/>
                </a:solidFill>
                <a:latin typeface="Symbol" pitchFamily="18" charset="0"/>
                <a:cs typeface="Symbol" pitchFamily="18" charset="0"/>
              </a:rPr>
              <a:t>−</a:t>
            </a:r>
          </a:p>
        </p:txBody>
      </p:sp>
      <p:sp>
        <p:nvSpPr>
          <p:cNvPr id="17" name="TextBox 1"/>
          <p:cNvSpPr txBox="1"/>
          <p:nvPr/>
        </p:nvSpPr>
        <p:spPr>
          <a:xfrm>
            <a:off x="2120900" y="3441700"/>
            <a:ext cx="3302000" cy="2705100"/>
          </a:xfrm>
          <a:prstGeom prst="rect">
            <a:avLst/>
          </a:prstGeom>
          <a:noFill/>
        </p:spPr>
        <p:txBody>
          <a:bodyPr wrap="none" lIns="0" tIns="0" rIns="0" rtlCol="0">
            <a:spAutoFit/>
          </a:bodyPr>
          <a:lstStyle/>
          <a:p>
            <a:pPr>
              <a:lnSpc>
                <a:spcPts val="2600"/>
              </a:lnSpc>
              <a:tabLst/>
            </a:pPr>
            <a:r>
              <a:rPr lang="en-US" altLang="zh-CN" sz="1997" dirty="0" smtClean="0">
                <a:solidFill>
                  <a:srgbClr val="000000"/>
                </a:solidFill>
                <a:latin typeface="Times New Roman" pitchFamily="18" charset="0"/>
                <a:cs typeface="Times New Roman" pitchFamily="18" charset="0"/>
              </a:rPr>
              <a:t>Code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Protection</a:t>
            </a:r>
          </a:p>
          <a:p>
            <a:pPr>
              <a:lnSpc>
                <a:spcPts val="3100"/>
              </a:lnSpc>
              <a:tabLst/>
            </a:pPr>
            <a:r>
              <a:rPr lang="en-US" altLang="zh-CN" sz="1997" dirty="0" smtClean="0">
                <a:solidFill>
                  <a:srgbClr val="000000"/>
                </a:solidFill>
                <a:latin typeface="Times New Roman" pitchFamily="18" charset="0"/>
                <a:cs typeface="Times New Roman" pitchFamily="18" charset="0"/>
              </a:rPr>
              <a:t>Oscillator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Mode</a:t>
            </a:r>
          </a:p>
          <a:p>
            <a:pPr>
              <a:lnSpc>
                <a:spcPts val="3100"/>
              </a:lnSpc>
              <a:tabLst/>
            </a:pPr>
            <a:r>
              <a:rPr lang="en-US" altLang="zh-CN" sz="1997" dirty="0" smtClean="0">
                <a:solidFill>
                  <a:srgbClr val="000000"/>
                </a:solidFill>
                <a:latin typeface="Times New Roman" pitchFamily="18" charset="0"/>
                <a:cs typeface="Times New Roman" pitchFamily="18" charset="0"/>
              </a:rPr>
              <a:t>Watchdog</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Timer</a:t>
            </a:r>
          </a:p>
          <a:p>
            <a:pPr>
              <a:lnSpc>
                <a:spcPts val="3100"/>
              </a:lnSpc>
              <a:tabLst/>
            </a:pPr>
            <a:r>
              <a:rPr lang="en-US" altLang="zh-CN" sz="1997" dirty="0" smtClean="0">
                <a:solidFill>
                  <a:srgbClr val="000000"/>
                </a:solidFill>
                <a:latin typeface="Times New Roman" pitchFamily="18" charset="0"/>
                <a:cs typeface="Times New Roman" pitchFamily="18" charset="0"/>
              </a:rPr>
              <a:t>Power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Up</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Timer</a:t>
            </a:r>
          </a:p>
          <a:p>
            <a:pPr>
              <a:lnSpc>
                <a:spcPts val="3100"/>
              </a:lnSpc>
              <a:tabLst/>
            </a:pPr>
            <a:r>
              <a:rPr lang="en-US" altLang="zh-CN" sz="1997" dirty="0" smtClean="0">
                <a:solidFill>
                  <a:srgbClr val="000000"/>
                </a:solidFill>
                <a:latin typeface="Times New Roman" pitchFamily="18" charset="0"/>
                <a:cs typeface="Times New Roman" pitchFamily="18" charset="0"/>
              </a:rPr>
              <a:t>Brown</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Out</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Reset</a:t>
            </a:r>
          </a:p>
          <a:p>
            <a:pPr>
              <a:lnSpc>
                <a:spcPts val="3100"/>
              </a:lnSpc>
              <a:tabLst/>
            </a:pPr>
            <a:r>
              <a:rPr lang="en-US" altLang="zh-CN" sz="1997" dirty="0" smtClean="0">
                <a:solidFill>
                  <a:srgbClr val="000000"/>
                </a:solidFill>
                <a:latin typeface="Times New Roman" pitchFamily="18" charset="0"/>
                <a:cs typeface="Times New Roman" pitchFamily="18" charset="0"/>
              </a:rPr>
              <a:t>Low</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Voltage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Programming</a:t>
            </a:r>
          </a:p>
          <a:p>
            <a:pPr>
              <a:lnSpc>
                <a:spcPts val="3100"/>
              </a:lnSpc>
              <a:tabLst/>
            </a:pPr>
            <a:r>
              <a:rPr lang="en-US" altLang="zh-CN" sz="1997" dirty="0" smtClean="0">
                <a:solidFill>
                  <a:srgbClr val="000000"/>
                </a:solidFill>
                <a:latin typeface="Times New Roman" pitchFamily="18" charset="0"/>
                <a:cs typeface="Times New Roman" pitchFamily="18" charset="0"/>
              </a:rPr>
              <a:t>Flash</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Program</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Memory</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Write</a:t>
            </a:r>
          </a:p>
        </p:txBody>
      </p:sp>
      <p:sp>
        <p:nvSpPr>
          <p:cNvPr id="19" name="TextBox 1"/>
          <p:cNvSpPr txBox="1"/>
          <p:nvPr/>
        </p:nvSpPr>
        <p:spPr>
          <a:xfrm>
            <a:off x="1549400" y="6134100"/>
            <a:ext cx="6908800" cy="342900"/>
          </a:xfrm>
          <a:prstGeom prst="rect">
            <a:avLst/>
          </a:prstGeom>
          <a:noFill/>
        </p:spPr>
        <p:txBody>
          <a:bodyPr wrap="none" lIns="0" tIns="0" rIns="0" rtlCol="0">
            <a:spAutoFit/>
          </a:bodyPr>
          <a:lstStyle/>
          <a:p>
            <a:pPr>
              <a:lnSpc>
                <a:spcPts val="2700"/>
              </a:lnSpc>
              <a:tabLst/>
            </a:pPr>
            <a:r>
              <a:rPr lang="en-US" altLang="zh-CN" sz="1997" b="1" dirty="0" smtClean="0">
                <a:solidFill>
                  <a:srgbClr val="000000"/>
                </a:solidFill>
                <a:latin typeface="Times New Roman" pitchFamily="18" charset="0"/>
                <a:cs typeface="Times New Roman" pitchFamily="18" charset="0"/>
              </a:rPr>
              <a:t>Solo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leible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durante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proceso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grabación</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en</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los</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PIC16</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1320800" y="1562100"/>
            <a:ext cx="279400" cy="317500"/>
          </a:xfrm>
          <a:prstGeom prst="rect">
            <a:avLst/>
          </a:prstGeom>
          <a:noFill/>
        </p:spPr>
        <p:txBody>
          <a:bodyPr wrap="none" lIns="0" tIns="0" rIns="0" rtlCol="0">
            <a:spAutoFit/>
          </a:bodyPr>
          <a:lstStyle/>
          <a:p>
            <a:pPr>
              <a:lnSpc>
                <a:spcPts val="2500"/>
              </a:lnSpc>
              <a:tabLst/>
            </a:pPr>
            <a:r>
              <a:rPr lang="en-US" altLang="zh-CN" sz="1800" b="1" dirty="0" smtClean="0">
                <a:solidFill>
                  <a:srgbClr val="020202"/>
                </a:solidFill>
                <a:latin typeface="Times New Roman" pitchFamily="18" charset="0"/>
                <a:cs typeface="Times New Roman" pitchFamily="18" charset="0"/>
              </a:rPr>
              <a:t>XT</a:t>
            </a:r>
          </a:p>
        </p:txBody>
      </p:sp>
      <p:sp>
        <p:nvSpPr>
          <p:cNvPr id="3" name="TextBox 1"/>
          <p:cNvSpPr txBox="1"/>
          <p:nvPr/>
        </p:nvSpPr>
        <p:spPr>
          <a:xfrm>
            <a:off x="2501900" y="355600"/>
            <a:ext cx="6722033" cy="1610697"/>
          </a:xfrm>
          <a:prstGeom prst="rect">
            <a:avLst/>
          </a:prstGeom>
          <a:noFill/>
        </p:spPr>
        <p:txBody>
          <a:bodyPr wrap="none" lIns="0" tIns="0" rIns="0" rtlCol="0">
            <a:spAutoFit/>
          </a:bodyPr>
          <a:lstStyle/>
          <a:p>
            <a:pPr>
              <a:lnSpc>
                <a:spcPts val="6100"/>
              </a:lnSpc>
              <a:tabLst>
                <a:tab pos="800100" algn="l"/>
                <a:tab pos="2120900" algn="l"/>
              </a:tabLst>
            </a:pPr>
            <a:r>
              <a:rPr lang="en-US" altLang="zh-CN" dirty="0" smtClean="0"/>
              <a:t>	</a:t>
            </a:r>
            <a:r>
              <a:rPr lang="en-US" altLang="zh-CN" sz="4397" b="1" dirty="0" smtClean="0">
                <a:solidFill>
                  <a:srgbClr val="000000"/>
                </a:solidFill>
                <a:latin typeface="Times New Roman" pitchFamily="18" charset="0"/>
                <a:cs typeface="Times New Roman" pitchFamily="18" charset="0"/>
              </a:rPr>
              <a:t>PIC16</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Opciones</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del</a:t>
            </a:r>
          </a:p>
          <a:p>
            <a:pPr>
              <a:lnSpc>
                <a:spcPts val="3900"/>
              </a:lnSpc>
              <a:tabLst>
                <a:tab pos="800100" algn="l"/>
                <a:tab pos="2120900" algn="l"/>
              </a:tabLst>
            </a:pPr>
            <a:r>
              <a:rPr lang="en-US" altLang="zh-CN" dirty="0" smtClean="0"/>
              <a:t>		</a:t>
            </a:r>
            <a:r>
              <a:rPr lang="en-US" altLang="zh-CN" sz="4397" b="1" dirty="0" smtClean="0">
                <a:solidFill>
                  <a:srgbClr val="000000"/>
                </a:solidFill>
                <a:latin typeface="Times New Roman" pitchFamily="18" charset="0"/>
                <a:cs typeface="Times New Roman" pitchFamily="18" charset="0"/>
              </a:rPr>
              <a:t>Oscilador</a:t>
            </a:r>
          </a:p>
          <a:p>
            <a:pPr>
              <a:lnSpc>
                <a:spcPts val="2200"/>
              </a:lnSpc>
              <a:tabLst>
                <a:tab pos="800100" algn="l"/>
                <a:tab pos="2120900" algn="l"/>
              </a:tabLst>
            </a:pPr>
            <a:r>
              <a:rPr lang="en-US" altLang="zh-CN" sz="1800" b="1" dirty="0" smtClean="0">
                <a:solidFill>
                  <a:srgbClr val="020202"/>
                </a:solidFill>
                <a:latin typeface="Times New Roman" pitchFamily="18" charset="0"/>
                <a:cs typeface="Times New Roman" pitchFamily="18" charset="0"/>
              </a:rPr>
              <a:t>Standard</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frequency</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crystal</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oscillator</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100kHz</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4MHz</a:t>
            </a:r>
          </a:p>
        </p:txBody>
      </p:sp>
      <p:sp>
        <p:nvSpPr>
          <p:cNvPr id="4" name="TextBox 1"/>
          <p:cNvSpPr txBox="1"/>
          <p:nvPr/>
        </p:nvSpPr>
        <p:spPr>
          <a:xfrm>
            <a:off x="1320800" y="1955800"/>
            <a:ext cx="685800" cy="1371600"/>
          </a:xfrm>
          <a:prstGeom prst="rect">
            <a:avLst/>
          </a:prstGeom>
          <a:noFill/>
        </p:spPr>
        <p:txBody>
          <a:bodyPr wrap="none" lIns="0" tIns="0" rIns="0" rtlCol="0">
            <a:spAutoFit/>
          </a:bodyPr>
          <a:lstStyle/>
          <a:p>
            <a:pPr>
              <a:lnSpc>
                <a:spcPts val="2500"/>
              </a:lnSpc>
              <a:tabLst/>
            </a:pPr>
            <a:r>
              <a:rPr lang="en-US" altLang="zh-CN" sz="1800" b="1" dirty="0" smtClean="0">
                <a:solidFill>
                  <a:srgbClr val="020202"/>
                </a:solidFill>
                <a:latin typeface="Times New Roman" pitchFamily="18" charset="0"/>
                <a:cs typeface="Times New Roman" pitchFamily="18" charset="0"/>
              </a:rPr>
              <a:t>HS</a:t>
            </a:r>
          </a:p>
          <a:p>
            <a:pPr>
              <a:lnSpc>
                <a:spcPts val="2700"/>
              </a:lnSpc>
              <a:tabLst/>
            </a:pPr>
            <a:r>
              <a:rPr lang="en-US" altLang="zh-CN" sz="1800" b="1" dirty="0" smtClean="0">
                <a:solidFill>
                  <a:srgbClr val="020202"/>
                </a:solidFill>
                <a:latin typeface="Times New Roman" pitchFamily="18" charset="0"/>
                <a:cs typeface="Times New Roman" pitchFamily="18" charset="0"/>
              </a:rPr>
              <a:t>LP</a:t>
            </a:r>
          </a:p>
          <a:p>
            <a:pPr>
              <a:lnSpc>
                <a:spcPts val="2700"/>
              </a:lnSpc>
              <a:tabLst/>
            </a:pPr>
            <a:r>
              <a:rPr lang="en-US" altLang="zh-CN" sz="1800" b="1" dirty="0" smtClean="0">
                <a:solidFill>
                  <a:srgbClr val="020202"/>
                </a:solidFill>
                <a:latin typeface="Times New Roman" pitchFamily="18" charset="0"/>
                <a:cs typeface="Times New Roman" pitchFamily="18" charset="0"/>
              </a:rPr>
              <a:t>RC</a:t>
            </a:r>
          </a:p>
          <a:p>
            <a:pPr>
              <a:lnSpc>
                <a:spcPts val="2700"/>
              </a:lnSpc>
              <a:tabLst/>
            </a:pPr>
            <a:r>
              <a:rPr lang="en-US" altLang="zh-CN" sz="1800" b="1" dirty="0" smtClean="0">
                <a:solidFill>
                  <a:srgbClr val="020202"/>
                </a:solidFill>
                <a:latin typeface="Times New Roman" pitchFamily="18" charset="0"/>
                <a:cs typeface="Times New Roman" pitchFamily="18" charset="0"/>
              </a:rPr>
              <a:t>INTRC</a:t>
            </a:r>
          </a:p>
        </p:txBody>
      </p:sp>
      <p:sp>
        <p:nvSpPr>
          <p:cNvPr id="5" name="TextBox 1"/>
          <p:cNvSpPr txBox="1"/>
          <p:nvPr/>
        </p:nvSpPr>
        <p:spPr>
          <a:xfrm>
            <a:off x="2501900" y="1955800"/>
            <a:ext cx="3530600" cy="1371600"/>
          </a:xfrm>
          <a:prstGeom prst="rect">
            <a:avLst/>
          </a:prstGeom>
          <a:noFill/>
        </p:spPr>
        <p:txBody>
          <a:bodyPr wrap="none" lIns="0" tIns="0" rIns="0" rtlCol="0">
            <a:spAutoFit/>
          </a:bodyPr>
          <a:lstStyle/>
          <a:p>
            <a:pPr>
              <a:lnSpc>
                <a:spcPts val="2500"/>
              </a:lnSpc>
              <a:tabLst/>
            </a:pPr>
            <a:r>
              <a:rPr lang="en-US" altLang="zh-CN" sz="1800" b="1" dirty="0" smtClean="0">
                <a:solidFill>
                  <a:srgbClr val="020202"/>
                </a:solidFill>
                <a:latin typeface="Times New Roman" pitchFamily="18" charset="0"/>
                <a:cs typeface="Times New Roman" pitchFamily="18" charset="0"/>
              </a:rPr>
              <a:t>High</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frequency</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crystal</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oscillator</a:t>
            </a:r>
          </a:p>
          <a:p>
            <a:pPr>
              <a:lnSpc>
                <a:spcPts val="2700"/>
              </a:lnSpc>
              <a:tabLst/>
            </a:pPr>
            <a:r>
              <a:rPr lang="en-US" altLang="zh-CN" sz="1800" b="1" dirty="0" smtClean="0">
                <a:solidFill>
                  <a:srgbClr val="020202"/>
                </a:solidFill>
                <a:latin typeface="Times New Roman" pitchFamily="18" charset="0"/>
                <a:cs typeface="Times New Roman" pitchFamily="18" charset="0"/>
              </a:rPr>
              <a:t>Low</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frequency</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crystal</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oscillator</a:t>
            </a:r>
          </a:p>
          <a:p>
            <a:pPr>
              <a:lnSpc>
                <a:spcPts val="2700"/>
              </a:lnSpc>
              <a:tabLst/>
            </a:pPr>
            <a:r>
              <a:rPr lang="en-US" altLang="zh-CN" sz="1800" b="1" dirty="0" smtClean="0">
                <a:solidFill>
                  <a:srgbClr val="020202"/>
                </a:solidFill>
                <a:latin typeface="Times New Roman" pitchFamily="18" charset="0"/>
                <a:cs typeface="Times New Roman" pitchFamily="18" charset="0"/>
              </a:rPr>
              <a:t>External</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RC</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oscillator</a:t>
            </a:r>
          </a:p>
          <a:p>
            <a:pPr>
              <a:lnSpc>
                <a:spcPts val="2700"/>
              </a:lnSpc>
              <a:tabLst/>
            </a:pPr>
            <a:r>
              <a:rPr lang="en-US" altLang="zh-CN" sz="1800" b="1" dirty="0" smtClean="0">
                <a:solidFill>
                  <a:srgbClr val="020202"/>
                </a:solidFill>
                <a:latin typeface="Times New Roman" pitchFamily="18" charset="0"/>
                <a:cs typeface="Times New Roman" pitchFamily="18" charset="0"/>
              </a:rPr>
              <a:t>Internal</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RC</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oscillator</a:t>
            </a:r>
          </a:p>
        </p:txBody>
      </p:sp>
      <p:sp>
        <p:nvSpPr>
          <p:cNvPr id="6" name="TextBox 1"/>
          <p:cNvSpPr txBox="1"/>
          <p:nvPr/>
        </p:nvSpPr>
        <p:spPr>
          <a:xfrm>
            <a:off x="7607300" y="1955800"/>
            <a:ext cx="1714500" cy="1371600"/>
          </a:xfrm>
          <a:prstGeom prst="rect">
            <a:avLst/>
          </a:prstGeom>
          <a:noFill/>
        </p:spPr>
        <p:txBody>
          <a:bodyPr wrap="none" lIns="0" tIns="0" rIns="0" rtlCol="0">
            <a:spAutoFit/>
          </a:bodyPr>
          <a:lstStyle/>
          <a:p>
            <a:pPr>
              <a:lnSpc>
                <a:spcPts val="2500"/>
              </a:lnSpc>
              <a:tabLst/>
            </a:pPr>
            <a:r>
              <a:rPr lang="en-US" altLang="zh-CN" sz="1800" b="1" dirty="0" smtClean="0">
                <a:solidFill>
                  <a:srgbClr val="020202"/>
                </a:solidFill>
                <a:latin typeface="Times New Roman" pitchFamily="18" charset="0"/>
                <a:cs typeface="Times New Roman" pitchFamily="18" charset="0"/>
              </a:rPr>
              <a:t>4MHz</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20MHz</a:t>
            </a:r>
          </a:p>
          <a:p>
            <a:pPr>
              <a:lnSpc>
                <a:spcPts val="2700"/>
              </a:lnSpc>
              <a:tabLst/>
            </a:pPr>
            <a:r>
              <a:rPr lang="en-US" altLang="zh-CN" sz="1800" b="1" dirty="0" smtClean="0">
                <a:solidFill>
                  <a:srgbClr val="020202"/>
                </a:solidFill>
                <a:latin typeface="Times New Roman" pitchFamily="18" charset="0"/>
                <a:cs typeface="Times New Roman" pitchFamily="18" charset="0"/>
              </a:rPr>
              <a:t>5kHz</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200kHz</a:t>
            </a:r>
          </a:p>
          <a:p>
            <a:pPr>
              <a:lnSpc>
                <a:spcPts val="2700"/>
              </a:lnSpc>
              <a:tabLst/>
            </a:pPr>
            <a:r>
              <a:rPr lang="en-US" altLang="zh-CN" sz="1800" b="1" dirty="0" smtClean="0">
                <a:solidFill>
                  <a:srgbClr val="020202"/>
                </a:solidFill>
                <a:latin typeface="Times New Roman" pitchFamily="18" charset="0"/>
                <a:cs typeface="Times New Roman" pitchFamily="18" charset="0"/>
              </a:rPr>
              <a:t>DC</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4MHz</a:t>
            </a:r>
          </a:p>
          <a:p>
            <a:pPr>
              <a:lnSpc>
                <a:spcPts val="2700"/>
              </a:lnSpc>
              <a:tabLst/>
            </a:pPr>
            <a:r>
              <a:rPr lang="en-US" altLang="zh-CN" sz="1800" b="1" dirty="0" smtClean="0">
                <a:solidFill>
                  <a:srgbClr val="020202"/>
                </a:solidFill>
                <a:latin typeface="Times New Roman" pitchFamily="18" charset="0"/>
                <a:cs typeface="Times New Roman" pitchFamily="18" charset="0"/>
              </a:rPr>
              <a:t>4</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or</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8</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MHz</a:t>
            </a:r>
            <a:r>
              <a:rPr lang="en-US" altLang="zh-CN" sz="1800" dirty="0" smtClean="0">
                <a:latin typeface="Times New Roman" pitchFamily="18" charset="0"/>
                <a:cs typeface="Times New Roman" pitchFamily="18" charset="0"/>
              </a:rPr>
              <a:t> </a:t>
            </a:r>
            <a:r>
              <a:rPr lang="en-US" altLang="zh-CN" sz="1800" dirty="0" smtClean="0">
                <a:solidFill>
                  <a:srgbClr val="020202"/>
                </a:solidFill>
                <a:latin typeface="Symbol" pitchFamily="18" charset="0"/>
                <a:cs typeface="Symbol" pitchFamily="18" charset="0"/>
              </a:rPr>
              <a:t>±</a:t>
            </a:r>
            <a:r>
              <a:rPr lang="en-US" altLang="zh-CN" sz="1800" dirty="0" smtClean="0">
                <a:latin typeface="Times New Roman" pitchFamily="18" charset="0"/>
                <a:cs typeface="Times New Roman" pitchFamily="18" charset="0"/>
              </a:rPr>
              <a:t> </a:t>
            </a:r>
            <a:r>
              <a:rPr lang="en-US" altLang="zh-CN" sz="1800" b="1" dirty="0" smtClean="0">
                <a:solidFill>
                  <a:srgbClr val="020202"/>
                </a:solidFill>
                <a:latin typeface="Times New Roman" pitchFamily="18" charset="0"/>
                <a:cs typeface="Times New Roman" pitchFamily="18" charset="0"/>
              </a:rPr>
              <a:t>2%</a:t>
            </a:r>
          </a:p>
        </p:txBody>
      </p:sp>
      <p:sp>
        <p:nvSpPr>
          <p:cNvPr id="7" name="TextBox 1"/>
          <p:cNvSpPr txBox="1"/>
          <p:nvPr/>
        </p:nvSpPr>
        <p:spPr>
          <a:xfrm>
            <a:off x="1092200" y="3759200"/>
            <a:ext cx="127000" cy="165100"/>
          </a:xfrm>
          <a:prstGeom prst="rect">
            <a:avLst/>
          </a:prstGeom>
          <a:noFill/>
        </p:spPr>
        <p:txBody>
          <a:bodyPr wrap="none" lIns="0" tIns="0" rIns="0" rtlCol="0">
            <a:spAutoFit/>
          </a:bodyPr>
          <a:lstStyle/>
          <a:p>
            <a:pPr>
              <a:lnSpc>
                <a:spcPts val="1300"/>
              </a:lnSpc>
              <a:tabLst/>
            </a:pPr>
            <a:r>
              <a:rPr lang="en-US" altLang="zh-CN" sz="1679" dirty="0" smtClean="0">
                <a:solidFill>
                  <a:srgbClr val="3365CC"/>
                </a:solidFill>
                <a:latin typeface="Times New Roman" pitchFamily="18" charset="0"/>
                <a:cs typeface="Times New Roman" pitchFamily="18" charset="0"/>
              </a:rPr>
              <a:t>G</a:t>
            </a:r>
          </a:p>
        </p:txBody>
      </p:sp>
      <p:sp>
        <p:nvSpPr>
          <p:cNvPr id="8" name="TextBox 1"/>
          <p:cNvSpPr txBox="1"/>
          <p:nvPr/>
        </p:nvSpPr>
        <p:spPr>
          <a:xfrm>
            <a:off x="1549400" y="3606800"/>
            <a:ext cx="6261100" cy="787400"/>
          </a:xfrm>
          <a:prstGeom prst="rect">
            <a:avLst/>
          </a:prstGeom>
          <a:noFill/>
        </p:spPr>
        <p:txBody>
          <a:bodyPr wrap="none" lIns="0" tIns="0" rIns="0" rtlCol="0">
            <a:spAutoFit/>
          </a:bodyPr>
          <a:lstStyle/>
          <a:p>
            <a:pPr>
              <a:lnSpc>
                <a:spcPts val="3300"/>
              </a:lnSpc>
              <a:tabLst/>
            </a:pPr>
            <a:r>
              <a:rPr lang="en-US" altLang="zh-CN" sz="2400" b="1" dirty="0" smtClean="0">
                <a:solidFill>
                  <a:srgbClr val="000000"/>
                </a:solidFill>
                <a:latin typeface="Times New Roman" pitchFamily="18" charset="0"/>
                <a:cs typeface="Times New Roman" pitchFamily="18" charset="0"/>
              </a:rPr>
              <a:t>Un</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oscilador</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seleccionable</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ofrece</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mayores</a:t>
            </a:r>
          </a:p>
          <a:p>
            <a:pPr>
              <a:lnSpc>
                <a:spcPts val="2800"/>
              </a:lnSpc>
              <a:tabLst/>
            </a:pPr>
            <a:r>
              <a:rPr lang="en-US" altLang="zh-CN" sz="2400" b="1" dirty="0" smtClean="0">
                <a:solidFill>
                  <a:srgbClr val="000000"/>
                </a:solidFill>
                <a:latin typeface="Times New Roman" pitchFamily="18" charset="0"/>
                <a:cs typeface="Times New Roman" pitchFamily="18" charset="0"/>
              </a:rPr>
              <a:t>posibilidades</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al</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diseñador:</a:t>
            </a:r>
          </a:p>
        </p:txBody>
      </p:sp>
      <p:sp>
        <p:nvSpPr>
          <p:cNvPr id="9" name="TextBox 1"/>
          <p:cNvSpPr txBox="1"/>
          <p:nvPr/>
        </p:nvSpPr>
        <p:spPr>
          <a:xfrm>
            <a:off x="1663700" y="4470400"/>
            <a:ext cx="127000" cy="1803400"/>
          </a:xfrm>
          <a:prstGeom prst="rect">
            <a:avLst/>
          </a:prstGeom>
          <a:noFill/>
        </p:spPr>
        <p:txBody>
          <a:bodyPr wrap="none" lIns="0" tIns="0" rIns="0" rtlCol="0">
            <a:spAutoFit/>
          </a:bodyPr>
          <a:lstStyle/>
          <a:p>
            <a:pPr>
              <a:lnSpc>
                <a:spcPts val="2400"/>
              </a:lnSpc>
              <a:tabLst/>
            </a:pPr>
            <a:r>
              <a:rPr lang="en-US" altLang="zh-CN" sz="1997" dirty="0" smtClean="0">
                <a:solidFill>
                  <a:srgbClr val="3365CC"/>
                </a:solidFill>
                <a:latin typeface="Symbol" pitchFamily="18" charset="0"/>
                <a:cs typeface="Symbol" pitchFamily="18" charset="0"/>
              </a:rPr>
              <a:t>−</a:t>
            </a:r>
          </a:p>
          <a:p>
            <a:pPr>
              <a:lnSpc>
                <a:spcPts val="3100"/>
              </a:lnSpc>
              <a:tabLst/>
            </a:pPr>
            <a:r>
              <a:rPr lang="en-US" altLang="zh-CN" sz="1997" dirty="0" smtClean="0">
                <a:solidFill>
                  <a:srgbClr val="3365CC"/>
                </a:solidFill>
                <a:latin typeface="Symbol" pitchFamily="18" charset="0"/>
                <a:cs typeface="Symbol" pitchFamily="18" charset="0"/>
              </a:rPr>
              <a:t>−</a:t>
            </a:r>
          </a:p>
          <a:p>
            <a:pPr>
              <a:lnSpc>
                <a:spcPts val="3100"/>
              </a:lnSpc>
              <a:tabLst/>
            </a:pPr>
            <a:r>
              <a:rPr lang="en-US" altLang="zh-CN" sz="1997" dirty="0" smtClean="0">
                <a:solidFill>
                  <a:srgbClr val="3365CC"/>
                </a:solidFill>
                <a:latin typeface="Symbol" pitchFamily="18" charset="0"/>
                <a:cs typeface="Symbol" pitchFamily="18" charset="0"/>
              </a:rPr>
              <a:t>−</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2500"/>
              </a:lnSpc>
              <a:tabLst/>
            </a:pPr>
            <a:r>
              <a:rPr lang="en-US" altLang="zh-CN" sz="1997" dirty="0" smtClean="0">
                <a:solidFill>
                  <a:srgbClr val="3365CC"/>
                </a:solidFill>
                <a:latin typeface="Symbol" pitchFamily="18" charset="0"/>
                <a:cs typeface="Symbol" pitchFamily="18" charset="0"/>
              </a:rPr>
              <a:t>−</a:t>
            </a:r>
          </a:p>
        </p:txBody>
      </p:sp>
      <p:sp>
        <p:nvSpPr>
          <p:cNvPr id="10" name="TextBox 1"/>
          <p:cNvSpPr txBox="1"/>
          <p:nvPr/>
        </p:nvSpPr>
        <p:spPr>
          <a:xfrm>
            <a:off x="2120900" y="4470400"/>
            <a:ext cx="7137400" cy="1828800"/>
          </a:xfrm>
          <a:prstGeom prst="rect">
            <a:avLst/>
          </a:prstGeom>
          <a:noFill/>
        </p:spPr>
        <p:txBody>
          <a:bodyPr wrap="none" lIns="0" tIns="0" rIns="0" rtlCol="0">
            <a:spAutoFit/>
          </a:bodyPr>
          <a:lstStyle/>
          <a:p>
            <a:pPr>
              <a:lnSpc>
                <a:spcPts val="2600"/>
              </a:lnSpc>
              <a:tabLst/>
            </a:pPr>
            <a:r>
              <a:rPr lang="en-US" altLang="zh-CN" sz="1997" dirty="0" smtClean="0">
                <a:solidFill>
                  <a:srgbClr val="000000"/>
                </a:solidFill>
                <a:latin typeface="Times New Roman" pitchFamily="18" charset="0"/>
                <a:cs typeface="Times New Roman" pitchFamily="18" charset="0"/>
              </a:rPr>
              <a:t>LP</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Oscilador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baja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frecuencia</a:t>
            </a:r>
          </a:p>
          <a:p>
            <a:pPr>
              <a:lnSpc>
                <a:spcPts val="3100"/>
              </a:lnSpc>
              <a:tabLst/>
            </a:pPr>
            <a:r>
              <a:rPr lang="en-US" altLang="zh-CN" sz="1997" dirty="0" smtClean="0">
                <a:solidFill>
                  <a:srgbClr val="000000"/>
                </a:solidFill>
                <a:latin typeface="Times New Roman" pitchFamily="18" charset="0"/>
                <a:cs typeface="Times New Roman" pitchFamily="18" charset="0"/>
              </a:rPr>
              <a:t>RC</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or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INTRC</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provee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una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solución</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ultra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bajo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costo</a:t>
            </a:r>
          </a:p>
          <a:p>
            <a:pPr>
              <a:lnSpc>
                <a:spcPts val="3100"/>
              </a:lnSpc>
              <a:tabLst/>
            </a:pPr>
            <a:r>
              <a:rPr lang="en-US" altLang="zh-CN" sz="1997" dirty="0" smtClean="0">
                <a:solidFill>
                  <a:srgbClr val="000000"/>
                </a:solidFill>
                <a:latin typeface="Times New Roman" pitchFamily="18" charset="0"/>
                <a:cs typeface="Times New Roman" pitchFamily="18" charset="0"/>
              </a:rPr>
              <a:t>XT</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optimizado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para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la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mayorúia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las</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frecuencias</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oscilador</a:t>
            </a:r>
          </a:p>
          <a:p>
            <a:pPr>
              <a:lnSpc>
                <a:spcPts val="2400"/>
              </a:lnSpc>
              <a:tabLst/>
            </a:pPr>
            <a:r>
              <a:rPr lang="en-US" altLang="zh-CN" sz="1997" dirty="0" smtClean="0">
                <a:solidFill>
                  <a:srgbClr val="000000"/>
                </a:solidFill>
                <a:latin typeface="Times New Roman" pitchFamily="18" charset="0"/>
                <a:cs typeface="Times New Roman" pitchFamily="18" charset="0"/>
              </a:rPr>
              <a:t>comunmente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usadas</a:t>
            </a:r>
          </a:p>
          <a:p>
            <a:pPr>
              <a:lnSpc>
                <a:spcPts val="3100"/>
              </a:lnSpc>
              <a:tabLst/>
            </a:pPr>
            <a:r>
              <a:rPr lang="en-US" altLang="zh-CN" sz="1997" dirty="0" smtClean="0">
                <a:solidFill>
                  <a:srgbClr val="000000"/>
                </a:solidFill>
                <a:latin typeface="Times New Roman" pitchFamily="18" charset="0"/>
                <a:cs typeface="Times New Roman" pitchFamily="18" charset="0"/>
              </a:rPr>
              <a:t>HS</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optimizado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para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excitar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cristales</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alta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frecuencia</a:t>
            </a:r>
          </a:p>
        </p:txBody>
      </p:sp>
      <p:sp>
        <p:nvSpPr>
          <p:cNvPr id="11" name="TextBox 1"/>
          <p:cNvSpPr txBox="1"/>
          <p:nvPr/>
        </p:nvSpPr>
        <p:spPr>
          <a:xfrm>
            <a:off x="1092200" y="6489700"/>
            <a:ext cx="127000" cy="165100"/>
          </a:xfrm>
          <a:prstGeom prst="rect">
            <a:avLst/>
          </a:prstGeom>
          <a:noFill/>
        </p:spPr>
        <p:txBody>
          <a:bodyPr wrap="none" lIns="0" tIns="0" rIns="0" rtlCol="0">
            <a:spAutoFit/>
          </a:bodyPr>
          <a:lstStyle/>
          <a:p>
            <a:pPr>
              <a:lnSpc>
                <a:spcPts val="1300"/>
              </a:lnSpc>
              <a:tabLst/>
            </a:pPr>
            <a:r>
              <a:rPr lang="en-US" altLang="zh-CN" sz="1679" dirty="0" smtClean="0">
                <a:solidFill>
                  <a:srgbClr val="3365CC"/>
                </a:solidFill>
                <a:latin typeface="Times New Roman" pitchFamily="18" charset="0"/>
                <a:cs typeface="Times New Roman" pitchFamily="18" charset="0"/>
              </a:rPr>
              <a:t>G</a:t>
            </a:r>
          </a:p>
        </p:txBody>
      </p:sp>
      <p:sp>
        <p:nvSpPr>
          <p:cNvPr id="12" name="TextBox 1"/>
          <p:cNvSpPr txBox="1"/>
          <p:nvPr/>
        </p:nvSpPr>
        <p:spPr>
          <a:xfrm>
            <a:off x="1549400" y="6324600"/>
            <a:ext cx="6527800" cy="419100"/>
          </a:xfrm>
          <a:prstGeom prst="rect">
            <a:avLst/>
          </a:prstGeom>
          <a:noFill/>
        </p:spPr>
        <p:txBody>
          <a:bodyPr wrap="none" lIns="0" tIns="0" rIns="0" rtlCol="0">
            <a:spAutoFit/>
          </a:bodyPr>
          <a:lstStyle/>
          <a:p>
            <a:pPr>
              <a:lnSpc>
                <a:spcPts val="3300"/>
              </a:lnSpc>
              <a:tabLst/>
            </a:pPr>
            <a:r>
              <a:rPr lang="en-US" altLang="zh-CN" sz="2400" b="1" dirty="0" smtClean="0">
                <a:solidFill>
                  <a:srgbClr val="000000"/>
                </a:solidFill>
                <a:latin typeface="Times New Roman" pitchFamily="18" charset="0"/>
                <a:cs typeface="Times New Roman" pitchFamily="18" charset="0"/>
              </a:rPr>
              <a:t>Son</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pautadas</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solo</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las</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gamas</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de</a:t>
            </a:r>
            <a:r>
              <a:rPr lang="en-US" altLang="zh-CN" sz="2400" dirty="0" smtClean="0">
                <a:latin typeface="Times New Roman" pitchFamily="18" charset="0"/>
                <a:cs typeface="Times New Roman" pitchFamily="18" charset="0"/>
              </a:rPr>
              <a:t> </a:t>
            </a:r>
            <a:r>
              <a:rPr lang="en-US" altLang="zh-CN" sz="2400" b="1" dirty="0" smtClean="0">
                <a:solidFill>
                  <a:srgbClr val="000000"/>
                </a:solidFill>
                <a:latin typeface="Times New Roman" pitchFamily="18" charset="0"/>
                <a:cs typeface="Times New Roman" pitchFamily="18" charset="0"/>
              </a:rPr>
              <a:t>velocidades</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019800"/>
          </a:xfrm>
          <a:prstGeom prst="rect">
            <a:avLst/>
          </a:prstGeom>
          <a:noFill/>
        </p:spPr>
      </p:pic>
      <p:sp>
        <p:nvSpPr>
          <p:cNvPr id="2" name="TextBox 1"/>
          <p:cNvSpPr txBox="1"/>
          <p:nvPr/>
        </p:nvSpPr>
        <p:spPr>
          <a:xfrm>
            <a:off x="3606800" y="584200"/>
            <a:ext cx="4622800" cy="774700"/>
          </a:xfrm>
          <a:prstGeom prst="rect">
            <a:avLst/>
          </a:prstGeom>
          <a:noFill/>
        </p:spPr>
        <p:txBody>
          <a:bodyPr wrap="none" lIns="0" tIns="0" rIns="0" rtlCol="0">
            <a:spAutoFit/>
          </a:bodyPr>
          <a:lstStyle/>
          <a:p>
            <a:pPr>
              <a:lnSpc>
                <a:spcPts val="6100"/>
              </a:lnSpc>
              <a:tabLst/>
            </a:pPr>
            <a:r>
              <a:rPr lang="en-US" altLang="zh-CN" sz="4397" b="1" dirty="0" smtClean="0">
                <a:solidFill>
                  <a:srgbClr val="000000"/>
                </a:solidFill>
                <a:latin typeface="Times New Roman" pitchFamily="18" charset="0"/>
                <a:cs typeface="Times New Roman" pitchFamily="18" charset="0"/>
              </a:rPr>
              <a:t>POR,</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OST,</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PWRT</a:t>
            </a:r>
          </a:p>
        </p:txBody>
      </p:sp>
      <p:sp>
        <p:nvSpPr>
          <p:cNvPr id="4" name="TextBox 1"/>
          <p:cNvSpPr txBox="1"/>
          <p:nvPr/>
        </p:nvSpPr>
        <p:spPr>
          <a:xfrm>
            <a:off x="1549400" y="1574800"/>
            <a:ext cx="2641600" cy="342900"/>
          </a:xfrm>
          <a:prstGeom prst="rect">
            <a:avLst/>
          </a:prstGeom>
          <a:noFill/>
        </p:spPr>
        <p:txBody>
          <a:bodyPr wrap="none" lIns="0" tIns="0" rIns="0" rtlCol="0">
            <a:spAutoFit/>
          </a:bodyPr>
          <a:lstStyle/>
          <a:p>
            <a:pPr>
              <a:lnSpc>
                <a:spcPts val="2700"/>
              </a:lnSpc>
              <a:tabLst/>
            </a:pPr>
            <a:r>
              <a:rPr lang="en-US" altLang="zh-CN" sz="1997" b="1" dirty="0" smtClean="0">
                <a:solidFill>
                  <a:srgbClr val="000000"/>
                </a:solidFill>
                <a:latin typeface="Times New Roman" pitchFamily="18" charset="0"/>
                <a:cs typeface="Times New Roman" pitchFamily="18" charset="0"/>
              </a:rPr>
              <a:t>POR: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Power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On</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Reset</a:t>
            </a:r>
          </a:p>
        </p:txBody>
      </p:sp>
      <p:sp>
        <p:nvSpPr>
          <p:cNvPr id="5" name="TextBox 1"/>
          <p:cNvSpPr txBox="1"/>
          <p:nvPr/>
        </p:nvSpPr>
        <p:spPr>
          <a:xfrm>
            <a:off x="1663700" y="1955800"/>
            <a:ext cx="114300" cy="279400"/>
          </a:xfrm>
          <a:prstGeom prst="rect">
            <a:avLst/>
          </a:prstGeom>
          <a:noFill/>
        </p:spPr>
        <p:txBody>
          <a:bodyPr wrap="none" lIns="0" tIns="0" rIns="0" rtlCol="0">
            <a:spAutoFit/>
          </a:bodyPr>
          <a:lstStyle/>
          <a:p>
            <a:pPr>
              <a:lnSpc>
                <a:spcPts val="2200"/>
              </a:lnSpc>
              <a:tabLst/>
            </a:pPr>
            <a:r>
              <a:rPr lang="en-US" altLang="zh-CN" sz="1800" dirty="0" smtClean="0">
                <a:solidFill>
                  <a:srgbClr val="3365CC"/>
                </a:solidFill>
                <a:latin typeface="Symbol" pitchFamily="18" charset="0"/>
                <a:cs typeface="Symbol" pitchFamily="18" charset="0"/>
              </a:rPr>
              <a:t>−</a:t>
            </a:r>
          </a:p>
        </p:txBody>
      </p:sp>
      <p:sp>
        <p:nvSpPr>
          <p:cNvPr id="6" name="TextBox 1"/>
          <p:cNvSpPr txBox="1"/>
          <p:nvPr/>
        </p:nvSpPr>
        <p:spPr>
          <a:xfrm>
            <a:off x="2120900" y="1993900"/>
            <a:ext cx="3022600" cy="1117600"/>
          </a:xfrm>
          <a:prstGeom prst="rect">
            <a:avLst/>
          </a:prstGeom>
          <a:noFill/>
        </p:spPr>
        <p:txBody>
          <a:bodyPr wrap="none" lIns="0" tIns="0" rIns="0" rtlCol="0">
            <a:spAutoFit/>
          </a:bodyPr>
          <a:lstStyle/>
          <a:p>
            <a:pPr>
              <a:lnSpc>
                <a:spcPts val="2600"/>
              </a:lnSpc>
              <a:tabLst/>
            </a:pPr>
            <a:r>
              <a:rPr lang="en-US" altLang="zh-CN" sz="1800" dirty="0" smtClean="0">
                <a:solidFill>
                  <a:srgbClr val="000000"/>
                </a:solidFill>
                <a:latin typeface="Times New Roman" pitchFamily="18" charset="0"/>
                <a:cs typeface="Times New Roman" pitchFamily="18" charset="0"/>
              </a:rPr>
              <a:t>Con</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MCLR</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conectado</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a</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V</a:t>
            </a:r>
            <a:r>
              <a:rPr lang="en-US" altLang="zh-CN" sz="1200" dirty="0" smtClean="0">
                <a:solidFill>
                  <a:srgbClr val="000000"/>
                </a:solidFill>
                <a:latin typeface="Times New Roman" pitchFamily="18" charset="0"/>
                <a:cs typeface="Times New Roman" pitchFamily="18" charset="0"/>
              </a:rPr>
              <a:t>DD</a:t>
            </a:r>
            <a:r>
              <a:rPr lang="en-US" altLang="zh-CN" sz="1800" dirty="0" smtClean="0">
                <a:solidFill>
                  <a:srgbClr val="000000"/>
                </a:solidFill>
                <a:latin typeface="Times New Roman" pitchFamily="18" charset="0"/>
                <a:cs typeface="Times New Roman" pitchFamily="18" charset="0"/>
              </a:rPr>
              <a:t>,</a:t>
            </a:r>
          </a:p>
          <a:p>
            <a:pPr>
              <a:lnSpc>
                <a:spcPts val="1900"/>
              </a:lnSpc>
              <a:tabLst/>
            </a:pPr>
            <a:r>
              <a:rPr lang="en-US" altLang="zh-CN" sz="1800" dirty="0" smtClean="0">
                <a:solidFill>
                  <a:srgbClr val="000000"/>
                </a:solidFill>
                <a:latin typeface="Times New Roman" pitchFamily="18" charset="0"/>
                <a:cs typeface="Times New Roman" pitchFamily="18" charset="0"/>
              </a:rPr>
              <a:t>es</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generado</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un</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pulso</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de</a:t>
            </a:r>
          </a:p>
          <a:p>
            <a:pPr>
              <a:lnSpc>
                <a:spcPts val="2100"/>
              </a:lnSpc>
              <a:tabLst/>
            </a:pPr>
            <a:r>
              <a:rPr lang="en-US" altLang="zh-CN" sz="1800" dirty="0" smtClean="0">
                <a:solidFill>
                  <a:srgbClr val="000000"/>
                </a:solidFill>
                <a:latin typeface="Times New Roman" pitchFamily="18" charset="0"/>
                <a:cs typeface="Times New Roman" pitchFamily="18" charset="0"/>
              </a:rPr>
              <a:t>Reset</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cuando</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es</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detectada</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la</a:t>
            </a:r>
          </a:p>
          <a:p>
            <a:pPr>
              <a:lnSpc>
                <a:spcPts val="2100"/>
              </a:lnSpc>
              <a:tabLst/>
            </a:pPr>
            <a:r>
              <a:rPr lang="en-US" altLang="zh-CN" sz="1800" dirty="0" smtClean="0">
                <a:solidFill>
                  <a:srgbClr val="000000"/>
                </a:solidFill>
                <a:latin typeface="Times New Roman" pitchFamily="18" charset="0"/>
                <a:cs typeface="Times New Roman" pitchFamily="18" charset="0"/>
              </a:rPr>
              <a:t>subida</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de</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Vdd</a:t>
            </a:r>
          </a:p>
        </p:txBody>
      </p:sp>
      <p:sp>
        <p:nvSpPr>
          <p:cNvPr id="8" name="TextBox 1"/>
          <p:cNvSpPr txBox="1"/>
          <p:nvPr/>
        </p:nvSpPr>
        <p:spPr>
          <a:xfrm>
            <a:off x="1549400" y="3149600"/>
            <a:ext cx="2832100" cy="342900"/>
          </a:xfrm>
          <a:prstGeom prst="rect">
            <a:avLst/>
          </a:prstGeom>
          <a:noFill/>
        </p:spPr>
        <p:txBody>
          <a:bodyPr wrap="none" lIns="0" tIns="0" rIns="0" rtlCol="0">
            <a:spAutoFit/>
          </a:bodyPr>
          <a:lstStyle/>
          <a:p>
            <a:pPr>
              <a:lnSpc>
                <a:spcPts val="2700"/>
              </a:lnSpc>
              <a:tabLst/>
            </a:pPr>
            <a:r>
              <a:rPr lang="en-US" altLang="zh-CN" sz="1997" b="1" dirty="0" smtClean="0">
                <a:solidFill>
                  <a:srgbClr val="000000"/>
                </a:solidFill>
                <a:latin typeface="Times New Roman" pitchFamily="18" charset="0"/>
                <a:cs typeface="Times New Roman" pitchFamily="18" charset="0"/>
              </a:rPr>
              <a:t>PWRT:</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Power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Up</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Timer</a:t>
            </a:r>
          </a:p>
        </p:txBody>
      </p:sp>
      <p:sp>
        <p:nvSpPr>
          <p:cNvPr id="9" name="TextBox 1"/>
          <p:cNvSpPr txBox="1"/>
          <p:nvPr/>
        </p:nvSpPr>
        <p:spPr>
          <a:xfrm>
            <a:off x="1663700" y="3530600"/>
            <a:ext cx="114300" cy="279400"/>
          </a:xfrm>
          <a:prstGeom prst="rect">
            <a:avLst/>
          </a:prstGeom>
          <a:noFill/>
        </p:spPr>
        <p:txBody>
          <a:bodyPr wrap="none" lIns="0" tIns="0" rIns="0" rtlCol="0">
            <a:spAutoFit/>
          </a:bodyPr>
          <a:lstStyle/>
          <a:p>
            <a:pPr>
              <a:lnSpc>
                <a:spcPts val="2200"/>
              </a:lnSpc>
              <a:tabLst/>
            </a:pPr>
            <a:r>
              <a:rPr lang="en-US" altLang="zh-CN" sz="1800" dirty="0" smtClean="0">
                <a:solidFill>
                  <a:srgbClr val="3365CC"/>
                </a:solidFill>
                <a:latin typeface="Symbol" pitchFamily="18" charset="0"/>
                <a:cs typeface="Symbol" pitchFamily="18" charset="0"/>
              </a:rPr>
              <a:t>−</a:t>
            </a:r>
          </a:p>
        </p:txBody>
      </p:sp>
      <p:sp>
        <p:nvSpPr>
          <p:cNvPr id="10" name="TextBox 1"/>
          <p:cNvSpPr txBox="1"/>
          <p:nvPr/>
        </p:nvSpPr>
        <p:spPr>
          <a:xfrm>
            <a:off x="2120900" y="3556000"/>
            <a:ext cx="3009900" cy="850900"/>
          </a:xfrm>
          <a:prstGeom prst="rect">
            <a:avLst/>
          </a:prstGeom>
          <a:noFill/>
        </p:spPr>
        <p:txBody>
          <a:bodyPr wrap="none" lIns="0" tIns="0" rIns="0" rtlCol="0">
            <a:spAutoFit/>
          </a:bodyPr>
          <a:lstStyle/>
          <a:p>
            <a:pPr>
              <a:lnSpc>
                <a:spcPts val="2300"/>
              </a:lnSpc>
              <a:tabLst/>
            </a:pPr>
            <a:r>
              <a:rPr lang="en-US" altLang="zh-CN" sz="1800" dirty="0" smtClean="0">
                <a:solidFill>
                  <a:srgbClr val="000000"/>
                </a:solidFill>
                <a:latin typeface="Times New Roman" pitchFamily="18" charset="0"/>
                <a:cs typeface="Times New Roman" pitchFamily="18" charset="0"/>
              </a:rPr>
              <a:t>Maniene</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al</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dispositivo</a:t>
            </a:r>
          </a:p>
          <a:p>
            <a:pPr>
              <a:lnSpc>
                <a:spcPts val="2100"/>
              </a:lnSpc>
              <a:tabLst/>
            </a:pPr>
            <a:r>
              <a:rPr lang="en-US" altLang="zh-CN" sz="1800" dirty="0" smtClean="0">
                <a:solidFill>
                  <a:srgbClr val="000000"/>
                </a:solidFill>
                <a:latin typeface="Times New Roman" pitchFamily="18" charset="0"/>
                <a:cs typeface="Times New Roman" pitchFamily="18" charset="0"/>
              </a:rPr>
              <a:t>Reseteado</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por</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72ms</a:t>
            </a:r>
          </a:p>
          <a:p>
            <a:pPr>
              <a:lnSpc>
                <a:spcPts val="2100"/>
              </a:lnSpc>
              <a:tabLst/>
            </a:pPr>
            <a:r>
              <a:rPr lang="en-US" altLang="zh-CN" sz="1800" dirty="0" smtClean="0">
                <a:solidFill>
                  <a:srgbClr val="000000"/>
                </a:solidFill>
                <a:latin typeface="Times New Roman" pitchFamily="18" charset="0"/>
                <a:cs typeface="Times New Roman" pitchFamily="18" charset="0"/>
              </a:rPr>
              <a:t>(nominal)</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(despues</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del</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POR)</a:t>
            </a:r>
          </a:p>
        </p:txBody>
      </p:sp>
      <p:sp>
        <p:nvSpPr>
          <p:cNvPr id="12" name="TextBox 1"/>
          <p:cNvSpPr txBox="1"/>
          <p:nvPr/>
        </p:nvSpPr>
        <p:spPr>
          <a:xfrm>
            <a:off x="1549400" y="4457700"/>
            <a:ext cx="2882900" cy="647700"/>
          </a:xfrm>
          <a:prstGeom prst="rect">
            <a:avLst/>
          </a:prstGeom>
          <a:noFill/>
        </p:spPr>
        <p:txBody>
          <a:bodyPr wrap="none" lIns="0" tIns="0" rIns="0" rtlCol="0">
            <a:spAutoFit/>
          </a:bodyPr>
          <a:lstStyle/>
          <a:p>
            <a:pPr>
              <a:lnSpc>
                <a:spcPts val="2700"/>
              </a:lnSpc>
              <a:tabLst/>
            </a:pPr>
            <a:r>
              <a:rPr lang="en-US" altLang="zh-CN" sz="1997" b="1" dirty="0" smtClean="0">
                <a:solidFill>
                  <a:srgbClr val="000000"/>
                </a:solidFill>
                <a:latin typeface="Times New Roman" pitchFamily="18" charset="0"/>
                <a:cs typeface="Times New Roman" pitchFamily="18" charset="0"/>
              </a:rPr>
              <a:t>OST:</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Oscillator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Start-up</a:t>
            </a:r>
          </a:p>
          <a:p>
            <a:pPr>
              <a:lnSpc>
                <a:spcPts val="2300"/>
              </a:lnSpc>
              <a:tabLst/>
            </a:pPr>
            <a:r>
              <a:rPr lang="en-US" altLang="zh-CN" sz="1997" b="1" dirty="0" smtClean="0">
                <a:solidFill>
                  <a:srgbClr val="000000"/>
                </a:solidFill>
                <a:latin typeface="Times New Roman" pitchFamily="18" charset="0"/>
                <a:cs typeface="Times New Roman" pitchFamily="18" charset="0"/>
              </a:rPr>
              <a:t>Timer</a:t>
            </a:r>
          </a:p>
        </p:txBody>
      </p:sp>
      <p:sp>
        <p:nvSpPr>
          <p:cNvPr id="13" name="TextBox 1"/>
          <p:cNvSpPr txBox="1"/>
          <p:nvPr/>
        </p:nvSpPr>
        <p:spPr>
          <a:xfrm>
            <a:off x="1663700" y="5143500"/>
            <a:ext cx="114300" cy="279400"/>
          </a:xfrm>
          <a:prstGeom prst="rect">
            <a:avLst/>
          </a:prstGeom>
          <a:noFill/>
        </p:spPr>
        <p:txBody>
          <a:bodyPr wrap="none" lIns="0" tIns="0" rIns="0" rtlCol="0">
            <a:spAutoFit/>
          </a:bodyPr>
          <a:lstStyle/>
          <a:p>
            <a:pPr>
              <a:lnSpc>
                <a:spcPts val="2200"/>
              </a:lnSpc>
              <a:tabLst/>
            </a:pPr>
            <a:r>
              <a:rPr lang="en-US" altLang="zh-CN" sz="1800" dirty="0" smtClean="0">
                <a:solidFill>
                  <a:srgbClr val="3365CC"/>
                </a:solidFill>
                <a:latin typeface="Symbol" pitchFamily="18" charset="0"/>
                <a:cs typeface="Symbol" pitchFamily="18" charset="0"/>
              </a:rPr>
              <a:t>−</a:t>
            </a:r>
          </a:p>
        </p:txBody>
      </p:sp>
      <p:sp>
        <p:nvSpPr>
          <p:cNvPr id="14" name="TextBox 1"/>
          <p:cNvSpPr txBox="1"/>
          <p:nvPr/>
        </p:nvSpPr>
        <p:spPr>
          <a:xfrm>
            <a:off x="2120900" y="5194300"/>
            <a:ext cx="3048000" cy="1943100"/>
          </a:xfrm>
          <a:prstGeom prst="rect">
            <a:avLst/>
          </a:prstGeom>
          <a:noFill/>
        </p:spPr>
        <p:txBody>
          <a:bodyPr wrap="none" lIns="0" tIns="0" rIns="0" rtlCol="0">
            <a:spAutoFit/>
          </a:bodyPr>
          <a:lstStyle/>
          <a:p>
            <a:pPr>
              <a:lnSpc>
                <a:spcPts val="2300"/>
              </a:lnSpc>
              <a:tabLst/>
            </a:pPr>
            <a:r>
              <a:rPr lang="en-US" altLang="zh-CN" sz="1800" dirty="0" smtClean="0">
                <a:solidFill>
                  <a:srgbClr val="000000"/>
                </a:solidFill>
                <a:latin typeface="Times New Roman" pitchFamily="18" charset="0"/>
                <a:cs typeface="Times New Roman" pitchFamily="18" charset="0"/>
              </a:rPr>
              <a:t>Mantiene</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al</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dispositivo</a:t>
            </a:r>
          </a:p>
          <a:p>
            <a:pPr>
              <a:lnSpc>
                <a:spcPts val="2100"/>
              </a:lnSpc>
              <a:tabLst/>
            </a:pPr>
            <a:r>
              <a:rPr lang="en-US" altLang="zh-CN" sz="1800" dirty="0" smtClean="0">
                <a:solidFill>
                  <a:srgbClr val="000000"/>
                </a:solidFill>
                <a:latin typeface="Times New Roman" pitchFamily="18" charset="0"/>
                <a:cs typeface="Times New Roman" pitchFamily="18" charset="0"/>
              </a:rPr>
              <a:t>Resteado</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por</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1024</a:t>
            </a:r>
            <a:r>
              <a:rPr lang="en-US" altLang="zh-CN" sz="1800" dirty="0" smtClean="0">
                <a:latin typeface="Times New Roman" pitchFamily="18" charset="0"/>
                <a:cs typeface="Times New Roman" pitchFamily="18" charset="0"/>
              </a:rPr>
              <a:t> </a:t>
            </a:r>
            <a:r>
              <a:rPr lang="en-US" altLang="zh-CN" sz="1800" u="sng" dirty="0" smtClean="0">
                <a:solidFill>
                  <a:srgbClr val="000000"/>
                </a:solidFill>
                <a:latin typeface="Times New Roman" pitchFamily="18" charset="0"/>
                <a:cs typeface="Times New Roman" pitchFamily="18" charset="0"/>
              </a:rPr>
              <a:t>ciclos</a:t>
            </a:r>
          </a:p>
          <a:p>
            <a:pPr>
              <a:lnSpc>
                <a:spcPts val="2100"/>
              </a:lnSpc>
              <a:tabLst/>
            </a:pPr>
            <a:r>
              <a:rPr lang="en-US" altLang="zh-CN" sz="1800" dirty="0" smtClean="0">
                <a:solidFill>
                  <a:srgbClr val="000000"/>
                </a:solidFill>
                <a:latin typeface="Times New Roman" pitchFamily="18" charset="0"/>
                <a:cs typeface="Times New Roman" pitchFamily="18" charset="0"/>
              </a:rPr>
              <a:t>para</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permitir</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al</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cistral</a:t>
            </a:r>
          </a:p>
          <a:p>
            <a:pPr>
              <a:lnSpc>
                <a:spcPts val="2100"/>
              </a:lnSpc>
              <a:tabLst/>
            </a:pPr>
            <a:r>
              <a:rPr lang="en-US" altLang="zh-CN" sz="1800" dirty="0" smtClean="0">
                <a:solidFill>
                  <a:srgbClr val="000000"/>
                </a:solidFill>
                <a:latin typeface="Times New Roman" pitchFamily="18" charset="0"/>
                <a:cs typeface="Times New Roman" pitchFamily="18" charset="0"/>
              </a:rPr>
              <a:t>estabilizar</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su</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frecuencia</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y</a:t>
            </a:r>
          </a:p>
          <a:p>
            <a:pPr>
              <a:lnSpc>
                <a:spcPts val="2100"/>
              </a:lnSpc>
              <a:tabLst/>
            </a:pPr>
            <a:r>
              <a:rPr lang="en-US" altLang="zh-CN" sz="1800" dirty="0" smtClean="0">
                <a:solidFill>
                  <a:srgbClr val="000000"/>
                </a:solidFill>
                <a:latin typeface="Times New Roman" pitchFamily="18" charset="0"/>
                <a:cs typeface="Times New Roman" pitchFamily="18" charset="0"/>
              </a:rPr>
              <a:t>amplitud;</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no</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activo</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en</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modo</a:t>
            </a:r>
          </a:p>
          <a:p>
            <a:pPr>
              <a:lnSpc>
                <a:spcPts val="2100"/>
              </a:lnSpc>
              <a:tabLst/>
            </a:pPr>
            <a:r>
              <a:rPr lang="en-US" altLang="zh-CN" sz="1800" dirty="0" smtClean="0">
                <a:solidFill>
                  <a:srgbClr val="000000"/>
                </a:solidFill>
                <a:latin typeface="Times New Roman" pitchFamily="18" charset="0"/>
                <a:cs typeface="Times New Roman" pitchFamily="18" charset="0"/>
              </a:rPr>
              <a:t>RC</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usado</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despues</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del</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POR</a:t>
            </a:r>
          </a:p>
          <a:p>
            <a:pPr>
              <a:lnSpc>
                <a:spcPts val="2100"/>
              </a:lnSpc>
              <a:tabLst/>
            </a:pPr>
            <a:r>
              <a:rPr lang="en-US" altLang="zh-CN" sz="1800" dirty="0" smtClean="0">
                <a:solidFill>
                  <a:srgbClr val="000000"/>
                </a:solidFill>
                <a:latin typeface="Times New Roman" pitchFamily="18" charset="0"/>
                <a:cs typeface="Times New Roman" pitchFamily="18" charset="0"/>
              </a:rPr>
              <a:t>o</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al</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despertar</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del</a:t>
            </a:r>
            <a:r>
              <a:rPr lang="en-US" altLang="zh-CN" sz="1800" dirty="0" smtClean="0">
                <a:latin typeface="Times New Roman" pitchFamily="18" charset="0"/>
                <a:cs typeface="Times New Roman" pitchFamily="18" charset="0"/>
              </a:rPr>
              <a:t> </a:t>
            </a:r>
            <a:r>
              <a:rPr lang="en-US" altLang="zh-CN" sz="1800" dirty="0" smtClean="0">
                <a:solidFill>
                  <a:srgbClr val="000000"/>
                </a:solidFill>
                <a:latin typeface="Times New Roman" pitchFamily="18" charset="0"/>
                <a:cs typeface="Times New Roman" pitchFamily="18" charset="0"/>
              </a:rPr>
              <a:t>SLEEP</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414337"/>
            <a:ext cx="9169400" cy="6870700"/>
          </a:xfrm>
          <a:prstGeom prst="rect">
            <a:avLst/>
          </a:prstGeom>
          <a:noFill/>
        </p:spPr>
      </p:pic>
      <p:sp>
        <p:nvSpPr>
          <p:cNvPr id="2" name="TextBox 1"/>
          <p:cNvSpPr txBox="1"/>
          <p:nvPr/>
        </p:nvSpPr>
        <p:spPr>
          <a:xfrm>
            <a:off x="4343400" y="584200"/>
            <a:ext cx="3124200" cy="774700"/>
          </a:xfrm>
          <a:prstGeom prst="rect">
            <a:avLst/>
          </a:prstGeom>
          <a:noFill/>
        </p:spPr>
        <p:txBody>
          <a:bodyPr wrap="none" lIns="0" tIns="0" rIns="0" rtlCol="0">
            <a:spAutoFit/>
          </a:bodyPr>
          <a:lstStyle/>
          <a:p>
            <a:pPr>
              <a:lnSpc>
                <a:spcPts val="6100"/>
              </a:lnSpc>
              <a:tabLst/>
            </a:pPr>
            <a:r>
              <a:rPr lang="en-US" altLang="zh-CN" sz="4397" b="1" dirty="0" smtClean="0">
                <a:solidFill>
                  <a:srgbClr val="000000"/>
                </a:solidFill>
                <a:latin typeface="Times New Roman" pitchFamily="18" charset="0"/>
                <a:cs typeface="Times New Roman" pitchFamily="18" charset="0"/>
              </a:rPr>
              <a:t>Modo</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Sleep</a:t>
            </a:r>
          </a:p>
        </p:txBody>
      </p:sp>
      <p:sp>
        <p:nvSpPr>
          <p:cNvPr id="4" name="TextBox 1"/>
          <p:cNvSpPr txBox="1"/>
          <p:nvPr/>
        </p:nvSpPr>
        <p:spPr>
          <a:xfrm>
            <a:off x="1549400" y="1447800"/>
            <a:ext cx="7848600" cy="2794000"/>
          </a:xfrm>
          <a:prstGeom prst="rect">
            <a:avLst/>
          </a:prstGeom>
          <a:noFill/>
        </p:spPr>
        <p:txBody>
          <a:bodyPr wrap="none" lIns="0" tIns="0" rIns="0" rtlCol="0">
            <a:spAutoFit/>
          </a:bodyPr>
          <a:lstStyle/>
          <a:p>
            <a:pPr>
              <a:lnSpc>
                <a:spcPts val="3900"/>
              </a:lnSpc>
              <a:tabLst>
                <a:tab pos="114300" algn="l"/>
                <a:tab pos="774700" algn="l"/>
              </a:tabLst>
            </a:pPr>
            <a:r>
              <a:rPr lang="en-US" altLang="zh-CN" sz="2802" b="1" dirty="0" smtClean="0">
                <a:solidFill>
                  <a:srgbClr val="000000"/>
                </a:solidFill>
                <a:latin typeface="Times New Roman" pitchFamily="18" charset="0"/>
                <a:cs typeface="Times New Roman" pitchFamily="18" charset="0"/>
              </a:rPr>
              <a:t>El</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procesador</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puede</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ser</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puesto</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en</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Modo</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Bajo</a:t>
            </a:r>
          </a:p>
          <a:p>
            <a:pPr>
              <a:lnSpc>
                <a:spcPts val="2600"/>
              </a:lnSpc>
              <a:tabLst>
                <a:tab pos="114300" algn="l"/>
                <a:tab pos="774700" algn="l"/>
              </a:tabLst>
            </a:pPr>
            <a:r>
              <a:rPr lang="en-US" altLang="zh-CN" sz="2802" b="1" dirty="0" smtClean="0">
                <a:solidFill>
                  <a:srgbClr val="000000"/>
                </a:solidFill>
                <a:latin typeface="Times New Roman" pitchFamily="18" charset="0"/>
                <a:cs typeface="Times New Roman" pitchFamily="18" charset="0"/>
              </a:rPr>
              <a:t>consumo</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por</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medio</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de</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la</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ejecución</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de</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una</a:t>
            </a:r>
          </a:p>
          <a:p>
            <a:pPr>
              <a:lnSpc>
                <a:spcPts val="2600"/>
              </a:lnSpc>
              <a:tabLst>
                <a:tab pos="114300" algn="l"/>
                <a:tab pos="774700" algn="l"/>
              </a:tabLst>
            </a:pPr>
            <a:r>
              <a:rPr lang="en-US" altLang="zh-CN" sz="2802" b="1" dirty="0" smtClean="0">
                <a:solidFill>
                  <a:srgbClr val="000000"/>
                </a:solidFill>
                <a:latin typeface="Times New Roman" pitchFamily="18" charset="0"/>
                <a:cs typeface="Times New Roman" pitchFamily="18" charset="0"/>
              </a:rPr>
              <a:t>instrucción</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SLEEP</a:t>
            </a:r>
          </a:p>
          <a:p>
            <a:pPr>
              <a:lnSpc>
                <a:spcPts val="2400"/>
              </a:lnSpc>
              <a:tabLst>
                <a:tab pos="114300" algn="l"/>
                <a:tab pos="774700" algn="l"/>
              </a:tabLst>
            </a:pPr>
            <a:r>
              <a:rPr lang="en-US" altLang="zh-CN" dirty="0" smtClean="0"/>
              <a:t>	</a:t>
            </a:r>
            <a:r>
              <a:rPr lang="en-US" altLang="zh-CN" sz="1997" dirty="0" smtClean="0">
                <a:solidFill>
                  <a:srgbClr val="3365CC"/>
                </a:solidFill>
                <a:latin typeface="Symbol" pitchFamily="18" charset="0"/>
                <a:cs typeface="Symbol" pitchFamily="18" charset="0"/>
              </a:rPr>
              <a:t>−</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El</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oscilador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del</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sistema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es</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detenido</a:t>
            </a:r>
          </a:p>
          <a:p>
            <a:pPr>
              <a:lnSpc>
                <a:spcPts val="2600"/>
              </a:lnSpc>
              <a:tabLst>
                <a:tab pos="114300" algn="l"/>
                <a:tab pos="774700" algn="l"/>
              </a:tabLst>
            </a:pPr>
            <a:r>
              <a:rPr lang="en-US" altLang="zh-CN" dirty="0" smtClean="0"/>
              <a:t>	</a:t>
            </a:r>
            <a:r>
              <a:rPr lang="en-US" altLang="zh-CN" sz="1997" dirty="0" smtClean="0">
                <a:solidFill>
                  <a:srgbClr val="3365CC"/>
                </a:solidFill>
                <a:latin typeface="Symbol" pitchFamily="18" charset="0"/>
                <a:cs typeface="Symbol" pitchFamily="18" charset="0"/>
              </a:rPr>
              <a:t>−</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El</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estado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del</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procesador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es</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mantenido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(diseño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estático)</a:t>
            </a:r>
          </a:p>
          <a:p>
            <a:pPr>
              <a:lnSpc>
                <a:spcPts val="2600"/>
              </a:lnSpc>
              <a:tabLst>
                <a:tab pos="114300" algn="l"/>
                <a:tab pos="774700" algn="l"/>
              </a:tabLst>
            </a:pPr>
            <a:r>
              <a:rPr lang="en-US" altLang="zh-CN" dirty="0" smtClean="0"/>
              <a:t>	</a:t>
            </a:r>
            <a:r>
              <a:rPr lang="en-US" altLang="zh-CN" sz="1997" dirty="0" smtClean="0">
                <a:solidFill>
                  <a:srgbClr val="3365CC"/>
                </a:solidFill>
                <a:latin typeface="Symbol" pitchFamily="18" charset="0"/>
                <a:cs typeface="Symbol" pitchFamily="18" charset="0"/>
              </a:rPr>
              <a:t>−</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Watchdog</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timer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continua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funcionando,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si</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esta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habilitado</a:t>
            </a:r>
          </a:p>
          <a:p>
            <a:pPr>
              <a:lnSpc>
                <a:spcPts val="2600"/>
              </a:lnSpc>
              <a:tabLst>
                <a:tab pos="114300" algn="l"/>
                <a:tab pos="774700" algn="l"/>
              </a:tabLst>
            </a:pPr>
            <a:r>
              <a:rPr lang="en-US" altLang="zh-CN" dirty="0" smtClean="0"/>
              <a:t>	</a:t>
            </a:r>
            <a:r>
              <a:rPr lang="en-US" altLang="zh-CN" sz="1997" dirty="0" smtClean="0">
                <a:solidFill>
                  <a:srgbClr val="3365CC"/>
                </a:solidFill>
                <a:latin typeface="Symbol" pitchFamily="18" charset="0"/>
                <a:cs typeface="Symbol" pitchFamily="18" charset="0"/>
              </a:rPr>
              <a:t>−</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Minima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corriente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mantenimiento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(0.1</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2.0</a:t>
            </a:r>
            <a:r>
              <a:rPr lang="en-US" altLang="zh-CN" sz="1997" dirty="0" smtClean="0">
                <a:solidFill>
                  <a:srgbClr val="000000"/>
                </a:solidFill>
                <a:latin typeface="Symbol" pitchFamily="18" charset="0"/>
                <a:cs typeface="Symbol" pitchFamily="18" charset="0"/>
              </a:rPr>
              <a:t>μ</a:t>
            </a:r>
            <a:r>
              <a:rPr lang="en-US" altLang="zh-CN" sz="1997" dirty="0" smtClean="0">
                <a:solidFill>
                  <a:srgbClr val="000000"/>
                </a:solidFill>
                <a:latin typeface="Times New Roman" pitchFamily="18" charset="0"/>
                <a:cs typeface="Times New Roman" pitchFamily="18" charset="0"/>
              </a:rPr>
              <a:t>A</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typical)</a:t>
            </a:r>
          </a:p>
          <a:p>
            <a:pPr>
              <a:lnSpc>
                <a:spcPts val="2400"/>
              </a:lnSpc>
              <a:tabLst>
                <a:tab pos="114300" algn="l"/>
                <a:tab pos="774700" algn="l"/>
              </a:tabLst>
            </a:pPr>
            <a:r>
              <a:rPr lang="en-US" altLang="zh-CN" dirty="0" smtClean="0"/>
              <a:t>		</a:t>
            </a:r>
            <a:r>
              <a:rPr lang="en-US" altLang="zh-CN" sz="1800" b="1" dirty="0" smtClean="0">
                <a:solidFill>
                  <a:srgbClr val="FFFFFF"/>
                </a:solidFill>
                <a:latin typeface="Times New Roman" pitchFamily="18" charset="0"/>
                <a:cs typeface="Times New Roman" pitchFamily="18" charset="0"/>
              </a:rPr>
              <a:t>Eventos</a:t>
            </a:r>
            <a:r>
              <a:rPr lang="en-US" altLang="zh-CN" sz="1800" dirty="0" smtClean="0">
                <a:latin typeface="Times New Roman" pitchFamily="18" charset="0"/>
                <a:cs typeface="Times New Roman" pitchFamily="18" charset="0"/>
              </a:rPr>
              <a:t> </a:t>
            </a:r>
            <a:r>
              <a:rPr lang="en-US" altLang="zh-CN" sz="1800" b="1" dirty="0" smtClean="0">
                <a:solidFill>
                  <a:srgbClr val="FFFFFF"/>
                </a:solidFill>
                <a:latin typeface="Times New Roman" pitchFamily="18" charset="0"/>
                <a:cs typeface="Times New Roman" pitchFamily="18" charset="0"/>
              </a:rPr>
              <a:t>que</a:t>
            </a:r>
            <a:r>
              <a:rPr lang="en-US" altLang="zh-CN" sz="1800" dirty="0" smtClean="0">
                <a:latin typeface="Times New Roman" pitchFamily="18" charset="0"/>
                <a:cs typeface="Times New Roman" pitchFamily="18" charset="0"/>
              </a:rPr>
              <a:t> </a:t>
            </a:r>
            <a:r>
              <a:rPr lang="en-US" altLang="zh-CN" sz="1800" b="1" dirty="0" smtClean="0">
                <a:solidFill>
                  <a:srgbClr val="FFFFFF"/>
                </a:solidFill>
                <a:latin typeface="Times New Roman" pitchFamily="18" charset="0"/>
                <a:cs typeface="Times New Roman" pitchFamily="18" charset="0"/>
              </a:rPr>
              <a:t>despiertan</a:t>
            </a:r>
            <a:r>
              <a:rPr lang="en-US" altLang="zh-CN" sz="1800" dirty="0" smtClean="0">
                <a:latin typeface="Times New Roman" pitchFamily="18" charset="0"/>
                <a:cs typeface="Times New Roman" pitchFamily="18" charset="0"/>
              </a:rPr>
              <a:t> </a:t>
            </a:r>
            <a:r>
              <a:rPr lang="en-US" altLang="zh-CN" sz="1800" b="1" dirty="0" smtClean="0">
                <a:solidFill>
                  <a:srgbClr val="FFFFFF"/>
                </a:solidFill>
                <a:latin typeface="Times New Roman" pitchFamily="18" charset="0"/>
                <a:cs typeface="Times New Roman" pitchFamily="18" charset="0"/>
              </a:rPr>
              <a:t>al</a:t>
            </a:r>
            <a:r>
              <a:rPr lang="en-US" altLang="zh-CN" sz="1800" dirty="0" smtClean="0">
                <a:latin typeface="Times New Roman" pitchFamily="18" charset="0"/>
                <a:cs typeface="Times New Roman" pitchFamily="18" charset="0"/>
              </a:rPr>
              <a:t> </a:t>
            </a:r>
            <a:r>
              <a:rPr lang="en-US" altLang="zh-CN" sz="1800" b="1" dirty="0" smtClean="0">
                <a:solidFill>
                  <a:srgbClr val="FFFFFF"/>
                </a:solidFill>
                <a:latin typeface="Times New Roman" pitchFamily="18" charset="0"/>
                <a:cs typeface="Times New Roman" pitchFamily="18" charset="0"/>
              </a:rPr>
              <a:t>procesador</a:t>
            </a:r>
            <a:r>
              <a:rPr lang="en-US" altLang="zh-CN" sz="1800" dirty="0" smtClean="0">
                <a:latin typeface="Times New Roman" pitchFamily="18" charset="0"/>
                <a:cs typeface="Times New Roman" pitchFamily="18" charset="0"/>
              </a:rPr>
              <a:t> </a:t>
            </a:r>
            <a:r>
              <a:rPr lang="en-US" altLang="zh-CN" sz="1800" b="1" dirty="0" smtClean="0">
                <a:solidFill>
                  <a:srgbClr val="FFFFFF"/>
                </a:solidFill>
                <a:latin typeface="Times New Roman" pitchFamily="18" charset="0"/>
                <a:cs typeface="Times New Roman" pitchFamily="18" charset="0"/>
              </a:rPr>
              <a:t>del</a:t>
            </a:r>
            <a:r>
              <a:rPr lang="en-US" altLang="zh-CN" sz="1800" dirty="0" smtClean="0">
                <a:latin typeface="Times New Roman" pitchFamily="18" charset="0"/>
                <a:cs typeface="Times New Roman" pitchFamily="18" charset="0"/>
              </a:rPr>
              <a:t> </a:t>
            </a:r>
            <a:r>
              <a:rPr lang="en-US" altLang="zh-CN" sz="1800" b="1" dirty="0" smtClean="0">
                <a:solidFill>
                  <a:srgbClr val="FFFFFF"/>
                </a:solidFill>
                <a:latin typeface="Times New Roman" pitchFamily="18" charset="0"/>
                <a:cs typeface="Times New Roman" pitchFamily="18" charset="0"/>
              </a:rPr>
              <a:t>modo</a:t>
            </a:r>
            <a:r>
              <a:rPr lang="en-US" altLang="zh-CN" sz="1800" dirty="0" smtClean="0">
                <a:latin typeface="Times New Roman" pitchFamily="18" charset="0"/>
                <a:cs typeface="Times New Roman" pitchFamily="18" charset="0"/>
              </a:rPr>
              <a:t> </a:t>
            </a:r>
            <a:r>
              <a:rPr lang="en-US" altLang="zh-CN" sz="1800" b="1" dirty="0" smtClean="0">
                <a:solidFill>
                  <a:srgbClr val="FFFFFF"/>
                </a:solidFill>
                <a:latin typeface="Times New Roman" pitchFamily="18" charset="0"/>
                <a:cs typeface="Times New Roman" pitchFamily="18" charset="0"/>
              </a:rPr>
              <a:t>SLEEP</a:t>
            </a:r>
          </a:p>
        </p:txBody>
      </p:sp>
      <p:sp>
        <p:nvSpPr>
          <p:cNvPr id="5" name="TextBox 1"/>
          <p:cNvSpPr txBox="1"/>
          <p:nvPr/>
        </p:nvSpPr>
        <p:spPr>
          <a:xfrm>
            <a:off x="1714500" y="4267200"/>
            <a:ext cx="609600" cy="2679700"/>
          </a:xfrm>
          <a:prstGeom prst="rect">
            <a:avLst/>
          </a:prstGeom>
          <a:noFill/>
        </p:spPr>
        <p:txBody>
          <a:bodyPr wrap="none" lIns="0" tIns="0" rIns="0" rtlCol="0">
            <a:spAutoFit/>
          </a:bodyPr>
          <a:lstStyle/>
          <a:p>
            <a:pPr>
              <a:lnSpc>
                <a:spcPts val="1900"/>
              </a:lnSpc>
              <a:tabLst>
                <a:tab pos="50800" algn="l"/>
                <a:tab pos="63500" algn="l"/>
                <a:tab pos="114300" algn="l"/>
                <a:tab pos="127000" algn="l"/>
                <a:tab pos="139700" algn="l"/>
                <a:tab pos="165100" algn="l"/>
              </a:tabLst>
            </a:pPr>
            <a:r>
              <a:rPr lang="en-US" altLang="zh-CN" dirty="0" smtClean="0"/>
              <a:t>	</a:t>
            </a:r>
            <a:r>
              <a:rPr lang="en-US" altLang="zh-CN" sz="1397" b="1" dirty="0" smtClean="0">
                <a:solidFill>
                  <a:srgbClr val="000000"/>
                </a:solidFill>
                <a:latin typeface="Times New Roman" pitchFamily="18" charset="0"/>
                <a:cs typeface="Times New Roman" pitchFamily="18" charset="0"/>
              </a:rPr>
              <a:t>MCLR</a:t>
            </a:r>
          </a:p>
          <a:p>
            <a:pPr>
              <a:lnSpc>
                <a:spcPts val="2100"/>
              </a:lnSpc>
              <a:tabLst>
                <a:tab pos="50800" algn="l"/>
                <a:tab pos="63500" algn="l"/>
                <a:tab pos="114300" algn="l"/>
                <a:tab pos="127000" algn="l"/>
                <a:tab pos="139700" algn="l"/>
                <a:tab pos="165100" algn="l"/>
              </a:tabLst>
            </a:pPr>
            <a:r>
              <a:rPr lang="en-US" altLang="zh-CN" dirty="0" smtClean="0"/>
              <a:t>			</a:t>
            </a:r>
            <a:r>
              <a:rPr lang="en-US" altLang="zh-CN" sz="1397" b="1" dirty="0" smtClean="0">
                <a:solidFill>
                  <a:srgbClr val="000000"/>
                </a:solidFill>
                <a:latin typeface="Times New Roman" pitchFamily="18" charset="0"/>
                <a:cs typeface="Times New Roman" pitchFamily="18" charset="0"/>
              </a:rPr>
              <a:t>WDT</a:t>
            </a:r>
          </a:p>
          <a:p>
            <a:pPr>
              <a:lnSpc>
                <a:spcPts val="2100"/>
              </a:lnSpc>
              <a:tabLst>
                <a:tab pos="50800" algn="l"/>
                <a:tab pos="63500" algn="l"/>
                <a:tab pos="114300" algn="l"/>
                <a:tab pos="127000" algn="l"/>
                <a:tab pos="139700" algn="l"/>
                <a:tab pos="165100" algn="l"/>
              </a:tabLst>
            </a:pPr>
            <a:r>
              <a:rPr lang="en-US" altLang="zh-CN" dirty="0" smtClean="0"/>
              <a:t>						</a:t>
            </a:r>
            <a:r>
              <a:rPr lang="en-US" altLang="zh-CN" sz="1397" b="1" dirty="0" smtClean="0">
                <a:solidFill>
                  <a:srgbClr val="000000"/>
                </a:solidFill>
                <a:latin typeface="Times New Roman" pitchFamily="18" charset="0"/>
                <a:cs typeface="Times New Roman" pitchFamily="18" charset="0"/>
              </a:rPr>
              <a:t>INT</a:t>
            </a:r>
          </a:p>
          <a:p>
            <a:pPr>
              <a:lnSpc>
                <a:spcPts val="2100"/>
              </a:lnSpc>
              <a:tabLst>
                <a:tab pos="50800" algn="l"/>
                <a:tab pos="63500" algn="l"/>
                <a:tab pos="114300" algn="l"/>
                <a:tab pos="127000" algn="l"/>
                <a:tab pos="139700" algn="l"/>
                <a:tab pos="165100" algn="l"/>
              </a:tabLst>
            </a:pPr>
            <a:r>
              <a:rPr lang="en-US" altLang="zh-CN" dirty="0" smtClean="0"/>
              <a:t>		</a:t>
            </a:r>
            <a:r>
              <a:rPr lang="en-US" altLang="zh-CN" sz="1397" b="1" dirty="0" smtClean="0">
                <a:solidFill>
                  <a:srgbClr val="000000"/>
                </a:solidFill>
                <a:latin typeface="Times New Roman" pitchFamily="18" charset="0"/>
                <a:cs typeface="Times New Roman" pitchFamily="18" charset="0"/>
              </a:rPr>
              <a:t>TMR1</a:t>
            </a:r>
          </a:p>
          <a:p>
            <a:pPr>
              <a:lnSpc>
                <a:spcPts val="2100"/>
              </a:lnSpc>
              <a:tabLst>
                <a:tab pos="50800" algn="l"/>
                <a:tab pos="63500" algn="l"/>
                <a:tab pos="114300" algn="l"/>
                <a:tab pos="127000" algn="l"/>
                <a:tab pos="139700" algn="l"/>
                <a:tab pos="165100" algn="l"/>
              </a:tabLst>
            </a:pPr>
            <a:r>
              <a:rPr lang="en-US" altLang="zh-CN" dirty="0" smtClean="0"/>
              <a:t>			</a:t>
            </a:r>
            <a:r>
              <a:rPr lang="en-US" altLang="zh-CN" sz="1397" b="1" dirty="0" smtClean="0">
                <a:solidFill>
                  <a:srgbClr val="000000"/>
                </a:solidFill>
                <a:latin typeface="Times New Roman" pitchFamily="18" charset="0"/>
                <a:cs typeface="Times New Roman" pitchFamily="18" charset="0"/>
              </a:rPr>
              <a:t>ADC</a:t>
            </a:r>
          </a:p>
          <a:p>
            <a:pPr>
              <a:lnSpc>
                <a:spcPts val="2100"/>
              </a:lnSpc>
              <a:tabLst>
                <a:tab pos="50800" algn="l"/>
                <a:tab pos="63500" algn="l"/>
                <a:tab pos="114300" algn="l"/>
                <a:tab pos="127000" algn="l"/>
                <a:tab pos="139700" algn="l"/>
                <a:tab pos="165100" algn="l"/>
              </a:tabLst>
            </a:pPr>
            <a:r>
              <a:rPr lang="en-US" altLang="zh-CN" dirty="0" smtClean="0"/>
              <a:t>			</a:t>
            </a:r>
            <a:r>
              <a:rPr lang="en-US" altLang="zh-CN" sz="1397" b="1" dirty="0" smtClean="0">
                <a:solidFill>
                  <a:srgbClr val="000000"/>
                </a:solidFill>
                <a:latin typeface="Times New Roman" pitchFamily="18" charset="0"/>
                <a:cs typeface="Times New Roman" pitchFamily="18" charset="0"/>
              </a:rPr>
              <a:t>CMP</a:t>
            </a:r>
          </a:p>
          <a:p>
            <a:pPr>
              <a:lnSpc>
                <a:spcPts val="2100"/>
              </a:lnSpc>
              <a:tabLst>
                <a:tab pos="50800" algn="l"/>
                <a:tab pos="63500" algn="l"/>
                <a:tab pos="114300" algn="l"/>
                <a:tab pos="127000" algn="l"/>
                <a:tab pos="139700" algn="l"/>
                <a:tab pos="165100" algn="l"/>
              </a:tabLst>
            </a:pPr>
            <a:r>
              <a:rPr lang="en-US" altLang="zh-CN" dirty="0" smtClean="0"/>
              <a:t>				</a:t>
            </a:r>
            <a:r>
              <a:rPr lang="en-US" altLang="zh-CN" sz="1397" b="1" dirty="0" smtClean="0">
                <a:solidFill>
                  <a:srgbClr val="000000"/>
                </a:solidFill>
                <a:latin typeface="Times New Roman" pitchFamily="18" charset="0"/>
                <a:cs typeface="Times New Roman" pitchFamily="18" charset="0"/>
              </a:rPr>
              <a:t>CCP</a:t>
            </a:r>
          </a:p>
          <a:p>
            <a:pPr>
              <a:lnSpc>
                <a:spcPts val="2100"/>
              </a:lnSpc>
              <a:tabLst>
                <a:tab pos="50800" algn="l"/>
                <a:tab pos="63500" algn="l"/>
                <a:tab pos="114300" algn="l"/>
                <a:tab pos="127000" algn="l"/>
                <a:tab pos="139700" algn="l"/>
                <a:tab pos="165100" algn="l"/>
              </a:tabLst>
            </a:pPr>
            <a:r>
              <a:rPr lang="en-US" altLang="zh-CN" sz="1397" b="1" dirty="0" smtClean="0">
                <a:solidFill>
                  <a:srgbClr val="000000"/>
                </a:solidFill>
                <a:latin typeface="Times New Roman" pitchFamily="18" charset="0"/>
                <a:cs typeface="Times New Roman" pitchFamily="18" charset="0"/>
              </a:rPr>
              <a:t>PORTB</a:t>
            </a:r>
          </a:p>
          <a:p>
            <a:pPr>
              <a:lnSpc>
                <a:spcPts val="2100"/>
              </a:lnSpc>
              <a:tabLst>
                <a:tab pos="50800" algn="l"/>
                <a:tab pos="63500" algn="l"/>
                <a:tab pos="114300" algn="l"/>
                <a:tab pos="127000" algn="l"/>
                <a:tab pos="139700" algn="l"/>
                <a:tab pos="165100" algn="l"/>
              </a:tabLst>
            </a:pPr>
            <a:r>
              <a:rPr lang="en-US" altLang="zh-CN" dirty="0" smtClean="0"/>
              <a:t>					</a:t>
            </a:r>
            <a:r>
              <a:rPr lang="en-US" altLang="zh-CN" sz="1397" b="1" dirty="0" smtClean="0">
                <a:solidFill>
                  <a:srgbClr val="000000"/>
                </a:solidFill>
                <a:latin typeface="Times New Roman" pitchFamily="18" charset="0"/>
                <a:cs typeface="Times New Roman" pitchFamily="18" charset="0"/>
              </a:rPr>
              <a:t>SSP</a:t>
            </a:r>
          </a:p>
          <a:p>
            <a:pPr>
              <a:lnSpc>
                <a:spcPts val="2100"/>
              </a:lnSpc>
              <a:tabLst>
                <a:tab pos="50800" algn="l"/>
                <a:tab pos="63500" algn="l"/>
                <a:tab pos="114300" algn="l"/>
                <a:tab pos="127000" algn="l"/>
                <a:tab pos="139700" algn="l"/>
                <a:tab pos="165100" algn="l"/>
              </a:tabLst>
            </a:pPr>
            <a:r>
              <a:rPr lang="en-US" altLang="zh-CN" dirty="0" smtClean="0"/>
              <a:t>					</a:t>
            </a:r>
            <a:r>
              <a:rPr lang="en-US" altLang="zh-CN" sz="1397" b="1" dirty="0" smtClean="0">
                <a:solidFill>
                  <a:srgbClr val="000000"/>
                </a:solidFill>
                <a:latin typeface="Times New Roman" pitchFamily="18" charset="0"/>
                <a:cs typeface="Times New Roman" pitchFamily="18" charset="0"/>
              </a:rPr>
              <a:t>PSP</a:t>
            </a:r>
          </a:p>
        </p:txBody>
      </p:sp>
      <p:sp>
        <p:nvSpPr>
          <p:cNvPr id="6" name="TextBox 1"/>
          <p:cNvSpPr txBox="1"/>
          <p:nvPr/>
        </p:nvSpPr>
        <p:spPr>
          <a:xfrm>
            <a:off x="2540000" y="4267200"/>
            <a:ext cx="6375400" cy="2679700"/>
          </a:xfrm>
          <a:prstGeom prst="rect">
            <a:avLst/>
          </a:prstGeom>
          <a:noFill/>
        </p:spPr>
        <p:txBody>
          <a:bodyPr wrap="none" lIns="0" tIns="0" rIns="0" rtlCol="0">
            <a:spAutoFit/>
          </a:bodyPr>
          <a:lstStyle/>
          <a:p>
            <a:pPr>
              <a:lnSpc>
                <a:spcPts val="1900"/>
              </a:lnSpc>
              <a:tabLst/>
            </a:pPr>
            <a:r>
              <a:rPr lang="en-US" altLang="zh-CN" sz="1397" b="1" dirty="0" smtClean="0">
                <a:solidFill>
                  <a:srgbClr val="000000"/>
                </a:solidFill>
                <a:latin typeface="Times New Roman" pitchFamily="18" charset="0"/>
                <a:cs typeface="Times New Roman" pitchFamily="18" charset="0"/>
              </a:rPr>
              <a:t>Pulso</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sobre</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el</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MCLR</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(pulled</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low)</a:t>
            </a:r>
          </a:p>
          <a:p>
            <a:pPr>
              <a:lnSpc>
                <a:spcPts val="2100"/>
              </a:lnSpc>
              <a:tabLst/>
            </a:pPr>
            <a:r>
              <a:rPr lang="en-US" altLang="zh-CN" sz="1397" b="1" dirty="0" smtClean="0">
                <a:solidFill>
                  <a:srgbClr val="000000"/>
                </a:solidFill>
                <a:latin typeface="Times New Roman" pitchFamily="18" charset="0"/>
                <a:cs typeface="Times New Roman" pitchFamily="18" charset="0"/>
              </a:rPr>
              <a:t>Watchdog</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Timer</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llegó</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a</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final</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de</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cuenta</a:t>
            </a:r>
          </a:p>
          <a:p>
            <a:pPr>
              <a:lnSpc>
                <a:spcPts val="2100"/>
              </a:lnSpc>
              <a:tabLst/>
            </a:pPr>
            <a:r>
              <a:rPr lang="en-US" altLang="zh-CN" sz="1397" b="1" dirty="0" smtClean="0">
                <a:solidFill>
                  <a:srgbClr val="000000"/>
                </a:solidFill>
                <a:latin typeface="Times New Roman" pitchFamily="18" charset="0"/>
                <a:cs typeface="Times New Roman" pitchFamily="18" charset="0"/>
              </a:rPr>
              <a:t>INT</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sobre</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el</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pin</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de</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iterrupción</a:t>
            </a:r>
          </a:p>
          <a:p>
            <a:pPr>
              <a:lnSpc>
                <a:spcPts val="2100"/>
              </a:lnSpc>
              <a:tabLst/>
            </a:pPr>
            <a:r>
              <a:rPr lang="en-US" altLang="zh-CN" sz="1397" b="1" dirty="0" smtClean="0">
                <a:solidFill>
                  <a:srgbClr val="000000"/>
                </a:solidFill>
                <a:latin typeface="Times New Roman" pitchFamily="18" charset="0"/>
                <a:cs typeface="Times New Roman" pitchFamily="18" charset="0"/>
              </a:rPr>
              <a:t>Interrupción</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del</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Timer</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1</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(or</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also</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TMR3</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on</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PIC18)</a:t>
            </a:r>
          </a:p>
          <a:p>
            <a:pPr>
              <a:lnSpc>
                <a:spcPts val="2100"/>
              </a:lnSpc>
              <a:tabLst/>
            </a:pPr>
            <a:r>
              <a:rPr lang="en-US" altLang="zh-CN" sz="1397" b="1" dirty="0" smtClean="0">
                <a:solidFill>
                  <a:srgbClr val="000000"/>
                </a:solidFill>
                <a:latin typeface="Times New Roman" pitchFamily="18" charset="0"/>
                <a:cs typeface="Times New Roman" pitchFamily="18" charset="0"/>
              </a:rPr>
              <a:t>Interrupción</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por</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final</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de</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conversión</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del</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A/D</a:t>
            </a:r>
          </a:p>
          <a:p>
            <a:pPr>
              <a:lnSpc>
                <a:spcPts val="2100"/>
              </a:lnSpc>
              <a:tabLst/>
            </a:pPr>
            <a:r>
              <a:rPr lang="en-US" altLang="zh-CN" sz="1397" b="1" dirty="0" smtClean="0">
                <a:solidFill>
                  <a:srgbClr val="000000"/>
                </a:solidFill>
                <a:latin typeface="Times New Roman" pitchFamily="18" charset="0"/>
                <a:cs typeface="Times New Roman" pitchFamily="18" charset="0"/>
              </a:rPr>
              <a:t>Interrupción</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por</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cambio</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de</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la</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salida</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del</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Comparador</a:t>
            </a:r>
          </a:p>
          <a:p>
            <a:pPr>
              <a:lnSpc>
                <a:spcPts val="2100"/>
              </a:lnSpc>
              <a:tabLst/>
            </a:pPr>
            <a:r>
              <a:rPr lang="en-US" altLang="zh-CN" sz="1397" b="1" dirty="0" smtClean="0">
                <a:solidFill>
                  <a:srgbClr val="000000"/>
                </a:solidFill>
                <a:latin typeface="Times New Roman" pitchFamily="18" charset="0"/>
                <a:cs typeface="Times New Roman" pitchFamily="18" charset="0"/>
              </a:rPr>
              <a:t>Evento</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en</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la</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entrada</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de</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captura</a:t>
            </a:r>
          </a:p>
          <a:p>
            <a:pPr>
              <a:lnSpc>
                <a:spcPts val="2100"/>
              </a:lnSpc>
              <a:tabLst/>
            </a:pPr>
            <a:r>
              <a:rPr lang="en-US" altLang="zh-CN" sz="1397" b="1" dirty="0" smtClean="0">
                <a:solidFill>
                  <a:srgbClr val="000000"/>
                </a:solidFill>
                <a:latin typeface="Times New Roman" pitchFamily="18" charset="0"/>
                <a:cs typeface="Times New Roman" pitchFamily="18" charset="0"/>
              </a:rPr>
              <a:t>Interrupción</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por</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cambio</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en</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el</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PORTB</a:t>
            </a:r>
          </a:p>
          <a:p>
            <a:pPr>
              <a:lnSpc>
                <a:spcPts val="2100"/>
              </a:lnSpc>
              <a:tabLst/>
            </a:pPr>
            <a:r>
              <a:rPr lang="en-US" altLang="zh-CN" sz="1397" b="1" dirty="0" smtClean="0">
                <a:solidFill>
                  <a:srgbClr val="000000"/>
                </a:solidFill>
                <a:latin typeface="Times New Roman" pitchFamily="18" charset="0"/>
                <a:cs typeface="Times New Roman" pitchFamily="18" charset="0"/>
              </a:rPr>
              <a:t>Interrupción en el Synchronous Serial Port (I</a:t>
            </a:r>
            <a:r>
              <a:rPr lang="en-US" altLang="zh-CN" sz="935" b="1" dirty="0" smtClean="0">
                <a:solidFill>
                  <a:srgbClr val="000000"/>
                </a:solidFill>
                <a:latin typeface="Times New Roman" pitchFamily="18" charset="0"/>
                <a:cs typeface="Times New Roman" pitchFamily="18" charset="0"/>
              </a:rPr>
              <a:t>2</a:t>
            </a:r>
            <a:r>
              <a:rPr lang="en-US" altLang="zh-CN" sz="1397" b="1" dirty="0" smtClean="0">
                <a:solidFill>
                  <a:srgbClr val="000000"/>
                </a:solidFill>
                <a:latin typeface="Times New Roman" pitchFamily="18" charset="0"/>
                <a:cs typeface="Times New Roman" pitchFamily="18" charset="0"/>
              </a:rPr>
              <a:t>C Mode) Start / Stop Bit detect</a:t>
            </a:r>
          </a:p>
          <a:p>
            <a:pPr>
              <a:lnSpc>
                <a:spcPts val="2100"/>
              </a:lnSpc>
              <a:tabLst/>
            </a:pPr>
            <a:r>
              <a:rPr lang="en-US" altLang="zh-CN" sz="1397" b="1" dirty="0" smtClean="0">
                <a:solidFill>
                  <a:srgbClr val="000000"/>
                </a:solidFill>
                <a:latin typeface="Times New Roman" pitchFamily="18" charset="0"/>
                <a:cs typeface="Times New Roman" pitchFamily="18" charset="0"/>
              </a:rPr>
              <a:t>Lectura</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/Escritura</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en</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el</a:t>
            </a:r>
            <a:r>
              <a:rPr lang="en-US" altLang="zh-CN" sz="1397" dirty="0" smtClean="0">
                <a:latin typeface="Times New Roman" pitchFamily="18" charset="0"/>
                <a:cs typeface="Times New Roman" pitchFamily="18" charset="0"/>
              </a:rPr>
              <a:t> </a:t>
            </a:r>
            <a:r>
              <a:rPr lang="en-US" altLang="zh-CN" sz="1397" b="1" dirty="0" smtClean="0">
                <a:solidFill>
                  <a:srgbClr val="000000"/>
                </a:solidFill>
                <a:latin typeface="Times New Roman" pitchFamily="18" charset="0"/>
                <a:cs typeface="Times New Roman" pitchFamily="18" charset="0"/>
              </a:rPr>
              <a:t>PSP</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3721100" y="584200"/>
            <a:ext cx="4368800" cy="774700"/>
          </a:xfrm>
          <a:prstGeom prst="rect">
            <a:avLst/>
          </a:prstGeom>
          <a:noFill/>
        </p:spPr>
        <p:txBody>
          <a:bodyPr wrap="none" lIns="0" tIns="0" rIns="0" rtlCol="0">
            <a:spAutoFit/>
          </a:bodyPr>
          <a:lstStyle/>
          <a:p>
            <a:pPr>
              <a:lnSpc>
                <a:spcPts val="6100"/>
              </a:lnSpc>
              <a:tabLst/>
            </a:pPr>
            <a:r>
              <a:rPr lang="en-US" altLang="zh-CN" sz="4397" b="1" dirty="0" smtClean="0">
                <a:solidFill>
                  <a:srgbClr val="000000"/>
                </a:solidFill>
                <a:latin typeface="Times New Roman" pitchFamily="18" charset="0"/>
                <a:cs typeface="Times New Roman" pitchFamily="18" charset="0"/>
              </a:rPr>
              <a:t>Watchdog</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Timer</a:t>
            </a:r>
          </a:p>
        </p:txBody>
      </p:sp>
      <p:sp>
        <p:nvSpPr>
          <p:cNvPr id="4" name="TextBox 1"/>
          <p:cNvSpPr txBox="1"/>
          <p:nvPr/>
        </p:nvSpPr>
        <p:spPr>
          <a:xfrm>
            <a:off x="1549400" y="1676400"/>
            <a:ext cx="6867457" cy="2546851"/>
          </a:xfrm>
          <a:prstGeom prst="rect">
            <a:avLst/>
          </a:prstGeom>
          <a:noFill/>
        </p:spPr>
        <p:txBody>
          <a:bodyPr wrap="none" lIns="0" tIns="0" rIns="0" rtlCol="0">
            <a:spAutoFit/>
          </a:bodyPr>
          <a:lstStyle/>
          <a:p>
            <a:pPr marL="342900" indent="-342900">
              <a:lnSpc>
                <a:spcPts val="2700"/>
              </a:lnSpc>
              <a:buFont typeface="Arial" panose="020B0604020202020204" pitchFamily="34" charset="0"/>
              <a:buChar char="•"/>
              <a:tabLst/>
            </a:pPr>
            <a:r>
              <a:rPr lang="en-US" altLang="zh-CN" sz="1997" b="1" dirty="0" smtClean="0">
                <a:solidFill>
                  <a:srgbClr val="000000"/>
                </a:solidFill>
                <a:latin typeface="Times New Roman" pitchFamily="18" charset="0"/>
                <a:cs typeface="Times New Roman" pitchFamily="18" charset="0"/>
              </a:rPr>
              <a:t>Ayuda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recuperarse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mal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funcionamiento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software</a:t>
            </a:r>
          </a:p>
          <a:p>
            <a:pPr marL="342900" indent="-342900">
              <a:lnSpc>
                <a:spcPts val="2800"/>
              </a:lnSpc>
              <a:buFont typeface="Arial" panose="020B0604020202020204" pitchFamily="34" charset="0"/>
              <a:buChar char="•"/>
              <a:tabLst/>
            </a:pPr>
            <a:r>
              <a:rPr lang="en-US" altLang="zh-CN" sz="1997" b="1" dirty="0" smtClean="0">
                <a:solidFill>
                  <a:srgbClr val="000000"/>
                </a:solidFill>
                <a:latin typeface="Times New Roman" pitchFamily="18" charset="0"/>
                <a:cs typeface="Times New Roman" pitchFamily="18" charset="0"/>
              </a:rPr>
              <a:t>Usa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par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funcionar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su</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propio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oscilador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RC</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sobre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chip</a:t>
            </a:r>
          </a:p>
          <a:p>
            <a:pPr marL="342900" indent="-342900">
              <a:lnSpc>
                <a:spcPts val="2800"/>
              </a:lnSpc>
              <a:buFont typeface="Arial" panose="020B0604020202020204" pitchFamily="34" charset="0"/>
              <a:buChar char="•"/>
              <a:tabLst/>
            </a:pPr>
            <a:r>
              <a:rPr lang="en-US" altLang="zh-CN" sz="1997" b="1" dirty="0" smtClean="0">
                <a:solidFill>
                  <a:srgbClr val="000000"/>
                </a:solidFill>
                <a:latin typeface="Times New Roman" pitchFamily="18" charset="0"/>
                <a:cs typeface="Times New Roman" pitchFamily="18" charset="0"/>
              </a:rPr>
              <a:t>WDT</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es</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borrado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la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instrucción</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CLRWDT</a:t>
            </a:r>
          </a:p>
          <a:p>
            <a:pPr marL="342900" indent="-342900">
              <a:lnSpc>
                <a:spcPts val="2800"/>
              </a:lnSpc>
              <a:buFont typeface="Arial" panose="020B0604020202020204" pitchFamily="34" charset="0"/>
              <a:buChar char="•"/>
              <a:tabLst/>
            </a:pPr>
            <a:r>
              <a:rPr lang="en-US" altLang="zh-CN" sz="1997" b="1" dirty="0" smtClean="0">
                <a:solidFill>
                  <a:srgbClr val="000000"/>
                </a:solidFill>
                <a:latin typeface="Times New Roman" pitchFamily="18" charset="0"/>
                <a:cs typeface="Times New Roman" pitchFamily="18" charset="0"/>
              </a:rPr>
              <a:t>Habilitado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WDT</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no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puede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ser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desactivarse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por</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software</a:t>
            </a:r>
          </a:p>
          <a:p>
            <a:pPr>
              <a:lnSpc>
                <a:spcPts val="2800"/>
              </a:lnSpc>
              <a:tabLst/>
            </a:pPr>
            <a:r>
              <a:rPr lang="en-US" altLang="zh-CN" sz="1997" b="1" dirty="0" smtClean="0">
                <a:solidFill>
                  <a:srgbClr val="000000"/>
                </a:solidFill>
                <a:latin typeface="Times New Roman" pitchFamily="18" charset="0"/>
                <a:cs typeface="Times New Roman" pitchFamily="18" charset="0"/>
              </a:rPr>
              <a:t>      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desborde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WDT</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resetea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al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dispositivo</a:t>
            </a:r>
          </a:p>
          <a:p>
            <a:pPr marL="342900" indent="-342900">
              <a:lnSpc>
                <a:spcPts val="2800"/>
              </a:lnSpc>
              <a:buFont typeface="Arial" panose="020B0604020202020204" pitchFamily="34" charset="0"/>
              <a:buChar char="•"/>
              <a:tabLst/>
            </a:pPr>
            <a:r>
              <a:rPr lang="en-US" altLang="zh-CN" sz="1997" b="1" dirty="0" smtClean="0">
                <a:solidFill>
                  <a:srgbClr val="000000"/>
                </a:solidFill>
                <a:latin typeface="Times New Roman" pitchFamily="18" charset="0"/>
                <a:cs typeface="Times New Roman" pitchFamily="18" charset="0"/>
              </a:rPr>
              <a:t>Período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time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out</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esProgramable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18ms</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to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3.0s</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typ</a:t>
            </a:r>
          </a:p>
          <a:p>
            <a:pPr marL="342900" indent="-342900">
              <a:lnSpc>
                <a:spcPts val="2800"/>
              </a:lnSpc>
              <a:buFont typeface="Arial" panose="020B0604020202020204" pitchFamily="34" charset="0"/>
              <a:buChar char="•"/>
              <a:tabLst/>
            </a:pPr>
            <a:r>
              <a:rPr lang="en-US" altLang="zh-CN" sz="1997" b="1" dirty="0" smtClean="0">
                <a:solidFill>
                  <a:srgbClr val="000000"/>
                </a:solidFill>
                <a:latin typeface="Times New Roman" pitchFamily="18" charset="0"/>
                <a:cs typeface="Times New Roman" pitchFamily="18" charset="0"/>
              </a:rPr>
              <a:t>Opera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en</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modo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SLEEP;</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sobre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el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time</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out,</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despierta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la</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CPU</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774839" y="206349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787400" y="342900"/>
            <a:ext cx="1130300" cy="1143000"/>
          </a:xfrm>
          <a:prstGeom prst="rect">
            <a:avLst/>
          </a:prstGeom>
          <a:noFill/>
        </p:spPr>
      </p:pic>
      <p:pic>
        <p:nvPicPr>
          <p:cNvPr id="14" name="Picture 3"/>
          <p:cNvPicPr>
            <a:picLocks noChangeAspect="1" noChangeArrowheads="1"/>
          </p:cNvPicPr>
          <p:nvPr/>
        </p:nvPicPr>
        <p:blipFill>
          <a:blip r:embed="rId4"/>
          <a:srcRect/>
          <a:stretch>
            <a:fillRect/>
          </a:stretch>
        </p:blipFill>
        <p:spPr bwMode="auto">
          <a:xfrm>
            <a:off x="2032000" y="825500"/>
            <a:ext cx="50800" cy="25400"/>
          </a:xfrm>
          <a:prstGeom prst="rect">
            <a:avLst/>
          </a:prstGeom>
          <a:noFill/>
        </p:spPr>
      </p:pic>
      <p:sp>
        <p:nvSpPr>
          <p:cNvPr id="2" name="TextBox 1"/>
          <p:cNvSpPr txBox="1"/>
          <p:nvPr/>
        </p:nvSpPr>
        <p:spPr>
          <a:xfrm>
            <a:off x="2794000" y="584200"/>
            <a:ext cx="6235700" cy="774700"/>
          </a:xfrm>
          <a:prstGeom prst="rect">
            <a:avLst/>
          </a:prstGeom>
          <a:noFill/>
        </p:spPr>
        <p:txBody>
          <a:bodyPr wrap="none" lIns="0" tIns="0" rIns="0" rtlCol="0">
            <a:spAutoFit/>
          </a:bodyPr>
          <a:lstStyle/>
          <a:p>
            <a:pPr>
              <a:lnSpc>
                <a:spcPts val="6100"/>
              </a:lnSpc>
              <a:tabLst/>
            </a:pPr>
            <a:r>
              <a:rPr lang="en-US" altLang="zh-CN" sz="4397" b="1" dirty="0" smtClean="0">
                <a:solidFill>
                  <a:srgbClr val="000000"/>
                </a:solidFill>
                <a:latin typeface="Times New Roman" pitchFamily="18" charset="0"/>
                <a:cs typeface="Times New Roman" pitchFamily="18" charset="0"/>
              </a:rPr>
              <a:t>BOR</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–Brown</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Out</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Reset</a:t>
            </a:r>
          </a:p>
        </p:txBody>
      </p:sp>
      <p:sp>
        <p:nvSpPr>
          <p:cNvPr id="16" name="TextBox 1"/>
          <p:cNvSpPr txBox="1"/>
          <p:nvPr/>
        </p:nvSpPr>
        <p:spPr>
          <a:xfrm>
            <a:off x="1548806" y="1738227"/>
            <a:ext cx="7480894" cy="4611519"/>
          </a:xfrm>
          <a:prstGeom prst="rect">
            <a:avLst/>
          </a:prstGeom>
          <a:noFill/>
        </p:spPr>
        <p:txBody>
          <a:bodyPr wrap="none" lIns="0" tIns="0" rIns="0" rtlCol="0">
            <a:spAutoFit/>
          </a:bodyPr>
          <a:lstStyle/>
          <a:p>
            <a:pPr marL="571500" indent="-571500">
              <a:lnSpc>
                <a:spcPts val="5000"/>
              </a:lnSpc>
              <a:buFont typeface="Arial" panose="020B0604020202020204" pitchFamily="34" charset="0"/>
              <a:buChar char="•"/>
              <a:tabLst/>
            </a:pPr>
            <a:r>
              <a:rPr lang="en-US" altLang="zh-CN" sz="3600" b="1" dirty="0" smtClean="0">
                <a:solidFill>
                  <a:srgbClr val="000000"/>
                </a:solidFill>
                <a:latin typeface="Times New Roman" pitchFamily="18" charset="0"/>
                <a:cs typeface="Times New Roman" pitchFamily="18" charset="0"/>
              </a:rPr>
              <a:t>Cuando</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se</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produce</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una</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variación</a:t>
            </a:r>
          </a:p>
          <a:p>
            <a:pPr>
              <a:lnSpc>
                <a:spcPts val="5600"/>
              </a:lnSpc>
              <a:tabLst/>
            </a:pPr>
            <a:r>
              <a:rPr lang="en-US" altLang="zh-CN" sz="3600" b="1" dirty="0" smtClean="0">
                <a:solidFill>
                  <a:srgbClr val="000000"/>
                </a:solidFill>
                <a:latin typeface="Times New Roman" pitchFamily="18" charset="0"/>
                <a:cs typeface="Times New Roman" pitchFamily="18" charset="0"/>
              </a:rPr>
              <a:t>     del</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voltaje,</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Resetea</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al</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dispositivo</a:t>
            </a:r>
          </a:p>
          <a:p>
            <a:pPr marL="285750" indent="-285750">
              <a:lnSpc>
                <a:spcPts val="1000"/>
              </a:lnSpc>
              <a:buFont typeface="Arial" panose="020B0604020202020204" pitchFamily="34" charset="0"/>
              <a:buChar char="•"/>
            </a:pPr>
            <a:endParaRPr lang="en-US" altLang="zh-CN" dirty="0" smtClean="0"/>
          </a:p>
          <a:p>
            <a:pPr marL="571500" indent="-571500">
              <a:lnSpc>
                <a:spcPts val="5900"/>
              </a:lnSpc>
              <a:buFont typeface="Arial" panose="020B0604020202020204" pitchFamily="34" charset="0"/>
              <a:buChar char="•"/>
              <a:tabLst/>
            </a:pPr>
            <a:r>
              <a:rPr lang="en-US" altLang="zh-CN" sz="3600" b="1" dirty="0" smtClean="0">
                <a:solidFill>
                  <a:srgbClr val="000000"/>
                </a:solidFill>
                <a:latin typeface="Times New Roman" pitchFamily="18" charset="0"/>
                <a:cs typeface="Times New Roman" pitchFamily="18" charset="0"/>
              </a:rPr>
              <a:t>Previene</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operaciones</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erráticas</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o</a:t>
            </a:r>
          </a:p>
          <a:p>
            <a:pPr>
              <a:lnSpc>
                <a:spcPts val="5600"/>
              </a:lnSpc>
              <a:tabLst/>
            </a:pPr>
            <a:r>
              <a:rPr lang="en-US" altLang="zh-CN" sz="3600" b="1" dirty="0" smtClean="0">
                <a:solidFill>
                  <a:srgbClr val="000000"/>
                </a:solidFill>
                <a:latin typeface="Times New Roman" pitchFamily="18" charset="0"/>
                <a:cs typeface="Times New Roman" pitchFamily="18" charset="0"/>
              </a:rPr>
              <a:t>     </a:t>
            </a:r>
            <a:r>
              <a:rPr lang="en-US" altLang="zh-CN" sz="3600" b="1" dirty="0" err="1" smtClean="0">
                <a:solidFill>
                  <a:srgbClr val="000000"/>
                </a:solidFill>
                <a:latin typeface="Times New Roman" pitchFamily="18" charset="0"/>
                <a:cs typeface="Times New Roman" pitchFamily="18" charset="0"/>
              </a:rPr>
              <a:t>inesperadas</a:t>
            </a:r>
            <a:endParaRPr lang="en-US" altLang="zh-CN" sz="3600" b="1" dirty="0" smtClean="0">
              <a:solidFill>
                <a:srgbClr val="000000"/>
              </a:solidFill>
              <a:latin typeface="Times New Roman" pitchFamily="18" charset="0"/>
              <a:cs typeface="Times New Roman" pitchFamily="18" charset="0"/>
            </a:endParaRPr>
          </a:p>
          <a:p>
            <a:pPr marL="285750" indent="-285750">
              <a:lnSpc>
                <a:spcPts val="1000"/>
              </a:lnSpc>
              <a:buFont typeface="Arial" panose="020B0604020202020204" pitchFamily="34" charset="0"/>
              <a:buChar char="•"/>
            </a:pPr>
            <a:endParaRPr lang="en-US" altLang="zh-CN" dirty="0" smtClean="0"/>
          </a:p>
          <a:p>
            <a:pPr marL="571500" indent="-571500">
              <a:lnSpc>
                <a:spcPts val="5900"/>
              </a:lnSpc>
              <a:buFont typeface="Arial" panose="020B0604020202020204" pitchFamily="34" charset="0"/>
              <a:buChar char="•"/>
              <a:tabLst/>
            </a:pPr>
            <a:r>
              <a:rPr lang="en-US" altLang="zh-CN" sz="3600" b="1" dirty="0" smtClean="0">
                <a:solidFill>
                  <a:srgbClr val="000000"/>
                </a:solidFill>
                <a:latin typeface="Times New Roman" pitchFamily="18" charset="0"/>
                <a:cs typeface="Times New Roman" pitchFamily="18" charset="0"/>
              </a:rPr>
              <a:t>Elimina</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la</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necesidad</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de</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un</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circuito</a:t>
            </a:r>
          </a:p>
          <a:p>
            <a:pPr>
              <a:lnSpc>
                <a:spcPts val="5600"/>
              </a:lnSpc>
              <a:tabLst/>
            </a:pPr>
            <a:r>
              <a:rPr lang="en-US" altLang="zh-CN" sz="3600" b="1" dirty="0" smtClean="0">
                <a:solidFill>
                  <a:srgbClr val="000000"/>
                </a:solidFill>
                <a:latin typeface="Times New Roman" pitchFamily="18" charset="0"/>
                <a:cs typeface="Times New Roman" pitchFamily="18" charset="0"/>
              </a:rPr>
              <a:t>     BOR</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externo</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774839" y="206349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787400" y="342900"/>
            <a:ext cx="1130300" cy="1143000"/>
          </a:xfrm>
          <a:prstGeom prst="rect">
            <a:avLst/>
          </a:prstGeom>
          <a:noFill/>
        </p:spPr>
      </p:pic>
      <p:pic>
        <p:nvPicPr>
          <p:cNvPr id="14" name="Picture 3"/>
          <p:cNvPicPr>
            <a:picLocks noChangeAspect="1" noChangeArrowheads="1"/>
          </p:cNvPicPr>
          <p:nvPr/>
        </p:nvPicPr>
        <p:blipFill>
          <a:blip r:embed="rId4"/>
          <a:srcRect/>
          <a:stretch>
            <a:fillRect/>
          </a:stretch>
        </p:blipFill>
        <p:spPr bwMode="auto">
          <a:xfrm>
            <a:off x="2032000" y="825500"/>
            <a:ext cx="50800" cy="25400"/>
          </a:xfrm>
          <a:prstGeom prst="rect">
            <a:avLst/>
          </a:prstGeom>
          <a:noFill/>
        </p:spPr>
      </p:pic>
      <p:sp>
        <p:nvSpPr>
          <p:cNvPr id="2" name="TextBox 1"/>
          <p:cNvSpPr txBox="1"/>
          <p:nvPr/>
        </p:nvSpPr>
        <p:spPr>
          <a:xfrm>
            <a:off x="2844800" y="342900"/>
            <a:ext cx="6146800" cy="1270000"/>
          </a:xfrm>
          <a:prstGeom prst="rect">
            <a:avLst/>
          </a:prstGeom>
          <a:noFill/>
        </p:spPr>
        <p:txBody>
          <a:bodyPr wrap="none" lIns="0" tIns="0" rIns="0" rtlCol="0">
            <a:spAutoFit/>
          </a:bodyPr>
          <a:lstStyle/>
          <a:p>
            <a:pPr>
              <a:lnSpc>
                <a:spcPts val="6100"/>
              </a:lnSpc>
              <a:tabLst>
                <a:tab pos="800100" algn="l"/>
              </a:tabLst>
            </a:pPr>
            <a:r>
              <a:rPr lang="en-US" altLang="zh-CN" sz="4397" b="1" dirty="0" smtClean="0">
                <a:solidFill>
                  <a:srgbClr val="000000"/>
                </a:solidFill>
                <a:latin typeface="Times New Roman" pitchFamily="18" charset="0"/>
                <a:cs typeface="Times New Roman" pitchFamily="18" charset="0"/>
              </a:rPr>
              <a:t>PBOR</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Programmable</a:t>
            </a:r>
          </a:p>
          <a:p>
            <a:pPr>
              <a:lnSpc>
                <a:spcPts val="3900"/>
              </a:lnSpc>
              <a:tabLst>
                <a:tab pos="800100" algn="l"/>
              </a:tabLst>
            </a:pPr>
            <a:r>
              <a:rPr lang="en-US" altLang="zh-CN" dirty="0" smtClean="0"/>
              <a:t>	</a:t>
            </a:r>
            <a:r>
              <a:rPr lang="en-US" altLang="zh-CN" sz="4397" b="1" dirty="0" smtClean="0">
                <a:solidFill>
                  <a:srgbClr val="000000"/>
                </a:solidFill>
                <a:latin typeface="Times New Roman" pitchFamily="18" charset="0"/>
                <a:cs typeface="Times New Roman" pitchFamily="18" charset="0"/>
              </a:rPr>
              <a:t>Brown</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Out</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Reset</a:t>
            </a:r>
          </a:p>
        </p:txBody>
      </p:sp>
      <p:sp>
        <p:nvSpPr>
          <p:cNvPr id="16" name="TextBox 1"/>
          <p:cNvSpPr txBox="1"/>
          <p:nvPr/>
        </p:nvSpPr>
        <p:spPr>
          <a:xfrm>
            <a:off x="1549400" y="1701800"/>
            <a:ext cx="6438900" cy="914400"/>
          </a:xfrm>
          <a:prstGeom prst="rect">
            <a:avLst/>
          </a:prstGeom>
          <a:noFill/>
        </p:spPr>
        <p:txBody>
          <a:bodyPr wrap="none" lIns="0" tIns="0" rIns="0" rtlCol="0">
            <a:spAutoFit/>
          </a:bodyPr>
          <a:lstStyle/>
          <a:p>
            <a:pPr>
              <a:lnSpc>
                <a:spcPts val="3900"/>
              </a:lnSpc>
              <a:tabLst/>
            </a:pPr>
            <a:r>
              <a:rPr lang="en-US" altLang="zh-CN" sz="2802" b="1" dirty="0" smtClean="0">
                <a:solidFill>
                  <a:srgbClr val="000000"/>
                </a:solidFill>
                <a:latin typeface="Times New Roman" pitchFamily="18" charset="0"/>
                <a:cs typeface="Times New Roman" pitchFamily="18" charset="0"/>
              </a:rPr>
              <a:t>Configuración</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opcional</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(seteado</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en</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la</a:t>
            </a:r>
          </a:p>
          <a:p>
            <a:pPr>
              <a:lnSpc>
                <a:spcPts val="3300"/>
              </a:lnSpc>
              <a:tabLst/>
            </a:pPr>
            <a:r>
              <a:rPr lang="en-US" altLang="zh-CN" sz="2802" b="1" dirty="0" smtClean="0">
                <a:solidFill>
                  <a:srgbClr val="000000"/>
                </a:solidFill>
                <a:latin typeface="Times New Roman" pitchFamily="18" charset="0"/>
                <a:cs typeface="Times New Roman" pitchFamily="18" charset="0"/>
              </a:rPr>
              <a:t>programación)</a:t>
            </a:r>
          </a:p>
        </p:txBody>
      </p:sp>
      <p:sp>
        <p:nvSpPr>
          <p:cNvPr id="17" name="TextBox 1"/>
          <p:cNvSpPr txBox="1"/>
          <p:nvPr/>
        </p:nvSpPr>
        <p:spPr>
          <a:xfrm>
            <a:off x="1663700" y="2628900"/>
            <a:ext cx="127000" cy="304800"/>
          </a:xfrm>
          <a:prstGeom prst="rect">
            <a:avLst/>
          </a:prstGeom>
          <a:noFill/>
        </p:spPr>
        <p:txBody>
          <a:bodyPr wrap="none" lIns="0" tIns="0" rIns="0" rtlCol="0">
            <a:spAutoFit/>
          </a:bodyPr>
          <a:lstStyle/>
          <a:p>
            <a:pPr>
              <a:lnSpc>
                <a:spcPts val="2400"/>
              </a:lnSpc>
              <a:tabLst/>
            </a:pPr>
            <a:r>
              <a:rPr lang="en-US" altLang="zh-CN" sz="1997" dirty="0" smtClean="0">
                <a:solidFill>
                  <a:srgbClr val="3365CC"/>
                </a:solidFill>
                <a:latin typeface="Symbol" pitchFamily="18" charset="0"/>
                <a:cs typeface="Symbol" pitchFamily="18" charset="0"/>
              </a:rPr>
              <a:t>−</a:t>
            </a:r>
          </a:p>
        </p:txBody>
      </p:sp>
      <p:sp>
        <p:nvSpPr>
          <p:cNvPr id="18" name="TextBox 1"/>
          <p:cNvSpPr txBox="1"/>
          <p:nvPr/>
        </p:nvSpPr>
        <p:spPr>
          <a:xfrm>
            <a:off x="2120900" y="2628900"/>
            <a:ext cx="5778500" cy="330200"/>
          </a:xfrm>
          <a:prstGeom prst="rect">
            <a:avLst/>
          </a:prstGeom>
          <a:noFill/>
        </p:spPr>
        <p:txBody>
          <a:bodyPr wrap="none" lIns="0" tIns="0" rIns="0" rtlCol="0">
            <a:spAutoFit/>
          </a:bodyPr>
          <a:lstStyle/>
          <a:p>
            <a:pPr>
              <a:lnSpc>
                <a:spcPts val="2600"/>
              </a:lnSpc>
              <a:tabLst/>
            </a:pPr>
            <a:r>
              <a:rPr lang="en-US" altLang="zh-CN" sz="1997" dirty="0" smtClean="0">
                <a:solidFill>
                  <a:srgbClr val="000000"/>
                </a:solidFill>
                <a:latin typeface="Times New Roman" pitchFamily="18" charset="0"/>
                <a:cs typeface="Times New Roman" pitchFamily="18" charset="0"/>
              </a:rPr>
              <a:t>No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puede</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ser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habilitado/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deshabilitado</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por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software</a:t>
            </a:r>
          </a:p>
        </p:txBody>
      </p:sp>
      <p:sp>
        <p:nvSpPr>
          <p:cNvPr id="20" name="TextBox 1"/>
          <p:cNvSpPr txBox="1"/>
          <p:nvPr/>
        </p:nvSpPr>
        <p:spPr>
          <a:xfrm>
            <a:off x="1549400" y="3073400"/>
            <a:ext cx="6210300" cy="889000"/>
          </a:xfrm>
          <a:prstGeom prst="rect">
            <a:avLst/>
          </a:prstGeom>
          <a:noFill/>
        </p:spPr>
        <p:txBody>
          <a:bodyPr wrap="none" lIns="0" tIns="0" rIns="0" rtlCol="0">
            <a:spAutoFit/>
          </a:bodyPr>
          <a:lstStyle/>
          <a:p>
            <a:pPr>
              <a:lnSpc>
                <a:spcPts val="4200"/>
              </a:lnSpc>
              <a:tabLst>
                <a:tab pos="114300" algn="l"/>
              </a:tabLst>
            </a:pPr>
            <a:r>
              <a:rPr lang="en-US" altLang="zh-CN" sz="2802" b="1" dirty="0" smtClean="0">
                <a:solidFill>
                  <a:srgbClr val="000000"/>
                </a:solidFill>
                <a:latin typeface="Times New Roman" pitchFamily="18" charset="0"/>
                <a:cs typeface="Times New Roman" pitchFamily="18" charset="0"/>
              </a:rPr>
              <a:t>Cuatro</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puntos</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seleccionables</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BV</a:t>
            </a:r>
            <a:r>
              <a:rPr lang="en-US" altLang="zh-CN" sz="1865" b="1" dirty="0" smtClean="0">
                <a:solidFill>
                  <a:srgbClr val="000000"/>
                </a:solidFill>
                <a:latin typeface="Times New Roman" pitchFamily="18" charset="0"/>
                <a:cs typeface="Times New Roman" pitchFamily="18" charset="0"/>
              </a:rPr>
              <a:t>DD</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a:t>
            </a:r>
          </a:p>
          <a:p>
            <a:pPr>
              <a:lnSpc>
                <a:spcPts val="2800"/>
              </a:lnSpc>
              <a:tabLst>
                <a:tab pos="114300" algn="l"/>
              </a:tabLst>
            </a:pPr>
            <a:r>
              <a:rPr lang="en-US" altLang="zh-CN" dirty="0" smtClean="0"/>
              <a:t>	</a:t>
            </a:r>
            <a:r>
              <a:rPr lang="en-US" altLang="zh-CN" sz="1997" dirty="0" smtClean="0">
                <a:solidFill>
                  <a:srgbClr val="3365CC"/>
                </a:solidFill>
                <a:latin typeface="Symbol" pitchFamily="18" charset="0"/>
                <a:cs typeface="Symbol" pitchFamily="18" charset="0"/>
              </a:rPr>
              <a:t>−</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2.5V</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Minimum</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V</a:t>
            </a:r>
            <a:r>
              <a:rPr lang="en-US" altLang="zh-CN" sz="1331" dirty="0" smtClean="0">
                <a:solidFill>
                  <a:srgbClr val="000000"/>
                </a:solidFill>
                <a:latin typeface="Times New Roman" pitchFamily="18" charset="0"/>
                <a:cs typeface="Times New Roman" pitchFamily="18" charset="0"/>
              </a:rPr>
              <a:t>DD</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for</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OTP</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PICmicro</a:t>
            </a:r>
            <a:r>
              <a:rPr lang="en-US" altLang="zh-CN" sz="1331" dirty="0" smtClean="0">
                <a:solidFill>
                  <a:srgbClr val="000000"/>
                </a:solidFill>
                <a:latin typeface="Times New Roman" pitchFamily="18" charset="0"/>
                <a:cs typeface="Times New Roman" pitchFamily="18" charset="0"/>
              </a:rPr>
              <a:t>®</a:t>
            </a:r>
            <a:r>
              <a:rPr lang="en-US" altLang="zh-CN" sz="1997" dirty="0" smtClean="0">
                <a:latin typeface="Times New Roman" pitchFamily="18" charset="0"/>
                <a:cs typeface="Times New Roman" pitchFamily="18" charset="0"/>
              </a:rPr>
              <a:t> </a:t>
            </a:r>
            <a:r>
              <a:rPr lang="en-US" altLang="zh-CN" sz="1997" dirty="0" smtClean="0">
                <a:solidFill>
                  <a:srgbClr val="000000"/>
                </a:solidFill>
                <a:latin typeface="Times New Roman" pitchFamily="18" charset="0"/>
                <a:cs typeface="Times New Roman" pitchFamily="18" charset="0"/>
              </a:rPr>
              <a:t>MCUs</a:t>
            </a:r>
          </a:p>
        </p:txBody>
      </p:sp>
      <p:sp>
        <p:nvSpPr>
          <p:cNvPr id="21" name="TextBox 1"/>
          <p:cNvSpPr txBox="1"/>
          <p:nvPr/>
        </p:nvSpPr>
        <p:spPr>
          <a:xfrm>
            <a:off x="1663700" y="4000500"/>
            <a:ext cx="127000" cy="1092200"/>
          </a:xfrm>
          <a:prstGeom prst="rect">
            <a:avLst/>
          </a:prstGeom>
          <a:noFill/>
        </p:spPr>
        <p:txBody>
          <a:bodyPr wrap="none" lIns="0" tIns="0" rIns="0" rtlCol="0">
            <a:spAutoFit/>
          </a:bodyPr>
          <a:lstStyle/>
          <a:p>
            <a:pPr>
              <a:lnSpc>
                <a:spcPts val="2400"/>
              </a:lnSpc>
              <a:tabLst/>
            </a:pPr>
            <a:r>
              <a:rPr lang="en-US" altLang="zh-CN" sz="1997" dirty="0" smtClean="0">
                <a:solidFill>
                  <a:srgbClr val="3365CC"/>
                </a:solidFill>
                <a:latin typeface="Symbol" pitchFamily="18" charset="0"/>
                <a:cs typeface="Symbol" pitchFamily="18" charset="0"/>
              </a:rPr>
              <a:t>−</a:t>
            </a:r>
          </a:p>
          <a:p>
            <a:pPr>
              <a:lnSpc>
                <a:spcPts val="3100"/>
              </a:lnSpc>
              <a:tabLst/>
            </a:pPr>
            <a:r>
              <a:rPr lang="en-US" altLang="zh-CN" sz="1997" dirty="0" smtClean="0">
                <a:solidFill>
                  <a:srgbClr val="3365CC"/>
                </a:solidFill>
                <a:latin typeface="Symbol" pitchFamily="18" charset="0"/>
                <a:cs typeface="Symbol" pitchFamily="18" charset="0"/>
              </a:rPr>
              <a:t>−</a:t>
            </a:r>
          </a:p>
          <a:p>
            <a:pPr>
              <a:lnSpc>
                <a:spcPts val="3100"/>
              </a:lnSpc>
              <a:tabLst/>
            </a:pPr>
            <a:r>
              <a:rPr lang="en-US" altLang="zh-CN" sz="1997" dirty="0" smtClean="0">
                <a:solidFill>
                  <a:srgbClr val="3365CC"/>
                </a:solidFill>
                <a:latin typeface="Symbol" pitchFamily="18" charset="0"/>
                <a:cs typeface="Symbol" pitchFamily="18" charset="0"/>
              </a:rPr>
              <a:t>−</a:t>
            </a:r>
          </a:p>
        </p:txBody>
      </p:sp>
      <p:sp>
        <p:nvSpPr>
          <p:cNvPr id="22" name="TextBox 1"/>
          <p:cNvSpPr txBox="1"/>
          <p:nvPr/>
        </p:nvSpPr>
        <p:spPr>
          <a:xfrm>
            <a:off x="2120900" y="4013200"/>
            <a:ext cx="520700" cy="1117600"/>
          </a:xfrm>
          <a:prstGeom prst="rect">
            <a:avLst/>
          </a:prstGeom>
          <a:noFill/>
        </p:spPr>
        <p:txBody>
          <a:bodyPr wrap="none" lIns="0" tIns="0" rIns="0" rtlCol="0">
            <a:spAutoFit/>
          </a:bodyPr>
          <a:lstStyle/>
          <a:p>
            <a:pPr>
              <a:lnSpc>
                <a:spcPts val="2600"/>
              </a:lnSpc>
              <a:tabLst/>
            </a:pPr>
            <a:r>
              <a:rPr lang="en-US" altLang="zh-CN" sz="1997" dirty="0" smtClean="0">
                <a:solidFill>
                  <a:srgbClr val="000000"/>
                </a:solidFill>
                <a:latin typeface="Times New Roman" pitchFamily="18" charset="0"/>
                <a:cs typeface="Times New Roman" pitchFamily="18" charset="0"/>
              </a:rPr>
              <a:t>2.7V</a:t>
            </a:r>
          </a:p>
          <a:p>
            <a:pPr>
              <a:lnSpc>
                <a:spcPts val="3100"/>
              </a:lnSpc>
              <a:tabLst/>
            </a:pPr>
            <a:r>
              <a:rPr lang="en-US" altLang="zh-CN" sz="1997" dirty="0" smtClean="0">
                <a:solidFill>
                  <a:srgbClr val="000000"/>
                </a:solidFill>
                <a:latin typeface="Times New Roman" pitchFamily="18" charset="0"/>
                <a:cs typeface="Times New Roman" pitchFamily="18" charset="0"/>
              </a:rPr>
              <a:t>4.2V</a:t>
            </a:r>
          </a:p>
          <a:p>
            <a:pPr>
              <a:lnSpc>
                <a:spcPts val="3100"/>
              </a:lnSpc>
              <a:tabLst/>
            </a:pPr>
            <a:r>
              <a:rPr lang="en-US" altLang="zh-CN" sz="1997" dirty="0" smtClean="0">
                <a:solidFill>
                  <a:srgbClr val="000000"/>
                </a:solidFill>
                <a:latin typeface="Times New Roman" pitchFamily="18" charset="0"/>
                <a:cs typeface="Times New Roman" pitchFamily="18" charset="0"/>
              </a:rPr>
              <a:t>4.5V</a:t>
            </a:r>
          </a:p>
        </p:txBody>
      </p:sp>
      <p:sp>
        <p:nvSpPr>
          <p:cNvPr id="24" name="TextBox 1"/>
          <p:cNvSpPr txBox="1"/>
          <p:nvPr/>
        </p:nvSpPr>
        <p:spPr>
          <a:xfrm>
            <a:off x="1549400" y="5232400"/>
            <a:ext cx="7594600" cy="1346200"/>
          </a:xfrm>
          <a:prstGeom prst="rect">
            <a:avLst/>
          </a:prstGeom>
          <a:noFill/>
        </p:spPr>
        <p:txBody>
          <a:bodyPr wrap="none" lIns="0" tIns="0" rIns="0" rtlCol="0">
            <a:spAutoFit/>
          </a:bodyPr>
          <a:lstStyle/>
          <a:p>
            <a:pPr>
              <a:lnSpc>
                <a:spcPts val="3900"/>
              </a:lnSpc>
              <a:tabLst/>
            </a:pPr>
            <a:r>
              <a:rPr lang="en-US" altLang="zh-CN" sz="2802" b="1" dirty="0" smtClean="0">
                <a:solidFill>
                  <a:srgbClr val="000000"/>
                </a:solidFill>
                <a:latin typeface="Times New Roman" pitchFamily="18" charset="0"/>
                <a:cs typeface="Times New Roman" pitchFamily="18" charset="0"/>
              </a:rPr>
              <a:t>Para</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otros</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thresholds,usar</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un</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supervisor</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de</a:t>
            </a:r>
          </a:p>
          <a:p>
            <a:pPr>
              <a:lnSpc>
                <a:spcPts val="3300"/>
              </a:lnSpc>
              <a:tabLst/>
            </a:pPr>
            <a:r>
              <a:rPr lang="en-US" altLang="zh-CN" sz="2802" b="1" dirty="0" smtClean="0">
                <a:solidFill>
                  <a:srgbClr val="000000"/>
                </a:solidFill>
                <a:latin typeface="Times New Roman" pitchFamily="18" charset="0"/>
                <a:cs typeface="Times New Roman" pitchFamily="18" charset="0"/>
              </a:rPr>
              <a:t>CPU</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externo</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(MCP1xx,</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MCP8xx/TCM8xx,</a:t>
            </a:r>
            <a:r>
              <a:rPr lang="en-US" altLang="zh-CN" sz="2802" dirty="0" smtClean="0">
                <a:latin typeface="Times New Roman" pitchFamily="18" charset="0"/>
                <a:cs typeface="Times New Roman" pitchFamily="18" charset="0"/>
              </a:rPr>
              <a:t> </a:t>
            </a:r>
            <a:r>
              <a:rPr lang="en-US" altLang="zh-CN" sz="2802" b="1" dirty="0" smtClean="0">
                <a:solidFill>
                  <a:srgbClr val="000000"/>
                </a:solidFill>
                <a:latin typeface="Times New Roman" pitchFamily="18" charset="0"/>
                <a:cs typeface="Times New Roman" pitchFamily="18" charset="0"/>
              </a:rPr>
              <a:t>or</a:t>
            </a:r>
          </a:p>
          <a:p>
            <a:pPr>
              <a:lnSpc>
                <a:spcPts val="3300"/>
              </a:lnSpc>
              <a:tabLst/>
            </a:pPr>
            <a:r>
              <a:rPr lang="en-US" altLang="zh-CN" sz="2802" b="1" dirty="0" smtClean="0">
                <a:solidFill>
                  <a:srgbClr val="000000"/>
                </a:solidFill>
                <a:latin typeface="Times New Roman" pitchFamily="18" charset="0"/>
                <a:cs typeface="Times New Roman" pitchFamily="18" charset="0"/>
              </a:rPr>
              <a:t>TC12xx)</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349500" y="584200"/>
            <a:ext cx="7137400" cy="774700"/>
          </a:xfrm>
          <a:prstGeom prst="rect">
            <a:avLst/>
          </a:prstGeom>
          <a:noFill/>
        </p:spPr>
        <p:txBody>
          <a:bodyPr wrap="none" lIns="0" tIns="0" rIns="0" rtlCol="0">
            <a:spAutoFit/>
          </a:bodyPr>
          <a:lstStyle/>
          <a:p>
            <a:pPr>
              <a:lnSpc>
                <a:spcPts val="6100"/>
              </a:lnSpc>
              <a:tabLst/>
            </a:pPr>
            <a:r>
              <a:rPr lang="en-US" altLang="zh-CN" sz="4397" b="1" dirty="0" smtClean="0">
                <a:solidFill>
                  <a:srgbClr val="000000"/>
                </a:solidFill>
                <a:latin typeface="Times New Roman" pitchFamily="18" charset="0"/>
                <a:cs typeface="Times New Roman" pitchFamily="18" charset="0"/>
              </a:rPr>
              <a:t>(P)BOR</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Brown</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Out</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Reset</a:t>
            </a:r>
          </a:p>
        </p:txBody>
      </p:sp>
      <p:sp>
        <p:nvSpPr>
          <p:cNvPr id="4" name="TextBox 1"/>
          <p:cNvSpPr txBox="1"/>
          <p:nvPr/>
        </p:nvSpPr>
        <p:spPr>
          <a:xfrm>
            <a:off x="1549400" y="1587500"/>
            <a:ext cx="7759700" cy="558800"/>
          </a:xfrm>
          <a:prstGeom prst="rect">
            <a:avLst/>
          </a:prstGeom>
          <a:noFill/>
        </p:spPr>
        <p:txBody>
          <a:bodyPr wrap="none" lIns="0" tIns="0" rIns="0" rtlCol="0">
            <a:spAutoFit/>
          </a:bodyPr>
          <a:lstStyle/>
          <a:p>
            <a:pPr>
              <a:lnSpc>
                <a:spcPts val="2700"/>
              </a:lnSpc>
              <a:tabLst/>
            </a:pPr>
            <a:r>
              <a:rPr lang="en-US" altLang="zh-CN" sz="1800" b="1" dirty="0" smtClean="0">
                <a:solidFill>
                  <a:srgbClr val="000000"/>
                </a:solidFill>
                <a:latin typeface="Times New Roman" pitchFamily="18" charset="0"/>
                <a:cs typeface="Times New Roman" pitchFamily="18" charset="0"/>
              </a:rPr>
              <a:t>Mantiene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al</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PIC</a:t>
            </a:r>
            <a:r>
              <a:rPr lang="en-US" altLang="zh-CN" sz="1200" b="1" dirty="0" smtClean="0">
                <a:solidFill>
                  <a:srgbClr val="000000"/>
                </a:solidFill>
                <a:latin typeface="Times New Roman" pitchFamily="18" charset="0"/>
                <a:cs typeface="Times New Roman" pitchFamily="18" charset="0"/>
              </a:rPr>
              <a:t>®</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MCU</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en</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reset</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hasta</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~72ms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despues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que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V</a:t>
            </a:r>
            <a:r>
              <a:rPr lang="en-US" altLang="zh-CN" sz="1200" b="1" dirty="0" smtClean="0">
                <a:solidFill>
                  <a:srgbClr val="000000"/>
                </a:solidFill>
                <a:latin typeface="Times New Roman" pitchFamily="18" charset="0"/>
                <a:cs typeface="Times New Roman" pitchFamily="18" charset="0"/>
              </a:rPr>
              <a:t>DD</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subió</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por</a:t>
            </a:r>
          </a:p>
          <a:p>
            <a:pPr>
              <a:lnSpc>
                <a:spcPts val="1700"/>
              </a:lnSpc>
              <a:tabLst/>
            </a:pPr>
            <a:r>
              <a:rPr lang="en-US" altLang="zh-CN" sz="1800" b="1" dirty="0" smtClean="0">
                <a:solidFill>
                  <a:srgbClr val="000000"/>
                </a:solidFill>
                <a:latin typeface="Times New Roman" pitchFamily="18" charset="0"/>
                <a:cs typeface="Times New Roman" pitchFamily="18" charset="0"/>
              </a:rPr>
              <a:t>encima</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delvalor</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threshold</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1549400" y="1955800"/>
            <a:ext cx="1841500" cy="520700"/>
          </a:xfrm>
          <a:prstGeom prst="rect">
            <a:avLst/>
          </a:prstGeom>
          <a:noFill/>
        </p:spPr>
        <p:txBody>
          <a:bodyPr wrap="none" lIns="0" tIns="0" rIns="0" rtlCol="0">
            <a:spAutoFit/>
          </a:bodyPr>
          <a:lstStyle/>
          <a:p>
            <a:pPr>
              <a:lnSpc>
                <a:spcPts val="4100"/>
              </a:lnSpc>
              <a:tabLst/>
            </a:pPr>
            <a:r>
              <a:rPr lang="en-US" altLang="zh-CN" sz="3000" b="1" dirty="0" smtClean="0">
                <a:solidFill>
                  <a:srgbClr val="000000"/>
                </a:solidFill>
                <a:latin typeface="Times New Roman" pitchFamily="18" charset="0"/>
                <a:cs typeface="Times New Roman" pitchFamily="18" charset="0"/>
              </a:rPr>
              <a:t>brown</a:t>
            </a:r>
            <a:r>
              <a:rPr lang="en-US" altLang="zh-CN" sz="3000" dirty="0" smtClean="0">
                <a:latin typeface="Times New Roman" pitchFamily="18" charset="0"/>
                <a:cs typeface="Times New Roman" pitchFamily="18" charset="0"/>
              </a:rPr>
              <a:t> </a:t>
            </a:r>
            <a:r>
              <a:rPr lang="en-US" altLang="zh-CN" sz="3000" b="1" dirty="0" smtClean="0">
                <a:solidFill>
                  <a:srgbClr val="000000"/>
                </a:solidFill>
                <a:latin typeface="Times New Roman" pitchFamily="18" charset="0"/>
                <a:cs typeface="Times New Roman" pitchFamily="18" charset="0"/>
              </a:rPr>
              <a:t>out</a:t>
            </a:r>
          </a:p>
        </p:txBody>
      </p:sp>
      <p:sp>
        <p:nvSpPr>
          <p:cNvPr id="4" name="TextBox 1"/>
          <p:cNvSpPr txBox="1"/>
          <p:nvPr/>
        </p:nvSpPr>
        <p:spPr>
          <a:xfrm>
            <a:off x="1549400" y="419100"/>
            <a:ext cx="7645400" cy="3225800"/>
          </a:xfrm>
          <a:prstGeom prst="rect">
            <a:avLst/>
          </a:prstGeom>
          <a:noFill/>
        </p:spPr>
        <p:txBody>
          <a:bodyPr wrap="none" lIns="0" tIns="0" rIns="0" rtlCol="0">
            <a:spAutoFit/>
          </a:bodyPr>
          <a:lstStyle/>
          <a:p>
            <a:pPr>
              <a:lnSpc>
                <a:spcPts val="6100"/>
              </a:lnSpc>
              <a:tabLst>
                <a:tab pos="1092200" algn="l"/>
                <a:tab pos="1663700" algn="l"/>
                <a:tab pos="6108700" algn="l"/>
              </a:tabLst>
            </a:pPr>
            <a:r>
              <a:rPr lang="en-US" altLang="zh-CN" dirty="0" smtClean="0"/>
              <a:t>	</a:t>
            </a:r>
            <a:r>
              <a:rPr lang="en-US" altLang="zh-CN" sz="4397" b="1" dirty="0" smtClean="0">
                <a:solidFill>
                  <a:srgbClr val="000000"/>
                </a:solidFill>
                <a:latin typeface="Times New Roman" pitchFamily="18" charset="0"/>
                <a:cs typeface="Times New Roman" pitchFamily="18" charset="0"/>
              </a:rPr>
              <a:t>PLVD</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Detector</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de</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Bajo</a:t>
            </a:r>
          </a:p>
          <a:p>
            <a:pPr>
              <a:lnSpc>
                <a:spcPts val="3900"/>
              </a:lnSpc>
              <a:tabLst>
                <a:tab pos="1092200" algn="l"/>
                <a:tab pos="1663700" algn="l"/>
                <a:tab pos="6108700" algn="l"/>
              </a:tabLst>
            </a:pPr>
            <a:r>
              <a:rPr lang="en-US" altLang="zh-CN" dirty="0" smtClean="0"/>
              <a:t>		</a:t>
            </a:r>
            <a:r>
              <a:rPr lang="en-US" altLang="zh-CN" sz="4397" b="1" dirty="0" smtClean="0">
                <a:solidFill>
                  <a:srgbClr val="000000"/>
                </a:solidFill>
                <a:latin typeface="Times New Roman" pitchFamily="18" charset="0"/>
                <a:cs typeface="Times New Roman" pitchFamily="18" charset="0"/>
              </a:rPr>
              <a:t>Voltaje</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Programable</a:t>
            </a:r>
          </a:p>
          <a:p>
            <a:pPr>
              <a:lnSpc>
                <a:spcPts val="3400"/>
              </a:lnSpc>
              <a:tabLst>
                <a:tab pos="1092200" algn="l"/>
                <a:tab pos="1663700" algn="l"/>
                <a:tab pos="6108700" algn="l"/>
              </a:tabLst>
            </a:pPr>
            <a:r>
              <a:rPr lang="en-US" altLang="zh-CN" sz="3000" b="1" dirty="0" smtClean="0">
                <a:solidFill>
                  <a:srgbClr val="000000"/>
                </a:solidFill>
                <a:latin typeface="Times New Roman" pitchFamily="18" charset="0"/>
                <a:cs typeface="Times New Roman" pitchFamily="18" charset="0"/>
              </a:rPr>
              <a:t>Es</a:t>
            </a:r>
            <a:r>
              <a:rPr lang="en-US" altLang="zh-CN" sz="3000" dirty="0" smtClean="0">
                <a:latin typeface="Times New Roman" pitchFamily="18" charset="0"/>
                <a:cs typeface="Times New Roman" pitchFamily="18" charset="0"/>
              </a:rPr>
              <a:t> </a:t>
            </a:r>
            <a:r>
              <a:rPr lang="en-US" altLang="zh-CN" sz="3000" b="1" dirty="0" smtClean="0">
                <a:solidFill>
                  <a:srgbClr val="000000"/>
                </a:solidFill>
                <a:latin typeface="Times New Roman" pitchFamily="18" charset="0"/>
                <a:cs typeface="Times New Roman" pitchFamily="18" charset="0"/>
              </a:rPr>
              <a:t>mejor</a:t>
            </a:r>
            <a:r>
              <a:rPr lang="en-US" altLang="zh-CN" sz="3000" dirty="0" smtClean="0">
                <a:latin typeface="Times New Roman" pitchFamily="18" charset="0"/>
                <a:cs typeface="Times New Roman" pitchFamily="18" charset="0"/>
              </a:rPr>
              <a:t> </a:t>
            </a:r>
            <a:r>
              <a:rPr lang="en-US" altLang="zh-CN" sz="3000" b="1" dirty="0" smtClean="0">
                <a:solidFill>
                  <a:srgbClr val="000000"/>
                </a:solidFill>
                <a:latin typeface="Times New Roman" pitchFamily="18" charset="0"/>
                <a:cs typeface="Times New Roman" pitchFamily="18" charset="0"/>
              </a:rPr>
              <a:t>que</a:t>
            </a:r>
            <a:r>
              <a:rPr lang="en-US" altLang="zh-CN" sz="3000" dirty="0" smtClean="0">
                <a:latin typeface="Times New Roman" pitchFamily="18" charset="0"/>
                <a:cs typeface="Times New Roman" pitchFamily="18" charset="0"/>
              </a:rPr>
              <a:t> </a:t>
            </a:r>
            <a:r>
              <a:rPr lang="en-US" altLang="zh-CN" sz="3000" b="1" dirty="0" smtClean="0">
                <a:solidFill>
                  <a:srgbClr val="000000"/>
                </a:solidFill>
                <a:latin typeface="Times New Roman" pitchFamily="18" charset="0"/>
                <a:cs typeface="Times New Roman" pitchFamily="18" charset="0"/>
              </a:rPr>
              <a:t>un</a:t>
            </a:r>
            <a:r>
              <a:rPr lang="en-US" altLang="zh-CN" sz="1410" dirty="0" smtClean="0">
                <a:latin typeface="Times New Roman" pitchFamily="18" charset="0"/>
                <a:cs typeface="Times New Roman" pitchFamily="18" charset="0"/>
              </a:rPr>
              <a:t>                                     </a:t>
            </a:r>
            <a:r>
              <a:rPr lang="en-US" altLang="zh-CN" sz="1410" b="1" dirty="0" smtClean="0">
                <a:solidFill>
                  <a:srgbClr val="000000"/>
                </a:solidFill>
                <a:latin typeface="Times New Roman" pitchFamily="18" charset="0"/>
                <a:cs typeface="Times New Roman" pitchFamily="18" charset="0"/>
              </a:rPr>
              <a:t>V</a:t>
            </a:r>
            <a:r>
              <a:rPr lang="en-US" altLang="zh-CN" sz="918" b="1" dirty="0" smtClean="0">
                <a:solidFill>
                  <a:srgbClr val="000000"/>
                </a:solidFill>
                <a:latin typeface="Times New Roman" pitchFamily="18" charset="0"/>
                <a:cs typeface="Times New Roman" pitchFamily="18" charset="0"/>
              </a:rPr>
              <a:t>DD</a:t>
            </a:r>
            <a:r>
              <a:rPr lang="en-US" altLang="zh-CN" sz="1410" dirty="0" smtClean="0">
                <a:latin typeface="Times New Roman" pitchFamily="18" charset="0"/>
                <a:cs typeface="Times New Roman" pitchFamily="18" charset="0"/>
              </a:rPr>
              <a:t>   </a:t>
            </a:r>
            <a:r>
              <a:rPr lang="en-US" altLang="zh-CN" sz="1410" b="1" dirty="0" smtClean="0">
                <a:solidFill>
                  <a:srgbClr val="000000"/>
                </a:solidFill>
                <a:latin typeface="Times New Roman" pitchFamily="18" charset="0"/>
                <a:cs typeface="Times New Roman" pitchFamily="18" charset="0"/>
              </a:rPr>
              <a:t>LVDIN</a:t>
            </a:r>
          </a:p>
          <a:p>
            <a:pPr>
              <a:lnSpc>
                <a:spcPts val="1600"/>
              </a:lnSpc>
              <a:tabLst>
                <a:tab pos="1092200" algn="l"/>
                <a:tab pos="1663700" algn="l"/>
                <a:tab pos="6108700" algn="l"/>
              </a:tabLst>
            </a:pPr>
            <a:r>
              <a:rPr lang="en-US" altLang="zh-CN" dirty="0" smtClean="0"/>
              <a:t>			</a:t>
            </a:r>
            <a:r>
              <a:rPr lang="en-US" altLang="zh-CN" sz="1410" b="1" dirty="0" smtClean="0">
                <a:solidFill>
                  <a:srgbClr val="000000"/>
                </a:solidFill>
                <a:latin typeface="Times New Roman" pitchFamily="18" charset="0"/>
                <a:cs typeface="Times New Roman" pitchFamily="18" charset="0"/>
              </a:rPr>
              <a:t>LVDCON</a:t>
            </a:r>
          </a:p>
          <a:p>
            <a:pPr>
              <a:lnSpc>
                <a:spcPts val="1000"/>
              </a:lnSpc>
            </a:pPr>
            <a:endParaRPr lang="en-US" altLang="zh-CN" dirty="0" smtClean="0"/>
          </a:p>
          <a:p>
            <a:pPr>
              <a:lnSpc>
                <a:spcPts val="1000"/>
              </a:lnSpc>
            </a:pPr>
            <a:endParaRPr lang="en-US" altLang="zh-CN" dirty="0" smtClean="0"/>
          </a:p>
          <a:p>
            <a:pPr>
              <a:lnSpc>
                <a:spcPts val="4500"/>
              </a:lnSpc>
              <a:tabLst>
                <a:tab pos="1092200" algn="l"/>
                <a:tab pos="1663700" algn="l"/>
                <a:tab pos="6108700" algn="l"/>
              </a:tabLst>
            </a:pPr>
            <a:r>
              <a:rPr lang="en-US" altLang="zh-CN" sz="3000" b="1" dirty="0" smtClean="0">
                <a:solidFill>
                  <a:srgbClr val="000000"/>
                </a:solidFill>
                <a:latin typeface="Times New Roman" pitchFamily="18" charset="0"/>
                <a:cs typeface="Times New Roman" pitchFamily="18" charset="0"/>
              </a:rPr>
              <a:t>16</a:t>
            </a:r>
            <a:r>
              <a:rPr lang="en-US" altLang="zh-CN" sz="3000" dirty="0" smtClean="0">
                <a:latin typeface="Times New Roman" pitchFamily="18" charset="0"/>
                <a:cs typeface="Times New Roman" pitchFamily="18" charset="0"/>
              </a:rPr>
              <a:t> </a:t>
            </a:r>
            <a:r>
              <a:rPr lang="en-US" altLang="zh-CN" sz="3000" b="1" dirty="0" smtClean="0">
                <a:solidFill>
                  <a:srgbClr val="000000"/>
                </a:solidFill>
                <a:latin typeface="Times New Roman" pitchFamily="18" charset="0"/>
                <a:cs typeface="Times New Roman" pitchFamily="18" charset="0"/>
              </a:rPr>
              <a:t>puntos</a:t>
            </a:r>
          </a:p>
          <a:p>
            <a:pPr>
              <a:lnSpc>
                <a:spcPts val="3500"/>
              </a:lnSpc>
              <a:tabLst>
                <a:tab pos="1092200" algn="l"/>
                <a:tab pos="1663700" algn="l"/>
                <a:tab pos="6108700" algn="l"/>
              </a:tabLst>
            </a:pPr>
            <a:r>
              <a:rPr lang="en-US" altLang="zh-CN" sz="3000" b="1" dirty="0" smtClean="0">
                <a:solidFill>
                  <a:srgbClr val="000000"/>
                </a:solidFill>
                <a:latin typeface="Times New Roman" pitchFamily="18" charset="0"/>
                <a:cs typeface="Times New Roman" pitchFamily="18" charset="0"/>
              </a:rPr>
              <a:t>seleccionables:</a:t>
            </a:r>
          </a:p>
        </p:txBody>
      </p:sp>
      <p:sp>
        <p:nvSpPr>
          <p:cNvPr id="5" name="TextBox 1"/>
          <p:cNvSpPr txBox="1"/>
          <p:nvPr/>
        </p:nvSpPr>
        <p:spPr>
          <a:xfrm>
            <a:off x="1663700" y="3644900"/>
            <a:ext cx="2908300" cy="1320800"/>
          </a:xfrm>
          <a:prstGeom prst="rect">
            <a:avLst/>
          </a:prstGeom>
          <a:noFill/>
        </p:spPr>
        <p:txBody>
          <a:bodyPr wrap="none" lIns="0" tIns="0" rIns="0" rtlCol="0">
            <a:spAutoFit/>
          </a:bodyPr>
          <a:lstStyle/>
          <a:p>
            <a:pPr>
              <a:lnSpc>
                <a:spcPts val="3700"/>
              </a:lnSpc>
              <a:tabLst>
                <a:tab pos="457200" algn="l"/>
              </a:tabLst>
            </a:pPr>
            <a:r>
              <a:rPr lang="en-US" altLang="zh-CN" sz="2802" dirty="0" smtClean="0">
                <a:solidFill>
                  <a:srgbClr val="3365CC"/>
                </a:solidFill>
                <a:latin typeface="Symbol" pitchFamily="18" charset="0"/>
                <a:cs typeface="Symbol" pitchFamily="18" charset="0"/>
              </a:rPr>
              <a:t>−</a:t>
            </a:r>
            <a:r>
              <a:rPr lang="en-US" altLang="zh-CN" sz="2802" dirty="0" smtClean="0">
                <a:latin typeface="Times New Roman" pitchFamily="18" charset="0"/>
                <a:cs typeface="Times New Roman" pitchFamily="18" charset="0"/>
              </a:rPr>
              <a:t>   </a:t>
            </a:r>
            <a:r>
              <a:rPr lang="en-US" altLang="zh-CN" sz="2802" dirty="0" smtClean="0">
                <a:solidFill>
                  <a:srgbClr val="000000"/>
                </a:solidFill>
                <a:latin typeface="Times New Roman" pitchFamily="18" charset="0"/>
                <a:cs typeface="Times New Roman" pitchFamily="18" charset="0"/>
              </a:rPr>
              <a:t>1.8V</a:t>
            </a:r>
            <a:r>
              <a:rPr lang="en-US" altLang="zh-CN" sz="2802" dirty="0" smtClean="0">
                <a:latin typeface="Times New Roman" pitchFamily="18" charset="0"/>
                <a:cs typeface="Times New Roman" pitchFamily="18" charset="0"/>
              </a:rPr>
              <a:t> </a:t>
            </a:r>
            <a:r>
              <a:rPr lang="en-US" altLang="zh-CN" sz="2802" dirty="0" smtClean="0">
                <a:solidFill>
                  <a:srgbClr val="000000"/>
                </a:solidFill>
                <a:latin typeface="Times New Roman" pitchFamily="18" charset="0"/>
                <a:cs typeface="Times New Roman" pitchFamily="18" charset="0"/>
              </a:rPr>
              <a:t>up</a:t>
            </a:r>
            <a:r>
              <a:rPr lang="en-US" altLang="zh-CN" sz="2802" dirty="0" smtClean="0">
                <a:latin typeface="Times New Roman" pitchFamily="18" charset="0"/>
                <a:cs typeface="Times New Roman" pitchFamily="18" charset="0"/>
              </a:rPr>
              <a:t> </a:t>
            </a:r>
            <a:r>
              <a:rPr lang="en-US" altLang="zh-CN" sz="2802" dirty="0" smtClean="0">
                <a:solidFill>
                  <a:srgbClr val="000000"/>
                </a:solidFill>
                <a:latin typeface="Times New Roman" pitchFamily="18" charset="0"/>
                <a:cs typeface="Times New Roman" pitchFamily="18" charset="0"/>
              </a:rPr>
              <a:t>to</a:t>
            </a:r>
            <a:r>
              <a:rPr lang="en-US" altLang="zh-CN" sz="2802" dirty="0" smtClean="0">
                <a:latin typeface="Times New Roman" pitchFamily="18" charset="0"/>
                <a:cs typeface="Times New Roman" pitchFamily="18" charset="0"/>
              </a:rPr>
              <a:t> </a:t>
            </a:r>
            <a:r>
              <a:rPr lang="en-US" altLang="zh-CN" sz="2802" dirty="0" smtClean="0">
                <a:solidFill>
                  <a:srgbClr val="000000"/>
                </a:solidFill>
                <a:latin typeface="Times New Roman" pitchFamily="18" charset="0"/>
                <a:cs typeface="Times New Roman" pitchFamily="18" charset="0"/>
              </a:rPr>
              <a:t>4.5V</a:t>
            </a:r>
          </a:p>
          <a:p>
            <a:pPr>
              <a:lnSpc>
                <a:spcPts val="3300"/>
              </a:lnSpc>
              <a:tabLst>
                <a:tab pos="457200" algn="l"/>
              </a:tabLst>
            </a:pPr>
            <a:r>
              <a:rPr lang="en-US" altLang="zh-CN" dirty="0" smtClean="0"/>
              <a:t>	</a:t>
            </a:r>
            <a:r>
              <a:rPr lang="en-US" altLang="zh-CN" sz="2802" dirty="0" smtClean="0">
                <a:solidFill>
                  <a:srgbClr val="000000"/>
                </a:solidFill>
                <a:latin typeface="Times New Roman" pitchFamily="18" charset="0"/>
                <a:cs typeface="Times New Roman" pitchFamily="18" charset="0"/>
              </a:rPr>
              <a:t>in</a:t>
            </a:r>
            <a:r>
              <a:rPr lang="en-US" altLang="zh-CN" sz="2802" dirty="0" smtClean="0">
                <a:latin typeface="Times New Roman" pitchFamily="18" charset="0"/>
                <a:cs typeface="Times New Roman" pitchFamily="18" charset="0"/>
              </a:rPr>
              <a:t> </a:t>
            </a:r>
            <a:r>
              <a:rPr lang="en-US" altLang="zh-CN" sz="2802" dirty="0" smtClean="0">
                <a:solidFill>
                  <a:srgbClr val="000000"/>
                </a:solidFill>
                <a:latin typeface="Times New Roman" pitchFamily="18" charset="0"/>
                <a:cs typeface="Times New Roman" pitchFamily="18" charset="0"/>
              </a:rPr>
              <a:t>0.1</a:t>
            </a:r>
            <a:r>
              <a:rPr lang="en-US" altLang="zh-CN" sz="2802" dirty="0" smtClean="0">
                <a:latin typeface="Times New Roman" pitchFamily="18" charset="0"/>
                <a:cs typeface="Times New Roman" pitchFamily="18" charset="0"/>
              </a:rPr>
              <a:t> </a:t>
            </a:r>
            <a:r>
              <a:rPr lang="en-US" altLang="zh-CN" sz="2802" dirty="0" smtClean="0">
                <a:solidFill>
                  <a:srgbClr val="000000"/>
                </a:solidFill>
                <a:latin typeface="Times New Roman" pitchFamily="18" charset="0"/>
                <a:cs typeface="Times New Roman" pitchFamily="18" charset="0"/>
              </a:rPr>
              <a:t>to</a:t>
            </a:r>
            <a:r>
              <a:rPr lang="en-US" altLang="zh-CN" sz="2802" dirty="0" smtClean="0">
                <a:latin typeface="Times New Roman" pitchFamily="18" charset="0"/>
                <a:cs typeface="Times New Roman" pitchFamily="18" charset="0"/>
              </a:rPr>
              <a:t> </a:t>
            </a:r>
            <a:r>
              <a:rPr lang="en-US" altLang="zh-CN" sz="2802" dirty="0" smtClean="0">
                <a:solidFill>
                  <a:srgbClr val="000000"/>
                </a:solidFill>
                <a:latin typeface="Times New Roman" pitchFamily="18" charset="0"/>
                <a:cs typeface="Times New Roman" pitchFamily="18" charset="0"/>
              </a:rPr>
              <a:t>0.2V</a:t>
            </a:r>
          </a:p>
          <a:p>
            <a:pPr>
              <a:lnSpc>
                <a:spcPts val="3300"/>
              </a:lnSpc>
              <a:tabLst>
                <a:tab pos="457200" algn="l"/>
              </a:tabLst>
            </a:pPr>
            <a:r>
              <a:rPr lang="en-US" altLang="zh-CN" dirty="0" smtClean="0"/>
              <a:t>	</a:t>
            </a:r>
            <a:r>
              <a:rPr lang="en-US" altLang="zh-CN" sz="2802" dirty="0" smtClean="0">
                <a:solidFill>
                  <a:srgbClr val="000000"/>
                </a:solidFill>
                <a:latin typeface="Times New Roman" pitchFamily="18" charset="0"/>
                <a:cs typeface="Times New Roman" pitchFamily="18" charset="0"/>
              </a:rPr>
              <a:t>steps</a:t>
            </a:r>
          </a:p>
        </p:txBody>
      </p:sp>
      <p:sp>
        <p:nvSpPr>
          <p:cNvPr id="6" name="TextBox 1"/>
          <p:cNvSpPr txBox="1"/>
          <p:nvPr/>
        </p:nvSpPr>
        <p:spPr>
          <a:xfrm>
            <a:off x="9144000" y="3873500"/>
            <a:ext cx="508000" cy="241300"/>
          </a:xfrm>
          <a:prstGeom prst="rect">
            <a:avLst/>
          </a:prstGeom>
          <a:noFill/>
        </p:spPr>
        <p:txBody>
          <a:bodyPr wrap="none" lIns="0" tIns="0" rIns="0" rtlCol="0">
            <a:spAutoFit/>
          </a:bodyPr>
          <a:lstStyle/>
          <a:p>
            <a:pPr>
              <a:lnSpc>
                <a:spcPts val="1900"/>
              </a:lnSpc>
              <a:tabLst/>
            </a:pPr>
            <a:r>
              <a:rPr lang="en-US" altLang="zh-CN" sz="1410" b="1" dirty="0" smtClean="0">
                <a:solidFill>
                  <a:srgbClr val="000000"/>
                </a:solidFill>
                <a:latin typeface="Times New Roman" pitchFamily="18" charset="0"/>
                <a:cs typeface="Times New Roman" pitchFamily="18" charset="0"/>
              </a:rPr>
              <a:t>LVDIF</a:t>
            </a:r>
          </a:p>
        </p:txBody>
      </p:sp>
      <p:sp>
        <p:nvSpPr>
          <p:cNvPr id="8" name="TextBox 1"/>
          <p:cNvSpPr txBox="1"/>
          <p:nvPr/>
        </p:nvSpPr>
        <p:spPr>
          <a:xfrm>
            <a:off x="4724400" y="5892800"/>
            <a:ext cx="533400" cy="241300"/>
          </a:xfrm>
          <a:prstGeom prst="rect">
            <a:avLst/>
          </a:prstGeom>
          <a:noFill/>
        </p:spPr>
        <p:txBody>
          <a:bodyPr wrap="none" lIns="0" tIns="0" rIns="0" rtlCol="0">
            <a:spAutoFit/>
          </a:bodyPr>
          <a:lstStyle/>
          <a:p>
            <a:pPr>
              <a:lnSpc>
                <a:spcPts val="1900"/>
              </a:lnSpc>
              <a:tabLst/>
            </a:pPr>
            <a:r>
              <a:rPr lang="en-US" altLang="zh-CN" sz="1410" b="1" dirty="0" smtClean="0">
                <a:solidFill>
                  <a:srgbClr val="000000"/>
                </a:solidFill>
                <a:latin typeface="Times New Roman" pitchFamily="18" charset="0"/>
                <a:cs typeface="Times New Roman" pitchFamily="18" charset="0"/>
              </a:rPr>
              <a:t>LVDIN</a:t>
            </a:r>
          </a:p>
        </p:txBody>
      </p:sp>
      <p:sp>
        <p:nvSpPr>
          <p:cNvPr id="9" name="TextBox 1"/>
          <p:cNvSpPr txBox="1"/>
          <p:nvPr/>
        </p:nvSpPr>
        <p:spPr>
          <a:xfrm>
            <a:off x="7696200" y="5626100"/>
            <a:ext cx="342900" cy="241300"/>
          </a:xfrm>
          <a:prstGeom prst="rect">
            <a:avLst/>
          </a:prstGeom>
          <a:noFill/>
        </p:spPr>
        <p:txBody>
          <a:bodyPr wrap="none" lIns="0" tIns="0" rIns="0" rtlCol="0">
            <a:spAutoFit/>
          </a:bodyPr>
          <a:lstStyle/>
          <a:p>
            <a:pPr>
              <a:lnSpc>
                <a:spcPts val="1900"/>
              </a:lnSpc>
              <a:tabLst/>
            </a:pPr>
            <a:r>
              <a:rPr lang="en-US" altLang="zh-CN" sz="1410" b="1" dirty="0" smtClean="0">
                <a:solidFill>
                  <a:srgbClr val="000000"/>
                </a:solidFill>
                <a:latin typeface="Times New Roman" pitchFamily="18" charset="0"/>
                <a:cs typeface="Times New Roman" pitchFamily="18" charset="0"/>
              </a:rPr>
              <a:t>V</a:t>
            </a:r>
            <a:r>
              <a:rPr lang="en-US" altLang="zh-CN" sz="918" b="1" dirty="0" smtClean="0">
                <a:solidFill>
                  <a:srgbClr val="000000"/>
                </a:solidFill>
                <a:latin typeface="Times New Roman" pitchFamily="18" charset="0"/>
                <a:cs typeface="Times New Roman" pitchFamily="18" charset="0"/>
              </a:rPr>
              <a:t>REF</a:t>
            </a:r>
          </a:p>
        </p:txBody>
      </p:sp>
      <p:sp>
        <p:nvSpPr>
          <p:cNvPr id="10" name="TextBox 1"/>
          <p:cNvSpPr txBox="1"/>
          <p:nvPr/>
        </p:nvSpPr>
        <p:spPr>
          <a:xfrm>
            <a:off x="1651000" y="5054600"/>
            <a:ext cx="2933700" cy="1498600"/>
          </a:xfrm>
          <a:prstGeom prst="rect">
            <a:avLst/>
          </a:prstGeom>
          <a:noFill/>
        </p:spPr>
        <p:txBody>
          <a:bodyPr wrap="none" lIns="0" tIns="0" rIns="0" rtlCol="0">
            <a:spAutoFit/>
          </a:bodyPr>
          <a:lstStyle/>
          <a:p>
            <a:pPr>
              <a:lnSpc>
                <a:spcPts val="3700"/>
              </a:lnSpc>
              <a:tabLst>
                <a:tab pos="469900" algn="l"/>
              </a:tabLst>
            </a:pPr>
            <a:r>
              <a:rPr lang="en-US" altLang="zh-CN" sz="2802" dirty="0" smtClean="0">
                <a:solidFill>
                  <a:srgbClr val="3365CC"/>
                </a:solidFill>
                <a:latin typeface="Symbol" pitchFamily="18" charset="0"/>
                <a:cs typeface="Symbol" pitchFamily="18" charset="0"/>
              </a:rPr>
              <a:t>−</a:t>
            </a:r>
            <a:r>
              <a:rPr lang="en-US" altLang="zh-CN" sz="2802" dirty="0" smtClean="0">
                <a:latin typeface="Times New Roman" pitchFamily="18" charset="0"/>
                <a:cs typeface="Times New Roman" pitchFamily="18" charset="0"/>
              </a:rPr>
              <a:t>   </a:t>
            </a:r>
            <a:r>
              <a:rPr lang="en-US" altLang="zh-CN" sz="2802" dirty="0" smtClean="0">
                <a:solidFill>
                  <a:srgbClr val="000000"/>
                </a:solidFill>
                <a:latin typeface="Times New Roman" pitchFamily="18" charset="0"/>
                <a:cs typeface="Times New Roman" pitchFamily="18" charset="0"/>
              </a:rPr>
              <a:t>External</a:t>
            </a:r>
            <a:r>
              <a:rPr lang="en-US" altLang="zh-CN" sz="2802" dirty="0" smtClean="0">
                <a:latin typeface="Times New Roman" pitchFamily="18" charset="0"/>
                <a:cs typeface="Times New Roman" pitchFamily="18" charset="0"/>
              </a:rPr>
              <a:t> </a:t>
            </a:r>
            <a:r>
              <a:rPr lang="en-US" altLang="zh-CN" sz="2802" dirty="0" smtClean="0">
                <a:solidFill>
                  <a:srgbClr val="000000"/>
                </a:solidFill>
                <a:latin typeface="Times New Roman" pitchFamily="18" charset="0"/>
                <a:cs typeface="Times New Roman" pitchFamily="18" charset="0"/>
              </a:rPr>
              <a:t>analog</a:t>
            </a:r>
          </a:p>
          <a:p>
            <a:pPr>
              <a:lnSpc>
                <a:spcPts val="3300"/>
              </a:lnSpc>
              <a:tabLst>
                <a:tab pos="469900" algn="l"/>
              </a:tabLst>
            </a:pPr>
            <a:r>
              <a:rPr lang="en-US" altLang="zh-CN" dirty="0" smtClean="0"/>
              <a:t>	</a:t>
            </a:r>
            <a:r>
              <a:rPr lang="en-US" altLang="zh-CN" sz="2802" dirty="0" smtClean="0">
                <a:solidFill>
                  <a:srgbClr val="000000"/>
                </a:solidFill>
                <a:latin typeface="Times New Roman" pitchFamily="18" charset="0"/>
                <a:cs typeface="Times New Roman" pitchFamily="18" charset="0"/>
              </a:rPr>
              <a:t>input</a:t>
            </a:r>
          </a:p>
          <a:p>
            <a:pPr>
              <a:lnSpc>
                <a:spcPts val="1000"/>
              </a:lnSpc>
            </a:pPr>
            <a:endParaRPr lang="en-US" altLang="zh-CN" dirty="0" smtClean="0"/>
          </a:p>
          <a:p>
            <a:pPr>
              <a:lnSpc>
                <a:spcPts val="3700"/>
              </a:lnSpc>
              <a:tabLst>
                <a:tab pos="469900" algn="l"/>
              </a:tabLst>
            </a:pPr>
            <a:r>
              <a:rPr lang="en-US" altLang="zh-CN" sz="1997" b="1" dirty="0" smtClean="0">
                <a:solidFill>
                  <a:srgbClr val="000000"/>
                </a:solidFill>
                <a:latin typeface="Times New Roman" pitchFamily="18" charset="0"/>
                <a:cs typeface="Times New Roman" pitchFamily="18" charset="0"/>
              </a:rPr>
              <a:t>conectado</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al</a:t>
            </a:r>
            <a:r>
              <a:rPr lang="en-US" altLang="zh-CN" sz="1997" dirty="0" smtClean="0">
                <a:latin typeface="Times New Roman" pitchFamily="18" charset="0"/>
                <a:cs typeface="Times New Roman" pitchFamily="18" charset="0"/>
              </a:rPr>
              <a:t> </a:t>
            </a:r>
            <a:r>
              <a:rPr lang="en-US" altLang="zh-CN" sz="1997" b="1" dirty="0" smtClean="0">
                <a:solidFill>
                  <a:srgbClr val="000000"/>
                </a:solidFill>
                <a:latin typeface="Times New Roman" pitchFamily="18" charset="0"/>
                <a:cs typeface="Times New Roman" pitchFamily="18" charset="0"/>
              </a:rPr>
              <a:t>V</a:t>
            </a:r>
            <a:r>
              <a:rPr lang="en-US" altLang="zh-CN" sz="1331" b="1" dirty="0" smtClean="0">
                <a:solidFill>
                  <a:srgbClr val="000000"/>
                </a:solidFill>
                <a:latin typeface="Times New Roman" pitchFamily="18" charset="0"/>
                <a:cs typeface="Times New Roman" pitchFamily="18" charset="0"/>
              </a:rPr>
              <a:t>REF</a:t>
            </a:r>
            <a:r>
              <a:rPr lang="en-US" altLang="zh-CN" sz="1331" dirty="0" smtClean="0">
                <a:latin typeface="Times New Roman" pitchFamily="18" charset="0"/>
                <a:cs typeface="Times New Roman" pitchFamily="18" charset="0"/>
              </a:rPr>
              <a:t> </a:t>
            </a:r>
            <a:r>
              <a:rPr lang="en-US" altLang="zh-CN" sz="1331" b="1" dirty="0" smtClean="0">
                <a:solidFill>
                  <a:srgbClr val="000000"/>
                </a:solidFill>
                <a:latin typeface="Times New Roman" pitchFamily="18" charset="0"/>
                <a:cs typeface="Times New Roman" pitchFamily="18" charset="0"/>
              </a:rPr>
              <a:t>Interno</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870200" y="342900"/>
            <a:ext cx="6083300" cy="1270000"/>
          </a:xfrm>
          <a:prstGeom prst="rect">
            <a:avLst/>
          </a:prstGeom>
          <a:noFill/>
        </p:spPr>
        <p:txBody>
          <a:bodyPr wrap="none" lIns="0" tIns="0" rIns="0" rtlCol="0">
            <a:spAutoFit/>
          </a:bodyPr>
          <a:lstStyle/>
          <a:p>
            <a:pPr>
              <a:lnSpc>
                <a:spcPts val="6100"/>
              </a:lnSpc>
              <a:tabLst>
                <a:tab pos="977900" algn="l"/>
              </a:tabLst>
            </a:pPr>
            <a:r>
              <a:rPr lang="en-US" altLang="zh-CN" sz="4397" b="1" dirty="0" smtClean="0">
                <a:solidFill>
                  <a:srgbClr val="000000"/>
                </a:solidFill>
                <a:latin typeface="Times New Roman" pitchFamily="18" charset="0"/>
                <a:cs typeface="Times New Roman" pitchFamily="18" charset="0"/>
              </a:rPr>
              <a:t>Programación</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Serie</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en</a:t>
            </a:r>
          </a:p>
          <a:p>
            <a:pPr>
              <a:lnSpc>
                <a:spcPts val="3900"/>
              </a:lnSpc>
              <a:tabLst>
                <a:tab pos="977900" algn="l"/>
              </a:tabLst>
            </a:pPr>
            <a:r>
              <a:rPr lang="en-US" altLang="zh-CN" dirty="0" smtClean="0"/>
              <a:t>	</a:t>
            </a:r>
            <a:r>
              <a:rPr lang="en-US" altLang="zh-CN" sz="4397" b="1" dirty="0" smtClean="0">
                <a:solidFill>
                  <a:srgbClr val="000000"/>
                </a:solidFill>
                <a:latin typeface="Times New Roman" pitchFamily="18" charset="0"/>
                <a:cs typeface="Times New Roman" pitchFamily="18" charset="0"/>
              </a:rPr>
              <a:t>Circuito</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ICSP™</a:t>
            </a:r>
          </a:p>
        </p:txBody>
      </p:sp>
      <p:sp>
        <p:nvSpPr>
          <p:cNvPr id="4" name="TextBox 1"/>
          <p:cNvSpPr txBox="1"/>
          <p:nvPr/>
        </p:nvSpPr>
        <p:spPr>
          <a:xfrm>
            <a:off x="1549400" y="1765300"/>
            <a:ext cx="4406900" cy="1193800"/>
          </a:xfrm>
          <a:prstGeom prst="rect">
            <a:avLst/>
          </a:prstGeom>
          <a:noFill/>
        </p:spPr>
        <p:txBody>
          <a:bodyPr wrap="none" lIns="0" tIns="0" rIns="0" rtlCol="0">
            <a:spAutoFit/>
          </a:bodyPr>
          <a:lstStyle/>
          <a:p>
            <a:pPr>
              <a:lnSpc>
                <a:spcPts val="2600"/>
              </a:lnSpc>
              <a:tabLst/>
            </a:pPr>
            <a:r>
              <a:rPr lang="en-US" altLang="zh-CN" sz="1902" b="1" dirty="0" smtClean="0">
                <a:solidFill>
                  <a:srgbClr val="000000"/>
                </a:solidFill>
                <a:latin typeface="Times New Roman" pitchFamily="18" charset="0"/>
                <a:cs typeface="Times New Roman" pitchFamily="18" charset="0"/>
              </a:rPr>
              <a:t>Solo</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requiere</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2</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pines</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para</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ser</a:t>
            </a:r>
          </a:p>
          <a:p>
            <a:pPr>
              <a:lnSpc>
                <a:spcPts val="2000"/>
              </a:lnSpc>
              <a:tabLst/>
            </a:pPr>
            <a:r>
              <a:rPr lang="en-US" altLang="zh-CN" sz="1902" b="1" dirty="0" smtClean="0">
                <a:solidFill>
                  <a:srgbClr val="000000"/>
                </a:solidFill>
                <a:latin typeface="Times New Roman" pitchFamily="18" charset="0"/>
                <a:cs typeface="Times New Roman" pitchFamily="18" charset="0"/>
              </a:rPr>
              <a:t>programado</a:t>
            </a:r>
          </a:p>
          <a:p>
            <a:pPr>
              <a:lnSpc>
                <a:spcPts val="2700"/>
              </a:lnSpc>
              <a:tabLst/>
            </a:pPr>
            <a:r>
              <a:rPr lang="en-US" altLang="zh-CN" sz="1902" b="1" dirty="0" smtClean="0">
                <a:solidFill>
                  <a:srgbClr val="000000"/>
                </a:solidFill>
                <a:latin typeface="Times New Roman" pitchFamily="18" charset="0"/>
                <a:cs typeface="Times New Roman" pitchFamily="18" charset="0"/>
              </a:rPr>
              <a:t>Conveniente</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para</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hacer</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programación</a:t>
            </a:r>
          </a:p>
          <a:p>
            <a:pPr>
              <a:lnSpc>
                <a:spcPts val="2000"/>
              </a:lnSpc>
              <a:tabLst/>
            </a:pPr>
            <a:r>
              <a:rPr lang="en-US" altLang="zh-CN" sz="1902" b="1" dirty="0" smtClean="0">
                <a:solidFill>
                  <a:srgbClr val="000000"/>
                </a:solidFill>
                <a:latin typeface="Times New Roman" pitchFamily="18" charset="0"/>
                <a:cs typeface="Times New Roman" pitchFamily="18" charset="0"/>
              </a:rPr>
              <a:t>en</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sistemas</a:t>
            </a:r>
          </a:p>
        </p:txBody>
      </p:sp>
      <p:sp>
        <p:nvSpPr>
          <p:cNvPr id="5" name="TextBox 1"/>
          <p:cNvSpPr txBox="1"/>
          <p:nvPr/>
        </p:nvSpPr>
        <p:spPr>
          <a:xfrm>
            <a:off x="6324600" y="1701800"/>
            <a:ext cx="342900" cy="1244600"/>
          </a:xfrm>
          <a:prstGeom prst="rect">
            <a:avLst/>
          </a:prstGeom>
          <a:noFill/>
        </p:spPr>
        <p:txBody>
          <a:bodyPr wrap="none" lIns="0" tIns="0" rIns="0" rtlCol="0">
            <a:spAutoFit/>
          </a:bodyPr>
          <a:lstStyle/>
          <a:p>
            <a:pPr>
              <a:lnSpc>
                <a:spcPts val="1900"/>
              </a:lnSpc>
              <a:tabLst>
                <a:tab pos="25400" algn="l"/>
                <a:tab pos="38100" algn="l"/>
              </a:tabLst>
            </a:pPr>
            <a:r>
              <a:rPr lang="en-US" altLang="zh-CN" dirty="0" smtClean="0"/>
              <a:t>		</a:t>
            </a:r>
            <a:r>
              <a:rPr lang="en-US" altLang="zh-CN" sz="1397" b="1" dirty="0" smtClean="0">
                <a:solidFill>
                  <a:srgbClr val="FFFFFF"/>
                </a:solidFill>
                <a:latin typeface="Times New Roman" pitchFamily="18" charset="0"/>
                <a:cs typeface="Times New Roman" pitchFamily="18" charset="0"/>
              </a:rPr>
              <a:t>Pin</a:t>
            </a:r>
          </a:p>
          <a:p>
            <a:pPr>
              <a:lnSpc>
                <a:spcPts val="2100"/>
              </a:lnSpc>
              <a:tabLst>
                <a:tab pos="25400" algn="l"/>
                <a:tab pos="38100" algn="l"/>
              </a:tabLst>
            </a:pPr>
            <a:r>
              <a:rPr lang="en-US" altLang="zh-CN" dirty="0" smtClean="0"/>
              <a:t>		</a:t>
            </a:r>
            <a:r>
              <a:rPr lang="en-US" altLang="zh-CN" sz="1397" dirty="0" smtClean="0">
                <a:solidFill>
                  <a:srgbClr val="000000"/>
                </a:solidFill>
                <a:latin typeface="Times New Roman" pitchFamily="18" charset="0"/>
                <a:cs typeface="Times New Roman" pitchFamily="18" charset="0"/>
              </a:rPr>
              <a:t>V</a:t>
            </a:r>
            <a:r>
              <a:rPr lang="en-US" altLang="zh-CN" sz="935" dirty="0" smtClean="0">
                <a:solidFill>
                  <a:srgbClr val="000000"/>
                </a:solidFill>
                <a:latin typeface="Times New Roman" pitchFamily="18" charset="0"/>
                <a:cs typeface="Times New Roman" pitchFamily="18" charset="0"/>
              </a:rPr>
              <a:t>PP</a:t>
            </a:r>
          </a:p>
          <a:p>
            <a:pPr>
              <a:lnSpc>
                <a:spcPts val="1900"/>
              </a:lnSpc>
              <a:tabLst>
                <a:tab pos="25400" algn="l"/>
                <a:tab pos="38100" algn="l"/>
              </a:tabLst>
            </a:pPr>
            <a:r>
              <a:rPr lang="en-US" altLang="zh-CN" dirty="0" smtClean="0"/>
              <a:t>	</a:t>
            </a:r>
            <a:r>
              <a:rPr lang="en-US" altLang="zh-CN" sz="1397" dirty="0" smtClean="0">
                <a:solidFill>
                  <a:srgbClr val="000000"/>
                </a:solidFill>
                <a:latin typeface="Times New Roman" pitchFamily="18" charset="0"/>
                <a:cs typeface="Times New Roman" pitchFamily="18" charset="0"/>
              </a:rPr>
              <a:t>V</a:t>
            </a:r>
            <a:r>
              <a:rPr lang="en-US" altLang="zh-CN" sz="935" dirty="0" smtClean="0">
                <a:solidFill>
                  <a:srgbClr val="000000"/>
                </a:solidFill>
                <a:latin typeface="Times New Roman" pitchFamily="18" charset="0"/>
                <a:cs typeface="Times New Roman" pitchFamily="18" charset="0"/>
              </a:rPr>
              <a:t>DD</a:t>
            </a:r>
          </a:p>
          <a:p>
            <a:pPr>
              <a:lnSpc>
                <a:spcPts val="2000"/>
              </a:lnSpc>
              <a:tabLst>
                <a:tab pos="25400" algn="l"/>
                <a:tab pos="38100" algn="l"/>
              </a:tabLst>
            </a:pPr>
            <a:r>
              <a:rPr lang="en-US" altLang="zh-CN" dirty="0" smtClean="0"/>
              <a:t>		</a:t>
            </a:r>
            <a:r>
              <a:rPr lang="en-US" altLang="zh-CN" sz="1397" dirty="0" smtClean="0">
                <a:solidFill>
                  <a:srgbClr val="000000"/>
                </a:solidFill>
                <a:latin typeface="Times New Roman" pitchFamily="18" charset="0"/>
                <a:cs typeface="Times New Roman" pitchFamily="18" charset="0"/>
              </a:rPr>
              <a:t>V</a:t>
            </a:r>
            <a:r>
              <a:rPr lang="en-US" altLang="zh-CN" sz="935" dirty="0" smtClean="0">
                <a:solidFill>
                  <a:srgbClr val="000000"/>
                </a:solidFill>
                <a:latin typeface="Times New Roman" pitchFamily="18" charset="0"/>
                <a:cs typeface="Times New Roman" pitchFamily="18" charset="0"/>
              </a:rPr>
              <a:t>SS</a:t>
            </a:r>
          </a:p>
          <a:p>
            <a:pPr>
              <a:lnSpc>
                <a:spcPts val="1800"/>
              </a:lnSpc>
              <a:tabLst>
                <a:tab pos="25400" algn="l"/>
                <a:tab pos="38100" algn="l"/>
              </a:tabLst>
            </a:pPr>
            <a:r>
              <a:rPr lang="en-US" altLang="zh-CN" sz="1397" dirty="0" smtClean="0">
                <a:solidFill>
                  <a:srgbClr val="000000"/>
                </a:solidFill>
                <a:latin typeface="Times New Roman" pitchFamily="18" charset="0"/>
                <a:cs typeface="Times New Roman" pitchFamily="18" charset="0"/>
              </a:rPr>
              <a:t>RB6</a:t>
            </a:r>
          </a:p>
        </p:txBody>
      </p:sp>
      <p:sp>
        <p:nvSpPr>
          <p:cNvPr id="6" name="TextBox 1"/>
          <p:cNvSpPr txBox="1"/>
          <p:nvPr/>
        </p:nvSpPr>
        <p:spPr>
          <a:xfrm>
            <a:off x="6985000" y="1701800"/>
            <a:ext cx="2209800" cy="1244600"/>
          </a:xfrm>
          <a:prstGeom prst="rect">
            <a:avLst/>
          </a:prstGeom>
          <a:noFill/>
        </p:spPr>
        <p:txBody>
          <a:bodyPr wrap="none" lIns="0" tIns="0" rIns="0" rtlCol="0">
            <a:spAutoFit/>
          </a:bodyPr>
          <a:lstStyle/>
          <a:p>
            <a:pPr>
              <a:lnSpc>
                <a:spcPts val="1900"/>
              </a:lnSpc>
              <a:tabLst>
                <a:tab pos="965200" algn="l"/>
              </a:tabLst>
            </a:pPr>
            <a:r>
              <a:rPr lang="en-US" altLang="zh-CN" dirty="0" smtClean="0"/>
              <a:t>	</a:t>
            </a:r>
            <a:r>
              <a:rPr lang="en-US" altLang="zh-CN" sz="1397" b="1" dirty="0" smtClean="0">
                <a:solidFill>
                  <a:srgbClr val="FFFFFF"/>
                </a:solidFill>
                <a:latin typeface="Times New Roman" pitchFamily="18" charset="0"/>
                <a:cs typeface="Times New Roman" pitchFamily="18" charset="0"/>
              </a:rPr>
              <a:t>Function</a:t>
            </a:r>
          </a:p>
          <a:p>
            <a:pPr>
              <a:lnSpc>
                <a:spcPts val="1900"/>
              </a:lnSpc>
              <a:tabLst>
                <a:tab pos="965200" algn="l"/>
              </a:tabLst>
            </a:pPr>
            <a:r>
              <a:rPr lang="en-US" altLang="zh-CN" sz="1397" dirty="0" smtClean="0">
                <a:solidFill>
                  <a:srgbClr val="000000"/>
                </a:solidFill>
                <a:latin typeface="Times New Roman" pitchFamily="18" charset="0"/>
                <a:cs typeface="Times New Roman" pitchFamily="18" charset="0"/>
              </a:rPr>
              <a:t>Programming</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Voltage</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13V</a:t>
            </a:r>
          </a:p>
          <a:p>
            <a:pPr>
              <a:lnSpc>
                <a:spcPts val="1900"/>
              </a:lnSpc>
              <a:tabLst>
                <a:tab pos="965200" algn="l"/>
              </a:tabLst>
            </a:pPr>
            <a:r>
              <a:rPr lang="en-US" altLang="zh-CN" sz="1397" dirty="0" smtClean="0">
                <a:solidFill>
                  <a:srgbClr val="000000"/>
                </a:solidFill>
                <a:latin typeface="Times New Roman" pitchFamily="18" charset="0"/>
                <a:cs typeface="Times New Roman" pitchFamily="18" charset="0"/>
              </a:rPr>
              <a:t>Supply</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Voltage</a:t>
            </a:r>
          </a:p>
          <a:p>
            <a:pPr>
              <a:lnSpc>
                <a:spcPts val="2000"/>
              </a:lnSpc>
              <a:tabLst>
                <a:tab pos="965200" algn="l"/>
              </a:tabLst>
            </a:pPr>
            <a:r>
              <a:rPr lang="en-US" altLang="zh-CN" sz="1397" dirty="0" smtClean="0">
                <a:solidFill>
                  <a:srgbClr val="000000"/>
                </a:solidFill>
                <a:latin typeface="Times New Roman" pitchFamily="18" charset="0"/>
                <a:cs typeface="Times New Roman" pitchFamily="18" charset="0"/>
              </a:rPr>
              <a:t>Ground</a:t>
            </a:r>
          </a:p>
          <a:p>
            <a:pPr>
              <a:lnSpc>
                <a:spcPts val="1900"/>
              </a:lnSpc>
              <a:tabLst>
                <a:tab pos="965200" algn="l"/>
              </a:tabLst>
            </a:pPr>
            <a:r>
              <a:rPr lang="en-US" altLang="zh-CN" sz="1397" dirty="0" smtClean="0">
                <a:solidFill>
                  <a:srgbClr val="000000"/>
                </a:solidFill>
                <a:latin typeface="Times New Roman" pitchFamily="18" charset="0"/>
                <a:cs typeface="Times New Roman" pitchFamily="18" charset="0"/>
              </a:rPr>
              <a:t>Clock</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Input</a:t>
            </a:r>
          </a:p>
        </p:txBody>
      </p:sp>
      <p:sp>
        <p:nvSpPr>
          <p:cNvPr id="7" name="TextBox 1"/>
          <p:cNvSpPr txBox="1"/>
          <p:nvPr/>
        </p:nvSpPr>
        <p:spPr>
          <a:xfrm>
            <a:off x="1663700" y="2946400"/>
            <a:ext cx="88900" cy="469900"/>
          </a:xfrm>
          <a:prstGeom prst="rect">
            <a:avLst/>
          </a:prstGeom>
          <a:noFill/>
        </p:spPr>
        <p:txBody>
          <a:bodyPr wrap="none" lIns="0" tIns="0" rIns="0" rtlCol="0">
            <a:spAutoFit/>
          </a:bodyPr>
          <a:lstStyle/>
          <a:p>
            <a:pPr>
              <a:lnSpc>
                <a:spcPts val="1700"/>
              </a:lnSpc>
              <a:tabLst/>
            </a:pPr>
            <a:r>
              <a:rPr lang="en-US" altLang="zh-CN" sz="1397" dirty="0" smtClean="0">
                <a:solidFill>
                  <a:srgbClr val="3365CC"/>
                </a:solidFill>
                <a:latin typeface="Symbol" pitchFamily="18" charset="0"/>
                <a:cs typeface="Symbol" pitchFamily="18" charset="0"/>
              </a:rPr>
              <a:t>−</a:t>
            </a:r>
          </a:p>
          <a:p>
            <a:pPr>
              <a:lnSpc>
                <a:spcPts val="2000"/>
              </a:lnSpc>
              <a:tabLst/>
            </a:pPr>
            <a:r>
              <a:rPr lang="en-US" altLang="zh-CN" sz="1397" dirty="0" smtClean="0">
                <a:solidFill>
                  <a:srgbClr val="3365CC"/>
                </a:solidFill>
                <a:latin typeface="Symbol" pitchFamily="18" charset="0"/>
                <a:cs typeface="Symbol" pitchFamily="18" charset="0"/>
              </a:rPr>
              <a:t>−</a:t>
            </a:r>
          </a:p>
        </p:txBody>
      </p:sp>
      <p:sp>
        <p:nvSpPr>
          <p:cNvPr id="8" name="TextBox 1"/>
          <p:cNvSpPr txBox="1"/>
          <p:nvPr/>
        </p:nvSpPr>
        <p:spPr>
          <a:xfrm>
            <a:off x="2120900" y="2946400"/>
            <a:ext cx="1384300" cy="482600"/>
          </a:xfrm>
          <a:prstGeom prst="rect">
            <a:avLst/>
          </a:prstGeom>
          <a:noFill/>
        </p:spPr>
        <p:txBody>
          <a:bodyPr wrap="none" lIns="0" tIns="0" rIns="0" rtlCol="0">
            <a:spAutoFit/>
          </a:bodyPr>
          <a:lstStyle/>
          <a:p>
            <a:pPr>
              <a:lnSpc>
                <a:spcPts val="1800"/>
              </a:lnSpc>
              <a:tabLst/>
            </a:pPr>
            <a:r>
              <a:rPr lang="en-US" altLang="zh-CN" sz="1397" dirty="0" smtClean="0">
                <a:solidFill>
                  <a:srgbClr val="000000"/>
                </a:solidFill>
                <a:latin typeface="Times New Roman" pitchFamily="18" charset="0"/>
                <a:cs typeface="Times New Roman" pitchFamily="18" charset="0"/>
              </a:rPr>
              <a:t>Calibration</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Data</a:t>
            </a:r>
          </a:p>
          <a:p>
            <a:pPr>
              <a:lnSpc>
                <a:spcPts val="2000"/>
              </a:lnSpc>
              <a:tabLst/>
            </a:pPr>
            <a:r>
              <a:rPr lang="en-US" altLang="zh-CN" sz="1397" dirty="0" smtClean="0">
                <a:solidFill>
                  <a:srgbClr val="000000"/>
                </a:solidFill>
                <a:latin typeface="Times New Roman" pitchFamily="18" charset="0"/>
                <a:cs typeface="Times New Roman" pitchFamily="18" charset="0"/>
              </a:rPr>
              <a:t>Serialization</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Data</a:t>
            </a:r>
          </a:p>
        </p:txBody>
      </p:sp>
      <p:sp>
        <p:nvSpPr>
          <p:cNvPr id="10" name="TextBox 1"/>
          <p:cNvSpPr txBox="1"/>
          <p:nvPr/>
        </p:nvSpPr>
        <p:spPr>
          <a:xfrm>
            <a:off x="1549400" y="3454400"/>
            <a:ext cx="4191000" cy="330200"/>
          </a:xfrm>
          <a:prstGeom prst="rect">
            <a:avLst/>
          </a:prstGeom>
          <a:noFill/>
        </p:spPr>
        <p:txBody>
          <a:bodyPr wrap="none" lIns="0" tIns="0" rIns="0" rtlCol="0">
            <a:spAutoFit/>
          </a:bodyPr>
          <a:lstStyle/>
          <a:p>
            <a:pPr>
              <a:lnSpc>
                <a:spcPts val="2600"/>
              </a:lnSpc>
              <a:tabLst/>
            </a:pPr>
            <a:r>
              <a:rPr lang="en-US" altLang="zh-CN" sz="1902" b="1" dirty="0" smtClean="0">
                <a:solidFill>
                  <a:srgbClr val="000000"/>
                </a:solidFill>
                <a:latin typeface="Times New Roman" pitchFamily="18" charset="0"/>
                <a:cs typeface="Times New Roman" pitchFamily="18" charset="0"/>
              </a:rPr>
              <a:t>Suportado</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por</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MPLAB</a:t>
            </a:r>
            <a:r>
              <a:rPr lang="en-US" altLang="zh-CN" sz="1265" b="1" dirty="0" smtClean="0">
                <a:solidFill>
                  <a:srgbClr val="000000"/>
                </a:solidFill>
                <a:latin typeface="Times New Roman" pitchFamily="18" charset="0"/>
                <a:cs typeface="Times New Roman" pitchFamily="18" charset="0"/>
              </a:rPr>
              <a:t>®</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PM3</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&amp;</a:t>
            </a:r>
            <a:r>
              <a:rPr lang="en-US" altLang="zh-CN" sz="1902" dirty="0" smtClean="0">
                <a:latin typeface="Times New Roman" pitchFamily="18" charset="0"/>
                <a:cs typeface="Times New Roman" pitchFamily="18" charset="0"/>
              </a:rPr>
              <a:t> </a:t>
            </a:r>
            <a:r>
              <a:rPr lang="en-US" altLang="zh-CN" sz="1902" b="1" dirty="0" smtClean="0">
                <a:solidFill>
                  <a:srgbClr val="000000"/>
                </a:solidFill>
                <a:latin typeface="Times New Roman" pitchFamily="18" charset="0"/>
                <a:cs typeface="Times New Roman" pitchFamily="18" charset="0"/>
              </a:rPr>
              <a:t>ICD2</a:t>
            </a:r>
          </a:p>
        </p:txBody>
      </p:sp>
      <p:sp>
        <p:nvSpPr>
          <p:cNvPr id="11" name="TextBox 1"/>
          <p:cNvSpPr txBox="1"/>
          <p:nvPr/>
        </p:nvSpPr>
        <p:spPr>
          <a:xfrm>
            <a:off x="6324600" y="2933700"/>
            <a:ext cx="342900" cy="228600"/>
          </a:xfrm>
          <a:prstGeom prst="rect">
            <a:avLst/>
          </a:prstGeom>
          <a:noFill/>
        </p:spPr>
        <p:txBody>
          <a:bodyPr wrap="none" lIns="0" tIns="0" rIns="0" rtlCol="0">
            <a:spAutoFit/>
          </a:bodyPr>
          <a:lstStyle/>
          <a:p>
            <a:pPr>
              <a:lnSpc>
                <a:spcPts val="1800"/>
              </a:lnSpc>
              <a:tabLst/>
            </a:pPr>
            <a:r>
              <a:rPr lang="en-US" altLang="zh-CN" sz="1397" dirty="0" smtClean="0">
                <a:solidFill>
                  <a:srgbClr val="000000"/>
                </a:solidFill>
                <a:latin typeface="Times New Roman" pitchFamily="18" charset="0"/>
                <a:cs typeface="Times New Roman" pitchFamily="18" charset="0"/>
              </a:rPr>
              <a:t>RB7</a:t>
            </a:r>
          </a:p>
        </p:txBody>
      </p:sp>
      <p:sp>
        <p:nvSpPr>
          <p:cNvPr id="12" name="TextBox 1"/>
          <p:cNvSpPr txBox="1"/>
          <p:nvPr/>
        </p:nvSpPr>
        <p:spPr>
          <a:xfrm>
            <a:off x="6985000" y="2933700"/>
            <a:ext cx="2133600" cy="228600"/>
          </a:xfrm>
          <a:prstGeom prst="rect">
            <a:avLst/>
          </a:prstGeom>
          <a:noFill/>
        </p:spPr>
        <p:txBody>
          <a:bodyPr wrap="none" lIns="0" tIns="0" rIns="0" rtlCol="0">
            <a:spAutoFit/>
          </a:bodyPr>
          <a:lstStyle/>
          <a:p>
            <a:pPr>
              <a:lnSpc>
                <a:spcPts val="1800"/>
              </a:lnSpc>
              <a:tabLst/>
            </a:pPr>
            <a:r>
              <a:rPr lang="en-US" altLang="zh-CN" sz="1397" dirty="0" smtClean="0">
                <a:solidFill>
                  <a:srgbClr val="000000"/>
                </a:solidFill>
                <a:latin typeface="Times New Roman" pitchFamily="18" charset="0"/>
                <a:cs typeface="Times New Roman" pitchFamily="18" charset="0"/>
              </a:rPr>
              <a:t>Data</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I/O</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&amp;</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Command</a:t>
            </a:r>
            <a:r>
              <a:rPr lang="en-US" altLang="zh-CN" sz="1397" dirty="0" smtClean="0">
                <a:latin typeface="Times New Roman" pitchFamily="18" charset="0"/>
                <a:cs typeface="Times New Roman" pitchFamily="18" charset="0"/>
              </a:rPr>
              <a:t> </a:t>
            </a:r>
            <a:r>
              <a:rPr lang="en-US" altLang="zh-CN" sz="1397" dirty="0" smtClean="0">
                <a:solidFill>
                  <a:srgbClr val="000000"/>
                </a:solidFill>
                <a:latin typeface="Times New Roman" pitchFamily="18" charset="0"/>
                <a:cs typeface="Times New Roman" pitchFamily="18" charset="0"/>
              </a:rPr>
              <a:t>Input</a:t>
            </a:r>
          </a:p>
        </p:txBody>
      </p:sp>
      <p:sp>
        <p:nvSpPr>
          <p:cNvPr id="13" name="TextBox 1"/>
          <p:cNvSpPr txBox="1"/>
          <p:nvPr/>
        </p:nvSpPr>
        <p:spPr>
          <a:xfrm>
            <a:off x="5168900" y="4013200"/>
            <a:ext cx="152400" cy="127000"/>
          </a:xfrm>
          <a:prstGeom prst="rect">
            <a:avLst/>
          </a:prstGeom>
          <a:noFill/>
        </p:spPr>
        <p:txBody>
          <a:bodyPr wrap="none" lIns="0" tIns="0" rIns="0" rtlCol="0">
            <a:spAutoFit/>
          </a:bodyPr>
          <a:lstStyle/>
          <a:p>
            <a:pPr>
              <a:lnSpc>
                <a:spcPts val="1000"/>
              </a:lnSpc>
              <a:tabLst/>
            </a:pPr>
            <a:r>
              <a:rPr lang="en-US" altLang="zh-CN" sz="755" b="1" dirty="0" smtClean="0">
                <a:solidFill>
                  <a:srgbClr val="000000"/>
                </a:solidFill>
                <a:latin typeface="Times New Roman" pitchFamily="18" charset="0"/>
                <a:cs typeface="Times New Roman" pitchFamily="18" charset="0"/>
              </a:rPr>
              <a:t>V</a:t>
            </a:r>
            <a:r>
              <a:rPr lang="en-US" altLang="zh-CN" sz="492" b="1" dirty="0" smtClean="0">
                <a:solidFill>
                  <a:srgbClr val="000000"/>
                </a:solidFill>
                <a:latin typeface="Times New Roman" pitchFamily="18" charset="0"/>
                <a:cs typeface="Times New Roman" pitchFamily="18" charset="0"/>
              </a:rPr>
              <a:t>DD</a:t>
            </a:r>
          </a:p>
        </p:txBody>
      </p:sp>
      <p:sp>
        <p:nvSpPr>
          <p:cNvPr id="14" name="TextBox 1"/>
          <p:cNvSpPr txBox="1"/>
          <p:nvPr/>
        </p:nvSpPr>
        <p:spPr>
          <a:xfrm>
            <a:off x="5486400" y="4013200"/>
            <a:ext cx="152400" cy="127000"/>
          </a:xfrm>
          <a:prstGeom prst="rect">
            <a:avLst/>
          </a:prstGeom>
          <a:noFill/>
        </p:spPr>
        <p:txBody>
          <a:bodyPr wrap="none" lIns="0" tIns="0" rIns="0" rtlCol="0">
            <a:spAutoFit/>
          </a:bodyPr>
          <a:lstStyle/>
          <a:p>
            <a:pPr>
              <a:lnSpc>
                <a:spcPts val="1000"/>
              </a:lnSpc>
              <a:tabLst/>
            </a:pPr>
            <a:r>
              <a:rPr lang="en-US" altLang="zh-CN" sz="755" b="1" dirty="0" smtClean="0">
                <a:solidFill>
                  <a:srgbClr val="000000"/>
                </a:solidFill>
                <a:latin typeface="Times New Roman" pitchFamily="18" charset="0"/>
                <a:cs typeface="Times New Roman" pitchFamily="18" charset="0"/>
              </a:rPr>
              <a:t>V</a:t>
            </a:r>
            <a:r>
              <a:rPr lang="en-US" altLang="zh-CN" sz="492" b="1" dirty="0" smtClean="0">
                <a:solidFill>
                  <a:srgbClr val="000000"/>
                </a:solidFill>
                <a:latin typeface="Times New Roman" pitchFamily="18" charset="0"/>
                <a:cs typeface="Times New Roman" pitchFamily="18" charset="0"/>
              </a:rPr>
              <a:t>DD</a:t>
            </a:r>
          </a:p>
        </p:txBody>
      </p:sp>
      <p:sp>
        <p:nvSpPr>
          <p:cNvPr id="15" name="TextBox 1"/>
          <p:cNvSpPr txBox="1"/>
          <p:nvPr/>
        </p:nvSpPr>
        <p:spPr>
          <a:xfrm>
            <a:off x="3454400" y="4013200"/>
            <a:ext cx="749300" cy="127000"/>
          </a:xfrm>
          <a:prstGeom prst="rect">
            <a:avLst/>
          </a:prstGeom>
          <a:noFill/>
        </p:spPr>
        <p:txBody>
          <a:bodyPr wrap="none" lIns="0" tIns="0" rIns="0" rtlCol="0">
            <a:spAutoFit/>
          </a:bodyPr>
          <a:lstStyle/>
          <a:p>
            <a:pPr>
              <a:lnSpc>
                <a:spcPts val="1000"/>
              </a:lnSpc>
              <a:tabLst/>
            </a:pPr>
            <a:r>
              <a:rPr lang="en-US" altLang="zh-CN" sz="755" b="1" dirty="0" smtClean="0">
                <a:solidFill>
                  <a:srgbClr val="000000"/>
                </a:solidFill>
                <a:latin typeface="Times New Roman" pitchFamily="18" charset="0"/>
                <a:cs typeface="Times New Roman" pitchFamily="18" charset="0"/>
              </a:rPr>
              <a:t>Application</a:t>
            </a:r>
            <a:r>
              <a:rPr lang="en-US" altLang="zh-CN" sz="755" dirty="0" smtClean="0">
                <a:latin typeface="Times New Roman" pitchFamily="18" charset="0"/>
                <a:cs typeface="Times New Roman" pitchFamily="18" charset="0"/>
              </a:rPr>
              <a:t> </a:t>
            </a:r>
            <a:r>
              <a:rPr lang="en-US" altLang="zh-CN" sz="755" b="1" dirty="0" smtClean="0">
                <a:solidFill>
                  <a:srgbClr val="000000"/>
                </a:solidFill>
                <a:latin typeface="Times New Roman" pitchFamily="18" charset="0"/>
                <a:cs typeface="Times New Roman" pitchFamily="18" charset="0"/>
              </a:rPr>
              <a:t>PCB</a:t>
            </a:r>
          </a:p>
        </p:txBody>
      </p:sp>
      <p:sp>
        <p:nvSpPr>
          <p:cNvPr id="16" name="TextBox 1"/>
          <p:cNvSpPr txBox="1"/>
          <p:nvPr/>
        </p:nvSpPr>
        <p:spPr>
          <a:xfrm>
            <a:off x="3987800" y="4597400"/>
            <a:ext cx="3606800" cy="1536700"/>
          </a:xfrm>
          <a:prstGeom prst="rect">
            <a:avLst/>
          </a:prstGeom>
          <a:noFill/>
        </p:spPr>
        <p:txBody>
          <a:bodyPr wrap="none" lIns="0" tIns="0" rIns="0" rtlCol="0">
            <a:spAutoFit/>
          </a:bodyPr>
          <a:lstStyle/>
          <a:p>
            <a:pPr>
              <a:lnSpc>
                <a:spcPts val="1000"/>
              </a:lnSpc>
              <a:tabLst>
                <a:tab pos="266700" algn="l"/>
                <a:tab pos="279400" algn="l"/>
                <a:tab pos="292100" algn="l"/>
                <a:tab pos="317500" algn="l"/>
                <a:tab pos="2514600" algn="l"/>
              </a:tabLst>
            </a:pPr>
            <a:r>
              <a:rPr lang="en-US" altLang="zh-CN" sz="755" b="1" dirty="0" smtClean="0">
                <a:solidFill>
                  <a:srgbClr val="000000"/>
                </a:solidFill>
                <a:latin typeface="Times New Roman" pitchFamily="18" charset="0"/>
                <a:cs typeface="Times New Roman" pitchFamily="18" charset="0"/>
              </a:rPr>
              <a:t>MCLR/V</a:t>
            </a:r>
            <a:r>
              <a:rPr lang="en-US" altLang="zh-CN" sz="492" b="1" dirty="0" smtClean="0">
                <a:solidFill>
                  <a:srgbClr val="000000"/>
                </a:solidFill>
                <a:latin typeface="Times New Roman" pitchFamily="18" charset="0"/>
                <a:cs typeface="Times New Roman" pitchFamily="18" charset="0"/>
              </a:rPr>
              <a:t>PP</a:t>
            </a:r>
          </a:p>
          <a:p>
            <a:pPr>
              <a:lnSpc>
                <a:spcPts val="1700"/>
              </a:lnSpc>
              <a:tabLst>
                <a:tab pos="266700" algn="l"/>
                <a:tab pos="279400" algn="l"/>
                <a:tab pos="292100" algn="l"/>
                <a:tab pos="317500" algn="l"/>
                <a:tab pos="2514600" algn="l"/>
              </a:tabLst>
            </a:pPr>
            <a:r>
              <a:rPr lang="en-US" altLang="zh-CN" dirty="0" smtClean="0"/>
              <a:t>					</a:t>
            </a:r>
            <a:r>
              <a:rPr lang="en-US" altLang="zh-CN" sz="1002" b="1" dirty="0" smtClean="0">
                <a:solidFill>
                  <a:srgbClr val="000000"/>
                </a:solidFill>
                <a:latin typeface="Times New Roman" pitchFamily="18" charset="0"/>
                <a:cs typeface="Times New Roman" pitchFamily="18" charset="0"/>
              </a:rPr>
              <a:t>ICSP™</a:t>
            </a:r>
            <a:r>
              <a:rPr lang="en-US" altLang="zh-CN" sz="1002" dirty="0" smtClean="0">
                <a:latin typeface="Times New Roman" pitchFamily="18" charset="0"/>
                <a:cs typeface="Times New Roman" pitchFamily="18" charset="0"/>
              </a:rPr>
              <a:t> </a:t>
            </a:r>
            <a:r>
              <a:rPr lang="en-US" altLang="zh-CN" sz="1002" b="1" dirty="0" smtClean="0">
                <a:solidFill>
                  <a:srgbClr val="000000"/>
                </a:solidFill>
                <a:latin typeface="Times New Roman" pitchFamily="18" charset="0"/>
                <a:cs typeface="Times New Roman" pitchFamily="18" charset="0"/>
              </a:rPr>
              <a:t>Connector</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100"/>
              </a:lnSpc>
              <a:tabLst>
                <a:tab pos="266700" algn="l"/>
                <a:tab pos="279400" algn="l"/>
                <a:tab pos="292100" algn="l"/>
                <a:tab pos="317500" algn="l"/>
                <a:tab pos="2514600" algn="l"/>
              </a:tabLst>
            </a:pPr>
            <a:r>
              <a:rPr lang="en-US" altLang="zh-CN" dirty="0" smtClean="0"/>
              <a:t>			</a:t>
            </a:r>
            <a:r>
              <a:rPr lang="en-US" altLang="zh-CN" sz="755" b="1" dirty="0" smtClean="0">
                <a:solidFill>
                  <a:srgbClr val="000000"/>
                </a:solidFill>
                <a:latin typeface="Times New Roman" pitchFamily="18" charset="0"/>
                <a:cs typeface="Times New Roman" pitchFamily="18" charset="0"/>
              </a:rPr>
              <a:t>V</a:t>
            </a:r>
            <a:r>
              <a:rPr lang="en-US" altLang="zh-CN" sz="492" b="1" dirty="0" smtClean="0">
                <a:solidFill>
                  <a:srgbClr val="000000"/>
                </a:solidFill>
                <a:latin typeface="Times New Roman" pitchFamily="18" charset="0"/>
                <a:cs typeface="Times New Roman" pitchFamily="18" charset="0"/>
              </a:rPr>
              <a:t>DD</a:t>
            </a:r>
          </a:p>
          <a:p>
            <a:pPr>
              <a:lnSpc>
                <a:spcPts val="1700"/>
              </a:lnSpc>
              <a:tabLst>
                <a:tab pos="266700" algn="l"/>
                <a:tab pos="279400" algn="l"/>
                <a:tab pos="292100" algn="l"/>
                <a:tab pos="317500" algn="l"/>
                <a:tab pos="2514600" algn="l"/>
              </a:tabLst>
            </a:pPr>
            <a:r>
              <a:rPr lang="en-US" altLang="zh-CN" dirty="0" smtClean="0"/>
              <a:t>				</a:t>
            </a:r>
            <a:r>
              <a:rPr lang="en-US" altLang="zh-CN" sz="755" b="1" dirty="0" smtClean="0">
                <a:solidFill>
                  <a:srgbClr val="000000"/>
                </a:solidFill>
                <a:latin typeface="Times New Roman" pitchFamily="18" charset="0"/>
                <a:cs typeface="Times New Roman" pitchFamily="18" charset="0"/>
              </a:rPr>
              <a:t>V</a:t>
            </a:r>
            <a:r>
              <a:rPr lang="en-US" altLang="zh-CN" sz="492" b="1" dirty="0" smtClean="0">
                <a:solidFill>
                  <a:srgbClr val="000000"/>
                </a:solidFill>
                <a:latin typeface="Times New Roman" pitchFamily="18" charset="0"/>
                <a:cs typeface="Times New Roman" pitchFamily="18" charset="0"/>
              </a:rPr>
              <a:t>SS</a:t>
            </a:r>
          </a:p>
          <a:p>
            <a:pPr>
              <a:lnSpc>
                <a:spcPts val="1600"/>
              </a:lnSpc>
              <a:tabLst>
                <a:tab pos="266700" algn="l"/>
                <a:tab pos="279400" algn="l"/>
                <a:tab pos="292100" algn="l"/>
                <a:tab pos="317500" algn="l"/>
                <a:tab pos="2514600" algn="l"/>
              </a:tabLst>
            </a:pPr>
            <a:r>
              <a:rPr lang="en-US" altLang="zh-CN" dirty="0" smtClean="0"/>
              <a:t>	</a:t>
            </a:r>
            <a:r>
              <a:rPr lang="en-US" altLang="zh-CN" sz="755" b="1" dirty="0" smtClean="0">
                <a:solidFill>
                  <a:srgbClr val="000000"/>
                </a:solidFill>
                <a:latin typeface="Times New Roman" pitchFamily="18" charset="0"/>
                <a:cs typeface="Times New Roman" pitchFamily="18" charset="0"/>
              </a:rPr>
              <a:t>RB6</a:t>
            </a:r>
          </a:p>
          <a:p>
            <a:pPr>
              <a:lnSpc>
                <a:spcPts val="1700"/>
              </a:lnSpc>
              <a:tabLst>
                <a:tab pos="266700" algn="l"/>
                <a:tab pos="279400" algn="l"/>
                <a:tab pos="292100" algn="l"/>
                <a:tab pos="317500" algn="l"/>
                <a:tab pos="2514600" algn="l"/>
              </a:tabLst>
            </a:pPr>
            <a:r>
              <a:rPr lang="en-US" altLang="zh-CN" dirty="0" smtClean="0"/>
              <a:t>		</a:t>
            </a:r>
            <a:r>
              <a:rPr lang="en-US" altLang="zh-CN" sz="755" b="1" dirty="0" smtClean="0">
                <a:solidFill>
                  <a:srgbClr val="000000"/>
                </a:solidFill>
                <a:latin typeface="Times New Roman" pitchFamily="18" charset="0"/>
                <a:cs typeface="Times New Roman" pitchFamily="18" charset="0"/>
              </a:rPr>
              <a:t>RB7</a:t>
            </a:r>
          </a:p>
        </p:txBody>
      </p:sp>
      <p:sp>
        <p:nvSpPr>
          <p:cNvPr id="17" name="TextBox 1"/>
          <p:cNvSpPr txBox="1"/>
          <p:nvPr/>
        </p:nvSpPr>
        <p:spPr>
          <a:xfrm>
            <a:off x="3530600" y="6489700"/>
            <a:ext cx="965200" cy="127000"/>
          </a:xfrm>
          <a:prstGeom prst="rect">
            <a:avLst/>
          </a:prstGeom>
          <a:noFill/>
        </p:spPr>
        <p:txBody>
          <a:bodyPr wrap="none" lIns="0" tIns="0" rIns="0" rtlCol="0">
            <a:spAutoFit/>
          </a:bodyPr>
          <a:lstStyle/>
          <a:p>
            <a:pPr>
              <a:lnSpc>
                <a:spcPts val="1000"/>
              </a:lnSpc>
              <a:tabLst/>
            </a:pPr>
            <a:r>
              <a:rPr lang="en-US" altLang="zh-CN" sz="755" b="1" dirty="0" smtClean="0">
                <a:solidFill>
                  <a:srgbClr val="000000"/>
                </a:solidFill>
                <a:latin typeface="Times New Roman" pitchFamily="18" charset="0"/>
                <a:cs typeface="Times New Roman" pitchFamily="18" charset="0"/>
              </a:rPr>
              <a:t>To</a:t>
            </a:r>
            <a:r>
              <a:rPr lang="en-US" altLang="zh-CN" sz="755" dirty="0" smtClean="0">
                <a:latin typeface="Times New Roman" pitchFamily="18" charset="0"/>
                <a:cs typeface="Times New Roman" pitchFamily="18" charset="0"/>
              </a:rPr>
              <a:t> </a:t>
            </a:r>
            <a:r>
              <a:rPr lang="en-US" altLang="zh-CN" sz="755" b="1" dirty="0" smtClean="0">
                <a:solidFill>
                  <a:srgbClr val="000000"/>
                </a:solidFill>
                <a:latin typeface="Times New Roman" pitchFamily="18" charset="0"/>
                <a:cs typeface="Times New Roman" pitchFamily="18" charset="0"/>
              </a:rPr>
              <a:t>application</a:t>
            </a:r>
            <a:r>
              <a:rPr lang="en-US" altLang="zh-CN" sz="755" dirty="0" smtClean="0">
                <a:latin typeface="Times New Roman" pitchFamily="18" charset="0"/>
                <a:cs typeface="Times New Roman" pitchFamily="18" charset="0"/>
              </a:rPr>
              <a:t> </a:t>
            </a:r>
            <a:r>
              <a:rPr lang="en-US" altLang="zh-CN" sz="755" b="1" dirty="0" smtClean="0">
                <a:solidFill>
                  <a:srgbClr val="000000"/>
                </a:solidFill>
                <a:latin typeface="Times New Roman" pitchFamily="18" charset="0"/>
                <a:cs typeface="Times New Roman" pitchFamily="18" charset="0"/>
              </a:rPr>
              <a:t>circuit</a:t>
            </a:r>
          </a:p>
        </p:txBody>
      </p:sp>
      <p:sp>
        <p:nvSpPr>
          <p:cNvPr id="18" name="TextBox 1"/>
          <p:cNvSpPr txBox="1"/>
          <p:nvPr/>
        </p:nvSpPr>
        <p:spPr>
          <a:xfrm>
            <a:off x="5410200" y="6438900"/>
            <a:ext cx="393700" cy="241300"/>
          </a:xfrm>
          <a:prstGeom prst="rect">
            <a:avLst/>
          </a:prstGeom>
          <a:noFill/>
        </p:spPr>
        <p:txBody>
          <a:bodyPr wrap="none" lIns="0" tIns="0" rIns="0" rtlCol="0">
            <a:spAutoFit/>
          </a:bodyPr>
          <a:lstStyle/>
          <a:p>
            <a:pPr>
              <a:lnSpc>
                <a:spcPts val="1000"/>
              </a:lnSpc>
              <a:tabLst/>
            </a:pPr>
            <a:r>
              <a:rPr lang="en-US" altLang="zh-CN" sz="755" b="1" dirty="0" smtClean="0">
                <a:solidFill>
                  <a:srgbClr val="000000"/>
                </a:solidFill>
                <a:latin typeface="Times New Roman" pitchFamily="18" charset="0"/>
                <a:cs typeface="Times New Roman" pitchFamily="18" charset="0"/>
              </a:rPr>
              <a:t>Isolation</a:t>
            </a:r>
          </a:p>
          <a:p>
            <a:pPr>
              <a:lnSpc>
                <a:spcPts val="900"/>
              </a:lnSpc>
              <a:tabLst/>
            </a:pPr>
            <a:r>
              <a:rPr lang="en-US" altLang="zh-CN" sz="755" b="1" dirty="0" smtClean="0">
                <a:solidFill>
                  <a:srgbClr val="000000"/>
                </a:solidFill>
                <a:latin typeface="Times New Roman" pitchFamily="18" charset="0"/>
                <a:cs typeface="Times New Roman" pitchFamily="18" charset="0"/>
              </a:rPr>
              <a:t>circuits</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4749800" y="584200"/>
            <a:ext cx="2324100" cy="774700"/>
          </a:xfrm>
          <a:prstGeom prst="rect">
            <a:avLst/>
          </a:prstGeom>
          <a:noFill/>
        </p:spPr>
        <p:txBody>
          <a:bodyPr wrap="none" lIns="0" tIns="0" rIns="0" rtlCol="0">
            <a:spAutoFit/>
          </a:bodyPr>
          <a:lstStyle/>
          <a:p>
            <a:pPr>
              <a:lnSpc>
                <a:spcPts val="6100"/>
              </a:lnSpc>
              <a:tabLst/>
            </a:pPr>
            <a:r>
              <a:rPr lang="en-US" altLang="zh-CN" sz="4397" b="1" dirty="0" smtClean="0">
                <a:solidFill>
                  <a:srgbClr val="000000"/>
                </a:solidFill>
                <a:latin typeface="Times New Roman" pitchFamily="18" charset="0"/>
                <a:cs typeface="Times New Roman" pitchFamily="18" charset="0"/>
              </a:rPr>
              <a:t>I/O</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Ports</a:t>
            </a:r>
          </a:p>
        </p:txBody>
      </p:sp>
      <p:sp>
        <p:nvSpPr>
          <p:cNvPr id="4" name="TextBox 1"/>
          <p:cNvSpPr txBox="1"/>
          <p:nvPr/>
        </p:nvSpPr>
        <p:spPr>
          <a:xfrm>
            <a:off x="1549400" y="1879600"/>
            <a:ext cx="7239482" cy="3688189"/>
          </a:xfrm>
          <a:prstGeom prst="rect">
            <a:avLst/>
          </a:prstGeom>
          <a:noFill/>
        </p:spPr>
        <p:txBody>
          <a:bodyPr wrap="none" lIns="0" tIns="0" rIns="0" rtlCol="0">
            <a:spAutoFit/>
          </a:bodyPr>
          <a:lstStyle/>
          <a:p>
            <a:pPr marL="285750" indent="-285750">
              <a:lnSpc>
                <a:spcPts val="2500"/>
              </a:lnSpc>
              <a:buFont typeface="Arial" panose="020B0604020202020204" pitchFamily="34" charset="0"/>
              <a:buChar char="•"/>
              <a:tabLst/>
            </a:pPr>
            <a:r>
              <a:rPr lang="en-US" altLang="zh-CN" sz="1800" b="1" dirty="0" smtClean="0">
                <a:solidFill>
                  <a:srgbClr val="000000"/>
                </a:solidFill>
                <a:latin typeface="Times New Roman" pitchFamily="18" charset="0"/>
                <a:cs typeface="Times New Roman" pitchFamily="18" charset="0"/>
              </a:rPr>
              <a:t>Alta</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capacidad</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corriente</a:t>
            </a:r>
          </a:p>
          <a:p>
            <a:pPr marL="285750" indent="-285750">
              <a:lnSpc>
                <a:spcPts val="2800"/>
              </a:lnSpc>
              <a:buFont typeface="Arial" panose="020B0604020202020204" pitchFamily="34" charset="0"/>
              <a:buChar char="•"/>
              <a:tabLst/>
            </a:pPr>
            <a:r>
              <a:rPr lang="en-US" altLang="zh-CN" sz="1800" b="1" dirty="0" smtClean="0">
                <a:solidFill>
                  <a:srgbClr val="000000"/>
                </a:solidFill>
                <a:latin typeface="Times New Roman" pitchFamily="18" charset="0"/>
                <a:cs typeface="Times New Roman" pitchFamily="18" charset="0"/>
              </a:rPr>
              <a:t>Pueden</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excitar</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directamente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un</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LED</a:t>
            </a:r>
          </a:p>
          <a:p>
            <a:pPr marL="285750" indent="-285750">
              <a:lnSpc>
                <a:spcPts val="2800"/>
              </a:lnSpc>
              <a:buFont typeface="Arial" panose="020B0604020202020204" pitchFamily="34" charset="0"/>
              <a:buChar char="•"/>
              <a:tabLst/>
            </a:pPr>
            <a:r>
              <a:rPr lang="en-US" altLang="zh-CN" sz="1800" b="1" dirty="0" smtClean="0">
                <a:solidFill>
                  <a:srgbClr val="000000"/>
                </a:solidFill>
                <a:latin typeface="Times New Roman" pitchFamily="18" charset="0"/>
                <a:cs typeface="Times New Roman" pitchFamily="18" charset="0"/>
              </a:rPr>
              <a:t>Directa</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manipulación</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bits</a:t>
            </a:r>
          </a:p>
          <a:p>
            <a:pPr marL="285750" indent="-285750">
              <a:lnSpc>
                <a:spcPts val="2800"/>
              </a:lnSpc>
              <a:buFont typeface="Arial" panose="020B0604020202020204" pitchFamily="34" charset="0"/>
              <a:buChar char="•"/>
              <a:tabLst/>
            </a:pPr>
            <a:r>
              <a:rPr lang="en-US" altLang="zh-CN" sz="1800" b="1" dirty="0" smtClean="0">
                <a:solidFill>
                  <a:srgbClr val="000000"/>
                </a:solidFill>
                <a:latin typeface="Times New Roman" pitchFamily="18" charset="0"/>
                <a:cs typeface="Times New Roman" pitchFamily="18" charset="0"/>
              </a:rPr>
              <a:t>Cada</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Pin</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puede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ser</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direccionado</a:t>
            </a:r>
          </a:p>
          <a:p>
            <a:pPr>
              <a:lnSpc>
                <a:spcPts val="2100"/>
              </a:lnSpc>
              <a:tabLst/>
            </a:pPr>
            <a:r>
              <a:rPr lang="en-US" altLang="zh-CN" sz="1800" b="1" dirty="0" smtClean="0">
                <a:solidFill>
                  <a:srgbClr val="000000"/>
                </a:solidFill>
                <a:latin typeface="Times New Roman" pitchFamily="18" charset="0"/>
                <a:cs typeface="Times New Roman" pitchFamily="18" charset="0"/>
              </a:rPr>
              <a:t>     </a:t>
            </a:r>
            <a:r>
              <a:rPr lang="en-US" altLang="zh-CN" sz="1800" b="1" dirty="0" err="1" smtClean="0">
                <a:solidFill>
                  <a:srgbClr val="000000"/>
                </a:solidFill>
                <a:latin typeface="Times New Roman" pitchFamily="18" charset="0"/>
                <a:cs typeface="Times New Roman" pitchFamily="18" charset="0"/>
              </a:rPr>
              <a:t>independientemente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por</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software</a:t>
            </a:r>
          </a:p>
          <a:p>
            <a:pPr marL="285750" indent="-285750">
              <a:lnSpc>
                <a:spcPts val="2800"/>
              </a:lnSpc>
              <a:buFont typeface="Arial" panose="020B0604020202020204" pitchFamily="34" charset="0"/>
              <a:buChar char="•"/>
              <a:tabLst/>
            </a:pPr>
            <a:r>
              <a:rPr lang="en-US" altLang="zh-CN" sz="1800" b="1" dirty="0" smtClean="0">
                <a:solidFill>
                  <a:srgbClr val="000000"/>
                </a:solidFill>
                <a:latin typeface="Times New Roman" pitchFamily="18" charset="0"/>
                <a:cs typeface="Times New Roman" pitchFamily="18" charset="0"/>
              </a:rPr>
              <a:t>Todo</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los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pines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tiene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protección</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ESD</a:t>
            </a:r>
          </a:p>
          <a:p>
            <a:pPr marL="285750" indent="-285750">
              <a:lnSpc>
                <a:spcPts val="2800"/>
              </a:lnSpc>
              <a:buFont typeface="Arial" panose="020B0604020202020204" pitchFamily="34" charset="0"/>
              <a:buChar char="•"/>
              <a:tabLst/>
            </a:pPr>
            <a:r>
              <a:rPr lang="en-US" altLang="zh-CN" sz="1800" b="1" dirty="0" smtClean="0">
                <a:solidFill>
                  <a:srgbClr val="000000"/>
                </a:solidFill>
                <a:latin typeface="Times New Roman" pitchFamily="18" charset="0"/>
                <a:cs typeface="Times New Roman" pitchFamily="18" charset="0"/>
              </a:rPr>
              <a:t>Pin</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RA4</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es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open</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drain</a:t>
            </a:r>
          </a:p>
          <a:p>
            <a:pPr marL="285750" indent="-285750">
              <a:lnSpc>
                <a:spcPts val="2800"/>
              </a:lnSpc>
              <a:buFont typeface="Arial" panose="020B0604020202020204" pitchFamily="34" charset="0"/>
              <a:buChar char="•"/>
              <a:tabLst/>
            </a:pPr>
            <a:r>
              <a:rPr lang="en-US" altLang="zh-CN" sz="1800" b="1" dirty="0" smtClean="0">
                <a:solidFill>
                  <a:srgbClr val="000000"/>
                </a:solidFill>
                <a:latin typeface="Times New Roman" pitchFamily="18" charset="0"/>
                <a:cs typeface="Times New Roman" pitchFamily="18" charset="0"/>
              </a:rPr>
              <a:t>Todos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los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pines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I/O</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por</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dufault</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son</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entradas(Alta</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impedancia)</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sobre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el</a:t>
            </a:r>
          </a:p>
          <a:p>
            <a:pPr>
              <a:lnSpc>
                <a:spcPts val="2100"/>
              </a:lnSpc>
              <a:tabLst/>
            </a:pPr>
            <a:r>
              <a:rPr lang="en-US" altLang="zh-CN" sz="1800" b="1" dirty="0" smtClean="0">
                <a:solidFill>
                  <a:srgbClr val="000000"/>
                </a:solidFill>
                <a:latin typeface="Times New Roman" pitchFamily="18" charset="0"/>
                <a:cs typeface="Times New Roman" pitchFamily="18" charset="0"/>
              </a:rPr>
              <a:t>      </a:t>
            </a:r>
            <a:r>
              <a:rPr lang="en-US" altLang="zh-CN" sz="1800" b="1" dirty="0" err="1" smtClean="0">
                <a:solidFill>
                  <a:srgbClr val="000000"/>
                </a:solidFill>
                <a:latin typeface="Times New Roman" pitchFamily="18" charset="0"/>
                <a:cs typeface="Times New Roman" pitchFamily="18" charset="0"/>
              </a:rPr>
              <a:t>arranque</a:t>
            </a:r>
            <a:endParaRPr lang="en-US" altLang="zh-CN" sz="1800" b="1" dirty="0" smtClean="0">
              <a:solidFill>
                <a:srgbClr val="000000"/>
              </a:solidFill>
              <a:latin typeface="Times New Roman" pitchFamily="18" charset="0"/>
              <a:cs typeface="Times New Roman" pitchFamily="18" charset="0"/>
            </a:endParaRPr>
          </a:p>
          <a:p>
            <a:pPr marL="285750" indent="-285750">
              <a:lnSpc>
                <a:spcPts val="2800"/>
              </a:lnSpc>
              <a:buFont typeface="Arial" panose="020B0604020202020204" pitchFamily="34" charset="0"/>
              <a:buChar char="•"/>
              <a:tabLst/>
            </a:pPr>
            <a:r>
              <a:rPr lang="en-US" altLang="zh-CN" sz="1800" b="1" dirty="0" smtClean="0">
                <a:solidFill>
                  <a:srgbClr val="000000"/>
                </a:solidFill>
                <a:latin typeface="Times New Roman" pitchFamily="18" charset="0"/>
                <a:cs typeface="Times New Roman" pitchFamily="18" charset="0"/>
              </a:rPr>
              <a:t>Todos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los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pines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estan</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multiplexados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sobre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entradas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analogicas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sobre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el</a:t>
            </a:r>
          </a:p>
          <a:p>
            <a:pPr>
              <a:lnSpc>
                <a:spcPts val="2100"/>
              </a:lnSpc>
              <a:tabLst/>
            </a:pPr>
            <a:r>
              <a:rPr lang="en-US" altLang="zh-CN" sz="1800" b="1" dirty="0" smtClean="0">
                <a:solidFill>
                  <a:srgbClr val="000000"/>
                </a:solidFill>
                <a:latin typeface="Times New Roman" pitchFamily="18" charset="0"/>
                <a:cs typeface="Times New Roman" pitchFamily="18" charset="0"/>
              </a:rPr>
              <a:t>     </a:t>
            </a:r>
            <a:r>
              <a:rPr lang="en-US" altLang="zh-CN" sz="1800" b="1" dirty="0" err="1" smtClean="0">
                <a:solidFill>
                  <a:srgbClr val="000000"/>
                </a:solidFill>
                <a:latin typeface="Times New Roman" pitchFamily="18" charset="0"/>
                <a:cs typeface="Times New Roman" pitchFamily="18" charset="0"/>
              </a:rPr>
              <a:t>arranque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los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dispositivos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que</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las</a:t>
            </a:r>
            <a:r>
              <a:rPr lang="en-US" altLang="zh-CN" sz="1800" dirty="0" smtClean="0">
                <a:latin typeface="Times New Roman" pitchFamily="18" charset="0"/>
                <a:cs typeface="Times New Roman" pitchFamily="18" charset="0"/>
              </a:rPr>
              <a:t> </a:t>
            </a:r>
            <a:r>
              <a:rPr lang="en-US" altLang="zh-CN" sz="1800" b="1" dirty="0" smtClean="0">
                <a:solidFill>
                  <a:srgbClr val="000000"/>
                </a:solidFill>
                <a:latin typeface="Times New Roman" pitchFamily="18" charset="0"/>
                <a:cs typeface="Times New Roman" pitchFamily="18" charset="0"/>
              </a:rPr>
              <a:t>tengan)</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3683000" y="381000"/>
            <a:ext cx="4470400" cy="2298700"/>
          </a:xfrm>
          <a:prstGeom prst="rect">
            <a:avLst/>
          </a:prstGeom>
          <a:noFill/>
        </p:spPr>
        <p:txBody>
          <a:bodyPr wrap="none" lIns="0" tIns="0" rIns="0" rtlCol="0">
            <a:spAutoFit/>
          </a:bodyPr>
          <a:lstStyle/>
          <a:p>
            <a:pPr>
              <a:lnSpc>
                <a:spcPts val="6100"/>
              </a:lnSpc>
              <a:tabLst>
                <a:tab pos="711200" algn="l"/>
                <a:tab pos="1663700" algn="l"/>
                <a:tab pos="1943100" algn="l"/>
              </a:tabLst>
            </a:pPr>
            <a:r>
              <a:rPr lang="en-US" altLang="zh-CN" sz="4397" b="1" dirty="0" smtClean="0">
                <a:solidFill>
                  <a:srgbClr val="000000"/>
                </a:solidFill>
                <a:latin typeface="Times New Roman" pitchFamily="18" charset="0"/>
                <a:cs typeface="Times New Roman" pitchFamily="18" charset="0"/>
              </a:rPr>
              <a:t>Pin</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I/O</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Diagrama</a:t>
            </a:r>
          </a:p>
          <a:p>
            <a:pPr>
              <a:lnSpc>
                <a:spcPts val="3900"/>
              </a:lnSpc>
              <a:tabLst>
                <a:tab pos="711200" algn="l"/>
                <a:tab pos="1663700" algn="l"/>
                <a:tab pos="1943100" algn="l"/>
              </a:tabLst>
            </a:pPr>
            <a:r>
              <a:rPr lang="en-US" altLang="zh-CN" dirty="0" smtClean="0"/>
              <a:t>	</a:t>
            </a:r>
            <a:r>
              <a:rPr lang="en-US" altLang="zh-CN" sz="4397" b="1" dirty="0" smtClean="0">
                <a:solidFill>
                  <a:srgbClr val="000000"/>
                </a:solidFill>
                <a:latin typeface="Times New Roman" pitchFamily="18" charset="0"/>
                <a:cs typeface="Times New Roman" pitchFamily="18" charset="0"/>
              </a:rPr>
              <a:t>Conceptual</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000"/>
              </a:lnSpc>
              <a:tabLst>
                <a:tab pos="711200" algn="l"/>
                <a:tab pos="1663700" algn="l"/>
                <a:tab pos="1943100" algn="l"/>
              </a:tabLst>
            </a:pPr>
            <a:r>
              <a:rPr lang="en-US" altLang="zh-CN" dirty="0" smtClean="0"/>
              <a:t>		</a:t>
            </a:r>
            <a:r>
              <a:rPr lang="en-US" altLang="zh-CN" sz="1662" b="1" dirty="0" smtClean="0">
                <a:solidFill>
                  <a:srgbClr val="000000"/>
                </a:solidFill>
                <a:latin typeface="Times New Roman" pitchFamily="18" charset="0"/>
                <a:cs typeface="Times New Roman" pitchFamily="18" charset="0"/>
              </a:rPr>
              <a:t>Bit</a:t>
            </a:r>
            <a:r>
              <a:rPr lang="en-US" altLang="zh-CN" sz="1662" dirty="0" smtClean="0">
                <a:latin typeface="Times New Roman" pitchFamily="18" charset="0"/>
                <a:cs typeface="Times New Roman" pitchFamily="18" charset="0"/>
              </a:rPr>
              <a:t> </a:t>
            </a:r>
            <a:r>
              <a:rPr lang="en-US" altLang="zh-CN" sz="1662" b="1" dirty="0" smtClean="0">
                <a:solidFill>
                  <a:srgbClr val="000000"/>
                </a:solidFill>
                <a:latin typeface="Times New Roman" pitchFamily="18" charset="0"/>
                <a:cs typeface="Times New Roman" pitchFamily="18" charset="0"/>
              </a:rPr>
              <a:t>1</a:t>
            </a:r>
            <a:r>
              <a:rPr lang="en-US" altLang="zh-CN" sz="1662" dirty="0" smtClean="0">
                <a:latin typeface="Times New Roman" pitchFamily="18" charset="0"/>
                <a:cs typeface="Times New Roman" pitchFamily="18" charset="0"/>
              </a:rPr>
              <a:t> </a:t>
            </a:r>
            <a:r>
              <a:rPr lang="en-US" altLang="zh-CN" sz="1662" b="1" dirty="0" smtClean="0">
                <a:solidFill>
                  <a:srgbClr val="000000"/>
                </a:solidFill>
                <a:latin typeface="Times New Roman" pitchFamily="18" charset="0"/>
                <a:cs typeface="Times New Roman" pitchFamily="18" charset="0"/>
              </a:rPr>
              <a:t>of</a:t>
            </a:r>
            <a:r>
              <a:rPr lang="en-US" altLang="zh-CN" sz="1662" dirty="0" smtClean="0">
                <a:latin typeface="Times New Roman" pitchFamily="18" charset="0"/>
                <a:cs typeface="Times New Roman" pitchFamily="18" charset="0"/>
              </a:rPr>
              <a:t> </a:t>
            </a:r>
            <a:r>
              <a:rPr lang="en-US" altLang="zh-CN" sz="1662" b="1" dirty="0" smtClean="0">
                <a:solidFill>
                  <a:srgbClr val="000000"/>
                </a:solidFill>
                <a:latin typeface="Times New Roman" pitchFamily="18" charset="0"/>
                <a:cs typeface="Times New Roman" pitchFamily="18" charset="0"/>
              </a:rPr>
              <a:t>TRISB</a:t>
            </a:r>
          </a:p>
          <a:p>
            <a:pPr>
              <a:lnSpc>
                <a:spcPts val="1900"/>
              </a:lnSpc>
              <a:tabLst>
                <a:tab pos="711200" algn="l"/>
                <a:tab pos="1663700" algn="l"/>
                <a:tab pos="1943100" algn="l"/>
              </a:tabLst>
            </a:pPr>
            <a:r>
              <a:rPr lang="en-US" altLang="zh-CN" dirty="0" smtClean="0"/>
              <a:t>			</a:t>
            </a:r>
            <a:r>
              <a:rPr lang="en-US" altLang="zh-CN" sz="1662" b="1" dirty="0" smtClean="0">
                <a:solidFill>
                  <a:srgbClr val="000000"/>
                </a:solidFill>
                <a:latin typeface="Times New Roman" pitchFamily="18" charset="0"/>
                <a:cs typeface="Times New Roman" pitchFamily="18" charset="0"/>
              </a:rPr>
              <a:t>Register</a:t>
            </a:r>
          </a:p>
        </p:txBody>
      </p:sp>
      <p:sp>
        <p:nvSpPr>
          <p:cNvPr id="3" name="TextBox 1"/>
          <p:cNvSpPr txBox="1"/>
          <p:nvPr/>
        </p:nvSpPr>
        <p:spPr>
          <a:xfrm>
            <a:off x="4419600" y="3073400"/>
            <a:ext cx="736600" cy="800100"/>
          </a:xfrm>
          <a:prstGeom prst="rect">
            <a:avLst/>
          </a:prstGeom>
          <a:noFill/>
        </p:spPr>
        <p:txBody>
          <a:bodyPr wrap="none" lIns="0" tIns="0" rIns="0" rtlCol="0">
            <a:spAutoFit/>
          </a:bodyPr>
          <a:lstStyle/>
          <a:p>
            <a:pPr>
              <a:lnSpc>
                <a:spcPts val="2300"/>
              </a:lnSpc>
              <a:tabLst>
                <a:tab pos="88900" algn="l"/>
                <a:tab pos="139700" algn="l"/>
              </a:tabLst>
            </a:pPr>
            <a:r>
              <a:rPr lang="en-US" altLang="zh-CN" sz="1662" b="1" dirty="0" smtClean="0">
                <a:solidFill>
                  <a:srgbClr val="000000"/>
                </a:solidFill>
                <a:latin typeface="Times New Roman" pitchFamily="18" charset="0"/>
                <a:cs typeface="Times New Roman" pitchFamily="18" charset="0"/>
              </a:rPr>
              <a:t>PORTB</a:t>
            </a:r>
          </a:p>
          <a:p>
            <a:pPr>
              <a:lnSpc>
                <a:spcPts val="1900"/>
              </a:lnSpc>
              <a:tabLst>
                <a:tab pos="88900" algn="l"/>
                <a:tab pos="139700" algn="l"/>
              </a:tabLst>
            </a:pPr>
            <a:r>
              <a:rPr lang="en-US" altLang="zh-CN" dirty="0" smtClean="0"/>
              <a:t>		</a:t>
            </a:r>
            <a:r>
              <a:rPr lang="en-US" altLang="zh-CN" sz="1662" b="1" dirty="0" smtClean="0">
                <a:solidFill>
                  <a:srgbClr val="000000"/>
                </a:solidFill>
                <a:latin typeface="Times New Roman" pitchFamily="18" charset="0"/>
                <a:cs typeface="Times New Roman" pitchFamily="18" charset="0"/>
              </a:rPr>
              <a:t>Bit</a:t>
            </a:r>
            <a:r>
              <a:rPr lang="en-US" altLang="zh-CN" sz="1662" dirty="0" smtClean="0">
                <a:latin typeface="Times New Roman" pitchFamily="18" charset="0"/>
                <a:cs typeface="Times New Roman" pitchFamily="18" charset="0"/>
              </a:rPr>
              <a:t> </a:t>
            </a:r>
            <a:r>
              <a:rPr lang="en-US" altLang="zh-CN" sz="1662" b="1" dirty="0" smtClean="0">
                <a:solidFill>
                  <a:srgbClr val="000000"/>
                </a:solidFill>
                <a:latin typeface="Times New Roman" pitchFamily="18" charset="0"/>
                <a:cs typeface="Times New Roman" pitchFamily="18" charset="0"/>
              </a:rPr>
              <a:t>1</a:t>
            </a:r>
          </a:p>
          <a:p>
            <a:pPr>
              <a:lnSpc>
                <a:spcPts val="1900"/>
              </a:lnSpc>
              <a:tabLst>
                <a:tab pos="88900" algn="l"/>
                <a:tab pos="139700" algn="l"/>
              </a:tabLst>
            </a:pPr>
            <a:r>
              <a:rPr lang="en-US" altLang="zh-CN" dirty="0" smtClean="0"/>
              <a:t>	</a:t>
            </a:r>
            <a:r>
              <a:rPr lang="en-US" altLang="zh-CN" sz="1662" b="1" dirty="0" smtClean="0">
                <a:solidFill>
                  <a:srgbClr val="000000"/>
                </a:solidFill>
                <a:latin typeface="Times New Roman" pitchFamily="18" charset="0"/>
                <a:cs typeface="Times New Roman" pitchFamily="18" charset="0"/>
              </a:rPr>
              <a:t>Latch</a:t>
            </a:r>
          </a:p>
        </p:txBody>
      </p:sp>
      <p:sp>
        <p:nvSpPr>
          <p:cNvPr id="4" name="TextBox 1"/>
          <p:cNvSpPr txBox="1"/>
          <p:nvPr/>
        </p:nvSpPr>
        <p:spPr>
          <a:xfrm>
            <a:off x="6604000" y="2755900"/>
            <a:ext cx="1841500" cy="1676400"/>
          </a:xfrm>
          <a:prstGeom prst="rect">
            <a:avLst/>
          </a:prstGeom>
          <a:noFill/>
        </p:spPr>
        <p:txBody>
          <a:bodyPr wrap="none" lIns="0" tIns="0" rIns="0" rtlCol="0">
            <a:spAutoFit/>
          </a:bodyPr>
          <a:lstStyle/>
          <a:p>
            <a:pPr>
              <a:lnSpc>
                <a:spcPts val="2200"/>
              </a:lnSpc>
              <a:tabLst>
                <a:tab pos="1422400" algn="l"/>
              </a:tabLst>
            </a:pPr>
            <a:r>
              <a:rPr lang="en-US" altLang="zh-CN" sz="1662" dirty="0" smtClean="0">
                <a:solidFill>
                  <a:srgbClr val="000000"/>
                </a:solidFill>
                <a:latin typeface="Times New Roman" pitchFamily="18" charset="0"/>
                <a:cs typeface="Times New Roman" pitchFamily="18" charset="0"/>
              </a:rPr>
              <a:t>1</a:t>
            </a:r>
            <a:r>
              <a:rPr lang="en-US" altLang="zh-CN" sz="1662" dirty="0" smtClean="0">
                <a:latin typeface="Times New Roman" pitchFamily="18" charset="0"/>
                <a:cs typeface="Times New Roman" pitchFamily="18" charset="0"/>
              </a:rPr>
              <a:t> </a:t>
            </a:r>
            <a:r>
              <a:rPr lang="en-US" altLang="zh-CN" sz="1662" dirty="0" smtClean="0">
                <a:solidFill>
                  <a:srgbClr val="000000"/>
                </a:solidFill>
                <a:latin typeface="Times New Roman" pitchFamily="18" charset="0"/>
                <a:cs typeface="Times New Roman" pitchFamily="18" charset="0"/>
              </a:rPr>
              <a:t>=</a:t>
            </a:r>
            <a:r>
              <a:rPr lang="en-US" altLang="zh-CN" sz="1662" dirty="0" smtClean="0">
                <a:latin typeface="Times New Roman" pitchFamily="18" charset="0"/>
                <a:cs typeface="Times New Roman" pitchFamily="18" charset="0"/>
              </a:rPr>
              <a:t> </a:t>
            </a:r>
            <a:r>
              <a:rPr lang="en-US" altLang="zh-CN" sz="1662" dirty="0" smtClean="0">
                <a:solidFill>
                  <a:srgbClr val="000000"/>
                </a:solidFill>
                <a:latin typeface="Times New Roman" pitchFamily="18" charset="0"/>
                <a:cs typeface="Times New Roman" pitchFamily="18" charset="0"/>
              </a:rPr>
              <a:t>RB1</a:t>
            </a:r>
            <a:r>
              <a:rPr lang="en-US" altLang="zh-CN" sz="1662" dirty="0" smtClean="0">
                <a:latin typeface="Times New Roman" pitchFamily="18" charset="0"/>
                <a:cs typeface="Times New Roman" pitchFamily="18" charset="0"/>
              </a:rPr>
              <a:t> </a:t>
            </a:r>
            <a:r>
              <a:rPr lang="en-US" altLang="zh-CN" sz="1662" dirty="0" smtClean="0">
                <a:solidFill>
                  <a:srgbClr val="000000"/>
                </a:solidFill>
                <a:latin typeface="Times New Roman" pitchFamily="18" charset="0"/>
                <a:cs typeface="Times New Roman" pitchFamily="18" charset="0"/>
              </a:rPr>
              <a:t>is</a:t>
            </a:r>
            <a:r>
              <a:rPr lang="en-US" altLang="zh-CN" sz="1662" dirty="0" smtClean="0">
                <a:latin typeface="Times New Roman" pitchFamily="18" charset="0"/>
                <a:cs typeface="Times New Roman" pitchFamily="18" charset="0"/>
              </a:rPr>
              <a:t> </a:t>
            </a:r>
            <a:r>
              <a:rPr lang="en-US" altLang="zh-CN" sz="1662" dirty="0" smtClean="0">
                <a:solidFill>
                  <a:srgbClr val="000000"/>
                </a:solidFill>
                <a:latin typeface="Times New Roman" pitchFamily="18" charset="0"/>
                <a:cs typeface="Times New Roman" pitchFamily="18" charset="0"/>
              </a:rPr>
              <a:t>input</a:t>
            </a:r>
          </a:p>
          <a:p>
            <a:pPr>
              <a:lnSpc>
                <a:spcPts val="2000"/>
              </a:lnSpc>
              <a:tabLst>
                <a:tab pos="1422400" algn="l"/>
              </a:tabLst>
            </a:pPr>
            <a:r>
              <a:rPr lang="en-US" altLang="zh-CN" sz="1662" dirty="0" smtClean="0">
                <a:solidFill>
                  <a:srgbClr val="000000"/>
                </a:solidFill>
                <a:latin typeface="Times New Roman" pitchFamily="18" charset="0"/>
                <a:cs typeface="Times New Roman" pitchFamily="18" charset="0"/>
              </a:rPr>
              <a:t>0</a:t>
            </a:r>
            <a:r>
              <a:rPr lang="en-US" altLang="zh-CN" sz="1662" dirty="0" smtClean="0">
                <a:latin typeface="Times New Roman" pitchFamily="18" charset="0"/>
                <a:cs typeface="Times New Roman" pitchFamily="18" charset="0"/>
              </a:rPr>
              <a:t> </a:t>
            </a:r>
            <a:r>
              <a:rPr lang="en-US" altLang="zh-CN" sz="1662" dirty="0" smtClean="0">
                <a:solidFill>
                  <a:srgbClr val="000000"/>
                </a:solidFill>
                <a:latin typeface="Times New Roman" pitchFamily="18" charset="0"/>
                <a:cs typeface="Times New Roman" pitchFamily="18" charset="0"/>
              </a:rPr>
              <a:t>=</a:t>
            </a:r>
            <a:r>
              <a:rPr lang="en-US" altLang="zh-CN" sz="1662" dirty="0" smtClean="0">
                <a:latin typeface="Times New Roman" pitchFamily="18" charset="0"/>
                <a:cs typeface="Times New Roman" pitchFamily="18" charset="0"/>
              </a:rPr>
              <a:t> </a:t>
            </a:r>
            <a:r>
              <a:rPr lang="en-US" altLang="zh-CN" sz="1662" dirty="0" smtClean="0">
                <a:solidFill>
                  <a:srgbClr val="000000"/>
                </a:solidFill>
                <a:latin typeface="Times New Roman" pitchFamily="18" charset="0"/>
                <a:cs typeface="Times New Roman" pitchFamily="18" charset="0"/>
              </a:rPr>
              <a:t>RB1</a:t>
            </a:r>
            <a:r>
              <a:rPr lang="en-US" altLang="zh-CN" sz="1662" dirty="0" smtClean="0">
                <a:latin typeface="Times New Roman" pitchFamily="18" charset="0"/>
                <a:cs typeface="Times New Roman" pitchFamily="18" charset="0"/>
              </a:rPr>
              <a:t> </a:t>
            </a:r>
            <a:r>
              <a:rPr lang="en-US" altLang="zh-CN" sz="1662" dirty="0" smtClean="0">
                <a:solidFill>
                  <a:srgbClr val="000000"/>
                </a:solidFill>
                <a:latin typeface="Times New Roman" pitchFamily="18" charset="0"/>
                <a:cs typeface="Times New Roman" pitchFamily="18" charset="0"/>
              </a:rPr>
              <a:t>is</a:t>
            </a:r>
            <a:r>
              <a:rPr lang="en-US" altLang="zh-CN" sz="1662" dirty="0" smtClean="0">
                <a:latin typeface="Times New Roman" pitchFamily="18" charset="0"/>
                <a:cs typeface="Times New Roman" pitchFamily="18" charset="0"/>
              </a:rPr>
              <a:t> </a:t>
            </a:r>
            <a:r>
              <a:rPr lang="en-US" altLang="zh-CN" sz="1662" dirty="0" smtClean="0">
                <a:solidFill>
                  <a:srgbClr val="000000"/>
                </a:solidFill>
                <a:latin typeface="Times New Roman" pitchFamily="18" charset="0"/>
                <a:cs typeface="Times New Roman" pitchFamily="18" charset="0"/>
              </a:rPr>
              <a:t>output</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000"/>
              </a:lnSpc>
              <a:tabLst>
                <a:tab pos="1422400" algn="l"/>
              </a:tabLst>
            </a:pPr>
            <a:r>
              <a:rPr lang="en-US" altLang="zh-CN" dirty="0" smtClean="0"/>
              <a:t>	</a:t>
            </a:r>
            <a:r>
              <a:rPr lang="en-US" altLang="zh-CN" sz="1662" b="1" dirty="0" smtClean="0">
                <a:solidFill>
                  <a:srgbClr val="000000"/>
                </a:solidFill>
                <a:latin typeface="Times New Roman" pitchFamily="18" charset="0"/>
                <a:cs typeface="Times New Roman" pitchFamily="18" charset="0"/>
              </a:rPr>
              <a:t>RB1</a:t>
            </a:r>
          </a:p>
        </p:txBody>
      </p:sp>
      <p:sp>
        <p:nvSpPr>
          <p:cNvPr id="5" name="TextBox 1"/>
          <p:cNvSpPr txBox="1"/>
          <p:nvPr/>
        </p:nvSpPr>
        <p:spPr>
          <a:xfrm>
            <a:off x="1739900" y="3009900"/>
            <a:ext cx="2425700" cy="1879600"/>
          </a:xfrm>
          <a:prstGeom prst="rect">
            <a:avLst/>
          </a:prstGeom>
          <a:noFill/>
        </p:spPr>
        <p:txBody>
          <a:bodyPr wrap="none" lIns="0" tIns="0" rIns="0" rtlCol="0">
            <a:spAutoFit/>
          </a:bodyPr>
          <a:lstStyle/>
          <a:p>
            <a:pPr>
              <a:lnSpc>
                <a:spcPts val="1900"/>
              </a:lnSpc>
              <a:tabLst>
                <a:tab pos="190500" algn="l"/>
                <a:tab pos="241300" algn="l"/>
                <a:tab pos="1435100" algn="l"/>
                <a:tab pos="1676400" algn="l"/>
              </a:tabLst>
            </a:pPr>
            <a:r>
              <a:rPr lang="en-US" altLang="zh-CN" dirty="0" smtClean="0"/>
              <a:t>		</a:t>
            </a:r>
            <a:r>
              <a:rPr lang="en-US" altLang="zh-CN" sz="2498" b="1" dirty="0" smtClean="0">
                <a:solidFill>
                  <a:srgbClr val="000080"/>
                </a:solidFill>
                <a:latin typeface="Courier New" pitchFamily="18" charset="0"/>
                <a:cs typeface="Courier New" pitchFamily="18" charset="0"/>
              </a:rPr>
              <a:t>movwf</a:t>
            </a:r>
            <a:r>
              <a:rPr lang="en-US" altLang="zh-CN" sz="2498" dirty="0" smtClean="0">
                <a:latin typeface="Times New Roman" pitchFamily="18" charset="0"/>
                <a:cs typeface="Times New Roman" pitchFamily="18" charset="0"/>
              </a:rPr>
              <a:t>   </a:t>
            </a:r>
            <a:r>
              <a:rPr lang="en-US" altLang="zh-CN" sz="2498" b="1" dirty="0" smtClean="0">
                <a:solidFill>
                  <a:srgbClr val="000080"/>
                </a:solidFill>
                <a:latin typeface="Courier New" pitchFamily="18" charset="0"/>
                <a:cs typeface="Courier New" pitchFamily="18" charset="0"/>
              </a:rPr>
              <a:t>PORTB</a:t>
            </a:r>
          </a:p>
          <a:p>
            <a:pPr>
              <a:lnSpc>
                <a:spcPts val="2700"/>
              </a:lnSpc>
              <a:tabLst>
                <a:tab pos="190500" algn="l"/>
                <a:tab pos="241300" algn="l"/>
                <a:tab pos="1435100" algn="l"/>
                <a:tab pos="1676400" algn="l"/>
              </a:tabLst>
            </a:pPr>
            <a:r>
              <a:rPr lang="en-US" altLang="zh-CN" dirty="0" smtClean="0"/>
              <a:t>				</a:t>
            </a:r>
            <a:r>
              <a:rPr lang="en-US" altLang="zh-CN" sz="1662" b="1" dirty="0" smtClean="0">
                <a:solidFill>
                  <a:srgbClr val="000000"/>
                </a:solidFill>
                <a:latin typeface="Times New Roman" pitchFamily="18" charset="0"/>
                <a:cs typeface="Times New Roman" pitchFamily="18" charset="0"/>
              </a:rPr>
              <a:t>Write</a:t>
            </a:r>
          </a:p>
          <a:p>
            <a:pPr>
              <a:lnSpc>
                <a:spcPts val="1900"/>
              </a:lnSpc>
              <a:tabLst>
                <a:tab pos="190500" algn="l"/>
                <a:tab pos="241300" algn="l"/>
                <a:tab pos="1435100" algn="l"/>
                <a:tab pos="1676400" algn="l"/>
              </a:tabLst>
            </a:pPr>
            <a:r>
              <a:rPr lang="en-US" altLang="zh-CN" dirty="0" smtClean="0"/>
              <a:t>			</a:t>
            </a:r>
            <a:r>
              <a:rPr lang="en-US" altLang="zh-CN" sz="1662" b="1" dirty="0" smtClean="0">
                <a:solidFill>
                  <a:srgbClr val="000000"/>
                </a:solidFill>
                <a:latin typeface="Times New Roman" pitchFamily="18" charset="0"/>
                <a:cs typeface="Times New Roman" pitchFamily="18" charset="0"/>
              </a:rPr>
              <a:t>Operation</a:t>
            </a: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100"/>
              </a:lnSpc>
              <a:tabLst>
                <a:tab pos="190500" algn="l"/>
                <a:tab pos="241300" algn="l"/>
                <a:tab pos="1435100" algn="l"/>
                <a:tab pos="1676400" algn="l"/>
              </a:tabLst>
            </a:pPr>
            <a:r>
              <a:rPr lang="en-US" altLang="zh-CN" dirty="0" smtClean="0"/>
              <a:t>	</a:t>
            </a:r>
            <a:r>
              <a:rPr lang="en-US" altLang="zh-CN" sz="1662" b="1" dirty="0" smtClean="0">
                <a:solidFill>
                  <a:srgbClr val="000000"/>
                </a:solidFill>
                <a:latin typeface="Times New Roman" pitchFamily="18" charset="0"/>
                <a:cs typeface="Times New Roman" pitchFamily="18" charset="0"/>
              </a:rPr>
              <a:t>Bit</a:t>
            </a:r>
            <a:r>
              <a:rPr lang="en-US" altLang="zh-CN" sz="1662" dirty="0" smtClean="0">
                <a:latin typeface="Times New Roman" pitchFamily="18" charset="0"/>
                <a:cs typeface="Times New Roman" pitchFamily="18" charset="0"/>
              </a:rPr>
              <a:t> </a:t>
            </a:r>
            <a:r>
              <a:rPr lang="en-US" altLang="zh-CN" sz="1662" b="1" dirty="0" smtClean="0">
                <a:solidFill>
                  <a:srgbClr val="000000"/>
                </a:solidFill>
                <a:latin typeface="Times New Roman" pitchFamily="18" charset="0"/>
                <a:cs typeface="Times New Roman" pitchFamily="18" charset="0"/>
              </a:rPr>
              <a:t>1</a:t>
            </a:r>
            <a:r>
              <a:rPr lang="en-US" altLang="zh-CN" sz="1662" dirty="0" smtClean="0">
                <a:latin typeface="Times New Roman" pitchFamily="18" charset="0"/>
                <a:cs typeface="Times New Roman" pitchFamily="18" charset="0"/>
              </a:rPr>
              <a:t> </a:t>
            </a:r>
            <a:r>
              <a:rPr lang="en-US" altLang="zh-CN" sz="1662" b="1" dirty="0" smtClean="0">
                <a:solidFill>
                  <a:srgbClr val="000000"/>
                </a:solidFill>
                <a:latin typeface="Times New Roman" pitchFamily="18" charset="0"/>
                <a:cs typeface="Times New Roman" pitchFamily="18" charset="0"/>
              </a:rPr>
              <a:t>of</a:t>
            </a:r>
          </a:p>
          <a:p>
            <a:pPr>
              <a:lnSpc>
                <a:spcPts val="2000"/>
              </a:lnSpc>
              <a:tabLst>
                <a:tab pos="190500" algn="l"/>
                <a:tab pos="241300" algn="l"/>
                <a:tab pos="1435100" algn="l"/>
                <a:tab pos="1676400" algn="l"/>
              </a:tabLst>
            </a:pPr>
            <a:r>
              <a:rPr lang="en-US" altLang="zh-CN" sz="1662" b="1" dirty="0" smtClean="0">
                <a:solidFill>
                  <a:srgbClr val="000000"/>
                </a:solidFill>
                <a:latin typeface="Times New Roman" pitchFamily="18" charset="0"/>
                <a:cs typeface="Times New Roman" pitchFamily="18" charset="0"/>
              </a:rPr>
              <a:t>Data</a:t>
            </a:r>
            <a:r>
              <a:rPr lang="en-US" altLang="zh-CN" sz="1662" dirty="0" smtClean="0">
                <a:latin typeface="Times New Roman" pitchFamily="18" charset="0"/>
                <a:cs typeface="Times New Roman" pitchFamily="18" charset="0"/>
              </a:rPr>
              <a:t> </a:t>
            </a:r>
            <a:r>
              <a:rPr lang="en-US" altLang="zh-CN" sz="1662" b="1" dirty="0" smtClean="0">
                <a:solidFill>
                  <a:srgbClr val="000000"/>
                </a:solidFill>
                <a:latin typeface="Times New Roman" pitchFamily="18" charset="0"/>
                <a:cs typeface="Times New Roman" pitchFamily="18" charset="0"/>
              </a:rPr>
              <a:t>Bus</a:t>
            </a:r>
          </a:p>
        </p:txBody>
      </p:sp>
      <p:sp>
        <p:nvSpPr>
          <p:cNvPr id="6" name="TextBox 1"/>
          <p:cNvSpPr txBox="1"/>
          <p:nvPr/>
        </p:nvSpPr>
        <p:spPr>
          <a:xfrm>
            <a:off x="2273300" y="5334000"/>
            <a:ext cx="2374900" cy="889000"/>
          </a:xfrm>
          <a:prstGeom prst="rect">
            <a:avLst/>
          </a:prstGeom>
          <a:noFill/>
        </p:spPr>
        <p:txBody>
          <a:bodyPr wrap="none" lIns="0" tIns="0" rIns="0" rtlCol="0">
            <a:spAutoFit/>
          </a:bodyPr>
          <a:lstStyle/>
          <a:p>
            <a:pPr>
              <a:lnSpc>
                <a:spcPts val="2300"/>
              </a:lnSpc>
              <a:tabLst>
                <a:tab pos="1384300" algn="l"/>
                <a:tab pos="1612900" algn="l"/>
              </a:tabLst>
            </a:pPr>
            <a:r>
              <a:rPr lang="en-US" altLang="zh-CN" dirty="0" smtClean="0"/>
              <a:t>		</a:t>
            </a:r>
            <a:r>
              <a:rPr lang="en-US" altLang="zh-CN" sz="1662" b="1" dirty="0" smtClean="0">
                <a:solidFill>
                  <a:srgbClr val="000000"/>
                </a:solidFill>
                <a:latin typeface="Times New Roman" pitchFamily="18" charset="0"/>
                <a:cs typeface="Times New Roman" pitchFamily="18" charset="0"/>
              </a:rPr>
              <a:t>Read</a:t>
            </a:r>
          </a:p>
          <a:p>
            <a:pPr>
              <a:lnSpc>
                <a:spcPts val="2000"/>
              </a:lnSpc>
              <a:tabLst>
                <a:tab pos="1384300" algn="l"/>
                <a:tab pos="1612900" algn="l"/>
              </a:tabLst>
            </a:pPr>
            <a:r>
              <a:rPr lang="en-US" altLang="zh-CN" dirty="0" smtClean="0"/>
              <a:t>	</a:t>
            </a:r>
            <a:r>
              <a:rPr lang="en-US" altLang="zh-CN" sz="1662" b="1" dirty="0" smtClean="0">
                <a:solidFill>
                  <a:srgbClr val="000000"/>
                </a:solidFill>
                <a:latin typeface="Times New Roman" pitchFamily="18" charset="0"/>
                <a:cs typeface="Times New Roman" pitchFamily="18" charset="0"/>
              </a:rPr>
              <a:t>Operation</a:t>
            </a:r>
          </a:p>
          <a:p>
            <a:pPr>
              <a:lnSpc>
                <a:spcPts val="2700"/>
              </a:lnSpc>
              <a:tabLst>
                <a:tab pos="1384300" algn="l"/>
                <a:tab pos="1612900" algn="l"/>
              </a:tabLst>
            </a:pPr>
            <a:r>
              <a:rPr lang="en-US" altLang="zh-CN" sz="2498" b="1" dirty="0" smtClean="0">
                <a:solidFill>
                  <a:srgbClr val="000080"/>
                </a:solidFill>
                <a:latin typeface="Courier New" pitchFamily="18" charset="0"/>
                <a:cs typeface="Courier New" pitchFamily="18" charset="0"/>
              </a:rPr>
              <a:t>movf</a:t>
            </a:r>
            <a:r>
              <a:rPr lang="en-US" altLang="zh-CN" sz="2498" dirty="0" smtClean="0">
                <a:latin typeface="Times New Roman" pitchFamily="18" charset="0"/>
                <a:cs typeface="Times New Roman" pitchFamily="18" charset="0"/>
              </a:rPr>
              <a:t>   </a:t>
            </a:r>
            <a:r>
              <a:rPr lang="en-US" altLang="zh-CN" sz="2498" b="1" dirty="0" smtClean="0">
                <a:solidFill>
                  <a:srgbClr val="000080"/>
                </a:solidFill>
                <a:latin typeface="Courier New" pitchFamily="18" charset="0"/>
                <a:cs typeface="Courier New" pitchFamily="18" charset="0"/>
              </a:rPr>
              <a:t>PORTB,w</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4749800" y="584200"/>
            <a:ext cx="2324100" cy="774700"/>
          </a:xfrm>
          <a:prstGeom prst="rect">
            <a:avLst/>
          </a:prstGeom>
          <a:noFill/>
        </p:spPr>
        <p:txBody>
          <a:bodyPr wrap="none" lIns="0" tIns="0" rIns="0" rtlCol="0">
            <a:spAutoFit/>
          </a:bodyPr>
          <a:lstStyle/>
          <a:p>
            <a:pPr>
              <a:lnSpc>
                <a:spcPts val="6100"/>
              </a:lnSpc>
              <a:tabLst/>
            </a:pPr>
            <a:r>
              <a:rPr lang="en-US" altLang="zh-CN" sz="4397" b="1" dirty="0" smtClean="0">
                <a:solidFill>
                  <a:srgbClr val="000000"/>
                </a:solidFill>
                <a:latin typeface="Times New Roman" pitchFamily="18" charset="0"/>
                <a:cs typeface="Times New Roman" pitchFamily="18" charset="0"/>
              </a:rPr>
              <a:t>I/O</a:t>
            </a:r>
            <a:r>
              <a:rPr lang="en-US" altLang="zh-CN" sz="4397" dirty="0" smtClean="0">
                <a:latin typeface="Times New Roman" pitchFamily="18" charset="0"/>
                <a:cs typeface="Times New Roman" pitchFamily="18" charset="0"/>
              </a:rPr>
              <a:t> </a:t>
            </a:r>
            <a:r>
              <a:rPr lang="en-US" altLang="zh-CN" sz="4397" b="1" dirty="0" smtClean="0">
                <a:solidFill>
                  <a:srgbClr val="000000"/>
                </a:solidFill>
                <a:latin typeface="Times New Roman" pitchFamily="18" charset="0"/>
                <a:cs typeface="Times New Roman" pitchFamily="18" charset="0"/>
              </a:rPr>
              <a:t>Ports</a:t>
            </a:r>
          </a:p>
        </p:txBody>
      </p:sp>
      <p:sp>
        <p:nvSpPr>
          <p:cNvPr id="4" name="TextBox 1"/>
          <p:cNvSpPr txBox="1"/>
          <p:nvPr/>
        </p:nvSpPr>
        <p:spPr>
          <a:xfrm>
            <a:off x="1549400" y="4876800"/>
            <a:ext cx="7690567" cy="1918474"/>
          </a:xfrm>
          <a:prstGeom prst="rect">
            <a:avLst/>
          </a:prstGeom>
          <a:noFill/>
        </p:spPr>
        <p:txBody>
          <a:bodyPr wrap="none" lIns="0" tIns="0" rIns="0" rtlCol="0">
            <a:spAutoFit/>
          </a:bodyPr>
          <a:lstStyle/>
          <a:p>
            <a:pPr marL="571500" indent="-571500">
              <a:lnSpc>
                <a:spcPts val="5000"/>
              </a:lnSpc>
              <a:buFont typeface="Arial" panose="020B0604020202020204" pitchFamily="34" charset="0"/>
              <a:buChar char="•"/>
              <a:tabLst/>
            </a:pPr>
            <a:r>
              <a:rPr lang="en-US" altLang="zh-CN" sz="3600" b="1" dirty="0" smtClean="0">
                <a:solidFill>
                  <a:srgbClr val="000000"/>
                </a:solidFill>
                <a:latin typeface="Times New Roman" pitchFamily="18" charset="0"/>
                <a:cs typeface="Times New Roman" pitchFamily="18" charset="0"/>
              </a:rPr>
              <a:t>Bit</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n</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en</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TRISx</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controla</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la</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dirección</a:t>
            </a:r>
          </a:p>
          <a:p>
            <a:pPr>
              <a:lnSpc>
                <a:spcPts val="3800"/>
              </a:lnSpc>
              <a:tabLst/>
            </a:pPr>
            <a:r>
              <a:rPr lang="en-US" altLang="zh-CN" sz="3600" b="1" dirty="0" smtClean="0">
                <a:solidFill>
                  <a:srgbClr val="000000"/>
                </a:solidFill>
                <a:latin typeface="Times New Roman" pitchFamily="18" charset="0"/>
                <a:cs typeface="Times New Roman" pitchFamily="18" charset="0"/>
              </a:rPr>
              <a:t>     del</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dato</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Bit</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n</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en</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el</a:t>
            </a:r>
            <a:r>
              <a:rPr lang="en-US" altLang="zh-CN" sz="3600" dirty="0" smtClean="0">
                <a:latin typeface="Times New Roman" pitchFamily="18" charset="0"/>
                <a:cs typeface="Times New Roman" pitchFamily="18" charset="0"/>
              </a:rPr>
              <a:t>  </a:t>
            </a:r>
            <a:r>
              <a:rPr lang="en-US" altLang="zh-CN" sz="3600" b="1" dirty="0" smtClean="0">
                <a:solidFill>
                  <a:srgbClr val="000000"/>
                </a:solidFill>
                <a:latin typeface="Times New Roman" pitchFamily="18" charset="0"/>
                <a:cs typeface="Times New Roman" pitchFamily="18" charset="0"/>
              </a:rPr>
              <a:t>PORTx</a:t>
            </a:r>
          </a:p>
          <a:p>
            <a:pPr marL="571500" indent="-571500">
              <a:lnSpc>
                <a:spcPts val="5800"/>
              </a:lnSpc>
              <a:buFont typeface="Arial" panose="020B0604020202020204" pitchFamily="34" charset="0"/>
              <a:buChar char="•"/>
              <a:tabLst/>
            </a:pPr>
            <a:r>
              <a:rPr lang="en-US" altLang="zh-CN" sz="4002" b="1" dirty="0" smtClean="0">
                <a:solidFill>
                  <a:srgbClr val="000000"/>
                </a:solidFill>
                <a:latin typeface="Times New Roman" pitchFamily="18" charset="0"/>
                <a:cs typeface="Times New Roman" pitchFamily="18" charset="0"/>
              </a:rPr>
              <a:t>1</a:t>
            </a:r>
            <a:r>
              <a:rPr lang="en-US" altLang="zh-CN" sz="4002" dirty="0" smtClean="0">
                <a:latin typeface="Times New Roman" pitchFamily="18" charset="0"/>
                <a:cs typeface="Times New Roman" pitchFamily="18" charset="0"/>
              </a:rPr>
              <a:t> </a:t>
            </a:r>
            <a:r>
              <a:rPr lang="en-US" altLang="zh-CN" sz="4002" b="1" dirty="0" smtClean="0">
                <a:solidFill>
                  <a:srgbClr val="000000"/>
                </a:solidFill>
                <a:latin typeface="Times New Roman" pitchFamily="18" charset="0"/>
                <a:cs typeface="Times New Roman" pitchFamily="18" charset="0"/>
              </a:rPr>
              <a:t>=</a:t>
            </a:r>
            <a:r>
              <a:rPr lang="en-US" altLang="zh-CN" sz="4002" dirty="0" smtClean="0">
                <a:latin typeface="Times New Roman" pitchFamily="18" charset="0"/>
                <a:cs typeface="Times New Roman" pitchFamily="18" charset="0"/>
              </a:rPr>
              <a:t> </a:t>
            </a:r>
            <a:r>
              <a:rPr lang="en-US" altLang="zh-CN" sz="4002" b="1" dirty="0" smtClean="0">
                <a:solidFill>
                  <a:srgbClr val="000000"/>
                </a:solidFill>
                <a:latin typeface="Times New Roman" pitchFamily="18" charset="0"/>
                <a:cs typeface="Times New Roman" pitchFamily="18" charset="0"/>
              </a:rPr>
              <a:t>Entrada,</a:t>
            </a:r>
            <a:r>
              <a:rPr lang="en-US" altLang="zh-CN" sz="4002" dirty="0" smtClean="0">
                <a:latin typeface="Times New Roman" pitchFamily="18" charset="0"/>
                <a:cs typeface="Times New Roman" pitchFamily="18" charset="0"/>
              </a:rPr>
              <a:t> </a:t>
            </a:r>
            <a:r>
              <a:rPr lang="en-US" altLang="zh-CN" sz="4002" b="1" dirty="0" smtClean="0">
                <a:solidFill>
                  <a:srgbClr val="000000"/>
                </a:solidFill>
                <a:latin typeface="Times New Roman" pitchFamily="18" charset="0"/>
                <a:cs typeface="Times New Roman" pitchFamily="18" charset="0"/>
              </a:rPr>
              <a:t>0</a:t>
            </a:r>
            <a:r>
              <a:rPr lang="en-US" altLang="zh-CN" sz="4002" dirty="0" smtClean="0">
                <a:latin typeface="Times New Roman" pitchFamily="18" charset="0"/>
                <a:cs typeface="Times New Roman" pitchFamily="18" charset="0"/>
              </a:rPr>
              <a:t> </a:t>
            </a:r>
            <a:r>
              <a:rPr lang="en-US" altLang="zh-CN" sz="4002" b="1" dirty="0" smtClean="0">
                <a:solidFill>
                  <a:srgbClr val="000000"/>
                </a:solidFill>
                <a:latin typeface="Times New Roman" pitchFamily="18" charset="0"/>
                <a:cs typeface="Times New Roman" pitchFamily="18" charset="0"/>
              </a:rPr>
              <a:t>=</a:t>
            </a:r>
            <a:r>
              <a:rPr lang="en-US" altLang="zh-CN" sz="4002" dirty="0" smtClean="0">
                <a:latin typeface="Times New Roman" pitchFamily="18" charset="0"/>
                <a:cs typeface="Times New Roman" pitchFamily="18" charset="0"/>
              </a:rPr>
              <a:t> </a:t>
            </a:r>
            <a:r>
              <a:rPr lang="en-US" altLang="zh-CN" sz="4002" b="1" dirty="0" smtClean="0">
                <a:solidFill>
                  <a:srgbClr val="000000"/>
                </a:solidFill>
                <a:latin typeface="Times New Roman" pitchFamily="18" charset="0"/>
                <a:cs typeface="Times New Roman" pitchFamily="18" charset="0"/>
              </a:rPr>
              <a:t>Salida</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dirty="0" smtClean="0">
                <a:solidFill>
                  <a:srgbClr val="FF0000"/>
                </a:solidFill>
              </a:rPr>
              <a:t>Arquitectura de Computadoras</a:t>
            </a:r>
            <a:endParaRPr lang="es-AR" dirty="0">
              <a:solidFill>
                <a:srgbClr val="FF0000"/>
              </a:solidFill>
            </a:endParaRPr>
          </a:p>
        </p:txBody>
      </p:sp>
      <p:sp>
        <p:nvSpPr>
          <p:cNvPr id="3" name="2 Subtítulo"/>
          <p:cNvSpPr>
            <a:spLocks noGrp="1"/>
          </p:cNvSpPr>
          <p:nvPr>
            <p:ph type="subTitle" idx="1"/>
          </p:nvPr>
        </p:nvSpPr>
        <p:spPr/>
        <p:txBody>
          <a:bodyPr/>
          <a:lstStyle/>
          <a:p>
            <a:r>
              <a:rPr lang="es-AR" i="1" dirty="0" smtClean="0">
                <a:effectLst>
                  <a:outerShdw blurRad="38100" dist="38100" dir="2700000" algn="tl">
                    <a:srgbClr val="000000">
                      <a:alpha val="43137"/>
                    </a:srgbClr>
                  </a:outerShdw>
                </a:effectLst>
              </a:rPr>
              <a:t>Trabajo Practico</a:t>
            </a:r>
          </a:p>
          <a:p>
            <a:r>
              <a:rPr lang="es-AR" i="1" dirty="0" smtClean="0">
                <a:effectLst>
                  <a:outerShdw blurRad="38100" dist="38100" dir="2700000" algn="tl">
                    <a:srgbClr val="000000">
                      <a:alpha val="43137"/>
                    </a:srgbClr>
                  </a:outerShdw>
                </a:effectLst>
              </a:rPr>
              <a:t>Desarrollo de Ascensor</a:t>
            </a:r>
            <a:endParaRPr lang="es-AR"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7380662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700" y="356617"/>
            <a:ext cx="6858000" cy="7017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953725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300" y="198437"/>
            <a:ext cx="6553200" cy="725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422076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0100" y="106628"/>
            <a:ext cx="6553200" cy="7346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174237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36425" y="1088304"/>
            <a:ext cx="7637005" cy="6357220"/>
          </a:xfrm>
          <a:prstGeom prst="rect">
            <a:avLst/>
          </a:prstGeom>
        </p:spPr>
      </p:pic>
      <p:sp>
        <p:nvSpPr>
          <p:cNvPr id="5" name="Título 1"/>
          <p:cNvSpPr>
            <a:spLocks noGrp="1"/>
          </p:cNvSpPr>
          <p:nvPr>
            <p:ph type="title"/>
          </p:nvPr>
        </p:nvSpPr>
        <p:spPr>
          <a:xfrm>
            <a:off x="1460238" y="236641"/>
            <a:ext cx="7816292" cy="711139"/>
          </a:xfrm>
        </p:spPr>
        <p:txBody>
          <a:bodyPr anchor="ctr">
            <a:normAutofit fontScale="90000"/>
          </a:bodyPr>
          <a:lstStyle/>
          <a:p>
            <a:pPr algn="ctr"/>
            <a:r>
              <a:rPr lang="es-ES" dirty="0" smtClean="0"/>
              <a:t>Ascensor – Plaqueta</a:t>
            </a:r>
            <a:endParaRPr lang="es-ES" dirty="0"/>
          </a:p>
        </p:txBody>
      </p:sp>
    </p:spTree>
    <p:extLst>
      <p:ext uri="{BB962C8B-B14F-4D97-AF65-F5344CB8AC3E}">
        <p14:creationId xmlns:p14="http://schemas.microsoft.com/office/powerpoint/2010/main" val="276942666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Diagrama Eléctrico Ascensor</a:t>
            </a:r>
            <a:endParaRPr lang="es-AR" dirty="0"/>
          </a:p>
        </p:txBody>
      </p:sp>
      <p:pic>
        <p:nvPicPr>
          <p:cNvPr id="4" name="3 Marcador de contenid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84" y="1417638"/>
            <a:ext cx="10444416" cy="6019800"/>
          </a:xfrm>
        </p:spPr>
      </p:pic>
      <p:sp>
        <p:nvSpPr>
          <p:cNvPr id="5" name="4 Elipse"/>
          <p:cNvSpPr/>
          <p:nvPr/>
        </p:nvSpPr>
        <p:spPr>
          <a:xfrm>
            <a:off x="4737100" y="2027238"/>
            <a:ext cx="990600" cy="11430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7861300" y="4999037"/>
            <a:ext cx="609600" cy="6096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Elipse"/>
          <p:cNvSpPr/>
          <p:nvPr/>
        </p:nvSpPr>
        <p:spPr>
          <a:xfrm>
            <a:off x="7861300" y="5761037"/>
            <a:ext cx="609600" cy="5334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7 Elipse"/>
          <p:cNvSpPr/>
          <p:nvPr/>
        </p:nvSpPr>
        <p:spPr>
          <a:xfrm>
            <a:off x="1231900" y="3627437"/>
            <a:ext cx="838200" cy="8382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8 Elipse"/>
          <p:cNvSpPr/>
          <p:nvPr/>
        </p:nvSpPr>
        <p:spPr>
          <a:xfrm>
            <a:off x="2222500" y="4729641"/>
            <a:ext cx="533400" cy="497996"/>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9 Elipse"/>
          <p:cNvSpPr/>
          <p:nvPr/>
        </p:nvSpPr>
        <p:spPr>
          <a:xfrm>
            <a:off x="4432300" y="5785303"/>
            <a:ext cx="2209799" cy="1194934"/>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2 CuadroTexto"/>
          <p:cNvSpPr txBox="1"/>
          <p:nvPr/>
        </p:nvSpPr>
        <p:spPr>
          <a:xfrm>
            <a:off x="5232400" y="6980237"/>
            <a:ext cx="591957" cy="276999"/>
          </a:xfrm>
          <a:prstGeom prst="rect">
            <a:avLst/>
          </a:prstGeom>
          <a:noFill/>
        </p:spPr>
        <p:txBody>
          <a:bodyPr wrap="none" rtlCol="0">
            <a:spAutoFit/>
          </a:bodyPr>
          <a:lstStyle/>
          <a:p>
            <a:r>
              <a:rPr lang="es-ES" sz="1200" b="1" dirty="0" smtClean="0">
                <a:solidFill>
                  <a:schemeClr val="accent1"/>
                </a:solidFill>
              </a:rPr>
              <a:t>Motor</a:t>
            </a:r>
            <a:endParaRPr lang="es-AR" sz="1200" b="1" dirty="0">
              <a:solidFill>
                <a:schemeClr val="accent1"/>
              </a:solidFill>
            </a:endParaRPr>
          </a:p>
        </p:txBody>
      </p:sp>
    </p:spTree>
    <p:extLst>
      <p:ext uri="{BB962C8B-B14F-4D97-AF65-F5344CB8AC3E}">
        <p14:creationId xmlns:p14="http://schemas.microsoft.com/office/powerpoint/2010/main" val="269369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000"/>
                                        <p:tgtEl>
                                          <p:spTgt spid="5"/>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heel(1)">
                                      <p:cBhvr>
                                        <p:cTn id="13" dur="2000"/>
                                        <p:tgtEl>
                                          <p:spTgt spid="9"/>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heel(1)">
                                      <p:cBhvr>
                                        <p:cTn id="16" dur="2000"/>
                                        <p:tgtEl>
                                          <p:spTgt spid="10"/>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heel(1)">
                                      <p:cBhvr>
                                        <p:cTn id="19" dur="2000"/>
                                        <p:tgtEl>
                                          <p:spTgt spid="7"/>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heel(1)">
                                      <p:cBhvr>
                                        <p:cTn id="2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solidFill>
                  <a:srgbClr val="FF0000"/>
                </a:solidFill>
              </a:rPr>
              <a:t>Diagrama de Utilización</a:t>
            </a:r>
            <a:endParaRPr lang="es-AR" dirty="0">
              <a:solidFill>
                <a:srgbClr val="FF0000"/>
              </a:solidFill>
            </a:endParaRPr>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94138" y="1417637"/>
            <a:ext cx="10189333" cy="5627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Elipse"/>
          <p:cNvSpPr/>
          <p:nvPr/>
        </p:nvSpPr>
        <p:spPr>
          <a:xfrm>
            <a:off x="3241466" y="3859213"/>
            <a:ext cx="505256" cy="278297"/>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7" name="6 Elipse"/>
          <p:cNvSpPr/>
          <p:nvPr/>
        </p:nvSpPr>
        <p:spPr>
          <a:xfrm>
            <a:off x="5767747" y="3309935"/>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8" name="7 Elipse"/>
          <p:cNvSpPr/>
          <p:nvPr/>
        </p:nvSpPr>
        <p:spPr>
          <a:xfrm>
            <a:off x="7298249" y="3551237"/>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9" name="8 Elipse"/>
          <p:cNvSpPr/>
          <p:nvPr/>
        </p:nvSpPr>
        <p:spPr>
          <a:xfrm>
            <a:off x="6862468" y="3767135"/>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0" name="9 Elipse"/>
          <p:cNvSpPr/>
          <p:nvPr/>
        </p:nvSpPr>
        <p:spPr>
          <a:xfrm>
            <a:off x="3241466" y="3580916"/>
            <a:ext cx="505256" cy="278297"/>
          </a:xfrm>
          <a:prstGeom prst="ellipse">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1" name="10 Elipse"/>
          <p:cNvSpPr/>
          <p:nvPr/>
        </p:nvSpPr>
        <p:spPr>
          <a:xfrm>
            <a:off x="3157257" y="202723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2" name="11 Elipse"/>
          <p:cNvSpPr/>
          <p:nvPr/>
        </p:nvSpPr>
        <p:spPr>
          <a:xfrm>
            <a:off x="3157257" y="1748940"/>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3" name="12 Elipse"/>
          <p:cNvSpPr/>
          <p:nvPr/>
        </p:nvSpPr>
        <p:spPr>
          <a:xfrm>
            <a:off x="6862468" y="179863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7" name="16 Rectángulo"/>
          <p:cNvSpPr/>
          <p:nvPr/>
        </p:nvSpPr>
        <p:spPr>
          <a:xfrm>
            <a:off x="317500" y="2636837"/>
            <a:ext cx="1094722" cy="3175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r>
              <a:rPr lang="es-AR" sz="1400" dirty="0"/>
              <a:t>Pta. Cabina</a:t>
            </a:r>
          </a:p>
        </p:txBody>
      </p:sp>
      <p:sp>
        <p:nvSpPr>
          <p:cNvPr id="18" name="17 Elipse"/>
          <p:cNvSpPr/>
          <p:nvPr/>
        </p:nvSpPr>
        <p:spPr>
          <a:xfrm>
            <a:off x="3241466" y="3272940"/>
            <a:ext cx="505256" cy="278297"/>
          </a:xfrm>
          <a:prstGeom prst="ellipse">
            <a:avLst/>
          </a:prstGeom>
          <a:solidFill>
            <a:schemeClr val="accent1">
              <a:alpha val="2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4" name="12 Elipse"/>
          <p:cNvSpPr/>
          <p:nvPr/>
        </p:nvSpPr>
        <p:spPr>
          <a:xfrm>
            <a:off x="6870700" y="2053740"/>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Tree>
    <p:extLst>
      <p:ext uri="{BB962C8B-B14F-4D97-AF65-F5344CB8AC3E}">
        <p14:creationId xmlns:p14="http://schemas.microsoft.com/office/powerpoint/2010/main" val="107003157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dirty="0"/>
          </a:p>
        </p:txBody>
      </p:sp>
      <p:pic>
        <p:nvPicPr>
          <p:cNvPr id="3" name="Imagen 2"/>
          <p:cNvPicPr>
            <a:picLocks noChangeAspect="1"/>
          </p:cNvPicPr>
          <p:nvPr/>
        </p:nvPicPr>
        <p:blipFill>
          <a:blip r:embed="rId2"/>
          <a:stretch>
            <a:fillRect/>
          </a:stretch>
        </p:blipFill>
        <p:spPr>
          <a:xfrm>
            <a:off x="2400701" y="2179637"/>
            <a:ext cx="5338605" cy="3124200"/>
          </a:xfrm>
          <a:prstGeom prst="rect">
            <a:avLst/>
          </a:prstGeom>
        </p:spPr>
      </p:pic>
      <p:sp>
        <p:nvSpPr>
          <p:cNvPr id="4" name="CuadroTexto 3"/>
          <p:cNvSpPr txBox="1"/>
          <p:nvPr/>
        </p:nvSpPr>
        <p:spPr>
          <a:xfrm>
            <a:off x="7708900" y="4112438"/>
            <a:ext cx="1159292" cy="276999"/>
          </a:xfrm>
          <a:prstGeom prst="rect">
            <a:avLst/>
          </a:prstGeom>
          <a:noFill/>
        </p:spPr>
        <p:txBody>
          <a:bodyPr wrap="none" rtlCol="0">
            <a:spAutoFit/>
          </a:bodyPr>
          <a:lstStyle/>
          <a:p>
            <a:r>
              <a:rPr lang="es-ES" sz="1200" b="1" dirty="0" smtClean="0">
                <a:solidFill>
                  <a:srgbClr val="FF0000"/>
                </a:solidFill>
              </a:rPr>
              <a:t>Pulsador Piso 2</a:t>
            </a:r>
            <a:endParaRPr lang="es-AR" sz="1200" b="1" dirty="0">
              <a:solidFill>
                <a:srgbClr val="FF0000"/>
              </a:solidFill>
            </a:endParaRPr>
          </a:p>
        </p:txBody>
      </p:sp>
      <p:sp>
        <p:nvSpPr>
          <p:cNvPr id="5" name="CuadroTexto 4"/>
          <p:cNvSpPr txBox="1"/>
          <p:nvPr/>
        </p:nvSpPr>
        <p:spPr>
          <a:xfrm>
            <a:off x="7692608" y="4389437"/>
            <a:ext cx="1159292" cy="276999"/>
          </a:xfrm>
          <a:prstGeom prst="rect">
            <a:avLst/>
          </a:prstGeom>
          <a:noFill/>
        </p:spPr>
        <p:txBody>
          <a:bodyPr wrap="none" rtlCol="0">
            <a:spAutoFit/>
          </a:bodyPr>
          <a:lstStyle/>
          <a:p>
            <a:r>
              <a:rPr lang="es-ES" sz="1200" b="1" dirty="0" smtClean="0">
                <a:solidFill>
                  <a:srgbClr val="FF0000"/>
                </a:solidFill>
              </a:rPr>
              <a:t>Pulsador Piso 1</a:t>
            </a:r>
            <a:endParaRPr lang="es-AR" sz="1200" b="1" dirty="0">
              <a:solidFill>
                <a:srgbClr val="FF0000"/>
              </a:solidFill>
            </a:endParaRPr>
          </a:p>
        </p:txBody>
      </p:sp>
      <p:sp>
        <p:nvSpPr>
          <p:cNvPr id="7" name="CuadroTexto 6"/>
          <p:cNvSpPr txBox="1"/>
          <p:nvPr/>
        </p:nvSpPr>
        <p:spPr>
          <a:xfrm>
            <a:off x="7692608" y="4645838"/>
            <a:ext cx="1249060" cy="276999"/>
          </a:xfrm>
          <a:prstGeom prst="rect">
            <a:avLst/>
          </a:prstGeom>
          <a:noFill/>
        </p:spPr>
        <p:txBody>
          <a:bodyPr wrap="none" rtlCol="0">
            <a:spAutoFit/>
          </a:bodyPr>
          <a:lstStyle/>
          <a:p>
            <a:r>
              <a:rPr lang="es-ES" sz="1200" b="1" dirty="0" smtClean="0">
                <a:solidFill>
                  <a:srgbClr val="FF0000"/>
                </a:solidFill>
              </a:rPr>
              <a:t>Pulsador Piso PB</a:t>
            </a:r>
            <a:endParaRPr lang="es-AR" sz="1200" b="1" dirty="0">
              <a:solidFill>
                <a:srgbClr val="FF0000"/>
              </a:solidFill>
            </a:endParaRPr>
          </a:p>
        </p:txBody>
      </p:sp>
      <p:sp>
        <p:nvSpPr>
          <p:cNvPr id="8" name="CuadroTexto 7"/>
          <p:cNvSpPr txBox="1"/>
          <p:nvPr/>
        </p:nvSpPr>
        <p:spPr>
          <a:xfrm>
            <a:off x="7801392" y="2664638"/>
            <a:ext cx="1029449" cy="276999"/>
          </a:xfrm>
          <a:prstGeom prst="rect">
            <a:avLst/>
          </a:prstGeom>
          <a:noFill/>
        </p:spPr>
        <p:txBody>
          <a:bodyPr wrap="none" rtlCol="0">
            <a:spAutoFit/>
          </a:bodyPr>
          <a:lstStyle/>
          <a:p>
            <a:r>
              <a:rPr lang="es-ES" sz="1200" b="1" dirty="0" smtClean="0">
                <a:solidFill>
                  <a:srgbClr val="FF0000"/>
                </a:solidFill>
              </a:rPr>
              <a:t>Sensor Piso 1</a:t>
            </a:r>
            <a:endParaRPr lang="es-AR" sz="1200" b="1" dirty="0">
              <a:solidFill>
                <a:srgbClr val="FF0000"/>
              </a:solidFill>
            </a:endParaRPr>
          </a:p>
        </p:txBody>
      </p:sp>
      <p:sp>
        <p:nvSpPr>
          <p:cNvPr id="9" name="CuadroTexto 8"/>
          <p:cNvSpPr txBox="1"/>
          <p:nvPr/>
        </p:nvSpPr>
        <p:spPr>
          <a:xfrm>
            <a:off x="7785100" y="2941637"/>
            <a:ext cx="819455" cy="276999"/>
          </a:xfrm>
          <a:prstGeom prst="rect">
            <a:avLst/>
          </a:prstGeom>
          <a:noFill/>
        </p:spPr>
        <p:txBody>
          <a:bodyPr wrap="none" rtlCol="0">
            <a:spAutoFit/>
          </a:bodyPr>
          <a:lstStyle/>
          <a:p>
            <a:r>
              <a:rPr lang="es-ES" sz="1200" b="1" dirty="0" smtClean="0">
                <a:solidFill>
                  <a:srgbClr val="FF0000"/>
                </a:solidFill>
              </a:rPr>
              <a:t>Sensor PB</a:t>
            </a:r>
            <a:endParaRPr lang="es-AR" sz="1200" b="1" dirty="0">
              <a:solidFill>
                <a:srgbClr val="FF0000"/>
              </a:solidFill>
            </a:endParaRPr>
          </a:p>
        </p:txBody>
      </p:sp>
      <p:sp>
        <p:nvSpPr>
          <p:cNvPr id="11" name="CuadroTexto 10"/>
          <p:cNvSpPr txBox="1"/>
          <p:nvPr/>
        </p:nvSpPr>
        <p:spPr>
          <a:xfrm>
            <a:off x="1384300" y="2636837"/>
            <a:ext cx="1029449" cy="276999"/>
          </a:xfrm>
          <a:prstGeom prst="rect">
            <a:avLst/>
          </a:prstGeom>
          <a:noFill/>
        </p:spPr>
        <p:txBody>
          <a:bodyPr wrap="none" rtlCol="0">
            <a:spAutoFit/>
          </a:bodyPr>
          <a:lstStyle/>
          <a:p>
            <a:r>
              <a:rPr lang="es-ES" sz="1200" b="1" dirty="0" smtClean="0">
                <a:solidFill>
                  <a:srgbClr val="FF0000"/>
                </a:solidFill>
              </a:rPr>
              <a:t>Sensor Piso 2</a:t>
            </a:r>
            <a:endParaRPr lang="es-AR" sz="1200" b="1" dirty="0">
              <a:solidFill>
                <a:srgbClr val="FF0000"/>
              </a:solidFill>
            </a:endParaRPr>
          </a:p>
        </p:txBody>
      </p:sp>
      <p:sp>
        <p:nvSpPr>
          <p:cNvPr id="12" name="CuadroTexto 11"/>
          <p:cNvSpPr txBox="1"/>
          <p:nvPr/>
        </p:nvSpPr>
        <p:spPr>
          <a:xfrm>
            <a:off x="965603" y="2893238"/>
            <a:ext cx="1409297" cy="276999"/>
          </a:xfrm>
          <a:prstGeom prst="rect">
            <a:avLst/>
          </a:prstGeom>
          <a:noFill/>
        </p:spPr>
        <p:txBody>
          <a:bodyPr wrap="none" rtlCol="0">
            <a:spAutoFit/>
          </a:bodyPr>
          <a:lstStyle/>
          <a:p>
            <a:r>
              <a:rPr lang="es-ES" sz="1200" b="1" dirty="0" smtClean="0">
                <a:solidFill>
                  <a:srgbClr val="FF0000"/>
                </a:solidFill>
              </a:rPr>
              <a:t>Apertura de Puerta</a:t>
            </a:r>
            <a:endParaRPr lang="es-AR" sz="1200" b="1" dirty="0">
              <a:solidFill>
                <a:srgbClr val="FF0000"/>
              </a:solidFill>
            </a:endParaRPr>
          </a:p>
        </p:txBody>
      </p:sp>
      <p:sp>
        <p:nvSpPr>
          <p:cNvPr id="13" name="CuadroTexto 12"/>
          <p:cNvSpPr txBox="1"/>
          <p:nvPr/>
        </p:nvSpPr>
        <p:spPr>
          <a:xfrm>
            <a:off x="469900" y="4112438"/>
            <a:ext cx="2034468" cy="276999"/>
          </a:xfrm>
          <a:prstGeom prst="rect">
            <a:avLst/>
          </a:prstGeom>
          <a:noFill/>
        </p:spPr>
        <p:txBody>
          <a:bodyPr wrap="none" rtlCol="0">
            <a:spAutoFit/>
          </a:bodyPr>
          <a:lstStyle/>
          <a:p>
            <a:r>
              <a:rPr lang="es-ES" sz="1200" b="1" dirty="0" smtClean="0">
                <a:solidFill>
                  <a:srgbClr val="FF0000"/>
                </a:solidFill>
              </a:rPr>
              <a:t>Arranque  / Parada de Motor</a:t>
            </a:r>
            <a:endParaRPr lang="es-AR" sz="1200" b="1" dirty="0">
              <a:solidFill>
                <a:srgbClr val="FF0000"/>
              </a:solidFill>
            </a:endParaRPr>
          </a:p>
        </p:txBody>
      </p:sp>
      <p:sp>
        <p:nvSpPr>
          <p:cNvPr id="14" name="CuadroTexto 13"/>
          <p:cNvSpPr txBox="1"/>
          <p:nvPr/>
        </p:nvSpPr>
        <p:spPr>
          <a:xfrm>
            <a:off x="1000062" y="4389437"/>
            <a:ext cx="1451038" cy="276999"/>
          </a:xfrm>
          <a:prstGeom prst="rect">
            <a:avLst/>
          </a:prstGeom>
          <a:noFill/>
        </p:spPr>
        <p:txBody>
          <a:bodyPr wrap="none" rtlCol="0">
            <a:spAutoFit/>
          </a:bodyPr>
          <a:lstStyle/>
          <a:p>
            <a:r>
              <a:rPr lang="es-ES" sz="1200" b="1" dirty="0" smtClean="0">
                <a:solidFill>
                  <a:srgbClr val="FF0000"/>
                </a:solidFill>
              </a:rPr>
              <a:t>Dirección del motor</a:t>
            </a:r>
            <a:endParaRPr lang="es-AR" sz="1200" b="1" dirty="0">
              <a:solidFill>
                <a:srgbClr val="FF0000"/>
              </a:solidFill>
            </a:endParaRPr>
          </a:p>
        </p:txBody>
      </p:sp>
      <p:sp>
        <p:nvSpPr>
          <p:cNvPr id="15" name="CuadroTexto 14"/>
          <p:cNvSpPr txBox="1"/>
          <p:nvPr/>
        </p:nvSpPr>
        <p:spPr>
          <a:xfrm>
            <a:off x="1765300" y="4618037"/>
            <a:ext cx="641522" cy="276999"/>
          </a:xfrm>
          <a:prstGeom prst="rect">
            <a:avLst/>
          </a:prstGeom>
          <a:noFill/>
        </p:spPr>
        <p:txBody>
          <a:bodyPr wrap="none" rtlCol="0">
            <a:spAutoFit/>
          </a:bodyPr>
          <a:lstStyle/>
          <a:p>
            <a:r>
              <a:rPr lang="es-ES" sz="1200" b="1" dirty="0" smtClean="0">
                <a:solidFill>
                  <a:srgbClr val="FF0000"/>
                </a:solidFill>
              </a:rPr>
              <a:t>Sin uso</a:t>
            </a:r>
            <a:endParaRPr lang="es-AR" sz="1200" b="1" dirty="0">
              <a:solidFill>
                <a:srgbClr val="FF0000"/>
              </a:solidFill>
            </a:endParaRPr>
          </a:p>
        </p:txBody>
      </p:sp>
      <p:sp>
        <p:nvSpPr>
          <p:cNvPr id="16" name="CuadroTexto 15"/>
          <p:cNvSpPr txBox="1"/>
          <p:nvPr/>
        </p:nvSpPr>
        <p:spPr>
          <a:xfrm>
            <a:off x="1079500" y="5532437"/>
            <a:ext cx="3919471" cy="369332"/>
          </a:xfrm>
          <a:prstGeom prst="rect">
            <a:avLst/>
          </a:prstGeom>
          <a:noFill/>
        </p:spPr>
        <p:txBody>
          <a:bodyPr wrap="none" rtlCol="0">
            <a:spAutoFit/>
          </a:bodyPr>
          <a:lstStyle/>
          <a:p>
            <a:r>
              <a:rPr lang="es-ES" b="1" i="1" dirty="0" smtClean="0">
                <a:solidFill>
                  <a:schemeClr val="tx2">
                    <a:lumMod val="50000"/>
                  </a:schemeClr>
                </a:solidFill>
                <a:effectLst>
                  <a:outerShdw blurRad="38100" dist="38100" dir="2700000" algn="tl">
                    <a:srgbClr val="000000">
                      <a:alpha val="43137"/>
                    </a:srgbClr>
                  </a:outerShdw>
                </a:effectLst>
              </a:rPr>
              <a:t>Apertura de Puerta </a:t>
            </a:r>
            <a:r>
              <a:rPr lang="es-ES" b="1" i="1" dirty="0" smtClean="0">
                <a:solidFill>
                  <a:srgbClr val="FF0000"/>
                </a:solidFill>
                <a:effectLst>
                  <a:outerShdw blurRad="38100" dist="38100" dir="2700000" algn="tl">
                    <a:srgbClr val="000000">
                      <a:alpha val="43137"/>
                    </a:srgbClr>
                  </a:outerShdw>
                </a:effectLst>
              </a:rPr>
              <a:t>0</a:t>
            </a:r>
            <a:r>
              <a:rPr lang="es-ES" b="1" i="1" dirty="0" smtClean="0">
                <a:solidFill>
                  <a:schemeClr val="tx2">
                    <a:lumMod val="50000"/>
                  </a:schemeClr>
                </a:solidFill>
                <a:effectLst>
                  <a:outerShdw blurRad="38100" dist="38100" dir="2700000" algn="tl">
                    <a:srgbClr val="000000">
                      <a:alpha val="43137"/>
                    </a:srgbClr>
                  </a:outerShdw>
                </a:effectLst>
              </a:rPr>
              <a:t> Cerrada </a:t>
            </a:r>
            <a:r>
              <a:rPr lang="es-ES" b="1" i="1" dirty="0" smtClean="0">
                <a:solidFill>
                  <a:srgbClr val="FF0000"/>
                </a:solidFill>
                <a:effectLst>
                  <a:outerShdw blurRad="38100" dist="38100" dir="2700000" algn="tl">
                    <a:srgbClr val="000000">
                      <a:alpha val="43137"/>
                    </a:srgbClr>
                  </a:outerShdw>
                </a:effectLst>
              </a:rPr>
              <a:t>1</a:t>
            </a:r>
            <a:r>
              <a:rPr lang="es-ES" b="1" i="1" dirty="0" smtClean="0">
                <a:solidFill>
                  <a:schemeClr val="tx2">
                    <a:lumMod val="50000"/>
                  </a:schemeClr>
                </a:solidFill>
                <a:effectLst>
                  <a:outerShdw blurRad="38100" dist="38100" dir="2700000" algn="tl">
                    <a:srgbClr val="000000">
                      <a:alpha val="43137"/>
                    </a:srgbClr>
                  </a:outerShdw>
                </a:effectLst>
              </a:rPr>
              <a:t> Abierta</a:t>
            </a:r>
            <a:endParaRPr lang="es-AR" b="1" i="1" dirty="0">
              <a:solidFill>
                <a:schemeClr val="tx2">
                  <a:lumMod val="50000"/>
                </a:schemeClr>
              </a:solidFill>
              <a:effectLst>
                <a:outerShdw blurRad="38100" dist="38100" dir="2700000" algn="tl">
                  <a:srgbClr val="000000">
                    <a:alpha val="43137"/>
                  </a:srgbClr>
                </a:outerShdw>
              </a:effectLst>
            </a:endParaRPr>
          </a:p>
        </p:txBody>
      </p:sp>
      <p:sp>
        <p:nvSpPr>
          <p:cNvPr id="17" name="CuadroTexto 16"/>
          <p:cNvSpPr txBox="1"/>
          <p:nvPr/>
        </p:nvSpPr>
        <p:spPr>
          <a:xfrm>
            <a:off x="1079500" y="5788838"/>
            <a:ext cx="4880760" cy="369332"/>
          </a:xfrm>
          <a:prstGeom prst="rect">
            <a:avLst/>
          </a:prstGeom>
          <a:noFill/>
        </p:spPr>
        <p:txBody>
          <a:bodyPr wrap="none" rtlCol="0">
            <a:spAutoFit/>
          </a:bodyPr>
          <a:lstStyle/>
          <a:p>
            <a:r>
              <a:rPr lang="es-ES" b="1" i="1" dirty="0" smtClean="0">
                <a:solidFill>
                  <a:schemeClr val="tx2">
                    <a:lumMod val="50000"/>
                  </a:schemeClr>
                </a:solidFill>
                <a:effectLst>
                  <a:outerShdw blurRad="38100" dist="38100" dir="2700000" algn="tl">
                    <a:srgbClr val="000000">
                      <a:alpha val="43137"/>
                    </a:srgbClr>
                  </a:outerShdw>
                </a:effectLst>
              </a:rPr>
              <a:t>Arranque  / Parada de Motor </a:t>
            </a:r>
            <a:r>
              <a:rPr lang="es-ES" b="1" i="1" dirty="0" smtClean="0">
                <a:solidFill>
                  <a:srgbClr val="FF0000"/>
                </a:solidFill>
                <a:effectLst>
                  <a:outerShdw blurRad="38100" dist="38100" dir="2700000" algn="tl">
                    <a:srgbClr val="000000">
                      <a:alpha val="43137"/>
                    </a:srgbClr>
                  </a:outerShdw>
                </a:effectLst>
              </a:rPr>
              <a:t>0</a:t>
            </a:r>
            <a:r>
              <a:rPr lang="es-ES" b="1" i="1" dirty="0" smtClean="0">
                <a:solidFill>
                  <a:schemeClr val="tx2">
                    <a:lumMod val="50000"/>
                  </a:schemeClr>
                </a:solidFill>
                <a:effectLst>
                  <a:outerShdw blurRad="38100" dist="38100" dir="2700000" algn="tl">
                    <a:srgbClr val="000000">
                      <a:alpha val="43137"/>
                    </a:srgbClr>
                  </a:outerShdw>
                </a:effectLst>
              </a:rPr>
              <a:t> Arranca 1 Parada</a:t>
            </a:r>
            <a:endParaRPr lang="es-AR" b="1" i="1" dirty="0">
              <a:solidFill>
                <a:schemeClr val="tx2">
                  <a:lumMod val="50000"/>
                </a:schemeClr>
              </a:solidFill>
              <a:effectLst>
                <a:outerShdw blurRad="38100" dist="38100" dir="2700000" algn="tl">
                  <a:srgbClr val="000000">
                    <a:alpha val="43137"/>
                  </a:srgbClr>
                </a:outerShdw>
              </a:effectLst>
            </a:endParaRPr>
          </a:p>
        </p:txBody>
      </p:sp>
      <p:sp>
        <p:nvSpPr>
          <p:cNvPr id="18" name="CuadroTexto 17"/>
          <p:cNvSpPr txBox="1"/>
          <p:nvPr/>
        </p:nvSpPr>
        <p:spPr>
          <a:xfrm>
            <a:off x="1079500" y="6017438"/>
            <a:ext cx="3405099" cy="369332"/>
          </a:xfrm>
          <a:prstGeom prst="rect">
            <a:avLst/>
          </a:prstGeom>
          <a:noFill/>
        </p:spPr>
        <p:txBody>
          <a:bodyPr wrap="none" rtlCol="0">
            <a:spAutoFit/>
          </a:bodyPr>
          <a:lstStyle/>
          <a:p>
            <a:r>
              <a:rPr lang="es-ES" b="1" i="1" dirty="0" smtClean="0">
                <a:solidFill>
                  <a:schemeClr val="tx2">
                    <a:lumMod val="50000"/>
                  </a:schemeClr>
                </a:solidFill>
                <a:effectLst>
                  <a:outerShdw blurRad="38100" dist="38100" dir="2700000" algn="tl">
                    <a:srgbClr val="000000">
                      <a:alpha val="43137"/>
                    </a:srgbClr>
                  </a:outerShdw>
                </a:effectLst>
              </a:rPr>
              <a:t>Dirección del motor </a:t>
            </a:r>
            <a:r>
              <a:rPr lang="es-ES" b="1" i="1" dirty="0" smtClean="0">
                <a:solidFill>
                  <a:srgbClr val="FF0000"/>
                </a:solidFill>
                <a:effectLst>
                  <a:outerShdw blurRad="38100" dist="38100" dir="2700000" algn="tl">
                    <a:srgbClr val="000000">
                      <a:alpha val="43137"/>
                    </a:srgbClr>
                  </a:outerShdw>
                </a:effectLst>
              </a:rPr>
              <a:t>1</a:t>
            </a:r>
            <a:r>
              <a:rPr lang="es-ES" b="1" i="1" dirty="0" smtClean="0">
                <a:solidFill>
                  <a:schemeClr val="tx2">
                    <a:lumMod val="50000"/>
                  </a:schemeClr>
                </a:solidFill>
                <a:effectLst>
                  <a:outerShdw blurRad="38100" dist="38100" dir="2700000" algn="tl">
                    <a:srgbClr val="000000">
                      <a:alpha val="43137"/>
                    </a:srgbClr>
                  </a:outerShdw>
                </a:effectLst>
              </a:rPr>
              <a:t> Sube </a:t>
            </a:r>
            <a:r>
              <a:rPr lang="es-ES" b="1" i="1" dirty="0" smtClean="0">
                <a:solidFill>
                  <a:srgbClr val="FF0000"/>
                </a:solidFill>
                <a:effectLst>
                  <a:outerShdw blurRad="38100" dist="38100" dir="2700000" algn="tl">
                    <a:srgbClr val="000000">
                      <a:alpha val="43137"/>
                    </a:srgbClr>
                  </a:outerShdw>
                </a:effectLst>
              </a:rPr>
              <a:t>0</a:t>
            </a:r>
            <a:r>
              <a:rPr lang="es-ES" b="1" i="1" dirty="0" smtClean="0">
                <a:solidFill>
                  <a:schemeClr val="tx2">
                    <a:lumMod val="50000"/>
                  </a:schemeClr>
                </a:solidFill>
                <a:effectLst>
                  <a:outerShdw blurRad="38100" dist="38100" dir="2700000" algn="tl">
                    <a:srgbClr val="000000">
                      <a:alpha val="43137"/>
                    </a:srgbClr>
                  </a:outerShdw>
                </a:effectLst>
              </a:rPr>
              <a:t> Baja</a:t>
            </a:r>
            <a:endParaRPr lang="es-AR" b="1" i="1" dirty="0">
              <a:solidFill>
                <a:schemeClr val="tx2">
                  <a:lumMod val="5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341506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smtClean="0"/>
              <a:t>Display</a:t>
            </a:r>
            <a:r>
              <a:rPr lang="es-ES" dirty="0" smtClean="0"/>
              <a:t> 7 segmentos</a:t>
            </a:r>
            <a:endParaRPr lang="es-AR" dirty="0"/>
          </a:p>
        </p:txBody>
      </p:sp>
      <p:pic>
        <p:nvPicPr>
          <p:cNvPr id="6" name="5 Marcador de contenido"/>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tretch>
            <a:fillRect/>
          </a:stretch>
        </p:blipFill>
        <p:spPr>
          <a:xfrm>
            <a:off x="241300" y="1600200"/>
            <a:ext cx="9906000" cy="5456237"/>
          </a:xfrm>
        </p:spPr>
      </p:pic>
    </p:spTree>
    <p:extLst>
      <p:ext uri="{BB962C8B-B14F-4D97-AF65-F5344CB8AC3E}">
        <p14:creationId xmlns:p14="http://schemas.microsoft.com/office/powerpoint/2010/main" val="391232372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Conexión Motor</a:t>
            </a:r>
            <a:endParaRPr lang="es-AR" dirty="0"/>
          </a:p>
        </p:txBody>
      </p:sp>
      <p:pic>
        <p:nvPicPr>
          <p:cNvPr id="4" name="3 Marcador de contenid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500" y="1552438"/>
            <a:ext cx="9906000" cy="5580199"/>
          </a:xfrm>
        </p:spPr>
      </p:pic>
    </p:spTree>
    <p:extLst>
      <p:ext uri="{BB962C8B-B14F-4D97-AF65-F5344CB8AC3E}">
        <p14:creationId xmlns:p14="http://schemas.microsoft.com/office/powerpoint/2010/main" val="342404955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smtClean="0"/>
              <a:t>Pulsores</a:t>
            </a:r>
            <a:endParaRPr lang="es-AR" dirty="0"/>
          </a:p>
        </p:txBody>
      </p:sp>
      <p:pic>
        <p:nvPicPr>
          <p:cNvPr id="4" name="3 Marcador de contenid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6100" y="1600200"/>
            <a:ext cx="9220200" cy="5380037"/>
          </a:xfrm>
        </p:spPr>
      </p:pic>
      <p:sp>
        <p:nvSpPr>
          <p:cNvPr id="3" name="2 CuadroTexto"/>
          <p:cNvSpPr txBox="1"/>
          <p:nvPr/>
        </p:nvSpPr>
        <p:spPr>
          <a:xfrm>
            <a:off x="7099300" y="1417637"/>
            <a:ext cx="1524000" cy="646331"/>
          </a:xfrm>
          <a:prstGeom prst="rect">
            <a:avLst/>
          </a:prstGeom>
          <a:noFill/>
        </p:spPr>
        <p:txBody>
          <a:bodyPr wrap="square" rtlCol="0">
            <a:spAutoFit/>
          </a:bodyPr>
          <a:lstStyle/>
          <a:p>
            <a:r>
              <a:rPr lang="es-ES" sz="3600" dirty="0" smtClean="0">
                <a:solidFill>
                  <a:schemeClr val="accent1"/>
                </a:solidFill>
              </a:rPr>
              <a:t>Piso</a:t>
            </a:r>
            <a:endParaRPr lang="es-AR" sz="3600" dirty="0">
              <a:solidFill>
                <a:schemeClr val="accent1"/>
              </a:solidFill>
            </a:endParaRPr>
          </a:p>
        </p:txBody>
      </p:sp>
      <p:sp>
        <p:nvSpPr>
          <p:cNvPr id="5" name="4 Elipse"/>
          <p:cNvSpPr/>
          <p:nvPr/>
        </p:nvSpPr>
        <p:spPr>
          <a:xfrm>
            <a:off x="6565900" y="1951037"/>
            <a:ext cx="1600200" cy="18288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6595660" y="4618037"/>
            <a:ext cx="1600200" cy="1828800"/>
          </a:xfrm>
          <a:prstGeom prst="ellipse">
            <a:avLst/>
          </a:prstGeom>
          <a:solidFill>
            <a:srgbClr val="FF0000">
              <a:alpha val="17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CuadroTexto"/>
          <p:cNvSpPr txBox="1"/>
          <p:nvPr/>
        </p:nvSpPr>
        <p:spPr>
          <a:xfrm>
            <a:off x="8930145" y="5467905"/>
            <a:ext cx="1521955" cy="369332"/>
          </a:xfrm>
          <a:prstGeom prst="rect">
            <a:avLst/>
          </a:prstGeom>
          <a:noFill/>
        </p:spPr>
        <p:txBody>
          <a:bodyPr wrap="none" rtlCol="0">
            <a:spAutoFit/>
          </a:bodyPr>
          <a:lstStyle/>
          <a:p>
            <a:r>
              <a:rPr lang="es-ES" u="sng" dirty="0" smtClean="0">
                <a:solidFill>
                  <a:srgbClr val="C00000"/>
                </a:solidFill>
                <a:effectLst>
                  <a:outerShdw blurRad="38100" dist="38100" dir="2700000" algn="tl">
                    <a:srgbClr val="000000">
                      <a:alpha val="43137"/>
                    </a:srgbClr>
                  </a:outerShdw>
                </a:effectLst>
              </a:rPr>
              <a:t>NO SE UTILIZA</a:t>
            </a:r>
            <a:endParaRPr lang="es-AR" u="sng" dirty="0">
              <a:solidFill>
                <a:srgbClr val="C00000"/>
              </a:solidFill>
              <a:effectLst>
                <a:outerShdw blurRad="38100" dist="38100" dir="2700000" algn="tl">
                  <a:srgbClr val="000000">
                    <a:alpha val="43137"/>
                  </a:srgbClr>
                </a:outerShdw>
              </a:effectLst>
            </a:endParaRPr>
          </a:p>
        </p:txBody>
      </p:sp>
      <p:cxnSp>
        <p:nvCxnSpPr>
          <p:cNvPr id="9" name="8 Conector recto de flecha"/>
          <p:cNvCxnSpPr>
            <a:stCxn id="7" idx="1"/>
          </p:cNvCxnSpPr>
          <p:nvPr/>
        </p:nvCxnSpPr>
        <p:spPr>
          <a:xfrm flipH="1" flipV="1">
            <a:off x="8242300" y="5608637"/>
            <a:ext cx="687845" cy="43934"/>
          </a:xfrm>
          <a:prstGeom prst="straightConnector1">
            <a:avLst/>
          </a:prstGeom>
          <a:ln w="25400">
            <a:solidFill>
              <a:srgbClr val="C00000"/>
            </a:solidFill>
            <a:prstDash val="dash"/>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53453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Sensores de Piso</a:t>
            </a:r>
            <a:endParaRPr lang="es-AR" dirty="0"/>
          </a:p>
        </p:txBody>
      </p:sp>
      <p:pic>
        <p:nvPicPr>
          <p:cNvPr id="4" name="3 Marcador de contenid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900" y="1600200"/>
            <a:ext cx="9601200" cy="5456237"/>
          </a:xfrm>
        </p:spPr>
      </p:pic>
      <p:sp>
        <p:nvSpPr>
          <p:cNvPr id="5" name="4 Elipse"/>
          <p:cNvSpPr/>
          <p:nvPr/>
        </p:nvSpPr>
        <p:spPr>
          <a:xfrm>
            <a:off x="8470900" y="1417637"/>
            <a:ext cx="1600200" cy="22098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23660811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 y="122238"/>
            <a:ext cx="10210800" cy="731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44937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solidFill>
                  <a:srgbClr val="FF0000"/>
                </a:solidFill>
              </a:rPr>
              <a:t>Diagrama de Flujo</a:t>
            </a:r>
            <a:endParaRPr lang="es-AR" dirty="0">
              <a:solidFill>
                <a:srgbClr val="FF0000"/>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0100" y="1379537"/>
            <a:ext cx="4950450" cy="5697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444750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solidFill>
                  <a:srgbClr val="FF0000"/>
                </a:solidFill>
              </a:rPr>
              <a:t>Diagrama de Flujo</a:t>
            </a:r>
            <a:endParaRPr lang="es-AR" dirty="0">
              <a:solidFill>
                <a:srgbClr val="FF0000"/>
              </a:solidFill>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2900" y="1493837"/>
            <a:ext cx="6019800" cy="550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519876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solidFill>
                  <a:srgbClr val="FF0000"/>
                </a:solidFill>
              </a:rPr>
              <a:t>Diagrama de Flujo</a:t>
            </a:r>
            <a:endParaRPr lang="es-AR" dirty="0">
              <a:solidFill>
                <a:srgbClr val="FF0000"/>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300" y="1447435"/>
            <a:ext cx="7772400" cy="562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48720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solidFill>
                  <a:srgbClr val="FF0000"/>
                </a:solidFill>
              </a:rPr>
              <a:t>Diagrama de Utilización</a:t>
            </a:r>
            <a:endParaRPr lang="es-AR" dirty="0">
              <a:solidFill>
                <a:srgbClr val="FF0000"/>
              </a:solidFill>
            </a:endParaRPr>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94138" y="1417637"/>
            <a:ext cx="10189333" cy="5627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Elipse"/>
          <p:cNvSpPr/>
          <p:nvPr/>
        </p:nvSpPr>
        <p:spPr>
          <a:xfrm>
            <a:off x="3241466" y="3859213"/>
            <a:ext cx="505256" cy="278297"/>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7" name="6 Elipse"/>
          <p:cNvSpPr/>
          <p:nvPr/>
        </p:nvSpPr>
        <p:spPr>
          <a:xfrm>
            <a:off x="5767747" y="3309935"/>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8" name="7 Elipse"/>
          <p:cNvSpPr/>
          <p:nvPr/>
        </p:nvSpPr>
        <p:spPr>
          <a:xfrm>
            <a:off x="7298249" y="3551237"/>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9" name="8 Elipse"/>
          <p:cNvSpPr/>
          <p:nvPr/>
        </p:nvSpPr>
        <p:spPr>
          <a:xfrm>
            <a:off x="6862468" y="3767135"/>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0" name="9 Elipse"/>
          <p:cNvSpPr/>
          <p:nvPr/>
        </p:nvSpPr>
        <p:spPr>
          <a:xfrm>
            <a:off x="3241466" y="3580916"/>
            <a:ext cx="505256" cy="278297"/>
          </a:xfrm>
          <a:prstGeom prst="ellipse">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1" name="10 Elipse"/>
          <p:cNvSpPr/>
          <p:nvPr/>
        </p:nvSpPr>
        <p:spPr>
          <a:xfrm>
            <a:off x="3157257" y="202723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2" name="11 Elipse"/>
          <p:cNvSpPr/>
          <p:nvPr/>
        </p:nvSpPr>
        <p:spPr>
          <a:xfrm>
            <a:off x="3157257" y="1748940"/>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3" name="12 Elipse"/>
          <p:cNvSpPr/>
          <p:nvPr/>
        </p:nvSpPr>
        <p:spPr>
          <a:xfrm>
            <a:off x="6862468" y="179863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7" name="16 Rectángulo"/>
          <p:cNvSpPr/>
          <p:nvPr/>
        </p:nvSpPr>
        <p:spPr>
          <a:xfrm>
            <a:off x="317500" y="2636837"/>
            <a:ext cx="1094722" cy="3175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r>
              <a:rPr lang="es-AR" sz="1400" dirty="0"/>
              <a:t>Pta. Cabina</a:t>
            </a:r>
          </a:p>
        </p:txBody>
      </p:sp>
      <p:sp>
        <p:nvSpPr>
          <p:cNvPr id="18" name="17 Elipse"/>
          <p:cNvSpPr/>
          <p:nvPr/>
        </p:nvSpPr>
        <p:spPr>
          <a:xfrm>
            <a:off x="3241466" y="3272940"/>
            <a:ext cx="505256" cy="278297"/>
          </a:xfrm>
          <a:prstGeom prst="ellipse">
            <a:avLst/>
          </a:prstGeom>
          <a:solidFill>
            <a:schemeClr val="accent1">
              <a:alpha val="2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Tree>
    <p:extLst>
      <p:ext uri="{BB962C8B-B14F-4D97-AF65-F5344CB8AC3E}">
        <p14:creationId xmlns:p14="http://schemas.microsoft.com/office/powerpoint/2010/main" val="318665784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solidFill>
                  <a:srgbClr val="FF0000"/>
                </a:solidFill>
              </a:rPr>
              <a:t>Registros del PICF16</a:t>
            </a:r>
            <a:endParaRPr lang="es-AR" dirty="0">
              <a:solidFill>
                <a:srgbClr val="FF0000"/>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186" y="1868920"/>
            <a:ext cx="9515657" cy="5006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3 Rectángulo"/>
          <p:cNvSpPr/>
          <p:nvPr/>
        </p:nvSpPr>
        <p:spPr>
          <a:xfrm>
            <a:off x="715186" y="3382960"/>
            <a:ext cx="9515657" cy="476253"/>
          </a:xfrm>
          <a:prstGeom prst="rect">
            <a:avLst/>
          </a:prstGeom>
          <a:solidFill>
            <a:schemeClr val="accent1">
              <a:alpha val="14000"/>
            </a:schemeClr>
          </a:solid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5" name="4 Rectángulo"/>
          <p:cNvSpPr/>
          <p:nvPr/>
        </p:nvSpPr>
        <p:spPr>
          <a:xfrm>
            <a:off x="715186" y="4097339"/>
            <a:ext cx="9515657" cy="793755"/>
          </a:xfrm>
          <a:prstGeom prst="rect">
            <a:avLst/>
          </a:prstGeom>
          <a:solidFill>
            <a:schemeClr val="accent1">
              <a:alpha val="14000"/>
            </a:schemeClr>
          </a:solid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Tree>
    <p:extLst>
      <p:ext uri="{BB962C8B-B14F-4D97-AF65-F5344CB8AC3E}">
        <p14:creationId xmlns:p14="http://schemas.microsoft.com/office/powerpoint/2010/main" val="209776879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solidFill>
                  <a:srgbClr val="FF0000"/>
                </a:solidFill>
              </a:rPr>
              <a:t>Registros a utilizar</a:t>
            </a:r>
            <a:endParaRPr lang="es-AR" dirty="0">
              <a:solidFill>
                <a:srgbClr val="FF0000"/>
              </a:solidFill>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357" y="1341437"/>
            <a:ext cx="7157795" cy="51594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Rectángulo"/>
          <p:cNvSpPr/>
          <p:nvPr/>
        </p:nvSpPr>
        <p:spPr>
          <a:xfrm>
            <a:off x="927099" y="3798902"/>
            <a:ext cx="6400801" cy="438135"/>
          </a:xfrm>
          <a:prstGeom prst="rect">
            <a:avLst/>
          </a:prstGeom>
          <a:solidFill>
            <a:schemeClr val="accent1">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6" name="5 Rectángulo"/>
          <p:cNvSpPr/>
          <p:nvPr/>
        </p:nvSpPr>
        <p:spPr>
          <a:xfrm>
            <a:off x="927099" y="4313237"/>
            <a:ext cx="6400801" cy="441346"/>
          </a:xfrm>
          <a:prstGeom prst="rect">
            <a:avLst/>
          </a:prstGeom>
          <a:solidFill>
            <a:schemeClr val="accent1">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7" name="6 Rectángulo"/>
          <p:cNvSpPr/>
          <p:nvPr/>
        </p:nvSpPr>
        <p:spPr>
          <a:xfrm>
            <a:off x="927099" y="3017837"/>
            <a:ext cx="6400801" cy="380999"/>
          </a:xfrm>
          <a:prstGeom prst="rect">
            <a:avLst/>
          </a:prstGeom>
          <a:solidFill>
            <a:schemeClr val="accent1">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8" name="7 Elipse"/>
          <p:cNvSpPr/>
          <p:nvPr/>
        </p:nvSpPr>
        <p:spPr>
          <a:xfrm>
            <a:off x="6099802" y="380207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9" name="8 Elipse"/>
          <p:cNvSpPr/>
          <p:nvPr/>
        </p:nvSpPr>
        <p:spPr>
          <a:xfrm>
            <a:off x="5426127" y="380207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0" name="9 Elipse"/>
          <p:cNvSpPr/>
          <p:nvPr/>
        </p:nvSpPr>
        <p:spPr>
          <a:xfrm>
            <a:off x="4836662" y="380207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1" name="10 Elipse"/>
          <p:cNvSpPr/>
          <p:nvPr/>
        </p:nvSpPr>
        <p:spPr>
          <a:xfrm>
            <a:off x="2731428" y="4357706"/>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2" name="11 Elipse"/>
          <p:cNvSpPr/>
          <p:nvPr/>
        </p:nvSpPr>
        <p:spPr>
          <a:xfrm>
            <a:off x="3405103" y="4357706"/>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3" name="12 Elipse"/>
          <p:cNvSpPr/>
          <p:nvPr/>
        </p:nvSpPr>
        <p:spPr>
          <a:xfrm>
            <a:off x="4078777" y="4357706"/>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4" name="13 Elipse"/>
          <p:cNvSpPr/>
          <p:nvPr/>
        </p:nvSpPr>
        <p:spPr>
          <a:xfrm>
            <a:off x="6099802" y="4346470"/>
            <a:ext cx="505256" cy="278297"/>
          </a:xfrm>
          <a:prstGeom prst="ellipse">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5" name="14 Elipse"/>
          <p:cNvSpPr/>
          <p:nvPr/>
        </p:nvSpPr>
        <p:spPr>
          <a:xfrm>
            <a:off x="5501839" y="4333778"/>
            <a:ext cx="505256" cy="278297"/>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6" name="15 Elipse"/>
          <p:cNvSpPr/>
          <p:nvPr/>
        </p:nvSpPr>
        <p:spPr>
          <a:xfrm>
            <a:off x="6773477" y="380207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7" name="16 Elipse"/>
          <p:cNvSpPr/>
          <p:nvPr/>
        </p:nvSpPr>
        <p:spPr>
          <a:xfrm>
            <a:off x="5426127" y="3044803"/>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8" name="17 Elipse"/>
          <p:cNvSpPr/>
          <p:nvPr/>
        </p:nvSpPr>
        <p:spPr>
          <a:xfrm>
            <a:off x="6737401" y="3049355"/>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21" name="20 Elipse"/>
          <p:cNvSpPr/>
          <p:nvPr/>
        </p:nvSpPr>
        <p:spPr>
          <a:xfrm>
            <a:off x="6737401" y="4316356"/>
            <a:ext cx="505256" cy="278297"/>
          </a:xfrm>
          <a:prstGeom prst="ellipse">
            <a:avLst/>
          </a:prstGeom>
          <a:solidFill>
            <a:schemeClr val="accent1">
              <a:alpha val="2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3" name="2 CuadroTexto"/>
          <p:cNvSpPr txBox="1"/>
          <p:nvPr/>
        </p:nvSpPr>
        <p:spPr>
          <a:xfrm>
            <a:off x="8303857" y="2027237"/>
            <a:ext cx="1928926" cy="1200329"/>
          </a:xfrm>
          <a:prstGeom prst="rect">
            <a:avLst/>
          </a:prstGeom>
          <a:noFill/>
          <a:ln w="3175">
            <a:solidFill>
              <a:schemeClr val="accent2">
                <a:lumMod val="60000"/>
                <a:lumOff val="40000"/>
              </a:schemeClr>
            </a:solidFill>
          </a:ln>
        </p:spPr>
        <p:txBody>
          <a:bodyPr wrap="none" rtlCol="0">
            <a:spAutoFit/>
          </a:bodyPr>
          <a:lstStyle/>
          <a:p>
            <a:r>
              <a:rPr lang="es-ES" i="1" dirty="0" smtClean="0">
                <a:effectLst>
                  <a:outerShdw blurRad="38100" dist="38100" dir="2700000" algn="tl">
                    <a:srgbClr val="000000">
                      <a:alpha val="43137"/>
                    </a:srgbClr>
                  </a:outerShdw>
                </a:effectLst>
              </a:rPr>
              <a:t>Posición de Cabina</a:t>
            </a:r>
          </a:p>
          <a:p>
            <a:r>
              <a:rPr lang="es-ES" i="1" dirty="0" smtClean="0">
                <a:effectLst>
                  <a:outerShdw blurRad="38100" dist="38100" dir="2700000" algn="tl">
                    <a:srgbClr val="000000">
                      <a:alpha val="43137"/>
                    </a:srgbClr>
                  </a:outerShdw>
                </a:effectLst>
              </a:rPr>
              <a:t>RA0 (PB)</a:t>
            </a:r>
          </a:p>
          <a:p>
            <a:r>
              <a:rPr lang="es-ES" i="1" dirty="0" smtClean="0">
                <a:effectLst>
                  <a:outerShdw blurRad="38100" dist="38100" dir="2700000" algn="tl">
                    <a:srgbClr val="000000">
                      <a:alpha val="43137"/>
                    </a:srgbClr>
                  </a:outerShdw>
                </a:effectLst>
              </a:rPr>
              <a:t>RA1 (1)</a:t>
            </a:r>
          </a:p>
          <a:p>
            <a:r>
              <a:rPr lang="es-ES" i="1" dirty="0" smtClean="0">
                <a:effectLst>
                  <a:outerShdw blurRad="38100" dist="38100" dir="2700000" algn="tl">
                    <a:srgbClr val="000000">
                      <a:alpha val="43137"/>
                    </a:srgbClr>
                  </a:outerShdw>
                </a:effectLst>
              </a:rPr>
              <a:t>RA2 (2)</a:t>
            </a:r>
            <a:endParaRPr lang="es-AR" i="1" dirty="0">
              <a:effectLst>
                <a:outerShdw blurRad="38100" dist="38100" dir="2700000" algn="tl">
                  <a:srgbClr val="000000">
                    <a:alpha val="43137"/>
                  </a:srgbClr>
                </a:outerShdw>
              </a:effectLst>
            </a:endParaRPr>
          </a:p>
        </p:txBody>
      </p:sp>
      <p:cxnSp>
        <p:nvCxnSpPr>
          <p:cNvPr id="19" name="18 Conector recto de flecha"/>
          <p:cNvCxnSpPr>
            <a:stCxn id="8" idx="7"/>
            <a:endCxn id="3" idx="1"/>
          </p:cNvCxnSpPr>
          <p:nvPr/>
        </p:nvCxnSpPr>
        <p:spPr>
          <a:xfrm flipV="1">
            <a:off x="6531065" y="2627402"/>
            <a:ext cx="1772792" cy="121543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22 Conector recto de flecha"/>
          <p:cNvCxnSpPr>
            <a:endCxn id="3" idx="1"/>
          </p:cNvCxnSpPr>
          <p:nvPr/>
        </p:nvCxnSpPr>
        <p:spPr>
          <a:xfrm flipV="1">
            <a:off x="5727700" y="2627402"/>
            <a:ext cx="2576157" cy="11524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24 Conector recto de flecha"/>
          <p:cNvCxnSpPr>
            <a:stCxn id="10" idx="0"/>
            <a:endCxn id="49" idx="1"/>
          </p:cNvCxnSpPr>
          <p:nvPr/>
        </p:nvCxnSpPr>
        <p:spPr>
          <a:xfrm flipV="1">
            <a:off x="5089290" y="1613971"/>
            <a:ext cx="3229210" cy="218810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26 CuadroTexto"/>
          <p:cNvSpPr txBox="1"/>
          <p:nvPr/>
        </p:nvSpPr>
        <p:spPr>
          <a:xfrm>
            <a:off x="8405104" y="4541837"/>
            <a:ext cx="1970796" cy="646331"/>
          </a:xfrm>
          <a:prstGeom prst="rect">
            <a:avLst/>
          </a:prstGeom>
          <a:noFill/>
          <a:ln w="3175">
            <a:solidFill>
              <a:schemeClr val="accent2">
                <a:lumMod val="60000"/>
                <a:lumOff val="40000"/>
              </a:schemeClr>
            </a:solidFill>
          </a:ln>
        </p:spPr>
        <p:txBody>
          <a:bodyPr wrap="none" rtlCol="0">
            <a:spAutoFit/>
          </a:bodyPr>
          <a:lstStyle/>
          <a:p>
            <a:r>
              <a:rPr lang="es-ES" i="1" dirty="0" smtClean="0">
                <a:effectLst>
                  <a:outerShdw blurRad="38100" dist="38100" dir="2700000" algn="tl">
                    <a:srgbClr val="000000">
                      <a:alpha val="43137"/>
                    </a:srgbClr>
                  </a:outerShdw>
                </a:effectLst>
              </a:rPr>
              <a:t>Motor Prendido (0)</a:t>
            </a:r>
          </a:p>
          <a:p>
            <a:r>
              <a:rPr lang="es-ES" i="1" dirty="0" smtClean="0">
                <a:effectLst>
                  <a:outerShdw blurRad="38100" dist="38100" dir="2700000" algn="tl">
                    <a:srgbClr val="000000">
                      <a:alpha val="43137"/>
                    </a:srgbClr>
                  </a:outerShdw>
                </a:effectLst>
              </a:rPr>
              <a:t>            Apagado (1)</a:t>
            </a:r>
            <a:endParaRPr lang="es-AR" i="1" dirty="0">
              <a:effectLst>
                <a:outerShdw blurRad="38100" dist="38100" dir="2700000" algn="tl">
                  <a:srgbClr val="000000">
                    <a:alpha val="43137"/>
                  </a:srgbClr>
                </a:outerShdw>
              </a:effectLst>
            </a:endParaRPr>
          </a:p>
        </p:txBody>
      </p:sp>
      <p:cxnSp>
        <p:nvCxnSpPr>
          <p:cNvPr id="28" name="27 Conector recto de flecha"/>
          <p:cNvCxnSpPr>
            <a:endCxn id="30" idx="1"/>
          </p:cNvCxnSpPr>
          <p:nvPr/>
        </p:nvCxnSpPr>
        <p:spPr>
          <a:xfrm flipV="1">
            <a:off x="7251700" y="3860502"/>
            <a:ext cx="1128357" cy="5289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0" name="29 CuadroTexto"/>
          <p:cNvSpPr txBox="1"/>
          <p:nvPr/>
        </p:nvSpPr>
        <p:spPr>
          <a:xfrm>
            <a:off x="8380057" y="3398837"/>
            <a:ext cx="1504001" cy="923330"/>
          </a:xfrm>
          <a:prstGeom prst="rect">
            <a:avLst/>
          </a:prstGeom>
          <a:noFill/>
          <a:ln w="3175">
            <a:solidFill>
              <a:schemeClr val="accent2">
                <a:lumMod val="60000"/>
                <a:lumOff val="40000"/>
              </a:schemeClr>
            </a:solidFill>
          </a:ln>
        </p:spPr>
        <p:txBody>
          <a:bodyPr wrap="none" rtlCol="0">
            <a:spAutoFit/>
          </a:bodyPr>
          <a:lstStyle/>
          <a:p>
            <a:r>
              <a:rPr lang="es-ES" i="1" dirty="0" smtClean="0">
                <a:effectLst>
                  <a:outerShdw blurRad="38100" dist="38100" dir="2700000" algn="tl">
                    <a:srgbClr val="000000">
                      <a:alpha val="43137"/>
                    </a:srgbClr>
                  </a:outerShdw>
                </a:effectLst>
              </a:rPr>
              <a:t>Puerta Cabina</a:t>
            </a:r>
          </a:p>
          <a:p>
            <a:r>
              <a:rPr lang="es-ES" i="1" dirty="0" smtClean="0">
                <a:effectLst>
                  <a:outerShdw blurRad="38100" dist="38100" dir="2700000" algn="tl">
                    <a:srgbClr val="000000">
                      <a:alpha val="43137"/>
                    </a:srgbClr>
                  </a:outerShdw>
                </a:effectLst>
              </a:rPr>
              <a:t>Abierta (1)</a:t>
            </a:r>
          </a:p>
          <a:p>
            <a:r>
              <a:rPr lang="es-ES" i="1" dirty="0" smtClean="0">
                <a:effectLst>
                  <a:outerShdw blurRad="38100" dist="38100" dir="2700000" algn="tl">
                    <a:srgbClr val="000000">
                      <a:alpha val="43137"/>
                    </a:srgbClr>
                  </a:outerShdw>
                </a:effectLst>
              </a:rPr>
              <a:t>Cerrada (0)</a:t>
            </a:r>
            <a:endParaRPr lang="es-AR" i="1" dirty="0">
              <a:effectLst>
                <a:outerShdw blurRad="38100" dist="38100" dir="2700000" algn="tl">
                  <a:srgbClr val="000000">
                    <a:alpha val="43137"/>
                  </a:srgbClr>
                </a:outerShdw>
              </a:effectLst>
            </a:endParaRPr>
          </a:p>
        </p:txBody>
      </p:sp>
      <p:cxnSp>
        <p:nvCxnSpPr>
          <p:cNvPr id="3072" name="3071 Conector recto de flecha"/>
          <p:cNvCxnSpPr>
            <a:stCxn id="14" idx="5"/>
            <a:endCxn id="27" idx="1"/>
          </p:cNvCxnSpPr>
          <p:nvPr/>
        </p:nvCxnSpPr>
        <p:spPr>
          <a:xfrm>
            <a:off x="6531065" y="4584011"/>
            <a:ext cx="1874039" cy="28099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34 CuadroTexto"/>
          <p:cNvSpPr txBox="1"/>
          <p:nvPr/>
        </p:nvSpPr>
        <p:spPr>
          <a:xfrm>
            <a:off x="8441678" y="5303837"/>
            <a:ext cx="2010422" cy="646331"/>
          </a:xfrm>
          <a:prstGeom prst="rect">
            <a:avLst/>
          </a:prstGeom>
          <a:noFill/>
          <a:ln w="3175">
            <a:solidFill>
              <a:schemeClr val="accent2">
                <a:lumMod val="60000"/>
                <a:lumOff val="40000"/>
              </a:schemeClr>
            </a:solidFill>
          </a:ln>
        </p:spPr>
        <p:txBody>
          <a:bodyPr wrap="none" rtlCol="0">
            <a:spAutoFit/>
          </a:bodyPr>
          <a:lstStyle/>
          <a:p>
            <a:r>
              <a:rPr lang="es-ES" i="1" dirty="0" smtClean="0">
                <a:effectLst>
                  <a:outerShdw blurRad="38100" dist="38100" dir="2700000" algn="tl">
                    <a:srgbClr val="000000">
                      <a:alpha val="43137"/>
                    </a:srgbClr>
                  </a:outerShdw>
                </a:effectLst>
              </a:rPr>
              <a:t>Dirección del motor</a:t>
            </a:r>
          </a:p>
          <a:p>
            <a:r>
              <a:rPr lang="es-ES" i="1" dirty="0" smtClean="0">
                <a:effectLst>
                  <a:outerShdw blurRad="38100" dist="38100" dir="2700000" algn="tl">
                    <a:srgbClr val="000000">
                      <a:alpha val="43137"/>
                    </a:srgbClr>
                  </a:outerShdw>
                </a:effectLst>
              </a:rPr>
              <a:t>Sube (0) Baja (1)</a:t>
            </a:r>
            <a:endParaRPr lang="es-AR" i="1" dirty="0">
              <a:effectLst>
                <a:outerShdw blurRad="38100" dist="38100" dir="2700000" algn="tl">
                  <a:srgbClr val="000000">
                    <a:alpha val="43137"/>
                  </a:srgbClr>
                </a:outerShdw>
              </a:effectLst>
            </a:endParaRPr>
          </a:p>
        </p:txBody>
      </p:sp>
      <p:cxnSp>
        <p:nvCxnSpPr>
          <p:cNvPr id="3076" name="3075 Conector recto de flecha"/>
          <p:cNvCxnSpPr>
            <a:stCxn id="15" idx="4"/>
            <a:endCxn id="35" idx="1"/>
          </p:cNvCxnSpPr>
          <p:nvPr/>
        </p:nvCxnSpPr>
        <p:spPr>
          <a:xfrm>
            <a:off x="5754467" y="4612075"/>
            <a:ext cx="2687211" cy="101492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 name="37 CuadroTexto"/>
          <p:cNvSpPr txBox="1"/>
          <p:nvPr/>
        </p:nvSpPr>
        <p:spPr>
          <a:xfrm>
            <a:off x="8470900" y="6153705"/>
            <a:ext cx="2075248" cy="1200329"/>
          </a:xfrm>
          <a:prstGeom prst="rect">
            <a:avLst/>
          </a:prstGeom>
          <a:noFill/>
          <a:ln w="3175">
            <a:solidFill>
              <a:schemeClr val="accent2">
                <a:lumMod val="60000"/>
                <a:lumOff val="40000"/>
              </a:schemeClr>
            </a:solidFill>
          </a:ln>
        </p:spPr>
        <p:txBody>
          <a:bodyPr wrap="none" rtlCol="0">
            <a:spAutoFit/>
          </a:bodyPr>
          <a:lstStyle/>
          <a:p>
            <a:r>
              <a:rPr lang="es-ES" i="1" dirty="0" smtClean="0">
                <a:effectLst>
                  <a:outerShdw blurRad="38100" dist="38100" dir="2700000" algn="tl">
                    <a:srgbClr val="000000">
                      <a:alpha val="43137"/>
                    </a:srgbClr>
                  </a:outerShdw>
                </a:effectLst>
              </a:rPr>
              <a:t>Pulsadores de Pared</a:t>
            </a:r>
          </a:p>
          <a:p>
            <a:r>
              <a:rPr lang="es-ES" i="1" dirty="0" smtClean="0">
                <a:effectLst>
                  <a:outerShdw blurRad="38100" dist="38100" dir="2700000" algn="tl">
                    <a:srgbClr val="000000">
                      <a:alpha val="43137"/>
                    </a:srgbClr>
                  </a:outerShdw>
                </a:effectLst>
              </a:rPr>
              <a:t>RB4 (PB)</a:t>
            </a:r>
          </a:p>
          <a:p>
            <a:r>
              <a:rPr lang="es-ES" i="1" dirty="0" smtClean="0">
                <a:effectLst>
                  <a:outerShdw blurRad="38100" dist="38100" dir="2700000" algn="tl">
                    <a:srgbClr val="000000">
                      <a:alpha val="43137"/>
                    </a:srgbClr>
                  </a:outerShdw>
                </a:effectLst>
              </a:rPr>
              <a:t>RB5 (1)</a:t>
            </a:r>
          </a:p>
          <a:p>
            <a:r>
              <a:rPr lang="es-ES" i="1" dirty="0" smtClean="0">
                <a:effectLst>
                  <a:outerShdw blurRad="38100" dist="38100" dir="2700000" algn="tl">
                    <a:srgbClr val="000000">
                      <a:alpha val="43137"/>
                    </a:srgbClr>
                  </a:outerShdw>
                </a:effectLst>
              </a:rPr>
              <a:t>RB6 (2)</a:t>
            </a:r>
            <a:endParaRPr lang="es-AR" i="1" dirty="0">
              <a:effectLst>
                <a:outerShdw blurRad="38100" dist="38100" dir="2700000" algn="tl">
                  <a:srgbClr val="000000">
                    <a:alpha val="43137"/>
                  </a:srgbClr>
                </a:outerShdw>
              </a:effectLst>
            </a:endParaRPr>
          </a:p>
        </p:txBody>
      </p:sp>
      <p:cxnSp>
        <p:nvCxnSpPr>
          <p:cNvPr id="3078" name="3077 Conector recto"/>
          <p:cNvCxnSpPr>
            <a:stCxn id="13" idx="6"/>
            <a:endCxn id="38" idx="1"/>
          </p:cNvCxnSpPr>
          <p:nvPr/>
        </p:nvCxnSpPr>
        <p:spPr>
          <a:xfrm>
            <a:off x="4584033" y="4516457"/>
            <a:ext cx="3886867" cy="223741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80" name="3079 Conector recto de flecha"/>
          <p:cNvCxnSpPr>
            <a:stCxn id="12" idx="6"/>
            <a:endCxn id="38" idx="1"/>
          </p:cNvCxnSpPr>
          <p:nvPr/>
        </p:nvCxnSpPr>
        <p:spPr>
          <a:xfrm>
            <a:off x="3910359" y="4516457"/>
            <a:ext cx="4560541" cy="223741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82" name="3081 Conector recto de flecha"/>
          <p:cNvCxnSpPr>
            <a:stCxn id="11" idx="4"/>
            <a:endCxn id="38" idx="1"/>
          </p:cNvCxnSpPr>
          <p:nvPr/>
        </p:nvCxnSpPr>
        <p:spPr>
          <a:xfrm>
            <a:off x="2984056" y="4675208"/>
            <a:ext cx="5486844" cy="207866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45 Conector recto de flecha"/>
          <p:cNvCxnSpPr>
            <a:endCxn id="3" idx="1"/>
          </p:cNvCxnSpPr>
          <p:nvPr/>
        </p:nvCxnSpPr>
        <p:spPr>
          <a:xfrm flipV="1">
            <a:off x="7175500" y="2627402"/>
            <a:ext cx="1128357" cy="119631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9" name="48 CuadroTexto"/>
          <p:cNvSpPr txBox="1"/>
          <p:nvPr/>
        </p:nvSpPr>
        <p:spPr>
          <a:xfrm>
            <a:off x="8318500" y="1429305"/>
            <a:ext cx="1436612" cy="369332"/>
          </a:xfrm>
          <a:prstGeom prst="rect">
            <a:avLst/>
          </a:prstGeom>
          <a:noFill/>
          <a:ln w="3175">
            <a:solidFill>
              <a:schemeClr val="accent2">
                <a:lumMod val="60000"/>
                <a:lumOff val="40000"/>
              </a:schemeClr>
            </a:solidFill>
          </a:ln>
        </p:spPr>
        <p:txBody>
          <a:bodyPr wrap="none" rtlCol="0">
            <a:spAutoFit/>
          </a:bodyPr>
          <a:lstStyle/>
          <a:p>
            <a:r>
              <a:rPr lang="es-ES" i="1" dirty="0" smtClean="0">
                <a:effectLst>
                  <a:outerShdw blurRad="38100" dist="38100" dir="2700000" algn="tl">
                    <a:srgbClr val="000000">
                      <a:alpha val="43137"/>
                    </a:srgbClr>
                  </a:outerShdw>
                </a:effectLst>
              </a:rPr>
              <a:t>Sensor de PB</a:t>
            </a:r>
            <a:endParaRPr lang="es-AR"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68454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solidFill>
                  <a:srgbClr val="FF0000"/>
                </a:solidFill>
              </a:rPr>
              <a:t>Registros a utilizar</a:t>
            </a:r>
            <a:endParaRPr lang="es-AR" dirty="0">
              <a:solidFill>
                <a:srgbClr val="FF0000"/>
              </a:solidFill>
            </a:endParaRPr>
          </a:p>
        </p:txBody>
      </p:sp>
      <p:grpSp>
        <p:nvGrpSpPr>
          <p:cNvPr id="3" name="2 Grupo"/>
          <p:cNvGrpSpPr/>
          <p:nvPr/>
        </p:nvGrpSpPr>
        <p:grpSpPr>
          <a:xfrm>
            <a:off x="1473070" y="1694924"/>
            <a:ext cx="7747261" cy="4905958"/>
            <a:chOff x="1259632" y="1537604"/>
            <a:chExt cx="7056784" cy="4450596"/>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537604"/>
              <a:ext cx="7056784" cy="6672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450" y="2159150"/>
              <a:ext cx="7032965"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 name="3 Rectángulo"/>
          <p:cNvSpPr/>
          <p:nvPr/>
        </p:nvSpPr>
        <p:spPr>
          <a:xfrm>
            <a:off x="1388860" y="4256090"/>
            <a:ext cx="8252517" cy="317502"/>
          </a:xfrm>
          <a:prstGeom prst="rect">
            <a:avLst/>
          </a:prstGeom>
          <a:solidFill>
            <a:schemeClr val="accent1">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8" name="7 Rectángulo"/>
          <p:cNvSpPr/>
          <p:nvPr/>
        </p:nvSpPr>
        <p:spPr>
          <a:xfrm>
            <a:off x="1388860" y="3621087"/>
            <a:ext cx="8252517" cy="317502"/>
          </a:xfrm>
          <a:prstGeom prst="rect">
            <a:avLst/>
          </a:prstGeom>
          <a:solidFill>
            <a:schemeClr val="accent1">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Tree>
    <p:extLst>
      <p:ext uri="{BB962C8B-B14F-4D97-AF65-F5344CB8AC3E}">
        <p14:creationId xmlns:p14="http://schemas.microsoft.com/office/powerpoint/2010/main" val="356603762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ítulo 1"/>
          <p:cNvSpPr>
            <a:spLocks noGrp="1"/>
          </p:cNvSpPr>
          <p:nvPr>
            <p:ph type="ctrTitle"/>
          </p:nvPr>
        </p:nvSpPr>
        <p:spPr/>
        <p:txBody>
          <a:bodyPr/>
          <a:lstStyle/>
          <a:p>
            <a:pPr eaLnBrk="1" hangingPunct="1"/>
            <a:r>
              <a:rPr lang="es-AR" altLang="es-AR" noProof="1" smtClean="0"/>
              <a:t>Guía de los conceptos necesarios para la resolución el primer TP</a:t>
            </a:r>
          </a:p>
        </p:txBody>
      </p:sp>
      <p:sp>
        <p:nvSpPr>
          <p:cNvPr id="2" name="Subtítulo 1"/>
          <p:cNvSpPr>
            <a:spLocks noGrp="1"/>
          </p:cNvSpPr>
          <p:nvPr>
            <p:ph type="subTitle" idx="1"/>
          </p:nvPr>
        </p:nvSpPr>
        <p:spPr/>
        <p:txBody>
          <a:bodyPr/>
          <a:lstStyle/>
          <a:p>
            <a:r>
              <a:rPr lang="es-AR" dirty="0" smtClean="0"/>
              <a:t>Arquitectura de Computadoras,  2016</a:t>
            </a:r>
          </a:p>
          <a:p>
            <a:endParaRPr lang="es-AR" dirty="0"/>
          </a:p>
        </p:txBody>
      </p:sp>
    </p:spTree>
    <p:extLst>
      <p:ext uri="{BB962C8B-B14F-4D97-AF65-F5344CB8AC3E}">
        <p14:creationId xmlns:p14="http://schemas.microsoft.com/office/powerpoint/2010/main" val="37159394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
          <p:cNvSpPr>
            <a:spLocks noGrp="1"/>
          </p:cNvSpPr>
          <p:nvPr>
            <p:ph type="title"/>
          </p:nvPr>
        </p:nvSpPr>
        <p:spPr>
          <a:xfrm>
            <a:off x="530494" y="772318"/>
            <a:ext cx="9427735" cy="1059594"/>
          </a:xfrm>
        </p:spPr>
        <p:txBody>
          <a:bodyPr/>
          <a:lstStyle/>
          <a:p>
            <a:pPr eaLnBrk="1" hangingPunct="1"/>
            <a:r>
              <a:rPr lang="es-AR" altLang="es-AR" dirty="0" smtClean="0"/>
              <a:t>Descripción de la consigna</a:t>
            </a:r>
          </a:p>
        </p:txBody>
      </p:sp>
      <p:sp>
        <p:nvSpPr>
          <p:cNvPr id="3" name="Marcador de contenido 2"/>
          <p:cNvSpPr>
            <a:spLocks noGrp="1"/>
          </p:cNvSpPr>
          <p:nvPr>
            <p:ph idx="1"/>
          </p:nvPr>
        </p:nvSpPr>
        <p:spPr>
          <a:xfrm>
            <a:off x="864663" y="2237092"/>
            <a:ext cx="8735728" cy="3936967"/>
          </a:xfrm>
        </p:spPr>
        <p:txBody>
          <a:bodyPr rtlCol="0">
            <a:noAutofit/>
          </a:bodyPr>
          <a:lstStyle/>
          <a:p>
            <a:pPr eaLnBrk="1" fontAlgn="auto" hangingPunct="1">
              <a:buClr>
                <a:srgbClr val="D24726"/>
              </a:buClr>
              <a:buSzPct val="150000"/>
              <a:defRPr/>
            </a:pPr>
            <a:r>
              <a:rPr lang="es-AR" sz="1754" dirty="0"/>
              <a:t>El primer trabajo práctico de programación se divide en tres ejercicios, cada uno de los cuales contiene subdivisiones. A grandes rasgos, abordan las siguientes temáticas:</a:t>
            </a:r>
          </a:p>
          <a:p>
            <a:pPr marL="250631" indent="-250631">
              <a:buClr>
                <a:srgbClr val="D24726"/>
              </a:buClr>
              <a:buSzPct val="150000"/>
              <a:defRPr/>
            </a:pPr>
            <a:r>
              <a:rPr lang="es-AR" sz="1754" dirty="0"/>
              <a:t>EJERCICIO 1: Configuración de puertos - Manejo de </a:t>
            </a:r>
            <a:r>
              <a:rPr lang="es-AR" sz="1754" dirty="0" err="1"/>
              <a:t>LEDs</a:t>
            </a:r>
            <a:r>
              <a:rPr lang="es-AR" sz="1754" dirty="0"/>
              <a:t> - Demoras sin Timer</a:t>
            </a:r>
          </a:p>
          <a:p>
            <a:pPr marL="250631" indent="-250631">
              <a:buClr>
                <a:srgbClr val="D24726"/>
              </a:buClr>
              <a:buSzPct val="150000"/>
              <a:defRPr/>
            </a:pPr>
            <a:r>
              <a:rPr lang="es-AR" sz="1754" dirty="0"/>
              <a:t>EJERCICIO 2: Manejo de pulsadores – Interrupciones + Conceptos del Ejercicio 1</a:t>
            </a:r>
          </a:p>
          <a:p>
            <a:pPr marL="250631" indent="-250631">
              <a:buClr>
                <a:srgbClr val="D24726"/>
              </a:buClr>
              <a:buSzPct val="150000"/>
              <a:defRPr/>
            </a:pPr>
            <a:r>
              <a:rPr lang="es-AR" sz="1754" dirty="0"/>
              <a:t>EJERCICIO 3: Manejo de Display – Uso del Timer 0 + Conceptos de los ejercicios anteriores</a:t>
            </a:r>
          </a:p>
        </p:txBody>
      </p:sp>
    </p:spTree>
    <p:extLst>
      <p:ext uri="{BB962C8B-B14F-4D97-AF65-F5344CB8AC3E}">
        <p14:creationId xmlns:p14="http://schemas.microsoft.com/office/powerpoint/2010/main" val="375080861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Entregables</a:t>
            </a:r>
            <a:endParaRPr lang="es-AR" dirty="0"/>
          </a:p>
        </p:txBody>
      </p:sp>
      <p:sp>
        <p:nvSpPr>
          <p:cNvPr id="4" name="Marcador de contenido 2"/>
          <p:cNvSpPr>
            <a:spLocks noGrp="1"/>
          </p:cNvSpPr>
          <p:nvPr>
            <p:ph idx="1"/>
          </p:nvPr>
        </p:nvSpPr>
        <p:spPr>
          <a:xfrm>
            <a:off x="864663" y="2237092"/>
            <a:ext cx="8735728" cy="3936967"/>
          </a:xfrm>
        </p:spPr>
        <p:txBody>
          <a:bodyPr rtlCol="0">
            <a:normAutofit/>
          </a:bodyPr>
          <a:lstStyle/>
          <a:p>
            <a:pPr marL="0" indent="0" algn="ctr">
              <a:buClr>
                <a:srgbClr val="D24726"/>
              </a:buClr>
              <a:buSzPct val="150000"/>
              <a:buNone/>
              <a:defRPr/>
            </a:pPr>
            <a:r>
              <a:rPr lang="es-AR" sz="2105" b="1" dirty="0" smtClean="0">
                <a:effectLst>
                  <a:outerShdw blurRad="38100" dist="38100" dir="2700000" algn="tl">
                    <a:srgbClr val="000000">
                      <a:alpha val="43137"/>
                    </a:srgbClr>
                  </a:outerShdw>
                </a:effectLst>
              </a:rPr>
              <a:t>Para cada sub-ejercicio se debe desarrollar y entregar</a:t>
            </a:r>
          </a:p>
          <a:p>
            <a:pPr marL="0" indent="0" algn="ctr">
              <a:buClr>
                <a:srgbClr val="D24726"/>
              </a:buClr>
              <a:buSzPct val="150000"/>
              <a:buNone/>
              <a:defRPr/>
            </a:pPr>
            <a:endParaRPr lang="es-AR" sz="2105" b="1" dirty="0" smtClean="0">
              <a:effectLst>
                <a:outerShdw blurRad="38100" dist="38100" dir="2700000" algn="tl">
                  <a:srgbClr val="000000">
                    <a:alpha val="43137"/>
                  </a:srgbClr>
                </a:outerShdw>
              </a:effectLst>
            </a:endParaRPr>
          </a:p>
          <a:p>
            <a:pPr>
              <a:buClr>
                <a:srgbClr val="D24726"/>
              </a:buClr>
              <a:buSzPct val="150000"/>
              <a:defRPr/>
            </a:pPr>
            <a:r>
              <a:rPr lang="es-AR" sz="2105" dirty="0" smtClean="0"/>
              <a:t>Diagrama </a:t>
            </a:r>
            <a:r>
              <a:rPr lang="es-AR" sz="2105" dirty="0"/>
              <a:t>de </a:t>
            </a:r>
            <a:r>
              <a:rPr lang="es-AR" sz="2105" dirty="0" smtClean="0"/>
              <a:t>flujo</a:t>
            </a:r>
          </a:p>
          <a:p>
            <a:pPr>
              <a:buClr>
                <a:srgbClr val="D24726"/>
              </a:buClr>
              <a:buSzPct val="150000"/>
              <a:defRPr/>
            </a:pPr>
            <a:endParaRPr lang="es-AR" sz="2105" dirty="0"/>
          </a:p>
          <a:p>
            <a:pPr marL="268288" indent="-268288">
              <a:buClr>
                <a:srgbClr val="D24726"/>
              </a:buClr>
              <a:buSzPct val="150000"/>
              <a:defRPr/>
            </a:pPr>
            <a:r>
              <a:rPr lang="es-AR" sz="2105" dirty="0"/>
              <a:t>Proyecto completo en MPLAB</a:t>
            </a:r>
          </a:p>
          <a:p>
            <a:pPr marL="268288" indent="-268288">
              <a:buClr>
                <a:srgbClr val="D24726"/>
              </a:buClr>
              <a:buSzPct val="150000"/>
              <a:defRPr/>
            </a:pPr>
            <a:endParaRPr lang="es-AR" sz="2105" dirty="0" smtClean="0"/>
          </a:p>
          <a:p>
            <a:pPr marL="268288" indent="-268288">
              <a:buClr>
                <a:srgbClr val="D24726"/>
              </a:buClr>
              <a:buSzPct val="150000"/>
              <a:defRPr/>
            </a:pPr>
            <a:r>
              <a:rPr lang="es-AR" sz="2105" dirty="0" smtClean="0"/>
              <a:t>Opcional</a:t>
            </a:r>
            <a:r>
              <a:rPr lang="es-AR" sz="2105" dirty="0"/>
              <a:t>: Simulación en </a:t>
            </a:r>
            <a:r>
              <a:rPr lang="es-AR" sz="2105" dirty="0" err="1"/>
              <a:t>Proteus</a:t>
            </a:r>
            <a:r>
              <a:rPr lang="es-AR" sz="2105" dirty="0"/>
              <a:t> </a:t>
            </a:r>
          </a:p>
          <a:p>
            <a:pPr marL="268288" indent="-268288" eaLnBrk="1" fontAlgn="auto" hangingPunct="1">
              <a:buClr>
                <a:srgbClr val="D24726"/>
              </a:buClr>
              <a:buSzPct val="150000"/>
              <a:defRPr/>
            </a:pPr>
            <a:endParaRPr lang="es-AR" sz="2105" dirty="0" smtClean="0"/>
          </a:p>
          <a:p>
            <a:pPr marL="268288" indent="-268288" eaLnBrk="1" fontAlgn="auto" hangingPunct="1">
              <a:buClr>
                <a:srgbClr val="D24726"/>
              </a:buClr>
              <a:buSzPct val="150000"/>
              <a:defRPr/>
            </a:pPr>
            <a:r>
              <a:rPr lang="es-AR" sz="2105" dirty="0" smtClean="0"/>
              <a:t>Todo </a:t>
            </a:r>
            <a:r>
              <a:rPr lang="es-AR" sz="2105" dirty="0"/>
              <a:t>esto debe entregarse vía mail como se informa en el documento del trabajo práctico</a:t>
            </a:r>
          </a:p>
        </p:txBody>
      </p:sp>
    </p:spTree>
    <p:extLst>
      <p:ext uri="{BB962C8B-B14F-4D97-AF65-F5344CB8AC3E}">
        <p14:creationId xmlns:p14="http://schemas.microsoft.com/office/powerpoint/2010/main" val="126773117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1: Demoras sin Timer 0</a:t>
            </a:r>
            <a:endParaRPr lang="es-AR" dirty="0"/>
          </a:p>
        </p:txBody>
      </p:sp>
      <p:sp>
        <p:nvSpPr>
          <p:cNvPr id="5" name="Marcador de contenido 4"/>
          <p:cNvSpPr>
            <a:spLocks noGrp="1"/>
          </p:cNvSpPr>
          <p:nvPr>
            <p:ph idx="1"/>
          </p:nvPr>
        </p:nvSpPr>
        <p:spPr>
          <a:xfrm>
            <a:off x="530140" y="2149453"/>
            <a:ext cx="2713263" cy="4437401"/>
          </a:xfrm>
        </p:spPr>
        <p:txBody>
          <a:bodyPr>
            <a:noAutofit/>
          </a:bodyPr>
          <a:lstStyle/>
          <a:p>
            <a:r>
              <a:rPr lang="es-AR" sz="1754" dirty="0">
                <a:solidFill>
                  <a:srgbClr val="9E458A"/>
                </a:solidFill>
                <a:latin typeface="Consolas" panose="020B0609020204030204" pitchFamily="49" charset="0"/>
              </a:rPr>
              <a:t>delay_1ms</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movlw</a:t>
            </a:r>
            <a:r>
              <a:rPr lang="es-AR" sz="1754" dirty="0">
                <a:latin typeface="Consolas" panose="020B0609020204030204" pitchFamily="49" charset="0"/>
              </a:rPr>
              <a:t>	</a:t>
            </a:r>
            <a:r>
              <a:rPr lang="es-AR" sz="1754" dirty="0">
                <a:solidFill>
                  <a:schemeClr val="accent6"/>
                </a:solidFill>
                <a:latin typeface="Consolas" panose="020B0609020204030204" pitchFamily="49" charset="0"/>
              </a:rPr>
              <a:t>.250</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movwf</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a:t>
            </a:r>
          </a:p>
          <a:p>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r>
              <a:rPr lang="es-AR" sz="1754" dirty="0">
                <a:solidFill>
                  <a:srgbClr val="274DE7"/>
                </a:solidFill>
                <a:latin typeface="Consolas" panose="020B0609020204030204" pitchFamily="49" charset="0"/>
              </a:rPr>
              <a:t>nop</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decfsz</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CONT,f</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a:t>
            </a:r>
            <a:r>
              <a:rPr lang="es-AR" sz="1754" dirty="0">
                <a:latin typeface="Consolas" panose="020B0609020204030204" pitchFamily="49" charset="0"/>
              </a:rPr>
              <a:t>	</a:t>
            </a:r>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return</a:t>
            </a:r>
          </a:p>
        </p:txBody>
      </p:sp>
      <p:sp>
        <p:nvSpPr>
          <p:cNvPr id="7" name="Marcador de contenido 2"/>
          <p:cNvSpPr txBox="1">
            <a:spLocks/>
          </p:cNvSpPr>
          <p:nvPr/>
        </p:nvSpPr>
        <p:spPr bwMode="auto">
          <a:xfrm>
            <a:off x="4874687" y="2149453"/>
            <a:ext cx="5539584" cy="393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fontScale="77500" lnSpcReduction="20000"/>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buClr>
                <a:srgbClr val="D24726"/>
              </a:buClr>
              <a:buSzPct val="150000"/>
              <a:defRPr/>
            </a:pPr>
            <a:r>
              <a:rPr lang="es-AR" sz="2105" dirty="0">
                <a:solidFill>
                  <a:schemeClr val="tx1"/>
                </a:solidFill>
              </a:rPr>
              <a:t>¿Cómo se calcula?</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considera que cada ciclo de máquina es de 1 microsegundo.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busca en la hoja de datos cuántos ciclos dura cada instrucción.</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hace la cuenta considerando cuántas veces voy a ejecutar cada instrucción.</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En este caso aproximadamente nos da 1000 microsegundos, o 1 milisegundo</a:t>
            </a:r>
          </a:p>
        </p:txBody>
      </p:sp>
      <mc:AlternateContent xmlns:mc="http://schemas.openxmlformats.org/markup-compatibility/2006" xmlns:a14="http://schemas.microsoft.com/office/drawing/2010/main">
        <mc:Choice Requires="a14">
          <p:sp>
            <p:nvSpPr>
              <p:cNvPr id="8" name="Marcador de contenido 2"/>
              <p:cNvSpPr txBox="1">
                <a:spLocks/>
              </p:cNvSpPr>
              <p:nvPr/>
            </p:nvSpPr>
            <p:spPr bwMode="auto">
              <a:xfrm>
                <a:off x="2665489" y="3816365"/>
                <a:ext cx="1631285" cy="277048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gn="r" eaLnBrk="1" fontAlgn="auto" hangingPunct="1">
                  <a:buClr>
                    <a:srgbClr val="D24726"/>
                  </a:buClr>
                  <a:buSzPct val="150000"/>
                  <a:defRPr/>
                </a:pPr>
                <a:r>
                  <a:rPr lang="es-AR" sz="2105" dirty="0">
                    <a:solidFill>
                      <a:schemeClr val="tx1"/>
                    </a:solidFill>
                  </a:rPr>
                  <a:t>1 ciclo</a:t>
                </a:r>
              </a:p>
              <a:p>
                <a:pPr algn="r" eaLnBrk="1" fontAlgn="auto" hangingPunct="1">
                  <a:buClr>
                    <a:srgbClr val="D24726"/>
                  </a:buClr>
                  <a:buSzPct val="150000"/>
                  <a:defRPr/>
                </a:pPr>
                <a:r>
                  <a:rPr lang="es-AR" sz="2105" dirty="0">
                    <a:solidFill>
                      <a:schemeClr val="tx1"/>
                    </a:solidFill>
                  </a:rPr>
                  <a:t>1 ciclo</a:t>
                </a:r>
              </a:p>
              <a:p>
                <a:pPr algn="r" eaLnBrk="1" fontAlgn="auto" hangingPunct="1">
                  <a:buClr>
                    <a:srgbClr val="D24726"/>
                  </a:buClr>
                  <a:buSzPct val="150000"/>
                  <a:defRPr/>
                </a:pPr>
                <a:r>
                  <a:rPr lang="es-AR" sz="2105" dirty="0">
                    <a:solidFill>
                      <a:schemeClr val="tx1"/>
                    </a:solidFill>
                  </a:rPr>
                  <a:t>2 ciclos</a:t>
                </a:r>
              </a:p>
              <a:p>
                <a:pPr algn="r" eaLnBrk="1" fontAlgn="auto" hangingPunct="1">
                  <a:buClr>
                    <a:srgbClr val="D24726"/>
                  </a:buClr>
                  <a:buSzPct val="150000"/>
                  <a:defRPr/>
                </a:pPr>
                <a:r>
                  <a:rPr lang="es-AR" sz="2105" dirty="0">
                    <a:solidFill>
                      <a:schemeClr val="tx1"/>
                    </a:solidFill>
                  </a:rPr>
                  <a:t>4 </a:t>
                </a:r>
                <a14:m>
                  <m:oMath xmlns:m="http://schemas.openxmlformats.org/officeDocument/2006/math">
                    <m:r>
                      <a:rPr lang="es-AR" sz="2105" i="1">
                        <a:solidFill>
                          <a:schemeClr val="tx1"/>
                        </a:solidFill>
                        <a:latin typeface="Cambria Math" panose="02040503050406030204" pitchFamily="18" charset="0"/>
                        <a:ea typeface="Cambria Math" panose="02040503050406030204" pitchFamily="18" charset="0"/>
                      </a:rPr>
                      <m:t>𝜇</m:t>
                    </m:r>
                    <m:r>
                      <a:rPr lang="es-AR" sz="2105" i="1">
                        <a:solidFill>
                          <a:schemeClr val="tx1"/>
                        </a:solidFill>
                        <a:latin typeface="Cambria Math" panose="02040503050406030204" pitchFamily="18" charset="0"/>
                        <a:ea typeface="Cambria Math" panose="02040503050406030204" pitchFamily="18" charset="0"/>
                      </a:rPr>
                      <m:t>𝑠</m:t>
                    </m:r>
                  </m:oMath>
                </a14:m>
                <a:r>
                  <a:rPr lang="es-AR" sz="2105" dirty="0">
                    <a:solidFill>
                      <a:schemeClr val="tx1"/>
                    </a:solidFill>
                  </a:rPr>
                  <a:t> x 250</a:t>
                </a:r>
              </a:p>
            </p:txBody>
          </p:sp>
        </mc:Choice>
        <mc:Fallback xmlns="">
          <p:sp>
            <p:nvSpPr>
              <p:cNvPr id="8" name="Marcador de contenido 2"/>
              <p:cNvSpPr txBox="1">
                <a:spLocks noRot="1" noChangeAspect="1" noMove="1" noResize="1" noEditPoints="1" noAdjustHandles="1" noChangeArrowheads="1" noChangeShapeType="1" noTextEdit="1"/>
              </p:cNvSpPr>
              <p:nvPr/>
            </p:nvSpPr>
            <p:spPr bwMode="auto">
              <a:xfrm>
                <a:off x="2665489" y="3816365"/>
                <a:ext cx="1631285" cy="2770489"/>
              </a:xfrm>
              <a:prstGeom prst="rect">
                <a:avLst/>
              </a:prstGeom>
              <a:blipFill rotWithShape="0">
                <a:blip r:embed="rId2"/>
                <a:stretch>
                  <a:fillRect r="-4851" b="-197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AR">
                    <a:noFill/>
                  </a:rPr>
                  <a:t> </a:t>
                </a:r>
              </a:p>
            </p:txBody>
          </p:sp>
        </mc:Fallback>
      </mc:AlternateContent>
      <p:cxnSp>
        <p:nvCxnSpPr>
          <p:cNvPr id="14" name="Conector recto 13"/>
          <p:cNvCxnSpPr/>
          <p:nvPr/>
        </p:nvCxnSpPr>
        <p:spPr>
          <a:xfrm>
            <a:off x="2983930" y="5867408"/>
            <a:ext cx="129736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98143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ppt_x"/>
                                          </p:val>
                                        </p:tav>
                                        <p:tav tm="100000">
                                          <p:val>
                                            <p:strVal val="#ppt_x"/>
                                          </p:val>
                                        </p:tav>
                                      </p:tavLst>
                                    </p:anim>
                                    <p:anim calcmode="lin" valueType="num">
                                      <p:cBhvr additive="base">
                                        <p:cTn id="1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1: Demoras sin Timer 0</a:t>
            </a:r>
            <a:endParaRPr lang="es-AR" dirty="0"/>
          </a:p>
        </p:txBody>
      </p:sp>
      <p:sp>
        <p:nvSpPr>
          <p:cNvPr id="5" name="Marcador de contenido 4"/>
          <p:cNvSpPr>
            <a:spLocks noGrp="1"/>
          </p:cNvSpPr>
          <p:nvPr>
            <p:ph idx="1"/>
          </p:nvPr>
        </p:nvSpPr>
        <p:spPr>
          <a:xfrm>
            <a:off x="6069723" y="2137659"/>
            <a:ext cx="4379930" cy="4437401"/>
          </a:xfrm>
        </p:spPr>
        <p:txBody>
          <a:bodyPr>
            <a:noAutofit/>
          </a:bodyPr>
          <a:lstStyle/>
          <a:p>
            <a:r>
              <a:rPr lang="es-AR" sz="1754" dirty="0">
                <a:solidFill>
                  <a:srgbClr val="9E458A"/>
                </a:solidFill>
                <a:latin typeface="Consolas" panose="020B0609020204030204" pitchFamily="49" charset="0"/>
              </a:rPr>
              <a:t>delay_250ms</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movlw</a:t>
            </a:r>
            <a:r>
              <a:rPr lang="es-AR" sz="1754" dirty="0">
                <a:latin typeface="Consolas" panose="020B0609020204030204" pitchFamily="49" charset="0"/>
              </a:rPr>
              <a:t>	</a:t>
            </a:r>
            <a:r>
              <a:rPr lang="es-AR" sz="1754" dirty="0">
                <a:solidFill>
                  <a:schemeClr val="accent6"/>
                </a:solidFill>
                <a:latin typeface="Consolas" panose="020B0609020204030204" pitchFamily="49" charset="0"/>
              </a:rPr>
              <a:t>.250</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movwf</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CONT2</a:t>
            </a:r>
          </a:p>
          <a:p>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r>
              <a:rPr lang="es-AR" sz="1754" dirty="0">
                <a:solidFill>
                  <a:srgbClr val="274DE7"/>
                </a:solidFill>
                <a:latin typeface="Consolas" panose="020B0609020204030204" pitchFamily="49" charset="0"/>
              </a:rPr>
              <a:t>CALL	</a:t>
            </a:r>
            <a:r>
              <a:rPr lang="es-AR" sz="1754" dirty="0">
                <a:solidFill>
                  <a:srgbClr val="9E458A"/>
                </a:solidFill>
                <a:latin typeface="Consolas" panose="020B0609020204030204" pitchFamily="49" charset="0"/>
              </a:rPr>
              <a:t>delay_1ms</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decfsz</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CONT,f</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a:t>
            </a:r>
            <a:r>
              <a:rPr lang="es-AR" sz="1754" dirty="0">
                <a:latin typeface="Consolas" panose="020B0609020204030204" pitchFamily="49" charset="0"/>
              </a:rPr>
              <a:t>	</a:t>
            </a:r>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return</a:t>
            </a:r>
          </a:p>
        </p:txBody>
      </p:sp>
      <p:sp>
        <p:nvSpPr>
          <p:cNvPr id="7" name="Marcador de contenido 2"/>
          <p:cNvSpPr txBox="1">
            <a:spLocks/>
          </p:cNvSpPr>
          <p:nvPr/>
        </p:nvSpPr>
        <p:spPr bwMode="auto">
          <a:xfrm>
            <a:off x="530139" y="2387875"/>
            <a:ext cx="5539584" cy="393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fontScale="77500" lnSpcReduction="20000"/>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buClr>
                <a:srgbClr val="D24726"/>
              </a:buClr>
              <a:buSzPct val="150000"/>
              <a:defRPr/>
            </a:pPr>
            <a:r>
              <a:rPr lang="es-AR" sz="2105" dirty="0">
                <a:solidFill>
                  <a:schemeClr val="tx1"/>
                </a:solidFill>
              </a:rPr>
              <a:t>¿Cómo incrementamos ese tiempo?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deben anidar contadores. </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Así, el tiempo de demora final es la multiplicación de la demoras de los contadores anidados</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En el ejemplo se cuentan aproximadamente 250 milisegundos, ya que se llama 250 a la demora de 1 milisegundo.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Sólo se recomienda usar CALL y llamadas a subrutinas en caso de que no se usen demasiados contadores.</a:t>
            </a:r>
          </a:p>
        </p:txBody>
      </p:sp>
    </p:spTree>
    <p:extLst>
      <p:ext uri="{BB962C8B-B14F-4D97-AF65-F5344CB8AC3E}">
        <p14:creationId xmlns:p14="http://schemas.microsoft.com/office/powerpoint/2010/main" val="3460071139"/>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2: Manejo de Pulsadores</a:t>
            </a:r>
            <a:endParaRPr lang="es-AR" dirty="0"/>
          </a:p>
        </p:txBody>
      </p:sp>
      <p:pic>
        <p:nvPicPr>
          <p:cNvPr id="6" name="Imagen 5"/>
          <p:cNvPicPr>
            <a:picLocks noChangeAspect="1"/>
          </p:cNvPicPr>
          <p:nvPr/>
        </p:nvPicPr>
        <p:blipFill>
          <a:blip r:embed="rId2"/>
          <a:stretch>
            <a:fillRect/>
          </a:stretch>
        </p:blipFill>
        <p:spPr>
          <a:xfrm>
            <a:off x="5873508" y="1937116"/>
            <a:ext cx="2034145" cy="4651967"/>
          </a:xfrm>
          <a:prstGeom prst="rect">
            <a:avLst/>
          </a:prstGeom>
        </p:spPr>
      </p:pic>
      <p:pic>
        <p:nvPicPr>
          <p:cNvPr id="3" name="Imagen 2"/>
          <p:cNvPicPr>
            <a:picLocks noChangeAspect="1"/>
          </p:cNvPicPr>
          <p:nvPr/>
        </p:nvPicPr>
        <p:blipFill>
          <a:blip r:embed="rId3"/>
          <a:stretch>
            <a:fillRect/>
          </a:stretch>
        </p:blipFill>
        <p:spPr>
          <a:xfrm>
            <a:off x="530139" y="2561736"/>
            <a:ext cx="5166455" cy="3166845"/>
          </a:xfrm>
          <a:prstGeom prst="rect">
            <a:avLst/>
          </a:prstGeom>
        </p:spPr>
      </p:pic>
      <p:sp>
        <p:nvSpPr>
          <p:cNvPr id="7" name="Llamada rectangular redondeada 6"/>
          <p:cNvSpPr/>
          <p:nvPr/>
        </p:nvSpPr>
        <p:spPr>
          <a:xfrm>
            <a:off x="8167125" y="2447094"/>
            <a:ext cx="2270734" cy="2485275"/>
          </a:xfrm>
          <a:prstGeom prst="wedgeRoundRectCallout">
            <a:avLst>
              <a:gd name="adj1" fmla="val -63726"/>
              <a:gd name="adj2" fmla="val -2041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AR" sz="1579" dirty="0"/>
              <a:t>En este ejercicio se utilizarán los pull-ups internos del PIC. Para activarlos se debe usar la instrucción: </a:t>
            </a:r>
          </a:p>
          <a:p>
            <a:pPr algn="ctr"/>
            <a:r>
              <a:rPr lang="es-AR" sz="1579" dirty="0" err="1">
                <a:solidFill>
                  <a:srgbClr val="274DE7"/>
                </a:solidFill>
                <a:latin typeface="Consolas" panose="020B0609020204030204" pitchFamily="49" charset="0"/>
              </a:rPr>
              <a:t>bcf</a:t>
            </a:r>
            <a:r>
              <a:rPr lang="es-AR" sz="1579" dirty="0">
                <a:solidFill>
                  <a:srgbClr val="274DE7"/>
                </a:solidFill>
                <a:latin typeface="Consolas" panose="020B0609020204030204" pitchFamily="49" charset="0"/>
              </a:rPr>
              <a:t> </a:t>
            </a:r>
            <a:r>
              <a:rPr lang="es-AR" sz="1579" dirty="0">
                <a:solidFill>
                  <a:srgbClr val="9E458A"/>
                </a:solidFill>
                <a:latin typeface="Consolas" panose="020B0609020204030204" pitchFamily="49" charset="0"/>
              </a:rPr>
              <a:t>OPTION, RBPU</a:t>
            </a:r>
            <a:endParaRPr lang="es-AR" sz="1579" dirty="0">
              <a:latin typeface="Consolas" panose="020B0609020204030204" pitchFamily="49" charset="0"/>
            </a:endParaRPr>
          </a:p>
          <a:p>
            <a:pPr algn="ctr"/>
            <a:r>
              <a:rPr lang="es-AR" sz="1579" dirty="0"/>
              <a:t> </a:t>
            </a:r>
          </a:p>
        </p:txBody>
      </p:sp>
    </p:spTree>
    <p:extLst>
      <p:ext uri="{BB962C8B-B14F-4D97-AF65-F5344CB8AC3E}">
        <p14:creationId xmlns:p14="http://schemas.microsoft.com/office/powerpoint/2010/main" val="410543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2: Manejo de Pulsadores</a:t>
            </a:r>
            <a:endParaRPr lang="es-AR" dirty="0"/>
          </a:p>
        </p:txBody>
      </p:sp>
      <p:pic>
        <p:nvPicPr>
          <p:cNvPr id="6" name="Imagen 5"/>
          <p:cNvPicPr>
            <a:picLocks noChangeAspect="1"/>
          </p:cNvPicPr>
          <p:nvPr/>
        </p:nvPicPr>
        <p:blipFill>
          <a:blip r:embed="rId2"/>
          <a:stretch>
            <a:fillRect/>
          </a:stretch>
        </p:blipFill>
        <p:spPr>
          <a:xfrm>
            <a:off x="978918" y="2046090"/>
            <a:ext cx="2034145" cy="4651967"/>
          </a:xfrm>
          <a:prstGeom prst="rect">
            <a:avLst/>
          </a:prstGeom>
        </p:spPr>
      </p:pic>
      <p:sp>
        <p:nvSpPr>
          <p:cNvPr id="8" name="Marcador de contenido 2"/>
          <p:cNvSpPr>
            <a:spLocks noGrp="1"/>
          </p:cNvSpPr>
          <p:nvPr>
            <p:ph idx="1"/>
          </p:nvPr>
        </p:nvSpPr>
        <p:spPr>
          <a:xfrm>
            <a:off x="3306060" y="2130944"/>
            <a:ext cx="4218635" cy="4467705"/>
          </a:xfrm>
        </p:spPr>
        <p:txBody>
          <a:bodyPr rtlCol="0">
            <a:normAutofit/>
          </a:bodyPr>
          <a:lstStyle/>
          <a:p>
            <a:pPr marL="300758" indent="-300758">
              <a:buClr>
                <a:srgbClr val="D24726"/>
              </a:buClr>
              <a:buSzPct val="150000"/>
              <a:defRPr/>
            </a:pPr>
            <a:r>
              <a:rPr lang="es-AR" sz="2105" dirty="0"/>
              <a:t>Sin el uso de interrupciones se utiliza el método de “</a:t>
            </a:r>
            <a:r>
              <a:rPr lang="es-AR" sz="2105" dirty="0" err="1"/>
              <a:t>Polling</a:t>
            </a:r>
            <a:r>
              <a:rPr lang="es-AR" sz="2105" dirty="0"/>
              <a:t>”, nombrado así por estar constantemente “preguntando” algo. </a:t>
            </a:r>
          </a:p>
          <a:p>
            <a:pPr marL="300758" indent="-300758">
              <a:buClr>
                <a:srgbClr val="D24726"/>
              </a:buClr>
              <a:buSzPct val="150000"/>
              <a:defRPr/>
            </a:pPr>
            <a:endParaRPr lang="es-AR" sz="2105" dirty="0" smtClean="0"/>
          </a:p>
          <a:p>
            <a:pPr marL="300758" indent="-300758">
              <a:buClr>
                <a:srgbClr val="D24726"/>
              </a:buClr>
              <a:buSzPct val="150000"/>
              <a:defRPr/>
            </a:pPr>
            <a:r>
              <a:rPr lang="es-AR" sz="2105" dirty="0" smtClean="0"/>
              <a:t>Ventaja</a:t>
            </a:r>
            <a:r>
              <a:rPr lang="es-AR" sz="2105" dirty="0"/>
              <a:t>: Implementación simple</a:t>
            </a:r>
          </a:p>
          <a:p>
            <a:pPr marL="300758" indent="-300758">
              <a:buClr>
                <a:srgbClr val="D24726"/>
              </a:buClr>
              <a:buSzPct val="150000"/>
              <a:defRPr/>
            </a:pPr>
            <a:endParaRPr lang="es-AR" sz="2105" dirty="0" smtClean="0"/>
          </a:p>
          <a:p>
            <a:pPr marL="300758" indent="-300758">
              <a:buClr>
                <a:srgbClr val="D24726"/>
              </a:buClr>
              <a:buSzPct val="150000"/>
              <a:defRPr/>
            </a:pPr>
            <a:r>
              <a:rPr lang="es-AR" sz="2105" dirty="0" smtClean="0"/>
              <a:t>Desventaja</a:t>
            </a:r>
            <a:r>
              <a:rPr lang="es-AR" sz="2105" dirty="0"/>
              <a:t>: mientras se espera que se pulse el botón no se puede estar haciendo otra cosa simultáneamente.</a:t>
            </a:r>
          </a:p>
        </p:txBody>
      </p:sp>
      <p:sp>
        <p:nvSpPr>
          <p:cNvPr id="9" name="Elipse 8"/>
          <p:cNvSpPr/>
          <p:nvPr/>
        </p:nvSpPr>
        <p:spPr>
          <a:xfrm>
            <a:off x="822468" y="3511096"/>
            <a:ext cx="2535751" cy="176912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579"/>
          </a:p>
        </p:txBody>
      </p:sp>
      <p:sp>
        <p:nvSpPr>
          <p:cNvPr id="10" name="Marcador de contenido 4"/>
          <p:cNvSpPr txBox="1">
            <a:spLocks/>
          </p:cNvSpPr>
          <p:nvPr/>
        </p:nvSpPr>
        <p:spPr bwMode="auto">
          <a:xfrm>
            <a:off x="7319908" y="2130944"/>
            <a:ext cx="3153335" cy="4437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anchor="t" anchorCtr="0" compatLnSpc="1">
            <a:prstTxWarp prst="textNoShape">
              <a:avLst/>
            </a:prstTxWarp>
            <a:no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endParaRPr lang="es-AR" sz="1754" dirty="0">
              <a:solidFill>
                <a:srgbClr val="9E458A"/>
              </a:solidFill>
              <a:latin typeface="Consolas" panose="020B0609020204030204" pitchFamily="49" charset="0"/>
            </a:endParaRPr>
          </a:p>
          <a:p>
            <a:r>
              <a:rPr lang="es-AR" sz="1754" dirty="0">
                <a:solidFill>
                  <a:srgbClr val="9E458A"/>
                </a:solidFill>
                <a:latin typeface="Consolas" panose="020B0609020204030204" pitchFamily="49" charset="0"/>
              </a:rPr>
              <a:t>esperar</a:t>
            </a:r>
            <a:r>
              <a:rPr lang="es-AR" sz="1754" dirty="0">
                <a:latin typeface="Consolas" panose="020B0609020204030204" pitchFamily="49" charset="0"/>
              </a:rPr>
              <a:t>	</a:t>
            </a:r>
          </a:p>
          <a:p>
            <a:r>
              <a:rPr lang="es-AR" sz="1754" dirty="0">
                <a:solidFill>
                  <a:srgbClr val="274DE7"/>
                </a:solidFill>
                <a:latin typeface="Consolas" panose="020B0609020204030204" pitchFamily="49" charset="0"/>
              </a:rPr>
              <a:t>	btfsc	</a:t>
            </a:r>
            <a:r>
              <a:rPr lang="es-AR" sz="1754" dirty="0">
                <a:solidFill>
                  <a:srgbClr val="9E458A"/>
                </a:solidFill>
                <a:latin typeface="Consolas" panose="020B0609020204030204" pitchFamily="49" charset="0"/>
              </a:rPr>
              <a:t>PORTB, RB0</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 	</a:t>
            </a:r>
            <a:r>
              <a:rPr lang="es-AR" sz="1754" dirty="0">
                <a:solidFill>
                  <a:srgbClr val="9E458A"/>
                </a:solidFill>
                <a:latin typeface="Consolas" panose="020B0609020204030204" pitchFamily="49" charset="0"/>
              </a:rPr>
              <a:t>esperar</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bsf	</a:t>
            </a:r>
            <a:r>
              <a:rPr lang="es-AR" sz="1754" dirty="0">
                <a:solidFill>
                  <a:srgbClr val="9E458A"/>
                </a:solidFill>
                <a:latin typeface="Consolas" panose="020B0609020204030204" pitchFamily="49" charset="0"/>
              </a:rPr>
              <a:t>PORTB, RB1</a:t>
            </a:r>
            <a:r>
              <a:rPr lang="es-AR" sz="1754" dirty="0">
                <a:latin typeface="Consolas" panose="020B0609020204030204" pitchFamily="49" charset="0"/>
              </a:rPr>
              <a:t>	</a:t>
            </a:r>
          </a:p>
        </p:txBody>
      </p:sp>
    </p:spTree>
    <p:extLst>
      <p:ext uri="{BB962C8B-B14F-4D97-AF65-F5344CB8AC3E}">
        <p14:creationId xmlns:p14="http://schemas.microsoft.com/office/powerpoint/2010/main" val="192981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2: Manejo de Pulsadores</a:t>
            </a:r>
            <a:endParaRPr lang="es-AR" dirty="0"/>
          </a:p>
        </p:txBody>
      </p:sp>
      <p:sp>
        <p:nvSpPr>
          <p:cNvPr id="8" name="Marcador de contenido 2"/>
          <p:cNvSpPr>
            <a:spLocks noGrp="1"/>
          </p:cNvSpPr>
          <p:nvPr>
            <p:ph idx="1"/>
          </p:nvPr>
        </p:nvSpPr>
        <p:spPr>
          <a:xfrm>
            <a:off x="667387" y="2100639"/>
            <a:ext cx="6102479" cy="2710371"/>
          </a:xfrm>
        </p:spPr>
        <p:txBody>
          <a:bodyPr rtlCol="0">
            <a:normAutofit lnSpcReduction="10000"/>
          </a:bodyPr>
          <a:lstStyle/>
          <a:p>
            <a:pPr marL="300758" indent="-300758" algn="just">
              <a:buClr>
                <a:srgbClr val="D24726"/>
              </a:buClr>
              <a:buSzPct val="150000"/>
              <a:defRPr/>
            </a:pPr>
            <a:r>
              <a:rPr lang="es-AR" sz="2105" dirty="0"/>
              <a:t>Por las propiedades mecánicas de los pulsadores pueden ocurrir rebotes los cuales pueden confundir al microcontrolador, el cual interpretará que se pulsó muchas veces el botón cuando sólo ocurrió una vez.</a:t>
            </a:r>
          </a:p>
          <a:p>
            <a:pPr marL="300758" indent="-300758" algn="just">
              <a:buClr>
                <a:srgbClr val="D24726"/>
              </a:buClr>
              <a:buSzPct val="150000"/>
              <a:defRPr/>
            </a:pPr>
            <a:r>
              <a:rPr lang="es-AR" sz="2105" dirty="0"/>
              <a:t>En este caso se deben usar demoras “Anti-rebote” que garanticen que efectivamente una persona tocó el botón y no se esta procesando un rebote.</a:t>
            </a:r>
          </a:p>
        </p:txBody>
      </p:sp>
      <p:sp>
        <p:nvSpPr>
          <p:cNvPr id="10" name="Marcador de contenido 4"/>
          <p:cNvSpPr txBox="1">
            <a:spLocks/>
          </p:cNvSpPr>
          <p:nvPr/>
        </p:nvSpPr>
        <p:spPr bwMode="auto">
          <a:xfrm>
            <a:off x="6871730" y="2001210"/>
            <a:ext cx="3821670" cy="359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anchor="t" anchorCtr="0" compatLnSpc="1">
            <a:prstTxWarp prst="textNoShape">
              <a:avLst/>
            </a:prstTxWarp>
            <a:no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s-AR" sz="1754" dirty="0">
                <a:solidFill>
                  <a:srgbClr val="9E458A"/>
                </a:solidFill>
                <a:latin typeface="Consolas" panose="020B0609020204030204" pitchFamily="49" charset="0"/>
              </a:rPr>
              <a:t>esperar</a:t>
            </a:r>
            <a:r>
              <a:rPr lang="es-AR" sz="1754" dirty="0">
                <a:latin typeface="Consolas" panose="020B0609020204030204" pitchFamily="49" charset="0"/>
              </a:rPr>
              <a:t>	</a:t>
            </a:r>
          </a:p>
          <a:p>
            <a:r>
              <a:rPr lang="es-AR" sz="1754" dirty="0">
                <a:solidFill>
                  <a:srgbClr val="274DE7"/>
                </a:solidFill>
                <a:latin typeface="Consolas" panose="020B0609020204030204" pitchFamily="49" charset="0"/>
              </a:rPr>
              <a:t>	btfsc	</a:t>
            </a:r>
            <a:r>
              <a:rPr lang="es-AR" sz="1754" dirty="0">
                <a:solidFill>
                  <a:srgbClr val="9E458A"/>
                </a:solidFill>
                <a:latin typeface="Consolas" panose="020B0609020204030204" pitchFamily="49" charset="0"/>
              </a:rPr>
              <a:t>PORTB, RB0</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 	</a:t>
            </a:r>
            <a:r>
              <a:rPr lang="es-AR" sz="1754" dirty="0">
                <a:solidFill>
                  <a:srgbClr val="9E458A"/>
                </a:solidFill>
                <a:latin typeface="Consolas" panose="020B0609020204030204" pitchFamily="49" charset="0"/>
              </a:rPr>
              <a:t>esperar</a:t>
            </a:r>
          </a:p>
          <a:p>
            <a:r>
              <a:rPr lang="es-AR" sz="1754" dirty="0">
                <a:solidFill>
                  <a:srgbClr val="9E458A"/>
                </a:solidFill>
                <a:latin typeface="Consolas" panose="020B0609020204030204" pitchFamily="49" charset="0"/>
              </a:rPr>
              <a:t>	</a:t>
            </a:r>
            <a:r>
              <a:rPr lang="es-AR" sz="1754" dirty="0">
                <a:solidFill>
                  <a:srgbClr val="274DE7"/>
                </a:solidFill>
                <a:latin typeface="Consolas" panose="020B0609020204030204" pitchFamily="49" charset="0"/>
              </a:rPr>
              <a:t>call</a:t>
            </a:r>
            <a:r>
              <a:rPr lang="es-AR" sz="1754" dirty="0">
                <a:solidFill>
                  <a:srgbClr val="9E458A"/>
                </a:solidFill>
                <a:latin typeface="Consolas" panose="020B0609020204030204" pitchFamily="49" charset="0"/>
              </a:rPr>
              <a:t>	demora_20ms</a:t>
            </a:r>
          </a:p>
          <a:p>
            <a:r>
              <a:rPr lang="es-AR" sz="1754" dirty="0">
                <a:solidFill>
                  <a:srgbClr val="274DE7"/>
                </a:solidFill>
                <a:latin typeface="Consolas" panose="020B0609020204030204" pitchFamily="49" charset="0"/>
              </a:rPr>
              <a:t>	btfsc	</a:t>
            </a:r>
            <a:r>
              <a:rPr lang="es-AR" sz="1754" dirty="0">
                <a:solidFill>
                  <a:srgbClr val="9E458A"/>
                </a:solidFill>
                <a:latin typeface="Consolas" panose="020B0609020204030204" pitchFamily="49" charset="0"/>
              </a:rPr>
              <a:t>PORTB, RB0</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 	</a:t>
            </a:r>
            <a:r>
              <a:rPr lang="es-AR" sz="1754" dirty="0">
                <a:solidFill>
                  <a:srgbClr val="9E458A"/>
                </a:solidFill>
                <a:latin typeface="Consolas" panose="020B0609020204030204" pitchFamily="49" charset="0"/>
              </a:rPr>
              <a:t>esperar</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bsf	</a:t>
            </a:r>
            <a:r>
              <a:rPr lang="es-AR" sz="1754" dirty="0">
                <a:solidFill>
                  <a:srgbClr val="9E458A"/>
                </a:solidFill>
                <a:latin typeface="Consolas" panose="020B0609020204030204" pitchFamily="49" charset="0"/>
              </a:rPr>
              <a:t>PORTB, RB1</a:t>
            </a:r>
            <a:r>
              <a:rPr lang="es-AR" sz="1754" dirty="0">
                <a:latin typeface="Consolas" panose="020B0609020204030204" pitchFamily="49" charset="0"/>
              </a:rPr>
              <a:t>	</a:t>
            </a:r>
          </a:p>
        </p:txBody>
      </p:sp>
      <p:grpSp>
        <p:nvGrpSpPr>
          <p:cNvPr id="25" name="Grupo 24"/>
          <p:cNvGrpSpPr/>
          <p:nvPr/>
        </p:nvGrpSpPr>
        <p:grpSpPr>
          <a:xfrm>
            <a:off x="1058018" y="4811011"/>
            <a:ext cx="3552098" cy="1757334"/>
            <a:chOff x="2214815" y="4604685"/>
            <a:chExt cx="4049898" cy="2003611"/>
          </a:xfrm>
        </p:grpSpPr>
        <p:pic>
          <p:nvPicPr>
            <p:cNvPr id="11" name="Picture 2" descr="Image result for switch bounce"/>
            <p:cNvPicPr>
              <a:picLocks noChangeAspect="1" noChangeArrowheads="1"/>
            </p:cNvPicPr>
            <p:nvPr/>
          </p:nvPicPr>
          <p:blipFill rotWithShape="1">
            <a:blip r:embed="rId2">
              <a:extLst>
                <a:ext uri="{28A0092B-C50C-407E-A947-70E740481C1C}">
                  <a14:useLocalDpi xmlns:a14="http://schemas.microsoft.com/office/drawing/2010/main" val="0"/>
                </a:ext>
              </a:extLst>
            </a:blip>
            <a:srcRect t="11765" b="20814"/>
            <a:stretch/>
          </p:blipFill>
          <p:spPr bwMode="auto">
            <a:xfrm>
              <a:off x="2214815" y="4604685"/>
              <a:ext cx="4049898" cy="200361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recto 6"/>
            <p:cNvCxnSpPr/>
            <p:nvPr/>
          </p:nvCxnSpPr>
          <p:spPr>
            <a:xfrm>
              <a:off x="2514600" y="6306671"/>
              <a:ext cx="1371600"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Conector recto 17"/>
            <p:cNvCxnSpPr/>
            <p:nvPr/>
          </p:nvCxnSpPr>
          <p:spPr>
            <a:xfrm>
              <a:off x="3886200" y="5181601"/>
              <a:ext cx="2030506"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cto 20"/>
            <p:cNvCxnSpPr/>
            <p:nvPr/>
          </p:nvCxnSpPr>
          <p:spPr>
            <a:xfrm>
              <a:off x="3886200" y="5181601"/>
              <a:ext cx="0" cy="112506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 name="CuadroTexto 23"/>
          <p:cNvSpPr txBox="1"/>
          <p:nvPr/>
        </p:nvSpPr>
        <p:spPr>
          <a:xfrm>
            <a:off x="4315261" y="4827882"/>
            <a:ext cx="2251239" cy="1307409"/>
          </a:xfrm>
          <a:prstGeom prst="rect">
            <a:avLst/>
          </a:prstGeom>
          <a:noFill/>
        </p:spPr>
        <p:txBody>
          <a:bodyPr wrap="square" rtlCol="0">
            <a:spAutoFit/>
          </a:bodyPr>
          <a:lstStyle/>
          <a:p>
            <a:r>
              <a:rPr lang="es-AR" sz="1579" dirty="0"/>
              <a:t>Gráfico de lo que ocurre al presionar un botón. En rojo se ve lo esperado vs. lo que ocurre físicamente</a:t>
            </a:r>
          </a:p>
        </p:txBody>
      </p:sp>
    </p:spTree>
    <p:extLst>
      <p:ext uri="{BB962C8B-B14F-4D97-AF65-F5344CB8AC3E}">
        <p14:creationId xmlns:p14="http://schemas.microsoft.com/office/powerpoint/2010/main" val="6519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2: Manejo de Pulsadores</a:t>
            </a:r>
            <a:endParaRPr lang="es-AR" dirty="0"/>
          </a:p>
        </p:txBody>
      </p:sp>
      <p:sp>
        <p:nvSpPr>
          <p:cNvPr id="8" name="Marcador de contenido 2"/>
          <p:cNvSpPr>
            <a:spLocks noGrp="1"/>
          </p:cNvSpPr>
          <p:nvPr>
            <p:ph idx="1"/>
          </p:nvPr>
        </p:nvSpPr>
        <p:spPr>
          <a:xfrm>
            <a:off x="667387" y="2006286"/>
            <a:ext cx="9758678" cy="4467706"/>
          </a:xfrm>
        </p:spPr>
        <p:txBody>
          <a:bodyPr rtlCol="0">
            <a:normAutofit/>
          </a:bodyPr>
          <a:lstStyle/>
          <a:p>
            <a:pPr marL="300758" indent="-300758" algn="just">
              <a:buClr>
                <a:srgbClr val="D24726"/>
              </a:buClr>
              <a:buSzPct val="150000"/>
              <a:defRPr/>
            </a:pPr>
            <a:r>
              <a:rPr lang="es-AR" sz="2105" dirty="0"/>
              <a:t>Para evitar las desventajas de método de </a:t>
            </a:r>
            <a:r>
              <a:rPr lang="es-AR" sz="2105" dirty="0" err="1"/>
              <a:t>polling</a:t>
            </a:r>
            <a:r>
              <a:rPr lang="es-AR" sz="2105" dirty="0"/>
              <a:t> se utilizan interrupciones. </a:t>
            </a:r>
          </a:p>
          <a:p>
            <a:pPr marL="300758" indent="-300758" algn="just">
              <a:buClr>
                <a:srgbClr val="D24726"/>
              </a:buClr>
              <a:buSzPct val="150000"/>
              <a:defRPr/>
            </a:pPr>
            <a:r>
              <a:rPr lang="es-AR" sz="2105" dirty="0"/>
              <a:t>Particularmente en este caso vamos a usar la interrupción por RB0.</a:t>
            </a:r>
          </a:p>
          <a:p>
            <a:pPr marL="300758" indent="-300758" algn="just">
              <a:buClr>
                <a:srgbClr val="D24726"/>
              </a:buClr>
              <a:buSzPct val="150000"/>
              <a:defRPr/>
            </a:pPr>
            <a:r>
              <a:rPr lang="es-AR" sz="2105" dirty="0"/>
              <a:t>Esta se configura de la siguiente manera:</a:t>
            </a:r>
          </a:p>
          <a:p>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INTCON, GIE </a:t>
            </a:r>
            <a:r>
              <a:rPr lang="es-AR" sz="2105" dirty="0">
                <a:solidFill>
                  <a:schemeClr val="accent6"/>
                </a:solidFill>
                <a:latin typeface="Consolas" panose="020B0609020204030204" pitchFamily="49" charset="0"/>
              </a:rPr>
              <a:t>; Habilito las interrupciones globales</a:t>
            </a:r>
          </a:p>
          <a:p>
            <a:r>
              <a:rPr lang="es-AR" sz="2105" dirty="0">
                <a:latin typeface="Consolas" panose="020B0609020204030204" pitchFamily="49" charset="0"/>
              </a:rPr>
              <a:t>	</a:t>
            </a:r>
            <a:r>
              <a:rPr lang="es-AR" sz="2105" dirty="0">
                <a:solidFill>
                  <a:srgbClr val="274DE7"/>
                </a:solidFill>
                <a:latin typeface="Consolas" panose="020B0609020204030204" pitchFamily="49" charset="0"/>
              </a:rPr>
              <a:t>bsf 	</a:t>
            </a:r>
            <a:r>
              <a:rPr lang="es-AR" sz="2105" dirty="0">
                <a:solidFill>
                  <a:srgbClr val="9E458A"/>
                </a:solidFill>
                <a:latin typeface="Consolas" panose="020B0609020204030204" pitchFamily="49" charset="0"/>
              </a:rPr>
              <a:t>INTCON, INTE </a:t>
            </a:r>
            <a:r>
              <a:rPr lang="es-AR" sz="2105" dirty="0">
                <a:solidFill>
                  <a:schemeClr val="accent6"/>
                </a:solidFill>
                <a:latin typeface="Consolas" panose="020B0609020204030204" pitchFamily="49" charset="0"/>
              </a:rPr>
              <a:t>; Habilito la interrupción por RB0</a:t>
            </a:r>
          </a:p>
          <a:p>
            <a:r>
              <a:rPr lang="es-AR" sz="2105" dirty="0"/>
              <a:t>La información sobre estos bits y los correspondientes al resto de las interrupciones se encuentran en el </a:t>
            </a:r>
            <a:r>
              <a:rPr lang="es-AR" sz="2105" dirty="0" err="1"/>
              <a:t>datasheet</a:t>
            </a:r>
            <a:r>
              <a:rPr lang="es-AR" sz="2105" dirty="0"/>
              <a:t> del PIC.</a:t>
            </a:r>
            <a:r>
              <a:rPr lang="es-AR" sz="2105" dirty="0">
                <a:latin typeface="Consolas" panose="020B0609020204030204" pitchFamily="49" charset="0"/>
              </a:rPr>
              <a:t>	</a:t>
            </a: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413733659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2: Manejo de Pulsadores</a:t>
            </a:r>
            <a:endParaRPr lang="es-AR" dirty="0"/>
          </a:p>
        </p:txBody>
      </p:sp>
      <p:sp>
        <p:nvSpPr>
          <p:cNvPr id="8" name="Marcador de contenido 2"/>
          <p:cNvSpPr>
            <a:spLocks noGrp="1"/>
          </p:cNvSpPr>
          <p:nvPr>
            <p:ph idx="1"/>
          </p:nvPr>
        </p:nvSpPr>
        <p:spPr>
          <a:xfrm>
            <a:off x="537651" y="2041668"/>
            <a:ext cx="9758678" cy="4769276"/>
          </a:xfrm>
        </p:spPr>
        <p:txBody>
          <a:bodyPr rtlCol="0">
            <a:normAutofit fontScale="92500" lnSpcReduction="10000"/>
          </a:bodyPr>
          <a:lstStyle/>
          <a:p>
            <a:pPr marL="300758" indent="-300758" algn="just">
              <a:spcAft>
                <a:spcPts val="526"/>
              </a:spcAft>
              <a:buClr>
                <a:srgbClr val="D24726"/>
              </a:buClr>
              <a:buSzPct val="150000"/>
              <a:defRPr/>
            </a:pPr>
            <a:r>
              <a:rPr lang="es-AR" sz="2105" dirty="0"/>
              <a:t>Al utilizar interrupciones debemos definir nuestra rutina de interrupción. Es una buena práctica que esto se haga al inicio del código de la siguiente manera:</a:t>
            </a:r>
          </a:p>
          <a:p>
            <a:pPr>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org</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0x00</a:t>
            </a:r>
          </a:p>
          <a:p>
            <a:pPr>
              <a:spcAft>
                <a:spcPts val="526"/>
              </a:spcAft>
            </a:pPr>
            <a:r>
              <a:rPr lang="es-AR" sz="2105" dirty="0">
                <a:solidFill>
                  <a:srgbClr val="274DE7"/>
                </a:solidFill>
                <a:latin typeface="Consolas" panose="020B0609020204030204" pitchFamily="49" charset="0"/>
              </a:rPr>
              <a:t>	goto 	</a:t>
            </a:r>
            <a:r>
              <a:rPr lang="es-AR" sz="2105" dirty="0">
                <a:solidFill>
                  <a:srgbClr val="9E458A"/>
                </a:solidFill>
                <a:latin typeface="Consolas" panose="020B0609020204030204" pitchFamily="49" charset="0"/>
              </a:rPr>
              <a:t>inicio</a:t>
            </a:r>
          </a:p>
          <a:p>
            <a:pPr>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org</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0x04</a:t>
            </a:r>
          </a:p>
          <a:p>
            <a:pPr>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 GIE </a:t>
            </a:r>
            <a:r>
              <a:rPr lang="es-AR" sz="2105" dirty="0">
                <a:solidFill>
                  <a:schemeClr val="accent6"/>
                </a:solidFill>
                <a:latin typeface="Consolas" panose="020B0609020204030204" pitchFamily="49" charset="0"/>
              </a:rPr>
              <a:t>; inhabilito las interrupciones globales</a:t>
            </a:r>
          </a:p>
          <a:p>
            <a:pPr>
              <a:spcAft>
                <a:spcPts val="526"/>
              </a:spcAft>
            </a:pPr>
            <a:r>
              <a:rPr lang="es-AR" sz="2105" dirty="0">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 INTF </a:t>
            </a:r>
            <a:r>
              <a:rPr lang="es-AR" sz="2105" dirty="0">
                <a:solidFill>
                  <a:schemeClr val="accent6"/>
                </a:solidFill>
                <a:latin typeface="Consolas" panose="020B0609020204030204" pitchFamily="49" charset="0"/>
              </a:rPr>
              <a:t>; bajo el </a:t>
            </a:r>
            <a:r>
              <a:rPr lang="es-AR" sz="2105" dirty="0" err="1">
                <a:solidFill>
                  <a:schemeClr val="accent6"/>
                </a:solidFill>
                <a:latin typeface="Consolas" panose="020B0609020204030204" pitchFamily="49" charset="0"/>
              </a:rPr>
              <a:t>flag</a:t>
            </a:r>
            <a:r>
              <a:rPr lang="es-AR" sz="2105" dirty="0">
                <a:solidFill>
                  <a:schemeClr val="accent6"/>
                </a:solidFill>
                <a:latin typeface="Consolas" panose="020B0609020204030204" pitchFamily="49" charset="0"/>
              </a:rPr>
              <a:t> de la interrupción</a:t>
            </a:r>
          </a:p>
          <a:p>
            <a:pPr>
              <a:spcAft>
                <a:spcPts val="526"/>
              </a:spcAft>
            </a:pPr>
            <a:r>
              <a:rPr lang="es-AR" sz="2105" dirty="0">
                <a:solidFill>
                  <a:schemeClr val="accent6"/>
                </a:solidFill>
                <a:latin typeface="Consolas" panose="020B0609020204030204" pitchFamily="49" charset="0"/>
              </a:rPr>
              <a:t>	</a:t>
            </a:r>
            <a:r>
              <a:rPr lang="es-AR" sz="2105" dirty="0">
                <a:solidFill>
                  <a:srgbClr val="274DE7"/>
                </a:solidFill>
                <a:latin typeface="Consolas" panose="020B0609020204030204" pitchFamily="49" charset="0"/>
              </a:rPr>
              <a:t>bsf 	</a:t>
            </a:r>
            <a:r>
              <a:rPr lang="es-AR" sz="2105" dirty="0">
                <a:solidFill>
                  <a:srgbClr val="9E458A"/>
                </a:solidFill>
                <a:latin typeface="Consolas" panose="020B0609020204030204" pitchFamily="49" charset="0"/>
              </a:rPr>
              <a:t>PORTB, RB0 </a:t>
            </a:r>
            <a:r>
              <a:rPr lang="es-AR" sz="2105" dirty="0">
                <a:solidFill>
                  <a:schemeClr val="accent6"/>
                </a:solidFill>
                <a:latin typeface="Consolas" panose="020B0609020204030204" pitchFamily="49" charset="0"/>
              </a:rPr>
              <a:t>; realizo la rutina, en este caso prender el LED</a:t>
            </a:r>
          </a:p>
          <a:p>
            <a:pPr>
              <a:spcAft>
                <a:spcPts val="526"/>
              </a:spcAft>
            </a:pPr>
            <a:r>
              <a:rPr lang="es-AR" sz="2105" dirty="0">
                <a:solidFill>
                  <a:schemeClr val="accent6"/>
                </a:solidFill>
                <a:latin typeface="Consolas" panose="020B0609020204030204" pitchFamily="49" charset="0"/>
              </a:rPr>
              <a:t>	</a:t>
            </a:r>
            <a:r>
              <a:rPr lang="es-AR" sz="2105" dirty="0">
                <a:solidFill>
                  <a:srgbClr val="274DE7"/>
                </a:solidFill>
                <a:latin typeface="Consolas" panose="020B0609020204030204" pitchFamily="49" charset="0"/>
              </a:rPr>
              <a:t>bsf 	</a:t>
            </a:r>
            <a:r>
              <a:rPr lang="es-AR" sz="2105" dirty="0">
                <a:solidFill>
                  <a:srgbClr val="9E458A"/>
                </a:solidFill>
                <a:latin typeface="Consolas" panose="020B0609020204030204" pitchFamily="49" charset="0"/>
              </a:rPr>
              <a:t>INTCON, GIE </a:t>
            </a:r>
            <a:r>
              <a:rPr lang="es-AR" sz="2105" dirty="0">
                <a:solidFill>
                  <a:schemeClr val="accent6"/>
                </a:solidFill>
                <a:latin typeface="Consolas" panose="020B0609020204030204" pitchFamily="49" charset="0"/>
              </a:rPr>
              <a:t>; habilito nuevamente las interrupciones</a:t>
            </a:r>
          </a:p>
          <a:p>
            <a:pPr>
              <a:spcAft>
                <a:spcPts val="526"/>
              </a:spcAft>
            </a:pPr>
            <a:r>
              <a:rPr lang="es-AR" sz="2105" dirty="0">
                <a:solidFill>
                  <a:schemeClr val="accent6"/>
                </a:solidFill>
                <a:latin typeface="Consolas" panose="020B0609020204030204" pitchFamily="49" charset="0"/>
              </a:rPr>
              <a:t>	</a:t>
            </a:r>
            <a:r>
              <a:rPr lang="es-AR" sz="2105" dirty="0" err="1">
                <a:solidFill>
                  <a:srgbClr val="274DE7"/>
                </a:solidFill>
                <a:latin typeface="Consolas" panose="020B0609020204030204" pitchFamily="49" charset="0"/>
              </a:rPr>
              <a:t>retfie</a:t>
            </a:r>
            <a:r>
              <a:rPr lang="es-AR" sz="2105" dirty="0">
                <a:solidFill>
                  <a:srgbClr val="274DE7"/>
                </a:solidFill>
                <a:latin typeface="Consolas" panose="020B0609020204030204" pitchFamily="49" charset="0"/>
              </a:rPr>
              <a:t> 		   </a:t>
            </a:r>
            <a:r>
              <a:rPr lang="es-AR" sz="2105" dirty="0">
                <a:solidFill>
                  <a:schemeClr val="accent6"/>
                </a:solidFill>
                <a:latin typeface="Consolas" panose="020B0609020204030204" pitchFamily="49" charset="0"/>
              </a:rPr>
              <a:t>; Return especial para las rutinas de interrupción</a:t>
            </a:r>
          </a:p>
          <a:p>
            <a:pPr>
              <a:spcAft>
                <a:spcPts val="526"/>
              </a:spcAft>
            </a:pPr>
            <a:r>
              <a:rPr lang="es-AR" sz="2105" dirty="0">
                <a:solidFill>
                  <a:srgbClr val="9E458A"/>
                </a:solidFill>
                <a:latin typeface="Consolas" panose="020B0609020204030204" pitchFamily="49" charset="0"/>
              </a:rPr>
              <a:t>Inicio	...</a:t>
            </a:r>
            <a:endParaRPr lang="es-AR" sz="2105" dirty="0"/>
          </a:p>
        </p:txBody>
      </p:sp>
    </p:spTree>
    <p:extLst>
      <p:ext uri="{BB962C8B-B14F-4D97-AF65-F5344CB8AC3E}">
        <p14:creationId xmlns:p14="http://schemas.microsoft.com/office/powerpoint/2010/main" val="2619373320"/>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2: Manejo de Pulsadores</a:t>
            </a:r>
            <a:endParaRPr lang="es-AR" dirty="0"/>
          </a:p>
        </p:txBody>
      </p:sp>
      <p:sp>
        <p:nvSpPr>
          <p:cNvPr id="8" name="Marcador de contenido 2"/>
          <p:cNvSpPr>
            <a:spLocks noGrp="1"/>
          </p:cNvSpPr>
          <p:nvPr>
            <p:ph idx="1"/>
          </p:nvPr>
        </p:nvSpPr>
        <p:spPr>
          <a:xfrm>
            <a:off x="667387" y="2100639"/>
            <a:ext cx="9758678" cy="4467706"/>
          </a:xfrm>
        </p:spPr>
        <p:txBody>
          <a:bodyPr rtlCol="0">
            <a:normAutofit lnSpcReduction="10000"/>
          </a:bodyPr>
          <a:lstStyle/>
          <a:p>
            <a:pPr marL="300758" indent="-300758" algn="just">
              <a:buClr>
                <a:srgbClr val="D24726"/>
              </a:buClr>
              <a:buSzPct val="150000"/>
              <a:defRPr/>
            </a:pPr>
            <a:r>
              <a:rPr lang="es-AR" sz="2105" dirty="0"/>
              <a:t>El programa principal quedaría conformado únicamente por la configuración de los puertos y las interrupciones, ya que el encendido del LED se hace en la interrupción:</a:t>
            </a:r>
          </a:p>
          <a:p>
            <a:r>
              <a:rPr lang="es-AR" sz="2105" dirty="0">
                <a:solidFill>
                  <a:srgbClr val="9E458A"/>
                </a:solidFill>
                <a:latin typeface="Consolas" panose="020B0609020204030204" pitchFamily="49" charset="0"/>
              </a:rPr>
              <a:t>Inicio</a:t>
            </a:r>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INTCON,GIE </a:t>
            </a:r>
            <a:r>
              <a:rPr lang="es-AR" sz="2105" dirty="0">
                <a:solidFill>
                  <a:schemeClr val="accent6"/>
                </a:solidFill>
                <a:latin typeface="Consolas" panose="020B0609020204030204" pitchFamily="49" charset="0"/>
              </a:rPr>
              <a:t>; habilito las interrupciones globales</a:t>
            </a:r>
            <a:endParaRPr lang="es-AR" sz="2105" dirty="0">
              <a:solidFill>
                <a:srgbClr val="9E458A"/>
              </a:solidFill>
              <a:latin typeface="Consolas" panose="020B0609020204030204" pitchFamily="49" charset="0"/>
            </a:endParaRPr>
          </a:p>
          <a:p>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INTCON,INTE</a:t>
            </a:r>
            <a:r>
              <a:rPr lang="es-AR" sz="2105" dirty="0">
                <a:solidFill>
                  <a:schemeClr val="accent6"/>
                </a:solidFill>
                <a:latin typeface="Consolas" panose="020B0609020204030204" pitchFamily="49" charset="0"/>
              </a:rPr>
              <a:t>; habilito la interrupción por RB0</a:t>
            </a:r>
          </a:p>
          <a:p>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STATUS,RP0  </a:t>
            </a:r>
            <a:r>
              <a:rPr lang="es-AR" sz="2105" dirty="0">
                <a:solidFill>
                  <a:schemeClr val="accent6"/>
                </a:solidFill>
                <a:latin typeface="Consolas" panose="020B0609020204030204" pitchFamily="49" charset="0"/>
              </a:rPr>
              <a:t>; me muevo al Banco 1</a:t>
            </a:r>
          </a:p>
          <a:p>
            <a:r>
              <a:rPr lang="es-AR" sz="2105" dirty="0">
                <a:solidFill>
                  <a:srgbClr val="274DE7"/>
                </a:solidFill>
                <a:latin typeface="Consolas" panose="020B0609020204030204" pitchFamily="49" charset="0"/>
              </a:rPr>
              <a:t>	movlw 	</a:t>
            </a:r>
            <a:r>
              <a:rPr lang="es-AR" sz="2105" dirty="0">
                <a:solidFill>
                  <a:srgbClr val="9E458A"/>
                </a:solidFill>
                <a:latin typeface="Consolas" panose="020B0609020204030204" pitchFamily="49" charset="0"/>
              </a:rPr>
              <a:t>b’00000001’ </a:t>
            </a:r>
            <a:r>
              <a:rPr lang="es-AR" sz="2105" dirty="0">
                <a:solidFill>
                  <a:schemeClr val="accent6"/>
                </a:solidFill>
                <a:latin typeface="Consolas" panose="020B0609020204030204" pitchFamily="49" charset="0"/>
              </a:rPr>
              <a:t>; configuro el TRISB: RB0 entrada y el resto salida</a:t>
            </a: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TRISB</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STATUS, RP0 </a:t>
            </a:r>
            <a:r>
              <a:rPr lang="es-AR" sz="2105" dirty="0">
                <a:solidFill>
                  <a:schemeClr val="accent6"/>
                </a:solidFill>
                <a:latin typeface="Consolas" panose="020B0609020204030204" pitchFamily="49" charset="0"/>
              </a:rPr>
              <a:t>; regreso al Banco 0</a:t>
            </a:r>
          </a:p>
          <a:p>
            <a:r>
              <a:rPr lang="es-AR" sz="2105" dirty="0">
                <a:latin typeface="Consolas" panose="020B0609020204030204" pitchFamily="49" charset="0"/>
              </a:rPr>
              <a:t>	</a:t>
            </a:r>
            <a:r>
              <a:rPr lang="es-AR" sz="2105" dirty="0">
                <a:solidFill>
                  <a:srgbClr val="274DE7"/>
                </a:solidFill>
                <a:latin typeface="Consolas" panose="020B0609020204030204" pitchFamily="49" charset="0"/>
              </a:rPr>
              <a:t>goto 	</a:t>
            </a:r>
            <a:r>
              <a:rPr lang="es-AR" sz="2105" dirty="0">
                <a:solidFill>
                  <a:srgbClr val="9E458A"/>
                </a:solidFill>
                <a:latin typeface="Consolas" panose="020B0609020204030204" pitchFamily="49" charset="0"/>
              </a:rPr>
              <a:t>$           </a:t>
            </a:r>
            <a:r>
              <a:rPr lang="es-AR" sz="2105" dirty="0">
                <a:solidFill>
                  <a:schemeClr val="accent6"/>
                </a:solidFill>
                <a:latin typeface="Consolas" panose="020B0609020204030204" pitchFamily="49" charset="0"/>
              </a:rPr>
              <a:t>; esto indica que se hace un loop en la misma posición </a:t>
            </a:r>
          </a:p>
          <a:p>
            <a:r>
              <a:rPr lang="es-AR" sz="2105" dirty="0">
                <a:solidFill>
                  <a:schemeClr val="accent6"/>
                </a:solidFill>
                <a:latin typeface="Consolas" panose="020B0609020204030204" pitchFamily="49" charset="0"/>
              </a:rPr>
              <a:t>	</a:t>
            </a:r>
            <a:r>
              <a:rPr lang="es-AR" sz="2105" dirty="0" err="1">
                <a:solidFill>
                  <a:srgbClr val="274DE7"/>
                </a:solidFill>
                <a:latin typeface="Consolas" panose="020B0609020204030204" pitchFamily="49" charset="0"/>
              </a:rPr>
              <a:t>end</a:t>
            </a:r>
            <a:r>
              <a:rPr lang="es-AR" sz="2105" dirty="0">
                <a:solidFill>
                  <a:srgbClr val="274DE7"/>
                </a:solidFill>
                <a:latin typeface="Consolas" panose="020B0609020204030204" pitchFamily="49" charset="0"/>
              </a:rPr>
              <a:t> 		   </a:t>
            </a:r>
            <a:endParaRPr lang="es-AR" sz="2105" dirty="0">
              <a:solidFill>
                <a:srgbClr val="9E458A"/>
              </a:solidFill>
              <a:latin typeface="Consolas" panose="020B0609020204030204" pitchFamily="49" charset="0"/>
            </a:endParaRPr>
          </a:p>
          <a:p>
            <a:endParaRPr lang="es-AR" sz="2105" dirty="0">
              <a:latin typeface="Consolas" panose="020B0609020204030204" pitchFamily="49" charset="0"/>
            </a:endParaRP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23732031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2: Manejo de Pulsadores</a:t>
            </a:r>
            <a:endParaRPr lang="es-AR" dirty="0"/>
          </a:p>
        </p:txBody>
      </p:sp>
      <p:sp>
        <p:nvSpPr>
          <p:cNvPr id="8" name="Marcador de contenido 2"/>
          <p:cNvSpPr>
            <a:spLocks noGrp="1"/>
          </p:cNvSpPr>
          <p:nvPr>
            <p:ph idx="1"/>
          </p:nvPr>
        </p:nvSpPr>
        <p:spPr>
          <a:xfrm>
            <a:off x="667387" y="2100639"/>
            <a:ext cx="9758678" cy="4467706"/>
          </a:xfrm>
        </p:spPr>
        <p:txBody>
          <a:bodyPr rtlCol="0">
            <a:normAutofit lnSpcReduction="10000"/>
          </a:bodyPr>
          <a:lstStyle/>
          <a:p>
            <a:pPr marL="300758" indent="-300758" algn="just">
              <a:buClr>
                <a:srgbClr val="D24726"/>
              </a:buClr>
              <a:buSzPct val="150000"/>
              <a:defRPr/>
            </a:pPr>
            <a:r>
              <a:rPr lang="es-AR" sz="2105" dirty="0"/>
              <a:t>En este caso no es necesario, pero para programas más complejos es recomendable guardar los valores del registro w y STATUS en registros temporales al inicio de la rutina de interrupción, para que no se altere el funcionamiento del programa principal.</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org</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0x04 </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INTCON,GIE   </a:t>
            </a:r>
            <a:r>
              <a:rPr lang="es-AR" sz="2105" dirty="0">
                <a:solidFill>
                  <a:schemeClr val="accent6"/>
                </a:solidFill>
                <a:latin typeface="Consolas" panose="020B0609020204030204" pitchFamily="49" charset="0"/>
              </a:rPr>
              <a:t>; inhabilito la interrupción por RB0</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INTCON,INTF  </a:t>
            </a:r>
            <a:r>
              <a:rPr lang="es-AR" sz="2105" dirty="0">
                <a:solidFill>
                  <a:schemeClr val="accent6"/>
                </a:solidFill>
                <a:latin typeface="Consolas" panose="020B0609020204030204" pitchFamily="49" charset="0"/>
              </a:rPr>
              <a:t>; bajo el </a:t>
            </a:r>
            <a:r>
              <a:rPr lang="es-AR" sz="2105" dirty="0" err="1">
                <a:solidFill>
                  <a:schemeClr val="accent6"/>
                </a:solidFill>
                <a:latin typeface="Consolas" panose="020B0609020204030204" pitchFamily="49" charset="0"/>
              </a:rPr>
              <a:t>flag</a:t>
            </a:r>
            <a:r>
              <a:rPr lang="es-AR" sz="2105" dirty="0">
                <a:solidFill>
                  <a:schemeClr val="accent6"/>
                </a:solidFill>
                <a:latin typeface="Consolas" panose="020B0609020204030204" pitchFamily="49" charset="0"/>
              </a:rPr>
              <a:t> de la interrupción</a:t>
            </a: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AUXW         </a:t>
            </a:r>
            <a:r>
              <a:rPr lang="es-AR" sz="2105" dirty="0">
                <a:solidFill>
                  <a:schemeClr val="accent6"/>
                </a:solidFill>
                <a:latin typeface="Consolas" panose="020B0609020204030204" pitchFamily="49" charset="0"/>
              </a:rPr>
              <a:t>; guardo el valor de w en un registro auxiliar</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movf</a:t>
            </a:r>
            <a:r>
              <a:rPr lang="es-AR" sz="2105" dirty="0">
                <a:solidFill>
                  <a:srgbClr val="274DE7"/>
                </a:solidFill>
                <a:latin typeface="Consolas" panose="020B0609020204030204" pitchFamily="49" charset="0"/>
              </a:rPr>
              <a:t> 	</a:t>
            </a:r>
            <a:r>
              <a:rPr lang="es-AR" sz="2105" dirty="0" err="1">
                <a:solidFill>
                  <a:srgbClr val="9E458A"/>
                </a:solidFill>
                <a:latin typeface="Consolas" panose="020B0609020204030204" pitchFamily="49" charset="0"/>
              </a:rPr>
              <a:t>STATUS,w</a:t>
            </a:r>
            <a:endParaRPr lang="es-AR" sz="2105" dirty="0">
              <a:solidFill>
                <a:srgbClr val="9E458A"/>
              </a:solidFill>
              <a:latin typeface="Consolas" panose="020B0609020204030204" pitchFamily="49" charset="0"/>
            </a:endParaRP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AUXSTATUS    </a:t>
            </a:r>
            <a:r>
              <a:rPr lang="es-AR" sz="2105" dirty="0">
                <a:solidFill>
                  <a:schemeClr val="accent6"/>
                </a:solidFill>
                <a:latin typeface="Consolas" panose="020B0609020204030204" pitchFamily="49" charset="0"/>
              </a:rPr>
              <a:t>; guardo el valor del STATUS en un registro auxiliar</a:t>
            </a:r>
          </a:p>
          <a:p>
            <a:r>
              <a:rPr lang="es-AR" sz="2105" dirty="0">
                <a:latin typeface="Consolas" panose="020B0609020204030204" pitchFamily="49" charset="0"/>
              </a:rPr>
              <a:t>	...</a:t>
            </a:r>
            <a:r>
              <a:rPr lang="es-AR" sz="2105" dirty="0">
                <a:solidFill>
                  <a:srgbClr val="274DE7"/>
                </a:solidFill>
                <a:latin typeface="Consolas" panose="020B0609020204030204" pitchFamily="49" charset="0"/>
              </a:rPr>
              <a:t>		   </a:t>
            </a:r>
            <a:endParaRPr lang="es-AR" sz="2105" dirty="0">
              <a:solidFill>
                <a:srgbClr val="9E458A"/>
              </a:solidFill>
              <a:latin typeface="Consolas" panose="020B0609020204030204" pitchFamily="49" charset="0"/>
            </a:endParaRPr>
          </a:p>
          <a:p>
            <a:endParaRPr lang="es-AR" sz="2105" dirty="0">
              <a:latin typeface="Consolas" panose="020B0609020204030204" pitchFamily="49" charset="0"/>
            </a:endParaRP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384710918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2: Manejo de Pulsadores</a:t>
            </a:r>
            <a:endParaRPr lang="es-AR" dirty="0"/>
          </a:p>
        </p:txBody>
      </p:sp>
      <p:sp>
        <p:nvSpPr>
          <p:cNvPr id="8" name="Marcador de contenido 2"/>
          <p:cNvSpPr>
            <a:spLocks noGrp="1"/>
          </p:cNvSpPr>
          <p:nvPr>
            <p:ph idx="1"/>
          </p:nvPr>
        </p:nvSpPr>
        <p:spPr>
          <a:xfrm>
            <a:off x="667387" y="2100639"/>
            <a:ext cx="9758678" cy="4467706"/>
          </a:xfrm>
        </p:spPr>
        <p:txBody>
          <a:bodyPr rtlCol="0">
            <a:normAutofit/>
          </a:bodyPr>
          <a:lstStyle/>
          <a:p>
            <a:pPr marL="300758" indent="-300758" algn="just">
              <a:buClr>
                <a:srgbClr val="D24726"/>
              </a:buClr>
              <a:buSzPct val="150000"/>
              <a:defRPr/>
            </a:pPr>
            <a:r>
              <a:rPr lang="es-AR" sz="2105" dirty="0"/>
              <a:t>Antes de volver de la interrupción, se retornan los valores de los registros auxiliares</a:t>
            </a:r>
          </a:p>
          <a:p>
            <a:r>
              <a:rPr lang="es-AR" sz="2105" dirty="0">
                <a:solidFill>
                  <a:srgbClr val="274DE7"/>
                </a:solidFill>
                <a:latin typeface="Consolas" panose="020B0609020204030204" pitchFamily="49" charset="0"/>
              </a:rPr>
              <a:t>	...</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movf</a:t>
            </a:r>
            <a:r>
              <a:rPr lang="es-AR" sz="2105" dirty="0">
                <a:solidFill>
                  <a:srgbClr val="274DE7"/>
                </a:solidFill>
                <a:latin typeface="Consolas" panose="020B0609020204030204" pitchFamily="49" charset="0"/>
              </a:rPr>
              <a:t> 	</a:t>
            </a:r>
            <a:r>
              <a:rPr lang="es-AR" sz="2105" dirty="0" err="1">
                <a:solidFill>
                  <a:srgbClr val="9E458A"/>
                </a:solidFill>
                <a:latin typeface="Consolas" panose="020B0609020204030204" pitchFamily="49" charset="0"/>
              </a:rPr>
              <a:t>AUXSTATUS,w</a:t>
            </a:r>
            <a:r>
              <a:rPr lang="es-AR" sz="2105" dirty="0">
                <a:solidFill>
                  <a:srgbClr val="9E458A"/>
                </a:solidFill>
                <a:latin typeface="Consolas" panose="020B0609020204030204" pitchFamily="49" charset="0"/>
              </a:rPr>
              <a:t>  </a:t>
            </a:r>
            <a:r>
              <a:rPr lang="es-AR" sz="2105" dirty="0">
                <a:solidFill>
                  <a:schemeClr val="accent6"/>
                </a:solidFill>
                <a:latin typeface="Consolas" panose="020B0609020204030204" pitchFamily="49" charset="0"/>
              </a:rPr>
              <a:t>; regreso el valor del STATUS</a:t>
            </a: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STATUS</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movf</a:t>
            </a:r>
            <a:r>
              <a:rPr lang="es-AR" sz="2105" dirty="0">
                <a:solidFill>
                  <a:srgbClr val="274DE7"/>
                </a:solidFill>
                <a:latin typeface="Consolas" panose="020B0609020204030204" pitchFamily="49" charset="0"/>
              </a:rPr>
              <a:t>	</a:t>
            </a:r>
            <a:r>
              <a:rPr lang="es-AR" sz="2105" dirty="0" err="1">
                <a:solidFill>
                  <a:srgbClr val="9E458A"/>
                </a:solidFill>
                <a:latin typeface="Consolas" panose="020B0609020204030204" pitchFamily="49" charset="0"/>
              </a:rPr>
              <a:t>AUXW,w</a:t>
            </a:r>
            <a:r>
              <a:rPr lang="es-AR" sz="2105" dirty="0">
                <a:solidFill>
                  <a:srgbClr val="9E458A"/>
                </a:solidFill>
                <a:latin typeface="Consolas" panose="020B0609020204030204" pitchFamily="49" charset="0"/>
              </a:rPr>
              <a:t>       </a:t>
            </a:r>
            <a:r>
              <a:rPr lang="es-AR" sz="2105" dirty="0">
                <a:solidFill>
                  <a:schemeClr val="accent6"/>
                </a:solidFill>
                <a:latin typeface="Consolas" panose="020B0609020204030204" pitchFamily="49" charset="0"/>
              </a:rPr>
              <a:t>; regreso el valor de w</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retfie</a:t>
            </a:r>
            <a:endParaRPr lang="es-AR" sz="2105" dirty="0">
              <a:solidFill>
                <a:schemeClr val="accent6"/>
              </a:solidFill>
              <a:latin typeface="Consolas" panose="020B0609020204030204" pitchFamily="49" charset="0"/>
            </a:endParaRPr>
          </a:p>
          <a:p>
            <a:endParaRPr lang="es-AR" sz="2105" dirty="0">
              <a:latin typeface="Consolas" panose="020B0609020204030204" pitchFamily="49" charset="0"/>
            </a:endParaRP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87507155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3: Manejo de </a:t>
            </a:r>
            <a:r>
              <a:rPr lang="es-AR" dirty="0" err="1" smtClean="0"/>
              <a:t>Displays</a:t>
            </a:r>
            <a:endParaRPr lang="es-AR" dirty="0"/>
          </a:p>
        </p:txBody>
      </p:sp>
      <p:sp>
        <p:nvSpPr>
          <p:cNvPr id="8" name="Marcador de contenido 2"/>
          <p:cNvSpPr>
            <a:spLocks noGrp="1"/>
          </p:cNvSpPr>
          <p:nvPr>
            <p:ph idx="1"/>
          </p:nvPr>
        </p:nvSpPr>
        <p:spPr>
          <a:xfrm>
            <a:off x="667387" y="2100640"/>
            <a:ext cx="9758678" cy="1030517"/>
          </a:xfrm>
        </p:spPr>
        <p:txBody>
          <a:bodyPr rtlCol="0">
            <a:normAutofit/>
          </a:bodyPr>
          <a:lstStyle/>
          <a:p>
            <a:pPr marL="300758" indent="-300758" algn="just">
              <a:buClr>
                <a:srgbClr val="D24726"/>
              </a:buClr>
              <a:buSzPct val="150000"/>
              <a:defRPr/>
            </a:pPr>
            <a:r>
              <a:rPr lang="es-AR" sz="2105" dirty="0"/>
              <a:t>Un display de 7 segmentos esta compuesto por LEDS controlados por distintos terminales identificados de la letra “a” a la letra “g”, como se indica a continuación:</a:t>
            </a:r>
          </a:p>
        </p:txBody>
      </p:sp>
      <p:pic>
        <p:nvPicPr>
          <p:cNvPr id="3" name="Imagen 2"/>
          <p:cNvPicPr>
            <a:picLocks noChangeAspect="1"/>
          </p:cNvPicPr>
          <p:nvPr/>
        </p:nvPicPr>
        <p:blipFill rotWithShape="1">
          <a:blip r:embed="rId2"/>
          <a:srcRect t="9385" b="7434"/>
          <a:stretch/>
        </p:blipFill>
        <p:spPr>
          <a:xfrm>
            <a:off x="1303450" y="3399201"/>
            <a:ext cx="2431078" cy="2960343"/>
          </a:xfrm>
          <a:prstGeom prst="rect">
            <a:avLst/>
          </a:prstGeom>
        </p:spPr>
      </p:pic>
      <p:sp>
        <p:nvSpPr>
          <p:cNvPr id="5" name="Marcador de contenido 2"/>
          <p:cNvSpPr txBox="1">
            <a:spLocks/>
          </p:cNvSpPr>
          <p:nvPr/>
        </p:nvSpPr>
        <p:spPr bwMode="auto">
          <a:xfrm>
            <a:off x="3734528" y="3399200"/>
            <a:ext cx="6555813" cy="2296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300758" indent="-300758" algn="just" eaLnBrk="1" fontAlgn="auto" hangingPunct="1">
              <a:buClr>
                <a:srgbClr val="D24726"/>
              </a:buClr>
              <a:buSzPct val="150000"/>
              <a:buFont typeface="Arial" panose="020B0604020202020204" pitchFamily="34" charset="0"/>
              <a:buChar char="•"/>
              <a:defRPr/>
            </a:pPr>
            <a:r>
              <a:rPr lang="es-AR" sz="2105" dirty="0">
                <a:solidFill>
                  <a:schemeClr val="tx1"/>
                </a:solidFill>
              </a:rPr>
              <a:t>Suponiendo que los segmentos se encienden con uno, para formar el número 3 debería enviar un 1 a aquellos puertos conectados con los terminales “a”, “b”, “c”, “d” y “g”</a:t>
            </a:r>
          </a:p>
        </p:txBody>
      </p:sp>
    </p:spTree>
    <p:extLst>
      <p:ext uri="{BB962C8B-B14F-4D97-AF65-F5344CB8AC3E}">
        <p14:creationId xmlns:p14="http://schemas.microsoft.com/office/powerpoint/2010/main" val="388517296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3: Manejo de </a:t>
            </a:r>
            <a:r>
              <a:rPr lang="es-AR" dirty="0" err="1" smtClean="0"/>
              <a:t>Displays</a:t>
            </a:r>
            <a:endParaRPr lang="es-AR" dirty="0"/>
          </a:p>
        </p:txBody>
      </p:sp>
      <p:sp>
        <p:nvSpPr>
          <p:cNvPr id="8" name="Marcador de contenido 2"/>
          <p:cNvSpPr>
            <a:spLocks noGrp="1"/>
          </p:cNvSpPr>
          <p:nvPr>
            <p:ph idx="1"/>
          </p:nvPr>
        </p:nvSpPr>
        <p:spPr>
          <a:xfrm>
            <a:off x="667387" y="2100640"/>
            <a:ext cx="9758678" cy="989455"/>
          </a:xfrm>
        </p:spPr>
        <p:txBody>
          <a:bodyPr rtlCol="0">
            <a:normAutofit/>
          </a:bodyPr>
          <a:lstStyle/>
          <a:p>
            <a:pPr marL="300758" indent="-300758" algn="just">
              <a:buClr>
                <a:srgbClr val="D24726"/>
              </a:buClr>
              <a:buSzPct val="150000"/>
              <a:defRPr/>
            </a:pPr>
            <a:r>
              <a:rPr lang="es-AR" sz="1930" dirty="0"/>
              <a:t>En todos los ejercicios, los segmentos del display estarán al Puerto B (RB1-RB7). Entonces, los números se formarían de la siguiente manera:</a:t>
            </a:r>
          </a:p>
          <a:p>
            <a:pPr marL="300758" indent="-300758" algn="just">
              <a:buClr>
                <a:srgbClr val="D24726"/>
              </a:buClr>
              <a:buSzPct val="150000"/>
              <a:defRPr/>
            </a:pPr>
            <a:endParaRPr lang="es-AR" sz="2105" dirty="0"/>
          </a:p>
          <a:p>
            <a:pPr marL="300758" indent="-300758" algn="just">
              <a:buClr>
                <a:srgbClr val="D24726"/>
              </a:buClr>
              <a:buSzPct val="150000"/>
              <a:defRPr/>
            </a:pPr>
            <a:endParaRPr lang="es-AR" sz="2105" dirty="0"/>
          </a:p>
          <a:p>
            <a:pPr marL="300758" indent="-300758" algn="just">
              <a:buClr>
                <a:srgbClr val="D24726"/>
              </a:buClr>
              <a:buSzPct val="150000"/>
              <a:defRPr/>
            </a:pPr>
            <a:endParaRPr lang="es-AR" sz="2105" dirty="0"/>
          </a:p>
          <a:p>
            <a:pPr marL="300758" indent="-300758" algn="just">
              <a:buClr>
                <a:srgbClr val="D24726"/>
              </a:buClr>
              <a:buSzPct val="150000"/>
              <a:defRPr/>
            </a:pPr>
            <a:endParaRPr lang="es-AR" sz="2105" dirty="0"/>
          </a:p>
          <a:p>
            <a:pPr algn="just" eaLnBrk="1" fontAlgn="auto" hangingPunct="1">
              <a:buClr>
                <a:srgbClr val="D24726"/>
              </a:buClr>
              <a:buSzPct val="150000"/>
              <a:defRPr/>
            </a:pPr>
            <a:endParaRPr lang="es-AR" sz="2105" dirty="0"/>
          </a:p>
        </p:txBody>
      </p:sp>
      <p:graphicFrame>
        <p:nvGraphicFramePr>
          <p:cNvPr id="10" name="Tabla 9"/>
          <p:cNvGraphicFramePr>
            <a:graphicFrameLocks noGrp="1"/>
          </p:cNvGraphicFramePr>
          <p:nvPr>
            <p:extLst/>
          </p:nvPr>
        </p:nvGraphicFramePr>
        <p:xfrm>
          <a:off x="1750483" y="2842418"/>
          <a:ext cx="7511491" cy="3903096"/>
        </p:xfrm>
        <a:graphic>
          <a:graphicData uri="http://schemas.openxmlformats.org/drawingml/2006/table">
            <a:tbl>
              <a:tblPr firstRow="1" bandRow="1">
                <a:tableStyleId>{5DA37D80-6434-44D0-A028-1B22A696006F}</a:tableStyleId>
              </a:tblPr>
              <a:tblGrid>
                <a:gridCol w="1174659">
                  <a:extLst>
                    <a:ext uri="{9D8B030D-6E8A-4147-A177-3AD203B41FA5}">
                      <a16:colId xmlns="" xmlns:a16="http://schemas.microsoft.com/office/drawing/2014/main" val="20000"/>
                    </a:ext>
                  </a:extLst>
                </a:gridCol>
                <a:gridCol w="792104">
                  <a:extLst>
                    <a:ext uri="{9D8B030D-6E8A-4147-A177-3AD203B41FA5}">
                      <a16:colId xmlns="" xmlns:a16="http://schemas.microsoft.com/office/drawing/2014/main" val="20001"/>
                    </a:ext>
                  </a:extLst>
                </a:gridCol>
                <a:gridCol w="792104">
                  <a:extLst>
                    <a:ext uri="{9D8B030D-6E8A-4147-A177-3AD203B41FA5}">
                      <a16:colId xmlns="" xmlns:a16="http://schemas.microsoft.com/office/drawing/2014/main" val="20002"/>
                    </a:ext>
                  </a:extLst>
                </a:gridCol>
                <a:gridCol w="792104">
                  <a:extLst>
                    <a:ext uri="{9D8B030D-6E8A-4147-A177-3AD203B41FA5}">
                      <a16:colId xmlns="" xmlns:a16="http://schemas.microsoft.com/office/drawing/2014/main" val="20003"/>
                    </a:ext>
                  </a:extLst>
                </a:gridCol>
                <a:gridCol w="792104">
                  <a:extLst>
                    <a:ext uri="{9D8B030D-6E8A-4147-A177-3AD203B41FA5}">
                      <a16:colId xmlns="" xmlns:a16="http://schemas.microsoft.com/office/drawing/2014/main" val="20004"/>
                    </a:ext>
                  </a:extLst>
                </a:gridCol>
                <a:gridCol w="792104">
                  <a:extLst>
                    <a:ext uri="{9D8B030D-6E8A-4147-A177-3AD203B41FA5}">
                      <a16:colId xmlns="" xmlns:a16="http://schemas.microsoft.com/office/drawing/2014/main" val="20005"/>
                    </a:ext>
                  </a:extLst>
                </a:gridCol>
                <a:gridCol w="792104">
                  <a:extLst>
                    <a:ext uri="{9D8B030D-6E8A-4147-A177-3AD203B41FA5}">
                      <a16:colId xmlns="" xmlns:a16="http://schemas.microsoft.com/office/drawing/2014/main" val="20006"/>
                    </a:ext>
                  </a:extLst>
                </a:gridCol>
                <a:gridCol w="792104">
                  <a:extLst>
                    <a:ext uri="{9D8B030D-6E8A-4147-A177-3AD203B41FA5}">
                      <a16:colId xmlns="" xmlns:a16="http://schemas.microsoft.com/office/drawing/2014/main" val="20007"/>
                    </a:ext>
                  </a:extLst>
                </a:gridCol>
                <a:gridCol w="792104">
                  <a:extLst>
                    <a:ext uri="{9D8B030D-6E8A-4147-A177-3AD203B41FA5}">
                      <a16:colId xmlns="" xmlns:a16="http://schemas.microsoft.com/office/drawing/2014/main" val="20008"/>
                    </a:ext>
                  </a:extLst>
                </a:gridCol>
              </a:tblGrid>
              <a:tr h="325258">
                <a:tc>
                  <a:txBody>
                    <a:bodyPr/>
                    <a:lstStyle/>
                    <a:p>
                      <a:r>
                        <a:rPr lang="es-AR" sz="1600" dirty="0" smtClean="0"/>
                        <a:t>Segmento</a:t>
                      </a:r>
                      <a:endParaRPr lang="es-AR" sz="1600" b="1" dirty="0"/>
                    </a:p>
                  </a:txBody>
                  <a:tcPr marL="80201" marR="80201" marT="40100" marB="40100"/>
                </a:tc>
                <a:tc>
                  <a:txBody>
                    <a:bodyPr/>
                    <a:lstStyle/>
                    <a:p>
                      <a:pPr algn="ctr"/>
                      <a:r>
                        <a:rPr lang="es-AR" sz="1600" dirty="0" smtClean="0"/>
                        <a:t>g</a:t>
                      </a:r>
                      <a:endParaRPr lang="es-AR" sz="1600" b="1" dirty="0"/>
                    </a:p>
                  </a:txBody>
                  <a:tcPr marL="80201" marR="80201" marT="40100" marB="40100"/>
                </a:tc>
                <a:tc>
                  <a:txBody>
                    <a:bodyPr/>
                    <a:lstStyle/>
                    <a:p>
                      <a:pPr algn="ctr"/>
                      <a:r>
                        <a:rPr lang="es-AR" sz="1600" dirty="0" smtClean="0"/>
                        <a:t>f</a:t>
                      </a:r>
                      <a:endParaRPr lang="es-AR" sz="1600" b="1" dirty="0"/>
                    </a:p>
                  </a:txBody>
                  <a:tcPr marL="80201" marR="80201" marT="40100" marB="40100"/>
                </a:tc>
                <a:tc>
                  <a:txBody>
                    <a:bodyPr/>
                    <a:lstStyle/>
                    <a:p>
                      <a:pPr algn="ctr"/>
                      <a:r>
                        <a:rPr lang="es-AR" sz="1600" dirty="0" smtClean="0"/>
                        <a:t>e</a:t>
                      </a:r>
                      <a:endParaRPr lang="es-AR" sz="1600" b="1" dirty="0"/>
                    </a:p>
                  </a:txBody>
                  <a:tcPr marL="80201" marR="80201" marT="40100" marB="40100"/>
                </a:tc>
                <a:tc>
                  <a:txBody>
                    <a:bodyPr/>
                    <a:lstStyle/>
                    <a:p>
                      <a:pPr algn="ctr"/>
                      <a:r>
                        <a:rPr lang="es-AR" sz="1600" dirty="0" smtClean="0"/>
                        <a:t>d</a:t>
                      </a:r>
                      <a:endParaRPr lang="es-AR" sz="1600" b="1" dirty="0"/>
                    </a:p>
                  </a:txBody>
                  <a:tcPr marL="80201" marR="80201" marT="40100" marB="40100"/>
                </a:tc>
                <a:tc>
                  <a:txBody>
                    <a:bodyPr/>
                    <a:lstStyle/>
                    <a:p>
                      <a:pPr algn="ctr"/>
                      <a:r>
                        <a:rPr lang="es-AR" sz="1600" dirty="0" smtClean="0"/>
                        <a:t>c</a:t>
                      </a:r>
                      <a:endParaRPr lang="es-AR" sz="1600" b="1" dirty="0"/>
                    </a:p>
                  </a:txBody>
                  <a:tcPr marL="80201" marR="80201" marT="40100" marB="40100"/>
                </a:tc>
                <a:tc>
                  <a:txBody>
                    <a:bodyPr/>
                    <a:lstStyle/>
                    <a:p>
                      <a:pPr algn="ctr"/>
                      <a:r>
                        <a:rPr lang="es-AR" sz="1600" dirty="0" smtClean="0"/>
                        <a:t>b</a:t>
                      </a:r>
                      <a:endParaRPr lang="es-AR" sz="1600" b="1" dirty="0"/>
                    </a:p>
                  </a:txBody>
                  <a:tcPr marL="80201" marR="80201" marT="40100" marB="40100"/>
                </a:tc>
                <a:tc>
                  <a:txBody>
                    <a:bodyPr/>
                    <a:lstStyle/>
                    <a:p>
                      <a:pPr algn="ctr"/>
                      <a:r>
                        <a:rPr lang="es-AR" sz="1600" dirty="0" smtClean="0"/>
                        <a:t>a</a:t>
                      </a:r>
                      <a:endParaRPr lang="es-AR" sz="1600" b="1" dirty="0"/>
                    </a:p>
                  </a:txBody>
                  <a:tcPr marL="80201" marR="80201" marT="40100" marB="40100"/>
                </a:tc>
                <a:tc>
                  <a:txBody>
                    <a:bodyPr/>
                    <a:lstStyle/>
                    <a:p>
                      <a:pPr algn="ctr"/>
                      <a:r>
                        <a:rPr lang="es-AR" sz="1600" dirty="0" smtClean="0"/>
                        <a:t>-</a:t>
                      </a:r>
                      <a:endParaRPr lang="es-AR" sz="1600" b="1" dirty="0"/>
                    </a:p>
                  </a:txBody>
                  <a:tcPr marL="80201" marR="80201" marT="40100" marB="40100"/>
                </a:tc>
                <a:extLst>
                  <a:ext uri="{0D108BD9-81ED-4DB2-BD59-A6C34878D82A}">
                    <a16:rowId xmlns="" xmlns:a16="http://schemas.microsoft.com/office/drawing/2014/main" val="10000"/>
                  </a:ext>
                </a:extLst>
              </a:tr>
              <a:tr h="325258">
                <a:tc>
                  <a:txBody>
                    <a:bodyPr/>
                    <a:lstStyle/>
                    <a:p>
                      <a:r>
                        <a:rPr lang="es-AR" sz="1600" b="1" dirty="0" smtClean="0"/>
                        <a:t>Puerto B</a:t>
                      </a:r>
                      <a:endParaRPr lang="es-AR" sz="1600" b="1" dirty="0"/>
                    </a:p>
                  </a:txBody>
                  <a:tcPr marL="80201" marR="80201" marT="40100" marB="40100"/>
                </a:tc>
                <a:tc>
                  <a:txBody>
                    <a:bodyPr/>
                    <a:lstStyle/>
                    <a:p>
                      <a:pPr algn="ctr"/>
                      <a:r>
                        <a:rPr lang="es-AR" sz="1600" b="1" dirty="0" smtClean="0"/>
                        <a:t>RB7</a:t>
                      </a:r>
                      <a:endParaRPr lang="es-AR" sz="1600" b="1" dirty="0"/>
                    </a:p>
                  </a:txBody>
                  <a:tcPr marL="80201" marR="80201" marT="40100" marB="40100"/>
                </a:tc>
                <a:tc>
                  <a:txBody>
                    <a:bodyPr/>
                    <a:lstStyle/>
                    <a:p>
                      <a:pPr algn="ctr"/>
                      <a:r>
                        <a:rPr lang="es-AR" sz="1600" b="1" dirty="0" smtClean="0"/>
                        <a:t>RB6</a:t>
                      </a:r>
                      <a:endParaRPr lang="es-AR" sz="1600" b="1" dirty="0"/>
                    </a:p>
                  </a:txBody>
                  <a:tcPr marL="80201" marR="80201" marT="40100" marB="40100"/>
                </a:tc>
                <a:tc>
                  <a:txBody>
                    <a:bodyPr/>
                    <a:lstStyle/>
                    <a:p>
                      <a:pPr algn="ctr"/>
                      <a:r>
                        <a:rPr lang="es-AR" sz="1600" b="1" dirty="0" smtClean="0"/>
                        <a:t>RB5</a:t>
                      </a:r>
                      <a:endParaRPr lang="es-AR" sz="1600" b="1" dirty="0"/>
                    </a:p>
                  </a:txBody>
                  <a:tcPr marL="80201" marR="80201" marT="40100" marB="40100"/>
                </a:tc>
                <a:tc>
                  <a:txBody>
                    <a:bodyPr/>
                    <a:lstStyle/>
                    <a:p>
                      <a:pPr algn="ctr"/>
                      <a:r>
                        <a:rPr lang="es-AR" sz="1600" b="1" dirty="0" smtClean="0"/>
                        <a:t>RB4</a:t>
                      </a:r>
                      <a:endParaRPr lang="es-AR" sz="1600" b="1" dirty="0"/>
                    </a:p>
                  </a:txBody>
                  <a:tcPr marL="80201" marR="80201" marT="40100" marB="40100"/>
                </a:tc>
                <a:tc>
                  <a:txBody>
                    <a:bodyPr/>
                    <a:lstStyle/>
                    <a:p>
                      <a:pPr algn="ctr"/>
                      <a:r>
                        <a:rPr lang="es-AR" sz="1600" b="1" dirty="0" smtClean="0"/>
                        <a:t>RB3</a:t>
                      </a:r>
                      <a:endParaRPr lang="es-AR" sz="1600" b="1" dirty="0"/>
                    </a:p>
                  </a:txBody>
                  <a:tcPr marL="80201" marR="80201" marT="40100" marB="40100"/>
                </a:tc>
                <a:tc>
                  <a:txBody>
                    <a:bodyPr/>
                    <a:lstStyle/>
                    <a:p>
                      <a:pPr algn="ctr"/>
                      <a:r>
                        <a:rPr lang="es-AR" sz="1600" b="1" dirty="0" smtClean="0"/>
                        <a:t>RB2</a:t>
                      </a:r>
                      <a:endParaRPr lang="es-AR" sz="1600" b="1" dirty="0"/>
                    </a:p>
                  </a:txBody>
                  <a:tcPr marL="80201" marR="80201" marT="40100" marB="40100"/>
                </a:tc>
                <a:tc>
                  <a:txBody>
                    <a:bodyPr/>
                    <a:lstStyle/>
                    <a:p>
                      <a:pPr algn="ctr"/>
                      <a:r>
                        <a:rPr lang="es-AR" sz="1600" b="1" dirty="0" smtClean="0"/>
                        <a:t>RB1</a:t>
                      </a:r>
                      <a:endParaRPr lang="es-AR" sz="1600" b="1" dirty="0"/>
                    </a:p>
                  </a:txBody>
                  <a:tcPr marL="80201" marR="80201" marT="40100" marB="40100"/>
                </a:tc>
                <a:tc>
                  <a:txBody>
                    <a:bodyPr/>
                    <a:lstStyle/>
                    <a:p>
                      <a:pPr algn="ctr"/>
                      <a:r>
                        <a:rPr lang="es-AR" sz="1600" b="1" dirty="0" smtClean="0"/>
                        <a:t>RB0</a:t>
                      </a:r>
                      <a:endParaRPr lang="es-AR" sz="1600" b="1" dirty="0"/>
                    </a:p>
                  </a:txBody>
                  <a:tcPr marL="80201" marR="80201" marT="40100" marB="40100"/>
                </a:tc>
                <a:extLst>
                  <a:ext uri="{0D108BD9-81ED-4DB2-BD59-A6C34878D82A}">
                    <a16:rowId xmlns="" xmlns:a16="http://schemas.microsoft.com/office/drawing/2014/main" val="10001"/>
                  </a:ext>
                </a:extLst>
              </a:tr>
              <a:tr h="325258">
                <a:tc>
                  <a:txBody>
                    <a:bodyPr/>
                    <a:lstStyle/>
                    <a:p>
                      <a:pPr algn="ctr"/>
                      <a:r>
                        <a:rPr lang="es-AR" sz="1600" b="1" dirty="0" smtClean="0"/>
                        <a:t>0</a:t>
                      </a:r>
                      <a:endParaRPr lang="es-AR" sz="1600" b="1"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X</a:t>
                      </a:r>
                      <a:endParaRPr lang="es-AR" sz="1600" dirty="0"/>
                    </a:p>
                  </a:txBody>
                  <a:tcPr marL="80201" marR="80201" marT="40100" marB="40100"/>
                </a:tc>
                <a:extLst>
                  <a:ext uri="{0D108BD9-81ED-4DB2-BD59-A6C34878D82A}">
                    <a16:rowId xmlns="" xmlns:a16="http://schemas.microsoft.com/office/drawing/2014/main" val="10002"/>
                  </a:ext>
                </a:extLst>
              </a:tr>
              <a:tr h="325258">
                <a:tc>
                  <a:txBody>
                    <a:bodyPr/>
                    <a:lstStyle/>
                    <a:p>
                      <a:pPr algn="ctr"/>
                      <a:r>
                        <a:rPr lang="es-AR" sz="1600" b="1" dirty="0" smtClean="0"/>
                        <a:t>1</a:t>
                      </a:r>
                      <a:endParaRPr lang="es-AR" sz="1600" b="1"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X</a:t>
                      </a:r>
                      <a:endParaRPr lang="es-AR" sz="1600" dirty="0"/>
                    </a:p>
                  </a:txBody>
                  <a:tcPr marL="80201" marR="80201" marT="40100" marB="40100"/>
                </a:tc>
                <a:extLst>
                  <a:ext uri="{0D108BD9-81ED-4DB2-BD59-A6C34878D82A}">
                    <a16:rowId xmlns="" xmlns:a16="http://schemas.microsoft.com/office/drawing/2014/main" val="10003"/>
                  </a:ext>
                </a:extLst>
              </a:tr>
              <a:tr h="325258">
                <a:tc>
                  <a:txBody>
                    <a:bodyPr/>
                    <a:lstStyle/>
                    <a:p>
                      <a:pPr algn="ctr"/>
                      <a:r>
                        <a:rPr lang="es-AR" sz="1600" b="1" dirty="0" smtClean="0"/>
                        <a:t>2</a:t>
                      </a:r>
                      <a:endParaRPr lang="es-AR" sz="1600" b="1"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X</a:t>
                      </a:r>
                      <a:endParaRPr lang="es-AR" sz="1600" dirty="0"/>
                    </a:p>
                  </a:txBody>
                  <a:tcPr marL="80201" marR="80201" marT="40100" marB="40100"/>
                </a:tc>
                <a:extLst>
                  <a:ext uri="{0D108BD9-81ED-4DB2-BD59-A6C34878D82A}">
                    <a16:rowId xmlns="" xmlns:a16="http://schemas.microsoft.com/office/drawing/2014/main" val="10004"/>
                  </a:ext>
                </a:extLst>
              </a:tr>
              <a:tr h="325258">
                <a:tc>
                  <a:txBody>
                    <a:bodyPr/>
                    <a:lstStyle/>
                    <a:p>
                      <a:pPr algn="ctr"/>
                      <a:r>
                        <a:rPr lang="es-AR" sz="1600" b="1" dirty="0" smtClean="0"/>
                        <a:t>3</a:t>
                      </a:r>
                      <a:endParaRPr lang="es-AR" sz="1600" b="1"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X</a:t>
                      </a:r>
                      <a:endParaRPr lang="es-AR" sz="1600" dirty="0"/>
                    </a:p>
                  </a:txBody>
                  <a:tcPr marL="80201" marR="80201" marT="40100" marB="40100"/>
                </a:tc>
                <a:extLst>
                  <a:ext uri="{0D108BD9-81ED-4DB2-BD59-A6C34878D82A}">
                    <a16:rowId xmlns="" xmlns:a16="http://schemas.microsoft.com/office/drawing/2014/main" val="10005"/>
                  </a:ext>
                </a:extLst>
              </a:tr>
              <a:tr h="325258">
                <a:tc>
                  <a:txBody>
                    <a:bodyPr/>
                    <a:lstStyle/>
                    <a:p>
                      <a:pPr algn="ctr"/>
                      <a:r>
                        <a:rPr lang="es-AR" sz="1600" b="1" dirty="0" smtClean="0"/>
                        <a:t>4</a:t>
                      </a:r>
                      <a:endParaRPr lang="es-AR" sz="1600" b="1"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X</a:t>
                      </a:r>
                      <a:endParaRPr lang="es-AR" sz="1600" dirty="0"/>
                    </a:p>
                  </a:txBody>
                  <a:tcPr marL="80201" marR="80201" marT="40100" marB="40100"/>
                </a:tc>
                <a:extLst>
                  <a:ext uri="{0D108BD9-81ED-4DB2-BD59-A6C34878D82A}">
                    <a16:rowId xmlns="" xmlns:a16="http://schemas.microsoft.com/office/drawing/2014/main" val="10006"/>
                  </a:ext>
                </a:extLst>
              </a:tr>
              <a:tr h="325258">
                <a:tc>
                  <a:txBody>
                    <a:bodyPr/>
                    <a:lstStyle/>
                    <a:p>
                      <a:pPr algn="ctr"/>
                      <a:r>
                        <a:rPr lang="es-AR" sz="1600" b="1" dirty="0" smtClean="0"/>
                        <a:t>5</a:t>
                      </a:r>
                      <a:endParaRPr lang="es-AR" sz="1600" b="1"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X</a:t>
                      </a:r>
                      <a:endParaRPr lang="es-AR" sz="1600" dirty="0"/>
                    </a:p>
                  </a:txBody>
                  <a:tcPr marL="80201" marR="80201" marT="40100" marB="40100"/>
                </a:tc>
                <a:extLst>
                  <a:ext uri="{0D108BD9-81ED-4DB2-BD59-A6C34878D82A}">
                    <a16:rowId xmlns="" xmlns:a16="http://schemas.microsoft.com/office/drawing/2014/main" val="10007"/>
                  </a:ext>
                </a:extLst>
              </a:tr>
              <a:tr h="325258">
                <a:tc>
                  <a:txBody>
                    <a:bodyPr/>
                    <a:lstStyle/>
                    <a:p>
                      <a:pPr algn="ctr"/>
                      <a:r>
                        <a:rPr lang="es-AR" sz="1600" b="1" dirty="0" smtClean="0"/>
                        <a:t>6</a:t>
                      </a:r>
                      <a:endParaRPr lang="es-AR" sz="1600" b="1"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X</a:t>
                      </a:r>
                      <a:endParaRPr lang="es-AR" sz="1600" dirty="0"/>
                    </a:p>
                  </a:txBody>
                  <a:tcPr marL="80201" marR="80201" marT="40100" marB="40100"/>
                </a:tc>
                <a:extLst>
                  <a:ext uri="{0D108BD9-81ED-4DB2-BD59-A6C34878D82A}">
                    <a16:rowId xmlns="" xmlns:a16="http://schemas.microsoft.com/office/drawing/2014/main" val="10008"/>
                  </a:ext>
                </a:extLst>
              </a:tr>
              <a:tr h="325258">
                <a:tc>
                  <a:txBody>
                    <a:bodyPr/>
                    <a:lstStyle/>
                    <a:p>
                      <a:pPr algn="ctr"/>
                      <a:r>
                        <a:rPr lang="es-AR" sz="1600" b="1" dirty="0" smtClean="0"/>
                        <a:t>7</a:t>
                      </a:r>
                      <a:endParaRPr lang="es-AR" sz="1600" b="1"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X</a:t>
                      </a:r>
                      <a:endParaRPr lang="es-AR" sz="1600" dirty="0"/>
                    </a:p>
                  </a:txBody>
                  <a:tcPr marL="80201" marR="80201" marT="40100" marB="40100"/>
                </a:tc>
                <a:extLst>
                  <a:ext uri="{0D108BD9-81ED-4DB2-BD59-A6C34878D82A}">
                    <a16:rowId xmlns="" xmlns:a16="http://schemas.microsoft.com/office/drawing/2014/main" val="10009"/>
                  </a:ext>
                </a:extLst>
              </a:tr>
              <a:tr h="325258">
                <a:tc>
                  <a:txBody>
                    <a:bodyPr/>
                    <a:lstStyle/>
                    <a:p>
                      <a:pPr algn="ctr"/>
                      <a:r>
                        <a:rPr lang="es-AR" sz="1600" b="1" dirty="0" smtClean="0"/>
                        <a:t>8</a:t>
                      </a:r>
                      <a:endParaRPr lang="es-AR" sz="1600" b="1"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X</a:t>
                      </a:r>
                      <a:endParaRPr lang="es-AR" sz="1600" dirty="0"/>
                    </a:p>
                  </a:txBody>
                  <a:tcPr marL="80201" marR="80201" marT="40100" marB="40100"/>
                </a:tc>
                <a:extLst>
                  <a:ext uri="{0D108BD9-81ED-4DB2-BD59-A6C34878D82A}">
                    <a16:rowId xmlns="" xmlns:a16="http://schemas.microsoft.com/office/drawing/2014/main" val="10010"/>
                  </a:ext>
                </a:extLst>
              </a:tr>
              <a:tr h="325258">
                <a:tc>
                  <a:txBody>
                    <a:bodyPr/>
                    <a:lstStyle/>
                    <a:p>
                      <a:pPr algn="ctr"/>
                      <a:r>
                        <a:rPr lang="es-AR" sz="1600" b="1" dirty="0" smtClean="0"/>
                        <a:t>9</a:t>
                      </a:r>
                      <a:endParaRPr lang="es-AR" sz="1600" b="1"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0</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1</a:t>
                      </a:r>
                      <a:endParaRPr lang="es-AR" sz="1600" dirty="0"/>
                    </a:p>
                  </a:txBody>
                  <a:tcPr marL="80201" marR="80201" marT="40100" marB="40100"/>
                </a:tc>
                <a:tc>
                  <a:txBody>
                    <a:bodyPr/>
                    <a:lstStyle/>
                    <a:p>
                      <a:pPr algn="ctr"/>
                      <a:r>
                        <a:rPr lang="es-AR" sz="1600" dirty="0" smtClean="0"/>
                        <a:t>X</a:t>
                      </a:r>
                      <a:endParaRPr lang="es-AR" sz="1600" dirty="0"/>
                    </a:p>
                  </a:txBody>
                  <a:tcPr marL="80201" marR="80201" marT="40100" marB="40100"/>
                </a:tc>
                <a:extLst>
                  <a:ext uri="{0D108BD9-81ED-4DB2-BD59-A6C34878D82A}">
                    <a16:rowId xmlns="" xmlns:a16="http://schemas.microsoft.com/office/drawing/2014/main" val="10011"/>
                  </a:ext>
                </a:extLst>
              </a:tr>
            </a:tbl>
          </a:graphicData>
        </a:graphic>
      </p:graphicFrame>
    </p:spTree>
    <p:extLst>
      <p:ext uri="{BB962C8B-B14F-4D97-AF65-F5344CB8AC3E}">
        <p14:creationId xmlns:p14="http://schemas.microsoft.com/office/powerpoint/2010/main" val="128896784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3: Manejo de </a:t>
            </a:r>
            <a:r>
              <a:rPr lang="es-AR" dirty="0" err="1" smtClean="0"/>
              <a:t>Displays</a:t>
            </a:r>
            <a:endParaRPr lang="es-AR" dirty="0"/>
          </a:p>
        </p:txBody>
      </p:sp>
      <p:sp>
        <p:nvSpPr>
          <p:cNvPr id="6" name="Marcador de contenido 2"/>
          <p:cNvSpPr txBox="1">
            <a:spLocks/>
          </p:cNvSpPr>
          <p:nvPr/>
        </p:nvSpPr>
        <p:spPr bwMode="auto">
          <a:xfrm>
            <a:off x="364845" y="2938031"/>
            <a:ext cx="9758678" cy="270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300758" indent="-300758" algn="just" eaLnBrk="1" fontAlgn="auto" hangingPunct="1">
              <a:buClr>
                <a:srgbClr val="D24726"/>
              </a:buClr>
              <a:buSzPct val="150000"/>
              <a:buFont typeface="Arial" panose="020B0604020202020204" pitchFamily="34" charset="0"/>
              <a:buChar char="•"/>
              <a:defRPr/>
            </a:pPr>
            <a:r>
              <a:rPr lang="es-AR" sz="2105" dirty="0">
                <a:solidFill>
                  <a:schemeClr val="tx1"/>
                </a:solidFill>
              </a:rPr>
              <a:t>De la tabla anterior puede verse que no existe una lógica matemática que nos permita hacer un pasaje sencillo de un número en binario a su representación en el display (Por ejemplo “00000010” a “10110110”).  Para este tipo de problemas se implementan tablas utilizando el contador de programa (PCL) y una instrucción especial llamada “RETLW”.</a:t>
            </a:r>
          </a:p>
          <a:p>
            <a:pPr marL="300758" indent="-300758" eaLnBrk="1" fontAlgn="auto" hangingPunct="1">
              <a:buClr>
                <a:srgbClr val="D24726"/>
              </a:buClr>
              <a:buSzPct val="150000"/>
              <a:buFont typeface="Arial" panose="020B0604020202020204" pitchFamily="34" charset="0"/>
              <a:buChar char="•"/>
              <a:defRPr/>
            </a:pPr>
            <a:endParaRPr lang="es-AR" sz="2105" dirty="0">
              <a:solidFill>
                <a:schemeClr val="tx1"/>
              </a:solidFill>
            </a:endParaRPr>
          </a:p>
        </p:txBody>
      </p:sp>
    </p:spTree>
    <p:extLst>
      <p:ext uri="{BB962C8B-B14F-4D97-AF65-F5344CB8AC3E}">
        <p14:creationId xmlns:p14="http://schemas.microsoft.com/office/powerpoint/2010/main" val="121732607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3: Manejo de </a:t>
            </a:r>
            <a:r>
              <a:rPr lang="es-AR" dirty="0" err="1" smtClean="0"/>
              <a:t>Displays</a:t>
            </a:r>
            <a:endParaRPr lang="es-AR" dirty="0"/>
          </a:p>
        </p:txBody>
      </p:sp>
      <p:sp>
        <p:nvSpPr>
          <p:cNvPr id="8" name="Marcador de contenido 2"/>
          <p:cNvSpPr>
            <a:spLocks noGrp="1"/>
          </p:cNvSpPr>
          <p:nvPr>
            <p:ph idx="1"/>
          </p:nvPr>
        </p:nvSpPr>
        <p:spPr>
          <a:xfrm>
            <a:off x="530139" y="2159610"/>
            <a:ext cx="4238996" cy="4467706"/>
          </a:xfrm>
        </p:spPr>
        <p:txBody>
          <a:bodyPr rtlCol="0">
            <a:normAutofit fontScale="62500" lnSpcReduction="20000"/>
          </a:bodyPr>
          <a:lstStyle/>
          <a:p>
            <a:pPr>
              <a:lnSpc>
                <a:spcPct val="120000"/>
              </a:lnSpc>
              <a:spcBef>
                <a:spcPts val="526"/>
              </a:spcBef>
              <a:spcAft>
                <a:spcPts val="526"/>
              </a:spcAft>
            </a:pPr>
            <a:r>
              <a:rPr lang="es-AR" sz="2105" dirty="0" err="1">
                <a:solidFill>
                  <a:srgbClr val="274DE7"/>
                </a:solidFill>
                <a:latin typeface="Consolas" panose="020B0609020204030204" pitchFamily="49" charset="0"/>
              </a:rPr>
              <a:t>tabla_display</a:t>
            </a:r>
            <a:r>
              <a:rPr lang="es-AR" sz="2105" dirty="0">
                <a:solidFill>
                  <a:srgbClr val="274DE7"/>
                </a:solidFill>
                <a:latin typeface="Consolas" panose="020B0609020204030204" pitchFamily="49" charset="0"/>
              </a:rPr>
              <a:t>				</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addwf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PCL,1</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retlw</a:t>
            </a:r>
            <a:r>
              <a:rPr lang="es-AR" sz="2105" dirty="0">
                <a:solidFill>
                  <a:srgbClr val="274DE7"/>
                </a:solidFill>
                <a:latin typeface="Consolas" panose="020B0609020204030204" pitchFamily="49" charset="0"/>
              </a:rPr>
              <a:t> 	b'01111110'</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retlw</a:t>
            </a:r>
            <a:r>
              <a:rPr lang="es-AR" sz="2105" dirty="0">
                <a:solidFill>
                  <a:srgbClr val="274DE7"/>
                </a:solidFill>
                <a:latin typeface="Consolas" panose="020B0609020204030204" pitchFamily="49" charset="0"/>
              </a:rPr>
              <a:t> 	b'00001100'		</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retlw</a:t>
            </a:r>
            <a:r>
              <a:rPr lang="es-AR" sz="2105" dirty="0">
                <a:solidFill>
                  <a:srgbClr val="274DE7"/>
                </a:solidFill>
                <a:latin typeface="Consolas" panose="020B0609020204030204" pitchFamily="49" charset="0"/>
              </a:rPr>
              <a:t> 	b'10110110'</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retlw</a:t>
            </a:r>
            <a:r>
              <a:rPr lang="es-AR" sz="2105" dirty="0">
                <a:solidFill>
                  <a:srgbClr val="274DE7"/>
                </a:solidFill>
                <a:latin typeface="Consolas" panose="020B0609020204030204" pitchFamily="49" charset="0"/>
              </a:rPr>
              <a:t> 	b'10011110'</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retlw</a:t>
            </a:r>
            <a:r>
              <a:rPr lang="es-AR" sz="2105" dirty="0">
                <a:solidFill>
                  <a:srgbClr val="274DE7"/>
                </a:solidFill>
                <a:latin typeface="Consolas" panose="020B0609020204030204" pitchFamily="49" charset="0"/>
              </a:rPr>
              <a:t> 	b'11001100'</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retlw</a:t>
            </a:r>
            <a:r>
              <a:rPr lang="es-AR" sz="2105" dirty="0">
                <a:solidFill>
                  <a:srgbClr val="274DE7"/>
                </a:solidFill>
                <a:latin typeface="Consolas" panose="020B0609020204030204" pitchFamily="49" charset="0"/>
              </a:rPr>
              <a:t> 	b'11011010'</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retlw</a:t>
            </a:r>
            <a:r>
              <a:rPr lang="es-AR" sz="2105" dirty="0">
                <a:solidFill>
                  <a:srgbClr val="274DE7"/>
                </a:solidFill>
                <a:latin typeface="Consolas" panose="020B0609020204030204" pitchFamily="49" charset="0"/>
              </a:rPr>
              <a:t> 	b'11111010'</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retlw</a:t>
            </a:r>
            <a:r>
              <a:rPr lang="es-AR" sz="2105" dirty="0">
                <a:solidFill>
                  <a:srgbClr val="274DE7"/>
                </a:solidFill>
                <a:latin typeface="Consolas" panose="020B0609020204030204" pitchFamily="49" charset="0"/>
              </a:rPr>
              <a:t> 	b'00001110'</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retlw</a:t>
            </a:r>
            <a:r>
              <a:rPr lang="es-AR" sz="2105" dirty="0">
                <a:solidFill>
                  <a:srgbClr val="274DE7"/>
                </a:solidFill>
                <a:latin typeface="Consolas" panose="020B0609020204030204" pitchFamily="49" charset="0"/>
              </a:rPr>
              <a:t> 	b'11111110'</a:t>
            </a:r>
          </a:p>
          <a:p>
            <a:pPr>
              <a:lnSpc>
                <a:spcPct val="120000"/>
              </a:lnSpc>
              <a:spcBef>
                <a:spcPts val="526"/>
              </a:spcBef>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retlw</a:t>
            </a:r>
            <a:r>
              <a:rPr lang="es-AR" sz="2105" dirty="0">
                <a:solidFill>
                  <a:srgbClr val="274DE7"/>
                </a:solidFill>
                <a:latin typeface="Consolas" panose="020B0609020204030204" pitchFamily="49" charset="0"/>
              </a:rPr>
              <a:t> 	b'11011110'</a:t>
            </a:r>
            <a:endParaRPr lang="es-AR" sz="2105" dirty="0">
              <a:latin typeface="Consolas" panose="020B0609020204030204" pitchFamily="49" charset="0"/>
            </a:endParaRPr>
          </a:p>
        </p:txBody>
      </p:sp>
      <p:sp>
        <p:nvSpPr>
          <p:cNvPr id="4" name="Marcador de contenido 2"/>
          <p:cNvSpPr txBox="1">
            <a:spLocks/>
          </p:cNvSpPr>
          <p:nvPr/>
        </p:nvSpPr>
        <p:spPr bwMode="auto">
          <a:xfrm>
            <a:off x="5719233" y="2159609"/>
            <a:ext cx="4238996" cy="4467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526"/>
              </a:spcBef>
              <a:spcAft>
                <a:spcPts val="526"/>
              </a:spcAft>
            </a:pPr>
            <a:r>
              <a:rPr lang="es-AR" sz="1754" dirty="0">
                <a:solidFill>
                  <a:schemeClr val="tx1"/>
                </a:solidFill>
              </a:rPr>
              <a:t>Supongamos que en alguna parte del programa principal estamos utilizando un contador que guarda un valor en w (</a:t>
            </a:r>
            <a:r>
              <a:rPr lang="es-AR" sz="1754" dirty="0" err="1">
                <a:solidFill>
                  <a:schemeClr val="tx1"/>
                </a:solidFill>
              </a:rPr>
              <a:t>ej</a:t>
            </a:r>
            <a:r>
              <a:rPr lang="es-AR" sz="1754" dirty="0">
                <a:solidFill>
                  <a:schemeClr val="tx1"/>
                </a:solidFill>
              </a:rPr>
              <a:t>: 2):</a:t>
            </a:r>
            <a:endParaRPr lang="es-AR" sz="1754" dirty="0">
              <a:solidFill>
                <a:srgbClr val="274DE7"/>
              </a:solidFill>
              <a:latin typeface="Consolas" panose="020B0609020204030204" pitchFamily="49" charset="0"/>
            </a:endParaRPr>
          </a:p>
          <a:p>
            <a:pPr>
              <a:lnSpc>
                <a:spcPct val="120000"/>
              </a:lnSpc>
              <a:spcBef>
                <a:spcPts val="526"/>
              </a:spcBef>
              <a:spcAft>
                <a:spcPts val="526"/>
              </a:spcAft>
            </a:pPr>
            <a:r>
              <a:rPr lang="es-AR" sz="1754" dirty="0">
                <a:solidFill>
                  <a:srgbClr val="274DE7"/>
                </a:solidFill>
                <a:latin typeface="Consolas" panose="020B0609020204030204" pitchFamily="49" charset="0"/>
              </a:rPr>
              <a:t>inicio				</a:t>
            </a:r>
          </a:p>
          <a:p>
            <a:pPr>
              <a:lnSpc>
                <a:spcPct val="120000"/>
              </a:lnSpc>
              <a:spcBef>
                <a:spcPts val="526"/>
              </a:spcBef>
              <a:spcAft>
                <a:spcPts val="526"/>
              </a:spcAft>
            </a:pPr>
            <a:r>
              <a:rPr lang="es-AR" sz="1754" dirty="0">
                <a:solidFill>
                  <a:srgbClr val="274DE7"/>
                </a:solidFill>
                <a:latin typeface="Consolas" panose="020B0609020204030204" pitchFamily="49" charset="0"/>
              </a:rPr>
              <a:t>	. . .</a:t>
            </a:r>
          </a:p>
          <a:p>
            <a:pPr>
              <a:lnSpc>
                <a:spcPct val="120000"/>
              </a:lnSpc>
              <a:spcBef>
                <a:spcPts val="526"/>
              </a:spcBef>
              <a:spcAft>
                <a:spcPts val="526"/>
              </a:spcAft>
            </a:pPr>
            <a:r>
              <a:rPr lang="es-AR" sz="1754" dirty="0">
                <a:solidFill>
                  <a:srgbClr val="274DE7"/>
                </a:solidFill>
                <a:latin typeface="Consolas" panose="020B0609020204030204" pitchFamily="49" charset="0"/>
              </a:rPr>
              <a:t>	</a:t>
            </a:r>
            <a:r>
              <a:rPr lang="es-AR" sz="1754" dirty="0" err="1">
                <a:solidFill>
                  <a:srgbClr val="274DE7"/>
                </a:solidFill>
                <a:latin typeface="Consolas" panose="020B0609020204030204" pitchFamily="49" charset="0"/>
              </a:rPr>
              <a:t>movf</a:t>
            </a:r>
            <a:r>
              <a:rPr lang="es-AR" sz="1754" dirty="0">
                <a:solidFill>
                  <a:srgbClr val="274DE7"/>
                </a:solidFill>
                <a:latin typeface="Consolas" panose="020B0609020204030204" pitchFamily="49" charset="0"/>
              </a:rPr>
              <a:t>	</a:t>
            </a:r>
            <a:r>
              <a:rPr lang="es-AR" sz="1754" dirty="0">
                <a:solidFill>
                  <a:srgbClr val="9E458A"/>
                </a:solidFill>
                <a:latin typeface="Consolas" panose="020B0609020204030204" pitchFamily="49" charset="0"/>
              </a:rPr>
              <a:t>unidad, w</a:t>
            </a:r>
            <a:endParaRPr lang="es-AR" sz="1754" dirty="0">
              <a:solidFill>
                <a:srgbClr val="274DE7"/>
              </a:solidFill>
              <a:latin typeface="Consolas" panose="020B0609020204030204" pitchFamily="49" charset="0"/>
            </a:endParaRPr>
          </a:p>
          <a:p>
            <a:pPr>
              <a:lnSpc>
                <a:spcPct val="120000"/>
              </a:lnSpc>
              <a:spcBef>
                <a:spcPts val="526"/>
              </a:spcBef>
              <a:spcAft>
                <a:spcPts val="526"/>
              </a:spcAft>
            </a:pPr>
            <a:r>
              <a:rPr lang="es-AR" sz="1754" dirty="0">
                <a:solidFill>
                  <a:srgbClr val="274DE7"/>
                </a:solidFill>
                <a:latin typeface="Consolas" panose="020B0609020204030204" pitchFamily="49" charset="0"/>
              </a:rPr>
              <a:t>	call 	</a:t>
            </a:r>
            <a:r>
              <a:rPr lang="es-AR" sz="1754" dirty="0" err="1">
                <a:solidFill>
                  <a:srgbClr val="9E458A"/>
                </a:solidFill>
                <a:latin typeface="Consolas" panose="020B0609020204030204" pitchFamily="49" charset="0"/>
              </a:rPr>
              <a:t>tabla_display</a:t>
            </a:r>
            <a:r>
              <a:rPr lang="es-AR" sz="1754" dirty="0">
                <a:solidFill>
                  <a:srgbClr val="274DE7"/>
                </a:solidFill>
                <a:latin typeface="Consolas" panose="020B0609020204030204" pitchFamily="49" charset="0"/>
              </a:rPr>
              <a:t>	</a:t>
            </a:r>
          </a:p>
          <a:p>
            <a:pPr>
              <a:lnSpc>
                <a:spcPct val="120000"/>
              </a:lnSpc>
              <a:spcBef>
                <a:spcPts val="526"/>
              </a:spcBef>
              <a:spcAft>
                <a:spcPts val="526"/>
              </a:spcAft>
            </a:pPr>
            <a:r>
              <a:rPr lang="es-AR" sz="1754" dirty="0">
                <a:solidFill>
                  <a:srgbClr val="274DE7"/>
                </a:solidFill>
                <a:latin typeface="Consolas" panose="020B0609020204030204" pitchFamily="49" charset="0"/>
              </a:rPr>
              <a:t>	movwf 	</a:t>
            </a:r>
            <a:r>
              <a:rPr lang="es-AR" sz="1754" dirty="0">
                <a:solidFill>
                  <a:srgbClr val="9E458A"/>
                </a:solidFill>
                <a:latin typeface="Consolas" panose="020B0609020204030204" pitchFamily="49" charset="0"/>
              </a:rPr>
              <a:t>PORTB</a:t>
            </a:r>
            <a:endParaRPr lang="es-AR" sz="1754" dirty="0">
              <a:solidFill>
                <a:srgbClr val="274DE7"/>
              </a:solidFill>
              <a:latin typeface="Consolas" panose="020B0609020204030204" pitchFamily="49" charset="0"/>
            </a:endParaRPr>
          </a:p>
          <a:p>
            <a:pPr>
              <a:lnSpc>
                <a:spcPct val="120000"/>
              </a:lnSpc>
              <a:spcBef>
                <a:spcPts val="526"/>
              </a:spcBef>
              <a:spcAft>
                <a:spcPts val="526"/>
              </a:spcAft>
            </a:pPr>
            <a:r>
              <a:rPr lang="es-AR" sz="1754" dirty="0">
                <a:solidFill>
                  <a:srgbClr val="274DE7"/>
                </a:solidFill>
                <a:latin typeface="Consolas" panose="020B0609020204030204" pitchFamily="49" charset="0"/>
              </a:rPr>
              <a:t>	. . .</a:t>
            </a:r>
          </a:p>
          <a:p>
            <a:pPr>
              <a:lnSpc>
                <a:spcPct val="120000"/>
              </a:lnSpc>
              <a:spcBef>
                <a:spcPts val="526"/>
              </a:spcBef>
              <a:spcAft>
                <a:spcPts val="526"/>
              </a:spcAft>
            </a:pPr>
            <a:endParaRPr lang="es-AR" sz="1754"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latin typeface="Consolas" panose="020B0609020204030204" pitchFamily="49" charset="0"/>
            </a:endParaRPr>
          </a:p>
        </p:txBody>
      </p:sp>
      <p:sp>
        <p:nvSpPr>
          <p:cNvPr id="3" name="Llamada con línea 1 2"/>
          <p:cNvSpPr/>
          <p:nvPr/>
        </p:nvSpPr>
        <p:spPr>
          <a:xfrm>
            <a:off x="8897103" y="3798026"/>
            <a:ext cx="1225645" cy="483065"/>
          </a:xfrm>
          <a:prstGeom prst="borderCallout1">
            <a:avLst>
              <a:gd name="adj1" fmla="val 104163"/>
              <a:gd name="adj2" fmla="val 29512"/>
              <a:gd name="adj3" fmla="val 183171"/>
              <a:gd name="adj4" fmla="val -30285"/>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579" dirty="0">
                <a:ln w="0"/>
                <a:solidFill>
                  <a:schemeClr val="tx1"/>
                </a:solidFill>
                <a:effectLst>
                  <a:outerShdw blurRad="38100" dist="19050" dir="2700000" algn="tl" rotWithShape="0">
                    <a:schemeClr val="dk1">
                      <a:alpha val="40000"/>
                    </a:schemeClr>
                  </a:outerShdw>
                </a:effectLst>
              </a:rPr>
              <a:t>w=2 (00000010)</a:t>
            </a:r>
          </a:p>
        </p:txBody>
      </p:sp>
      <p:cxnSp>
        <p:nvCxnSpPr>
          <p:cNvPr id="6" name="Conector curvado 5"/>
          <p:cNvCxnSpPr/>
          <p:nvPr/>
        </p:nvCxnSpPr>
        <p:spPr>
          <a:xfrm rot="10800000">
            <a:off x="2382427" y="2305566"/>
            <a:ext cx="4104378" cy="2712662"/>
          </a:xfrm>
          <a:prstGeom prst="curved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 name="Llamada con línea 1 8"/>
          <p:cNvSpPr/>
          <p:nvPr/>
        </p:nvSpPr>
        <p:spPr>
          <a:xfrm>
            <a:off x="53666" y="2565036"/>
            <a:ext cx="984223" cy="393141"/>
          </a:xfrm>
          <a:prstGeom prst="borderCallout1">
            <a:avLst>
              <a:gd name="adj1" fmla="val 57774"/>
              <a:gd name="adj2" fmla="val 107457"/>
              <a:gd name="adj3" fmla="val 35622"/>
              <a:gd name="adj4" fmla="val 133972"/>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403" dirty="0">
                <a:ln w="0"/>
                <a:solidFill>
                  <a:schemeClr val="tx1"/>
                </a:solidFill>
                <a:effectLst>
                  <a:outerShdw blurRad="38100" dist="19050" dir="2700000" algn="tl" rotWithShape="0">
                    <a:schemeClr val="dk1">
                      <a:alpha val="40000"/>
                    </a:schemeClr>
                  </a:outerShdw>
                </a:effectLst>
              </a:rPr>
              <a:t>PCL=PCL+2</a:t>
            </a:r>
            <a:endParaRPr lang="es-AR" sz="1403" dirty="0"/>
          </a:p>
        </p:txBody>
      </p:sp>
      <p:sp>
        <p:nvSpPr>
          <p:cNvPr id="28" name="Rectángulo 27"/>
          <p:cNvSpPr/>
          <p:nvPr/>
        </p:nvSpPr>
        <p:spPr>
          <a:xfrm>
            <a:off x="1203008" y="3602924"/>
            <a:ext cx="2288073" cy="31844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579"/>
          </a:p>
        </p:txBody>
      </p:sp>
      <p:sp>
        <p:nvSpPr>
          <p:cNvPr id="29" name="Llamada con línea 1 28"/>
          <p:cNvSpPr/>
          <p:nvPr/>
        </p:nvSpPr>
        <p:spPr>
          <a:xfrm>
            <a:off x="4568134" y="5551830"/>
            <a:ext cx="1352100" cy="335809"/>
          </a:xfrm>
          <a:prstGeom prst="borderCallout1">
            <a:avLst>
              <a:gd name="adj1" fmla="val 57774"/>
              <a:gd name="adj2" fmla="val 107457"/>
              <a:gd name="adj3" fmla="val -81744"/>
              <a:gd name="adj4" fmla="val 152210"/>
            </a:avLst>
          </a:prstGeom>
          <a:ln>
            <a:solidFill>
              <a:srgbClr val="D2472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579" dirty="0">
                <a:ln w="0"/>
                <a:solidFill>
                  <a:schemeClr val="tx1"/>
                </a:solidFill>
                <a:effectLst>
                  <a:outerShdw blurRad="38100" dist="19050" dir="2700000" algn="tl" rotWithShape="0">
                    <a:schemeClr val="dk1">
                      <a:alpha val="40000"/>
                    </a:schemeClr>
                  </a:outerShdw>
                </a:effectLst>
              </a:rPr>
              <a:t>w=10110110</a:t>
            </a:r>
          </a:p>
        </p:txBody>
      </p:sp>
      <p:cxnSp>
        <p:nvCxnSpPr>
          <p:cNvPr id="31" name="Conector curvado 30"/>
          <p:cNvCxnSpPr>
            <a:stCxn id="28" idx="3"/>
          </p:cNvCxnSpPr>
          <p:nvPr/>
        </p:nvCxnSpPr>
        <p:spPr>
          <a:xfrm>
            <a:off x="3491080" y="3762146"/>
            <a:ext cx="2995725" cy="1456579"/>
          </a:xfrm>
          <a:prstGeom prst="curvedConnector3">
            <a:avLst>
              <a:gd name="adj1" fmla="val 28346"/>
            </a:avLst>
          </a:prstGeom>
          <a:ln w="28575">
            <a:solidFill>
              <a:srgbClr val="D2472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6216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wipe(up)">
                                      <p:cBhvr>
                                        <p:cTn id="34" dur="50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down)">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9" grpId="0" animBg="1"/>
      <p:bldP spid="28" grpId="0" animBg="1"/>
      <p:bldP spid="29"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9766300" cy="1143000"/>
          </a:xfrm>
        </p:spPr>
        <p:txBody>
          <a:bodyPr>
            <a:normAutofit/>
          </a:bodyPr>
          <a:lstStyle/>
          <a:p>
            <a:r>
              <a:rPr lang="es-ES" i="1" dirty="0" smtClean="0">
                <a:effectLst>
                  <a:outerShdw blurRad="38100" dist="38100" dir="2700000" algn="tl">
                    <a:srgbClr val="000000">
                      <a:alpha val="43137"/>
                    </a:srgbClr>
                  </a:outerShdw>
                </a:effectLst>
              </a:rPr>
              <a:t>Temas del segundo parcial</a:t>
            </a:r>
            <a:endParaRPr lang="es-AR" i="1" dirty="0">
              <a:effectLst>
                <a:outerShdw blurRad="38100" dist="38100" dir="2700000" algn="tl">
                  <a:srgbClr val="000000">
                    <a:alpha val="43137"/>
                  </a:srgbClr>
                </a:outerShdw>
              </a:effectLst>
            </a:endParaRPr>
          </a:p>
        </p:txBody>
      </p:sp>
      <p:sp>
        <p:nvSpPr>
          <p:cNvPr id="4" name="3 Rectángulo"/>
          <p:cNvSpPr/>
          <p:nvPr/>
        </p:nvSpPr>
        <p:spPr>
          <a:xfrm>
            <a:off x="850900" y="1189037"/>
            <a:ext cx="9448800" cy="1477328"/>
          </a:xfrm>
          <a:prstGeom prst="rect">
            <a:avLst/>
          </a:prstGeom>
        </p:spPr>
        <p:txBody>
          <a:bodyPr wrap="square">
            <a:spAutoFit/>
          </a:bodyPr>
          <a:lstStyle/>
          <a:p>
            <a:r>
              <a:rPr lang="es-ES" b="1" i="1" dirty="0"/>
              <a:t>1.-  Genere las instrucciones necesarias </a:t>
            </a:r>
            <a:r>
              <a:rPr lang="es-ES" b="1" i="1" dirty="0" smtClean="0"/>
              <a:t>para:</a:t>
            </a:r>
          </a:p>
          <a:p>
            <a:r>
              <a:rPr lang="es-ES" b="1" i="1" dirty="0" smtClean="0"/>
              <a:t>Ejemplo:</a:t>
            </a:r>
          </a:p>
          <a:p>
            <a:r>
              <a:rPr lang="es-ES" i="1" dirty="0"/>
              <a:t>Sume el contenido del registro </a:t>
            </a:r>
            <a:r>
              <a:rPr lang="es-ES" b="1" i="1" dirty="0"/>
              <a:t>w</a:t>
            </a:r>
            <a:r>
              <a:rPr lang="es-ES" i="1" dirty="0"/>
              <a:t> al literal 10, y almacena el resultado en </a:t>
            </a:r>
            <a:r>
              <a:rPr lang="es-ES" b="1" i="1" dirty="0"/>
              <a:t>w</a:t>
            </a:r>
            <a:r>
              <a:rPr lang="es-ES" i="1" dirty="0"/>
              <a:t>.</a:t>
            </a:r>
            <a:endParaRPr lang="es-AR" i="1" dirty="0"/>
          </a:p>
          <a:p>
            <a:r>
              <a:rPr lang="es-ES" i="1" dirty="0"/>
              <a:t>Indique  las banderas que se debe utilizar para controlar esta operación indicando los posibles valores y su </a:t>
            </a:r>
            <a:r>
              <a:rPr lang="es-ES" i="1" dirty="0" smtClean="0"/>
              <a:t>significado</a:t>
            </a:r>
            <a:endParaRPr lang="es-AR" i="1" dirty="0"/>
          </a:p>
        </p:txBody>
      </p:sp>
      <p:sp>
        <p:nvSpPr>
          <p:cNvPr id="5" name="Rectangle 1"/>
          <p:cNvSpPr>
            <a:spLocks noChangeArrowheads="1"/>
          </p:cNvSpPr>
          <p:nvPr/>
        </p:nvSpPr>
        <p:spPr bwMode="auto">
          <a:xfrm>
            <a:off x="1" y="2625675"/>
            <a:ext cx="9766299"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177" tIns="4572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b="1" i="1" u="none" strike="noStrike" cap="none" normalizeH="0" baseline="0" dirty="0" smtClean="0">
                <a:ln>
                  <a:noFill/>
                </a:ln>
                <a:solidFill>
                  <a:schemeClr val="tx1"/>
                </a:solidFill>
                <a:effectLst/>
                <a:ea typeface="Calibri" pitchFamily="34" charset="0"/>
                <a:cs typeface="Times New Roman" pitchFamily="18" charset="0"/>
              </a:rPr>
              <a:t>2.- Genere la/s instrucciones para realizar las siguientes operaciones matemáticas .</a:t>
            </a:r>
          </a:p>
          <a:p>
            <a:pPr marL="0" marR="0" lvl="0" indent="0" algn="l" defTabSz="914400" rtl="0" eaLnBrk="1" fontAlgn="base" latinLnBrk="0" hangingPunct="1">
              <a:lnSpc>
                <a:spcPct val="100000"/>
              </a:lnSpc>
              <a:spcBef>
                <a:spcPct val="0"/>
              </a:spcBef>
              <a:spcAft>
                <a:spcPct val="0"/>
              </a:spcAft>
              <a:buClrTx/>
              <a:buSzTx/>
              <a:buFontTx/>
              <a:buNone/>
              <a:tabLst/>
            </a:pPr>
            <a:r>
              <a:rPr lang="es-ES" b="1" i="1" dirty="0" smtClean="0">
                <a:ea typeface="Times New Roman" pitchFamily="18" charset="0"/>
                <a:cs typeface="Times New Roman" pitchFamily="18" charset="0"/>
              </a:rPr>
              <a:t>Ejemplo:</a:t>
            </a:r>
            <a:endParaRPr kumimoji="0" lang="es-AR" b="0" i="0" u="none" strike="noStrike" cap="none" normalizeH="0" baseline="0" dirty="0" smtClean="0">
              <a:ln>
                <a:noFill/>
              </a:ln>
              <a:solidFill>
                <a:schemeClr val="tx1"/>
              </a:solidFill>
              <a:effectLst/>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s-AR" b="0" i="1" u="none" strike="noStrike" cap="none" normalizeH="0" baseline="0" dirty="0" smtClean="0">
                <a:ln>
                  <a:noFill/>
                </a:ln>
                <a:solidFill>
                  <a:schemeClr val="tx1"/>
                </a:solidFill>
                <a:effectLst/>
                <a:ea typeface="Times New Roman" pitchFamily="18" charset="0"/>
                <a:cs typeface="Times New Roman" pitchFamily="18" charset="0"/>
              </a:rPr>
              <a:t>Sumar el valor de w= 5 al registro DATO guardándolo en w o en </a:t>
            </a:r>
            <a:r>
              <a:rPr kumimoji="0" lang="es-AR" b="0" i="1" u="none" strike="noStrike" cap="none" normalizeH="0" baseline="0" dirty="0" err="1" smtClean="0">
                <a:ln>
                  <a:noFill/>
                </a:ln>
                <a:solidFill>
                  <a:schemeClr val="tx1"/>
                </a:solidFill>
                <a:effectLst/>
                <a:ea typeface="Times New Roman" pitchFamily="18" charset="0"/>
                <a:cs typeface="Times New Roman" pitchFamily="18" charset="0"/>
              </a:rPr>
              <a:t>DATORestar</a:t>
            </a:r>
            <a:r>
              <a:rPr kumimoji="0" lang="es-AR" b="0" i="1" u="none" strike="noStrike" cap="none" normalizeH="0" baseline="0" dirty="0" smtClean="0">
                <a:ln>
                  <a:noFill/>
                </a:ln>
                <a:solidFill>
                  <a:schemeClr val="tx1"/>
                </a:solidFill>
                <a:effectLst/>
                <a:ea typeface="Times New Roman" pitchFamily="18" charset="0"/>
                <a:cs typeface="Times New Roman" pitchFamily="18" charset="0"/>
              </a:rPr>
              <a:t> al valor del registro DATO= 5 el valor de w= 10  guardándolo en w o en DATO</a:t>
            </a:r>
            <a:r>
              <a:rPr kumimoji="0" lang="es-AR" b="0" i="1" u="none" strike="noStrike" cap="none" normalizeH="0" baseline="0" dirty="0" smtClean="0">
                <a:ln>
                  <a:noFill/>
                </a:ln>
                <a:solidFill>
                  <a:schemeClr val="tx1"/>
                </a:solidFill>
                <a:effectLst/>
                <a:cs typeface="Arial" pitchFamily="34" charset="0"/>
              </a:rPr>
              <a:t> </a:t>
            </a:r>
          </a:p>
        </p:txBody>
      </p:sp>
      <p:sp>
        <p:nvSpPr>
          <p:cNvPr id="6" name="Rectangle 2"/>
          <p:cNvSpPr>
            <a:spLocks noChangeArrowheads="1"/>
          </p:cNvSpPr>
          <p:nvPr/>
        </p:nvSpPr>
        <p:spPr bwMode="auto">
          <a:xfrm>
            <a:off x="-215900" y="3830975"/>
            <a:ext cx="9690100"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34705" tIns="45720" rIns="91440" bIns="0" numCol="1" anchor="ctr" anchorCtr="0" compatLnSpc="1">
            <a:prstTxWarp prst="textNoShape">
              <a:avLst/>
            </a:prstTxWarp>
            <a:spAutoFit/>
          </a:bodyPr>
          <a:lstStyle/>
          <a:p>
            <a:pPr marR="0" lvl="0" algn="l" defTabSz="914400" rtl="0" eaLnBrk="1" fontAlgn="base" latinLnBrk="0" hangingPunct="1">
              <a:lnSpc>
                <a:spcPct val="100000"/>
              </a:lnSpc>
              <a:spcBef>
                <a:spcPct val="0"/>
              </a:spcBef>
              <a:spcAft>
                <a:spcPct val="0"/>
              </a:spcAft>
              <a:buClrTx/>
              <a:buSzTx/>
              <a:buFontTx/>
              <a:buNone/>
            </a:pPr>
            <a:r>
              <a:rPr kumimoji="0" lang="es-ES" b="1" i="1" u="none" strike="noStrike" cap="none" normalizeH="0" baseline="0" dirty="0" smtClean="0">
                <a:ln>
                  <a:noFill/>
                </a:ln>
                <a:solidFill>
                  <a:schemeClr val="tx1"/>
                </a:solidFill>
                <a:effectLst/>
                <a:ea typeface="Calibri" pitchFamily="34" charset="0"/>
                <a:cs typeface="Times New Roman" pitchFamily="18" charset="0"/>
              </a:rPr>
              <a:t>3.-Utilización de banderas</a:t>
            </a:r>
            <a:r>
              <a:rPr kumimoji="0" lang="es-AR" b="1" i="0" u="none" strike="noStrike" cap="none" normalizeH="0" baseline="0" dirty="0" smtClean="0">
                <a:ln>
                  <a:noFill/>
                </a:ln>
                <a:solidFill>
                  <a:schemeClr val="tx1"/>
                </a:solidFill>
                <a:effectLst/>
                <a:ea typeface="Times New Roman" pitchFamily="18" charset="0"/>
                <a:cs typeface="Times New Roman" pitchFamily="18" charset="0"/>
              </a:rPr>
              <a:t> para controlar operaciones lógicas y aritméticas dentro del </a:t>
            </a:r>
            <a:r>
              <a:rPr kumimoji="0" lang="es-AR" b="1" i="0" u="none" strike="noStrike" cap="none" normalizeH="0" baseline="0" dirty="0" err="1" smtClean="0">
                <a:ln>
                  <a:noFill/>
                </a:ln>
                <a:solidFill>
                  <a:schemeClr val="tx1"/>
                </a:solidFill>
                <a:effectLst/>
                <a:ea typeface="Times New Roman" pitchFamily="18" charset="0"/>
                <a:cs typeface="Times New Roman" pitchFamily="18" charset="0"/>
              </a:rPr>
              <a:t>microcontrolador</a:t>
            </a:r>
            <a:r>
              <a:rPr kumimoji="0" lang="es-AR" b="1" i="0" u="none" strike="noStrike" cap="none" normalizeH="0" baseline="0" dirty="0" smtClean="0">
                <a:ln>
                  <a:noFill/>
                </a:ln>
                <a:solidFill>
                  <a:schemeClr val="tx1"/>
                </a:solidFill>
                <a:effectLst/>
                <a:ea typeface="Times New Roman" pitchFamily="18" charset="0"/>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s-ES" b="1" dirty="0" smtClean="0">
                <a:ea typeface="Times New Roman" pitchFamily="18" charset="0"/>
                <a:cs typeface="Times New Roman" pitchFamily="18" charset="0"/>
              </a:rPr>
              <a:t>Ejemplo:</a:t>
            </a:r>
            <a:endParaRPr kumimoji="0" lang="es-AR" b="1" i="0" u="none" strike="noStrike" cap="none" normalizeH="0" baseline="0" dirty="0" smtClean="0">
              <a:ln>
                <a:noFill/>
              </a:ln>
              <a:solidFill>
                <a:schemeClr val="tx1"/>
              </a:solidFill>
              <a:effectLst/>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s-AR" b="0" i="1" u="none" strike="noStrike" cap="none" normalizeH="0" baseline="0" dirty="0" smtClean="0">
                <a:ln>
                  <a:noFill/>
                </a:ln>
                <a:solidFill>
                  <a:schemeClr val="tx1"/>
                </a:solidFill>
                <a:effectLst/>
                <a:ea typeface="Times New Roman" pitchFamily="18" charset="0"/>
                <a:cs typeface="Times New Roman" pitchFamily="18" charset="0"/>
              </a:rPr>
              <a:t>Se solicita  indicar las banderas que se utilizan en las operaciones en una resta . </a:t>
            </a:r>
            <a:endParaRPr kumimoji="0" lang="es-AR" b="0" i="1" u="none" strike="noStrike" cap="none" normalizeH="0" baseline="0" dirty="0" smtClean="0">
              <a:ln>
                <a:noFill/>
              </a:ln>
              <a:solidFill>
                <a:schemeClr val="tx1"/>
              </a:solidFill>
              <a:effectLst/>
              <a:cs typeface="Arial" pitchFamily="34" charset="0"/>
            </a:endParaRPr>
          </a:p>
        </p:txBody>
      </p:sp>
      <p:sp>
        <p:nvSpPr>
          <p:cNvPr id="7" name="Rectangle 4"/>
          <p:cNvSpPr>
            <a:spLocks noChangeArrowheads="1"/>
          </p:cNvSpPr>
          <p:nvPr/>
        </p:nvSpPr>
        <p:spPr bwMode="auto">
          <a:xfrm>
            <a:off x="467401" y="5084673"/>
            <a:ext cx="9298899"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49121" tIns="4572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AR" b="1" i="0" u="none" strike="noStrike" cap="none" normalizeH="0" baseline="0" dirty="0" smtClean="0">
                <a:ln>
                  <a:noFill/>
                </a:ln>
                <a:solidFill>
                  <a:srgbClr val="000000"/>
                </a:solidFill>
                <a:effectLst/>
                <a:ea typeface="Times New Roman" pitchFamily="18" charset="0"/>
                <a:cs typeface="Times New Roman" pitchFamily="18" charset="0"/>
              </a:rPr>
              <a:t>4.- Resolver un diagrama de flujo; plantear una solución posible.</a:t>
            </a:r>
            <a:r>
              <a:rPr kumimoji="0" lang="es-AR" b="1" i="0" u="none" strike="noStrike" cap="none" normalizeH="0" baseline="0" dirty="0" smtClean="0">
                <a:ln>
                  <a:noFill/>
                </a:ln>
                <a:solidFill>
                  <a:schemeClr val="tx1"/>
                </a:solidFill>
                <a:effectLst/>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b="1" i="0" u="none" strike="noStrike" cap="none" normalizeH="0" baseline="0" dirty="0" smtClean="0">
              <a:ln>
                <a:noFill/>
              </a:ln>
              <a:solidFill>
                <a:schemeClr val="tx1"/>
              </a:solidFill>
              <a:effectLst/>
              <a:cs typeface="Arial" pitchFamily="34" charset="0"/>
            </a:endParaRPr>
          </a:p>
        </p:txBody>
      </p:sp>
      <p:sp>
        <p:nvSpPr>
          <p:cNvPr id="8" name="Rectangle 5"/>
          <p:cNvSpPr>
            <a:spLocks noChangeArrowheads="1"/>
          </p:cNvSpPr>
          <p:nvPr/>
        </p:nvSpPr>
        <p:spPr bwMode="auto">
          <a:xfrm>
            <a:off x="0" y="1276350"/>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smtClean="0">
              <a:ln>
                <a:noFill/>
              </a:ln>
              <a:solidFill>
                <a:schemeClr val="tx1"/>
              </a:solidFill>
              <a:effectLst/>
              <a:latin typeface="Arial" pitchFamily="34" charset="0"/>
              <a:cs typeface="Arial" pitchFamily="34" charset="0"/>
            </a:endParaRPr>
          </a:p>
        </p:txBody>
      </p:sp>
      <p:sp>
        <p:nvSpPr>
          <p:cNvPr id="9" name="8 Rectángulo"/>
          <p:cNvSpPr/>
          <p:nvPr/>
        </p:nvSpPr>
        <p:spPr>
          <a:xfrm>
            <a:off x="838200" y="5495706"/>
            <a:ext cx="9080500" cy="923330"/>
          </a:xfrm>
          <a:prstGeom prst="rect">
            <a:avLst/>
          </a:prstGeom>
        </p:spPr>
        <p:txBody>
          <a:bodyPr wrap="square">
            <a:spAutoFit/>
          </a:bodyPr>
          <a:lstStyle/>
          <a:p>
            <a:r>
              <a:rPr lang="es-AR" b="1" i="1" dirty="0" smtClean="0"/>
              <a:t>5-</a:t>
            </a:r>
            <a:r>
              <a:rPr lang="es-AR" b="1" i="1" dirty="0"/>
              <a:t>. </a:t>
            </a:r>
            <a:r>
              <a:rPr lang="es-AR" b="1" i="1" dirty="0" smtClean="0"/>
              <a:t>Dado un pseudocódigo e indicando una funcionalidad simple generar la instrucciones necesarias</a:t>
            </a:r>
          </a:p>
          <a:p>
            <a:r>
              <a:rPr lang="es-ES" b="1" i="1" dirty="0" smtClean="0"/>
              <a:t>Ejemplo:</a:t>
            </a:r>
            <a:endParaRPr lang="es-AR" dirty="0"/>
          </a:p>
        </p:txBody>
      </p:sp>
      <p:graphicFrame>
        <p:nvGraphicFramePr>
          <p:cNvPr id="10" name="9 Tabla"/>
          <p:cNvGraphicFramePr>
            <a:graphicFrameLocks noGrp="1"/>
          </p:cNvGraphicFramePr>
          <p:nvPr>
            <p:extLst>
              <p:ext uri="{D42A27DB-BD31-4B8C-83A1-F6EECF244321}">
                <p14:modId xmlns:p14="http://schemas.microsoft.com/office/powerpoint/2010/main" val="221587042"/>
              </p:ext>
            </p:extLst>
          </p:nvPr>
        </p:nvGraphicFramePr>
        <p:xfrm>
          <a:off x="1786255" y="6518465"/>
          <a:ext cx="6760845" cy="295275"/>
        </p:xfrm>
        <a:graphic>
          <a:graphicData uri="http://schemas.openxmlformats.org/drawingml/2006/table">
            <a:tbl>
              <a:tblPr>
                <a:tableStyleId>{5C22544A-7EE6-4342-B048-85BDC9FD1C3A}</a:tableStyleId>
              </a:tblPr>
              <a:tblGrid>
                <a:gridCol w="1016000">
                  <a:extLst>
                    <a:ext uri="{9D8B030D-6E8A-4147-A177-3AD203B41FA5}">
                      <a16:colId xmlns="" xmlns:a16="http://schemas.microsoft.com/office/drawing/2014/main" val="20000"/>
                    </a:ext>
                  </a:extLst>
                </a:gridCol>
                <a:gridCol w="1143000">
                  <a:extLst>
                    <a:ext uri="{9D8B030D-6E8A-4147-A177-3AD203B41FA5}">
                      <a16:colId xmlns="" xmlns:a16="http://schemas.microsoft.com/office/drawing/2014/main" val="20001"/>
                    </a:ext>
                  </a:extLst>
                </a:gridCol>
                <a:gridCol w="1001395">
                  <a:extLst>
                    <a:ext uri="{9D8B030D-6E8A-4147-A177-3AD203B41FA5}">
                      <a16:colId xmlns="" xmlns:a16="http://schemas.microsoft.com/office/drawing/2014/main" val="20002"/>
                    </a:ext>
                  </a:extLst>
                </a:gridCol>
                <a:gridCol w="3600450">
                  <a:extLst>
                    <a:ext uri="{9D8B030D-6E8A-4147-A177-3AD203B41FA5}">
                      <a16:colId xmlns="" xmlns:a16="http://schemas.microsoft.com/office/drawing/2014/main" val="20003"/>
                    </a:ext>
                  </a:extLst>
                </a:gridCol>
              </a:tblGrid>
              <a:tr h="295275">
                <a:tc>
                  <a:txBody>
                    <a:bodyPr/>
                    <a:lstStyle/>
                    <a:p>
                      <a:pPr algn="ctr">
                        <a:lnSpc>
                          <a:spcPct val="107000"/>
                        </a:lnSpc>
                        <a:spcAft>
                          <a:spcPts val="0"/>
                        </a:spcAft>
                      </a:pPr>
                      <a:r>
                        <a:rPr lang="es-AR" sz="1000" u="sng">
                          <a:effectLst/>
                        </a:rPr>
                        <a:t>Campo 1</a:t>
                      </a:r>
                      <a:endParaRPr lang="es-AR" sz="1100">
                        <a:effectLst/>
                        <a:latin typeface="Calibri"/>
                        <a:ea typeface="Calibri"/>
                        <a:cs typeface="Times New Roman"/>
                      </a:endParaRPr>
                    </a:p>
                  </a:txBody>
                  <a:tcPr marL="44450" marR="44450" marT="0" marB="0" anchor="ctr"/>
                </a:tc>
                <a:tc>
                  <a:txBody>
                    <a:bodyPr/>
                    <a:lstStyle/>
                    <a:p>
                      <a:pPr algn="ctr">
                        <a:lnSpc>
                          <a:spcPct val="107000"/>
                        </a:lnSpc>
                        <a:spcAft>
                          <a:spcPts val="0"/>
                        </a:spcAft>
                      </a:pPr>
                      <a:r>
                        <a:rPr lang="es-AR" sz="1000" u="sng">
                          <a:effectLst/>
                        </a:rPr>
                        <a:t>Campo 2</a:t>
                      </a:r>
                      <a:endParaRPr lang="es-AR" sz="1100">
                        <a:effectLst/>
                        <a:latin typeface="Calibri"/>
                        <a:ea typeface="Calibri"/>
                        <a:cs typeface="Times New Roman"/>
                      </a:endParaRPr>
                    </a:p>
                  </a:txBody>
                  <a:tcPr marL="44450" marR="44450" marT="0" marB="0" anchor="ctr"/>
                </a:tc>
                <a:tc>
                  <a:txBody>
                    <a:bodyPr/>
                    <a:lstStyle/>
                    <a:p>
                      <a:pPr algn="ctr">
                        <a:lnSpc>
                          <a:spcPct val="107000"/>
                        </a:lnSpc>
                        <a:spcAft>
                          <a:spcPts val="0"/>
                        </a:spcAft>
                      </a:pPr>
                      <a:r>
                        <a:rPr lang="es-AR" sz="1000" u="sng">
                          <a:effectLst/>
                        </a:rPr>
                        <a:t>Campo 3 </a:t>
                      </a:r>
                      <a:endParaRPr lang="es-AR" sz="1100">
                        <a:effectLst/>
                        <a:latin typeface="Calibri"/>
                        <a:ea typeface="Calibri"/>
                        <a:cs typeface="Times New Roman"/>
                      </a:endParaRPr>
                    </a:p>
                  </a:txBody>
                  <a:tcPr marL="44450" marR="44450" marT="0" marB="0" anchor="ctr"/>
                </a:tc>
                <a:tc>
                  <a:txBody>
                    <a:bodyPr/>
                    <a:lstStyle/>
                    <a:p>
                      <a:pPr algn="ctr">
                        <a:lnSpc>
                          <a:spcPct val="107000"/>
                        </a:lnSpc>
                        <a:spcAft>
                          <a:spcPts val="0"/>
                        </a:spcAft>
                      </a:pPr>
                      <a:r>
                        <a:rPr lang="es-AR" sz="1000" u="sng" dirty="0">
                          <a:effectLst/>
                        </a:rPr>
                        <a:t>PSEUDOCODIGO</a:t>
                      </a:r>
                      <a:endParaRPr lang="es-AR" sz="1100" dirty="0">
                        <a:effectLst/>
                        <a:latin typeface="Calibri"/>
                        <a:ea typeface="Calibri"/>
                        <a:cs typeface="Times New Roman"/>
                      </a:endParaRPr>
                    </a:p>
                  </a:txBody>
                  <a:tcPr marL="44450" marR="44450" marT="0" marB="0" anchor="ctr"/>
                </a:tc>
                <a:extLst>
                  <a:ext uri="{0D108BD9-81ED-4DB2-BD59-A6C34878D82A}">
                    <a16:rowId xmlns="" xmlns:a16="http://schemas.microsoft.com/office/drawing/2014/main" val="10000"/>
                  </a:ext>
                </a:extLst>
              </a:tr>
            </a:tbl>
          </a:graphicData>
        </a:graphic>
      </p:graphicFrame>
      <p:graphicFrame>
        <p:nvGraphicFramePr>
          <p:cNvPr id="11" name="10 Tabla"/>
          <p:cNvGraphicFramePr>
            <a:graphicFrameLocks noGrp="1"/>
          </p:cNvGraphicFramePr>
          <p:nvPr>
            <p:extLst>
              <p:ext uri="{D42A27DB-BD31-4B8C-83A1-F6EECF244321}">
                <p14:modId xmlns:p14="http://schemas.microsoft.com/office/powerpoint/2010/main" val="1196647018"/>
              </p:ext>
            </p:extLst>
          </p:nvPr>
        </p:nvGraphicFramePr>
        <p:xfrm>
          <a:off x="1786255" y="6813740"/>
          <a:ext cx="6760845" cy="326136"/>
        </p:xfrm>
        <a:graphic>
          <a:graphicData uri="http://schemas.openxmlformats.org/drawingml/2006/table">
            <a:tbl>
              <a:tblPr>
                <a:tableStyleId>{5C22544A-7EE6-4342-B048-85BDC9FD1C3A}</a:tableStyleId>
              </a:tblPr>
              <a:tblGrid>
                <a:gridCol w="1016000">
                  <a:extLst>
                    <a:ext uri="{9D8B030D-6E8A-4147-A177-3AD203B41FA5}">
                      <a16:colId xmlns="" xmlns:a16="http://schemas.microsoft.com/office/drawing/2014/main" val="20000"/>
                    </a:ext>
                  </a:extLst>
                </a:gridCol>
                <a:gridCol w="1143000">
                  <a:extLst>
                    <a:ext uri="{9D8B030D-6E8A-4147-A177-3AD203B41FA5}">
                      <a16:colId xmlns="" xmlns:a16="http://schemas.microsoft.com/office/drawing/2014/main" val="20001"/>
                    </a:ext>
                  </a:extLst>
                </a:gridCol>
                <a:gridCol w="1001395">
                  <a:extLst>
                    <a:ext uri="{9D8B030D-6E8A-4147-A177-3AD203B41FA5}">
                      <a16:colId xmlns="" xmlns:a16="http://schemas.microsoft.com/office/drawing/2014/main" val="20002"/>
                    </a:ext>
                  </a:extLst>
                </a:gridCol>
                <a:gridCol w="3600450">
                  <a:extLst>
                    <a:ext uri="{9D8B030D-6E8A-4147-A177-3AD203B41FA5}">
                      <a16:colId xmlns="" xmlns:a16="http://schemas.microsoft.com/office/drawing/2014/main" val="20003"/>
                    </a:ext>
                  </a:extLst>
                </a:gridCol>
              </a:tblGrid>
              <a:tr h="295275">
                <a:tc>
                  <a:txBody>
                    <a:bodyPr/>
                    <a:lstStyle/>
                    <a:p>
                      <a:pPr>
                        <a:lnSpc>
                          <a:spcPct val="107000"/>
                        </a:lnSpc>
                        <a:spcAft>
                          <a:spcPts val="0"/>
                        </a:spcAft>
                      </a:pPr>
                      <a:r>
                        <a:rPr lang="es-AR" sz="1400">
                          <a:effectLst/>
                        </a:rPr>
                        <a:t> </a:t>
                      </a:r>
                      <a:endParaRPr lang="es-AR" sz="1100">
                        <a:effectLst/>
                        <a:latin typeface="Calibri"/>
                        <a:ea typeface="Calibri"/>
                        <a:cs typeface="Times New Roman"/>
                      </a:endParaRPr>
                    </a:p>
                  </a:txBody>
                  <a:tcPr marL="44450" marR="44450" marT="0" marB="0" anchor="ctr"/>
                </a:tc>
                <a:tc>
                  <a:txBody>
                    <a:bodyPr/>
                    <a:lstStyle/>
                    <a:p>
                      <a:pPr>
                        <a:lnSpc>
                          <a:spcPct val="107000"/>
                        </a:lnSpc>
                        <a:spcAft>
                          <a:spcPts val="0"/>
                        </a:spcAft>
                      </a:pPr>
                      <a:r>
                        <a:rPr lang="es-AR" sz="1400">
                          <a:effectLst/>
                        </a:rPr>
                        <a:t> </a:t>
                      </a:r>
                      <a:endParaRPr lang="es-AR" sz="1100">
                        <a:effectLst/>
                        <a:latin typeface="Calibri"/>
                        <a:ea typeface="Calibri"/>
                        <a:cs typeface="Times New Roman"/>
                      </a:endParaRPr>
                    </a:p>
                  </a:txBody>
                  <a:tcPr marL="44450" marR="44450" marT="0" marB="0" anchor="ctr"/>
                </a:tc>
                <a:tc>
                  <a:txBody>
                    <a:bodyPr/>
                    <a:lstStyle/>
                    <a:p>
                      <a:pPr>
                        <a:lnSpc>
                          <a:spcPct val="107000"/>
                        </a:lnSpc>
                        <a:spcAft>
                          <a:spcPts val="0"/>
                        </a:spcAft>
                      </a:pPr>
                      <a:r>
                        <a:rPr lang="es-AR" sz="1400">
                          <a:effectLst/>
                        </a:rPr>
                        <a:t> </a:t>
                      </a:r>
                      <a:endParaRPr lang="es-AR" sz="1100">
                        <a:effectLst/>
                        <a:latin typeface="Calibri"/>
                        <a:ea typeface="Calibri"/>
                        <a:cs typeface="Times New Roman"/>
                      </a:endParaRPr>
                    </a:p>
                  </a:txBody>
                  <a:tcPr marL="44450" marR="44450" marT="0" marB="0" anchor="ctr"/>
                </a:tc>
                <a:tc>
                  <a:txBody>
                    <a:bodyPr/>
                    <a:lstStyle/>
                    <a:p>
                      <a:pPr>
                        <a:lnSpc>
                          <a:spcPct val="107000"/>
                        </a:lnSpc>
                        <a:spcAft>
                          <a:spcPts val="0"/>
                        </a:spcAft>
                      </a:pPr>
                      <a:r>
                        <a:rPr lang="es-AR" sz="1000" dirty="0">
                          <a:effectLst/>
                        </a:rPr>
                        <a:t>Instrucción al compilador para indicar que el código precedente a esta instrucción se situará en la dirección 0 </a:t>
                      </a:r>
                      <a:r>
                        <a:rPr lang="es-AR" sz="1000" dirty="0" err="1">
                          <a:effectLst/>
                        </a:rPr>
                        <a:t>Hexa</a:t>
                      </a:r>
                      <a:endParaRPr lang="es-AR" sz="1100" dirty="0">
                        <a:effectLst/>
                        <a:latin typeface="Calibri"/>
                        <a:ea typeface="Calibri"/>
                        <a:cs typeface="Times New Roman"/>
                      </a:endParaRPr>
                    </a:p>
                  </a:txBody>
                  <a:tcPr marL="44450" marR="44450" marT="0" marB="0" anchor="ctr"/>
                </a:tc>
                <a:extLst>
                  <a:ext uri="{0D108BD9-81ED-4DB2-BD59-A6C34878D82A}">
                    <a16:rowId xmlns="" xmlns:a16="http://schemas.microsoft.com/office/drawing/2014/main" val="10000"/>
                  </a:ext>
                </a:extLst>
              </a:tr>
            </a:tbl>
          </a:graphicData>
        </a:graphic>
      </p:graphicFrame>
    </p:spTree>
    <p:extLst>
      <p:ext uri="{BB962C8B-B14F-4D97-AF65-F5344CB8AC3E}">
        <p14:creationId xmlns:p14="http://schemas.microsoft.com/office/powerpoint/2010/main" val="3598997447"/>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9766300" cy="1143000"/>
          </a:xfrm>
        </p:spPr>
        <p:txBody>
          <a:bodyPr>
            <a:normAutofit/>
          </a:bodyPr>
          <a:lstStyle/>
          <a:p>
            <a:r>
              <a:rPr lang="es-ES" i="1" dirty="0" smtClean="0">
                <a:effectLst>
                  <a:outerShdw blurRad="38100" dist="38100" dir="2700000" algn="tl">
                    <a:srgbClr val="000000">
                      <a:alpha val="43137"/>
                    </a:srgbClr>
                  </a:outerShdw>
                </a:effectLst>
              </a:rPr>
              <a:t>Temas del segundo parcial</a:t>
            </a:r>
            <a:endParaRPr lang="es-AR" i="1" dirty="0">
              <a:effectLst>
                <a:outerShdw blurRad="38100" dist="38100" dir="2700000" algn="tl">
                  <a:srgbClr val="000000">
                    <a:alpha val="43137"/>
                  </a:srgbClr>
                </a:outerShdw>
              </a:effectLst>
            </a:endParaRPr>
          </a:p>
        </p:txBody>
      </p:sp>
      <p:sp>
        <p:nvSpPr>
          <p:cNvPr id="4" name="3 Rectángulo"/>
          <p:cNvSpPr/>
          <p:nvPr/>
        </p:nvSpPr>
        <p:spPr>
          <a:xfrm>
            <a:off x="850900" y="1637307"/>
            <a:ext cx="9448800" cy="923330"/>
          </a:xfrm>
          <a:prstGeom prst="rect">
            <a:avLst/>
          </a:prstGeom>
        </p:spPr>
        <p:txBody>
          <a:bodyPr wrap="square">
            <a:spAutoFit/>
          </a:bodyPr>
          <a:lstStyle/>
          <a:p>
            <a:r>
              <a:rPr lang="es-ES" b="1" i="1" dirty="0" smtClean="0"/>
              <a:t>6.-  Manejo de pulsadores.</a:t>
            </a:r>
          </a:p>
          <a:p>
            <a:endParaRPr lang="es-ES" b="1" i="1" dirty="0"/>
          </a:p>
          <a:p>
            <a:r>
              <a:rPr lang="es-ES" b="1" i="1" dirty="0" smtClean="0"/>
              <a:t>7.- Calculo de tiempos con y sin uso de TIMER 0 (Programación)</a:t>
            </a:r>
          </a:p>
        </p:txBody>
      </p:sp>
      <p:sp>
        <p:nvSpPr>
          <p:cNvPr id="8" name="Rectangle 5"/>
          <p:cNvSpPr>
            <a:spLocks noChangeArrowheads="1"/>
          </p:cNvSpPr>
          <p:nvPr/>
        </p:nvSpPr>
        <p:spPr bwMode="auto">
          <a:xfrm>
            <a:off x="0" y="1276350"/>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7210042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6154</TotalTime>
  <Words>3690</Words>
  <Application>Microsoft Office PowerPoint</Application>
  <PresentationFormat>Personalizado</PresentationFormat>
  <Paragraphs>1223</Paragraphs>
  <Slides>110</Slides>
  <Notes>24</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110</vt:i4>
      </vt:variant>
    </vt:vector>
  </HeadingPairs>
  <TitlesOfParts>
    <vt:vector size="122" baseType="lpstr">
      <vt:lpstr>Arial Unicode MS</vt:lpstr>
      <vt:lpstr>宋体</vt:lpstr>
      <vt:lpstr>Arial</vt:lpstr>
      <vt:lpstr>Arial Black</vt:lpstr>
      <vt:lpstr>Calibri</vt:lpstr>
      <vt:lpstr>Cambria Math</vt:lpstr>
      <vt:lpstr>Consolas</vt:lpstr>
      <vt:lpstr>Courier New</vt:lpstr>
      <vt:lpstr>Symbol</vt:lpstr>
      <vt:lpstr>Tahoma</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Guía de Lectura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Guía de Lectura</vt:lpstr>
      <vt:lpstr>Configuración Básica MP LAB</vt:lpstr>
      <vt:lpstr>MPLab Pantalla Inicial</vt:lpstr>
      <vt:lpstr>MPLab – Proyect Wizard</vt:lpstr>
      <vt:lpstr>MPLab – Seleccionar Microcontrolador</vt:lpstr>
      <vt:lpstr>MPLab – Seleccionar Lenguaje de Programación</vt:lpstr>
      <vt:lpstr>MPLab – Identificar Proyecto</vt:lpstr>
      <vt:lpstr>Presentación de PowerPoint</vt:lpstr>
      <vt:lpstr>MPLab – Estructura de un Proyecto</vt:lpstr>
      <vt:lpstr>Menú Project, Build options</vt:lpstr>
      <vt:lpstr>Simulador - Seteo</vt:lpstr>
      <vt:lpstr>Simulador - Seteo</vt:lpstr>
      <vt:lpstr>Simulador - Seteo</vt:lpstr>
      <vt:lpstr>Practica Programación Assembler</vt:lpstr>
      <vt:lpstr>Presentación de PowerPoint</vt:lpstr>
      <vt:lpstr>Presentación de PowerPoint</vt:lpstr>
      <vt:lpstr>Presentación de PowerPoint</vt:lpstr>
      <vt:lpstr>Presentación de PowerPoint</vt:lpstr>
      <vt:lpstr>Primer Programa Assembler</vt:lpstr>
      <vt:lpstr>Primer Programa ASSEMBLER</vt:lpstr>
      <vt:lpstr>Primer Programa ASSEMBLER (Comportamiento de las instrucciones)</vt:lpstr>
      <vt:lpstr>Primer Programa ASSEMBLER (14 bits)</vt:lpstr>
      <vt:lpstr>Practica Programación Assembler</vt:lpstr>
      <vt:lpstr>Presentación de PowerPoint</vt:lpstr>
      <vt:lpstr>Presentación de PowerPoint</vt:lpstr>
      <vt:lpstr>Presentación de PowerPoint</vt:lpstr>
      <vt:lpstr>Presentación de PowerPoint</vt:lpstr>
      <vt:lpstr>Practica Programación Assembler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Arquitectura de Computadoras</vt:lpstr>
      <vt:lpstr>Presentación de PowerPoint</vt:lpstr>
      <vt:lpstr>Presentación de PowerPoint</vt:lpstr>
      <vt:lpstr>Presentación de PowerPoint</vt:lpstr>
      <vt:lpstr>Ascensor – Plaqueta</vt:lpstr>
      <vt:lpstr>Diagrama Eléctrico Ascensor</vt:lpstr>
      <vt:lpstr>Diagrama de Utilización</vt:lpstr>
      <vt:lpstr>Presentación de PowerPoint</vt:lpstr>
      <vt:lpstr>Display 7 segmentos</vt:lpstr>
      <vt:lpstr>Conexión Motor</vt:lpstr>
      <vt:lpstr>Pulsores</vt:lpstr>
      <vt:lpstr>Sensores de Piso</vt:lpstr>
      <vt:lpstr>Presentación de PowerPoint</vt:lpstr>
      <vt:lpstr>Diagrama de Flujo</vt:lpstr>
      <vt:lpstr>Diagrama de Flujo</vt:lpstr>
      <vt:lpstr>Diagrama de Flujo</vt:lpstr>
      <vt:lpstr>Diagrama de Utilización</vt:lpstr>
      <vt:lpstr>Registros del PICF16</vt:lpstr>
      <vt:lpstr>Registros a utilizar</vt:lpstr>
      <vt:lpstr>Registros a utilizar</vt:lpstr>
      <vt:lpstr>Guía de los conceptos necesarios para la resolución el primer TP</vt:lpstr>
      <vt:lpstr>Descripción de la consigna</vt:lpstr>
      <vt:lpstr>Entregables</vt:lpstr>
      <vt:lpstr>Ejercicio 1: Demoras sin Timer 0</vt:lpstr>
      <vt:lpstr>Ejercicio 1: Demoras sin Timer 0</vt:lpstr>
      <vt:lpstr>Ejercicio 2: Manejo de Pulsadores</vt:lpstr>
      <vt:lpstr>Ejercicio 2: Manejo de Pulsadores</vt:lpstr>
      <vt:lpstr>Ejercicio 2: Manejo de Pulsadores</vt:lpstr>
      <vt:lpstr>Ejercicio 2: Manejo de Pulsadores</vt:lpstr>
      <vt:lpstr>Ejercicio 2: Manejo de Pulsadores</vt:lpstr>
      <vt:lpstr>Ejercicio 2: Manejo de Pulsadores</vt:lpstr>
      <vt:lpstr>Ejercicio 2: Manejo de Pulsadores</vt:lpstr>
      <vt:lpstr>Ejercicio 2: Manejo de Pulsadores</vt:lpstr>
      <vt:lpstr>Ejercicio 3: Manejo de Displays</vt:lpstr>
      <vt:lpstr>Ejercicio 3: Manejo de Displays</vt:lpstr>
      <vt:lpstr>Ejercicio 3: Manejo de Displays</vt:lpstr>
      <vt:lpstr>Ejercicio 3: Manejo de Displays</vt:lpstr>
      <vt:lpstr>Temas del segundo parcial</vt:lpstr>
      <vt:lpstr>Temas del segundo parcial</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licrg</dc:creator>
  <cp:lastModifiedBy>Roberto García</cp:lastModifiedBy>
  <cp:revision>249</cp:revision>
  <cp:lastPrinted>2015-08-08T13:24:33Z</cp:lastPrinted>
  <dcterms:created xsi:type="dcterms:W3CDTF">2006-08-16T00:00:00Z</dcterms:created>
  <dcterms:modified xsi:type="dcterms:W3CDTF">2019-08-03T17:41:31Z</dcterms:modified>
</cp:coreProperties>
</file>