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4"/>
  </p:notesMasterIdLst>
  <p:sldIdLst>
    <p:sldId id="256" r:id="rId2"/>
    <p:sldId id="608" r:id="rId3"/>
    <p:sldId id="257" r:id="rId4"/>
    <p:sldId id="258" r:id="rId5"/>
    <p:sldId id="539" r:id="rId6"/>
    <p:sldId id="334" r:id="rId7"/>
    <p:sldId id="335" r:id="rId8"/>
    <p:sldId id="336" r:id="rId9"/>
    <p:sldId id="605" r:id="rId10"/>
    <p:sldId id="337" r:id="rId11"/>
    <p:sldId id="338" r:id="rId12"/>
    <p:sldId id="606" r:id="rId13"/>
    <p:sldId id="607" r:id="rId14"/>
    <p:sldId id="260" r:id="rId15"/>
    <p:sldId id="270" r:id="rId16"/>
    <p:sldId id="259" r:id="rId17"/>
    <p:sldId id="350" r:id="rId18"/>
    <p:sldId id="351" r:id="rId19"/>
    <p:sldId id="609" r:id="rId20"/>
    <p:sldId id="308" r:id="rId21"/>
    <p:sldId id="309" r:id="rId22"/>
    <p:sldId id="637" r:id="rId23"/>
    <p:sldId id="261" r:id="rId24"/>
    <p:sldId id="262" r:id="rId25"/>
    <p:sldId id="263" r:id="rId26"/>
    <p:sldId id="264" r:id="rId27"/>
    <p:sldId id="265" r:id="rId28"/>
    <p:sldId id="266" r:id="rId29"/>
    <p:sldId id="267" r:id="rId30"/>
    <p:sldId id="268" r:id="rId31"/>
    <p:sldId id="269" r:id="rId32"/>
    <p:sldId id="622" r:id="rId33"/>
    <p:sldId id="457" r:id="rId34"/>
    <p:sldId id="353" r:id="rId35"/>
    <p:sldId id="638" r:id="rId36"/>
    <p:sldId id="349" r:id="rId37"/>
    <p:sldId id="545" r:id="rId38"/>
    <p:sldId id="546" r:id="rId39"/>
    <p:sldId id="626" r:id="rId40"/>
    <p:sldId id="378" r:id="rId41"/>
    <p:sldId id="373" r:id="rId42"/>
    <p:sldId id="374" r:id="rId43"/>
    <p:sldId id="625" r:id="rId44"/>
    <p:sldId id="375" r:id="rId45"/>
    <p:sldId id="383" r:id="rId46"/>
    <p:sldId id="384" r:id="rId47"/>
    <p:sldId id="639" r:id="rId48"/>
    <p:sldId id="627" r:id="rId49"/>
    <p:sldId id="628" r:id="rId50"/>
    <p:sldId id="629" r:id="rId51"/>
    <p:sldId id="385" r:id="rId52"/>
    <p:sldId id="386" r:id="rId53"/>
    <p:sldId id="399" r:id="rId54"/>
    <p:sldId id="387" r:id="rId55"/>
    <p:sldId id="390" r:id="rId56"/>
    <p:sldId id="396" r:id="rId57"/>
    <p:sldId id="397" r:id="rId58"/>
    <p:sldId id="392" r:id="rId59"/>
    <p:sldId id="635" r:id="rId60"/>
    <p:sldId id="474" r:id="rId61"/>
    <p:sldId id="630" r:id="rId62"/>
    <p:sldId id="657" r:id="rId63"/>
    <p:sldId id="634" r:id="rId64"/>
    <p:sldId id="655" r:id="rId65"/>
    <p:sldId id="398" r:id="rId66"/>
    <p:sldId id="641" r:id="rId67"/>
    <p:sldId id="642" r:id="rId68"/>
    <p:sldId id="643" r:id="rId69"/>
    <p:sldId id="644" r:id="rId70"/>
    <p:sldId id="645" r:id="rId71"/>
    <p:sldId id="646" r:id="rId72"/>
    <p:sldId id="647" r:id="rId73"/>
    <p:sldId id="658" r:id="rId74"/>
    <p:sldId id="649" r:id="rId75"/>
    <p:sldId id="650" r:id="rId76"/>
    <p:sldId id="651" r:id="rId77"/>
    <p:sldId id="652" r:id="rId78"/>
    <p:sldId id="653" r:id="rId79"/>
    <p:sldId id="654" r:id="rId80"/>
    <p:sldId id="271" r:id="rId81"/>
    <p:sldId id="272" r:id="rId82"/>
    <p:sldId id="276" r:id="rId83"/>
    <p:sldId id="273" r:id="rId84"/>
    <p:sldId id="274" r:id="rId85"/>
    <p:sldId id="275" r:id="rId86"/>
    <p:sldId id="586" r:id="rId87"/>
    <p:sldId id="587" r:id="rId88"/>
    <p:sldId id="588" r:id="rId89"/>
    <p:sldId id="660" r:id="rId90"/>
    <p:sldId id="661" r:id="rId91"/>
    <p:sldId id="662" r:id="rId92"/>
    <p:sldId id="475" r:id="rId93"/>
    <p:sldId id="656" r:id="rId94"/>
    <p:sldId id="632" r:id="rId95"/>
    <p:sldId id="548" r:id="rId96"/>
    <p:sldId id="549" r:id="rId97"/>
    <p:sldId id="550" r:id="rId98"/>
    <p:sldId id="551" r:id="rId99"/>
    <p:sldId id="552" r:id="rId100"/>
    <p:sldId id="553" r:id="rId101"/>
    <p:sldId id="554" r:id="rId102"/>
    <p:sldId id="555" r:id="rId103"/>
    <p:sldId id="556" r:id="rId104"/>
    <p:sldId id="557" r:id="rId105"/>
    <p:sldId id="558" r:id="rId106"/>
    <p:sldId id="559" r:id="rId107"/>
    <p:sldId id="631" r:id="rId108"/>
    <p:sldId id="748" r:id="rId109"/>
    <p:sldId id="749" r:id="rId110"/>
    <p:sldId id="750" r:id="rId111"/>
    <p:sldId id="751" r:id="rId112"/>
    <p:sldId id="752" r:id="rId113"/>
    <p:sldId id="753" r:id="rId114"/>
    <p:sldId id="754" r:id="rId115"/>
    <p:sldId id="755" r:id="rId116"/>
    <p:sldId id="756" r:id="rId117"/>
    <p:sldId id="757" r:id="rId118"/>
    <p:sldId id="758" r:id="rId119"/>
    <p:sldId id="759" r:id="rId120"/>
    <p:sldId id="760" r:id="rId121"/>
    <p:sldId id="761" r:id="rId122"/>
    <p:sldId id="762" r:id="rId123"/>
    <p:sldId id="763" r:id="rId124"/>
    <p:sldId id="764" r:id="rId125"/>
    <p:sldId id="765" r:id="rId126"/>
    <p:sldId id="766" r:id="rId127"/>
    <p:sldId id="767" r:id="rId128"/>
    <p:sldId id="768" r:id="rId129"/>
    <p:sldId id="769" r:id="rId130"/>
    <p:sldId id="770" r:id="rId131"/>
    <p:sldId id="771" r:id="rId132"/>
    <p:sldId id="772" r:id="rId133"/>
    <p:sldId id="773" r:id="rId134"/>
    <p:sldId id="774" r:id="rId135"/>
    <p:sldId id="775" r:id="rId136"/>
    <p:sldId id="776" r:id="rId137"/>
    <p:sldId id="777" r:id="rId138"/>
    <p:sldId id="778" r:id="rId139"/>
    <p:sldId id="779" r:id="rId140"/>
    <p:sldId id="780" r:id="rId141"/>
    <p:sldId id="781" r:id="rId142"/>
    <p:sldId id="782" r:id="rId143"/>
    <p:sldId id="783" r:id="rId144"/>
    <p:sldId id="784" r:id="rId145"/>
    <p:sldId id="785" r:id="rId146"/>
    <p:sldId id="786" r:id="rId147"/>
    <p:sldId id="787" r:id="rId148"/>
    <p:sldId id="788" r:id="rId149"/>
    <p:sldId id="789" r:id="rId150"/>
    <p:sldId id="790" r:id="rId151"/>
    <p:sldId id="791" r:id="rId152"/>
    <p:sldId id="792" r:id="rId153"/>
    <p:sldId id="793" r:id="rId154"/>
    <p:sldId id="794" r:id="rId155"/>
    <p:sldId id="795" r:id="rId156"/>
    <p:sldId id="796" r:id="rId157"/>
    <p:sldId id="797" r:id="rId158"/>
    <p:sldId id="798" r:id="rId159"/>
    <p:sldId id="799" r:id="rId160"/>
    <p:sldId id="800" r:id="rId161"/>
    <p:sldId id="801" r:id="rId162"/>
    <p:sldId id="802" r:id="rId163"/>
    <p:sldId id="803" r:id="rId164"/>
    <p:sldId id="804" r:id="rId165"/>
    <p:sldId id="805" r:id="rId166"/>
    <p:sldId id="806" r:id="rId167"/>
    <p:sldId id="807" r:id="rId168"/>
    <p:sldId id="808" r:id="rId169"/>
    <p:sldId id="809" r:id="rId170"/>
    <p:sldId id="810" r:id="rId171"/>
    <p:sldId id="811" r:id="rId172"/>
    <p:sldId id="812" r:id="rId173"/>
    <p:sldId id="813" r:id="rId174"/>
    <p:sldId id="814" r:id="rId175"/>
    <p:sldId id="815" r:id="rId176"/>
    <p:sldId id="816" r:id="rId177"/>
    <p:sldId id="817" r:id="rId178"/>
    <p:sldId id="659" r:id="rId179"/>
    <p:sldId id="818" r:id="rId180"/>
    <p:sldId id="819" r:id="rId181"/>
    <p:sldId id="820" r:id="rId182"/>
    <p:sldId id="821" r:id="rId183"/>
    <p:sldId id="822" r:id="rId184"/>
    <p:sldId id="823" r:id="rId185"/>
    <p:sldId id="824" r:id="rId186"/>
    <p:sldId id="825" r:id="rId187"/>
    <p:sldId id="826" r:id="rId188"/>
    <p:sldId id="827" r:id="rId189"/>
    <p:sldId id="828" r:id="rId190"/>
    <p:sldId id="829" r:id="rId191"/>
    <p:sldId id="830" r:id="rId192"/>
    <p:sldId id="831" r:id="rId193"/>
    <p:sldId id="832" r:id="rId194"/>
    <p:sldId id="833" r:id="rId195"/>
    <p:sldId id="834" r:id="rId196"/>
    <p:sldId id="835" r:id="rId197"/>
    <p:sldId id="836" r:id="rId198"/>
    <p:sldId id="837" r:id="rId199"/>
    <p:sldId id="838" r:id="rId200"/>
    <p:sldId id="839" r:id="rId201"/>
    <p:sldId id="840" r:id="rId202"/>
    <p:sldId id="841" r:id="rId203"/>
    <p:sldId id="842" r:id="rId204"/>
    <p:sldId id="843" r:id="rId205"/>
    <p:sldId id="844" r:id="rId206"/>
    <p:sldId id="845" r:id="rId207"/>
    <p:sldId id="846" r:id="rId208"/>
    <p:sldId id="847" r:id="rId209"/>
    <p:sldId id="848" r:id="rId210"/>
    <p:sldId id="849" r:id="rId211"/>
    <p:sldId id="850" r:id="rId212"/>
    <p:sldId id="851" r:id="rId213"/>
    <p:sldId id="543" r:id="rId214"/>
    <p:sldId id="529" r:id="rId215"/>
    <p:sldId id="530" r:id="rId216"/>
    <p:sldId id="560" r:id="rId217"/>
    <p:sldId id="561" r:id="rId218"/>
    <p:sldId id="562" r:id="rId219"/>
    <p:sldId id="563" r:id="rId220"/>
    <p:sldId id="564" r:id="rId221"/>
    <p:sldId id="565" r:id="rId222"/>
    <p:sldId id="566" r:id="rId223"/>
    <p:sldId id="567" r:id="rId224"/>
    <p:sldId id="568" r:id="rId225"/>
    <p:sldId id="569" r:id="rId226"/>
    <p:sldId id="570" r:id="rId227"/>
    <p:sldId id="571" r:id="rId228"/>
    <p:sldId id="572" r:id="rId229"/>
    <p:sldId id="573" r:id="rId230"/>
    <p:sldId id="574" r:id="rId231"/>
    <p:sldId id="575" r:id="rId232"/>
    <p:sldId id="610" r:id="rId233"/>
  </p:sldIdLst>
  <p:sldSz cx="10693400" cy="7559675"/>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4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62" autoAdjust="0"/>
    <p:restoredTop sz="84441" autoAdjust="0"/>
  </p:normalViewPr>
  <p:slideViewPr>
    <p:cSldViewPr>
      <p:cViewPr varScale="1">
        <p:scale>
          <a:sx n="52" d="100"/>
          <a:sy n="52" d="100"/>
        </p:scale>
        <p:origin x="1536" y="276"/>
      </p:cViewPr>
      <p:guideLst>
        <p:guide orient="horz" pos="2189"/>
        <p:guide pos="2840"/>
      </p:guideLst>
    </p:cSldViewPr>
  </p:slideViewPr>
  <p:outlineViewPr>
    <p:cViewPr>
      <p:scale>
        <a:sx n="33" d="100"/>
        <a:sy n="33" d="100"/>
      </p:scale>
      <p:origin x="0" y="-9792"/>
    </p:cViewPr>
  </p:outlin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viewProps" Target="viewProps.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25F77836-1314-41FA-9299-542E2CFFEEF2}" type="datetimeFigureOut">
              <a:rPr lang="es-ES" smtClean="0"/>
              <a:t>14/10/2025</a:t>
            </a:fld>
            <a:endParaRPr lang="es-ES"/>
          </a:p>
        </p:txBody>
      </p:sp>
      <p:sp>
        <p:nvSpPr>
          <p:cNvPr id="4" name="Marcador de imagen de diapositiva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6B7DDF70-79A8-4239-9D66-261FBAB69E9E}" type="slidenum">
              <a:rPr lang="es-ES" smtClean="0"/>
              <a:t>‹Nº›</a:t>
            </a:fld>
            <a:endParaRPr lang="es-ES"/>
          </a:p>
        </p:txBody>
      </p:sp>
    </p:spTree>
    <p:extLst>
      <p:ext uri="{BB962C8B-B14F-4D97-AF65-F5344CB8AC3E}">
        <p14:creationId xmlns:p14="http://schemas.microsoft.com/office/powerpoint/2010/main" val="2652780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perso.wanadoo.es/pictob/micropic16f84_2.htm#registro_de_estado__03h_y_83h_"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perso.wanadoo.es/pictob/micropic16f84_2.htm"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Bienvenida</a:t>
            </a:r>
            <a:r>
              <a:rPr lang="es-ES" baseline="0" dirty="0"/>
              <a:t> a la cursada….</a:t>
            </a:r>
          </a:p>
          <a:p>
            <a:r>
              <a:rPr lang="es-ES" b="1" baseline="0" dirty="0">
                <a:solidFill>
                  <a:srgbClr val="FF0000"/>
                </a:solidFill>
              </a:rPr>
              <a:t>Horarios.</a:t>
            </a:r>
          </a:p>
          <a:p>
            <a:r>
              <a:rPr lang="es-ES" b="1" baseline="0" dirty="0">
                <a:solidFill>
                  <a:srgbClr val="FF0000"/>
                </a:solidFill>
              </a:rPr>
              <a:t>Formato de las clases expositivas.</a:t>
            </a:r>
          </a:p>
          <a:p>
            <a:r>
              <a:rPr lang="es-ES" b="1" baseline="0" dirty="0">
                <a:solidFill>
                  <a:srgbClr val="FF0000"/>
                </a:solidFill>
              </a:rPr>
              <a:t>Documentación residente en la web www.licrgarcia.webnode.com.ar</a:t>
            </a:r>
          </a:p>
          <a:p>
            <a:r>
              <a:rPr lang="es-ES" b="1" baseline="0" dirty="0">
                <a:solidFill>
                  <a:srgbClr val="FF0000"/>
                </a:solidFill>
              </a:rPr>
              <a:t>Guía de Lectura y TP de la guía.</a:t>
            </a:r>
          </a:p>
          <a:p>
            <a:r>
              <a:rPr lang="es-ES" b="1" baseline="0" dirty="0">
                <a:solidFill>
                  <a:srgbClr val="FF0000"/>
                </a:solidFill>
              </a:rPr>
              <a:t>Parciales y </a:t>
            </a:r>
            <a:r>
              <a:rPr lang="es-ES" b="1" baseline="0" dirty="0" err="1">
                <a:solidFill>
                  <a:srgbClr val="FF0000"/>
                </a:solidFill>
              </a:rPr>
              <a:t>Recuperatorios</a:t>
            </a:r>
            <a:r>
              <a:rPr lang="es-ES" b="1" baseline="0" dirty="0">
                <a:solidFill>
                  <a:srgbClr val="FF0000"/>
                </a:solidFill>
              </a:rPr>
              <a:t>.</a:t>
            </a:r>
          </a:p>
          <a:p>
            <a:r>
              <a:rPr lang="es-ES" b="1" baseline="0" dirty="0">
                <a:solidFill>
                  <a:srgbClr val="FF0000"/>
                </a:solidFill>
              </a:rPr>
              <a:t>Aprobación de la cursada</a:t>
            </a:r>
          </a:p>
          <a:p>
            <a:pPr marL="628650" lvl="1" indent="-171450">
              <a:buFont typeface="Arial" panose="020B0604020202020204" pitchFamily="34" charset="0"/>
              <a:buChar char="•"/>
            </a:pPr>
            <a:r>
              <a:rPr lang="es-ES" b="1" baseline="0" dirty="0">
                <a:solidFill>
                  <a:srgbClr val="FF0000"/>
                </a:solidFill>
              </a:rPr>
              <a:t>TP de la Guía de lectura.</a:t>
            </a:r>
          </a:p>
          <a:p>
            <a:pPr marL="628650" lvl="1" indent="-171450">
              <a:buFont typeface="Arial" panose="020B0604020202020204" pitchFamily="34" charset="0"/>
              <a:buChar char="•"/>
            </a:pPr>
            <a:r>
              <a:rPr lang="es-ES" b="1" baseline="0" dirty="0">
                <a:solidFill>
                  <a:srgbClr val="FF0000"/>
                </a:solidFill>
              </a:rPr>
              <a:t>TP de Programación.</a:t>
            </a:r>
          </a:p>
          <a:p>
            <a:pPr marL="628650" lvl="1" indent="-171450">
              <a:buFont typeface="Arial" panose="020B0604020202020204" pitchFamily="34" charset="0"/>
              <a:buChar char="•"/>
            </a:pPr>
            <a:endParaRPr lang="es-ES" baseline="0" dirty="0">
              <a:solidFill>
                <a:srgbClr val="FF0000"/>
              </a:solidFill>
            </a:endParaRPr>
          </a:p>
          <a:p>
            <a:endParaRPr lang="es-ES" baseline="0" dirty="0">
              <a:solidFill>
                <a:srgbClr val="FF0000"/>
              </a:solidFill>
            </a:endParaRPr>
          </a:p>
          <a:p>
            <a:r>
              <a:rPr lang="es-ES" baseline="0" dirty="0"/>
              <a:t> </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a:t>
            </a:fld>
            <a:endParaRPr lang="es-ES"/>
          </a:p>
        </p:txBody>
      </p:sp>
    </p:spTree>
    <p:extLst>
      <p:ext uri="{BB962C8B-B14F-4D97-AF65-F5344CB8AC3E}">
        <p14:creationId xmlns:p14="http://schemas.microsoft.com/office/powerpoint/2010/main" val="3245259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a:t>
            </a:fld>
            <a:endParaRPr lang="es-ES"/>
          </a:p>
        </p:txBody>
      </p:sp>
    </p:spTree>
    <p:extLst>
      <p:ext uri="{BB962C8B-B14F-4D97-AF65-F5344CB8AC3E}">
        <p14:creationId xmlns:p14="http://schemas.microsoft.com/office/powerpoint/2010/main" val="3348663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a:t>
            </a:fld>
            <a:endParaRPr lang="es-ES"/>
          </a:p>
        </p:txBody>
      </p:sp>
    </p:spTree>
    <p:extLst>
      <p:ext uri="{BB962C8B-B14F-4D97-AF65-F5344CB8AC3E}">
        <p14:creationId xmlns:p14="http://schemas.microsoft.com/office/powerpoint/2010/main" val="140835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a:t>
            </a:fld>
            <a:endParaRPr lang="es-ES"/>
          </a:p>
        </p:txBody>
      </p:sp>
    </p:spTree>
    <p:extLst>
      <p:ext uri="{BB962C8B-B14F-4D97-AF65-F5344CB8AC3E}">
        <p14:creationId xmlns:p14="http://schemas.microsoft.com/office/powerpoint/2010/main" val="347782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kern="1200" dirty="0">
                <a:solidFill>
                  <a:schemeClr val="tx1"/>
                </a:solidFill>
                <a:effectLst/>
                <a:latin typeface="+mn-lt"/>
                <a:ea typeface="+mn-ea"/>
                <a:cs typeface="+mn-cs"/>
              </a:rPr>
              <a:t> Los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tienen una gran variedad de aplicaciones, ya que simplemente variando la programación, se les puede indicar que realicen una función u otra, siendo las mas importantes: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Aplicaciones informáticas:</a:t>
            </a:r>
            <a:r>
              <a:rPr lang="es-AR" sz="1200" kern="1200" dirty="0">
                <a:solidFill>
                  <a:schemeClr val="tx1"/>
                </a:solidFill>
                <a:effectLst/>
                <a:latin typeface="+mn-lt"/>
                <a:ea typeface="+mn-ea"/>
                <a:cs typeface="+mn-cs"/>
              </a:rPr>
              <a:t> Los ordenadores personales son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en los que el usuario introduce el programa de aplicación que desea utilizar en cada momento. También se encuentran en casi todos los periféricos; ratón, teclado, disco duro, sistemas multimedia, tratamiento de imagen y sonido, impresoras, escáner,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Cálculo matemático:</a:t>
            </a:r>
            <a:r>
              <a:rPr lang="es-AR" sz="1200" kern="1200" dirty="0">
                <a:solidFill>
                  <a:schemeClr val="tx1"/>
                </a:solidFill>
                <a:effectLst/>
                <a:latin typeface="+mn-lt"/>
                <a:ea typeface="+mn-ea"/>
                <a:cs typeface="+mn-cs"/>
              </a:rPr>
              <a:t> Las modernas calculadoras y los grandes ordenadores de cálculo.</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Procesos industriales:</a:t>
            </a:r>
            <a:r>
              <a:rPr lang="es-AR" sz="1200" kern="1200" dirty="0">
                <a:solidFill>
                  <a:schemeClr val="tx1"/>
                </a:solidFill>
                <a:effectLst/>
                <a:latin typeface="+mn-lt"/>
                <a:ea typeface="+mn-ea"/>
                <a:cs typeface="+mn-cs"/>
              </a:rPr>
              <a:t> Los sistemas </a:t>
            </a:r>
            <a:r>
              <a:rPr lang="es-AR" sz="1200" kern="1200" dirty="0" err="1">
                <a:solidFill>
                  <a:schemeClr val="tx1"/>
                </a:solidFill>
                <a:effectLst/>
                <a:latin typeface="+mn-lt"/>
                <a:ea typeface="+mn-ea"/>
                <a:cs typeface="+mn-cs"/>
              </a:rPr>
              <a:t>microprogramables</a:t>
            </a:r>
            <a:r>
              <a:rPr lang="es-AR" sz="1200" kern="1200" dirty="0">
                <a:solidFill>
                  <a:schemeClr val="tx1"/>
                </a:solidFill>
                <a:effectLst/>
                <a:latin typeface="+mn-lt"/>
                <a:ea typeface="+mn-ea"/>
                <a:cs typeface="+mn-cs"/>
              </a:rPr>
              <a:t>, en </a:t>
            </a:r>
            <a:r>
              <a:rPr lang="es-AR" sz="1200" kern="1200" dirty="0" err="1">
                <a:solidFill>
                  <a:schemeClr val="tx1"/>
                </a:solidFill>
                <a:effectLst/>
                <a:latin typeface="+mn-lt"/>
                <a:ea typeface="+mn-ea"/>
                <a:cs typeface="+mn-cs"/>
              </a:rPr>
              <a:t>númerosas</a:t>
            </a:r>
            <a:r>
              <a:rPr lang="es-AR" sz="1200" kern="1200" dirty="0">
                <a:solidFill>
                  <a:schemeClr val="tx1"/>
                </a:solidFill>
                <a:effectLst/>
                <a:latin typeface="+mn-lt"/>
                <a:ea typeface="+mn-ea"/>
                <a:cs typeface="+mn-cs"/>
              </a:rPr>
              <a:t> ocasiones, se utilizan para controlar procesos industriales, como es el caso de los autómatas programables (PLC) utilizados para controlar robots, cadenas de montaje,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Electrodomésticos:</a:t>
            </a:r>
            <a:r>
              <a:rPr lang="es-AR" sz="1200" kern="1200" dirty="0">
                <a:solidFill>
                  <a:schemeClr val="tx1"/>
                </a:solidFill>
                <a:effectLst/>
                <a:latin typeface="+mn-lt"/>
                <a:ea typeface="+mn-ea"/>
                <a:cs typeface="+mn-cs"/>
              </a:rPr>
              <a:t> lavadoras, hornos, frigoríficos, lavavajillas, batidoras, televisores, vídeos, reproductores DVD, equipos de música, mandos a distancia, consolas,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Sistemas de comunicación:</a:t>
            </a:r>
            <a:r>
              <a:rPr lang="es-AR" sz="1200" kern="1200" dirty="0">
                <a:solidFill>
                  <a:schemeClr val="tx1"/>
                </a:solidFill>
                <a:effectLst/>
                <a:latin typeface="+mn-lt"/>
                <a:ea typeface="+mn-ea"/>
                <a:cs typeface="+mn-cs"/>
              </a:rPr>
              <a:t> redes locales, Internet, centralitas telefónicas, </a:t>
            </a:r>
            <a:r>
              <a:rPr lang="es-AR" sz="1200" kern="1200" dirty="0" err="1">
                <a:solidFill>
                  <a:schemeClr val="tx1"/>
                </a:solidFill>
                <a:effectLst/>
                <a:latin typeface="+mn-lt"/>
                <a:ea typeface="+mn-ea"/>
                <a:cs typeface="+mn-cs"/>
              </a:rPr>
              <a:t>télefonos</a:t>
            </a:r>
            <a:r>
              <a:rPr lang="es-AR" sz="1200" kern="1200" dirty="0">
                <a:solidFill>
                  <a:schemeClr val="tx1"/>
                </a:solidFill>
                <a:effectLst/>
                <a:latin typeface="+mn-lt"/>
                <a:ea typeface="+mn-ea"/>
                <a:cs typeface="+mn-cs"/>
              </a:rPr>
              <a:t> fijos, móviles, fax,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Automoción:</a:t>
            </a:r>
            <a:r>
              <a:rPr lang="es-AR" sz="1200" kern="1200" dirty="0">
                <a:solidFill>
                  <a:schemeClr val="tx1"/>
                </a:solidFill>
                <a:effectLst/>
                <a:latin typeface="+mn-lt"/>
                <a:ea typeface="+mn-ea"/>
                <a:cs typeface="+mn-cs"/>
              </a:rPr>
              <a:t> Control del motor (consumo, gases, </a:t>
            </a:r>
            <a:r>
              <a:rPr lang="es-AR" sz="1200" kern="1200" dirty="0" err="1">
                <a:solidFill>
                  <a:schemeClr val="tx1"/>
                </a:solidFill>
                <a:effectLst/>
                <a:latin typeface="+mn-lt"/>
                <a:ea typeface="+mn-ea"/>
                <a:cs typeface="+mn-cs"/>
              </a:rPr>
              <a:t>etc</a:t>
            </a:r>
            <a:r>
              <a:rPr lang="es-AR" sz="1200" kern="1200" dirty="0">
                <a:solidFill>
                  <a:schemeClr val="tx1"/>
                </a:solidFill>
                <a:effectLst/>
                <a:latin typeface="+mn-lt"/>
                <a:ea typeface="+mn-ea"/>
                <a:cs typeface="+mn-cs"/>
              </a:rPr>
              <a:t>), climatización, seguridad (Airbag), control de frenado (ABS, ARS), instrumentación, control de velocidad, sistemas de seguridad, antirrobo, mantenimiento, navegación por satélite, ordenador de a bordo, etc.</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Otros:</a:t>
            </a:r>
            <a:r>
              <a:rPr lang="es-AR" sz="1200" kern="1200" dirty="0">
                <a:solidFill>
                  <a:schemeClr val="tx1"/>
                </a:solidFill>
                <a:effectLst/>
                <a:latin typeface="+mn-lt"/>
                <a:ea typeface="+mn-ea"/>
                <a:cs typeface="+mn-cs"/>
              </a:rPr>
              <a:t> Instrumentación, </a:t>
            </a:r>
            <a:r>
              <a:rPr lang="es-AR" sz="1200" kern="1200" dirty="0" err="1">
                <a:solidFill>
                  <a:schemeClr val="tx1"/>
                </a:solidFill>
                <a:effectLst/>
                <a:latin typeface="+mn-lt"/>
                <a:ea typeface="+mn-ea"/>
                <a:cs typeface="+mn-cs"/>
              </a:rPr>
              <a:t>electromedicina</a:t>
            </a:r>
            <a:r>
              <a:rPr lang="es-AR" sz="1200" kern="1200" dirty="0">
                <a:solidFill>
                  <a:schemeClr val="tx1"/>
                </a:solidFill>
                <a:effectLst/>
                <a:latin typeface="+mn-lt"/>
                <a:ea typeface="+mn-ea"/>
                <a:cs typeface="+mn-cs"/>
              </a:rPr>
              <a:t>, tarjetas (</a:t>
            </a:r>
            <a:r>
              <a:rPr lang="es-AR" sz="1200" kern="1200" dirty="0" err="1">
                <a:solidFill>
                  <a:schemeClr val="tx1"/>
                </a:solidFill>
                <a:effectLst/>
                <a:latin typeface="+mn-lt"/>
                <a:ea typeface="+mn-ea"/>
                <a:cs typeface="+mn-cs"/>
              </a:rPr>
              <a:t>smartcard</a:t>
            </a:r>
            <a:r>
              <a:rPr lang="es-AR" sz="1200" kern="1200" dirty="0">
                <a:solidFill>
                  <a:schemeClr val="tx1"/>
                </a:solidFill>
                <a:effectLst/>
                <a:latin typeface="+mn-lt"/>
                <a:ea typeface="+mn-ea"/>
                <a:cs typeface="+mn-cs"/>
              </a:rPr>
              <a:t>), sistemas de navegación, máquinas expendedoras, juguetería, edificios inteligentes y domótica, ascensores, calefacción, aire acondicionado, alarmas de incendio, sistemas de supervisión, vigilancia y alarmas, robótica, visión artificial, aplicaciones militares y balística, etc.</a:t>
            </a:r>
            <a:endParaRPr lang="es-ES" sz="12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7</a:t>
            </a:fld>
            <a:endParaRPr lang="es-ES"/>
          </a:p>
        </p:txBody>
      </p:sp>
    </p:spTree>
    <p:extLst>
      <p:ext uri="{BB962C8B-B14F-4D97-AF65-F5344CB8AC3E}">
        <p14:creationId xmlns:p14="http://schemas.microsoft.com/office/powerpoint/2010/main" val="367474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kern="1200" dirty="0">
                <a:solidFill>
                  <a:schemeClr val="tx1"/>
                </a:solidFill>
                <a:effectLst/>
                <a:latin typeface="+mn-lt"/>
                <a:ea typeface="+mn-ea"/>
                <a:cs typeface="+mn-cs"/>
              </a:rPr>
              <a:t>Un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esta formado por los siguientes componentes: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Hardware:</a:t>
            </a:r>
            <a:r>
              <a:rPr lang="es-AR" sz="1200" kern="1200" dirty="0">
                <a:solidFill>
                  <a:schemeClr val="tx1"/>
                </a:solidFill>
                <a:effectLst/>
                <a:latin typeface="+mn-lt"/>
                <a:ea typeface="+mn-ea"/>
                <a:cs typeface="+mn-cs"/>
              </a:rPr>
              <a:t> Es el conjunto de circuitos electrónicos que forman 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o, dicho de otra forma, </a:t>
            </a:r>
            <a:r>
              <a:rPr lang="es-AR" sz="1200" b="1" kern="1200" dirty="0">
                <a:solidFill>
                  <a:schemeClr val="tx1"/>
                </a:solidFill>
                <a:effectLst/>
                <a:latin typeface="+mn-lt"/>
                <a:ea typeface="+mn-ea"/>
                <a:cs typeface="+mn-cs"/>
              </a:rPr>
              <a:t>es la parte física del sistema</a:t>
            </a:r>
            <a:r>
              <a:rPr lang="es-AR" sz="1200" kern="1200" dirty="0">
                <a:solidFill>
                  <a:schemeClr val="tx1"/>
                </a:solidFill>
                <a:effectLst/>
                <a:latin typeface="+mn-lt"/>
                <a:ea typeface="+mn-ea"/>
                <a:cs typeface="+mn-cs"/>
              </a:rPr>
              <a:t>.</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Software:</a:t>
            </a:r>
            <a:r>
              <a:rPr lang="es-AR" sz="1200" kern="1200" dirty="0">
                <a:solidFill>
                  <a:schemeClr val="tx1"/>
                </a:solidFill>
                <a:effectLst/>
                <a:latin typeface="+mn-lt"/>
                <a:ea typeface="+mn-ea"/>
                <a:cs typeface="+mn-cs"/>
              </a:rPr>
              <a:t> Es el </a:t>
            </a:r>
            <a:r>
              <a:rPr lang="es-AR" sz="1200" b="1" kern="1200" dirty="0">
                <a:solidFill>
                  <a:schemeClr val="tx1"/>
                </a:solidFill>
                <a:effectLst/>
                <a:latin typeface="+mn-lt"/>
                <a:ea typeface="+mn-ea"/>
                <a:cs typeface="+mn-cs"/>
              </a:rPr>
              <a:t>conjunto de programas y aplicaciones</a:t>
            </a:r>
            <a:r>
              <a:rPr lang="es-AR" sz="1200" kern="1200" dirty="0">
                <a:solidFill>
                  <a:schemeClr val="tx1"/>
                </a:solidFill>
                <a:effectLst/>
                <a:latin typeface="+mn-lt"/>
                <a:ea typeface="+mn-ea"/>
                <a:cs typeface="+mn-cs"/>
              </a:rPr>
              <a:t> formado por instrucciones y rutinas que se utilizan para programar y coordinar al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También se denomina software al conjunto de lenguajes empleados para elaborar dichos programas.</a:t>
            </a:r>
            <a:endParaRPr lang="es-ES" sz="12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Firmware:</a:t>
            </a:r>
            <a:r>
              <a:rPr lang="es-AR" sz="1200" kern="1200" dirty="0">
                <a:solidFill>
                  <a:schemeClr val="tx1"/>
                </a:solidFill>
                <a:effectLst/>
                <a:latin typeface="+mn-lt"/>
                <a:ea typeface="+mn-ea"/>
                <a:cs typeface="+mn-cs"/>
              </a:rPr>
              <a:t> Es un </a:t>
            </a:r>
            <a:r>
              <a:rPr lang="es-AR" sz="1200" b="1" kern="1200" dirty="0">
                <a:solidFill>
                  <a:schemeClr val="tx1"/>
                </a:solidFill>
                <a:effectLst/>
                <a:latin typeface="+mn-lt"/>
                <a:ea typeface="+mn-ea"/>
                <a:cs typeface="+mn-cs"/>
              </a:rPr>
              <a:t>"software" grabado en la estructura electrónica</a:t>
            </a:r>
            <a:r>
              <a:rPr lang="es-AR" sz="1200" kern="1200" dirty="0">
                <a:solidFill>
                  <a:schemeClr val="tx1"/>
                </a:solidFill>
                <a:effectLst/>
                <a:latin typeface="+mn-lt"/>
                <a:ea typeface="+mn-ea"/>
                <a:cs typeface="+mn-cs"/>
              </a:rPr>
              <a:t>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y que el usuario en principio no puede alterar. </a:t>
            </a:r>
            <a:r>
              <a:rPr lang="es-AR" sz="1200" b="1" kern="1200" dirty="0">
                <a:solidFill>
                  <a:schemeClr val="tx1"/>
                </a:solidFill>
                <a:effectLst/>
                <a:latin typeface="+mn-lt"/>
                <a:ea typeface="+mn-ea"/>
                <a:cs typeface="+mn-cs"/>
              </a:rPr>
              <a:t>En los ordenadores personales, la BIOS (Basic Input/Output </a:t>
            </a:r>
            <a:r>
              <a:rPr lang="es-AR" sz="1200" b="1" kern="1200" dirty="0" err="1">
                <a:solidFill>
                  <a:schemeClr val="tx1"/>
                </a:solidFill>
                <a:effectLst/>
                <a:latin typeface="+mn-lt"/>
                <a:ea typeface="+mn-ea"/>
                <a:cs typeface="+mn-cs"/>
              </a:rPr>
              <a:t>System</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utiliza firmware y contiene un grupo de programas que sirven de intermediario entre el software y hardware.</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pP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8</a:t>
            </a:fld>
            <a:endParaRPr lang="es-ES"/>
          </a:p>
        </p:txBody>
      </p:sp>
    </p:spTree>
    <p:extLst>
      <p:ext uri="{BB962C8B-B14F-4D97-AF65-F5344CB8AC3E}">
        <p14:creationId xmlns:p14="http://schemas.microsoft.com/office/powerpoint/2010/main" val="2922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200" kern="1200" dirty="0">
                <a:solidFill>
                  <a:schemeClr val="tx1"/>
                </a:solidFill>
                <a:effectLst/>
                <a:latin typeface="+mn-lt"/>
                <a:ea typeface="+mn-ea"/>
                <a:cs typeface="+mn-cs"/>
              </a:rPr>
              <a:t>Los dos primeros, </a:t>
            </a:r>
            <a:r>
              <a:rPr lang="es-AR" sz="1200" b="1" kern="1200" dirty="0">
                <a:solidFill>
                  <a:schemeClr val="tx1"/>
                </a:solidFill>
                <a:effectLst/>
                <a:latin typeface="+mn-lt"/>
                <a:ea typeface="+mn-ea"/>
                <a:cs typeface="+mn-cs"/>
              </a:rPr>
              <a:t>microprocesadores</a:t>
            </a:r>
            <a:r>
              <a:rPr lang="es-AR" sz="1200" kern="1200" dirty="0">
                <a:solidFill>
                  <a:schemeClr val="tx1"/>
                </a:solidFill>
                <a:effectLst/>
                <a:latin typeface="+mn-lt"/>
                <a:ea typeface="+mn-ea"/>
                <a:cs typeface="+mn-cs"/>
              </a:rPr>
              <a:t> y </a:t>
            </a:r>
            <a:r>
              <a:rPr lang="es-AR" sz="1200" b="1" kern="1200" dirty="0">
                <a:solidFill>
                  <a:schemeClr val="tx1"/>
                </a:solidFill>
                <a:effectLst/>
                <a:latin typeface="+mn-lt"/>
                <a:ea typeface="+mn-ea"/>
                <a:cs typeface="+mn-cs"/>
              </a:rPr>
              <a:t>microcontroladores</a:t>
            </a:r>
            <a:r>
              <a:rPr lang="es-AR" sz="1200" kern="1200" dirty="0">
                <a:solidFill>
                  <a:schemeClr val="tx1"/>
                </a:solidFill>
                <a:effectLst/>
                <a:latin typeface="+mn-lt"/>
                <a:ea typeface="+mn-ea"/>
                <a:cs typeface="+mn-cs"/>
              </a:rPr>
              <a:t> podemos considerarlos como </a:t>
            </a:r>
            <a:r>
              <a:rPr lang="es-AR" sz="1200" b="1" kern="1200" dirty="0">
                <a:solidFill>
                  <a:schemeClr val="tx1"/>
                </a:solidFill>
                <a:effectLst/>
                <a:latin typeface="+mn-lt"/>
                <a:ea typeface="+mn-ea"/>
                <a:cs typeface="+mn-cs"/>
              </a:rPr>
              <a:t>sistemas </a:t>
            </a:r>
            <a:r>
              <a:rPr lang="es-AR" sz="1200" b="1" kern="1200" dirty="0" err="1">
                <a:solidFill>
                  <a:schemeClr val="tx1"/>
                </a:solidFill>
                <a:effectLst/>
                <a:latin typeface="+mn-lt"/>
                <a:ea typeface="+mn-ea"/>
                <a:cs typeface="+mn-cs"/>
              </a:rPr>
              <a:t>microprogramables</a:t>
            </a:r>
            <a:r>
              <a:rPr lang="es-AR" sz="1200" b="1" kern="1200" dirty="0">
                <a:solidFill>
                  <a:schemeClr val="tx1"/>
                </a:solidFill>
                <a:effectLst/>
                <a:latin typeface="+mn-lt"/>
                <a:ea typeface="+mn-ea"/>
                <a:cs typeface="+mn-cs"/>
              </a:rPr>
              <a:t> basados en CPU</a:t>
            </a:r>
            <a:endParaRPr lang="es-ES" sz="1200" kern="1200" dirty="0">
              <a:solidFill>
                <a:schemeClr val="tx1"/>
              </a:solidFill>
              <a:effectLst/>
              <a:latin typeface="+mn-lt"/>
              <a:ea typeface="+mn-ea"/>
              <a:cs typeface="+mn-cs"/>
            </a:endParaRPr>
          </a:p>
          <a:p>
            <a:endParaRPr lang="es-ES" dirty="0"/>
          </a:p>
          <a:p>
            <a:r>
              <a:rPr lang="es-AR" sz="1200" b="1" kern="1200" dirty="0" err="1">
                <a:solidFill>
                  <a:schemeClr val="tx1"/>
                </a:solidFill>
                <a:effectLst/>
                <a:latin typeface="+mn-lt"/>
                <a:ea typeface="+mn-ea"/>
                <a:cs typeface="+mn-cs"/>
              </a:rPr>
              <a:t>PLD´s</a:t>
            </a:r>
            <a:endParaRPr lang="es-AR"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AR" sz="1200" b="1" kern="1200" dirty="0">
                <a:solidFill>
                  <a:schemeClr val="tx1"/>
                </a:solidFill>
                <a:effectLst/>
                <a:latin typeface="+mn-lt"/>
                <a:ea typeface="+mn-ea"/>
                <a:cs typeface="+mn-cs"/>
              </a:rPr>
              <a:t>ASIC (</a:t>
            </a:r>
            <a:r>
              <a:rPr lang="es-AR" sz="1200" b="1" kern="1200" dirty="0" err="1">
                <a:solidFill>
                  <a:schemeClr val="tx1"/>
                </a:solidFill>
                <a:effectLst/>
                <a:latin typeface="+mn-lt"/>
                <a:ea typeface="+mn-ea"/>
                <a:cs typeface="+mn-cs"/>
              </a:rPr>
              <a:t>Application</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Specific</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Integrated</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Circuit</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Son </a:t>
            </a:r>
            <a:r>
              <a:rPr lang="es-AR" sz="1200" kern="1200" dirty="0" err="1">
                <a:solidFill>
                  <a:schemeClr val="tx1"/>
                </a:solidFill>
                <a:effectLst/>
                <a:latin typeface="+mn-lt"/>
                <a:ea typeface="+mn-ea"/>
                <a:cs typeface="+mn-cs"/>
              </a:rPr>
              <a:t>c.i.</a:t>
            </a:r>
            <a:r>
              <a:rPr lang="es-AR" sz="1200" kern="1200" dirty="0">
                <a:solidFill>
                  <a:schemeClr val="tx1"/>
                </a:solidFill>
                <a:effectLst/>
                <a:latin typeface="+mn-lt"/>
                <a:ea typeface="+mn-ea"/>
                <a:cs typeface="+mn-cs"/>
              </a:rPr>
              <a:t> específicos para una aplicación y se utilizan en realizaciones complejas que exigirían un número elevado de circuitos integrados de función fija. Están diseñados a medida y sólo sirven para una aplicación. Por regla general, los producen los fabricantes de </a:t>
            </a:r>
            <a:r>
              <a:rPr lang="es-AR" sz="1200" kern="1200" dirty="0" err="1">
                <a:solidFill>
                  <a:schemeClr val="tx1"/>
                </a:solidFill>
                <a:effectLst/>
                <a:latin typeface="+mn-lt"/>
                <a:ea typeface="+mn-ea"/>
                <a:cs typeface="+mn-cs"/>
              </a:rPr>
              <a:t>c.i.</a:t>
            </a:r>
            <a:r>
              <a:rPr lang="es-AR" sz="1200" kern="1200" dirty="0">
                <a:solidFill>
                  <a:schemeClr val="tx1"/>
                </a:solidFill>
                <a:effectLst/>
                <a:latin typeface="+mn-lt"/>
                <a:ea typeface="+mn-ea"/>
                <a:cs typeface="+mn-cs"/>
              </a:rPr>
              <a:t> con las especificaciones proporcionadas por el cliente.</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 </a:t>
            </a:r>
          </a:p>
          <a:p>
            <a:r>
              <a:rPr lang="es-AR" sz="1200" kern="1200" dirty="0">
                <a:solidFill>
                  <a:schemeClr val="tx1"/>
                </a:solidFill>
                <a:effectLst/>
                <a:latin typeface="+mn-lt"/>
                <a:ea typeface="+mn-ea"/>
                <a:cs typeface="+mn-cs"/>
              </a:rPr>
              <a:t>    </a:t>
            </a:r>
            <a:r>
              <a:rPr lang="es-AR" sz="1200" b="1" kern="1200" dirty="0">
                <a:solidFill>
                  <a:schemeClr val="tx1"/>
                </a:solidFill>
                <a:effectLst/>
                <a:latin typeface="+mn-lt"/>
                <a:ea typeface="+mn-ea"/>
                <a:cs typeface="+mn-cs"/>
              </a:rPr>
              <a:t>PLD (</a:t>
            </a:r>
            <a:r>
              <a:rPr lang="es-AR" sz="1200" b="1" kern="1200" dirty="0" err="1">
                <a:solidFill>
                  <a:schemeClr val="tx1"/>
                </a:solidFill>
                <a:effectLst/>
                <a:latin typeface="+mn-lt"/>
                <a:ea typeface="+mn-ea"/>
                <a:cs typeface="+mn-cs"/>
              </a:rPr>
              <a:t>Programmable</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Logic</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Device</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Este es un término muy amplio pero lo limitaremos para definir a los circuitos integrados cuya funcionalidad puede ser programada por el usuario pero que internamente no tienen la estructura de microprocesadores y microcontroladores pues no están basados en una CPU que lea un programa de una memoria.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r>
              <a:rPr lang="es-ES" sz="1200" kern="1200" dirty="0">
                <a:solidFill>
                  <a:schemeClr val="tx1"/>
                </a:solidFill>
                <a:effectLst/>
                <a:latin typeface="+mn-lt"/>
                <a:ea typeface="+mn-ea"/>
                <a:cs typeface="+mn-cs"/>
              </a:rPr>
              <a:t> </a:t>
            </a: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10</a:t>
            </a:fld>
            <a:endParaRPr lang="es-ES"/>
          </a:p>
        </p:txBody>
      </p:sp>
    </p:spTree>
    <p:extLst>
      <p:ext uri="{BB962C8B-B14F-4D97-AF65-F5344CB8AC3E}">
        <p14:creationId xmlns:p14="http://schemas.microsoft.com/office/powerpoint/2010/main" val="794697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b="1" kern="1200" dirty="0">
                <a:solidFill>
                  <a:schemeClr val="tx1"/>
                </a:solidFill>
                <a:effectLst/>
                <a:latin typeface="+mn-lt"/>
                <a:ea typeface="+mn-ea"/>
                <a:cs typeface="+mn-cs"/>
              </a:rPr>
              <a:t>Reloj</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El </a:t>
            </a:r>
            <a:r>
              <a:rPr lang="es-AR" sz="1200" b="1" kern="1200" dirty="0">
                <a:solidFill>
                  <a:schemeClr val="tx1"/>
                </a:solidFill>
                <a:effectLst/>
                <a:latin typeface="+mn-lt"/>
                <a:ea typeface="+mn-ea"/>
                <a:cs typeface="+mn-cs"/>
              </a:rPr>
              <a:t>reloj:</a:t>
            </a:r>
            <a:r>
              <a:rPr lang="es-AR" sz="1200" kern="1200" dirty="0">
                <a:solidFill>
                  <a:schemeClr val="tx1"/>
                </a:solidFill>
                <a:effectLst/>
                <a:latin typeface="+mn-lt"/>
                <a:ea typeface="+mn-ea"/>
                <a:cs typeface="+mn-cs"/>
              </a:rPr>
              <a:t> es un generador de ondas cuadradas periódicas, utilizado para que todo el sistema esté sincronizado.</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Unidad Central de Proceso o CPU</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a:t>
            </a:r>
            <a:r>
              <a:rPr lang="es-AR" sz="1200" b="1" kern="1200" dirty="0">
                <a:solidFill>
                  <a:schemeClr val="tx1"/>
                </a:solidFill>
                <a:effectLst/>
                <a:latin typeface="+mn-lt"/>
                <a:ea typeface="+mn-ea"/>
                <a:cs typeface="+mn-cs"/>
              </a:rPr>
              <a:t>Unidad Central de Proceso o CPU (Central </a:t>
            </a:r>
            <a:r>
              <a:rPr lang="es-AR" sz="1200" b="1" kern="1200" dirty="0" err="1">
                <a:solidFill>
                  <a:schemeClr val="tx1"/>
                </a:solidFill>
                <a:effectLst/>
                <a:latin typeface="+mn-lt"/>
                <a:ea typeface="+mn-ea"/>
                <a:cs typeface="+mn-cs"/>
              </a:rPr>
              <a:t>Process</a:t>
            </a:r>
            <a:r>
              <a:rPr lang="es-AR" sz="1200" b="1" kern="1200" dirty="0">
                <a:solidFill>
                  <a:schemeClr val="tx1"/>
                </a:solidFill>
                <a:effectLst/>
                <a:latin typeface="+mn-lt"/>
                <a:ea typeface="+mn-ea"/>
                <a:cs typeface="+mn-cs"/>
              </a:rPr>
              <a:t> </a:t>
            </a:r>
            <a:r>
              <a:rPr lang="es-AR" sz="1200" b="1" kern="1200" dirty="0" err="1">
                <a:solidFill>
                  <a:schemeClr val="tx1"/>
                </a:solidFill>
                <a:effectLst/>
                <a:latin typeface="+mn-lt"/>
                <a:ea typeface="+mn-ea"/>
                <a:cs typeface="+mn-cs"/>
              </a:rPr>
              <a:t>Unit</a:t>
            </a:r>
            <a:r>
              <a:rPr lang="es-AR" sz="1200" b="1" kern="1200" dirty="0">
                <a:solidFill>
                  <a:schemeClr val="tx1"/>
                </a:solidFill>
                <a:effectLst/>
                <a:latin typeface="+mn-lt"/>
                <a:ea typeface="+mn-ea"/>
                <a:cs typeface="+mn-cs"/>
              </a:rPr>
              <a:t>)</a:t>
            </a:r>
            <a:r>
              <a:rPr lang="es-AR" sz="1200" kern="1200" dirty="0">
                <a:solidFill>
                  <a:schemeClr val="tx1"/>
                </a:solidFill>
                <a:effectLst/>
                <a:latin typeface="+mn-lt"/>
                <a:ea typeface="+mn-ea"/>
                <a:cs typeface="+mn-cs"/>
              </a:rPr>
              <a:t> es la parte mas importante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 donde se realiza la </a:t>
            </a:r>
            <a:r>
              <a:rPr lang="es-AR" sz="1200" b="1" kern="1200" dirty="0">
                <a:solidFill>
                  <a:schemeClr val="tx1"/>
                </a:solidFill>
                <a:effectLst/>
                <a:latin typeface="+mn-lt"/>
                <a:ea typeface="+mn-ea"/>
                <a:cs typeface="+mn-cs"/>
              </a:rPr>
              <a:t>interpretación y ejecución de las instrucciones</a:t>
            </a:r>
            <a:r>
              <a:rPr lang="es-AR" sz="1200" kern="1200" dirty="0">
                <a:solidFill>
                  <a:schemeClr val="tx1"/>
                </a:solidFill>
                <a:effectLst/>
                <a:latin typeface="+mn-lt"/>
                <a:ea typeface="+mn-ea"/>
                <a:cs typeface="+mn-cs"/>
              </a:rPr>
              <a:t>, se </a:t>
            </a:r>
            <a:r>
              <a:rPr lang="es-AR" sz="1200" b="1" kern="1200" dirty="0">
                <a:solidFill>
                  <a:schemeClr val="tx1"/>
                </a:solidFill>
                <a:effectLst/>
                <a:latin typeface="+mn-lt"/>
                <a:ea typeface="+mn-ea"/>
                <a:cs typeface="+mn-cs"/>
              </a:rPr>
              <a:t>generan todas las órdenes de control</a:t>
            </a:r>
            <a:r>
              <a:rPr lang="es-AR" sz="1200" kern="1200" dirty="0">
                <a:solidFill>
                  <a:schemeClr val="tx1"/>
                </a:solidFill>
                <a:effectLst/>
                <a:latin typeface="+mn-lt"/>
                <a:ea typeface="+mn-ea"/>
                <a:cs typeface="+mn-cs"/>
              </a:rPr>
              <a:t> para gobernar todo el sistema y </a:t>
            </a:r>
            <a:r>
              <a:rPr lang="es-AR" sz="1200" b="1" kern="1200" dirty="0">
                <a:solidFill>
                  <a:schemeClr val="tx1"/>
                </a:solidFill>
                <a:effectLst/>
                <a:latin typeface="+mn-lt"/>
                <a:ea typeface="+mn-ea"/>
                <a:cs typeface="+mn-cs"/>
              </a:rPr>
              <a:t>se realizan las operaciones aritméticas y lógicas</a:t>
            </a:r>
            <a:r>
              <a:rPr lang="es-AR" sz="1200" kern="1200" dirty="0">
                <a:solidFill>
                  <a:schemeClr val="tx1"/>
                </a:solidFill>
                <a:effectLst/>
                <a:latin typeface="+mn-lt"/>
                <a:ea typeface="+mn-ea"/>
                <a:cs typeface="+mn-cs"/>
              </a:rPr>
              <a:t>. Todo ello se realiza con los datos procedentes de la Memoria Interna o de registros internos. También, es la encargada de realizar todas las transferencias de datos hacia la memoria o desde esta.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CPU está formada por:</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Unidad Aritmética-Lógica</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Acumuladores y Registros</a:t>
            </a:r>
            <a:endParaRPr lang="es-ES" sz="1200" kern="1200" dirty="0">
              <a:solidFill>
                <a:schemeClr val="tx1"/>
              </a:solidFill>
              <a:effectLst/>
              <a:latin typeface="+mn-lt"/>
              <a:ea typeface="+mn-ea"/>
              <a:cs typeface="+mn-cs"/>
            </a:endParaRPr>
          </a:p>
          <a:p>
            <a:pPr marL="628650" lvl="1" indent="-171450">
              <a:buFont typeface="Arial" panose="020B0604020202020204" pitchFamily="34" charset="0"/>
              <a:buChar char="•"/>
            </a:pPr>
            <a:r>
              <a:rPr lang="es-AR" sz="1200" b="1" kern="1200" dirty="0">
                <a:solidFill>
                  <a:schemeClr val="tx1"/>
                </a:solidFill>
                <a:effectLst/>
                <a:latin typeface="+mn-lt"/>
                <a:ea typeface="+mn-ea"/>
                <a:cs typeface="+mn-cs"/>
              </a:rPr>
              <a:t>Unidad de Control</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Todas sus funciones se realizan en sincronía con la señal del reloj, por ello, la frecuencia del reloj define la velocidad del sistema. Su estructura interna es compleja y si se presenta todo integrado en un único circuito integrado es denominada </a:t>
            </a:r>
            <a:r>
              <a:rPr lang="es-AR" sz="1200" b="1" kern="1200" dirty="0">
                <a:solidFill>
                  <a:schemeClr val="tx1"/>
                </a:solidFill>
                <a:effectLst/>
                <a:latin typeface="+mn-lt"/>
                <a:ea typeface="+mn-ea"/>
                <a:cs typeface="+mn-cs"/>
              </a:rPr>
              <a:t>microprocesador</a:t>
            </a:r>
            <a:r>
              <a:rPr lang="es-AR" sz="1200" kern="1200" dirty="0">
                <a:solidFill>
                  <a:schemeClr val="tx1"/>
                </a:solidFill>
                <a:effectLst/>
                <a:latin typeface="+mn-lt"/>
                <a:ea typeface="+mn-ea"/>
                <a:cs typeface="+mn-cs"/>
              </a:rPr>
              <a:t>. El uso de dichos microprocesadores esta muy extendido y son ampliamente utilizados en sistemas tales como ordenadores personales (</a:t>
            </a:r>
            <a:r>
              <a:rPr lang="es-AR" sz="1200" kern="1200" dirty="0" err="1">
                <a:solidFill>
                  <a:schemeClr val="tx1"/>
                </a:solidFill>
                <a:effectLst/>
                <a:latin typeface="+mn-lt"/>
                <a:ea typeface="+mn-ea"/>
                <a:cs typeface="+mn-cs"/>
              </a:rPr>
              <a:t>PCs</a:t>
            </a:r>
            <a:r>
              <a:rPr lang="es-AR" sz="1200" kern="1200" dirty="0">
                <a:solidFill>
                  <a:schemeClr val="tx1"/>
                </a:solidFill>
                <a:effectLst/>
                <a:latin typeface="+mn-lt"/>
                <a:ea typeface="+mn-ea"/>
                <a:cs typeface="+mn-cs"/>
              </a:rPr>
              <a:t>), controles industriales, grandes ordenadores, etc.</a:t>
            </a:r>
            <a:endParaRPr lang="es-ES" sz="1200" kern="1200" dirty="0">
              <a:solidFill>
                <a:schemeClr val="tx1"/>
              </a:solidFill>
              <a:effectLst/>
              <a:latin typeface="+mn-lt"/>
              <a:ea typeface="+mn-ea"/>
              <a:cs typeface="+mn-cs"/>
            </a:endParaRPr>
          </a:p>
          <a:p>
            <a:r>
              <a:rPr lang="es-AR" sz="1200" i="1" kern="1200" dirty="0">
                <a:solidFill>
                  <a:schemeClr val="tx1"/>
                </a:solidFill>
                <a:effectLst/>
                <a:latin typeface="+mn-lt"/>
                <a:ea typeface="+mn-ea"/>
                <a:cs typeface="+mn-cs"/>
              </a:rPr>
              <a:t>Microprocesador para PC</a:t>
            </a:r>
            <a:br>
              <a:rPr lang="es-AR" sz="1200" i="1" kern="1200" dirty="0">
                <a:solidFill>
                  <a:schemeClr val="tx1"/>
                </a:solidFill>
                <a:effectLst/>
                <a:latin typeface="+mn-lt"/>
                <a:ea typeface="+mn-ea"/>
                <a:cs typeface="+mn-cs"/>
              </a:rPr>
            </a:br>
            <a:r>
              <a:rPr lang="es-AR" sz="1200" i="1" kern="1200" dirty="0">
                <a:solidFill>
                  <a:schemeClr val="tx1"/>
                </a:solidFill>
                <a:effectLst/>
                <a:latin typeface="+mn-lt"/>
                <a:ea typeface="+mn-ea"/>
                <a:cs typeface="+mn-cs"/>
              </a:rPr>
              <a:t>Pentium 4</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2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Memoria Central o Interna</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En los dispositivos que forman la </a:t>
            </a:r>
            <a:r>
              <a:rPr lang="es-AR" sz="1200" b="1" kern="1200" dirty="0">
                <a:solidFill>
                  <a:schemeClr val="tx1"/>
                </a:solidFill>
                <a:effectLst/>
                <a:latin typeface="+mn-lt"/>
                <a:ea typeface="+mn-ea"/>
                <a:cs typeface="+mn-cs"/>
              </a:rPr>
              <a:t>Memoria Central o Interna</a:t>
            </a:r>
            <a:r>
              <a:rPr lang="es-AR" sz="1200" kern="1200" dirty="0">
                <a:solidFill>
                  <a:schemeClr val="tx1"/>
                </a:solidFill>
                <a:effectLst/>
                <a:latin typeface="+mn-lt"/>
                <a:ea typeface="+mn-ea"/>
                <a:cs typeface="+mn-cs"/>
              </a:rPr>
              <a:t> se encuentran los programas que debe utilizar 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los datos necesarios y los resultados que se generan. Existe otro tipo de memorias con las cuales no se deben confundir, denominadas </a:t>
            </a:r>
            <a:r>
              <a:rPr lang="es-AR" sz="1200" b="1" kern="1200" dirty="0">
                <a:solidFill>
                  <a:schemeClr val="tx1"/>
                </a:solidFill>
                <a:effectLst/>
                <a:latin typeface="+mn-lt"/>
                <a:ea typeface="+mn-ea"/>
                <a:cs typeface="+mn-cs"/>
              </a:rPr>
              <a:t>memorias de masa</a:t>
            </a:r>
            <a:r>
              <a:rPr lang="es-AR" sz="1200" kern="1200" dirty="0">
                <a:solidFill>
                  <a:schemeClr val="tx1"/>
                </a:solidFill>
                <a:effectLst/>
                <a:latin typeface="+mn-lt"/>
                <a:ea typeface="+mn-ea"/>
                <a:cs typeface="+mn-cs"/>
              </a:rPr>
              <a:t>, que forman parte de los periféricos y se encuentran fuera del sistema, como por ejemplo los discos duros.</a:t>
            </a:r>
            <a:endParaRPr lang="es-ES" sz="1200" kern="1200" dirty="0">
              <a:solidFill>
                <a:schemeClr val="tx1"/>
              </a:solidFill>
              <a:effectLst/>
              <a:latin typeface="+mn-lt"/>
              <a:ea typeface="+mn-ea"/>
              <a:cs typeface="+mn-cs"/>
            </a:endParaRPr>
          </a:p>
          <a:p>
            <a:r>
              <a:rPr lang="es-AR" sz="1200" i="1" kern="1200" dirty="0">
                <a:solidFill>
                  <a:schemeClr val="tx1"/>
                </a:solidFill>
                <a:effectLst/>
                <a:latin typeface="+mn-lt"/>
                <a:ea typeface="+mn-ea"/>
                <a:cs typeface="+mn-cs"/>
              </a:rPr>
              <a:t>Módulos de memoria</a:t>
            </a:r>
            <a:br>
              <a:rPr lang="es-AR" sz="1200" i="1" kern="1200" dirty="0">
                <a:solidFill>
                  <a:schemeClr val="tx1"/>
                </a:solidFill>
                <a:effectLst/>
                <a:latin typeface="+mn-lt"/>
                <a:ea typeface="+mn-ea"/>
                <a:cs typeface="+mn-cs"/>
              </a:rPr>
            </a:br>
            <a:r>
              <a:rPr lang="es-AR" sz="1200" i="1" kern="1200" dirty="0">
                <a:solidFill>
                  <a:schemeClr val="tx1"/>
                </a:solidFill>
                <a:effectLst/>
                <a:latin typeface="+mn-lt"/>
                <a:ea typeface="+mn-ea"/>
                <a:cs typeface="+mn-cs"/>
              </a:rPr>
              <a:t>RAM de un PC</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Unidad de entrada/salida</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La </a:t>
            </a:r>
            <a:r>
              <a:rPr lang="es-AR" sz="1200" b="1" kern="1200" dirty="0">
                <a:solidFill>
                  <a:schemeClr val="tx1"/>
                </a:solidFill>
                <a:effectLst/>
                <a:latin typeface="+mn-lt"/>
                <a:ea typeface="+mn-ea"/>
                <a:cs typeface="+mn-cs"/>
              </a:rPr>
              <a:t>Unidad de entrada/salida (interface)</a:t>
            </a:r>
            <a:r>
              <a:rPr lang="es-AR" sz="1200" kern="1200" dirty="0">
                <a:solidFill>
                  <a:schemeClr val="tx1"/>
                </a:solidFill>
                <a:effectLst/>
                <a:latin typeface="+mn-lt"/>
                <a:ea typeface="+mn-ea"/>
                <a:cs typeface="+mn-cs"/>
              </a:rPr>
              <a:t> permite la comunicación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con el exterior. Su función fundamental es la de adaptar las diferentes velocidades y códigos utilizados por los elementos externos del sistema y el interior.</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2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Periféricos</a:t>
            </a:r>
            <a:endParaRPr lang="es-ES" sz="12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Estrictamente hablando podríamos decir que los </a:t>
            </a:r>
            <a:r>
              <a:rPr lang="es-AR" sz="1200" b="1" kern="1200" dirty="0">
                <a:solidFill>
                  <a:schemeClr val="tx1"/>
                </a:solidFill>
                <a:effectLst/>
                <a:latin typeface="+mn-lt"/>
                <a:ea typeface="+mn-ea"/>
                <a:cs typeface="+mn-cs"/>
              </a:rPr>
              <a:t>periféricos</a:t>
            </a:r>
            <a:r>
              <a:rPr lang="es-AR" sz="1200" kern="1200" dirty="0">
                <a:solidFill>
                  <a:schemeClr val="tx1"/>
                </a:solidFill>
                <a:effectLst/>
                <a:latin typeface="+mn-lt"/>
                <a:ea typeface="+mn-ea"/>
                <a:cs typeface="+mn-cs"/>
              </a:rPr>
              <a:t> no forman parte del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Es un conjunto de dispositivos que realizan un trabajo en el exterior del sistema. Estos periféricos pueden ser de entrada o de salida, aunque existen algunos que realizan ambas. Por ejemplo, en un PC los periféricos de entrada mas importantes son el teclado y el ratón y los de salida el monitor y la impresora.</a:t>
            </a:r>
            <a:endParaRPr lang="es-ES"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Un sistema </a:t>
            </a:r>
            <a:r>
              <a:rPr lang="es-AR" sz="1200" kern="1200" dirty="0" err="1">
                <a:solidFill>
                  <a:schemeClr val="tx1"/>
                </a:solidFill>
                <a:effectLst/>
                <a:latin typeface="+mn-lt"/>
                <a:ea typeface="+mn-ea"/>
                <a:cs typeface="+mn-cs"/>
              </a:rPr>
              <a:t>microprogramable</a:t>
            </a:r>
            <a:r>
              <a:rPr lang="es-AR" sz="1200" kern="1200" dirty="0">
                <a:solidFill>
                  <a:schemeClr val="tx1"/>
                </a:solidFill>
                <a:effectLst/>
                <a:latin typeface="+mn-lt"/>
                <a:ea typeface="+mn-ea"/>
                <a:cs typeface="+mn-cs"/>
              </a:rPr>
              <a:t> puede controlar multitud de dispositivos de manera que también pueden considerarse periféricos un motor eléctrico, una electroválvula, un sensor de movimiento, un brazo robot, etc. </a:t>
            </a:r>
            <a:endParaRPr lang="es-ES" sz="12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11</a:t>
            </a:fld>
            <a:endParaRPr lang="es-ES"/>
          </a:p>
        </p:txBody>
      </p:sp>
    </p:spTree>
    <p:extLst>
      <p:ext uri="{BB962C8B-B14F-4D97-AF65-F5344CB8AC3E}">
        <p14:creationId xmlns:p14="http://schemas.microsoft.com/office/powerpoint/2010/main" val="2969141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a:t>
            </a:fld>
            <a:endParaRPr lang="es-ES"/>
          </a:p>
        </p:txBody>
      </p:sp>
    </p:spTree>
    <p:extLst>
      <p:ext uri="{BB962C8B-B14F-4D97-AF65-F5344CB8AC3E}">
        <p14:creationId xmlns:p14="http://schemas.microsoft.com/office/powerpoint/2010/main" val="14556878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15</a:t>
            </a:fld>
            <a:endParaRPr lang="es-ES"/>
          </a:p>
        </p:txBody>
      </p:sp>
    </p:spTree>
    <p:extLst>
      <p:ext uri="{BB962C8B-B14F-4D97-AF65-F5344CB8AC3E}">
        <p14:creationId xmlns:p14="http://schemas.microsoft.com/office/powerpoint/2010/main" val="1065187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16</a:t>
            </a:fld>
            <a:endParaRPr lang="es-ES"/>
          </a:p>
        </p:txBody>
      </p:sp>
    </p:spTree>
    <p:extLst>
      <p:ext uri="{BB962C8B-B14F-4D97-AF65-F5344CB8AC3E}">
        <p14:creationId xmlns:p14="http://schemas.microsoft.com/office/powerpoint/2010/main" val="9137330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17</a:t>
            </a:fld>
            <a:endParaRPr lang="es-ES"/>
          </a:p>
        </p:txBody>
      </p:sp>
    </p:spTree>
    <p:extLst>
      <p:ext uri="{BB962C8B-B14F-4D97-AF65-F5344CB8AC3E}">
        <p14:creationId xmlns:p14="http://schemas.microsoft.com/office/powerpoint/2010/main" val="3234445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18</a:t>
            </a:fld>
            <a:endParaRPr lang="es-ES"/>
          </a:p>
        </p:txBody>
      </p:sp>
    </p:spTree>
    <p:extLst>
      <p:ext uri="{BB962C8B-B14F-4D97-AF65-F5344CB8AC3E}">
        <p14:creationId xmlns:p14="http://schemas.microsoft.com/office/powerpoint/2010/main" val="830869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20</a:t>
            </a:fld>
            <a:endParaRPr lang="es-ES"/>
          </a:p>
        </p:txBody>
      </p:sp>
    </p:spTree>
    <p:extLst>
      <p:ext uri="{BB962C8B-B14F-4D97-AF65-F5344CB8AC3E}">
        <p14:creationId xmlns:p14="http://schemas.microsoft.com/office/powerpoint/2010/main" val="263253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AR" altLang="es-ES"/>
              <a:t>La memoria del programa comienza en la posición 0000h y termina en la posición 03FFh. Esto es 1Kbyte, es decir, 1024 bytes (2</a:t>
            </a:r>
            <a:r>
              <a:rPr lang="es-AR" altLang="es-ES" baseline="30000"/>
              <a:t>10</a:t>
            </a:r>
            <a:r>
              <a:rPr lang="es-AR" altLang="es-ES"/>
              <a:t>).</a:t>
            </a:r>
          </a:p>
          <a:p>
            <a:pPr eaLnBrk="1" hangingPunct="1">
              <a:spcBef>
                <a:spcPct val="0"/>
              </a:spcBef>
            </a:pPr>
            <a:r>
              <a:rPr lang="es-AR" altLang="es-ES"/>
              <a:t>    En la figura también se muestra el PC (Contador de Programa o Program Counter). Que apunta a la dirección de memoria de la instrucción en curso y permite que el programa avance cuando se incrementa.</a:t>
            </a:r>
          </a:p>
          <a:p>
            <a:pPr eaLnBrk="1" hangingPunct="1">
              <a:spcBef>
                <a:spcPct val="0"/>
              </a:spcBef>
            </a:pPr>
            <a:r>
              <a:rPr lang="es-AR" altLang="es-ES"/>
              <a:t>    También se muestra la pila o stack, de 8 niveles (Nivel Pila 1 a Nivel Pila 8). Se utiliza cuando ejecutamos un subproceso o subrutina, es decir, un conjunto de instrucciones que hemos aislado de las demás para simplificar. En este caso el contador de programa (PC) dejará de incrementarse y apuntará a la posición de memoria de programa donde empieza la subrutina; en el primer nivel de la pila se almacenará esta llamada, hasta que se acaben de ejecutar las instrucciones que contiene, momento en el cual se seguirá con las instrucciones desde donde había sido llamada. Por eso es necesario saber donde se quedó el programa almacenándose la dirección en la pila. Podemos hacer hasta 8 llamadas a subrutinas una dentro de otra, como si de muñecas rusas se tratase. A esto se le llaman subrutinas anidadas.</a:t>
            </a:r>
          </a:p>
        </p:txBody>
      </p:sp>
      <p:sp>
        <p:nvSpPr>
          <p:cNvPr id="5018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33F231-D9F1-4BF9-87D0-E33772670F80}" type="slidenum">
              <a:rPr lang="es-AR" altLang="es-ES"/>
              <a:pPr eaLnBrk="1" hangingPunct="1"/>
              <a:t>21</a:t>
            </a:fld>
            <a:endParaRPr lang="es-AR" altLang="es-ES"/>
          </a:p>
        </p:txBody>
      </p:sp>
    </p:spTree>
    <p:extLst>
      <p:ext uri="{BB962C8B-B14F-4D97-AF65-F5344CB8AC3E}">
        <p14:creationId xmlns:p14="http://schemas.microsoft.com/office/powerpoint/2010/main" val="315707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23</a:t>
            </a:fld>
            <a:endParaRPr lang="es-ES"/>
          </a:p>
        </p:txBody>
      </p:sp>
    </p:spTree>
    <p:extLst>
      <p:ext uri="{BB962C8B-B14F-4D97-AF65-F5344CB8AC3E}">
        <p14:creationId xmlns:p14="http://schemas.microsoft.com/office/powerpoint/2010/main" val="3606983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24</a:t>
            </a:fld>
            <a:endParaRPr lang="es-ES"/>
          </a:p>
        </p:txBody>
      </p:sp>
    </p:spTree>
    <p:extLst>
      <p:ext uri="{BB962C8B-B14F-4D97-AF65-F5344CB8AC3E}">
        <p14:creationId xmlns:p14="http://schemas.microsoft.com/office/powerpoint/2010/main" val="2508737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25</a:t>
            </a:fld>
            <a:endParaRPr lang="es-ES"/>
          </a:p>
        </p:txBody>
      </p:sp>
    </p:spTree>
    <p:extLst>
      <p:ext uri="{BB962C8B-B14F-4D97-AF65-F5344CB8AC3E}">
        <p14:creationId xmlns:p14="http://schemas.microsoft.com/office/powerpoint/2010/main" val="3993805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26</a:t>
            </a:fld>
            <a:endParaRPr lang="es-ES"/>
          </a:p>
        </p:txBody>
      </p:sp>
    </p:spTree>
    <p:extLst>
      <p:ext uri="{BB962C8B-B14F-4D97-AF65-F5344CB8AC3E}">
        <p14:creationId xmlns:p14="http://schemas.microsoft.com/office/powerpoint/2010/main" val="2102513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27</a:t>
            </a:fld>
            <a:endParaRPr lang="es-ES"/>
          </a:p>
        </p:txBody>
      </p:sp>
    </p:spTree>
    <p:extLst>
      <p:ext uri="{BB962C8B-B14F-4D97-AF65-F5344CB8AC3E}">
        <p14:creationId xmlns:p14="http://schemas.microsoft.com/office/powerpoint/2010/main" val="2284716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28</a:t>
            </a:fld>
            <a:endParaRPr lang="es-ES"/>
          </a:p>
        </p:txBody>
      </p:sp>
    </p:spTree>
    <p:extLst>
      <p:ext uri="{BB962C8B-B14F-4D97-AF65-F5344CB8AC3E}">
        <p14:creationId xmlns:p14="http://schemas.microsoft.com/office/powerpoint/2010/main" val="4199578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29</a:t>
            </a:fld>
            <a:endParaRPr lang="es-ES"/>
          </a:p>
        </p:txBody>
      </p:sp>
    </p:spTree>
    <p:extLst>
      <p:ext uri="{BB962C8B-B14F-4D97-AF65-F5344CB8AC3E}">
        <p14:creationId xmlns:p14="http://schemas.microsoft.com/office/powerpoint/2010/main" val="41600063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30</a:t>
            </a:fld>
            <a:endParaRPr lang="es-ES"/>
          </a:p>
        </p:txBody>
      </p:sp>
    </p:spTree>
    <p:extLst>
      <p:ext uri="{BB962C8B-B14F-4D97-AF65-F5344CB8AC3E}">
        <p14:creationId xmlns:p14="http://schemas.microsoft.com/office/powerpoint/2010/main" val="41946564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31</a:t>
            </a:fld>
            <a:endParaRPr lang="es-ES"/>
          </a:p>
        </p:txBody>
      </p:sp>
    </p:spTree>
    <p:extLst>
      <p:ext uri="{BB962C8B-B14F-4D97-AF65-F5344CB8AC3E}">
        <p14:creationId xmlns:p14="http://schemas.microsoft.com/office/powerpoint/2010/main" val="3138889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33</a:t>
            </a:fld>
            <a:endParaRPr lang="es-ES"/>
          </a:p>
        </p:txBody>
      </p:sp>
    </p:spTree>
    <p:extLst>
      <p:ext uri="{BB962C8B-B14F-4D97-AF65-F5344CB8AC3E}">
        <p14:creationId xmlns:p14="http://schemas.microsoft.com/office/powerpoint/2010/main" val="15541157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34</a:t>
            </a:fld>
            <a:endParaRPr lang="es-ES"/>
          </a:p>
        </p:txBody>
      </p:sp>
    </p:spTree>
    <p:extLst>
      <p:ext uri="{BB962C8B-B14F-4D97-AF65-F5344CB8AC3E}">
        <p14:creationId xmlns:p14="http://schemas.microsoft.com/office/powerpoint/2010/main" val="2832248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35</a:t>
            </a:fld>
            <a:endParaRPr lang="es-ES"/>
          </a:p>
        </p:txBody>
      </p:sp>
    </p:spTree>
    <p:extLst>
      <p:ext uri="{BB962C8B-B14F-4D97-AF65-F5344CB8AC3E}">
        <p14:creationId xmlns:p14="http://schemas.microsoft.com/office/powerpoint/2010/main" val="15972655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050" b="1" kern="1200" dirty="0">
                <a:solidFill>
                  <a:schemeClr val="tx1"/>
                </a:solidFill>
                <a:effectLst/>
                <a:latin typeface="+mn-lt"/>
                <a:ea typeface="+mn-ea"/>
                <a:cs typeface="+mn-cs"/>
              </a:rPr>
              <a:t>La ALU</a:t>
            </a:r>
            <a:endParaRPr lang="es-ES" sz="1050" b="1" kern="1200" dirty="0">
              <a:solidFill>
                <a:schemeClr val="tx1"/>
              </a:solidFill>
              <a:effectLst/>
              <a:latin typeface="+mn-lt"/>
              <a:ea typeface="+mn-ea"/>
              <a:cs typeface="+mn-cs"/>
            </a:endParaRPr>
          </a:p>
          <a:p>
            <a:r>
              <a:rPr lang="es-AR" sz="1050" kern="1200" dirty="0">
                <a:solidFill>
                  <a:schemeClr val="tx1"/>
                </a:solidFill>
                <a:effectLst/>
                <a:latin typeface="+mn-lt"/>
                <a:ea typeface="+mn-ea"/>
                <a:cs typeface="+mn-cs"/>
              </a:rPr>
              <a:t>    El PIC16F84A posee una ALU (Unidad Aritmético Lógica) de 8 bits capaz de realizar operaciones de desplazamientos, lógicas, sumas y restas. </a:t>
            </a:r>
          </a:p>
          <a:p>
            <a:r>
              <a:rPr lang="es-AR" sz="1050" kern="1200" dirty="0">
                <a:solidFill>
                  <a:schemeClr val="tx1"/>
                </a:solidFill>
                <a:effectLst/>
                <a:latin typeface="+mn-lt"/>
                <a:ea typeface="+mn-ea"/>
                <a:cs typeface="+mn-cs"/>
              </a:rPr>
              <a:t>Su salida va al </a:t>
            </a:r>
            <a:r>
              <a:rPr lang="es-AR" sz="1050" b="1" u="sng" kern="1200" dirty="0">
                <a:solidFill>
                  <a:schemeClr val="tx1"/>
                </a:solidFill>
                <a:effectLst/>
                <a:latin typeface="+mn-lt"/>
                <a:ea typeface="+mn-ea"/>
                <a:cs typeface="+mn-cs"/>
              </a:rPr>
              <a:t>registro de trabajo W </a:t>
            </a:r>
            <a:r>
              <a:rPr lang="es-AR" sz="1050" kern="1200" dirty="0">
                <a:solidFill>
                  <a:schemeClr val="tx1"/>
                </a:solidFill>
                <a:effectLst/>
                <a:latin typeface="+mn-lt"/>
                <a:ea typeface="+mn-ea"/>
                <a:cs typeface="+mn-cs"/>
              </a:rPr>
              <a:t>y también a la </a:t>
            </a:r>
            <a:r>
              <a:rPr lang="es-AR" sz="1050" b="1" u="sng" kern="1200" dirty="0">
                <a:solidFill>
                  <a:schemeClr val="tx1"/>
                </a:solidFill>
                <a:effectLst/>
                <a:latin typeface="+mn-lt"/>
                <a:ea typeface="+mn-ea"/>
                <a:cs typeface="+mn-cs"/>
              </a:rPr>
              <a:t>memoria de datos</a:t>
            </a:r>
            <a:r>
              <a:rPr lang="es-AR" sz="1050" kern="1200" dirty="0">
                <a:solidFill>
                  <a:schemeClr val="tx1"/>
                </a:solidFill>
                <a:effectLst/>
                <a:latin typeface="+mn-lt"/>
                <a:ea typeface="+mn-ea"/>
                <a:cs typeface="+mn-cs"/>
              </a:rPr>
              <a:t>, por lo tanto el resultado puede guardarse en cualquiera de los dos destinos. </a:t>
            </a:r>
            <a:r>
              <a:rPr lang="es-AR" sz="1050" b="1" kern="1200" dirty="0">
                <a:solidFill>
                  <a:srgbClr val="FF0000"/>
                </a:solidFill>
                <a:effectLst>
                  <a:outerShdw blurRad="38100" dist="38100" dir="2700000" algn="tl">
                    <a:srgbClr val="000000">
                      <a:alpha val="43137"/>
                    </a:srgbClr>
                  </a:outerShdw>
                </a:effectLst>
                <a:latin typeface="+mn-lt"/>
                <a:ea typeface="+mn-ea"/>
                <a:cs typeface="+mn-cs"/>
              </a:rPr>
              <a:t>Dependiendo de la instrucción ejecutada</a:t>
            </a:r>
            <a:r>
              <a:rPr lang="es-AR" sz="1050" kern="1200" dirty="0">
                <a:solidFill>
                  <a:schemeClr val="tx1"/>
                </a:solidFill>
                <a:effectLst/>
                <a:latin typeface="+mn-lt"/>
                <a:ea typeface="+mn-ea"/>
                <a:cs typeface="+mn-cs"/>
              </a:rPr>
              <a:t>,.</a:t>
            </a:r>
          </a:p>
          <a:p>
            <a:r>
              <a:rPr lang="es-AR" sz="1050" kern="1200" dirty="0">
                <a:solidFill>
                  <a:schemeClr val="tx1"/>
                </a:solidFill>
                <a:effectLst/>
                <a:latin typeface="+mn-lt"/>
                <a:ea typeface="+mn-ea"/>
                <a:cs typeface="+mn-cs"/>
              </a:rPr>
              <a:t>La ALU puede afectar a los bits de </a:t>
            </a:r>
            <a:r>
              <a:rPr lang="es-AR" sz="1050" b="1" u="sng" kern="1200" dirty="0">
                <a:solidFill>
                  <a:srgbClr val="FF0000"/>
                </a:solidFill>
                <a:effectLst>
                  <a:outerShdw blurRad="38100" dist="38100" dir="2700000" algn="tl">
                    <a:srgbClr val="000000">
                      <a:alpha val="43137"/>
                    </a:srgbClr>
                  </a:outerShdw>
                </a:effectLst>
                <a:latin typeface="+mn-lt"/>
                <a:ea typeface="+mn-ea"/>
                <a:cs typeface="+mn-cs"/>
              </a:rPr>
              <a:t>Acarreo , Acarreo Digital (DC) y Cero (Z) del Registro de Estado</a:t>
            </a:r>
            <a:r>
              <a:rPr lang="es-AR" sz="1050" b="1" u="sng" kern="1200" dirty="0">
                <a:solidFill>
                  <a:schemeClr val="tx1"/>
                </a:solidFill>
                <a:effectLst>
                  <a:outerShdw blurRad="38100" dist="38100" dir="2700000" algn="tl">
                    <a:srgbClr val="000000">
                      <a:alpha val="43137"/>
                    </a:srgbClr>
                  </a:outerShdw>
                </a:effectLst>
                <a:latin typeface="+mn-lt"/>
                <a:ea typeface="+mn-ea"/>
                <a:cs typeface="+mn-cs"/>
              </a:rPr>
              <a:t> (</a:t>
            </a:r>
            <a:r>
              <a:rPr lang="es-AR" sz="1050" b="1" u="sng" strike="noStrike" kern="1200" dirty="0">
                <a:solidFill>
                  <a:schemeClr val="tx1"/>
                </a:solidFill>
                <a:effectLst>
                  <a:outerShdw blurRad="38100" dist="38100" dir="2700000" algn="tl">
                    <a:srgbClr val="000000">
                      <a:alpha val="43137"/>
                    </a:srgbClr>
                  </a:outerShdw>
                </a:effectLst>
                <a:latin typeface="+mn-lt"/>
                <a:ea typeface="+mn-ea"/>
                <a:cs typeface="+mn-cs"/>
                <a:hlinkClick r:id="rId3"/>
              </a:rPr>
              <a:t>STATUS</a:t>
            </a:r>
            <a:r>
              <a:rPr lang="es-AR" sz="1050" b="1" u="sng" kern="1200" dirty="0">
                <a:solidFill>
                  <a:schemeClr val="tx1"/>
                </a:solidFill>
                <a:effectLst>
                  <a:outerShdw blurRad="38100" dist="38100" dir="2700000" algn="tl">
                    <a:srgbClr val="000000">
                      <a:alpha val="43137"/>
                    </a:srgbClr>
                  </a:outerShdw>
                </a:effectLst>
                <a:latin typeface="+mn-lt"/>
                <a:ea typeface="+mn-ea"/>
                <a:cs typeface="+mn-cs"/>
              </a:rPr>
              <a:t>)</a:t>
            </a:r>
            <a:r>
              <a:rPr lang="es-AR" sz="1050" kern="1200" dirty="0">
                <a:solidFill>
                  <a:schemeClr val="tx1"/>
                </a:solidFill>
                <a:effectLst/>
                <a:latin typeface="+mn-lt"/>
                <a:ea typeface="+mn-ea"/>
                <a:cs typeface="+mn-cs"/>
              </a:rPr>
              <a:t>.</a:t>
            </a:r>
            <a:endParaRPr lang="es-ES" sz="1050" kern="1200" dirty="0">
              <a:solidFill>
                <a:schemeClr val="tx1"/>
              </a:solidFill>
              <a:effectLst/>
              <a:latin typeface="+mn-lt"/>
              <a:ea typeface="+mn-ea"/>
              <a:cs typeface="+mn-cs"/>
            </a:endParaRPr>
          </a:p>
          <a:p>
            <a:r>
              <a:rPr lang="es-AR" sz="1050" kern="1200" dirty="0">
                <a:solidFill>
                  <a:schemeClr val="tx1"/>
                </a:solidFill>
                <a:effectLst/>
                <a:latin typeface="+mn-lt"/>
                <a:ea typeface="+mn-ea"/>
                <a:cs typeface="+mn-cs"/>
              </a:rPr>
              <a:t> </a:t>
            </a:r>
            <a:endParaRPr lang="es-ES" sz="1050" kern="1200" dirty="0">
              <a:solidFill>
                <a:schemeClr val="tx1"/>
              </a:solidFill>
              <a:effectLst/>
              <a:latin typeface="+mn-lt"/>
              <a:ea typeface="+mn-ea"/>
              <a:cs typeface="+mn-cs"/>
            </a:endParaRPr>
          </a:p>
          <a:p>
            <a:r>
              <a:rPr lang="es-AR" sz="1050" b="1" kern="1200" dirty="0">
                <a:solidFill>
                  <a:srgbClr val="FF0000"/>
                </a:solidFill>
                <a:effectLst/>
                <a:latin typeface="+mn-lt"/>
                <a:ea typeface="+mn-ea"/>
                <a:cs typeface="+mn-cs"/>
              </a:rPr>
              <a:t>Registro de trabajo</a:t>
            </a:r>
            <a:endParaRPr lang="es-ES" sz="1050" b="1" kern="1200" dirty="0">
              <a:solidFill>
                <a:srgbClr val="FF0000"/>
              </a:solidFill>
              <a:effectLst/>
              <a:latin typeface="+mn-lt"/>
              <a:ea typeface="+mn-ea"/>
              <a:cs typeface="+mn-cs"/>
            </a:endParaRPr>
          </a:p>
          <a:p>
            <a:r>
              <a:rPr lang="es-AR" sz="1050" kern="1200" dirty="0">
                <a:solidFill>
                  <a:schemeClr val="tx1"/>
                </a:solidFill>
                <a:effectLst/>
                <a:latin typeface="+mn-lt"/>
                <a:ea typeface="+mn-ea"/>
                <a:cs typeface="+mn-cs"/>
              </a:rPr>
              <a:t>    El acumulador o registro de trabajo (W) </a:t>
            </a:r>
            <a:r>
              <a:rPr lang="es-AR" sz="1050" b="1" u="sng" kern="1200" dirty="0">
                <a:solidFill>
                  <a:schemeClr val="tx1"/>
                </a:solidFill>
                <a:effectLst/>
                <a:latin typeface="+mn-lt"/>
                <a:ea typeface="+mn-ea"/>
                <a:cs typeface="+mn-cs"/>
              </a:rPr>
              <a:t>es el registro mas utilizado de todos</a:t>
            </a:r>
            <a:r>
              <a:rPr lang="es-AR" sz="1050" kern="1200" dirty="0">
                <a:solidFill>
                  <a:schemeClr val="tx1"/>
                </a:solidFill>
                <a:effectLst/>
                <a:latin typeface="+mn-lt"/>
                <a:ea typeface="+mn-ea"/>
                <a:cs typeface="+mn-cs"/>
              </a:rPr>
              <a:t>. </a:t>
            </a:r>
          </a:p>
          <a:p>
            <a:r>
              <a:rPr lang="es-AR" sz="1050" kern="1200" dirty="0">
                <a:solidFill>
                  <a:schemeClr val="tx1"/>
                </a:solidFill>
                <a:effectLst/>
                <a:latin typeface="+mn-lt"/>
                <a:ea typeface="+mn-ea"/>
                <a:cs typeface="+mn-cs"/>
              </a:rPr>
              <a:t>No se trata de un registro de la RAM ya que </a:t>
            </a:r>
            <a:r>
              <a:rPr lang="es-AR" sz="1050" b="1" u="sng" kern="1200" dirty="0">
                <a:solidFill>
                  <a:schemeClr val="tx1"/>
                </a:solidFill>
                <a:effectLst/>
                <a:latin typeface="+mn-lt"/>
                <a:ea typeface="+mn-ea"/>
                <a:cs typeface="+mn-cs"/>
              </a:rPr>
              <a:t>no tiene dirección</a:t>
            </a:r>
            <a:r>
              <a:rPr lang="es-AR" sz="1050" kern="1200" dirty="0">
                <a:solidFill>
                  <a:schemeClr val="tx1"/>
                </a:solidFill>
                <a:effectLst/>
                <a:latin typeface="+mn-lt"/>
                <a:ea typeface="+mn-ea"/>
                <a:cs typeface="+mn-cs"/>
              </a:rPr>
              <a:t> pero se usa constantemente para mover datos y dar valores a las variables (registros). </a:t>
            </a:r>
          </a:p>
          <a:p>
            <a:r>
              <a:rPr lang="es-AR" sz="1050" kern="1200" dirty="0">
                <a:solidFill>
                  <a:schemeClr val="tx1"/>
                </a:solidFill>
                <a:effectLst/>
                <a:latin typeface="+mn-lt"/>
                <a:ea typeface="+mn-ea"/>
                <a:cs typeface="+mn-cs"/>
              </a:rPr>
              <a:t>Por ejemplo, si queremos copiar la información del registro 0Ch en el registro 0Dh </a:t>
            </a:r>
            <a:r>
              <a:rPr lang="es-AR" sz="1050" b="1" kern="1200" dirty="0">
                <a:solidFill>
                  <a:schemeClr val="tx1"/>
                </a:solidFill>
                <a:effectLst>
                  <a:outerShdw blurRad="38100" dist="38100" dir="2700000" algn="tl">
                    <a:srgbClr val="000000">
                      <a:alpha val="43137"/>
                    </a:srgbClr>
                  </a:outerShdw>
                </a:effectLst>
                <a:latin typeface="+mn-lt"/>
                <a:ea typeface="+mn-ea"/>
                <a:cs typeface="+mn-cs"/>
              </a:rPr>
              <a:t>no podremos hacerlo directamente</a:t>
            </a:r>
            <a:r>
              <a:rPr lang="es-AR" sz="1050" kern="1200" dirty="0">
                <a:solidFill>
                  <a:schemeClr val="tx1"/>
                </a:solidFill>
                <a:effectLst/>
                <a:latin typeface="+mn-lt"/>
                <a:ea typeface="+mn-ea"/>
                <a:cs typeface="+mn-cs"/>
              </a:rPr>
              <a:t>, deberemos usar una instrucción para cargar el valor del registro 0Ch en el acumulador y después otra instrucción para cargar el valor del acumulador en el registro 0Bh.</a:t>
            </a:r>
            <a:endParaRPr lang="es-ES" sz="1050" kern="1200" dirty="0">
              <a:solidFill>
                <a:schemeClr val="tx1"/>
              </a:solidFill>
              <a:effectLst/>
              <a:latin typeface="+mn-lt"/>
              <a:ea typeface="+mn-ea"/>
              <a:cs typeface="+mn-cs"/>
            </a:endParaRPr>
          </a:p>
          <a:p>
            <a:endParaRPr lang="es-ES" sz="1050"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36</a:t>
            </a:fld>
            <a:endParaRPr lang="es-ES"/>
          </a:p>
        </p:txBody>
      </p:sp>
    </p:spTree>
    <p:extLst>
      <p:ext uri="{BB962C8B-B14F-4D97-AF65-F5344CB8AC3E}">
        <p14:creationId xmlns:p14="http://schemas.microsoft.com/office/powerpoint/2010/main" val="15640798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37</a:t>
            </a:fld>
            <a:endParaRPr lang="es-ES"/>
          </a:p>
        </p:txBody>
      </p:sp>
    </p:spTree>
    <p:extLst>
      <p:ext uri="{BB962C8B-B14F-4D97-AF65-F5344CB8AC3E}">
        <p14:creationId xmlns:p14="http://schemas.microsoft.com/office/powerpoint/2010/main" val="17701913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38</a:t>
            </a:fld>
            <a:endParaRPr lang="es-ES"/>
          </a:p>
        </p:txBody>
      </p:sp>
    </p:spTree>
    <p:extLst>
      <p:ext uri="{BB962C8B-B14F-4D97-AF65-F5344CB8AC3E}">
        <p14:creationId xmlns:p14="http://schemas.microsoft.com/office/powerpoint/2010/main" val="36920952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39</a:t>
            </a:fld>
            <a:endParaRPr lang="es-ES"/>
          </a:p>
        </p:txBody>
      </p:sp>
    </p:spTree>
    <p:extLst>
      <p:ext uri="{BB962C8B-B14F-4D97-AF65-F5344CB8AC3E}">
        <p14:creationId xmlns:p14="http://schemas.microsoft.com/office/powerpoint/2010/main" val="8233065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s-AR" altLang="es-ES" b="1" dirty="0"/>
              <a:t>Memoria de datos</a:t>
            </a:r>
          </a:p>
          <a:p>
            <a:pPr eaLnBrk="1" hangingPunct="1">
              <a:spcBef>
                <a:spcPct val="0"/>
              </a:spcBef>
            </a:pPr>
            <a:r>
              <a:rPr lang="es-AR" altLang="es-ES" dirty="0"/>
              <a:t>    Está organizada en dos páginas o bancos de registro, banco 0 y banco 1. Para cambiar de página se utiliza un bit del registro STATUS (RP0).</a:t>
            </a:r>
          </a:p>
          <a:p>
            <a:pPr eaLnBrk="1" hangingPunct="1">
              <a:spcBef>
                <a:spcPct val="0"/>
              </a:spcBef>
            </a:pPr>
            <a:r>
              <a:rPr lang="es-AR" altLang="es-ES" dirty="0"/>
              <a:t>    Cada banco se divide a su vez en dos áreas:</a:t>
            </a:r>
          </a:p>
          <a:p>
            <a:pPr eaLnBrk="1" hangingPunct="1">
              <a:spcBef>
                <a:spcPct val="0"/>
              </a:spcBef>
            </a:pPr>
            <a:r>
              <a:rPr lang="es-AR" altLang="es-ES" dirty="0"/>
              <a:t>RFS (Registros de Funciones Especiales)</a:t>
            </a:r>
          </a:p>
          <a:p>
            <a:pPr eaLnBrk="1" hangingPunct="1">
              <a:spcBef>
                <a:spcPct val="0"/>
              </a:spcBef>
            </a:pPr>
            <a:r>
              <a:rPr lang="es-AR" altLang="es-ES" dirty="0"/>
              <a:t>RGP (Registros de Propósito General)</a:t>
            </a:r>
          </a:p>
          <a:p>
            <a:pPr eaLnBrk="1" hangingPunct="1">
              <a:spcBef>
                <a:spcPct val="0"/>
              </a:spcBef>
            </a:pPr>
            <a:r>
              <a:rPr lang="es-AR" altLang="es-ES" dirty="0"/>
              <a:t>    En la figura siguiente nos podemos hacer una idea de cómo están distribuidos:</a:t>
            </a:r>
          </a:p>
          <a:p>
            <a:pPr eaLnBrk="1" hangingPunct="1">
              <a:spcBef>
                <a:spcPct val="0"/>
              </a:spcBef>
            </a:pPr>
            <a:endParaRPr lang="es-AR" altLang="es-ES" dirty="0"/>
          </a:p>
        </p:txBody>
      </p:sp>
      <p:sp>
        <p:nvSpPr>
          <p:cNvPr id="5120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839DA2-8191-417C-9FF9-447F2BD2B5C4}" type="slidenum">
              <a:rPr lang="es-AR" altLang="es-ES"/>
              <a:pPr eaLnBrk="1" hangingPunct="1"/>
              <a:t>40</a:t>
            </a:fld>
            <a:endParaRPr lang="es-AR" altLang="es-ES"/>
          </a:p>
        </p:txBody>
      </p:sp>
    </p:spTree>
    <p:extLst>
      <p:ext uri="{BB962C8B-B14F-4D97-AF65-F5344CB8AC3E}">
        <p14:creationId xmlns:p14="http://schemas.microsoft.com/office/powerpoint/2010/main" val="18612937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AR" sz="1200" b="1" kern="1200" dirty="0">
                <a:solidFill>
                  <a:schemeClr val="tx1"/>
                </a:solidFill>
                <a:effectLst/>
                <a:latin typeface="+mn-lt"/>
                <a:ea typeface="+mn-ea"/>
                <a:cs typeface="+mn-cs"/>
              </a:rPr>
              <a:t>Registros de Funciones Especiales (RFS)</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Los registros que se encuentran en la memoria RAM sirven para la configuración y el control del PIC. Estos registros se usan para controlar los pines del </a:t>
            </a:r>
            <a:r>
              <a:rPr lang="es-AR" sz="1200" kern="1200" dirty="0" err="1">
                <a:solidFill>
                  <a:schemeClr val="tx1"/>
                </a:solidFill>
                <a:effectLst/>
                <a:latin typeface="+mn-lt"/>
                <a:ea typeface="+mn-ea"/>
                <a:cs typeface="+mn-cs"/>
              </a:rPr>
              <a:t>pic</a:t>
            </a:r>
            <a:r>
              <a:rPr lang="es-AR" sz="1200" kern="1200" dirty="0">
                <a:solidFill>
                  <a:schemeClr val="tx1"/>
                </a:solidFill>
                <a:effectLst/>
                <a:latin typeface="+mn-lt"/>
                <a:ea typeface="+mn-ea"/>
                <a:cs typeface="+mn-cs"/>
              </a:rPr>
              <a:t>, consultar los resultados de las operaciones de la ALU (unidad aritmética lógica) y cambiar de banco de memoria, entre otras cosas. Mas información en </a:t>
            </a:r>
            <a:r>
              <a:rPr lang="es-AR" sz="1200" u="sng" kern="1200" dirty="0">
                <a:solidFill>
                  <a:schemeClr val="tx1"/>
                </a:solidFill>
                <a:effectLst/>
                <a:latin typeface="+mn-lt"/>
                <a:ea typeface="+mn-ea"/>
                <a:cs typeface="+mn-cs"/>
                <a:hlinkClick r:id="rId3"/>
              </a:rPr>
              <a:t>Registros del PIC16F84A</a:t>
            </a:r>
            <a:r>
              <a:rPr lang="es-AR" sz="1200" kern="1200" dirty="0">
                <a:solidFill>
                  <a:schemeClr val="tx1"/>
                </a:solidFill>
                <a:effectLst/>
                <a:latin typeface="+mn-lt"/>
                <a:ea typeface="+mn-ea"/>
                <a:cs typeface="+mn-cs"/>
              </a:rPr>
              <a:t>.</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 continuación se indican algunos registros importantes:</a:t>
            </a:r>
            <a:endParaRPr lang="es-ES" sz="18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STATUS</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PCL (Parte baja del contador de programa)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PORTA (Puerto 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PORTB (Puerto B)</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TRISA</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TRISB</a:t>
            </a:r>
            <a:endParaRPr lang="es-ES" sz="1600" kern="1200" dirty="0">
              <a:solidFill>
                <a:schemeClr val="tx1"/>
              </a:solidFill>
              <a:effectLst/>
              <a:latin typeface="+mn-lt"/>
              <a:ea typeface="+mn-ea"/>
              <a:cs typeface="+mn-cs"/>
            </a:endParaRPr>
          </a:p>
          <a:p>
            <a:pPr lvl="0"/>
            <a:r>
              <a:rPr lang="es-AR" sz="1200" kern="1200" dirty="0">
                <a:solidFill>
                  <a:schemeClr val="tx1"/>
                </a:solidFill>
                <a:effectLst/>
                <a:latin typeface="+mn-lt"/>
                <a:ea typeface="+mn-ea"/>
                <a:cs typeface="+mn-cs"/>
              </a:rPr>
              <a:t>TMR0 (</a:t>
            </a:r>
            <a:r>
              <a:rPr lang="es-AR" sz="1200" kern="1200" dirty="0" err="1">
                <a:solidFill>
                  <a:schemeClr val="tx1"/>
                </a:solidFill>
                <a:effectLst/>
                <a:latin typeface="+mn-lt"/>
                <a:ea typeface="+mn-ea"/>
                <a:cs typeface="+mn-cs"/>
              </a:rPr>
              <a:t>Timer</a:t>
            </a:r>
            <a:r>
              <a:rPr lang="es-AR" sz="1200" kern="1200" dirty="0">
                <a:solidFill>
                  <a:schemeClr val="tx1"/>
                </a:solidFill>
                <a:effectLst/>
                <a:latin typeface="+mn-lt"/>
                <a:ea typeface="+mn-ea"/>
                <a:cs typeface="+mn-cs"/>
              </a:rPr>
              <a:t>/contador)</a:t>
            </a:r>
            <a:endParaRPr lang="es-ES" sz="1600" kern="1200" dirty="0">
              <a:solidFill>
                <a:schemeClr val="tx1"/>
              </a:solidFill>
              <a:effectLst/>
              <a:latin typeface="+mn-lt"/>
              <a:ea typeface="+mn-ea"/>
              <a:cs typeface="+mn-cs"/>
            </a:endParaRPr>
          </a:p>
          <a:p>
            <a:endParaRPr lang="es-AR" altLang="es-ES" dirty="0"/>
          </a:p>
        </p:txBody>
      </p:sp>
      <p:sp>
        <p:nvSpPr>
          <p:cNvPr id="56324"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29BF269-5257-4B26-A196-F41AB57A8FF6}" type="slidenum">
              <a:rPr lang="es-AR" altLang="es-ES"/>
              <a:pPr eaLnBrk="1" hangingPunct="1"/>
              <a:t>41</a:t>
            </a:fld>
            <a:endParaRPr lang="es-AR" altLang="es-ES"/>
          </a:p>
        </p:txBody>
      </p:sp>
    </p:spTree>
    <p:extLst>
      <p:ext uri="{BB962C8B-B14F-4D97-AF65-F5344CB8AC3E}">
        <p14:creationId xmlns:p14="http://schemas.microsoft.com/office/powerpoint/2010/main" val="9879278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sz="16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PCL (Parte baja del contador de programa)</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02h, Modificando este registro se modifica el contador de programa, este contador de programa es el que señala al </a:t>
            </a:r>
            <a:r>
              <a:rPr lang="es-AR" sz="1200" kern="1200" dirty="0" err="1">
                <a:solidFill>
                  <a:schemeClr val="tx1"/>
                </a:solidFill>
                <a:effectLst/>
                <a:latin typeface="+mn-lt"/>
                <a:ea typeface="+mn-ea"/>
                <a:cs typeface="+mn-cs"/>
              </a:rPr>
              <a:t>pic</a:t>
            </a:r>
            <a:r>
              <a:rPr lang="es-AR" sz="1200" kern="1200" dirty="0">
                <a:solidFill>
                  <a:schemeClr val="tx1"/>
                </a:solidFill>
                <a:effectLst/>
                <a:latin typeface="+mn-lt"/>
                <a:ea typeface="+mn-ea"/>
                <a:cs typeface="+mn-cs"/>
              </a:rPr>
              <a:t> en que dirección de la memoria de programa tiene que leer la siguiente instrucción. Esto se utiliza mucho para consultar tablas.</a:t>
            </a:r>
            <a:endParaRPr lang="es-ES" sz="18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6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PORTA (Puerto A) y PORTB (Puerto B)</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Puerto A. Dirección 05h.</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Puerto B. Dirección 06h.</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Con estos registros se puede ver o modificar el estado de las patillas de los puertos A y B. Si un bit de este registro está a "1" también lo estará la patilla correspondiente a ese bit. El que un patilla esté a "1" quiere decir que su tensión es de 5V, si está a "0" su tensión es 0V.</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Cada patilla como salida puede trabajar con corrientes de 10 a 20 </a:t>
            </a:r>
            <a:r>
              <a:rPr lang="es-AR" sz="1200" kern="1200" dirty="0" err="1">
                <a:solidFill>
                  <a:schemeClr val="tx1"/>
                </a:solidFill>
                <a:effectLst/>
                <a:latin typeface="+mn-lt"/>
                <a:ea typeface="+mn-ea"/>
                <a:cs typeface="+mn-cs"/>
              </a:rPr>
              <a:t>mA.</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6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TRISA</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05h, Configura el puerto A como entrada o salida. Si un bit de este registro se pone a "0" el pin correspondiente en el puerto A será una salida, por el contrario, si se pone a "1" el pin correspondiente en el puerto A será una entrada.</a:t>
            </a:r>
            <a:endParaRPr lang="es-ES" sz="1800" kern="1200" dirty="0">
              <a:solidFill>
                <a:schemeClr val="tx1"/>
              </a:solidFill>
              <a:effectLst/>
              <a:latin typeface="+mn-lt"/>
              <a:ea typeface="+mn-ea"/>
              <a:cs typeface="+mn-cs"/>
            </a:endParaRPr>
          </a:p>
          <a:p>
            <a:endParaRPr lang="es-AR" sz="1200" b="1" u="sng" kern="1200" dirty="0">
              <a:solidFill>
                <a:schemeClr val="tx1"/>
              </a:solidFill>
              <a:effectLst/>
              <a:latin typeface="+mn-lt"/>
              <a:ea typeface="+mn-ea"/>
              <a:cs typeface="+mn-cs"/>
            </a:endParaRPr>
          </a:p>
          <a:p>
            <a:r>
              <a:rPr lang="es-AR" sz="1200" b="1" u="sng" kern="1200" dirty="0">
                <a:solidFill>
                  <a:schemeClr val="tx1"/>
                </a:solidFill>
                <a:effectLst/>
                <a:latin typeface="+mn-lt"/>
                <a:ea typeface="+mn-ea"/>
                <a:cs typeface="+mn-cs"/>
              </a:rPr>
              <a:t>TRISB</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06h, Igual que el anterior pero con el puerto B</a:t>
            </a:r>
            <a:endParaRPr lang="es-ES" sz="1800"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 </a:t>
            </a:r>
            <a:endParaRPr lang="es-ES" sz="1600" b="1" kern="1200" dirty="0">
              <a:solidFill>
                <a:schemeClr val="tx1"/>
              </a:solidFill>
              <a:effectLst/>
              <a:latin typeface="+mn-lt"/>
              <a:ea typeface="+mn-ea"/>
              <a:cs typeface="+mn-cs"/>
            </a:endParaRPr>
          </a:p>
          <a:p>
            <a:endParaRPr lang="es-AR" sz="1200" b="1" kern="1200" dirty="0">
              <a:solidFill>
                <a:schemeClr val="tx1"/>
              </a:solidFill>
              <a:effectLst/>
              <a:latin typeface="+mn-lt"/>
              <a:ea typeface="+mn-ea"/>
              <a:cs typeface="+mn-cs"/>
            </a:endParaRPr>
          </a:p>
          <a:p>
            <a:r>
              <a:rPr lang="es-AR" sz="1200" b="1" kern="1200" dirty="0">
                <a:solidFill>
                  <a:schemeClr val="tx1"/>
                </a:solidFill>
                <a:effectLst/>
                <a:latin typeface="+mn-lt"/>
                <a:ea typeface="+mn-ea"/>
                <a:cs typeface="+mn-cs"/>
              </a:rPr>
              <a:t>TMR0 (</a:t>
            </a:r>
            <a:r>
              <a:rPr lang="es-AR" sz="1200" b="1" kern="1200" dirty="0" err="1">
                <a:solidFill>
                  <a:schemeClr val="tx1"/>
                </a:solidFill>
                <a:effectLst/>
                <a:latin typeface="+mn-lt"/>
                <a:ea typeface="+mn-ea"/>
                <a:cs typeface="+mn-cs"/>
              </a:rPr>
              <a:t>Timer</a:t>
            </a:r>
            <a:r>
              <a:rPr lang="es-AR" sz="1200" b="1" kern="1200" dirty="0">
                <a:solidFill>
                  <a:schemeClr val="tx1"/>
                </a:solidFill>
                <a:effectLst/>
                <a:latin typeface="+mn-lt"/>
                <a:ea typeface="+mn-ea"/>
                <a:cs typeface="+mn-cs"/>
              </a:rPr>
              <a:t>/contador)</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Dirección 01h, Aquí se puede ver el valor en tiempo real del </a:t>
            </a:r>
            <a:r>
              <a:rPr lang="es-AR" sz="1200" kern="1200" dirty="0" err="1">
                <a:solidFill>
                  <a:schemeClr val="tx1"/>
                </a:solidFill>
                <a:effectLst/>
                <a:latin typeface="+mn-lt"/>
                <a:ea typeface="+mn-ea"/>
                <a:cs typeface="+mn-cs"/>
              </a:rPr>
              <a:t>Timer</a:t>
            </a:r>
            <a:r>
              <a:rPr lang="es-AR" sz="1200" kern="1200" dirty="0">
                <a:solidFill>
                  <a:schemeClr val="tx1"/>
                </a:solidFill>
                <a:effectLst/>
                <a:latin typeface="+mn-lt"/>
                <a:ea typeface="+mn-ea"/>
                <a:cs typeface="+mn-cs"/>
              </a:rPr>
              <a:t>/contador. También se puede introducir un valor y alterar así el conteo. Este conteo puede ser interno (cuenta ciclos de reloj) o externo (cuenta </a:t>
            </a:r>
            <a:r>
              <a:rPr lang="es-AR" sz="1200" kern="1200" dirty="0" err="1">
                <a:solidFill>
                  <a:schemeClr val="tx1"/>
                </a:solidFill>
                <a:effectLst/>
                <a:latin typeface="+mn-lt"/>
                <a:ea typeface="+mn-ea"/>
                <a:cs typeface="+mn-cs"/>
              </a:rPr>
              <a:t>inpulsos</a:t>
            </a:r>
            <a:r>
              <a:rPr lang="es-AR" sz="1200" kern="1200" dirty="0">
                <a:solidFill>
                  <a:schemeClr val="tx1"/>
                </a:solidFill>
                <a:effectLst/>
                <a:latin typeface="+mn-lt"/>
                <a:ea typeface="+mn-ea"/>
                <a:cs typeface="+mn-cs"/>
              </a:rPr>
              <a:t> introducidos por RA4).</a:t>
            </a:r>
            <a:endParaRPr lang="es-ES" sz="1800" kern="1200" dirty="0">
              <a:solidFill>
                <a:schemeClr val="tx1"/>
              </a:solidFill>
              <a:effectLst/>
              <a:latin typeface="+mn-lt"/>
              <a:ea typeface="+mn-ea"/>
              <a:cs typeface="+mn-cs"/>
            </a:endParaRPr>
          </a:p>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42</a:t>
            </a:fld>
            <a:endParaRPr lang="es-ES"/>
          </a:p>
        </p:txBody>
      </p:sp>
    </p:spTree>
    <p:extLst>
      <p:ext uri="{BB962C8B-B14F-4D97-AF65-F5344CB8AC3E}">
        <p14:creationId xmlns:p14="http://schemas.microsoft.com/office/powerpoint/2010/main" val="37752022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43</a:t>
            </a:fld>
            <a:endParaRPr lang="es-ES"/>
          </a:p>
        </p:txBody>
      </p:sp>
    </p:spTree>
    <p:extLst>
      <p:ext uri="{BB962C8B-B14F-4D97-AF65-F5344CB8AC3E}">
        <p14:creationId xmlns:p14="http://schemas.microsoft.com/office/powerpoint/2010/main" val="2709529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sz="1200" b="1" kern="1200" dirty="0">
                <a:solidFill>
                  <a:schemeClr val="tx1"/>
                </a:solidFill>
                <a:effectLst/>
                <a:latin typeface="+mn-lt"/>
                <a:ea typeface="+mn-ea"/>
                <a:cs typeface="+mn-cs"/>
              </a:rPr>
              <a:t>STATUS</a:t>
            </a:r>
            <a:endParaRPr lang="es-ES" sz="1600" b="1"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El registro de Estado (STATUS) contiene varios bits que indican el estado de la CPU y otros elementos. Está formado por 8 bits y ocupa la posición 03h del banco 0 y la 83h del banco 1.</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Algunos de estos bits los podemos cambiar manualmente a través del programa pero otros se activan cuando se dan ciertos procesos. Estos bits se llaman </a:t>
            </a:r>
            <a:r>
              <a:rPr lang="es-AR" sz="1200" kern="1200" dirty="0" err="1">
                <a:solidFill>
                  <a:schemeClr val="tx1"/>
                </a:solidFill>
                <a:effectLst/>
                <a:latin typeface="+mn-lt"/>
                <a:ea typeface="+mn-ea"/>
                <a:cs typeface="+mn-cs"/>
              </a:rPr>
              <a:t>flags</a:t>
            </a:r>
            <a:r>
              <a:rPr lang="es-AR" sz="1200" kern="1200" dirty="0">
                <a:solidFill>
                  <a:schemeClr val="tx1"/>
                </a:solidFill>
                <a:effectLst/>
                <a:latin typeface="+mn-lt"/>
                <a:ea typeface="+mn-ea"/>
                <a:cs typeface="+mn-cs"/>
              </a:rPr>
              <a:t> (banderas).</a:t>
            </a:r>
            <a:endParaRPr lang="es-ES" sz="18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R/W significa que el bit correspondiente se puede leer y escribir, mientras que R significa que solamente puede ser leído. También se indica el estado que se establece tras un </a:t>
            </a:r>
            <a:r>
              <a:rPr lang="es-AR" sz="1200" kern="1200" dirty="0" err="1">
                <a:solidFill>
                  <a:schemeClr val="tx1"/>
                </a:solidFill>
                <a:effectLst/>
                <a:latin typeface="+mn-lt"/>
                <a:ea typeface="+mn-ea"/>
                <a:cs typeface="+mn-cs"/>
              </a:rPr>
              <a:t>reset</a:t>
            </a:r>
            <a:r>
              <a:rPr lang="es-AR" sz="1200" kern="1200" dirty="0">
                <a:solidFill>
                  <a:schemeClr val="tx1"/>
                </a:solidFill>
                <a:effectLst/>
                <a:latin typeface="+mn-lt"/>
                <a:ea typeface="+mn-ea"/>
                <a:cs typeface="+mn-cs"/>
              </a:rPr>
              <a:t>.</a:t>
            </a:r>
            <a:endParaRPr lang="es-ES" sz="1800"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7, IRP</a:t>
            </a:r>
            <a:r>
              <a:rPr lang="es-AR" sz="1200" kern="1200" dirty="0">
                <a:solidFill>
                  <a:schemeClr val="tx1"/>
                </a:solidFill>
                <a:effectLst/>
                <a:latin typeface="+mn-lt"/>
                <a:ea typeface="+mn-ea"/>
                <a:cs typeface="+mn-cs"/>
              </a:rPr>
              <a:t>: Selección del banco en direccionamiento indirecto. En el PIC16F84A no se usa y debe programarse como 0.</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6 y 5, RP0</a:t>
            </a:r>
            <a:r>
              <a:rPr lang="en-US" sz="1200" kern="1200" dirty="0">
                <a:solidFill>
                  <a:schemeClr val="tx1"/>
                </a:solidFill>
                <a:effectLst/>
                <a:latin typeface="+mn-lt"/>
                <a:ea typeface="+mn-ea"/>
                <a:cs typeface="+mn-cs"/>
              </a:rPr>
              <a:t> y </a:t>
            </a:r>
            <a:r>
              <a:rPr lang="en-US" sz="1200" b="1" kern="1200" dirty="0">
                <a:solidFill>
                  <a:schemeClr val="tx1"/>
                </a:solidFill>
                <a:effectLst/>
                <a:latin typeface="+mn-lt"/>
                <a:ea typeface="+mn-ea"/>
                <a:cs typeface="+mn-cs"/>
              </a:rPr>
              <a:t>RP1</a:t>
            </a:r>
            <a:r>
              <a:rPr lang="en-US" sz="1200" kern="1200" dirty="0">
                <a:solidFill>
                  <a:schemeClr val="tx1"/>
                </a:solidFill>
                <a:effectLst/>
                <a:latin typeface="+mn-lt"/>
                <a:ea typeface="+mn-ea"/>
                <a:cs typeface="+mn-cs"/>
              </a:rPr>
              <a:t>: Register Bank Select. </a:t>
            </a:r>
            <a:r>
              <a:rPr lang="es-AR" sz="1200" kern="1200" dirty="0">
                <a:solidFill>
                  <a:schemeClr val="tx1"/>
                </a:solidFill>
                <a:effectLst/>
                <a:latin typeface="+mn-lt"/>
                <a:ea typeface="+mn-ea"/>
                <a:cs typeface="+mn-cs"/>
              </a:rPr>
              <a:t>Selección de página o banco de la memoria con direccionamiento directo. Cada página contiene 128 bytes. Como el PIC16F84A sólo tiene dos bancos únicamente se emplea RP0 de forma que cuando vale 0 se accede al banco 0 y cuando vale 1 se accede al banco 1. Después de un </a:t>
            </a:r>
            <a:r>
              <a:rPr lang="es-AR" sz="1200" kern="1200" dirty="0" err="1">
                <a:solidFill>
                  <a:schemeClr val="tx1"/>
                </a:solidFill>
                <a:effectLst/>
                <a:latin typeface="+mn-lt"/>
                <a:ea typeface="+mn-ea"/>
                <a:cs typeface="+mn-cs"/>
              </a:rPr>
              <a:t>reset</a:t>
            </a:r>
            <a:r>
              <a:rPr lang="es-AR" sz="1200" kern="1200" dirty="0">
                <a:solidFill>
                  <a:schemeClr val="tx1"/>
                </a:solidFill>
                <a:effectLst/>
                <a:latin typeface="+mn-lt"/>
                <a:ea typeface="+mn-ea"/>
                <a:cs typeface="+mn-cs"/>
              </a:rPr>
              <a:t>, RP0 se pone automáticamente a 0. El bit RP1 deberá ser puesto a cero.</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4 (flag), TO</a:t>
            </a:r>
            <a:r>
              <a:rPr lang="en-US" sz="1200" kern="1200" dirty="0">
                <a:solidFill>
                  <a:schemeClr val="tx1"/>
                </a:solidFill>
                <a:effectLst/>
                <a:latin typeface="+mn-lt"/>
                <a:ea typeface="+mn-ea"/>
                <a:cs typeface="+mn-cs"/>
              </a:rPr>
              <a:t>: Time Out (</a:t>
            </a:r>
            <a:r>
              <a:rPr lang="en-US" sz="1200" kern="1200" dirty="0" err="1">
                <a:solidFill>
                  <a:schemeClr val="tx1"/>
                </a:solidFill>
                <a:effectLst/>
                <a:latin typeface="+mn-lt"/>
                <a:ea typeface="+mn-ea"/>
                <a:cs typeface="+mn-cs"/>
              </a:rPr>
              <a:t>Tiempo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acabado</a:t>
            </a:r>
            <a:r>
              <a:rPr lang="en-US"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Se pone a 1 tras conectar la alimentación o al ejecutar CLRWDT o SLEEP.</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Se pone a 0 por desbordamiento del Perro Guardián WDT.</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3 (flag), PD</a:t>
            </a:r>
            <a:r>
              <a:rPr lang="en-US" sz="1200" kern="1200" dirty="0">
                <a:solidFill>
                  <a:schemeClr val="tx1"/>
                </a:solidFill>
                <a:effectLst/>
                <a:latin typeface="+mn-lt"/>
                <a:ea typeface="+mn-ea"/>
                <a:cs typeface="+mn-cs"/>
              </a:rPr>
              <a:t>: Power Down (</a:t>
            </a:r>
            <a:r>
              <a:rPr lang="en-US" sz="1200" kern="1200" dirty="0" err="1">
                <a:solidFill>
                  <a:schemeClr val="tx1"/>
                </a:solidFill>
                <a:effectLst/>
                <a:latin typeface="+mn-lt"/>
                <a:ea typeface="+mn-ea"/>
                <a:cs typeface="+mn-cs"/>
              </a:rPr>
              <a:t>Apagado</a:t>
            </a:r>
            <a:r>
              <a:rPr lang="en-US"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Se pone automáticamente a 1 tras conectar la alimentación </a:t>
            </a:r>
            <a:r>
              <a:rPr lang="es-AR" sz="1200" kern="1200" dirty="0" err="1">
                <a:solidFill>
                  <a:schemeClr val="tx1"/>
                </a:solidFill>
                <a:effectLst/>
                <a:latin typeface="+mn-lt"/>
                <a:ea typeface="+mn-ea"/>
                <a:cs typeface="+mn-cs"/>
              </a:rPr>
              <a:t>Vdd</a:t>
            </a:r>
            <a:r>
              <a:rPr lang="es-AR" sz="1200" kern="1200" dirty="0">
                <a:solidFill>
                  <a:schemeClr val="tx1"/>
                </a:solidFill>
                <a:effectLst/>
                <a:latin typeface="+mn-lt"/>
                <a:ea typeface="+mn-ea"/>
                <a:cs typeface="+mn-cs"/>
              </a:rPr>
              <a:t> o ejecutar CLRWDT, que resetea el contador </a:t>
            </a:r>
            <a:r>
              <a:rPr lang="es-AR" sz="1200" kern="1200" dirty="0" err="1">
                <a:solidFill>
                  <a:schemeClr val="tx1"/>
                </a:solidFill>
                <a:effectLst/>
                <a:latin typeface="+mn-lt"/>
                <a:ea typeface="+mn-ea"/>
                <a:cs typeface="+mn-cs"/>
              </a:rPr>
              <a:t>WatchDog</a:t>
            </a:r>
            <a:r>
              <a:rPr lang="es-AR" sz="1200" kern="1200" dirty="0">
                <a:solidFill>
                  <a:schemeClr val="tx1"/>
                </a:solidFill>
                <a:effectLst/>
                <a:latin typeface="+mn-lt"/>
                <a:ea typeface="+mn-ea"/>
                <a:cs typeface="+mn-cs"/>
              </a:rPr>
              <a:t>.</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Se pone a 0 al ejecutar la instrucción SLEEP.</a:t>
            </a:r>
            <a:endParaRPr lang="es-ES" sz="1600" kern="1200" dirty="0">
              <a:solidFill>
                <a:schemeClr val="tx1"/>
              </a:solidFill>
              <a:effectLst/>
              <a:latin typeface="+mn-lt"/>
              <a:ea typeface="+mn-ea"/>
              <a:cs typeface="+mn-cs"/>
            </a:endParaRPr>
          </a:p>
          <a:p>
            <a:pPr lvl="0"/>
            <a:endParaRPr lang="es-AR" sz="1200" b="1"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2 (</a:t>
            </a:r>
            <a:r>
              <a:rPr lang="es-AR" sz="1200" b="1" kern="1200" dirty="0" err="1">
                <a:solidFill>
                  <a:schemeClr val="tx1"/>
                </a:solidFill>
                <a:effectLst/>
                <a:latin typeface="+mn-lt"/>
                <a:ea typeface="+mn-ea"/>
                <a:cs typeface="+mn-cs"/>
              </a:rPr>
              <a:t>flag</a:t>
            </a:r>
            <a:r>
              <a:rPr lang="es-AR" sz="1200" b="1" kern="1200" dirty="0">
                <a:solidFill>
                  <a:schemeClr val="tx1"/>
                </a:solidFill>
                <a:effectLst/>
                <a:latin typeface="+mn-lt"/>
                <a:ea typeface="+mn-ea"/>
                <a:cs typeface="+mn-cs"/>
              </a:rPr>
              <a:t>), Z</a:t>
            </a:r>
            <a:r>
              <a:rPr lang="es-AR" sz="1200" kern="1200" dirty="0">
                <a:solidFill>
                  <a:schemeClr val="tx1"/>
                </a:solidFill>
                <a:effectLst/>
                <a:latin typeface="+mn-lt"/>
                <a:ea typeface="+mn-ea"/>
                <a:cs typeface="+mn-cs"/>
              </a:rPr>
              <a:t>: Cero</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1 = El resultado de una operación aritmética o lógica es 0.</a:t>
            </a:r>
            <a:endParaRPr lang="es-ES" sz="1600" kern="1200" dirty="0">
              <a:solidFill>
                <a:schemeClr val="tx1"/>
              </a:solidFill>
              <a:effectLst/>
              <a:latin typeface="+mn-lt"/>
              <a:ea typeface="+mn-ea"/>
              <a:cs typeface="+mn-cs"/>
            </a:endParaRPr>
          </a:p>
          <a:p>
            <a:pPr lvl="1"/>
            <a:r>
              <a:rPr lang="es-AR" sz="1200" kern="1200" dirty="0">
                <a:solidFill>
                  <a:schemeClr val="tx1"/>
                </a:solidFill>
                <a:effectLst/>
                <a:latin typeface="+mn-lt"/>
                <a:ea typeface="+mn-ea"/>
                <a:cs typeface="+mn-cs"/>
              </a:rPr>
              <a:t>0 = El resultado es distinto de 0.</a:t>
            </a:r>
            <a:endParaRPr lang="es-ES" sz="1600" kern="1200" dirty="0">
              <a:solidFill>
                <a:schemeClr val="tx1"/>
              </a:solidFill>
              <a:effectLst/>
              <a:latin typeface="+mn-lt"/>
              <a:ea typeface="+mn-ea"/>
              <a:cs typeface="+mn-cs"/>
            </a:endParaRPr>
          </a:p>
          <a:p>
            <a:pPr lvl="0"/>
            <a:endParaRPr lang="en-US" sz="1200" b="1"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Bit 1 (flag), DC</a:t>
            </a:r>
            <a:r>
              <a:rPr lang="en-US" sz="1200" kern="1200" dirty="0">
                <a:solidFill>
                  <a:schemeClr val="tx1"/>
                </a:solidFill>
                <a:effectLst/>
                <a:latin typeface="+mn-lt"/>
                <a:ea typeface="+mn-ea"/>
                <a:cs typeface="+mn-cs"/>
              </a:rPr>
              <a:t> (Digit Carry). </a:t>
            </a:r>
            <a:r>
              <a:rPr lang="es-AR" sz="1200" kern="1200" dirty="0">
                <a:solidFill>
                  <a:schemeClr val="tx1"/>
                </a:solidFill>
                <a:effectLst/>
                <a:latin typeface="+mn-lt"/>
                <a:ea typeface="+mn-ea"/>
                <a:cs typeface="+mn-cs"/>
              </a:rPr>
              <a:t>Acarreo en el 4º bit de menos peso. Funciona igual que el bit de </a:t>
            </a:r>
            <a:r>
              <a:rPr lang="es-AR" sz="1200" kern="1200" dirty="0" err="1">
                <a:solidFill>
                  <a:schemeClr val="tx1"/>
                </a:solidFill>
                <a:effectLst/>
                <a:latin typeface="+mn-lt"/>
                <a:ea typeface="+mn-ea"/>
                <a:cs typeface="+mn-cs"/>
              </a:rPr>
              <a:t>Carry</a:t>
            </a:r>
            <a:r>
              <a:rPr lang="es-AR" sz="1200" kern="1200" dirty="0">
                <a:solidFill>
                  <a:schemeClr val="tx1"/>
                </a:solidFill>
                <a:effectLst/>
                <a:latin typeface="+mn-lt"/>
                <a:ea typeface="+mn-ea"/>
                <a:cs typeface="+mn-cs"/>
              </a:rPr>
              <a:t> descrito a continuación. De interés en operaciones en BCD</a:t>
            </a:r>
            <a:endParaRPr lang="es-ES" sz="1600" kern="1200" dirty="0">
              <a:solidFill>
                <a:schemeClr val="tx1"/>
              </a:solidFill>
              <a:effectLst/>
              <a:latin typeface="+mn-lt"/>
              <a:ea typeface="+mn-ea"/>
              <a:cs typeface="+mn-cs"/>
            </a:endParaRPr>
          </a:p>
          <a:p>
            <a:pPr lvl="0"/>
            <a:endParaRPr lang="es-AR" sz="1200" b="1" kern="1200" dirty="0">
              <a:solidFill>
                <a:schemeClr val="tx1"/>
              </a:solidFill>
              <a:effectLst/>
              <a:latin typeface="+mn-lt"/>
              <a:ea typeface="+mn-ea"/>
              <a:cs typeface="+mn-cs"/>
            </a:endParaRPr>
          </a:p>
          <a:p>
            <a:pPr lvl="0"/>
            <a:r>
              <a:rPr lang="es-AR" sz="1200" b="1" kern="1200" dirty="0">
                <a:solidFill>
                  <a:schemeClr val="tx1"/>
                </a:solidFill>
                <a:effectLst/>
                <a:latin typeface="+mn-lt"/>
                <a:ea typeface="+mn-ea"/>
                <a:cs typeface="+mn-cs"/>
              </a:rPr>
              <a:t>Bit 0 (</a:t>
            </a:r>
            <a:r>
              <a:rPr lang="es-AR" sz="1200" b="1" kern="1200" dirty="0" err="1">
                <a:solidFill>
                  <a:schemeClr val="tx1"/>
                </a:solidFill>
                <a:effectLst/>
                <a:latin typeface="+mn-lt"/>
                <a:ea typeface="+mn-ea"/>
                <a:cs typeface="+mn-cs"/>
              </a:rPr>
              <a:t>flag</a:t>
            </a:r>
            <a:r>
              <a:rPr lang="es-AR" sz="1200" b="1" kern="1200" dirty="0">
                <a:solidFill>
                  <a:schemeClr val="tx1"/>
                </a:solidFill>
                <a:effectLst/>
                <a:latin typeface="+mn-lt"/>
                <a:ea typeface="+mn-ea"/>
                <a:cs typeface="+mn-cs"/>
              </a:rPr>
              <a:t>), C</a:t>
            </a:r>
            <a:r>
              <a:rPr lang="es-AR" sz="1200" kern="1200" dirty="0">
                <a:solidFill>
                  <a:schemeClr val="tx1"/>
                </a:solidFill>
                <a:effectLst/>
                <a:latin typeface="+mn-lt"/>
                <a:ea typeface="+mn-ea"/>
                <a:cs typeface="+mn-cs"/>
              </a:rPr>
              <a:t> (</a:t>
            </a:r>
            <a:r>
              <a:rPr lang="es-AR" sz="1200" kern="1200" dirty="0" err="1">
                <a:solidFill>
                  <a:schemeClr val="tx1"/>
                </a:solidFill>
                <a:effectLst/>
                <a:latin typeface="+mn-lt"/>
                <a:ea typeface="+mn-ea"/>
                <a:cs typeface="+mn-cs"/>
              </a:rPr>
              <a:t>Carry</a:t>
            </a:r>
            <a:r>
              <a:rPr lang="es-AR" sz="1200" kern="1200" dirty="0">
                <a:solidFill>
                  <a:schemeClr val="tx1"/>
                </a:solidFill>
                <a:effectLst/>
                <a:latin typeface="+mn-lt"/>
                <a:ea typeface="+mn-ea"/>
                <a:cs typeface="+mn-cs"/>
              </a:rPr>
              <a:t>). Acarreo en el 8º bit o bit de mas peso. Es el bit de "acarreo" en operaciones de suma AADWF y ADDLW así como también el bit de "llevada" en las instrucciones de sustracción SUBWF y SUBLW. También lo emplean las instrucciones RLF y RRF de rotación de bits.</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Suma: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1. Se pone a 1 cuando se ha producido acarreo en la suma en el bit de mayor peso con las operaciones AADWF y ADDLW.</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0. Se pone a 0 si en la suma no se ha producido acarreo.</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Resta:  </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1. Se pone a 1 si en la resta no se ha producido llevada.</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0. Se pone a 0 cuando se ha producido llevada en la resta con las operaciones SUBWF y SUBLW.</a:t>
            </a:r>
            <a:endParaRPr lang="es-ES" sz="16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 </a:t>
            </a:r>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44</a:t>
            </a:fld>
            <a:endParaRPr lang="es-ES"/>
          </a:p>
        </p:txBody>
      </p:sp>
    </p:spTree>
    <p:extLst>
      <p:ext uri="{BB962C8B-B14F-4D97-AF65-F5344CB8AC3E}">
        <p14:creationId xmlns:p14="http://schemas.microsoft.com/office/powerpoint/2010/main" val="17211118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45</a:t>
            </a:fld>
            <a:endParaRPr lang="es-ES"/>
          </a:p>
        </p:txBody>
      </p:sp>
    </p:spTree>
    <p:extLst>
      <p:ext uri="{BB962C8B-B14F-4D97-AF65-F5344CB8AC3E}">
        <p14:creationId xmlns:p14="http://schemas.microsoft.com/office/powerpoint/2010/main" val="30746990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46</a:t>
            </a:fld>
            <a:endParaRPr lang="es-ES"/>
          </a:p>
        </p:txBody>
      </p:sp>
    </p:spTree>
    <p:extLst>
      <p:ext uri="{BB962C8B-B14F-4D97-AF65-F5344CB8AC3E}">
        <p14:creationId xmlns:p14="http://schemas.microsoft.com/office/powerpoint/2010/main" val="17019957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47</a:t>
            </a:fld>
            <a:endParaRPr lang="es-ES"/>
          </a:p>
        </p:txBody>
      </p:sp>
    </p:spTree>
    <p:extLst>
      <p:ext uri="{BB962C8B-B14F-4D97-AF65-F5344CB8AC3E}">
        <p14:creationId xmlns:p14="http://schemas.microsoft.com/office/powerpoint/2010/main" val="357490308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48</a:t>
            </a:fld>
            <a:endParaRPr lang="es-ES"/>
          </a:p>
        </p:txBody>
      </p:sp>
    </p:spTree>
    <p:extLst>
      <p:ext uri="{BB962C8B-B14F-4D97-AF65-F5344CB8AC3E}">
        <p14:creationId xmlns:p14="http://schemas.microsoft.com/office/powerpoint/2010/main" val="7218194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49</a:t>
            </a:fld>
            <a:endParaRPr lang="es-ES"/>
          </a:p>
        </p:txBody>
      </p:sp>
    </p:spTree>
    <p:extLst>
      <p:ext uri="{BB962C8B-B14F-4D97-AF65-F5344CB8AC3E}">
        <p14:creationId xmlns:p14="http://schemas.microsoft.com/office/powerpoint/2010/main" val="17472385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50</a:t>
            </a:fld>
            <a:endParaRPr lang="es-ES"/>
          </a:p>
        </p:txBody>
      </p:sp>
    </p:spTree>
    <p:extLst>
      <p:ext uri="{BB962C8B-B14F-4D97-AF65-F5344CB8AC3E}">
        <p14:creationId xmlns:p14="http://schemas.microsoft.com/office/powerpoint/2010/main" val="18942714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51</a:t>
            </a:fld>
            <a:endParaRPr lang="es-ES"/>
          </a:p>
        </p:txBody>
      </p:sp>
    </p:spTree>
    <p:extLst>
      <p:ext uri="{BB962C8B-B14F-4D97-AF65-F5344CB8AC3E}">
        <p14:creationId xmlns:p14="http://schemas.microsoft.com/office/powerpoint/2010/main" val="400610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52</a:t>
            </a:fld>
            <a:endParaRPr lang="es-ES"/>
          </a:p>
        </p:txBody>
      </p:sp>
    </p:spTree>
    <p:extLst>
      <p:ext uri="{BB962C8B-B14F-4D97-AF65-F5344CB8AC3E}">
        <p14:creationId xmlns:p14="http://schemas.microsoft.com/office/powerpoint/2010/main" val="35356227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53</a:t>
            </a:fld>
            <a:endParaRPr lang="es-ES"/>
          </a:p>
        </p:txBody>
      </p:sp>
    </p:spTree>
    <p:extLst>
      <p:ext uri="{BB962C8B-B14F-4D97-AF65-F5344CB8AC3E}">
        <p14:creationId xmlns:p14="http://schemas.microsoft.com/office/powerpoint/2010/main" val="1301856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54</a:t>
            </a:fld>
            <a:endParaRPr lang="es-ES"/>
          </a:p>
        </p:txBody>
      </p:sp>
    </p:spTree>
    <p:extLst>
      <p:ext uri="{BB962C8B-B14F-4D97-AF65-F5344CB8AC3E}">
        <p14:creationId xmlns:p14="http://schemas.microsoft.com/office/powerpoint/2010/main" val="6551604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55</a:t>
            </a:fld>
            <a:endParaRPr lang="es-ES"/>
          </a:p>
        </p:txBody>
      </p:sp>
    </p:spTree>
    <p:extLst>
      <p:ext uri="{BB962C8B-B14F-4D97-AF65-F5344CB8AC3E}">
        <p14:creationId xmlns:p14="http://schemas.microsoft.com/office/powerpoint/2010/main" val="24822258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56</a:t>
            </a:fld>
            <a:endParaRPr lang="es-ES"/>
          </a:p>
        </p:txBody>
      </p:sp>
    </p:spTree>
    <p:extLst>
      <p:ext uri="{BB962C8B-B14F-4D97-AF65-F5344CB8AC3E}">
        <p14:creationId xmlns:p14="http://schemas.microsoft.com/office/powerpoint/2010/main" val="37516599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57</a:t>
            </a:fld>
            <a:endParaRPr lang="es-ES"/>
          </a:p>
        </p:txBody>
      </p:sp>
    </p:spTree>
    <p:extLst>
      <p:ext uri="{BB962C8B-B14F-4D97-AF65-F5344CB8AC3E}">
        <p14:creationId xmlns:p14="http://schemas.microsoft.com/office/powerpoint/2010/main" val="426503440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58</a:t>
            </a:fld>
            <a:endParaRPr lang="es-ES" dirty="0"/>
          </a:p>
        </p:txBody>
      </p:sp>
    </p:spTree>
    <p:extLst>
      <p:ext uri="{BB962C8B-B14F-4D97-AF65-F5344CB8AC3E}">
        <p14:creationId xmlns:p14="http://schemas.microsoft.com/office/powerpoint/2010/main" val="38652187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59</a:t>
            </a:fld>
            <a:endParaRPr lang="es-ES" dirty="0"/>
          </a:p>
        </p:txBody>
      </p:sp>
    </p:spTree>
    <p:extLst>
      <p:ext uri="{BB962C8B-B14F-4D97-AF65-F5344CB8AC3E}">
        <p14:creationId xmlns:p14="http://schemas.microsoft.com/office/powerpoint/2010/main" val="21626995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47040-8522-4E9C-EA0C-383B9F56B2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113947-8D25-2B3C-30D6-646E74D85B8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1A4EA74-8C56-E23E-C728-444575AF288F}"/>
              </a:ext>
            </a:extLst>
          </p:cNvPr>
          <p:cNvSpPr>
            <a:spLocks noGrp="1"/>
          </p:cNvSpPr>
          <p:nvPr>
            <p:ph type="body" idx="1"/>
          </p:nvPr>
        </p:nvSpPr>
        <p:spPr/>
        <p:txBody>
          <a:bodyPr/>
          <a:lstStyle/>
          <a:p>
            <a:endParaRPr lang="es-AR"/>
          </a:p>
        </p:txBody>
      </p:sp>
      <p:sp>
        <p:nvSpPr>
          <p:cNvPr id="4" name="Marcador de número de diapositiva 3">
            <a:extLst>
              <a:ext uri="{FF2B5EF4-FFF2-40B4-BE49-F238E27FC236}">
                <a16:creationId xmlns:a16="http://schemas.microsoft.com/office/drawing/2014/main" id="{F8EB0B2F-4CA8-F168-F178-7B5FFEBB6CF7}"/>
              </a:ext>
            </a:extLst>
          </p:cNvPr>
          <p:cNvSpPr>
            <a:spLocks noGrp="1"/>
          </p:cNvSpPr>
          <p:nvPr>
            <p:ph type="sldNum" sz="quarter" idx="5"/>
          </p:nvPr>
        </p:nvSpPr>
        <p:spPr/>
        <p:txBody>
          <a:bodyPr/>
          <a:lstStyle/>
          <a:p>
            <a:fld id="{B849F7A6-84B0-4051-B3F4-BB60CF50810A}" type="slidenum">
              <a:rPr lang="es-AR" smtClean="0"/>
              <a:t>62</a:t>
            </a:fld>
            <a:endParaRPr lang="es-AR"/>
          </a:p>
        </p:txBody>
      </p:sp>
    </p:spTree>
    <p:extLst>
      <p:ext uri="{BB962C8B-B14F-4D97-AF65-F5344CB8AC3E}">
        <p14:creationId xmlns:p14="http://schemas.microsoft.com/office/powerpoint/2010/main" val="290665617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63</a:t>
            </a:fld>
            <a:endParaRPr lang="es-ES"/>
          </a:p>
        </p:txBody>
      </p:sp>
    </p:spTree>
    <p:extLst>
      <p:ext uri="{BB962C8B-B14F-4D97-AF65-F5344CB8AC3E}">
        <p14:creationId xmlns:p14="http://schemas.microsoft.com/office/powerpoint/2010/main" val="43951310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65</a:t>
            </a:fld>
            <a:endParaRPr lang="es-ES"/>
          </a:p>
        </p:txBody>
      </p:sp>
    </p:spTree>
    <p:extLst>
      <p:ext uri="{BB962C8B-B14F-4D97-AF65-F5344CB8AC3E}">
        <p14:creationId xmlns:p14="http://schemas.microsoft.com/office/powerpoint/2010/main" val="10681175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66</a:t>
            </a:fld>
            <a:endParaRPr lang="es-AR"/>
          </a:p>
        </p:txBody>
      </p:sp>
    </p:spTree>
    <p:extLst>
      <p:ext uri="{BB962C8B-B14F-4D97-AF65-F5344CB8AC3E}">
        <p14:creationId xmlns:p14="http://schemas.microsoft.com/office/powerpoint/2010/main" val="88058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67</a:t>
            </a:fld>
            <a:endParaRPr lang="es-AR"/>
          </a:p>
        </p:txBody>
      </p:sp>
    </p:spTree>
    <p:extLst>
      <p:ext uri="{BB962C8B-B14F-4D97-AF65-F5344CB8AC3E}">
        <p14:creationId xmlns:p14="http://schemas.microsoft.com/office/powerpoint/2010/main" val="10856224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68</a:t>
            </a:fld>
            <a:endParaRPr lang="es-AR"/>
          </a:p>
        </p:txBody>
      </p:sp>
    </p:spTree>
    <p:extLst>
      <p:ext uri="{BB962C8B-B14F-4D97-AF65-F5344CB8AC3E}">
        <p14:creationId xmlns:p14="http://schemas.microsoft.com/office/powerpoint/2010/main" val="5233571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69</a:t>
            </a:fld>
            <a:endParaRPr lang="es-AR"/>
          </a:p>
        </p:txBody>
      </p:sp>
    </p:spTree>
    <p:extLst>
      <p:ext uri="{BB962C8B-B14F-4D97-AF65-F5344CB8AC3E}">
        <p14:creationId xmlns:p14="http://schemas.microsoft.com/office/powerpoint/2010/main" val="5558993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70</a:t>
            </a:fld>
            <a:endParaRPr lang="es-AR"/>
          </a:p>
        </p:txBody>
      </p:sp>
    </p:spTree>
    <p:extLst>
      <p:ext uri="{BB962C8B-B14F-4D97-AF65-F5344CB8AC3E}">
        <p14:creationId xmlns:p14="http://schemas.microsoft.com/office/powerpoint/2010/main" val="3133040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71</a:t>
            </a:fld>
            <a:endParaRPr lang="es-AR"/>
          </a:p>
        </p:txBody>
      </p:sp>
    </p:spTree>
    <p:extLst>
      <p:ext uri="{BB962C8B-B14F-4D97-AF65-F5344CB8AC3E}">
        <p14:creationId xmlns:p14="http://schemas.microsoft.com/office/powerpoint/2010/main" val="13406040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72</a:t>
            </a:fld>
            <a:endParaRPr lang="es-AR"/>
          </a:p>
        </p:txBody>
      </p:sp>
    </p:spTree>
    <p:extLst>
      <p:ext uri="{BB962C8B-B14F-4D97-AF65-F5344CB8AC3E}">
        <p14:creationId xmlns:p14="http://schemas.microsoft.com/office/powerpoint/2010/main" val="25520158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73</a:t>
            </a:fld>
            <a:endParaRPr lang="es-AR"/>
          </a:p>
        </p:txBody>
      </p:sp>
    </p:spTree>
    <p:extLst>
      <p:ext uri="{BB962C8B-B14F-4D97-AF65-F5344CB8AC3E}">
        <p14:creationId xmlns:p14="http://schemas.microsoft.com/office/powerpoint/2010/main" val="95953681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74</a:t>
            </a:fld>
            <a:endParaRPr lang="es-AR"/>
          </a:p>
        </p:txBody>
      </p:sp>
    </p:spTree>
    <p:extLst>
      <p:ext uri="{BB962C8B-B14F-4D97-AF65-F5344CB8AC3E}">
        <p14:creationId xmlns:p14="http://schemas.microsoft.com/office/powerpoint/2010/main" val="31109736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75</a:t>
            </a:fld>
            <a:endParaRPr lang="es-AR"/>
          </a:p>
        </p:txBody>
      </p:sp>
    </p:spTree>
    <p:extLst>
      <p:ext uri="{BB962C8B-B14F-4D97-AF65-F5344CB8AC3E}">
        <p14:creationId xmlns:p14="http://schemas.microsoft.com/office/powerpoint/2010/main" val="23937715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76</a:t>
            </a:fld>
            <a:endParaRPr lang="es-AR"/>
          </a:p>
        </p:txBody>
      </p:sp>
    </p:spTree>
    <p:extLst>
      <p:ext uri="{BB962C8B-B14F-4D97-AF65-F5344CB8AC3E}">
        <p14:creationId xmlns:p14="http://schemas.microsoft.com/office/powerpoint/2010/main" val="137206437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77</a:t>
            </a:fld>
            <a:endParaRPr lang="es-AR"/>
          </a:p>
        </p:txBody>
      </p:sp>
    </p:spTree>
    <p:extLst>
      <p:ext uri="{BB962C8B-B14F-4D97-AF65-F5344CB8AC3E}">
        <p14:creationId xmlns:p14="http://schemas.microsoft.com/office/powerpoint/2010/main" val="236087425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78</a:t>
            </a:fld>
            <a:endParaRPr lang="es-AR"/>
          </a:p>
        </p:txBody>
      </p:sp>
    </p:spTree>
    <p:extLst>
      <p:ext uri="{BB962C8B-B14F-4D97-AF65-F5344CB8AC3E}">
        <p14:creationId xmlns:p14="http://schemas.microsoft.com/office/powerpoint/2010/main" val="20200863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79</a:t>
            </a:fld>
            <a:endParaRPr lang="es-AR"/>
          </a:p>
        </p:txBody>
      </p:sp>
    </p:spTree>
    <p:extLst>
      <p:ext uri="{BB962C8B-B14F-4D97-AF65-F5344CB8AC3E}">
        <p14:creationId xmlns:p14="http://schemas.microsoft.com/office/powerpoint/2010/main" val="31878875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80</a:t>
            </a:fld>
            <a:endParaRPr lang="es-AR"/>
          </a:p>
        </p:txBody>
      </p:sp>
    </p:spTree>
    <p:extLst>
      <p:ext uri="{BB962C8B-B14F-4D97-AF65-F5344CB8AC3E}">
        <p14:creationId xmlns:p14="http://schemas.microsoft.com/office/powerpoint/2010/main" val="5485574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81</a:t>
            </a:fld>
            <a:endParaRPr lang="es-AR"/>
          </a:p>
        </p:txBody>
      </p:sp>
    </p:spTree>
    <p:extLst>
      <p:ext uri="{BB962C8B-B14F-4D97-AF65-F5344CB8AC3E}">
        <p14:creationId xmlns:p14="http://schemas.microsoft.com/office/powerpoint/2010/main" val="359943232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82</a:t>
            </a:fld>
            <a:endParaRPr lang="es-AR"/>
          </a:p>
        </p:txBody>
      </p:sp>
    </p:spTree>
    <p:extLst>
      <p:ext uri="{BB962C8B-B14F-4D97-AF65-F5344CB8AC3E}">
        <p14:creationId xmlns:p14="http://schemas.microsoft.com/office/powerpoint/2010/main" val="40553225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83</a:t>
            </a:fld>
            <a:endParaRPr lang="es-AR"/>
          </a:p>
        </p:txBody>
      </p:sp>
    </p:spTree>
    <p:extLst>
      <p:ext uri="{BB962C8B-B14F-4D97-AF65-F5344CB8AC3E}">
        <p14:creationId xmlns:p14="http://schemas.microsoft.com/office/powerpoint/2010/main" val="170976175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84</a:t>
            </a:fld>
            <a:endParaRPr lang="es-AR"/>
          </a:p>
        </p:txBody>
      </p:sp>
    </p:spTree>
    <p:extLst>
      <p:ext uri="{BB962C8B-B14F-4D97-AF65-F5344CB8AC3E}">
        <p14:creationId xmlns:p14="http://schemas.microsoft.com/office/powerpoint/2010/main" val="4204829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B849F7A6-84B0-4051-B3F4-BB60CF50810A}" type="slidenum">
              <a:rPr lang="es-AR" smtClean="0"/>
              <a:t>85</a:t>
            </a:fld>
            <a:endParaRPr lang="es-AR"/>
          </a:p>
        </p:txBody>
      </p:sp>
    </p:spTree>
    <p:extLst>
      <p:ext uri="{BB962C8B-B14F-4D97-AF65-F5344CB8AC3E}">
        <p14:creationId xmlns:p14="http://schemas.microsoft.com/office/powerpoint/2010/main" val="193661175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108</a:t>
            </a:fld>
            <a:endParaRPr lang="es-ES"/>
          </a:p>
        </p:txBody>
      </p:sp>
    </p:spTree>
    <p:extLst>
      <p:ext uri="{BB962C8B-B14F-4D97-AF65-F5344CB8AC3E}">
        <p14:creationId xmlns:p14="http://schemas.microsoft.com/office/powerpoint/2010/main" val="6443471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Ojo! En la programación se escribe &lt;</a:t>
            </a:r>
            <a:r>
              <a:rPr lang="es-ES" dirty="0" err="1"/>
              <a:t>opcode</a:t>
            </a:r>
            <a:r>
              <a:rPr lang="es-ES" dirty="0"/>
              <a:t>&gt; &lt;Registro&gt;</a:t>
            </a:r>
            <a:r>
              <a:rPr lang="es-ES" baseline="0" dirty="0"/>
              <a:t> , </a:t>
            </a:r>
            <a:r>
              <a:rPr lang="es-ES" baseline="0" dirty="0">
                <a:solidFill>
                  <a:srgbClr val="FF0000"/>
                </a:solidFill>
              </a:rPr>
              <a:t>&lt;Destino&gt;</a:t>
            </a:r>
          </a:p>
          <a:p>
            <a:r>
              <a:rPr lang="es-ES" baseline="0" dirty="0"/>
              <a:t>En absoluto se representa en los 14 bits que se muestra </a:t>
            </a:r>
            <a:r>
              <a:rPr lang="es-ES" dirty="0"/>
              <a:t>&lt;</a:t>
            </a:r>
            <a:r>
              <a:rPr lang="es-ES" dirty="0" err="1"/>
              <a:t>opcode</a:t>
            </a:r>
            <a:r>
              <a:rPr lang="es-ES" dirty="0"/>
              <a:t>&gt; </a:t>
            </a:r>
            <a:r>
              <a:rPr lang="es-ES" baseline="0" dirty="0"/>
              <a:t>, </a:t>
            </a:r>
            <a:r>
              <a:rPr lang="es-ES" baseline="0" dirty="0">
                <a:solidFill>
                  <a:srgbClr val="FF0000"/>
                </a:solidFill>
              </a:rPr>
              <a:t>&lt;Destino&gt;</a:t>
            </a:r>
            <a:r>
              <a:rPr lang="es-ES" baseline="0" dirty="0"/>
              <a:t> </a:t>
            </a:r>
            <a:r>
              <a:rPr lang="es-ES" dirty="0"/>
              <a:t>&lt;Registro&gt;</a:t>
            </a:r>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126</a:t>
            </a:fld>
            <a:endParaRPr lang="es-ES"/>
          </a:p>
        </p:txBody>
      </p:sp>
    </p:spTree>
    <p:extLst>
      <p:ext uri="{BB962C8B-B14F-4D97-AF65-F5344CB8AC3E}">
        <p14:creationId xmlns:p14="http://schemas.microsoft.com/office/powerpoint/2010/main" val="395839261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127</a:t>
            </a:fld>
            <a:endParaRPr lang="es-ES"/>
          </a:p>
        </p:txBody>
      </p:sp>
    </p:spTree>
    <p:extLst>
      <p:ext uri="{BB962C8B-B14F-4D97-AF65-F5344CB8AC3E}">
        <p14:creationId xmlns:p14="http://schemas.microsoft.com/office/powerpoint/2010/main" val="22737655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128</a:t>
            </a:fld>
            <a:endParaRPr lang="es-ES"/>
          </a:p>
        </p:txBody>
      </p:sp>
    </p:spTree>
    <p:extLst>
      <p:ext uri="{BB962C8B-B14F-4D97-AF65-F5344CB8AC3E}">
        <p14:creationId xmlns:p14="http://schemas.microsoft.com/office/powerpoint/2010/main" val="10668036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129</a:t>
            </a:fld>
            <a:endParaRPr lang="es-ES"/>
          </a:p>
        </p:txBody>
      </p:sp>
    </p:spTree>
    <p:extLst>
      <p:ext uri="{BB962C8B-B14F-4D97-AF65-F5344CB8AC3E}">
        <p14:creationId xmlns:p14="http://schemas.microsoft.com/office/powerpoint/2010/main" val="203404885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6B7DDF70-79A8-4239-9D66-261FBAB69E9E}" type="slidenum">
              <a:rPr lang="es-ES" smtClean="0"/>
              <a:t>148</a:t>
            </a:fld>
            <a:endParaRPr lang="es-ES"/>
          </a:p>
        </p:txBody>
      </p:sp>
    </p:spTree>
    <p:extLst>
      <p:ext uri="{BB962C8B-B14F-4D97-AF65-F5344CB8AC3E}">
        <p14:creationId xmlns:p14="http://schemas.microsoft.com/office/powerpoint/2010/main" val="315765184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a:p>
        </p:txBody>
      </p:sp>
      <p:sp>
        <p:nvSpPr>
          <p:cNvPr id="58372"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3EBA06-2BA4-4625-85B8-B28711463882}" type="slidenum">
              <a:rPr lang="es-AR" altLang="es-ES"/>
              <a:pPr eaLnBrk="1" hangingPunct="1"/>
              <a:t>149</a:t>
            </a:fld>
            <a:endParaRPr lang="es-AR" altLang="es-ES"/>
          </a:p>
        </p:txBody>
      </p:sp>
    </p:spTree>
    <p:extLst>
      <p:ext uri="{BB962C8B-B14F-4D97-AF65-F5344CB8AC3E}">
        <p14:creationId xmlns:p14="http://schemas.microsoft.com/office/powerpoint/2010/main" val="239809916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s-AR" altLang="es-ES"/>
              <a:t>En las dos últimas instrucciones de suma funcionan automáticamente tres señalizadores. </a:t>
            </a:r>
          </a:p>
          <a:p>
            <a:r>
              <a:rPr lang="es-AR" altLang="es-ES"/>
              <a:t>El FZ, de cero, que pasa a valer 1 si el resultado de la operación es 0. </a:t>
            </a:r>
          </a:p>
          <a:p>
            <a:r>
              <a:rPr lang="es-AR" altLang="es-ES"/>
              <a:t>El de acarreo, FC, que se pone a 1 cuando hay acarreo en la suma de los dos bits de más peso de los operandos, y finalmente el señalizador de acarreo intermedio, FDC, que adquiere el valor 1 cuando hay acarreo al sumar los dos bits que ocupan el lugar 4.° (bit 3) de los operandos. Este último señalizador es muy interesante si se trabaja con dígitos BCD.</a:t>
            </a:r>
          </a:p>
          <a:p>
            <a:endParaRPr lang="es-AR" altLang="es-ES"/>
          </a:p>
        </p:txBody>
      </p:sp>
      <p:sp>
        <p:nvSpPr>
          <p:cNvPr id="5939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8429D1-D185-4416-94DA-C6C0A7C2169B}" type="slidenum">
              <a:rPr lang="es-AR" altLang="es-ES"/>
              <a:pPr eaLnBrk="1" hangingPunct="1"/>
              <a:t>150</a:t>
            </a:fld>
            <a:endParaRPr lang="es-AR" altLang="es-ES"/>
          </a:p>
        </p:txBody>
      </p:sp>
    </p:spTree>
    <p:extLst>
      <p:ext uri="{BB962C8B-B14F-4D97-AF65-F5344CB8AC3E}">
        <p14:creationId xmlns:p14="http://schemas.microsoft.com/office/powerpoint/2010/main" val="238271100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s-AR" altLang="es-ES"/>
          </a:p>
        </p:txBody>
      </p:sp>
      <p:sp>
        <p:nvSpPr>
          <p:cNvPr id="60420"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941CCD-9E7D-4C70-AEB4-68115F76DE86}" type="slidenum">
              <a:rPr lang="es-AR" altLang="es-ES"/>
              <a:pPr eaLnBrk="1" hangingPunct="1"/>
              <a:t>151</a:t>
            </a:fld>
            <a:endParaRPr lang="es-AR" altLang="es-ES"/>
          </a:p>
        </p:txBody>
      </p:sp>
    </p:spTree>
    <p:extLst>
      <p:ext uri="{BB962C8B-B14F-4D97-AF65-F5344CB8AC3E}">
        <p14:creationId xmlns:p14="http://schemas.microsoft.com/office/powerpoint/2010/main" val="313782257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s-AR" altLang="es-AR"/>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Segoe UI" panose="020B0502040204020203" pitchFamily="34" charset="0"/>
              </a:defRPr>
            </a:lvl1pPr>
            <a:lvl2pPr marL="742950" indent="-285750">
              <a:defRPr>
                <a:solidFill>
                  <a:schemeClr val="tx1"/>
                </a:solidFill>
                <a:latin typeface="Segoe UI" panose="020B0502040204020203" pitchFamily="34" charset="0"/>
              </a:defRPr>
            </a:lvl2pPr>
            <a:lvl3pPr marL="1143000" indent="-228600">
              <a:defRPr>
                <a:solidFill>
                  <a:schemeClr val="tx1"/>
                </a:solidFill>
                <a:latin typeface="Segoe UI" panose="020B0502040204020203" pitchFamily="34" charset="0"/>
              </a:defRPr>
            </a:lvl3pPr>
            <a:lvl4pPr marL="1600200" indent="-228600">
              <a:defRPr>
                <a:solidFill>
                  <a:schemeClr val="tx1"/>
                </a:solidFill>
                <a:latin typeface="Segoe UI" panose="020B0502040204020203" pitchFamily="34" charset="0"/>
              </a:defRPr>
            </a:lvl4pPr>
            <a:lvl5pPr marL="2057400" indent="-228600">
              <a:defRPr>
                <a:solidFill>
                  <a:schemeClr val="tx1"/>
                </a:solidFill>
                <a:latin typeface="Segoe UI" panose="020B0502040204020203" pitchFamily="34" charset="0"/>
              </a:defRPr>
            </a:lvl5pPr>
            <a:lvl6pPr marL="2514600" indent="-228600" eaLnBrk="0" fontAlgn="base" hangingPunct="0">
              <a:spcBef>
                <a:spcPct val="0"/>
              </a:spcBef>
              <a:spcAft>
                <a:spcPct val="0"/>
              </a:spcAft>
              <a:defRPr>
                <a:solidFill>
                  <a:schemeClr val="tx1"/>
                </a:solidFill>
                <a:latin typeface="Segoe UI" panose="020B0502040204020203" pitchFamily="34" charset="0"/>
              </a:defRPr>
            </a:lvl6pPr>
            <a:lvl7pPr marL="2971800" indent="-228600" eaLnBrk="0" fontAlgn="base" hangingPunct="0">
              <a:spcBef>
                <a:spcPct val="0"/>
              </a:spcBef>
              <a:spcAft>
                <a:spcPct val="0"/>
              </a:spcAft>
              <a:defRPr>
                <a:solidFill>
                  <a:schemeClr val="tx1"/>
                </a:solidFill>
                <a:latin typeface="Segoe UI" panose="020B0502040204020203" pitchFamily="34" charset="0"/>
              </a:defRPr>
            </a:lvl7pPr>
            <a:lvl8pPr marL="3429000" indent="-228600" eaLnBrk="0" fontAlgn="base" hangingPunct="0">
              <a:spcBef>
                <a:spcPct val="0"/>
              </a:spcBef>
              <a:spcAft>
                <a:spcPct val="0"/>
              </a:spcAft>
              <a:defRPr>
                <a:solidFill>
                  <a:schemeClr val="tx1"/>
                </a:solidFill>
                <a:latin typeface="Segoe UI" panose="020B0502040204020203" pitchFamily="34" charset="0"/>
              </a:defRPr>
            </a:lvl8pPr>
            <a:lvl9pPr marL="3886200" indent="-228600" eaLnBrk="0" fontAlgn="base" hangingPunct="0">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F398555E-18A9-4ECF-B91D-4D1B1F60D133}" type="slidenum">
              <a:rPr lang="en-US" altLang="es-AR" smtClean="0">
                <a:latin typeface="Calibri" panose="020F0502020204030204" pitchFamily="34" charset="0"/>
              </a:rPr>
              <a:pPr fontAlgn="base">
                <a:spcBef>
                  <a:spcPct val="0"/>
                </a:spcBef>
                <a:spcAft>
                  <a:spcPct val="0"/>
                </a:spcAft>
              </a:pPr>
              <a:t>216</a:t>
            </a:fld>
            <a:endParaRPr lang="en-US" altLang="es-AR">
              <a:latin typeface="Calibri" panose="020F0502020204030204" pitchFamily="34" charset="0"/>
            </a:endParaRPr>
          </a:p>
        </p:txBody>
      </p:sp>
    </p:spTree>
    <p:extLst>
      <p:ext uri="{BB962C8B-B14F-4D97-AF65-F5344CB8AC3E}">
        <p14:creationId xmlns:p14="http://schemas.microsoft.com/office/powerpoint/2010/main" val="5750426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6.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perso.wanadoo.es/pictob/micropic16f84_2.htm#registro_de_estado__03h_y_83h_"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0.png"/><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jpeg"/></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4.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oleObject" Target="../embeddings/oleObject1.bin"/></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7.png"/></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1.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slides/_rels/slide13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79.emf"/></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3" Type="http://schemas.openxmlformats.org/officeDocument/2006/relationships/hyperlink" Target="http://files.licrgarcia.webnode.com.ar/200000437-177dd18788/Proyecto%201.pdsprj" TargetMode="External"/><Relationship Id="rId2" Type="http://schemas.openxmlformats.org/officeDocument/2006/relationships/hyperlink" Target="http://files.licrgarcia.webnode.com.ar/200000439-ee096ef033/Diagramas%20de%20flujo.vsd" TargetMode="External"/><Relationship Id="rId1" Type="http://schemas.openxmlformats.org/officeDocument/2006/relationships/slideLayout" Target="../slideLayouts/slideLayout7.xml"/><Relationship Id="rId5" Type="http://schemas.openxmlformats.org/officeDocument/2006/relationships/hyperlink" Target="http://files.licrgarcia.webnode.com.ar/200000438-04ee205e76/TP%20turnos.doc" TargetMode="External"/><Relationship Id="rId4" Type="http://schemas.openxmlformats.org/officeDocument/2006/relationships/hyperlink" Target="http://files.licrgarcia.webnode.com.ar/200000440-acf6eadf0a/TP-turnos-solucion.asm" TargetMode="Externa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300.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emf"/><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media/image106.emf"/><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image" Target="../media/image101.gif"/><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62130" y="1218950"/>
            <a:ext cx="9144000" cy="838200"/>
          </a:xfrm>
          <a:custGeom>
            <a:avLst/>
            <a:gdLst>
              <a:gd name="connsiteX0" fmla="*/ 0 w 9144000"/>
              <a:gd name="connsiteY0" fmla="*/ 0 h 838200"/>
              <a:gd name="connsiteX1" fmla="*/ 9144000 w 9144000"/>
              <a:gd name="connsiteY1" fmla="*/ 0 h 838200"/>
              <a:gd name="connsiteX2" fmla="*/ 9144000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4000" y="0"/>
                </a:lnTo>
                <a:lnTo>
                  <a:pt x="9144000"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1092200" y="7048500"/>
            <a:ext cx="2921000" cy="127000"/>
          </a:xfrm>
          <a:prstGeom prst="rect">
            <a:avLst/>
          </a:prstGeom>
          <a:noFill/>
        </p:spPr>
        <p:txBody>
          <a:bodyPr wrap="none" lIns="0" tIns="0" rIns="0" rtlCol="0">
            <a:spAutoFit/>
          </a:bodyPr>
          <a:lstStyle/>
          <a:p>
            <a:pPr>
              <a:lnSpc>
                <a:spcPts val="1000"/>
              </a:lnSpc>
              <a:tabLst/>
            </a:pPr>
            <a:r>
              <a:rPr lang="en-US" altLang="zh-CN" sz="798" dirty="0">
                <a:solidFill>
                  <a:srgbClr val="FFFFFF"/>
                </a:solidFill>
                <a:latin typeface="Times New Roman" pitchFamily="18" charset="0"/>
                <a:cs typeface="Times New Roman" pitchFamily="18" charset="0"/>
              </a:rPr>
              <a:t>©</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2005</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Microchip</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Technology</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Incorporated.</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All</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Rights</a:t>
            </a:r>
            <a:r>
              <a:rPr lang="en-US" altLang="zh-CN" sz="798" dirty="0">
                <a:latin typeface="Times New Roman" pitchFamily="18" charset="0"/>
                <a:cs typeface="Times New Roman" pitchFamily="18" charset="0"/>
              </a:rPr>
              <a:t> </a:t>
            </a:r>
            <a:r>
              <a:rPr lang="en-US" altLang="zh-CN" sz="798" dirty="0">
                <a:solidFill>
                  <a:srgbClr val="FFFFFF"/>
                </a:solidFill>
                <a:latin typeface="Times New Roman" pitchFamily="18" charset="0"/>
                <a:cs typeface="Times New Roman" pitchFamily="18" charset="0"/>
              </a:rPr>
              <a:t>Reserved.</a:t>
            </a:r>
          </a:p>
        </p:txBody>
      </p:sp>
      <p:sp>
        <p:nvSpPr>
          <p:cNvPr id="18" name="TextBox 1"/>
          <p:cNvSpPr txBox="1"/>
          <p:nvPr/>
        </p:nvSpPr>
        <p:spPr>
          <a:xfrm>
            <a:off x="469900" y="429191"/>
            <a:ext cx="10058400" cy="6145272"/>
          </a:xfrm>
          <a:prstGeom prst="rect">
            <a:avLst/>
          </a:prstGeom>
          <a:noFill/>
        </p:spPr>
        <p:txBody>
          <a:bodyPr wrap="square" lIns="0" tIns="0" rIns="0" rtlCol="0">
            <a:spAutoFit/>
          </a:bodyPr>
          <a:lstStyle/>
          <a:p>
            <a:pPr algn="ctr">
              <a:lnSpc>
                <a:spcPts val="1800"/>
              </a:lnSpc>
              <a:tabLst>
                <a:tab pos="1193800" algn="l"/>
                <a:tab pos="1866900" algn="l"/>
                <a:tab pos="2247900" algn="l"/>
                <a:tab pos="2298700" algn="l"/>
              </a:tabLst>
            </a:pPr>
            <a:r>
              <a:rPr lang="en-US" altLang="zh-CN" sz="1397" dirty="0">
                <a:solidFill>
                  <a:srgbClr val="FFFFFF"/>
                </a:solidFill>
                <a:latin typeface="Times New Roman" pitchFamily="18" charset="0"/>
                <a:cs typeface="Times New Roman" pitchFamily="18" charset="0"/>
              </a:rPr>
              <a:t>Aprendiendo</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PIC</a:t>
            </a:r>
            <a:r>
              <a:rPr lang="en-US" altLang="zh-CN" sz="935" dirty="0">
                <a:solidFill>
                  <a:srgbClr val="FFFFFF"/>
                </a:solidFill>
                <a:latin typeface="Symbol" pitchFamily="18" charset="0"/>
                <a:cs typeface="Symbol" pitchFamily="18" charset="0"/>
              </a:rPr>
              <a:t>®</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Rango</a:t>
            </a:r>
            <a:r>
              <a:rPr lang="en-US" altLang="zh-CN" sz="1397" dirty="0">
                <a:latin typeface="Times New Roman" pitchFamily="18" charset="0"/>
                <a:cs typeface="Times New Roman" pitchFamily="18" charset="0"/>
              </a:rPr>
              <a:t> </a:t>
            </a:r>
            <a:r>
              <a:rPr lang="en-US" altLang="zh-CN" sz="1397" dirty="0">
                <a:solidFill>
                  <a:srgbClr val="FFFFFF"/>
                </a:solidFill>
                <a:latin typeface="Times New Roman" pitchFamily="18" charset="0"/>
                <a:cs typeface="Times New Roman" pitchFamily="18" charset="0"/>
              </a:rPr>
              <a:t>Medio</a:t>
            </a:r>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r>
              <a:rPr lang="en-US" altLang="zh-CN" sz="5400"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de </a:t>
            </a:r>
            <a:r>
              <a:rPr lang="en-US" altLang="zh-CN" sz="5400" b="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Computadoras</a:t>
            </a:r>
            <a:endPar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algn="ctr">
              <a:lnSpc>
                <a:spcPts val="2500"/>
              </a:lnSpc>
              <a:tabLst>
                <a:tab pos="1193800" algn="l"/>
                <a:tab pos="1866900" algn="l"/>
                <a:tab pos="2247900" algn="l"/>
                <a:tab pos="2298700" algn="l"/>
              </a:tabLst>
            </a:pPr>
            <a:endPar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algn="ctr">
              <a:lnSpc>
                <a:spcPts val="2500"/>
              </a:lnSpc>
              <a:tabLst>
                <a:tab pos="1193800" algn="l"/>
                <a:tab pos="1866900" algn="l"/>
                <a:tab pos="2247900" algn="l"/>
                <a:tab pos="2298700" algn="l"/>
              </a:tabLst>
            </a:pPr>
            <a:r>
              <a:rPr lang="en-US" altLang="zh-CN" sz="5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2025</a:t>
            </a:r>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lgn="ctr">
              <a:lnSpc>
                <a:spcPts val="1000"/>
              </a:lnSpc>
            </a:pPr>
            <a:endParaRPr lang="en-US" altLang="zh-CN" dirty="0"/>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Primer </a:t>
            </a:r>
            <a:r>
              <a:rPr lang="en-US" altLang="zh-CN" i="1" dirty="0" err="1">
                <a:solidFill>
                  <a:srgbClr val="FF0000"/>
                </a:solidFill>
                <a:effectLst>
                  <a:outerShdw blurRad="38100" dist="38100" dir="2700000" algn="tl">
                    <a:srgbClr val="000000">
                      <a:alpha val="43137"/>
                    </a:srgbClr>
                  </a:outerShdw>
                </a:effectLst>
              </a:rPr>
              <a:t>Parcial</a:t>
            </a:r>
            <a:r>
              <a:rPr lang="en-US" altLang="zh-CN" i="1" dirty="0">
                <a:solidFill>
                  <a:srgbClr val="FF0000"/>
                </a:solidFill>
                <a:effectLst>
                  <a:outerShdw blurRad="38100" dist="38100" dir="2700000" algn="tl">
                    <a:srgbClr val="000000">
                      <a:alpha val="43137"/>
                    </a:srgbClr>
                  </a:outerShdw>
                </a:effectLst>
              </a:rPr>
              <a:t>:  		                	</a:t>
            </a:r>
            <a:r>
              <a:rPr lang="en-US" altLang="zh-CN" i="1" dirty="0" err="1">
                <a:solidFill>
                  <a:srgbClr val="FF0000"/>
                </a:solidFill>
                <a:effectLst>
                  <a:outerShdw blurRad="38100" dist="38100" dir="2700000" algn="tl">
                    <a:srgbClr val="000000">
                      <a:alpha val="43137"/>
                    </a:srgbClr>
                  </a:outerShdw>
                </a:effectLst>
              </a:rPr>
              <a:t>Recuperatorio</a:t>
            </a:r>
            <a:r>
              <a:rPr lang="en-US" altLang="zh-CN" i="1" dirty="0">
                <a:solidFill>
                  <a:srgbClr val="FF0000"/>
                </a:solidFill>
                <a:effectLst>
                  <a:outerShdw blurRad="38100" dist="38100" dir="2700000" algn="tl">
                    <a:srgbClr val="000000">
                      <a:alpha val="43137"/>
                    </a:srgbClr>
                  </a:outerShdw>
                </a:effectLst>
              </a:rPr>
              <a:t>:</a:t>
            </a: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Segundo </a:t>
            </a:r>
            <a:r>
              <a:rPr lang="en-US" altLang="zh-CN" i="1" dirty="0" err="1">
                <a:solidFill>
                  <a:srgbClr val="FF0000"/>
                </a:solidFill>
                <a:effectLst>
                  <a:outerShdw blurRad="38100" dist="38100" dir="2700000" algn="tl">
                    <a:srgbClr val="000000">
                      <a:alpha val="43137"/>
                    </a:srgbClr>
                  </a:outerShdw>
                </a:effectLst>
              </a:rPr>
              <a:t>Parcial</a:t>
            </a:r>
            <a:r>
              <a:rPr lang="en-US" altLang="zh-CN" i="1" dirty="0">
                <a:solidFill>
                  <a:srgbClr val="FF0000"/>
                </a:solidFill>
                <a:effectLst>
                  <a:outerShdw blurRad="38100" dist="38100" dir="2700000" algn="tl">
                    <a:srgbClr val="000000">
                      <a:alpha val="43137"/>
                    </a:srgbClr>
                  </a:outerShdw>
                </a:effectLst>
              </a:rPr>
              <a:t>: 					</a:t>
            </a:r>
            <a:r>
              <a:rPr lang="en-US" altLang="zh-CN" i="1" dirty="0" err="1">
                <a:solidFill>
                  <a:srgbClr val="FF0000"/>
                </a:solidFill>
                <a:effectLst>
                  <a:outerShdw blurRad="38100" dist="38100" dir="2700000" algn="tl">
                    <a:srgbClr val="000000">
                      <a:alpha val="43137"/>
                    </a:srgbClr>
                  </a:outerShdw>
                </a:effectLst>
              </a:rPr>
              <a:t>Recuperatorio</a:t>
            </a:r>
            <a:r>
              <a:rPr lang="en-US" altLang="zh-CN" i="1" dirty="0">
                <a:solidFill>
                  <a:srgbClr val="FF0000"/>
                </a:solidFill>
                <a:effectLst>
                  <a:outerShdw blurRad="38100" dist="38100" dir="2700000" algn="tl">
                    <a:srgbClr val="000000">
                      <a:alpha val="43137"/>
                    </a:srgbClr>
                  </a:outerShdw>
                </a:effectLst>
              </a:rPr>
              <a:t>: </a:t>
            </a:r>
          </a:p>
          <a:p>
            <a:pPr>
              <a:tabLst>
                <a:tab pos="1193800" algn="l"/>
                <a:tab pos="1866900" algn="l"/>
                <a:tab pos="2247900" algn="l"/>
                <a:tab pos="2298700" algn="l"/>
              </a:tabLst>
            </a:pPr>
            <a:endParaRPr lang="en-US" altLang="zh-CN" i="1" dirty="0">
              <a:solidFill>
                <a:srgbClr val="00B05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err="1">
                <a:solidFill>
                  <a:srgbClr val="00B050"/>
                </a:solidFill>
                <a:effectLst>
                  <a:outerShdw blurRad="38100" dist="38100" dir="2700000" algn="tl">
                    <a:srgbClr val="000000">
                      <a:alpha val="43137"/>
                    </a:srgbClr>
                  </a:outerShdw>
                </a:effectLst>
              </a:rPr>
              <a:t>Entrega</a:t>
            </a:r>
            <a:r>
              <a:rPr lang="en-US" altLang="zh-CN" i="1" dirty="0">
                <a:solidFill>
                  <a:srgbClr val="00B050"/>
                </a:solidFill>
                <a:effectLst>
                  <a:outerShdw blurRad="38100" dist="38100" dir="2700000" algn="tl">
                    <a:srgbClr val="000000">
                      <a:alpha val="43137"/>
                    </a:srgbClr>
                  </a:outerShdw>
                </a:effectLst>
              </a:rPr>
              <a:t> TP1 :</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TP2:</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TP3:</a:t>
            </a:r>
          </a:p>
          <a:p>
            <a:pPr>
              <a:tabLst>
                <a:tab pos="1193800" algn="l"/>
                <a:tab pos="1866900" algn="l"/>
                <a:tab pos="2247900" algn="l"/>
                <a:tab pos="2298700" algn="l"/>
              </a:tabLst>
            </a:pPr>
            <a:r>
              <a:rPr lang="en-US" altLang="zh-CN" i="1" dirty="0" err="1">
                <a:solidFill>
                  <a:srgbClr val="FF0000"/>
                </a:solidFill>
                <a:effectLst>
                  <a:outerShdw blurRad="38100" dist="38100" dir="2700000" algn="tl">
                    <a:srgbClr val="000000">
                      <a:alpha val="43137"/>
                    </a:srgbClr>
                  </a:outerShdw>
                </a:effectLst>
              </a:rPr>
              <a:t>Entrega</a:t>
            </a:r>
            <a:r>
              <a:rPr lang="en-US" altLang="zh-CN" i="1" dirty="0">
                <a:solidFill>
                  <a:srgbClr val="FF0000"/>
                </a:solidFill>
                <a:effectLst>
                  <a:outerShdw blurRad="38100" dist="38100" dir="2700000" algn="tl">
                    <a:srgbClr val="000000">
                      <a:alpha val="43137"/>
                    </a:srgbClr>
                  </a:outerShdw>
                </a:effectLst>
              </a:rPr>
              <a:t>  TP4:</a:t>
            </a: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endParaRPr lang="en-US" altLang="zh-CN" i="1" dirty="0">
              <a:solidFill>
                <a:srgbClr val="FF0000"/>
              </a:solidFill>
              <a:effectLst>
                <a:outerShdw blurRad="38100" dist="38100" dir="2700000" algn="tl">
                  <a:srgbClr val="000000">
                    <a:alpha val="43137"/>
                  </a:srgbClr>
                </a:outerShdw>
              </a:effectLst>
            </a:endParaRPr>
          </a:p>
          <a:p>
            <a:pPr>
              <a:tabLst>
                <a:tab pos="1193800" algn="l"/>
                <a:tab pos="1866900" algn="l"/>
                <a:tab pos="2247900" algn="l"/>
                <a:tab pos="2298700" algn="l"/>
              </a:tabLst>
            </a:pPr>
            <a:r>
              <a:rPr lang="en-US" altLang="zh-CN" i="1" dirty="0">
                <a:solidFill>
                  <a:srgbClr val="FF0000"/>
                </a:solidFill>
                <a:effectLst>
                  <a:outerShdw blurRad="38100" dist="38100" dir="2700000" algn="tl">
                    <a:srgbClr val="000000">
                      <a:alpha val="43137"/>
                    </a:srgbClr>
                  </a:outerShdw>
                </a:effectLst>
              </a:rPr>
              <a:t>		</a:t>
            </a:r>
          </a:p>
        </p:txBody>
      </p:sp>
      <p:sp>
        <p:nvSpPr>
          <p:cNvPr id="19" name="CuadroTexto 18"/>
          <p:cNvSpPr txBox="1"/>
          <p:nvPr/>
        </p:nvSpPr>
        <p:spPr>
          <a:xfrm>
            <a:off x="393700" y="6599237"/>
            <a:ext cx="9982201" cy="369332"/>
          </a:xfrm>
          <a:prstGeom prst="rect">
            <a:avLst/>
          </a:prstGeom>
          <a:noFill/>
        </p:spPr>
        <p:txBody>
          <a:bodyPr wrap="square" rtlCol="0">
            <a:spAutoFit/>
          </a:bodyPr>
          <a:lstStyle/>
          <a:p>
            <a:pPr algn="ctr"/>
            <a:r>
              <a:rPr lang="es-ES" b="1" u="sng" dirty="0">
                <a:solidFill>
                  <a:srgbClr val="FF0000"/>
                </a:solidFill>
                <a:effectLst>
                  <a:outerShdw blurRad="38100" dist="38100" dir="2700000" algn="tl">
                    <a:srgbClr val="000000">
                      <a:alpha val="43137"/>
                    </a:srgbClr>
                  </a:outerShdw>
                </a:effectLst>
              </a:rPr>
              <a:t>Material Disponible en el Aula Virtual UNLa</a:t>
            </a:r>
            <a:endParaRPr lang="es-ES" b="1" dirty="0">
              <a:solidFill>
                <a:srgbClr val="FF0000"/>
              </a:solidFill>
              <a:effectLst>
                <a:outerShdw blurRad="38100" dist="38100" dir="2700000" algn="tl">
                  <a:srgbClr val="000000">
                    <a:alpha val="43137"/>
                  </a:srgbClr>
                </a:outerShdw>
              </a:effectLst>
            </a:endParaRPr>
          </a:p>
        </p:txBody>
      </p:sp>
      <p:pic>
        <p:nvPicPr>
          <p:cNvPr id="16" name="Imagen 15" descr="Imagen que contiene Calendario&#10;&#10;El contenido generado por IA puede ser incorrecto.">
            <a:extLst>
              <a:ext uri="{FF2B5EF4-FFF2-40B4-BE49-F238E27FC236}">
                <a16:creationId xmlns:a16="http://schemas.microsoft.com/office/drawing/2014/main" id="{96E40F5D-08D3-1D84-4F9B-E0B40B0D96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8100" y="274638"/>
            <a:ext cx="8229600" cy="1143000"/>
          </a:xfrm>
        </p:spPr>
        <p:txBody>
          <a:bodyPr>
            <a:normAutofit fontScale="90000"/>
          </a:bodyPr>
          <a:lstStyle/>
          <a:p>
            <a:r>
              <a:rPr lang="es-MX" dirty="0"/>
              <a:t>Para reflexionar antes de la cursada</a:t>
            </a:r>
            <a:endParaRPr lang="es-AR" dirty="0"/>
          </a:p>
        </p:txBody>
      </p:sp>
      <p:sp>
        <p:nvSpPr>
          <p:cNvPr id="3" name="Marcador de contenido 2"/>
          <p:cNvSpPr>
            <a:spLocks noGrp="1"/>
          </p:cNvSpPr>
          <p:nvPr>
            <p:ph idx="1"/>
          </p:nvPr>
        </p:nvSpPr>
        <p:spPr>
          <a:xfrm>
            <a:off x="457200" y="1143000"/>
            <a:ext cx="9232900" cy="6065837"/>
          </a:xfrm>
        </p:spPr>
        <p:txBody>
          <a:bodyPr>
            <a:noAutofit/>
          </a:bodyPr>
          <a:lstStyle/>
          <a:p>
            <a:pPr marL="0" indent="0" algn="just">
              <a:buNone/>
            </a:pPr>
            <a:r>
              <a:rPr lang="es-MX" sz="2800" i="1" dirty="0">
                <a:effectLst>
                  <a:outerShdw blurRad="38100" dist="38100" dir="2700000" algn="tl">
                    <a:srgbClr val="000000">
                      <a:alpha val="43137"/>
                    </a:srgbClr>
                  </a:outerShdw>
                </a:effectLst>
              </a:rPr>
              <a:t>Los alumnos no “saben” porque el profesor enseña.</a:t>
            </a:r>
          </a:p>
          <a:p>
            <a:pPr marL="0" indent="0" algn="just">
              <a:buNone/>
            </a:pPr>
            <a:r>
              <a:rPr lang="es-MX" sz="2800" i="1" dirty="0">
                <a:effectLst>
                  <a:outerShdw blurRad="38100" dist="38100" dir="2700000" algn="tl">
                    <a:srgbClr val="000000">
                      <a:alpha val="43137"/>
                    </a:srgbClr>
                  </a:outerShdw>
                </a:effectLst>
              </a:rPr>
              <a:t>Los alumnos generan su aprendizaje a partir de la aportación de los profesores que no son más que </a:t>
            </a:r>
            <a:r>
              <a:rPr lang="es-MX" sz="2800" i="1" dirty="0">
                <a:solidFill>
                  <a:srgbClr val="FF0000"/>
                </a:solidFill>
                <a:effectLst>
                  <a:outerShdw blurRad="38100" dist="38100" dir="2700000" algn="tl">
                    <a:srgbClr val="000000">
                      <a:alpha val="43137"/>
                    </a:srgbClr>
                  </a:outerShdw>
                </a:effectLst>
              </a:rPr>
              <a:t>facilitadores</a:t>
            </a:r>
            <a:r>
              <a:rPr lang="es-MX" sz="2800" i="1" dirty="0">
                <a:effectLst>
                  <a:outerShdw blurRad="38100" dist="38100" dir="2700000" algn="tl">
                    <a:srgbClr val="000000">
                      <a:alpha val="43137"/>
                    </a:srgbClr>
                  </a:outerShdw>
                </a:effectLst>
              </a:rPr>
              <a:t> de conocimiento.</a:t>
            </a:r>
          </a:p>
          <a:p>
            <a:pPr marL="0" indent="0" algn="just">
              <a:buNone/>
            </a:pPr>
            <a:endParaRPr lang="es-MX" sz="2800" i="1" dirty="0">
              <a:effectLst>
                <a:outerShdw blurRad="38100" dist="38100" dir="2700000" algn="tl">
                  <a:srgbClr val="000000">
                    <a:alpha val="43137"/>
                  </a:srgbClr>
                </a:outerShdw>
              </a:effectLst>
            </a:endParaRPr>
          </a:p>
          <a:p>
            <a:pPr marL="0" indent="0" algn="just">
              <a:buNone/>
            </a:pPr>
            <a:r>
              <a:rPr lang="es-MX" sz="2800" i="1" dirty="0">
                <a:effectLst>
                  <a:outerShdw blurRad="38100" dist="38100" dir="2700000" algn="tl">
                    <a:srgbClr val="000000">
                      <a:alpha val="43137"/>
                    </a:srgbClr>
                  </a:outerShdw>
                </a:effectLst>
              </a:rPr>
              <a:t>El </a:t>
            </a:r>
            <a:r>
              <a:rPr lang="es-MX" sz="2800" i="1" dirty="0">
                <a:solidFill>
                  <a:srgbClr val="FF0000"/>
                </a:solidFill>
                <a:effectLst>
                  <a:outerShdw blurRad="38100" dist="38100" dir="2700000" algn="tl">
                    <a:srgbClr val="000000">
                      <a:alpha val="43137"/>
                    </a:srgbClr>
                  </a:outerShdw>
                </a:effectLst>
              </a:rPr>
              <a:t>saber hacer</a:t>
            </a:r>
            <a:r>
              <a:rPr lang="es-MX" sz="2800" i="1" dirty="0">
                <a:effectLst>
                  <a:outerShdw blurRad="38100" dist="38100" dir="2700000" algn="tl">
                    <a:srgbClr val="000000">
                      <a:alpha val="43137"/>
                    </a:srgbClr>
                  </a:outerShdw>
                </a:effectLst>
              </a:rPr>
              <a:t> se consigue cuando los alumnos logran conectarse con lo que se quiere.</a:t>
            </a:r>
          </a:p>
          <a:p>
            <a:pPr marL="0" indent="0" algn="just">
              <a:buNone/>
            </a:pPr>
            <a:endParaRPr lang="es-MX" sz="2800" i="1" dirty="0">
              <a:effectLst>
                <a:outerShdw blurRad="38100" dist="38100" dir="2700000" algn="tl">
                  <a:srgbClr val="000000">
                    <a:alpha val="43137"/>
                  </a:srgbClr>
                </a:outerShdw>
              </a:effectLst>
            </a:endParaRPr>
          </a:p>
          <a:p>
            <a:pPr marL="0" indent="0" algn="just">
              <a:buNone/>
            </a:pPr>
            <a:r>
              <a:rPr lang="es-MX" sz="2800" i="1" dirty="0">
                <a:effectLst>
                  <a:outerShdw blurRad="38100" dist="38100" dir="2700000" algn="tl">
                    <a:srgbClr val="000000">
                      <a:alpha val="43137"/>
                    </a:srgbClr>
                  </a:outerShdw>
                </a:effectLst>
              </a:rPr>
              <a:t>Compromiso, dedicación, intencionalidad y tiempo. Es el “costo” que los alumnos están dispuesto a pagar para alcanzar el objetivo de lo que se quiere.</a:t>
            </a:r>
          </a:p>
          <a:p>
            <a:pPr marL="0" indent="0" algn="just">
              <a:buNone/>
            </a:pPr>
            <a:r>
              <a:rPr lang="es-MX" sz="2800" i="1" dirty="0">
                <a:effectLst>
                  <a:outerShdw blurRad="38100" dist="38100" dir="2700000" algn="tl">
                    <a:srgbClr val="000000">
                      <a:alpha val="43137"/>
                    </a:srgbClr>
                  </a:outerShdw>
                </a:effectLst>
              </a:rPr>
              <a:t>Todo tiene un costo… nada es gratis o mágico.</a:t>
            </a:r>
            <a:endParaRPr lang="es-AR" sz="28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1738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89039" y="3768749"/>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zh-CN" altLang="en-US"/>
          </a:p>
        </p:txBody>
      </p:sp>
      <p:sp>
        <p:nvSpPr>
          <p:cNvPr id="10" name="Freeform 3"/>
          <p:cNvSpPr/>
          <p:nvPr/>
        </p:nvSpPr>
        <p:spPr>
          <a:xfrm>
            <a:off x="-139700" y="3254120"/>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zh-CN" altLang="en-US"/>
          </a:p>
        </p:txBody>
      </p:sp>
      <p:sp>
        <p:nvSpPr>
          <p:cNvPr id="13" name="Freeform 3"/>
          <p:cNvSpPr/>
          <p:nvPr/>
        </p:nvSpPr>
        <p:spPr>
          <a:xfrm flipV="1">
            <a:off x="470038" y="6294437"/>
            <a:ext cx="9829661" cy="165100"/>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285750" indent="-285750" algn="ctr">
              <a:buFont typeface="Arial" panose="020B0604020202020204" pitchFamily="34" charset="0"/>
              <a:buChar char="•"/>
            </a:pP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sp>
        <p:nvSpPr>
          <p:cNvPr id="2" name="TextBox 1"/>
          <p:cNvSpPr txBox="1"/>
          <p:nvPr/>
        </p:nvSpPr>
        <p:spPr>
          <a:xfrm>
            <a:off x="3408154" y="584200"/>
            <a:ext cx="2572820" cy="828432"/>
          </a:xfrm>
          <a:prstGeom prst="rect">
            <a:avLst/>
          </a:prstGeom>
          <a:noFill/>
        </p:spPr>
        <p:txBody>
          <a:bodyPr wrap="none" lIns="0" tIns="0" rIns="0" rtlCol="0">
            <a:spAutoFit/>
          </a:bodyPr>
          <a:lstStyle/>
          <a:p>
            <a:pPr>
              <a:lnSpc>
                <a:spcPts val="6100"/>
              </a:lnSpc>
              <a:tabLst/>
            </a:pPr>
            <a:r>
              <a:rPr lang="en-US" altLang="zh-CN" sz="4397" b="1" i="1" dirty="0" err="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Objetivos</a:t>
            </a:r>
            <a:endParaRPr lang="en-US" altLang="zh-CN" sz="4397" b="1" i="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17" name="TextBox 1"/>
          <p:cNvSpPr txBox="1"/>
          <p:nvPr/>
        </p:nvSpPr>
        <p:spPr>
          <a:xfrm>
            <a:off x="749161" y="2528212"/>
            <a:ext cx="9079601" cy="1251625"/>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latin typeface="Times New Roman" pitchFamily="18" charset="0"/>
                <a:cs typeface="Times New Roman" pitchFamily="18" charset="0"/>
              </a:rPr>
              <a:t>Introducción</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básica</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sobre</a:t>
            </a:r>
            <a:r>
              <a:rPr lang="en-US" altLang="zh-CN" sz="3600" dirty="0">
                <a:latin typeface="Times New Roman" pitchFamily="18" charset="0"/>
                <a:cs typeface="Times New Roman" pitchFamily="18" charset="0"/>
              </a:rPr>
              <a:t> </a:t>
            </a:r>
            <a:r>
              <a:rPr lang="en-US" altLang="zh-CN" sz="3600" dirty="0">
                <a:solidFill>
                  <a:srgbClr val="000000"/>
                </a:solidFill>
                <a:latin typeface="Times New Roman" pitchFamily="18" charset="0"/>
                <a:cs typeface="Times New Roman" pitchFamily="18" charset="0"/>
              </a:rPr>
              <a:t>la </a:t>
            </a:r>
            <a:r>
              <a:rPr lang="en-US" altLang="zh-CN" sz="3600" dirty="0" err="1">
                <a:solidFill>
                  <a:srgbClr val="000000"/>
                </a:solidFill>
                <a:latin typeface="Times New Roman" pitchFamily="18" charset="0"/>
                <a:cs typeface="Times New Roman" pitchFamily="18" charset="0"/>
              </a:rPr>
              <a:t>arquitectura</a:t>
            </a:r>
            <a:r>
              <a:rPr lang="en-US" altLang="zh-CN" sz="3600" dirty="0">
                <a:solidFill>
                  <a:srgbClr val="000000"/>
                </a:solidFill>
                <a:latin typeface="Times New Roman" pitchFamily="18" charset="0"/>
                <a:cs typeface="Times New Roman" pitchFamily="18" charset="0"/>
              </a:rPr>
              <a:t> de </a:t>
            </a:r>
          </a:p>
          <a:p>
            <a:pPr>
              <a:lnSpc>
                <a:spcPts val="4700"/>
              </a:lnSpc>
              <a:tabLst/>
            </a:pP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computadoras</a:t>
            </a: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basada</a:t>
            </a:r>
            <a:r>
              <a:rPr lang="en-US" altLang="zh-CN" sz="3600" dirty="0">
                <a:solidFill>
                  <a:srgbClr val="000000"/>
                </a:solidFill>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en</a:t>
            </a:r>
            <a:r>
              <a:rPr lang="en-US" altLang="zh-CN" sz="3600" dirty="0">
                <a:solidFill>
                  <a:srgbClr val="000000"/>
                </a:solidFill>
                <a:latin typeface="Times New Roman" pitchFamily="18" charset="0"/>
                <a:cs typeface="Times New Roman" pitchFamily="18" charset="0"/>
              </a:rPr>
              <a:t> un </a:t>
            </a:r>
            <a:r>
              <a:rPr lang="en-US" altLang="zh-CN" sz="3600" dirty="0" err="1">
                <a:solidFill>
                  <a:srgbClr val="000000"/>
                </a:solidFill>
                <a:latin typeface="Times New Roman" pitchFamily="18" charset="0"/>
                <a:cs typeface="Times New Roman" pitchFamily="18" charset="0"/>
              </a:rPr>
              <a:t>microcontrolador</a:t>
            </a:r>
            <a:r>
              <a:rPr lang="en-US" altLang="zh-CN" sz="3600" dirty="0">
                <a:solidFill>
                  <a:srgbClr val="000000"/>
                </a:solidFill>
                <a:latin typeface="Times New Roman" pitchFamily="18" charset="0"/>
                <a:cs typeface="Times New Roman" pitchFamily="18" charset="0"/>
              </a:rPr>
              <a:t>.</a:t>
            </a:r>
          </a:p>
        </p:txBody>
      </p:sp>
      <p:sp>
        <p:nvSpPr>
          <p:cNvPr id="19" name="TextBox 1"/>
          <p:cNvSpPr txBox="1"/>
          <p:nvPr/>
        </p:nvSpPr>
        <p:spPr>
          <a:xfrm>
            <a:off x="749161" y="3838616"/>
            <a:ext cx="9925794" cy="1302921"/>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Introducción</a:t>
            </a:r>
            <a:r>
              <a:rPr lang="en-US" altLang="zh-CN" sz="3600" dirty="0">
                <a:solidFill>
                  <a:srgbClr val="000000"/>
                </a:solidFill>
                <a:latin typeface="Times New Roman" pitchFamily="18" charset="0"/>
                <a:cs typeface="Times New Roman" pitchFamily="18" charset="0"/>
              </a:rPr>
              <a:t> a </a:t>
            </a:r>
            <a:r>
              <a:rPr lang="en-US" altLang="zh-CN" sz="3600" dirty="0" err="1">
                <a:solidFill>
                  <a:srgbClr val="000000"/>
                </a:solidFill>
                <a:latin typeface="Times New Roman" pitchFamily="18" charset="0"/>
                <a:cs typeface="Times New Roman" pitchFamily="18" charset="0"/>
              </a:rPr>
              <a:t>las</a:t>
            </a:r>
            <a:r>
              <a:rPr lang="en-US" altLang="zh-CN" sz="3600" dirty="0">
                <a:latin typeface="Times New Roman" pitchFamily="18" charset="0"/>
                <a:cs typeface="Times New Roman" pitchFamily="18" charset="0"/>
              </a:rPr>
              <a:t> </a:t>
            </a:r>
            <a:r>
              <a:rPr lang="en-US" altLang="zh-CN" sz="3600" dirty="0" err="1">
                <a:solidFill>
                  <a:srgbClr val="000000"/>
                </a:solidFill>
                <a:latin typeface="Times New Roman" pitchFamily="18" charset="0"/>
                <a:cs typeface="Times New Roman" pitchFamily="18" charset="0"/>
              </a:rPr>
              <a:t>instrucciones</a:t>
            </a:r>
            <a:r>
              <a:rPr lang="en-US" altLang="zh-CN" sz="3600" dirty="0">
                <a:solidFill>
                  <a:srgbClr val="000000"/>
                </a:solidFill>
                <a:latin typeface="Times New Roman" pitchFamily="18" charset="0"/>
                <a:cs typeface="Times New Roman" pitchFamily="18" charset="0"/>
              </a:rPr>
              <a:t> de </a:t>
            </a:r>
            <a:r>
              <a:rPr lang="en-US" altLang="zh-CN" sz="3600" dirty="0" err="1">
                <a:solidFill>
                  <a:srgbClr val="000000"/>
                </a:solidFill>
                <a:latin typeface="Times New Roman" pitchFamily="18" charset="0"/>
                <a:cs typeface="Times New Roman" pitchFamily="18" charset="0"/>
              </a:rPr>
              <a:t>programación</a:t>
            </a:r>
            <a:endParaRPr lang="en-US" altLang="zh-CN" sz="3600" dirty="0">
              <a:solidFill>
                <a:srgbClr val="000000"/>
              </a:solidFill>
              <a:latin typeface="Times New Roman" pitchFamily="18" charset="0"/>
              <a:cs typeface="Times New Roman" pitchFamily="18" charset="0"/>
            </a:endParaRPr>
          </a:p>
          <a:p>
            <a:pPr marL="571500" indent="-571500">
              <a:lnSpc>
                <a:spcPts val="51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Organización</a:t>
            </a:r>
            <a:r>
              <a:rPr lang="en-US" altLang="zh-CN" sz="3600" dirty="0">
                <a:latin typeface="Times New Roman" pitchFamily="18" charset="0"/>
                <a:cs typeface="Times New Roman" pitchFamily="18" charset="0"/>
              </a:rPr>
              <a:t> </a:t>
            </a:r>
            <a:r>
              <a:rPr lang="en-US" altLang="zh-CN" sz="3600" dirty="0">
                <a:solidFill>
                  <a:srgbClr val="000000"/>
                </a:solidFill>
                <a:latin typeface="Times New Roman" pitchFamily="18" charset="0"/>
                <a:cs typeface="Times New Roman" pitchFamily="18" charset="0"/>
              </a:rPr>
              <a:t>de la </a:t>
            </a:r>
            <a:r>
              <a:rPr lang="en-US" altLang="zh-CN" sz="3600" dirty="0" err="1">
                <a:solidFill>
                  <a:srgbClr val="000000"/>
                </a:solidFill>
                <a:latin typeface="Times New Roman" pitchFamily="18" charset="0"/>
                <a:cs typeface="Times New Roman" pitchFamily="18" charset="0"/>
              </a:rPr>
              <a:t>memoria</a:t>
            </a:r>
            <a:endParaRPr lang="en-US" altLang="zh-CN" sz="3600" dirty="0">
              <a:solidFill>
                <a:srgbClr val="000000"/>
              </a:solidFill>
              <a:latin typeface="Times New Roman" pitchFamily="18" charset="0"/>
              <a:cs typeface="Times New Roman" pitchFamily="18" charset="0"/>
            </a:endParaRPr>
          </a:p>
        </p:txBody>
      </p:sp>
      <p:sp>
        <p:nvSpPr>
          <p:cNvPr id="21" name="TextBox 1"/>
          <p:cNvSpPr txBox="1"/>
          <p:nvPr/>
        </p:nvSpPr>
        <p:spPr>
          <a:xfrm>
            <a:off x="749161" y="5154653"/>
            <a:ext cx="6604372" cy="606384"/>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tabLst/>
            </a:pPr>
            <a:r>
              <a:rPr lang="en-US" altLang="zh-CN" sz="3600" dirty="0" err="1">
                <a:solidFill>
                  <a:srgbClr val="000000"/>
                </a:solidFill>
                <a:latin typeface="Times New Roman" pitchFamily="18" charset="0"/>
                <a:cs typeface="Times New Roman" pitchFamily="18" charset="0"/>
              </a:rPr>
              <a:t>Escritura</a:t>
            </a:r>
            <a:r>
              <a:rPr lang="en-US" altLang="zh-CN" sz="3600" dirty="0">
                <a:solidFill>
                  <a:srgbClr val="000000"/>
                </a:solidFill>
                <a:latin typeface="Times New Roman" pitchFamily="18" charset="0"/>
                <a:cs typeface="Times New Roman" pitchFamily="18" charset="0"/>
              </a:rPr>
              <a:t> de un </a:t>
            </a:r>
            <a:r>
              <a:rPr lang="en-US" altLang="zh-CN" sz="3600" dirty="0" err="1">
                <a:solidFill>
                  <a:srgbClr val="000000"/>
                </a:solidFill>
                <a:latin typeface="Times New Roman" pitchFamily="18" charset="0"/>
                <a:cs typeface="Times New Roman" pitchFamily="18" charset="0"/>
              </a:rPr>
              <a:t>programa</a:t>
            </a:r>
            <a:r>
              <a:rPr lang="en-US" altLang="zh-CN" sz="3600" dirty="0">
                <a:solidFill>
                  <a:srgbClr val="000000"/>
                </a:solidFill>
                <a:latin typeface="Times New Roman" pitchFamily="18" charset="0"/>
                <a:cs typeface="Times New Roman" pitchFamily="18" charset="0"/>
              </a:rPr>
              <a:t> simple</a:t>
            </a:r>
          </a:p>
        </p:txBody>
      </p:sp>
      <p:pic>
        <p:nvPicPr>
          <p:cNvPr id="5" name="Imagen 4" descr="Imagen que contiene Calendario&#10;&#10;El contenido generado por IA puede ser incorrecto.">
            <a:extLst>
              <a:ext uri="{FF2B5EF4-FFF2-40B4-BE49-F238E27FC236}">
                <a16:creationId xmlns:a16="http://schemas.microsoft.com/office/drawing/2014/main" id="{2C5FEE85-C72B-CC9D-2570-4821A4E7FDC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774839" y="206349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774839" y="2920745"/>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774839" y="37779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74839" y="463524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774839" y="5492496"/>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sp>
        <p:nvSpPr>
          <p:cNvPr id="2" name="TextBox 1"/>
          <p:cNvSpPr txBox="1"/>
          <p:nvPr/>
        </p:nvSpPr>
        <p:spPr>
          <a:xfrm>
            <a:off x="3606800" y="634081"/>
            <a:ext cx="2069477" cy="761234"/>
          </a:xfrm>
          <a:prstGeom prst="rect">
            <a:avLst/>
          </a:prstGeom>
          <a:noFill/>
        </p:spPr>
        <p:txBody>
          <a:bodyPr wrap="none" lIns="0" tIns="0" rIns="0" rtlCol="0">
            <a:spAutoFit/>
          </a:bodyPr>
          <a:lstStyle>
            <a:defPPr>
              <a:defRPr lang="en-US"/>
            </a:defPPr>
            <a:lvl1pPr>
              <a:lnSpc>
                <a:spcPts val="6100"/>
              </a:lnSpc>
              <a:tabLst/>
              <a:defRPr sz="4397" b="1" i="1">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stStyle>
          <a:p>
            <a:r>
              <a:rPr lang="en-US" altLang="zh-CN" dirty="0"/>
              <a:t>Agenda</a:t>
            </a:r>
          </a:p>
        </p:txBody>
      </p:sp>
      <p:sp>
        <p:nvSpPr>
          <p:cNvPr id="16" name="TextBox 1"/>
          <p:cNvSpPr txBox="1"/>
          <p:nvPr/>
        </p:nvSpPr>
        <p:spPr>
          <a:xfrm>
            <a:off x="1549400" y="1765300"/>
            <a:ext cx="6732612" cy="3662541"/>
          </a:xfrm>
          <a:prstGeom prst="rect">
            <a:avLst/>
          </a:prstGeom>
          <a:noFill/>
        </p:spPr>
        <p:txBody>
          <a:bodyPr wrap="none" lIns="0" tIns="0" rIns="0" rtlCol="0">
            <a:spAutoFit/>
          </a:bodyPr>
          <a:lstStyle/>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Arquitectura Básica</a:t>
            </a: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Revisión del Set de Instrucciones</a:t>
            </a: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Modos de direccionamiento y</a:t>
            </a:r>
          </a:p>
          <a:p>
            <a:pPr>
              <a:lnSpc>
                <a:spcPts val="4700"/>
              </a:lnSpc>
            </a:pPr>
            <a:r>
              <a:rPr lang="en-US" altLang="zh-CN" sz="3600" dirty="0">
                <a:latin typeface="Times New Roman" pitchFamily="18" charset="0"/>
                <a:cs typeface="Times New Roman" pitchFamily="18" charset="0"/>
              </a:rPr>
              <a:t>     </a:t>
            </a:r>
            <a:r>
              <a:rPr lang="en-US" altLang="zh-CN" sz="3600" dirty="0" err="1">
                <a:latin typeface="Times New Roman" pitchFamily="18" charset="0"/>
                <a:cs typeface="Times New Roman" pitchFamily="18" charset="0"/>
              </a:rPr>
              <a:t>Organización</a:t>
            </a:r>
            <a:r>
              <a:rPr lang="en-US" altLang="zh-CN" sz="3600" dirty="0">
                <a:latin typeface="Times New Roman" pitchFamily="18" charset="0"/>
                <a:cs typeface="Times New Roman" pitchFamily="18" charset="0"/>
              </a:rPr>
              <a:t> de la </a:t>
            </a:r>
            <a:r>
              <a:rPr lang="en-US" altLang="zh-CN" sz="3600" dirty="0" err="1">
                <a:latin typeface="Times New Roman" pitchFamily="18" charset="0"/>
                <a:cs typeface="Times New Roman" pitchFamily="18" charset="0"/>
              </a:rPr>
              <a:t>Memoria</a:t>
            </a:r>
            <a:endParaRPr lang="en-US" altLang="zh-CN" sz="3600" dirty="0">
              <a:latin typeface="Times New Roman" pitchFamily="18" charset="0"/>
              <a:cs typeface="Times New Roman" pitchFamily="18" charset="0"/>
            </a:endParaRPr>
          </a:p>
          <a:p>
            <a:pPr marL="571500" indent="-571500">
              <a:lnSpc>
                <a:spcPts val="4700"/>
              </a:lnSpc>
              <a:buFont typeface="Arial" panose="020B0604020202020204" pitchFamily="34" charset="0"/>
              <a:buChar char="•"/>
            </a:pPr>
            <a:r>
              <a:rPr lang="en-US" altLang="zh-CN" sz="3600" dirty="0">
                <a:latin typeface="Times New Roman" pitchFamily="18" charset="0"/>
                <a:cs typeface="Times New Roman" pitchFamily="18" charset="0"/>
              </a:rPr>
              <a:t>Características Especiales</a:t>
            </a:r>
          </a:p>
          <a:p>
            <a:pPr marL="571500" indent="-571500">
              <a:lnSpc>
                <a:spcPts val="4700"/>
              </a:lnSpc>
              <a:buFont typeface="Arial" panose="020B0604020202020204" pitchFamily="34" charset="0"/>
              <a:buChar char="•"/>
            </a:pPr>
            <a:r>
              <a:rPr lang="en-US" altLang="zh-CN" sz="3600" dirty="0" err="1">
                <a:latin typeface="Times New Roman" pitchFamily="18" charset="0"/>
                <a:cs typeface="Times New Roman" pitchFamily="18" charset="0"/>
              </a:rPr>
              <a:t>Ejercicios</a:t>
            </a:r>
            <a:endParaRPr lang="en-US" altLang="zh-CN" sz="3600" dirty="0">
              <a:latin typeface="Times New Roman" pitchFamily="18" charset="0"/>
              <a:cs typeface="Times New Roman" pitchFamily="18" charset="0"/>
            </a:endParaRPr>
          </a:p>
        </p:txBody>
      </p:sp>
      <p:pic>
        <p:nvPicPr>
          <p:cNvPr id="12" name="Imagen 11" descr="Imagen que contiene Calendario&#10;&#10;El contenido generado por IA puede ser incorrecto.">
            <a:extLst>
              <a:ext uri="{FF2B5EF4-FFF2-40B4-BE49-F238E27FC236}">
                <a16:creationId xmlns:a16="http://schemas.microsoft.com/office/drawing/2014/main" id="{53CE5C58-965E-640B-B31C-B7C4BCC54D3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1</a:t>
            </a:r>
            <a:endParaRPr lang="es-AR" dirty="0"/>
          </a:p>
        </p:txBody>
      </p:sp>
      <p:pic>
        <p:nvPicPr>
          <p:cNvPr id="2" name="Imagen 1" descr="Imagen que contiene Calendario&#10;&#10;El contenido generado por IA puede ser incorrecto.">
            <a:extLst>
              <a:ext uri="{FF2B5EF4-FFF2-40B4-BE49-F238E27FC236}">
                <a16:creationId xmlns:a16="http://schemas.microsoft.com/office/drawing/2014/main" id="{5C34361C-9A69-0568-E940-FF8BFC0708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650047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1300" y="355721"/>
            <a:ext cx="10384253" cy="828432"/>
          </a:xfrm>
          <a:noFill/>
        </p:spPr>
        <p:txBody>
          <a:bodyPr wrap="none" lIns="0" tIns="0" rIns="0" rtlCol="0">
            <a:spAutoFit/>
          </a:bodyPr>
          <a:lstStyle/>
          <a:p>
            <a:pPr algn="l">
              <a:lnSpc>
                <a:spcPts val="6100"/>
              </a:lnSpc>
            </a:pPr>
            <a:r>
              <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Definición de un sistema programable </a:t>
            </a:r>
          </a:p>
        </p:txBody>
      </p:sp>
      <p:sp>
        <p:nvSpPr>
          <p:cNvPr id="3" name="Marcador de contenido 2"/>
          <p:cNvSpPr>
            <a:spLocks noGrp="1"/>
          </p:cNvSpPr>
          <p:nvPr>
            <p:ph idx="1"/>
          </p:nvPr>
        </p:nvSpPr>
        <p:spPr>
          <a:xfrm>
            <a:off x="457200" y="1600200"/>
            <a:ext cx="9766300" cy="4525963"/>
          </a:xfrm>
        </p:spPr>
        <p:txBody>
          <a:bodyPr/>
          <a:lstStyle/>
          <a:p>
            <a:pPr algn="just"/>
            <a:r>
              <a:rPr lang="es-ES" dirty="0"/>
              <a:t>En términos generales un sistema programable es un dispositivo o conjunto de dispositivos de propósito general, que según sea necesario se programa para resolver distintos problemas. </a:t>
            </a:r>
          </a:p>
          <a:p>
            <a:pPr algn="just"/>
            <a:endParaRPr lang="es-ES" dirty="0"/>
          </a:p>
          <a:p>
            <a:pPr algn="just"/>
            <a:r>
              <a:rPr lang="es-ES" dirty="0"/>
              <a:t>El ejemplo mas conocido de sistema programable es un PC.</a:t>
            </a:r>
          </a:p>
        </p:txBody>
      </p:sp>
      <p:grpSp>
        <p:nvGrpSpPr>
          <p:cNvPr id="8" name="Grupo 7">
            <a:extLst>
              <a:ext uri="{FF2B5EF4-FFF2-40B4-BE49-F238E27FC236}">
                <a16:creationId xmlns:a16="http://schemas.microsoft.com/office/drawing/2014/main" id="{57B69856-F124-4B6F-A722-E27139510F9C}"/>
              </a:ext>
            </a:extLst>
          </p:cNvPr>
          <p:cNvGrpSpPr/>
          <p:nvPr/>
        </p:nvGrpSpPr>
        <p:grpSpPr>
          <a:xfrm>
            <a:off x="1917699" y="5608637"/>
            <a:ext cx="6677075" cy="1219200"/>
            <a:chOff x="481933" y="1427579"/>
            <a:chExt cx="9866498" cy="1794779"/>
          </a:xfrm>
        </p:grpSpPr>
        <p:pic>
          <p:nvPicPr>
            <p:cNvPr id="4" name="Marcador de contenido 3" descr="http://perso.wanadoo.es/pictob/imagenes/microp.jpg">
              <a:extLst>
                <a:ext uri="{FF2B5EF4-FFF2-40B4-BE49-F238E27FC236}">
                  <a16:creationId xmlns:a16="http://schemas.microsoft.com/office/drawing/2014/main" id="{36B47EAE-07D6-4FEA-8113-38889DE1C3D6}"/>
                </a:ext>
              </a:extLst>
            </p:cNvPr>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1933" y="1570037"/>
              <a:ext cx="1969168" cy="1652321"/>
            </a:xfrm>
            <a:prstGeom prst="rect">
              <a:avLst/>
            </a:prstGeom>
            <a:noFill/>
            <a:ln>
              <a:noFill/>
            </a:ln>
          </p:spPr>
        </p:pic>
        <p:pic>
          <p:nvPicPr>
            <p:cNvPr id="5" name="Imagen 4" descr="http://perso.wanadoo.es/pictob/imagenes/microc2.jpg">
              <a:extLst>
                <a:ext uri="{FF2B5EF4-FFF2-40B4-BE49-F238E27FC236}">
                  <a16:creationId xmlns:a16="http://schemas.microsoft.com/office/drawing/2014/main" id="{D54E7100-DA46-41A3-911F-FD4A1AB1982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508500" y="1507136"/>
              <a:ext cx="3581400" cy="1524000"/>
            </a:xfrm>
            <a:prstGeom prst="rect">
              <a:avLst/>
            </a:prstGeom>
            <a:noFill/>
            <a:ln>
              <a:noFill/>
            </a:ln>
          </p:spPr>
        </p:pic>
        <p:sp>
          <p:nvSpPr>
            <p:cNvPr id="6" name="CuadroTexto 5">
              <a:extLst>
                <a:ext uri="{FF2B5EF4-FFF2-40B4-BE49-F238E27FC236}">
                  <a16:creationId xmlns:a16="http://schemas.microsoft.com/office/drawing/2014/main" id="{13139D3B-D6DD-47ED-B7EE-79903E7F1A21}"/>
                </a:ext>
              </a:extLst>
            </p:cNvPr>
            <p:cNvSpPr txBox="1"/>
            <p:nvPr/>
          </p:nvSpPr>
          <p:spPr>
            <a:xfrm>
              <a:off x="2560072" y="1646237"/>
              <a:ext cx="2085598" cy="407769"/>
            </a:xfrm>
            <a:prstGeom prst="rect">
              <a:avLst/>
            </a:prstGeom>
            <a:noFill/>
          </p:spPr>
          <p:txBody>
            <a:bodyPr wrap="none" rtlCol="0">
              <a:spAutoFit/>
            </a:bodyPr>
            <a:lstStyle/>
            <a:p>
              <a:r>
                <a:rPr lang="es-ES" sz="1200" b="1" i="1" dirty="0">
                  <a:solidFill>
                    <a:schemeClr val="tx2">
                      <a:lumMod val="50000"/>
                    </a:schemeClr>
                  </a:solidFill>
                  <a:effectLst>
                    <a:outerShdw blurRad="38100" dist="38100" dir="2700000" algn="tl">
                      <a:srgbClr val="000000">
                        <a:alpha val="43137"/>
                      </a:srgbClr>
                    </a:outerShdw>
                  </a:effectLst>
                </a:rPr>
                <a:t>Microprocesadores</a:t>
              </a:r>
            </a:p>
          </p:txBody>
        </p:sp>
        <p:sp>
          <p:nvSpPr>
            <p:cNvPr id="7" name="CuadroTexto 6">
              <a:extLst>
                <a:ext uri="{FF2B5EF4-FFF2-40B4-BE49-F238E27FC236}">
                  <a16:creationId xmlns:a16="http://schemas.microsoft.com/office/drawing/2014/main" id="{8B363390-7AB3-4CE9-ADB8-C8344867DCEE}"/>
                </a:ext>
              </a:extLst>
            </p:cNvPr>
            <p:cNvSpPr txBox="1"/>
            <p:nvPr/>
          </p:nvSpPr>
          <p:spPr>
            <a:xfrm>
              <a:off x="8210816" y="1427579"/>
              <a:ext cx="2137615" cy="407769"/>
            </a:xfrm>
            <a:prstGeom prst="rect">
              <a:avLst/>
            </a:prstGeom>
            <a:noFill/>
          </p:spPr>
          <p:txBody>
            <a:bodyPr wrap="none" rtlCol="0">
              <a:spAutoFit/>
            </a:bodyPr>
            <a:lstStyle/>
            <a:p>
              <a:r>
                <a:rPr lang="es-ES" sz="1200" b="1" i="1" dirty="0">
                  <a:solidFill>
                    <a:schemeClr val="tx2">
                      <a:lumMod val="50000"/>
                    </a:schemeClr>
                  </a:solidFill>
                  <a:effectLst>
                    <a:outerShdw blurRad="38100" dist="38100" dir="2700000" algn="tl">
                      <a:srgbClr val="000000">
                        <a:alpha val="43137"/>
                      </a:srgbClr>
                    </a:outerShdw>
                  </a:effectLst>
                </a:rPr>
                <a:t>Microcontroladores</a:t>
              </a:r>
            </a:p>
          </p:txBody>
        </p:sp>
      </p:grpSp>
    </p:spTree>
    <p:extLst>
      <p:ext uri="{BB962C8B-B14F-4D97-AF65-F5344CB8AC3E}">
        <p14:creationId xmlns:p14="http://schemas.microsoft.com/office/powerpoint/2010/main" val="1261095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1300" y="482993"/>
            <a:ext cx="9199634" cy="726289"/>
          </a:xfrm>
          <a:noFill/>
        </p:spPr>
        <p:txBody>
          <a:bodyPr wrap="none" lIns="0" tIns="0" rIns="0" rtlCol="0">
            <a:spAutoFit/>
          </a:bodyPr>
          <a:lstStyle/>
          <a:p>
            <a:pPr algn="l">
              <a:lnSpc>
                <a:spcPts val="6100"/>
              </a:lnSpc>
            </a:pPr>
            <a:r>
              <a:rPr lang="es-ES" sz="3200"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Aplicaciones de un sistema </a:t>
            </a:r>
            <a:r>
              <a:rPr lang="es-ES" sz="3200"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a:t>
            </a:r>
            <a:r>
              <a:rPr lang="es-ES" sz="3200"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 </a:t>
            </a:r>
          </a:p>
        </p:txBody>
      </p:sp>
      <p:sp>
        <p:nvSpPr>
          <p:cNvPr id="3" name="Marcador de contenido 2"/>
          <p:cNvSpPr>
            <a:spLocks noGrp="1"/>
          </p:cNvSpPr>
          <p:nvPr>
            <p:ph idx="1"/>
          </p:nvPr>
        </p:nvSpPr>
        <p:spPr>
          <a:xfrm>
            <a:off x="457200" y="1600200"/>
            <a:ext cx="9690100" cy="4525963"/>
          </a:xfrm>
        </p:spPr>
        <p:txBody>
          <a:bodyPr>
            <a:normAutofit lnSpcReduction="10000"/>
          </a:bodyPr>
          <a:lstStyle/>
          <a:p>
            <a:pPr algn="just"/>
            <a:r>
              <a:rPr lang="es-AR" dirty="0"/>
              <a:t> Los sistemas programables tienen una gran variedad de aplicaciones, ya que simplemente variando la programación, se les puede indicar que realicen una función u otra, siendo las mas importantes:</a:t>
            </a:r>
            <a:endParaRPr lang="es-ES" dirty="0"/>
          </a:p>
          <a:p>
            <a:pPr lvl="1" algn="just"/>
            <a:r>
              <a:rPr lang="es-AR" b="1" dirty="0"/>
              <a:t>Aplicaciones informáticas</a:t>
            </a:r>
            <a:r>
              <a:rPr lang="es-AR" dirty="0"/>
              <a:t> </a:t>
            </a:r>
            <a:endParaRPr lang="es-ES" dirty="0"/>
          </a:p>
          <a:p>
            <a:pPr lvl="1" algn="just"/>
            <a:r>
              <a:rPr lang="es-AR" b="1" dirty="0"/>
              <a:t>Cálculo matemático:</a:t>
            </a:r>
          </a:p>
          <a:p>
            <a:pPr lvl="1" algn="just"/>
            <a:r>
              <a:rPr lang="es-AR" b="1" dirty="0"/>
              <a:t>Automatización de Electrodomésticos</a:t>
            </a:r>
          </a:p>
          <a:p>
            <a:pPr lvl="1" algn="just"/>
            <a:r>
              <a:rPr lang="es-AR" b="1" dirty="0"/>
              <a:t>Automatización de Funciones en Automotores</a:t>
            </a:r>
            <a:r>
              <a:rPr lang="es-AR" dirty="0"/>
              <a:t> </a:t>
            </a:r>
            <a:endParaRPr lang="es-ES" dirty="0"/>
          </a:p>
          <a:p>
            <a:pPr lvl="1" algn="just"/>
            <a:r>
              <a:rPr lang="es-AR" b="1" dirty="0"/>
              <a:t>Etc.</a:t>
            </a:r>
            <a:endParaRPr lang="es-ES" dirty="0"/>
          </a:p>
        </p:txBody>
      </p:sp>
    </p:spTree>
    <p:extLst>
      <p:ext uri="{BB962C8B-B14F-4D97-AF65-F5344CB8AC3E}">
        <p14:creationId xmlns:p14="http://schemas.microsoft.com/office/powerpoint/2010/main" val="181256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4619" y="465521"/>
            <a:ext cx="10506081" cy="761234"/>
          </a:xfrm>
          <a:noFill/>
        </p:spPr>
        <p:txBody>
          <a:bodyPr wrap="none" lIns="0" tIns="0" rIns="0" rtlCol="0">
            <a:spAutoFit/>
          </a:bodyPr>
          <a:lstStyle/>
          <a:p>
            <a:pPr algn="l">
              <a:lnSpc>
                <a:spcPts val="6100"/>
              </a:lnSpc>
            </a:pPr>
            <a:r>
              <a:rPr lang="es-AR"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Componentes de un </a:t>
            </a:r>
            <a:r>
              <a:rPr lang="es-AR" sz="4397"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a:t>
            </a:r>
            <a:endPar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6" name="Rectangle 3"/>
          <p:cNvSpPr>
            <a:spLocks noChangeArrowheads="1"/>
          </p:cNvSpPr>
          <p:nvPr/>
        </p:nvSpPr>
        <p:spPr bwMode="auto">
          <a:xfrm>
            <a:off x="457200" y="3697288"/>
            <a:ext cx="1069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ES"/>
          </a:p>
        </p:txBody>
      </p:sp>
      <p:sp>
        <p:nvSpPr>
          <p:cNvPr id="7" name="Marcador de contenido 6"/>
          <p:cNvSpPr>
            <a:spLocks noGrp="1"/>
          </p:cNvSpPr>
          <p:nvPr>
            <p:ph idx="1"/>
          </p:nvPr>
        </p:nvSpPr>
        <p:spPr>
          <a:xfrm>
            <a:off x="622300" y="1646237"/>
            <a:ext cx="9677400" cy="4525963"/>
          </a:xfrm>
        </p:spPr>
        <p:txBody>
          <a:bodyPr/>
          <a:lstStyle/>
          <a:p>
            <a:pPr marL="0" lvl="0" indent="0" eaLnBrk="0" fontAlgn="base" hangingPunct="0">
              <a:spcBef>
                <a:spcPct val="0"/>
              </a:spcBef>
              <a:spcAft>
                <a:spcPct val="0"/>
              </a:spcAft>
              <a:buNone/>
            </a:pPr>
            <a:r>
              <a:rPr lang="es-AR" altLang="es-ES" dirty="0">
                <a:solidFill>
                  <a:srgbClr val="000000"/>
                </a:solidFill>
                <a:latin typeface="Verdana" panose="020B0604030504040204" pitchFamily="34" charset="0"/>
                <a:ea typeface="Times New Roman" panose="02020603050405020304" pitchFamily="18" charset="0"/>
              </a:rPr>
              <a:t>Un sistema </a:t>
            </a:r>
            <a:r>
              <a:rPr lang="es-AR" altLang="es-ES" dirty="0" err="1">
                <a:solidFill>
                  <a:srgbClr val="000000"/>
                </a:solidFill>
                <a:latin typeface="Verdana" panose="020B0604030504040204" pitchFamily="34" charset="0"/>
                <a:ea typeface="Times New Roman" panose="02020603050405020304" pitchFamily="18" charset="0"/>
              </a:rPr>
              <a:t>microprogramable</a:t>
            </a:r>
            <a:r>
              <a:rPr lang="es-AR" altLang="es-ES" dirty="0">
                <a:solidFill>
                  <a:srgbClr val="000000"/>
                </a:solidFill>
                <a:latin typeface="Verdana" panose="020B0604030504040204" pitchFamily="34" charset="0"/>
                <a:ea typeface="Times New Roman" panose="02020603050405020304" pitchFamily="18" charset="0"/>
              </a:rPr>
              <a:t> esta formado por los siguientes componentes:</a:t>
            </a:r>
          </a:p>
          <a:p>
            <a:pPr marL="0" lvl="0" indent="0" eaLnBrk="0" fontAlgn="base" hangingPunct="0">
              <a:spcBef>
                <a:spcPct val="0"/>
              </a:spcBef>
              <a:spcAft>
                <a:spcPct val="0"/>
              </a:spcAft>
              <a:buNone/>
            </a:pPr>
            <a:endParaRPr lang="es-ES" altLang="es-ES" dirty="0"/>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Hardware</a:t>
            </a:r>
            <a:r>
              <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p>
          <a:p>
            <a:pPr marL="1257300" lvl="3" indent="0" eaLnBrk="0" fontAlgn="base" hangingPunct="0">
              <a:spcBef>
                <a:spcPct val="0"/>
              </a:spcBef>
              <a:spcAft>
                <a:spcPct val="0"/>
              </a:spcAft>
              <a:buFontTx/>
              <a:buChar char="•"/>
            </a:pPr>
            <a:endPar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Software</a:t>
            </a:r>
            <a:r>
              <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rPr>
              <a:t> </a:t>
            </a:r>
          </a:p>
          <a:p>
            <a:pPr marL="1257300" lvl="3" indent="0" eaLnBrk="0" fontAlgn="base" hangingPunct="0">
              <a:spcBef>
                <a:spcPct val="0"/>
              </a:spcBef>
              <a:spcAft>
                <a:spcPct val="0"/>
              </a:spcAft>
              <a:buFontTx/>
              <a:buChar char="•"/>
            </a:pPr>
            <a:endParaRPr lang="es-AR" altLang="es-ES" sz="3200" i="1" dirty="0">
              <a:solidFill>
                <a:srgbClr val="FF0000"/>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p>
            <a:pPr marL="1257300" lvl="3" indent="0" eaLnBrk="0" fontAlgn="base" hangingPunct="0">
              <a:spcBef>
                <a:spcPct val="0"/>
              </a:spcBef>
              <a:spcAft>
                <a:spcPct val="0"/>
              </a:spcAft>
              <a:buFontTx/>
              <a:buChar char="•"/>
            </a:pPr>
            <a:r>
              <a:rPr lang="es-AR" alt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rPr>
              <a:t>Firmware</a:t>
            </a:r>
            <a:endParaRPr lang="es-ES" sz="3200" i="1" dirty="0">
              <a:solidFill>
                <a:srgbClr val="FF0000"/>
              </a:solidFill>
              <a:effectLst>
                <a:outerShdw blurRad="38100" dist="38100" dir="2700000" algn="tl">
                  <a:srgbClr val="000000">
                    <a:alpha val="43137"/>
                  </a:srgbClr>
                </a:outerShdw>
              </a:effectLst>
              <a:latin typeface="Verdana" panose="020B060403050404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3909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904412" y="431922"/>
            <a:ext cx="3356688" cy="828432"/>
          </a:xfrm>
          <a:noFill/>
        </p:spPr>
        <p:txBody>
          <a:bodyPr wrap="none" lIns="0" tIns="0" rIns="0" rtlCol="0">
            <a:spAutoFit/>
          </a:bodyPr>
          <a:lstStyle/>
          <a:p>
            <a:pPr algn="l">
              <a:lnSpc>
                <a:spcPts val="6100"/>
              </a:lnSpc>
            </a:pPr>
            <a:r>
              <a:rPr lang="es-MX"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Definiciones</a:t>
            </a:r>
            <a:endParaRPr lang="es-AR"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sp>
        <p:nvSpPr>
          <p:cNvPr id="3" name="Marcador de contenido 2"/>
          <p:cNvSpPr>
            <a:spLocks noGrp="1"/>
          </p:cNvSpPr>
          <p:nvPr>
            <p:ph idx="1"/>
          </p:nvPr>
        </p:nvSpPr>
        <p:spPr>
          <a:xfrm>
            <a:off x="457200" y="1600200"/>
            <a:ext cx="8229600" cy="5151437"/>
          </a:xfrm>
        </p:spPr>
        <p:txBody>
          <a:bodyPr>
            <a:noAutofit/>
          </a:bodyPr>
          <a:lstStyle/>
          <a:p>
            <a:pPr lvl="0"/>
            <a:r>
              <a:rPr lang="es-AR" sz="2000" b="1" dirty="0"/>
              <a:t>Hardware:</a:t>
            </a:r>
            <a:r>
              <a:rPr lang="es-AR" sz="2000" dirty="0"/>
              <a:t> Es el conjunto de circuitos electrónicos que forman el sistema programable o, dicho de otra forma, </a:t>
            </a:r>
            <a:r>
              <a:rPr lang="es-AR" sz="2000" b="1" dirty="0"/>
              <a:t>es la parte física del sistema</a:t>
            </a:r>
            <a:r>
              <a:rPr lang="es-AR" sz="2000" dirty="0"/>
              <a:t>.</a:t>
            </a:r>
          </a:p>
          <a:p>
            <a:pPr lvl="0"/>
            <a:endParaRPr lang="es-ES" sz="2000" dirty="0"/>
          </a:p>
          <a:p>
            <a:pPr lvl="0"/>
            <a:r>
              <a:rPr lang="es-AR" sz="2000" b="1" dirty="0"/>
              <a:t>Software:</a:t>
            </a:r>
            <a:r>
              <a:rPr lang="es-AR" sz="2000" dirty="0"/>
              <a:t> Es el </a:t>
            </a:r>
            <a:r>
              <a:rPr lang="es-AR" sz="2000" b="1" dirty="0"/>
              <a:t>conjunto de programas y aplicaciones</a:t>
            </a:r>
            <a:r>
              <a:rPr lang="es-AR" sz="2000" dirty="0"/>
              <a:t> formado por instrucciones y rutinas que se utilizan para programar y coordinar al sistema programable. También se denomina software al conjunto de lenguajes empleados para elaborar dichos programas.</a:t>
            </a:r>
          </a:p>
          <a:p>
            <a:pPr lvl="0"/>
            <a:endParaRPr lang="es-ES" sz="2000" dirty="0"/>
          </a:p>
          <a:p>
            <a:pPr lvl="0"/>
            <a:r>
              <a:rPr lang="es-AR" sz="2000" b="1" dirty="0"/>
              <a:t>Firmware:</a:t>
            </a:r>
            <a:r>
              <a:rPr lang="es-AR" sz="2000" dirty="0"/>
              <a:t> Es un </a:t>
            </a:r>
            <a:r>
              <a:rPr lang="es-AR" sz="2000" b="1" dirty="0"/>
              <a:t>"software" grabado en la estructura electrónica</a:t>
            </a:r>
            <a:r>
              <a:rPr lang="es-AR" sz="2000" dirty="0"/>
              <a:t> del sistema programable y que el usuario en principio no puede alterar. </a:t>
            </a:r>
          </a:p>
          <a:p>
            <a:pPr marL="0" lvl="0" indent="0">
              <a:buNone/>
            </a:pPr>
            <a:endParaRPr lang="es-AR" sz="2000" b="1" dirty="0"/>
          </a:p>
          <a:p>
            <a:pPr marL="0" lvl="0" indent="0">
              <a:buNone/>
            </a:pPr>
            <a:r>
              <a:rPr lang="es-AR" sz="2000" b="1" dirty="0"/>
              <a:t>En los ordenadores personales, la BIOS (Basic Input/Output </a:t>
            </a:r>
            <a:r>
              <a:rPr lang="es-AR" sz="2000" b="1" dirty="0" err="1"/>
              <a:t>System</a:t>
            </a:r>
            <a:r>
              <a:rPr lang="es-AR" sz="2000" b="1" dirty="0"/>
              <a:t>)</a:t>
            </a:r>
            <a:r>
              <a:rPr lang="es-AR" sz="2000" dirty="0"/>
              <a:t> utiliza firmware y contiene un grupo de programas que sirven de intermediario entre el software y hardware.</a:t>
            </a:r>
          </a:p>
        </p:txBody>
      </p:sp>
      <p:pic>
        <p:nvPicPr>
          <p:cNvPr id="4" name="Imagen 3" descr="Imagen que contiene Calendario&#10;&#10;El contenido generado por IA puede ser incorrecto.">
            <a:extLst>
              <a:ext uri="{FF2B5EF4-FFF2-40B4-BE49-F238E27FC236}">
                <a16:creationId xmlns:a16="http://schemas.microsoft.com/office/drawing/2014/main" id="{E6918FDC-1715-31C7-1008-6D98AAECEC5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342303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8500" y="431922"/>
            <a:ext cx="7875554" cy="828432"/>
          </a:xfrm>
          <a:noFill/>
        </p:spPr>
        <p:txBody>
          <a:bodyPr wrap="none" lIns="0" tIns="0" rIns="0" rtlCol="0">
            <a:spAutoFit/>
          </a:bodyPr>
          <a:lstStyle/>
          <a:p>
            <a:pPr algn="l">
              <a:lnSpc>
                <a:spcPts val="6100"/>
              </a:lnSpc>
            </a:pPr>
            <a:r>
              <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Sistemas </a:t>
            </a:r>
            <a:r>
              <a:rPr lang="es-ES" sz="4397" b="1" i="1" dirty="0" err="1">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rPr>
              <a:t>Microprogramables</a:t>
            </a:r>
            <a:endParaRPr lang="es-ES" sz="4397" b="1" i="1" dirty="0">
              <a:solidFill>
                <a:srgbClr val="FF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endParaRPr>
          </a:p>
        </p:txBody>
      </p:sp>
      <p:pic>
        <p:nvPicPr>
          <p:cNvPr id="4" name="Marcador de contenido 3" descr="http://perso.wanadoo.es/pictob/imagenes/microp.jpg"/>
          <p:cNvPicPr>
            <a:picLocks noGrp="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481933" y="1570037"/>
            <a:ext cx="1969168" cy="1652321"/>
          </a:xfrm>
          <a:prstGeom prst="rect">
            <a:avLst/>
          </a:prstGeom>
          <a:noFill/>
          <a:ln>
            <a:noFill/>
          </a:ln>
        </p:spPr>
      </p:pic>
      <p:pic>
        <p:nvPicPr>
          <p:cNvPr id="5" name="Imagen 4"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508500" y="1507136"/>
            <a:ext cx="3581400" cy="1524000"/>
          </a:xfrm>
          <a:prstGeom prst="rect">
            <a:avLst/>
          </a:prstGeom>
          <a:noFill/>
          <a:ln>
            <a:noFill/>
          </a:ln>
        </p:spPr>
      </p:pic>
      <p:sp>
        <p:nvSpPr>
          <p:cNvPr id="7" name="CuadroTexto 6"/>
          <p:cNvSpPr txBox="1"/>
          <p:nvPr/>
        </p:nvSpPr>
        <p:spPr>
          <a:xfrm>
            <a:off x="1917700" y="3246437"/>
            <a:ext cx="7968229" cy="1200329"/>
          </a:xfrm>
          <a:prstGeom prst="rect">
            <a:avLst/>
          </a:prstGeom>
          <a:noFill/>
        </p:spPr>
        <p:txBody>
          <a:bodyPr wrap="square" rtlCol="0">
            <a:spAutoFit/>
          </a:bodyPr>
          <a:lstStyle/>
          <a:p>
            <a:r>
              <a:rPr lang="es-AR" b="1" dirty="0">
                <a:effectLst>
                  <a:outerShdw blurRad="38100" dist="38100" dir="2700000" algn="tl">
                    <a:srgbClr val="000000">
                      <a:alpha val="43137"/>
                    </a:srgbClr>
                  </a:outerShdw>
                </a:effectLst>
              </a:rPr>
              <a:t>La clasificación de los sistemas </a:t>
            </a:r>
            <a:r>
              <a:rPr lang="es-AR" b="1" dirty="0" err="1">
                <a:effectLst>
                  <a:outerShdw blurRad="38100" dist="38100" dir="2700000" algn="tl">
                    <a:srgbClr val="000000">
                      <a:alpha val="43137"/>
                    </a:srgbClr>
                  </a:outerShdw>
                </a:effectLst>
              </a:rPr>
              <a:t>microprogramables</a:t>
            </a:r>
            <a:r>
              <a:rPr lang="es-AR" b="1" dirty="0">
                <a:effectLst>
                  <a:outerShdw blurRad="38100" dist="38100" dir="2700000" algn="tl">
                    <a:srgbClr val="000000">
                      <a:alpha val="43137"/>
                    </a:srgbClr>
                  </a:outerShdw>
                </a:effectLst>
              </a:rPr>
              <a:t> se basa en:</a:t>
            </a:r>
          </a:p>
          <a:p>
            <a:pPr marL="285750" indent="-285750">
              <a:buFont typeface="Arial" panose="020B0604020202020204" pitchFamily="34" charset="0"/>
              <a:buChar char="•"/>
            </a:pPr>
            <a:r>
              <a:rPr lang="es-AR" b="1" dirty="0">
                <a:effectLst>
                  <a:outerShdw blurRad="38100" dist="38100" dir="2700000" algn="tl">
                    <a:srgbClr val="000000">
                      <a:alpha val="43137"/>
                    </a:srgbClr>
                  </a:outerShdw>
                </a:effectLst>
              </a:rPr>
              <a:t> El número de distintos circuitos integrados que lo forman, </a:t>
            </a:r>
          </a:p>
          <a:p>
            <a:pPr marL="285750" indent="-285750">
              <a:buFont typeface="Arial" panose="020B0604020202020204" pitchFamily="34" charset="0"/>
              <a:buChar char="•"/>
            </a:pPr>
            <a:r>
              <a:rPr lang="es-AR" b="1" dirty="0">
                <a:effectLst>
                  <a:outerShdw blurRad="38100" dist="38100" dir="2700000" algn="tl">
                    <a:srgbClr val="000000">
                      <a:alpha val="43137"/>
                    </a:srgbClr>
                  </a:outerShdw>
                </a:effectLst>
              </a:rPr>
              <a:t>Su capacidad de trabajo </a:t>
            </a:r>
          </a:p>
          <a:p>
            <a:pPr marL="285750" indent="-285750">
              <a:buFont typeface="Arial" panose="020B0604020202020204" pitchFamily="34" charset="0"/>
              <a:buChar char="•"/>
            </a:pPr>
            <a:r>
              <a:rPr lang="es-AR" b="1" dirty="0">
                <a:solidFill>
                  <a:srgbClr val="FF0000"/>
                </a:solidFill>
                <a:effectLst>
                  <a:outerShdw blurRad="38100" dist="38100" dir="2700000" algn="tl">
                    <a:srgbClr val="000000">
                      <a:alpha val="43137"/>
                    </a:srgbClr>
                  </a:outerShdw>
                </a:effectLst>
              </a:rPr>
              <a:t>El tratamiento de programas y datos basados en CPU</a:t>
            </a:r>
            <a:endParaRPr lang="es-ES" b="1" dirty="0">
              <a:solidFill>
                <a:srgbClr val="FF0000"/>
              </a:solidFill>
              <a:effectLst>
                <a:outerShdw blurRad="38100" dist="38100" dir="2700000" algn="tl">
                  <a:srgbClr val="000000">
                    <a:alpha val="43137"/>
                  </a:srgbClr>
                </a:outerShdw>
              </a:effectLst>
            </a:endParaRPr>
          </a:p>
        </p:txBody>
      </p:sp>
      <p:pic>
        <p:nvPicPr>
          <p:cNvPr id="8" name="Imagen 7" descr="http://perso.wanadoo.es/pictob/imagenes/pld.jpg"/>
          <p:cNvPicPr/>
          <p:nvPr/>
        </p:nvPicPr>
        <p:blipFill>
          <a:blip r:embed="rId5">
            <a:extLst>
              <a:ext uri="{28A0092B-C50C-407E-A947-70E740481C1C}">
                <a14:useLocalDpi xmlns:a14="http://schemas.microsoft.com/office/drawing/2010/main" val="0"/>
              </a:ext>
            </a:extLst>
          </a:blip>
          <a:srcRect/>
          <a:stretch>
            <a:fillRect/>
          </a:stretch>
        </p:blipFill>
        <p:spPr bwMode="auto">
          <a:xfrm>
            <a:off x="544831" y="5633686"/>
            <a:ext cx="3518502" cy="1136821"/>
          </a:xfrm>
          <a:prstGeom prst="rect">
            <a:avLst/>
          </a:prstGeom>
          <a:noFill/>
          <a:ln>
            <a:noFill/>
          </a:ln>
        </p:spPr>
      </p:pic>
      <p:sp>
        <p:nvSpPr>
          <p:cNvPr id="9" name="CuadroTexto 8"/>
          <p:cNvSpPr txBox="1"/>
          <p:nvPr/>
        </p:nvSpPr>
        <p:spPr>
          <a:xfrm>
            <a:off x="2560071" y="1646237"/>
            <a:ext cx="2016706"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Microprocesadores</a:t>
            </a:r>
          </a:p>
        </p:txBody>
      </p:sp>
      <p:sp>
        <p:nvSpPr>
          <p:cNvPr id="10" name="CuadroTexto 9"/>
          <p:cNvSpPr txBox="1"/>
          <p:nvPr/>
        </p:nvSpPr>
        <p:spPr>
          <a:xfrm>
            <a:off x="8210816" y="1427579"/>
            <a:ext cx="2067169" cy="369332"/>
          </a:xfrm>
          <a:prstGeom prst="rect">
            <a:avLst/>
          </a:prstGeom>
          <a:noFill/>
        </p:spPr>
        <p:txBody>
          <a:bodyPr wrap="none" rtlCol="0">
            <a:spAutoFit/>
          </a:bodyPr>
          <a:lstStyle/>
          <a:p>
            <a:r>
              <a:rPr lang="es-ES" b="1" i="1" dirty="0">
                <a:solidFill>
                  <a:schemeClr val="tx2">
                    <a:lumMod val="50000"/>
                  </a:schemeClr>
                </a:solidFill>
                <a:effectLst>
                  <a:outerShdw blurRad="38100" dist="38100" dir="2700000" algn="tl">
                    <a:srgbClr val="000000">
                      <a:alpha val="43137"/>
                    </a:srgbClr>
                  </a:outerShdw>
                </a:effectLst>
              </a:rPr>
              <a:t>Microcontroladores</a:t>
            </a:r>
          </a:p>
        </p:txBody>
      </p:sp>
      <p:sp>
        <p:nvSpPr>
          <p:cNvPr id="12" name="CuadroTexto 11"/>
          <p:cNvSpPr txBox="1"/>
          <p:nvPr/>
        </p:nvSpPr>
        <p:spPr>
          <a:xfrm>
            <a:off x="4203700" y="5703708"/>
            <a:ext cx="5845126" cy="1200329"/>
          </a:xfrm>
          <a:prstGeom prst="rect">
            <a:avLst/>
          </a:prstGeom>
          <a:noFill/>
        </p:spPr>
        <p:txBody>
          <a:bodyPr wrap="none" rtlCol="0">
            <a:spAutoFit/>
          </a:bodyPr>
          <a:lstStyle/>
          <a:p>
            <a:r>
              <a:rPr lang="es-AR" i="1" dirty="0">
                <a:effectLst>
                  <a:outerShdw blurRad="38100" dist="38100" dir="2700000" algn="tl">
                    <a:srgbClr val="000000">
                      <a:alpha val="43137"/>
                    </a:srgbClr>
                  </a:outerShdw>
                </a:effectLst>
              </a:rPr>
              <a:t>Son los circuitos integrados con función lógica fija.</a:t>
            </a:r>
          </a:p>
          <a:p>
            <a:r>
              <a:rPr lang="es-AR" i="1" dirty="0">
                <a:effectLst>
                  <a:outerShdw blurRad="38100" dist="38100" dir="2700000" algn="tl">
                    <a:srgbClr val="000000">
                      <a:alpha val="43137"/>
                    </a:srgbClr>
                  </a:outerShdw>
                </a:effectLst>
              </a:rPr>
              <a:t>internamente no tienen la estructura de microprocesadores </a:t>
            </a:r>
          </a:p>
          <a:p>
            <a:r>
              <a:rPr lang="es-AR" i="1" dirty="0">
                <a:effectLst>
                  <a:outerShdw blurRad="38100" dist="38100" dir="2700000" algn="tl">
                    <a:srgbClr val="000000">
                      <a:alpha val="43137"/>
                    </a:srgbClr>
                  </a:outerShdw>
                </a:effectLst>
              </a:rPr>
              <a:t>y microcontroladores pues </a:t>
            </a:r>
            <a:r>
              <a:rPr lang="es-AR" i="1" dirty="0">
                <a:solidFill>
                  <a:srgbClr val="FF0000"/>
                </a:solidFill>
                <a:effectLst>
                  <a:outerShdw blurRad="38100" dist="38100" dir="2700000" algn="tl">
                    <a:srgbClr val="000000">
                      <a:alpha val="43137"/>
                    </a:srgbClr>
                  </a:outerShdw>
                </a:effectLst>
              </a:rPr>
              <a:t>no están basados en una CPU</a:t>
            </a:r>
            <a:r>
              <a:rPr lang="es-AR" i="1" dirty="0">
                <a:effectLst>
                  <a:outerShdw blurRad="38100" dist="38100" dir="2700000" algn="tl">
                    <a:srgbClr val="000000">
                      <a:alpha val="43137"/>
                    </a:srgbClr>
                  </a:outerShdw>
                </a:effectLst>
              </a:rPr>
              <a:t> </a:t>
            </a:r>
          </a:p>
          <a:p>
            <a:r>
              <a:rPr lang="es-AR" i="1" dirty="0">
                <a:effectLst>
                  <a:outerShdw blurRad="38100" dist="38100" dir="2700000" algn="tl">
                    <a:srgbClr val="000000">
                      <a:alpha val="43137"/>
                    </a:srgbClr>
                  </a:outerShdw>
                </a:effectLst>
              </a:rPr>
              <a:t>que lea un programa de una memoria.</a:t>
            </a:r>
            <a:endParaRPr lang="es-ES" i="1" dirty="0">
              <a:effectLst>
                <a:outerShdw blurRad="38100" dist="38100" dir="2700000" algn="tl">
                  <a:srgbClr val="000000">
                    <a:alpha val="43137"/>
                  </a:srgbClr>
                </a:outerShdw>
              </a:effectLst>
            </a:endParaRPr>
          </a:p>
        </p:txBody>
      </p:sp>
      <p:sp>
        <p:nvSpPr>
          <p:cNvPr id="13" name="Rectángulo 12"/>
          <p:cNvSpPr/>
          <p:nvPr/>
        </p:nvSpPr>
        <p:spPr>
          <a:xfrm>
            <a:off x="469900" y="4465637"/>
            <a:ext cx="9678669" cy="457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p:cNvSpPr/>
          <p:nvPr/>
        </p:nvSpPr>
        <p:spPr>
          <a:xfrm>
            <a:off x="4183973" y="4629705"/>
            <a:ext cx="1829347" cy="769441"/>
          </a:xfrm>
          <a:prstGeom prst="rect">
            <a:avLst/>
          </a:prstGeom>
        </p:spPr>
        <p:txBody>
          <a:bodyPr wrap="none">
            <a:spAutoFit/>
          </a:bodyPr>
          <a:lstStyle/>
          <a:p>
            <a:r>
              <a:rPr lang="es-ES" sz="4400" b="1" i="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s-ES" sz="4400" b="1" i="1"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PLD´s</a:t>
            </a:r>
            <a:endParaRPr lang="es-ES" sz="4400" dirty="0"/>
          </a:p>
        </p:txBody>
      </p:sp>
    </p:spTree>
    <p:extLst>
      <p:ext uri="{BB962C8B-B14F-4D97-AF65-F5344CB8AC3E}">
        <p14:creationId xmlns:p14="http://schemas.microsoft.com/office/powerpoint/2010/main" val="2891011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4" name="Marcador de contenido 3" descr="http://perso.wanadoo.es/pictob/imagenes/sm1b.gif"/>
          <p:cNvPicPr>
            <a:picLocks noGr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57462" y="2634456"/>
            <a:ext cx="5837238" cy="4726781"/>
          </a:xfrm>
          <a:prstGeom prst="rect">
            <a:avLst/>
          </a:prstGeom>
          <a:noFill/>
          <a:ln>
            <a:noFill/>
          </a:ln>
        </p:spPr>
      </p:pic>
      <p:sp>
        <p:nvSpPr>
          <p:cNvPr id="5" name="CuadroTexto 4"/>
          <p:cNvSpPr txBox="1"/>
          <p:nvPr/>
        </p:nvSpPr>
        <p:spPr>
          <a:xfrm>
            <a:off x="5473696" y="1722437"/>
            <a:ext cx="2692404" cy="461665"/>
          </a:xfrm>
          <a:prstGeom prst="rect">
            <a:avLst/>
          </a:prstGeom>
          <a:noFill/>
        </p:spPr>
        <p:txBody>
          <a:bodyPr wrap="none" rtlCol="0">
            <a:spAutoFit/>
          </a:bodyPr>
          <a:lstStyle/>
          <a:p>
            <a:r>
              <a:rPr lang="es-ES" sz="2400" b="1" i="1" dirty="0">
                <a:solidFill>
                  <a:schemeClr val="tx2">
                    <a:lumMod val="50000"/>
                  </a:schemeClr>
                </a:solidFill>
                <a:effectLst>
                  <a:outerShdw blurRad="38100" dist="38100" dir="2700000" algn="tl">
                    <a:srgbClr val="000000">
                      <a:alpha val="43137"/>
                    </a:srgbClr>
                  </a:outerShdw>
                </a:effectLst>
              </a:rPr>
              <a:t>Microcontroladores</a:t>
            </a:r>
          </a:p>
        </p:txBody>
      </p:sp>
      <p:sp>
        <p:nvSpPr>
          <p:cNvPr id="6" name="CuadroTexto 5"/>
          <p:cNvSpPr txBox="1"/>
          <p:nvPr/>
        </p:nvSpPr>
        <p:spPr>
          <a:xfrm>
            <a:off x="2603500" y="1722437"/>
            <a:ext cx="2623795" cy="461665"/>
          </a:xfrm>
          <a:prstGeom prst="rect">
            <a:avLst/>
          </a:prstGeom>
          <a:noFill/>
        </p:spPr>
        <p:txBody>
          <a:bodyPr wrap="none" rtlCol="0">
            <a:spAutoFit/>
          </a:bodyPr>
          <a:lstStyle/>
          <a:p>
            <a:r>
              <a:rPr lang="es-ES" sz="2400" b="1" i="1" dirty="0">
                <a:solidFill>
                  <a:schemeClr val="tx2">
                    <a:lumMod val="50000"/>
                  </a:schemeClr>
                </a:solidFill>
                <a:effectLst>
                  <a:outerShdw blurRad="38100" dist="38100" dir="2700000" algn="tl">
                    <a:srgbClr val="000000">
                      <a:alpha val="43137"/>
                    </a:srgbClr>
                  </a:outerShdw>
                </a:effectLst>
              </a:rPr>
              <a:t>Microprocesadores</a:t>
            </a:r>
          </a:p>
        </p:txBody>
      </p:sp>
    </p:spTree>
    <p:extLst>
      <p:ext uri="{BB962C8B-B14F-4D97-AF65-F5344CB8AC3E}">
        <p14:creationId xmlns:p14="http://schemas.microsoft.com/office/powerpoint/2010/main" val="3435034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57200" y="1265237"/>
            <a:ext cx="7404100" cy="5456237"/>
          </a:xfrm>
        </p:spPr>
        <p:txBody>
          <a:bodyPr>
            <a:noAutofit/>
          </a:bodyPr>
          <a:lstStyle/>
          <a:p>
            <a:pPr marL="0" indent="0">
              <a:buNone/>
            </a:pPr>
            <a:r>
              <a:rPr lang="es-AR" sz="2000" b="1" dirty="0">
                <a:solidFill>
                  <a:srgbClr val="FF0000"/>
                </a:solidFill>
              </a:rPr>
              <a:t>Reloj:</a:t>
            </a:r>
            <a:r>
              <a:rPr lang="es-AR" sz="2000" dirty="0"/>
              <a:t> es un generador de ondas cuadradas periódicas, utilizado para que todo el sistema esté sincronizado.</a:t>
            </a:r>
            <a:endParaRPr lang="es-ES" sz="2000" dirty="0"/>
          </a:p>
          <a:p>
            <a:pPr marL="0" indent="0">
              <a:buNone/>
            </a:pPr>
            <a:r>
              <a:rPr lang="es-AR" sz="2000" b="1" dirty="0">
                <a:solidFill>
                  <a:srgbClr val="FF0000"/>
                </a:solidFill>
              </a:rPr>
              <a:t>Unidad Central de Proceso o CPU:</a:t>
            </a:r>
            <a:r>
              <a:rPr lang="es-AR" sz="2000" b="1" dirty="0"/>
              <a:t> </a:t>
            </a:r>
            <a:r>
              <a:rPr lang="es-MX" sz="2000" dirty="0"/>
              <a:t>E</a:t>
            </a:r>
            <a:r>
              <a:rPr lang="es-AR" sz="2000" dirty="0"/>
              <a:t>s la parte mas importante del sistema </a:t>
            </a:r>
            <a:r>
              <a:rPr lang="es-AR" sz="2000" dirty="0" err="1"/>
              <a:t>microprogramable</a:t>
            </a:r>
            <a:r>
              <a:rPr lang="es-AR" sz="2000" dirty="0"/>
              <a:t>. Es donde se realiza la </a:t>
            </a:r>
            <a:r>
              <a:rPr lang="es-AR" sz="2000" b="1" dirty="0"/>
              <a:t>interpretación y ejecución de las instrucciones</a:t>
            </a:r>
            <a:r>
              <a:rPr lang="es-AR" sz="2000" dirty="0"/>
              <a:t>, se </a:t>
            </a:r>
            <a:r>
              <a:rPr lang="es-AR" sz="2000" b="1" dirty="0"/>
              <a:t>generan todas las órdenes de control</a:t>
            </a:r>
            <a:r>
              <a:rPr lang="es-AR" sz="2000" dirty="0"/>
              <a:t> para gobernar todo el sistema y </a:t>
            </a:r>
            <a:r>
              <a:rPr lang="es-AR" sz="2000" b="1" dirty="0"/>
              <a:t>se realizan las operaciones aritméticas y lógicas</a:t>
            </a:r>
            <a:r>
              <a:rPr lang="es-AR" sz="2000" dirty="0"/>
              <a:t>. </a:t>
            </a:r>
          </a:p>
          <a:p>
            <a:pPr marL="0" indent="0">
              <a:buNone/>
            </a:pPr>
            <a:r>
              <a:rPr lang="es-AR" sz="2000" dirty="0"/>
              <a:t>Todo ello se realiza con los datos procedentes de la Memoria Interna o de registros internos. También, es la encargada de realizar todas las transferencias de datos hacia la memoria o desde esta.</a:t>
            </a:r>
            <a:endParaRPr lang="es-ES" sz="2000" dirty="0"/>
          </a:p>
          <a:p>
            <a:pPr marL="0" indent="0">
              <a:buNone/>
            </a:pPr>
            <a:r>
              <a:rPr lang="es-AR" sz="2000" dirty="0"/>
              <a:t> La CPU está formada por:</a:t>
            </a:r>
            <a:endParaRPr lang="es-ES" sz="2000" dirty="0"/>
          </a:p>
          <a:p>
            <a:pPr marL="457200" lvl="1" indent="0">
              <a:buNone/>
            </a:pPr>
            <a:r>
              <a:rPr lang="es-AR" sz="2000" b="1" dirty="0"/>
              <a:t>Unidad Aritmética-Lógica</a:t>
            </a:r>
            <a:endParaRPr lang="es-ES" sz="2000" dirty="0"/>
          </a:p>
          <a:p>
            <a:pPr marL="457200" lvl="1" indent="0">
              <a:buNone/>
            </a:pPr>
            <a:r>
              <a:rPr lang="es-AR" sz="2000" b="1" dirty="0"/>
              <a:t>Acumuladores y Registros</a:t>
            </a:r>
            <a:endParaRPr lang="es-ES" sz="2000" dirty="0"/>
          </a:p>
          <a:p>
            <a:pPr marL="457200" lvl="1" indent="0">
              <a:buNone/>
            </a:pPr>
            <a:r>
              <a:rPr lang="es-AR" sz="2000" b="1" dirty="0"/>
              <a:t>Unidad de Control</a:t>
            </a:r>
            <a:endParaRPr lang="es-ES" sz="2000" dirty="0"/>
          </a:p>
          <a:p>
            <a:pPr marL="0" indent="0">
              <a:buNone/>
            </a:pPr>
            <a:r>
              <a:rPr lang="es-AR" sz="2000" dirty="0"/>
              <a:t> Todas sus funciones se realizan en sincronía con la señal del reloj, por ello, la frecuencia del reloj define la velocidad del sistema. </a:t>
            </a:r>
          </a:p>
          <a:p>
            <a:pPr marL="0" indent="0">
              <a:buNone/>
            </a:pPr>
            <a:r>
              <a:rPr lang="es-AR" sz="2000" b="1" dirty="0"/>
              <a:t> </a:t>
            </a:r>
            <a:endParaRPr lang="es-ES" sz="2000" b="1" dirty="0"/>
          </a:p>
          <a:p>
            <a:pPr marL="0" indent="0">
              <a:buNone/>
            </a:pPr>
            <a:endParaRPr lang="es-AR" sz="2000" dirty="0"/>
          </a:p>
        </p:txBody>
      </p:sp>
      <p:sp>
        <p:nvSpPr>
          <p:cNvPr id="4" name="Título 1"/>
          <p:cNvSpPr>
            <a:spLocks noGrp="1"/>
          </p:cNvSpPr>
          <p:nvPr>
            <p:ph type="title"/>
          </p:nvPr>
        </p:nvSpPr>
        <p:spPr>
          <a:xfrm>
            <a:off x="457200" y="274638"/>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5" name="Marcador de contenido 3" descr="http://perso.wanadoo.es/pictob/imagenes/sm1b.gif">
            <a:extLst>
              <a:ext uri="{FF2B5EF4-FFF2-40B4-BE49-F238E27FC236}">
                <a16:creationId xmlns:a16="http://schemas.microsoft.com/office/drawing/2014/main" id="{9819AD71-C6AA-496B-85C2-A42E09E2BEC9}"/>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7861300" y="1189037"/>
            <a:ext cx="2590800" cy="1295400"/>
          </a:xfrm>
          <a:prstGeom prst="rect">
            <a:avLst/>
          </a:prstGeom>
          <a:noFill/>
          <a:ln>
            <a:noFill/>
          </a:ln>
        </p:spPr>
      </p:pic>
    </p:spTree>
    <p:extLst>
      <p:ext uri="{BB962C8B-B14F-4D97-AF65-F5344CB8AC3E}">
        <p14:creationId xmlns:p14="http://schemas.microsoft.com/office/powerpoint/2010/main" val="2817406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17500" y="1341437"/>
            <a:ext cx="7751097" cy="5456237"/>
          </a:xfrm>
        </p:spPr>
        <p:txBody>
          <a:bodyPr>
            <a:noAutofit/>
          </a:bodyPr>
          <a:lstStyle/>
          <a:p>
            <a:pPr marL="0" indent="0">
              <a:buNone/>
            </a:pPr>
            <a:r>
              <a:rPr lang="es-AR" sz="2000" b="1" dirty="0">
                <a:solidFill>
                  <a:srgbClr val="FF0000"/>
                </a:solidFill>
              </a:rPr>
              <a:t>Memoria Central o Interna: </a:t>
            </a:r>
            <a:r>
              <a:rPr lang="es-AR" sz="2000" dirty="0">
                <a:solidFill>
                  <a:srgbClr val="FF0000"/>
                </a:solidFill>
              </a:rPr>
              <a:t> </a:t>
            </a:r>
            <a:r>
              <a:rPr lang="es-AR" sz="2000" dirty="0"/>
              <a:t>En los dispositivos que la forma, se encuentran los programas que debe utilizar el sistema </a:t>
            </a:r>
            <a:r>
              <a:rPr lang="es-AR" sz="2000" dirty="0" err="1"/>
              <a:t>microprogramable</a:t>
            </a:r>
            <a:r>
              <a:rPr lang="es-AR" sz="2000" dirty="0"/>
              <a:t>, los datos necesarios y los resultados que se generan.</a:t>
            </a:r>
          </a:p>
          <a:p>
            <a:pPr marL="0" indent="0">
              <a:buNone/>
            </a:pPr>
            <a:endParaRPr lang="es-AR" sz="2000" b="1" dirty="0"/>
          </a:p>
          <a:p>
            <a:pPr marL="0" indent="0">
              <a:buNone/>
            </a:pPr>
            <a:r>
              <a:rPr lang="es-AR" sz="2000" b="1" dirty="0">
                <a:solidFill>
                  <a:srgbClr val="FF0000"/>
                </a:solidFill>
              </a:rPr>
              <a:t>Unidad de entrada/salida: </a:t>
            </a:r>
            <a:r>
              <a:rPr lang="es-MX" sz="2000" dirty="0"/>
              <a:t>P</a:t>
            </a:r>
            <a:r>
              <a:rPr lang="es-AR" sz="2000" dirty="0" err="1"/>
              <a:t>ermite</a:t>
            </a:r>
            <a:r>
              <a:rPr lang="es-AR" sz="2000" dirty="0"/>
              <a:t> la comunicación del sistema </a:t>
            </a:r>
            <a:r>
              <a:rPr lang="es-AR" sz="2000" dirty="0" err="1"/>
              <a:t>microprogramable</a:t>
            </a:r>
            <a:r>
              <a:rPr lang="es-AR" sz="2000" dirty="0"/>
              <a:t> con el exterior. Su función fundamental es la de adaptar las diferentes velocidades y códigos utilizados por los elementos externos del sistema y el interior.</a:t>
            </a:r>
            <a:endParaRPr lang="es-ES" sz="2000" dirty="0"/>
          </a:p>
          <a:p>
            <a:pPr marL="0" indent="0">
              <a:buNone/>
            </a:pPr>
            <a:r>
              <a:rPr lang="es-AR" sz="2000" dirty="0"/>
              <a:t> </a:t>
            </a:r>
            <a:endParaRPr lang="es-ES" sz="2000" dirty="0"/>
          </a:p>
          <a:p>
            <a:pPr marL="0" indent="0">
              <a:buNone/>
            </a:pPr>
            <a:r>
              <a:rPr lang="es-AR" sz="2000" b="1" dirty="0">
                <a:solidFill>
                  <a:srgbClr val="FF0000"/>
                </a:solidFill>
              </a:rPr>
              <a:t>Periféricos: </a:t>
            </a:r>
            <a:r>
              <a:rPr lang="es-MX" sz="2000" dirty="0"/>
              <a:t>N</a:t>
            </a:r>
            <a:r>
              <a:rPr lang="es-AR" sz="2000" dirty="0"/>
              <a:t>o forman parte del sistema </a:t>
            </a:r>
            <a:r>
              <a:rPr lang="es-AR" sz="2000" dirty="0" err="1"/>
              <a:t>microprogramable</a:t>
            </a:r>
            <a:r>
              <a:rPr lang="es-AR" sz="2000" dirty="0"/>
              <a:t>. Es un conjunto de dispositivos que realizan un trabajo en el exterior del sistema. </a:t>
            </a:r>
          </a:p>
          <a:p>
            <a:pPr marL="0" indent="0">
              <a:buNone/>
            </a:pPr>
            <a:r>
              <a:rPr lang="es-AR" sz="2000" dirty="0"/>
              <a:t>Estos periféricos pueden ser de entrada o de salida, aunque existen algunos que realizan ambas. </a:t>
            </a:r>
          </a:p>
          <a:p>
            <a:pPr marL="0" indent="0">
              <a:buNone/>
            </a:pPr>
            <a:r>
              <a:rPr lang="es-AR" sz="2000" dirty="0"/>
              <a:t>Un sistema </a:t>
            </a:r>
            <a:r>
              <a:rPr lang="es-AR" sz="2000" dirty="0" err="1"/>
              <a:t>microprogramable</a:t>
            </a:r>
            <a:r>
              <a:rPr lang="es-AR" sz="2000" dirty="0"/>
              <a:t> puede controlar una multitud de dispositivos de manera que también pueden considerarse periféricos un motor eléctrico, una electroválvula, un sensor de movimiento, un brazo robot, etc. </a:t>
            </a:r>
            <a:endParaRPr lang="es-ES" sz="2000" dirty="0"/>
          </a:p>
        </p:txBody>
      </p:sp>
      <p:sp>
        <p:nvSpPr>
          <p:cNvPr id="4" name="Título 1"/>
          <p:cNvSpPr>
            <a:spLocks noGrp="1"/>
          </p:cNvSpPr>
          <p:nvPr>
            <p:ph type="title"/>
          </p:nvPr>
        </p:nvSpPr>
        <p:spPr>
          <a:xfrm>
            <a:off x="457200" y="274637"/>
            <a:ext cx="9690100" cy="1143000"/>
          </a:xfrm>
        </p:spPr>
        <p:txBody>
          <a:bodyPr vert="horz" lIns="91440" tIns="45720" rIns="91440" bIns="45720" rtlCol="0" anchor="ctr">
            <a:normAutofit fontScale="90000"/>
          </a:bodyPr>
          <a:lstStyle/>
          <a:p>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Básica de un </a:t>
            </a:r>
            <a:r>
              <a:rPr lang="es-ES" sz="4397" b="1" i="1" dirty="0" err="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5" name="Marcador de contenido 3" descr="http://perso.wanadoo.es/pictob/imagenes/sm1b.gif">
            <a:extLst>
              <a:ext uri="{FF2B5EF4-FFF2-40B4-BE49-F238E27FC236}">
                <a16:creationId xmlns:a16="http://schemas.microsoft.com/office/drawing/2014/main" id="{2AC4170A-A225-46C8-B50B-17A0645CA6B1}"/>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8068597" y="1189037"/>
            <a:ext cx="2590800" cy="1295400"/>
          </a:xfrm>
          <a:prstGeom prst="rect">
            <a:avLst/>
          </a:prstGeom>
          <a:noFill/>
          <a:ln>
            <a:noFill/>
          </a:ln>
        </p:spPr>
      </p:pic>
    </p:spTree>
    <p:extLst>
      <p:ext uri="{BB962C8B-B14F-4D97-AF65-F5344CB8AC3E}">
        <p14:creationId xmlns:p14="http://schemas.microsoft.com/office/powerpoint/2010/main" val="851085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noChangeArrowheads="1"/>
          </p:cNvPicPr>
          <p:nvPr/>
        </p:nvPicPr>
        <p:blipFill>
          <a:blip r:embed="rId3"/>
          <a:srcRect/>
          <a:stretch>
            <a:fillRect/>
          </a:stretch>
        </p:blipFill>
        <p:spPr bwMode="auto">
          <a:xfrm>
            <a:off x="762000" y="277095"/>
            <a:ext cx="9169400" cy="6870700"/>
          </a:xfrm>
          <a:prstGeom prst="rect">
            <a:avLst/>
          </a:prstGeom>
          <a:noFill/>
        </p:spPr>
      </p:pic>
      <p:pic>
        <p:nvPicPr>
          <p:cNvPr id="1027" name="Picture 3"/>
          <p:cNvPicPr>
            <a:picLocks noChangeAspect="1" noChangeArrowheads="1"/>
          </p:cNvPicPr>
          <p:nvPr/>
        </p:nvPicPr>
        <p:blipFill>
          <a:blip r:embed="rId4"/>
          <a:srcRect/>
          <a:stretch>
            <a:fillRect/>
          </a:stretch>
        </p:blipFill>
        <p:spPr bwMode="auto">
          <a:xfrm>
            <a:off x="0" y="0"/>
            <a:ext cx="12700" cy="12700"/>
          </a:xfrm>
          <a:prstGeom prst="rect">
            <a:avLst/>
          </a:prstGeom>
          <a:noFill/>
        </p:spPr>
      </p:pic>
      <p:sp>
        <p:nvSpPr>
          <p:cNvPr id="5" name="TextBox 1"/>
          <p:cNvSpPr txBox="1"/>
          <p:nvPr/>
        </p:nvSpPr>
        <p:spPr>
          <a:xfrm>
            <a:off x="5930900" y="1739900"/>
            <a:ext cx="4140200" cy="435697"/>
          </a:xfrm>
          <a:prstGeom prst="rect">
            <a:avLst/>
          </a:prstGeom>
          <a:noFill/>
        </p:spPr>
        <p:txBody>
          <a:bodyPr wrap="square" lIns="0" tIns="0" rIns="0" rtlCol="0">
            <a:spAutoFit/>
          </a:bodyPr>
          <a:lstStyle/>
          <a:p>
            <a:pPr>
              <a:lnSpc>
                <a:spcPts val="3300"/>
              </a:lnSpc>
              <a:tabLst>
                <a:tab pos="76200" algn="l"/>
              </a:tabLst>
            </a:pPr>
            <a:r>
              <a:rPr lang="en-US" altLang="zh-CN" dirty="0"/>
              <a:t>	</a:t>
            </a:r>
            <a:r>
              <a:rPr lang="en-US" altLang="zh-CN" sz="2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2400"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Von </a:t>
            </a:r>
            <a:r>
              <a:rPr lang="en-US" altLang="zh-CN" sz="2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Newmann</a:t>
            </a:r>
            <a:r>
              <a:rPr lang="en-US" altLang="zh-CN" sz="2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6" name="TextBox 1"/>
          <p:cNvSpPr txBox="1"/>
          <p:nvPr/>
        </p:nvSpPr>
        <p:spPr>
          <a:xfrm>
            <a:off x="6045200" y="2243137"/>
            <a:ext cx="127000" cy="12192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pPr>
            <a:r>
              <a:rPr lang="en-US" altLang="zh-CN" sz="1997" dirty="0">
                <a:solidFill>
                  <a:srgbClr val="3365CC"/>
                </a:solidFill>
                <a:latin typeface="Symbol" pitchFamily="18" charset="0"/>
                <a:cs typeface="Symbol" pitchFamily="18" charset="0"/>
              </a:rPr>
              <a:t>−</a:t>
            </a:r>
          </a:p>
        </p:txBody>
      </p:sp>
      <p:sp>
        <p:nvSpPr>
          <p:cNvPr id="7" name="TextBox 1"/>
          <p:cNvSpPr txBox="1"/>
          <p:nvPr/>
        </p:nvSpPr>
        <p:spPr>
          <a:xfrm>
            <a:off x="6502400" y="2255837"/>
            <a:ext cx="2787623" cy="1546577"/>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Busqueda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instrucciones</a:t>
            </a:r>
          </a:p>
          <a:p>
            <a:pPr>
              <a:lnSpc>
                <a:spcPts val="2100"/>
              </a:lnSpc>
              <a:tabLst/>
            </a:pPr>
            <a:r>
              <a:rPr lang="en-US" altLang="zh-CN" sz="1997" dirty="0">
                <a:solidFill>
                  <a:srgbClr val="000000"/>
                </a:solidFill>
                <a:latin typeface="Times New Roman" pitchFamily="18" charset="0"/>
                <a:cs typeface="Times New Roman" pitchFamily="18" charset="0"/>
              </a:rPr>
              <a:t>y</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datos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desde</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una memoria</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simple</a:t>
            </a:r>
          </a:p>
          <a:p>
            <a:pPr>
              <a:lnSpc>
                <a:spcPts val="2800"/>
              </a:lnSpc>
              <a:tabLst/>
            </a:pPr>
            <a:r>
              <a:rPr lang="en-US" altLang="zh-CN" sz="1997" dirty="0">
                <a:solidFill>
                  <a:srgbClr val="000000"/>
                </a:solidFill>
                <a:latin typeface="Times New Roman" pitchFamily="18" charset="0"/>
                <a:cs typeface="Times New Roman" pitchFamily="18" charset="0"/>
              </a:rPr>
              <a:t>Ancho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Banda de</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operación Limitado</a:t>
            </a:r>
          </a:p>
        </p:txBody>
      </p:sp>
      <p:sp>
        <p:nvSpPr>
          <p:cNvPr id="9" name="TextBox 1"/>
          <p:cNvSpPr txBox="1"/>
          <p:nvPr/>
        </p:nvSpPr>
        <p:spPr>
          <a:xfrm>
            <a:off x="5930900" y="4008437"/>
            <a:ext cx="2880597" cy="435697"/>
          </a:xfrm>
          <a:prstGeom prst="rect">
            <a:avLst/>
          </a:prstGeom>
          <a:noFill/>
        </p:spPr>
        <p:txBody>
          <a:bodyPr wrap="none" lIns="0" tIns="0" rIns="0" rtlCol="0">
            <a:spAutoFit/>
          </a:bodyPr>
          <a:lstStyle/>
          <a:p>
            <a:pPr>
              <a:lnSpc>
                <a:spcPts val="3300"/>
              </a:lnSpc>
              <a:tabLst/>
            </a:pPr>
            <a:r>
              <a:rPr lang="en-US" altLang="zh-CN" sz="2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2400"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Harvard:</a:t>
            </a:r>
          </a:p>
        </p:txBody>
      </p:sp>
      <p:sp>
        <p:nvSpPr>
          <p:cNvPr id="10" name="TextBox 1"/>
          <p:cNvSpPr txBox="1"/>
          <p:nvPr/>
        </p:nvSpPr>
        <p:spPr>
          <a:xfrm>
            <a:off x="6045200" y="4491037"/>
            <a:ext cx="127000" cy="18542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100"/>
              </a:lnSpc>
              <a:tabLst/>
            </a:pPr>
            <a:r>
              <a:rPr lang="en-US" altLang="zh-CN" sz="1997" dirty="0">
                <a:solidFill>
                  <a:srgbClr val="3365CC"/>
                </a:solidFill>
                <a:latin typeface="Symbol" pitchFamily="18" charset="0"/>
                <a:cs typeface="Symbol" pitchFamily="18" charset="0"/>
              </a:rPr>
              <a:t>−</a:t>
            </a:r>
          </a:p>
          <a:p>
            <a:pPr>
              <a:lnSpc>
                <a:spcPts val="1000"/>
              </a:lnSpc>
            </a:pPr>
            <a:endParaRPr lang="en-US" altLang="zh-CN" dirty="0"/>
          </a:p>
          <a:p>
            <a:pPr>
              <a:lnSpc>
                <a:spcPts val="1000"/>
              </a:lnSpc>
            </a:pPr>
            <a:endParaRPr lang="en-US" altLang="zh-CN" dirty="0"/>
          </a:p>
          <a:p>
            <a:pPr>
              <a:lnSpc>
                <a:spcPts val="3000"/>
              </a:lnSpc>
              <a:tabLst/>
            </a:pPr>
            <a:r>
              <a:rPr lang="en-US" altLang="zh-CN" sz="1997" dirty="0">
                <a:solidFill>
                  <a:srgbClr val="3365CC"/>
                </a:solidFill>
                <a:latin typeface="Symbol" pitchFamily="18" charset="0"/>
                <a:cs typeface="Symbol" pitchFamily="18" charset="0"/>
              </a:rPr>
              <a:t>−</a:t>
            </a:r>
          </a:p>
        </p:txBody>
      </p:sp>
      <p:sp>
        <p:nvSpPr>
          <p:cNvPr id="11" name="TextBox 1"/>
          <p:cNvSpPr txBox="1"/>
          <p:nvPr/>
        </p:nvSpPr>
        <p:spPr>
          <a:xfrm>
            <a:off x="6502400" y="4503737"/>
            <a:ext cx="2643352" cy="2174954"/>
          </a:xfrm>
          <a:prstGeom prst="rect">
            <a:avLst/>
          </a:prstGeom>
          <a:noFill/>
        </p:spPr>
        <p:txBody>
          <a:bodyPr wrap="none" lIns="0" tIns="0" rIns="0" rtlCol="0">
            <a:spAutoFit/>
          </a:bodyPr>
          <a:lstStyle/>
          <a:p>
            <a:pPr>
              <a:lnSpc>
                <a:spcPts val="2600"/>
              </a:lnSpc>
              <a:tabLst/>
            </a:pPr>
            <a:r>
              <a:rPr lang="en-US" altLang="zh-CN" sz="1997" dirty="0">
                <a:solidFill>
                  <a:srgbClr val="000000"/>
                </a:solidFill>
                <a:latin typeface="Times New Roman" pitchFamily="18" charset="0"/>
                <a:cs typeface="Times New Roman" pitchFamily="18" charset="0"/>
              </a:rPr>
              <a:t>Usa</a:t>
            </a:r>
            <a:r>
              <a:rPr lang="en-US" altLang="zh-CN" sz="1997" dirty="0">
                <a:latin typeface="Times New Roman" pitchFamily="18" charset="0"/>
                <a:cs typeface="Times New Roman" pitchFamily="18" charset="0"/>
              </a:rPr>
              <a:t> </a:t>
            </a: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dos memorias</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separadas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para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Datos</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e</a:t>
            </a:r>
          </a:p>
          <a:p>
            <a:pPr>
              <a:lnSpc>
                <a:spcPts val="2100"/>
              </a:lnSpc>
              <a:tabLst/>
            </a:pPr>
            <a:r>
              <a:rPr lang="en-US" altLang="zh-CN" sz="1997" dirty="0">
                <a:solidFill>
                  <a:srgbClr val="000000"/>
                </a:solidFill>
                <a:latin typeface="Times New Roman" pitchFamily="18" charset="0"/>
                <a:cs typeface="Times New Roman" pitchFamily="18" charset="0"/>
              </a:rPr>
              <a:t>Instrucciones</a:t>
            </a:r>
          </a:p>
          <a:p>
            <a:pPr>
              <a:lnSpc>
                <a:spcPts val="2800"/>
              </a:lnSpc>
              <a:tabLst/>
            </a:pPr>
            <a:r>
              <a:rPr lang="en-US" altLang="zh-CN" sz="1997" dirty="0">
                <a:solidFill>
                  <a:srgbClr val="000000"/>
                </a:solidFill>
                <a:latin typeface="Times New Roman" pitchFamily="18" charset="0"/>
                <a:cs typeface="Times New Roman" pitchFamily="18" charset="0"/>
              </a:rPr>
              <a:t>Ancho</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Banda</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de</a:t>
            </a:r>
          </a:p>
          <a:p>
            <a:pPr>
              <a:lnSpc>
                <a:spcPts val="2100"/>
              </a:lnSpc>
              <a:tabLst/>
            </a:pPr>
            <a:r>
              <a:rPr lang="en-US" altLang="zh-CN" sz="1997" dirty="0">
                <a:solidFill>
                  <a:srgbClr val="000000"/>
                </a:solidFill>
                <a:latin typeface="Times New Roman" pitchFamily="18" charset="0"/>
                <a:cs typeface="Times New Roman" pitchFamily="18" charset="0"/>
              </a:rPr>
              <a:t>operación</a:t>
            </a:r>
            <a:r>
              <a:rPr lang="en-US" altLang="zh-CN" sz="1997" dirty="0">
                <a:latin typeface="Times New Roman" pitchFamily="18" charset="0"/>
                <a:cs typeface="Times New Roman" pitchFamily="18" charset="0"/>
              </a:rPr>
              <a:t> </a:t>
            </a:r>
            <a:r>
              <a:rPr lang="en-US" altLang="zh-CN" sz="1997" dirty="0">
                <a:solidFill>
                  <a:srgbClr val="000000"/>
                </a:solidFill>
                <a:latin typeface="Times New Roman" pitchFamily="18" charset="0"/>
                <a:cs typeface="Times New Roman" pitchFamily="18" charset="0"/>
              </a:rPr>
              <a:t>mejorado</a:t>
            </a:r>
          </a:p>
          <a:p>
            <a:pPr>
              <a:lnSpc>
                <a:spcPts val="28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Permite diferentes anchos</a:t>
            </a:r>
          </a:p>
          <a:p>
            <a:pPr>
              <a:lnSpc>
                <a:spcPts val="2100"/>
              </a:lnSpc>
              <a:tabLst/>
            </a:pPr>
            <a:r>
              <a:rPr lang="en-US" altLang="zh-CN" sz="19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 Bus</a:t>
            </a:r>
          </a:p>
        </p:txBody>
      </p:sp>
      <p:sp>
        <p:nvSpPr>
          <p:cNvPr id="12" name="Rectángulo 11"/>
          <p:cNvSpPr/>
          <p:nvPr/>
        </p:nvSpPr>
        <p:spPr>
          <a:xfrm>
            <a:off x="1079500" y="731837"/>
            <a:ext cx="990600" cy="53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extBox 1"/>
          <p:cNvSpPr txBox="1"/>
          <p:nvPr/>
        </p:nvSpPr>
        <p:spPr>
          <a:xfrm>
            <a:off x="588604" y="513005"/>
            <a:ext cx="9253896"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sz="2800" dirty="0" err="1"/>
              <a:t>Arquitectura</a:t>
            </a:r>
            <a:r>
              <a:rPr lang="en-US" altLang="zh-CN" sz="2800" dirty="0"/>
              <a:t> Von </a:t>
            </a:r>
            <a:r>
              <a:rPr lang="en-US" altLang="zh-CN" sz="2800" dirty="0" err="1"/>
              <a:t>Newmann</a:t>
            </a:r>
            <a:r>
              <a:rPr lang="en-US" altLang="zh-CN" sz="2800" dirty="0"/>
              <a:t> y  Harvard</a:t>
            </a:r>
          </a:p>
        </p:txBody>
      </p:sp>
      <p:sp>
        <p:nvSpPr>
          <p:cNvPr id="13" name="Título 1"/>
          <p:cNvSpPr txBox="1">
            <a:spLocks/>
          </p:cNvSpPr>
          <p:nvPr/>
        </p:nvSpPr>
        <p:spPr>
          <a:xfrm>
            <a:off x="457200" y="46037"/>
            <a:ext cx="9690100" cy="744215"/>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sz="4397" b="1" i="1">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Estructura Basica de un Microprogramable</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49300" y="350837"/>
            <a:ext cx="9169400" cy="6870700"/>
          </a:xfrm>
          <a:prstGeom prst="rect">
            <a:avLst/>
          </a:prstGeom>
          <a:noFill/>
        </p:spPr>
      </p:pic>
      <p:sp>
        <p:nvSpPr>
          <p:cNvPr id="2" name="TextBox 1"/>
          <p:cNvSpPr txBox="1"/>
          <p:nvPr/>
        </p:nvSpPr>
        <p:spPr>
          <a:xfrm>
            <a:off x="546100" y="46037"/>
            <a:ext cx="96012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Longitud de la palabra de Instrucción</a:t>
            </a:r>
          </a:p>
        </p:txBody>
      </p:sp>
      <p:sp>
        <p:nvSpPr>
          <p:cNvPr id="3" name="TextBox 1"/>
          <p:cNvSpPr txBox="1"/>
          <p:nvPr/>
        </p:nvSpPr>
        <p:spPr>
          <a:xfrm>
            <a:off x="1879600" y="1409700"/>
            <a:ext cx="20066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Memoria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Programa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8</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Bit</a:t>
            </a:r>
          </a:p>
        </p:txBody>
      </p:sp>
      <p:sp>
        <p:nvSpPr>
          <p:cNvPr id="4" name="TextBox 1"/>
          <p:cNvSpPr txBox="1"/>
          <p:nvPr/>
        </p:nvSpPr>
        <p:spPr>
          <a:xfrm>
            <a:off x="4673600" y="1265237"/>
            <a:ext cx="3582199" cy="1059264"/>
          </a:xfrm>
          <a:prstGeom prst="rect">
            <a:avLst/>
          </a:prstGeom>
          <a:noFill/>
        </p:spPr>
        <p:txBody>
          <a:bodyPr wrap="none" lIns="0" tIns="0" rIns="0" rtlCol="0">
            <a:spAutoFit/>
          </a:bodyPr>
          <a:lstStyle/>
          <a:p>
            <a:pPr>
              <a:lnSpc>
                <a:spcPts val="2200"/>
              </a:lnSpc>
              <a:tabLst/>
            </a:pPr>
            <a:r>
              <a:rPr lang="en-US" altLang="zh-CN" sz="1602" b="1" u="sng" dirty="0">
                <a:solidFill>
                  <a:srgbClr val="000000"/>
                </a:solidFill>
                <a:latin typeface="Times New Roman" pitchFamily="18" charset="0"/>
                <a:cs typeface="Times New Roman" pitchFamily="18" charset="0"/>
              </a:rPr>
              <a:t>Instruccion de 8 bit </a:t>
            </a:r>
            <a:r>
              <a:rPr lang="en-US" altLang="zh-CN" sz="1602" b="1" u="sng" dirty="0" err="1">
                <a:solidFill>
                  <a:srgbClr val="000000"/>
                </a:solidFill>
                <a:latin typeface="Times New Roman" pitchFamily="18" charset="0"/>
                <a:cs typeface="Times New Roman" pitchFamily="18" charset="0"/>
              </a:rPr>
              <a:t>sobre</a:t>
            </a:r>
            <a:r>
              <a:rPr lang="en-US" altLang="zh-CN" sz="1602" b="1" u="sng" dirty="0">
                <a:solidFill>
                  <a:srgbClr val="000000"/>
                </a:solidFill>
                <a:latin typeface="Times New Roman" pitchFamily="18" charset="0"/>
                <a:cs typeface="Times New Roman" pitchFamily="18" charset="0"/>
              </a:rPr>
              <a:t> MCU de 8 Bits</a:t>
            </a:r>
          </a:p>
          <a:p>
            <a:pPr>
              <a:lnSpc>
                <a:spcPts val="2500"/>
              </a:lnSpc>
              <a:tabLst/>
            </a:pPr>
            <a:r>
              <a:rPr lang="en-US" altLang="zh-CN" sz="1397" b="1" dirty="0">
                <a:solidFill>
                  <a:srgbClr val="000000"/>
                </a:solidFill>
                <a:latin typeface="Times New Roman" pitchFamily="18" charset="0"/>
                <a:cs typeface="Times New Roman" pitchFamily="18" charset="0"/>
              </a:rPr>
              <a:t>Ejemplo: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Freescale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‘Cargar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Acumulador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a:t>
            </a:r>
          </a:p>
          <a:p>
            <a:pPr>
              <a:lnSpc>
                <a:spcPts val="1600"/>
              </a:lnSpc>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Localizaciones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p>
          <a:p>
            <a:pPr>
              <a:lnSpc>
                <a:spcPts val="1600"/>
              </a:lnSpc>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2</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Ciclos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Instrucciones</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para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Ejecutarse</a:t>
            </a:r>
          </a:p>
        </p:txBody>
      </p:sp>
      <p:sp>
        <p:nvSpPr>
          <p:cNvPr id="5" name="TextBox 1"/>
          <p:cNvSpPr txBox="1"/>
          <p:nvPr/>
        </p:nvSpPr>
        <p:spPr>
          <a:xfrm>
            <a:off x="4660900" y="2616200"/>
            <a:ext cx="1244600" cy="850900"/>
          </a:xfrm>
          <a:prstGeom prst="rect">
            <a:avLst/>
          </a:prstGeom>
          <a:noFill/>
        </p:spPr>
        <p:txBody>
          <a:bodyPr wrap="none" lIns="0" tIns="0" rIns="0" rtlCol="0">
            <a:spAutoFit/>
          </a:bodyPr>
          <a:lstStyle/>
          <a:p>
            <a:pPr>
              <a:lnSpc>
                <a:spcPts val="1700"/>
              </a:lnSpc>
              <a:tabLst/>
            </a:pPr>
            <a:r>
              <a:rPr lang="en-US" altLang="zh-CN" sz="2202" b="1" dirty="0">
                <a:solidFill>
                  <a:srgbClr val="000000"/>
                </a:solidFill>
                <a:latin typeface="Courier New" pitchFamily="18" charset="0"/>
                <a:cs typeface="Courier New" pitchFamily="18" charset="0"/>
              </a:rPr>
              <a:t>ldaa</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#k</a:t>
            </a:r>
          </a:p>
          <a:p>
            <a:pPr>
              <a:lnSpc>
                <a:spcPts val="2400"/>
              </a:lnSpc>
              <a:tabLst/>
            </a:pPr>
            <a:r>
              <a:rPr lang="en-US" altLang="zh-CN" sz="1302" dirty="0">
                <a:solidFill>
                  <a:srgbClr val="000000"/>
                </a:solidFill>
                <a:latin typeface="Arial Black" pitchFamily="18" charset="0"/>
                <a:cs typeface="Arial Black" pitchFamily="18" charset="0"/>
              </a:rPr>
              <a:t>1</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0</a:t>
            </a:r>
          </a:p>
          <a:p>
            <a:pPr>
              <a:lnSpc>
                <a:spcPts val="2600"/>
              </a:lnSpc>
              <a:tabLst/>
            </a:pP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r>
              <a:rPr lang="en-US" altLang="zh-CN" sz="1302" dirty="0">
                <a:latin typeface="Times New Roman" pitchFamily="18" charset="0"/>
                <a:cs typeface="Times New Roman" pitchFamily="18" charset="0"/>
              </a:rPr>
              <a:t>     </a:t>
            </a:r>
            <a:r>
              <a:rPr lang="en-US" altLang="zh-CN" sz="1302" dirty="0">
                <a:solidFill>
                  <a:srgbClr val="000000"/>
                </a:solidFill>
                <a:latin typeface="Arial Black" pitchFamily="18" charset="0"/>
                <a:cs typeface="Arial Black" pitchFamily="18" charset="0"/>
              </a:rPr>
              <a:t>k</a:t>
            </a:r>
          </a:p>
        </p:txBody>
      </p:sp>
      <p:sp>
        <p:nvSpPr>
          <p:cNvPr id="6" name="TextBox 1"/>
          <p:cNvSpPr txBox="1"/>
          <p:nvPr/>
        </p:nvSpPr>
        <p:spPr>
          <a:xfrm>
            <a:off x="61341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7" name="TextBox 1"/>
          <p:cNvSpPr txBox="1"/>
          <p:nvPr/>
        </p:nvSpPr>
        <p:spPr>
          <a:xfrm>
            <a:off x="64135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8" name="TextBox 1"/>
          <p:cNvSpPr txBox="1"/>
          <p:nvPr/>
        </p:nvSpPr>
        <p:spPr>
          <a:xfrm>
            <a:off x="6680200" y="2895600"/>
            <a:ext cx="101600" cy="5588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a:p>
            <a:pPr>
              <a:lnSpc>
                <a:spcPts val="2600"/>
              </a:lnSpc>
              <a:tabLst/>
            </a:pPr>
            <a:r>
              <a:rPr lang="en-US" altLang="zh-CN" sz="1302" dirty="0">
                <a:solidFill>
                  <a:srgbClr val="000000"/>
                </a:solidFill>
                <a:latin typeface="Arial Black" pitchFamily="18" charset="0"/>
                <a:cs typeface="Arial Black" pitchFamily="18" charset="0"/>
              </a:rPr>
              <a:t>k</a:t>
            </a:r>
          </a:p>
        </p:txBody>
      </p:sp>
      <p:sp>
        <p:nvSpPr>
          <p:cNvPr id="10" name="TextBox 1"/>
          <p:cNvSpPr txBox="1"/>
          <p:nvPr/>
        </p:nvSpPr>
        <p:spPr>
          <a:xfrm>
            <a:off x="7556500" y="2438400"/>
            <a:ext cx="1647887" cy="1495281"/>
          </a:xfrm>
          <a:prstGeom prst="rect">
            <a:avLst/>
          </a:prstGeom>
          <a:noFill/>
        </p:spPr>
        <p:txBody>
          <a:bodyPr wrap="none" lIns="0" tIns="0" rIns="0" rtlCol="0">
            <a:spAutoFit/>
          </a:bodyPr>
          <a:lstStyle/>
          <a:p>
            <a:pPr>
              <a:lnSpc>
                <a:spcPts val="2600"/>
              </a:lnSpc>
              <a:tabLst/>
            </a:pPr>
            <a:r>
              <a:rPr lang="en-US" altLang="zh-CN" sz="1902" b="1" dirty="0">
                <a:solidFill>
                  <a:srgbClr val="000000"/>
                </a:solidFill>
                <a:latin typeface="Times New Roman" pitchFamily="18" charset="0"/>
                <a:cs typeface="Times New Roman" pitchFamily="18" charset="0"/>
              </a:rPr>
              <a:t>Limitado</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ancho</a:t>
            </a:r>
          </a:p>
          <a:p>
            <a:pPr>
              <a:lnSpc>
                <a:spcPts val="2000"/>
              </a:lnSpc>
              <a:tabLst/>
            </a:pPr>
            <a:r>
              <a:rPr lang="en-US" altLang="zh-CN" sz="1902" b="1" dirty="0">
                <a:solidFill>
                  <a:srgbClr val="000000"/>
                </a:solidFill>
                <a:latin typeface="Times New Roman" pitchFamily="18" charset="0"/>
                <a:cs typeface="Times New Roman" pitchFamily="18" charset="0"/>
              </a:rPr>
              <a:t>de</a:t>
            </a:r>
            <a:r>
              <a:rPr lang="en-US" altLang="zh-CN" sz="1902" dirty="0">
                <a:latin typeface="Times New Roman" pitchFamily="18" charset="0"/>
                <a:cs typeface="Times New Roman" pitchFamily="18" charset="0"/>
              </a:rPr>
              <a:t> </a:t>
            </a:r>
            <a:r>
              <a:rPr lang="en-US" altLang="zh-CN" sz="1902" b="1" dirty="0">
                <a:solidFill>
                  <a:srgbClr val="000000"/>
                </a:solidFill>
                <a:latin typeface="Times New Roman" pitchFamily="18" charset="0"/>
                <a:cs typeface="Times New Roman" pitchFamily="18" charset="0"/>
              </a:rPr>
              <a:t>banda</a:t>
            </a:r>
          </a:p>
          <a:p>
            <a:pPr>
              <a:lnSpc>
                <a:spcPts val="27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Incrementa</a:t>
            </a:r>
            <a:r>
              <a:rPr lang="en-US" altLang="zh-CN" sz="1902"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los</a:t>
            </a:r>
          </a:p>
          <a:p>
            <a:pPr>
              <a:lnSpc>
                <a:spcPts val="20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requerimientos</a:t>
            </a:r>
          </a:p>
          <a:p>
            <a:pPr>
              <a:lnSpc>
                <a:spcPts val="2000"/>
              </a:lnSpc>
              <a:tabLst/>
            </a:pP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902"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902"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p>
        </p:txBody>
      </p:sp>
      <p:sp>
        <p:nvSpPr>
          <p:cNvPr id="11" name="TextBox 1"/>
          <p:cNvSpPr txBox="1"/>
          <p:nvPr/>
        </p:nvSpPr>
        <p:spPr>
          <a:xfrm>
            <a:off x="1739900" y="4229100"/>
            <a:ext cx="21590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Memoria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Programa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14</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Bits</a:t>
            </a:r>
          </a:p>
        </p:txBody>
      </p:sp>
      <p:sp>
        <p:nvSpPr>
          <p:cNvPr id="12" name="TextBox 1"/>
          <p:cNvSpPr txBox="1"/>
          <p:nvPr/>
        </p:nvSpPr>
        <p:spPr>
          <a:xfrm>
            <a:off x="47625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p:txBody>
      </p:sp>
      <p:sp>
        <p:nvSpPr>
          <p:cNvPr id="13" name="TextBox 1"/>
          <p:cNvSpPr txBox="1"/>
          <p:nvPr/>
        </p:nvSpPr>
        <p:spPr>
          <a:xfrm>
            <a:off x="5041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1</a:t>
            </a:r>
          </a:p>
        </p:txBody>
      </p:sp>
      <p:sp>
        <p:nvSpPr>
          <p:cNvPr id="14" name="TextBox 1"/>
          <p:cNvSpPr txBox="1"/>
          <p:nvPr/>
        </p:nvSpPr>
        <p:spPr>
          <a:xfrm>
            <a:off x="53086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5" name="TextBox 1"/>
          <p:cNvSpPr txBox="1"/>
          <p:nvPr/>
        </p:nvSpPr>
        <p:spPr>
          <a:xfrm>
            <a:off x="55880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6" name="TextBox 1"/>
          <p:cNvSpPr txBox="1"/>
          <p:nvPr/>
        </p:nvSpPr>
        <p:spPr>
          <a:xfrm>
            <a:off x="58674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7" name="TextBox 1"/>
          <p:cNvSpPr txBox="1"/>
          <p:nvPr/>
        </p:nvSpPr>
        <p:spPr>
          <a:xfrm>
            <a:off x="61468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0</a:t>
            </a:r>
          </a:p>
        </p:txBody>
      </p:sp>
      <p:sp>
        <p:nvSpPr>
          <p:cNvPr id="18" name="TextBox 1"/>
          <p:cNvSpPr txBox="1"/>
          <p:nvPr/>
        </p:nvSpPr>
        <p:spPr>
          <a:xfrm>
            <a:off x="64262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19" name="TextBox 1"/>
          <p:cNvSpPr txBox="1"/>
          <p:nvPr/>
        </p:nvSpPr>
        <p:spPr>
          <a:xfrm>
            <a:off x="6692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0" name="TextBox 1"/>
          <p:cNvSpPr txBox="1"/>
          <p:nvPr/>
        </p:nvSpPr>
        <p:spPr>
          <a:xfrm>
            <a:off x="69723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1" name="TextBox 1"/>
          <p:cNvSpPr txBox="1"/>
          <p:nvPr/>
        </p:nvSpPr>
        <p:spPr>
          <a:xfrm>
            <a:off x="72517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2" name="TextBox 1"/>
          <p:cNvSpPr txBox="1"/>
          <p:nvPr/>
        </p:nvSpPr>
        <p:spPr>
          <a:xfrm>
            <a:off x="75311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3" name="TextBox 1"/>
          <p:cNvSpPr txBox="1"/>
          <p:nvPr/>
        </p:nvSpPr>
        <p:spPr>
          <a:xfrm>
            <a:off x="78105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4" name="TextBox 1"/>
          <p:cNvSpPr txBox="1"/>
          <p:nvPr/>
        </p:nvSpPr>
        <p:spPr>
          <a:xfrm>
            <a:off x="80899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5" name="TextBox 1"/>
          <p:cNvSpPr txBox="1"/>
          <p:nvPr/>
        </p:nvSpPr>
        <p:spPr>
          <a:xfrm>
            <a:off x="8356600" y="5753100"/>
            <a:ext cx="1016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k</a:t>
            </a:r>
          </a:p>
        </p:txBody>
      </p:sp>
      <p:sp>
        <p:nvSpPr>
          <p:cNvPr id="26" name="TextBox 1"/>
          <p:cNvSpPr txBox="1"/>
          <p:nvPr/>
        </p:nvSpPr>
        <p:spPr>
          <a:xfrm>
            <a:off x="4673600" y="4160837"/>
            <a:ext cx="4439805" cy="1495281"/>
          </a:xfrm>
          <a:prstGeom prst="rect">
            <a:avLst/>
          </a:prstGeom>
          <a:noFill/>
        </p:spPr>
        <p:txBody>
          <a:bodyPr wrap="none" lIns="0" tIns="0" rIns="0" rtlCol="0">
            <a:spAutoFit/>
          </a:bodyPr>
          <a:lstStyle/>
          <a:p>
            <a:pPr>
              <a:lnSpc>
                <a:spcPts val="2200"/>
              </a:lnSpc>
              <a:tabLst>
                <a:tab pos="76200" algn="l"/>
              </a:tabLst>
            </a:pPr>
            <a:r>
              <a:rPr lang="en-US" altLang="zh-CN" sz="1602" b="1" u="sng" dirty="0">
                <a:solidFill>
                  <a:srgbClr val="000000"/>
                </a:solidFill>
                <a:latin typeface="Times New Roman" pitchFamily="18" charset="0"/>
                <a:cs typeface="Times New Roman" pitchFamily="18" charset="0"/>
              </a:rPr>
              <a:t>14-bits de Instrucción sobre PIC16 MCU de 8 bits</a:t>
            </a:r>
          </a:p>
          <a:p>
            <a:pPr>
              <a:lnSpc>
                <a:spcPts val="2500"/>
              </a:lnSpc>
              <a:tabLst>
                <a:tab pos="76200" algn="l"/>
              </a:tabLst>
            </a:pPr>
            <a:r>
              <a:rPr lang="en-US" altLang="zh-CN" sz="1397" b="1" dirty="0">
                <a:solidFill>
                  <a:srgbClr val="000000"/>
                </a:solidFill>
                <a:latin typeface="Times New Roman" pitchFamily="18" charset="0"/>
                <a:cs typeface="Times New Roman" pitchFamily="18" charset="0"/>
              </a:rPr>
              <a:t>Ejemplo: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‘Mover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un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valor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Literal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Wr’</a:t>
            </a:r>
          </a:p>
          <a:p>
            <a:pPr>
              <a:lnSpc>
                <a:spcPts val="1600"/>
              </a:lnSpc>
              <a:tabLst>
                <a:tab pos="76200" algn="l"/>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Localizacón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Memoria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Programa</a:t>
            </a:r>
          </a:p>
          <a:p>
            <a:pPr>
              <a:lnSpc>
                <a:spcPts val="1600"/>
              </a:lnSpc>
              <a:tabLst>
                <a:tab pos="76200" algn="l"/>
              </a:tabLst>
            </a:pP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1</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Ciclo</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instrucción</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para</a:t>
            </a:r>
            <a:r>
              <a:rPr lang="en-US" altLang="zh-CN" sz="1397"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397"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ejecutarse</a:t>
            </a:r>
          </a:p>
          <a:p>
            <a:pPr>
              <a:lnSpc>
                <a:spcPts val="1000"/>
              </a:lnSpc>
            </a:pPr>
            <a:endParaRPr lang="en-US" altLang="zh-CN" dirty="0"/>
          </a:p>
          <a:p>
            <a:pPr>
              <a:lnSpc>
                <a:spcPts val="2400"/>
              </a:lnSpc>
              <a:tabLst>
                <a:tab pos="76200" algn="l"/>
              </a:tabLst>
            </a:pPr>
            <a:r>
              <a:rPr lang="en-US" altLang="zh-CN" dirty="0"/>
              <a:t>	     </a:t>
            </a:r>
            <a:r>
              <a:rPr lang="en-US" altLang="zh-CN" sz="2202" b="1" dirty="0" err="1">
                <a:solidFill>
                  <a:srgbClr val="000000"/>
                </a:solidFill>
                <a:latin typeface="Courier New" pitchFamily="18" charset="0"/>
                <a:cs typeface="Courier New" pitchFamily="18" charset="0"/>
              </a:rPr>
              <a:t>movlw</a:t>
            </a:r>
            <a:r>
              <a:rPr lang="en-US" altLang="zh-CN" sz="2202" dirty="0">
                <a:latin typeface="Times New Roman" pitchFamily="18" charset="0"/>
                <a:cs typeface="Times New Roman" pitchFamily="18" charset="0"/>
              </a:rPr>
              <a:t>    </a:t>
            </a:r>
            <a:r>
              <a:rPr lang="en-US" altLang="zh-CN" sz="2202" b="1" dirty="0">
                <a:solidFill>
                  <a:srgbClr val="000000"/>
                </a:solidFill>
                <a:latin typeface="Courier New" pitchFamily="18" charset="0"/>
                <a:cs typeface="Courier New" pitchFamily="18" charset="0"/>
              </a:rPr>
              <a:t>k</a:t>
            </a:r>
          </a:p>
        </p:txBody>
      </p:sp>
      <p:sp>
        <p:nvSpPr>
          <p:cNvPr id="28" name="TextBox 1"/>
          <p:cNvSpPr txBox="1"/>
          <p:nvPr/>
        </p:nvSpPr>
        <p:spPr>
          <a:xfrm>
            <a:off x="5207000" y="6172200"/>
            <a:ext cx="3402470" cy="879728"/>
          </a:xfrm>
          <a:prstGeom prst="rect">
            <a:avLst/>
          </a:prstGeom>
          <a:noFill/>
        </p:spPr>
        <p:txBody>
          <a:bodyPr wrap="none" lIns="0" tIns="0" rIns="0" rtlCol="0">
            <a:spAutoFit/>
          </a:bodyPr>
          <a:lstStyle/>
          <a:p>
            <a:pPr>
              <a:lnSpc>
                <a:spcPts val="2300"/>
              </a:lnSpc>
              <a:tabLst/>
            </a:pPr>
            <a:r>
              <a:rPr lang="en-US" altLang="zh-CN" sz="1697" b="1" dirty="0">
                <a:solidFill>
                  <a:srgbClr val="FF0000"/>
                </a:solidFill>
                <a:latin typeface="Times New Roman" pitchFamily="18" charset="0"/>
                <a:cs typeface="Times New Roman" pitchFamily="18" charset="0"/>
              </a:rPr>
              <a:t>Buses</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separados</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Permiten</a:t>
            </a:r>
            <a:r>
              <a:rPr lang="en-US" altLang="zh-CN" sz="1697" dirty="0">
                <a:solidFill>
                  <a:srgbClr val="FF0000"/>
                </a:solidFill>
                <a:latin typeface="Times New Roman" pitchFamily="18" charset="0"/>
                <a:cs typeface="Times New Roman" pitchFamily="18" charset="0"/>
              </a:rPr>
              <a:t> </a:t>
            </a:r>
            <a:r>
              <a:rPr lang="en-US" altLang="zh-CN" sz="1697" b="1" dirty="0">
                <a:solidFill>
                  <a:srgbClr val="FF0000"/>
                </a:solidFill>
                <a:latin typeface="Times New Roman" pitchFamily="18" charset="0"/>
                <a:cs typeface="Times New Roman" pitchFamily="18" charset="0"/>
              </a:rPr>
              <a:t>diferentes</a:t>
            </a:r>
          </a:p>
          <a:p>
            <a:pPr>
              <a:lnSpc>
                <a:spcPts val="1800"/>
              </a:lnSpc>
              <a:tabLst/>
            </a:pPr>
            <a:r>
              <a:rPr lang="en-US" altLang="zh-CN" sz="1697" b="1" dirty="0">
                <a:solidFill>
                  <a:srgbClr val="FF0000"/>
                </a:solidFill>
                <a:latin typeface="Times New Roman" pitchFamily="18" charset="0"/>
                <a:cs typeface="Times New Roman" pitchFamily="18" charset="0"/>
              </a:rPr>
              <a:t>anchos</a:t>
            </a:r>
          </a:p>
          <a:p>
            <a:pPr>
              <a:lnSpc>
                <a:spcPts val="2400"/>
              </a:lnSpc>
              <a:tabLst/>
            </a:pPr>
            <a:r>
              <a:rPr lang="en-US" altLang="zh-CN" sz="1697" b="1" dirty="0">
                <a:solidFill>
                  <a:srgbClr val="000000"/>
                </a:solidFill>
                <a:latin typeface="Times New Roman" pitchFamily="18" charset="0"/>
                <a:cs typeface="Times New Roman" pitchFamily="18" charset="0"/>
              </a:rPr>
              <a:t>2k</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x</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14</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ies</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equivalente</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a</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4k</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x</a:t>
            </a:r>
            <a:r>
              <a:rPr lang="en-US" altLang="zh-CN" sz="1697" dirty="0">
                <a:latin typeface="Times New Roman" pitchFamily="18" charset="0"/>
                <a:cs typeface="Times New Roman" pitchFamily="18" charset="0"/>
              </a:rPr>
              <a:t> </a:t>
            </a:r>
            <a:r>
              <a:rPr lang="en-US" altLang="zh-CN" sz="1697" b="1" dirty="0">
                <a:solidFill>
                  <a:srgbClr val="000000"/>
                </a:solidFill>
                <a:latin typeface="Times New Roman" pitchFamily="18" charset="0"/>
                <a:cs typeface="Times New Roman" pitchFamily="18" charset="0"/>
              </a:rPr>
              <a:t>8</a:t>
            </a:r>
          </a:p>
        </p:txBody>
      </p:sp>
      <p:cxnSp>
        <p:nvCxnSpPr>
          <p:cNvPr id="30" name="Conector angular 29"/>
          <p:cNvCxnSpPr/>
          <p:nvPr/>
        </p:nvCxnSpPr>
        <p:spPr>
          <a:xfrm>
            <a:off x="7190555" y="1938095"/>
            <a:ext cx="2130487" cy="1676400"/>
          </a:xfrm>
          <a:prstGeom prst="bentConnector3">
            <a:avLst>
              <a:gd name="adj1" fmla="val 13759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1"/>
          <p:cNvSpPr txBox="1"/>
          <p:nvPr/>
        </p:nvSpPr>
        <p:spPr>
          <a:xfrm>
            <a:off x="88900" y="1481678"/>
            <a:ext cx="4140200" cy="469359"/>
          </a:xfrm>
          <a:prstGeom prst="rect">
            <a:avLst/>
          </a:prstGeom>
          <a:noFill/>
        </p:spPr>
        <p:txBody>
          <a:bodyPr wrap="square" lIns="0" tIns="0" rIns="0" rtlCol="0">
            <a:spAutoFit/>
          </a:bodyPr>
          <a:lstStyle/>
          <a:p>
            <a:pPr>
              <a:lnSpc>
                <a:spcPts val="3300"/>
              </a:lnSpc>
              <a:tabLst>
                <a:tab pos="76200" algn="l"/>
              </a:tabLst>
            </a:pPr>
            <a:r>
              <a:rPr lang="en-US" altLang="zh-CN" sz="1400" dirty="0"/>
              <a:t>	</a:t>
            </a:r>
            <a:r>
              <a:rPr lang="en-US" altLang="zh-CN" sz="1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1400"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Von </a:t>
            </a:r>
            <a:r>
              <a:rPr lang="en-US" altLang="zh-CN" sz="1400" b="1" i="1" dirty="0" err="1">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Newmann</a:t>
            </a:r>
            <a:r>
              <a:rPr lang="en-US" altLang="zh-CN" sz="1400" b="1" i="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t>
            </a:r>
          </a:p>
        </p:txBody>
      </p:sp>
      <p:sp>
        <p:nvSpPr>
          <p:cNvPr id="31" name="TextBox 1"/>
          <p:cNvSpPr txBox="1"/>
          <p:nvPr/>
        </p:nvSpPr>
        <p:spPr>
          <a:xfrm>
            <a:off x="292100" y="4371974"/>
            <a:ext cx="1683153" cy="469359"/>
          </a:xfrm>
          <a:prstGeom prst="rect">
            <a:avLst/>
          </a:prstGeom>
          <a:noFill/>
        </p:spPr>
        <p:txBody>
          <a:bodyPr wrap="none" lIns="0" tIns="0" rIns="0" rtlCol="0">
            <a:spAutoFit/>
          </a:bodyPr>
          <a:lstStyle/>
          <a:p>
            <a:pPr>
              <a:lnSpc>
                <a:spcPts val="3300"/>
              </a:lnSpc>
              <a:tabLst/>
            </a:pPr>
            <a:r>
              <a:rPr lang="en-US" altLang="zh-CN" sz="1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Arquitectura</a:t>
            </a:r>
            <a:r>
              <a:rPr lang="en-US" altLang="zh-CN" sz="1400"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400" b="1" i="1" dirty="0">
                <a:solidFill>
                  <a:schemeClr val="accent3">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Harvard:</a:t>
            </a:r>
          </a:p>
        </p:txBody>
      </p:sp>
      <p:pic>
        <p:nvPicPr>
          <p:cNvPr id="9" name="Imagen 8" descr="Imagen que contiene Calendario&#10;&#10;El contenido generado por IA puede ser incorrecto.">
            <a:extLst>
              <a:ext uri="{FF2B5EF4-FFF2-40B4-BE49-F238E27FC236}">
                <a16:creationId xmlns:a16="http://schemas.microsoft.com/office/drawing/2014/main" id="{02826ADF-590A-3118-36A0-C284AE57C2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774839" y="361695"/>
            <a:ext cx="9144000" cy="838200"/>
          </a:xfrm>
          <a:custGeom>
            <a:avLst/>
            <a:gdLst>
              <a:gd name="connsiteX0" fmla="*/ 0 w 9144000"/>
              <a:gd name="connsiteY0" fmla="*/ 0 h 838200"/>
              <a:gd name="connsiteX1" fmla="*/ 9143999 w 9144000"/>
              <a:gd name="connsiteY1" fmla="*/ 0 h 838200"/>
              <a:gd name="connsiteX2" fmla="*/ 9143999 w 9144000"/>
              <a:gd name="connsiteY2" fmla="*/ 838200 h 838200"/>
              <a:gd name="connsiteX3" fmla="*/ 0 w 9144000"/>
              <a:gd name="connsiteY3" fmla="*/ 838200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774839" y="361695"/>
            <a:ext cx="1614677" cy="838200"/>
          </a:xfrm>
          <a:custGeom>
            <a:avLst/>
            <a:gdLst>
              <a:gd name="connsiteX0" fmla="*/ 0 w 1614677"/>
              <a:gd name="connsiteY0" fmla="*/ 0 h 838200"/>
              <a:gd name="connsiteX1" fmla="*/ 1614677 w 1614677"/>
              <a:gd name="connsiteY1" fmla="*/ 0 h 838200"/>
              <a:gd name="connsiteX2" fmla="*/ 1614677 w 1614677"/>
              <a:gd name="connsiteY2" fmla="*/ 838200 h 838200"/>
              <a:gd name="connsiteX3" fmla="*/ 0 w 1614677"/>
              <a:gd name="connsiteY3" fmla="*/ 838200 h 838200"/>
              <a:gd name="connsiteX4" fmla="*/ 0 w 1614677"/>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838200">
                <a:moveTo>
                  <a:pt x="0" y="0"/>
                </a:moveTo>
                <a:lnTo>
                  <a:pt x="1614677" y="0"/>
                </a:lnTo>
                <a:lnTo>
                  <a:pt x="1614677" y="838200"/>
                </a:lnTo>
                <a:lnTo>
                  <a:pt x="0" y="838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774839" y="12189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774839" y="1218946"/>
            <a:ext cx="1614677" cy="330200"/>
          </a:xfrm>
          <a:custGeom>
            <a:avLst/>
            <a:gdLst>
              <a:gd name="connsiteX0" fmla="*/ 0 w 1614677"/>
              <a:gd name="connsiteY0" fmla="*/ 0 h 330200"/>
              <a:gd name="connsiteX1" fmla="*/ 1614677 w 1614677"/>
              <a:gd name="connsiteY1" fmla="*/ 0 h 330200"/>
              <a:gd name="connsiteX2" fmla="*/ 1614677 w 1614677"/>
              <a:gd name="connsiteY2" fmla="*/ 330200 h 330200"/>
              <a:gd name="connsiteX3" fmla="*/ 0 w 1614677"/>
              <a:gd name="connsiteY3" fmla="*/ 330200 h 330200"/>
              <a:gd name="connsiteX4" fmla="*/ 0 w 1614677"/>
              <a:gd name="connsiteY4" fmla="*/ 0 h 330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614677" h="330200">
                <a:moveTo>
                  <a:pt x="0" y="0"/>
                </a:moveTo>
                <a:lnTo>
                  <a:pt x="1614677" y="0"/>
                </a:lnTo>
                <a:lnTo>
                  <a:pt x="1614677" y="330200"/>
                </a:lnTo>
                <a:lnTo>
                  <a:pt x="0" y="33020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850900" y="1417637"/>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850900" y="2274887"/>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850900" y="313213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850900" y="398938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850900" y="4846638"/>
            <a:ext cx="9144000" cy="857250"/>
          </a:xfrm>
          <a:custGeom>
            <a:avLst/>
            <a:gdLst>
              <a:gd name="connsiteX0" fmla="*/ 0 w 9144000"/>
              <a:gd name="connsiteY0" fmla="*/ 0 h 857250"/>
              <a:gd name="connsiteX1" fmla="*/ 0 w 9144000"/>
              <a:gd name="connsiteY1" fmla="*/ 857250 h 857250"/>
              <a:gd name="connsiteX2" fmla="*/ 9143999 w 9144000"/>
              <a:gd name="connsiteY2" fmla="*/ 857250 h 857250"/>
              <a:gd name="connsiteX3" fmla="*/ 9143999 w 9144000"/>
              <a:gd name="connsiteY3" fmla="*/ 0 h 857250"/>
              <a:gd name="connsiteX4" fmla="*/ 0 w 9144000"/>
              <a:gd name="connsiteY4" fmla="*/ 0 h 85725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57250">
                <a:moveTo>
                  <a:pt x="0" y="0"/>
                </a:moveTo>
                <a:lnTo>
                  <a:pt x="0" y="857250"/>
                </a:lnTo>
                <a:lnTo>
                  <a:pt x="9143999" y="857250"/>
                </a:lnTo>
                <a:lnTo>
                  <a:pt x="9143999"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774839" y="6362446"/>
            <a:ext cx="9144000" cy="838200"/>
          </a:xfrm>
          <a:custGeom>
            <a:avLst/>
            <a:gdLst>
              <a:gd name="connsiteX0" fmla="*/ 0 w 9144000"/>
              <a:gd name="connsiteY0" fmla="*/ 0 h 838200"/>
              <a:gd name="connsiteX1" fmla="*/ 9143999 w 9144000"/>
              <a:gd name="connsiteY1" fmla="*/ 0 h 838200"/>
              <a:gd name="connsiteX2" fmla="*/ 9143999 w 9144000"/>
              <a:gd name="connsiteY2" fmla="*/ 838199 h 838200"/>
              <a:gd name="connsiteX3" fmla="*/ 0 w 9144000"/>
              <a:gd name="connsiteY3" fmla="*/ 838199 h 838200"/>
              <a:gd name="connsiteX4" fmla="*/ 0 w 9144000"/>
              <a:gd name="connsiteY4" fmla="*/ 0 h 8382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9144000" h="838200">
                <a:moveTo>
                  <a:pt x="0" y="0"/>
                </a:moveTo>
                <a:lnTo>
                  <a:pt x="9143999" y="0"/>
                </a:lnTo>
                <a:lnTo>
                  <a:pt x="9143999" y="838199"/>
                </a:lnTo>
                <a:lnTo>
                  <a:pt x="0" y="8381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1003439" y="6972300"/>
            <a:ext cx="8763000" cy="12954"/>
          </a:xfrm>
          <a:custGeom>
            <a:avLst/>
            <a:gdLst>
              <a:gd name="connsiteX0" fmla="*/ 0 w 8763000"/>
              <a:gd name="connsiteY0" fmla="*/ 6477 h 12954"/>
              <a:gd name="connsiteX1" fmla="*/ 8762999 w 8763000"/>
              <a:gd name="connsiteY1" fmla="*/ 6477 h 12954"/>
            </a:gdLst>
            <a:ahLst/>
            <a:cxnLst>
              <a:cxn ang="0">
                <a:pos x="connsiteX0" y="connsiteY0"/>
              </a:cxn>
              <a:cxn ang="1">
                <a:pos x="connsiteX1" y="connsiteY1"/>
              </a:cxn>
            </a:cxnLst>
            <a:rect l="l" t="t" r="r" b="b"/>
            <a:pathLst>
              <a:path w="8763000" h="12954">
                <a:moveTo>
                  <a:pt x="0" y="6477"/>
                </a:moveTo>
                <a:lnTo>
                  <a:pt x="8762999" y="6477"/>
                </a:lnTo>
              </a:path>
            </a:pathLst>
          </a:custGeom>
          <a:ln w="12700">
            <a:solidFill>
              <a:srgbClr val="00279F">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4" name="Picture 3"/>
          <p:cNvPicPr>
            <a:picLocks noChangeAspect="1" noChangeArrowheads="1"/>
          </p:cNvPicPr>
          <p:nvPr/>
        </p:nvPicPr>
        <p:blipFill>
          <a:blip r:embed="rId3"/>
          <a:srcRect/>
          <a:stretch>
            <a:fillRect/>
          </a:stretch>
        </p:blipFill>
        <p:spPr bwMode="auto">
          <a:xfrm>
            <a:off x="2032000" y="825500"/>
            <a:ext cx="50800" cy="25400"/>
          </a:xfrm>
          <a:prstGeom prst="rect">
            <a:avLst/>
          </a:prstGeom>
          <a:noFill/>
        </p:spPr>
      </p:pic>
      <p:pic>
        <p:nvPicPr>
          <p:cNvPr id="15" name="Picture 3"/>
          <p:cNvPicPr>
            <a:picLocks noChangeAspect="1" noChangeArrowheads="1"/>
          </p:cNvPicPr>
          <p:nvPr/>
        </p:nvPicPr>
        <p:blipFill>
          <a:blip r:embed="rId4"/>
          <a:srcRect/>
          <a:stretch>
            <a:fillRect/>
          </a:stretch>
        </p:blipFill>
        <p:spPr bwMode="auto">
          <a:xfrm>
            <a:off x="6705461" y="2732342"/>
            <a:ext cx="2921000" cy="2616200"/>
          </a:xfrm>
          <a:prstGeom prst="rect">
            <a:avLst/>
          </a:prstGeom>
          <a:noFill/>
        </p:spPr>
      </p:pic>
      <p:sp>
        <p:nvSpPr>
          <p:cNvPr id="17" name="TextBox 1"/>
          <p:cNvSpPr txBox="1"/>
          <p:nvPr/>
        </p:nvSpPr>
        <p:spPr>
          <a:xfrm>
            <a:off x="317500" y="566534"/>
            <a:ext cx="9982200" cy="546303"/>
          </a:xfrm>
          <a:prstGeom prst="rect">
            <a:avLst/>
          </a:prstGeom>
          <a:noFill/>
        </p:spPr>
        <p:txBody>
          <a:bodyPr wrap="square" lIns="0" tIns="0" rIns="0" rtlCol="0">
            <a:spAutoFit/>
          </a:bodyPr>
          <a:lstStyle/>
          <a:p>
            <a:pPr algn="ctr">
              <a:lnSpc>
                <a:spcPts val="3900"/>
              </a:lnSpc>
              <a:tabLst/>
            </a:pPr>
            <a:r>
              <a:rPr lang="en-US" altLang="zh-CN" sz="2900" b="1" dirty="0" err="1">
                <a:solidFill>
                  <a:srgbClr val="000000"/>
                </a:solidFill>
                <a:latin typeface="Arial" panose="020B0604020202020204" pitchFamily="34" charset="0"/>
                <a:cs typeface="Arial" panose="020B0604020202020204" pitchFamily="34" charset="0"/>
              </a:rPr>
              <a:t>Características</a:t>
            </a:r>
            <a:r>
              <a:rPr lang="en-US" altLang="zh-CN" sz="2900" b="1" dirty="0">
                <a:latin typeface="Arial" panose="020B0604020202020204" pitchFamily="34" charset="0"/>
                <a:cs typeface="Arial" panose="020B0604020202020204" pitchFamily="34" charset="0"/>
              </a:rPr>
              <a:t> </a:t>
            </a:r>
            <a:r>
              <a:rPr lang="en-US" altLang="zh-CN" sz="2900" b="1" dirty="0">
                <a:solidFill>
                  <a:srgbClr val="000000"/>
                </a:solidFill>
                <a:latin typeface="Arial" panose="020B0604020202020204" pitchFamily="34" charset="0"/>
                <a:cs typeface="Arial" panose="020B0604020202020204" pitchFamily="34" charset="0"/>
              </a:rPr>
              <a:t>de</a:t>
            </a:r>
            <a:r>
              <a:rPr lang="en-US" altLang="zh-CN" sz="2900" b="1" dirty="0">
                <a:latin typeface="Arial" panose="020B0604020202020204" pitchFamily="34" charset="0"/>
                <a:cs typeface="Arial" panose="020B0604020202020204" pitchFamily="34" charset="0"/>
              </a:rPr>
              <a:t> </a:t>
            </a:r>
            <a:r>
              <a:rPr lang="en-US" altLang="zh-CN" sz="2900" b="1" dirty="0" err="1">
                <a:latin typeface="Arial" panose="020B0604020202020204" pitchFamily="34" charset="0"/>
                <a:cs typeface="Arial" panose="020B0604020202020204" pitchFamily="34" charset="0"/>
              </a:rPr>
              <a:t>A</a:t>
            </a:r>
            <a:r>
              <a:rPr lang="en-US" altLang="zh-CN" sz="2900" b="1" dirty="0" err="1">
                <a:solidFill>
                  <a:srgbClr val="000000"/>
                </a:solidFill>
                <a:latin typeface="Arial" panose="020B0604020202020204" pitchFamily="34" charset="0"/>
                <a:cs typeface="Arial" panose="020B0604020202020204" pitchFamily="34" charset="0"/>
              </a:rPr>
              <a:t>rquitectura</a:t>
            </a:r>
            <a:r>
              <a:rPr lang="en-US" altLang="zh-CN" sz="2900" b="1" dirty="0">
                <a:solidFill>
                  <a:srgbClr val="000000"/>
                </a:solidFill>
                <a:latin typeface="Arial" panose="020B0604020202020204" pitchFamily="34" charset="0"/>
                <a:cs typeface="Arial" panose="020B0604020202020204" pitchFamily="34" charset="0"/>
              </a:rPr>
              <a:t> </a:t>
            </a:r>
            <a:r>
              <a:rPr lang="en-US" altLang="zh-CN" sz="2900" b="1" i="1" u="sng" dirty="0" err="1">
                <a:solidFill>
                  <a:schemeClr val="accent4">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Microcontroladores</a:t>
            </a:r>
            <a:r>
              <a:rPr lang="en-US" altLang="zh-CN" sz="2900" b="1" i="1" u="sng" dirty="0">
                <a:solidFill>
                  <a:schemeClr val="accent4">
                    <a:lumMod val="7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PIC</a:t>
            </a:r>
            <a:r>
              <a:rPr lang="en-US" altLang="zh-CN" sz="2900" b="1" dirty="0">
                <a:solidFill>
                  <a:srgbClr val="000000"/>
                </a:solidFill>
                <a:latin typeface="Arial" panose="020B0604020202020204" pitchFamily="34" charset="0"/>
                <a:cs typeface="Arial" panose="020B0604020202020204" pitchFamily="34" charset="0"/>
              </a:rPr>
              <a:t>.</a:t>
            </a:r>
          </a:p>
        </p:txBody>
      </p:sp>
      <p:sp>
        <p:nvSpPr>
          <p:cNvPr id="18" name="TextBox 1"/>
          <p:cNvSpPr txBox="1"/>
          <p:nvPr/>
        </p:nvSpPr>
        <p:spPr>
          <a:xfrm>
            <a:off x="1739761" y="2338642"/>
            <a:ext cx="127000" cy="3073400"/>
          </a:xfrm>
          <a:prstGeom prst="rect">
            <a:avLst/>
          </a:prstGeom>
          <a:noFill/>
        </p:spPr>
        <p:txBody>
          <a:bodyPr wrap="none" lIns="0" tIns="0" rIns="0" rtlCol="0">
            <a:spAutoFit/>
          </a:bodyPr>
          <a:lstStyle/>
          <a:p>
            <a:pPr>
              <a:lnSpc>
                <a:spcPts val="24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a:p>
            <a:pPr>
              <a:lnSpc>
                <a:spcPts val="3100"/>
              </a:lnSpc>
              <a:tabLst/>
            </a:pPr>
            <a:r>
              <a:rPr lang="en-US" altLang="zh-CN" sz="1997" dirty="0">
                <a:solidFill>
                  <a:srgbClr val="3365CC"/>
                </a:solidFill>
                <a:latin typeface="Symbol" pitchFamily="18" charset="0"/>
                <a:cs typeface="Symbol" pitchFamily="18" charset="0"/>
              </a:rPr>
              <a:t>−</a:t>
            </a:r>
          </a:p>
        </p:txBody>
      </p:sp>
      <p:sp>
        <p:nvSpPr>
          <p:cNvPr id="19" name="TextBox 1"/>
          <p:cNvSpPr txBox="1"/>
          <p:nvPr/>
        </p:nvSpPr>
        <p:spPr>
          <a:xfrm>
            <a:off x="2196961" y="2338642"/>
            <a:ext cx="4472378" cy="3162404"/>
          </a:xfrm>
          <a:prstGeom prst="rect">
            <a:avLst/>
          </a:prstGeom>
          <a:noFill/>
        </p:spPr>
        <p:txBody>
          <a:bodyPr wrap="none" lIns="0" tIns="0" rIns="0" rtlCol="0">
            <a:spAutoFit/>
          </a:bodyPr>
          <a:lstStyle/>
          <a:p>
            <a:pPr>
              <a:lnSpc>
                <a:spcPts val="2600"/>
              </a:lnSpc>
              <a:tabLst/>
            </a:pPr>
            <a:r>
              <a:rPr lang="en-US" altLang="zh-CN" sz="2000" b="1" i="1" dirty="0" err="1">
                <a:solidFill>
                  <a:srgbClr val="000000"/>
                </a:solidFill>
                <a:latin typeface="Times New Roman" pitchFamily="18" charset="0"/>
                <a:cs typeface="Times New Roman" pitchFamily="18" charset="0"/>
              </a:rPr>
              <a:t>Arquitectura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Harvard  </a:t>
            </a:r>
          </a:p>
          <a:p>
            <a:pPr>
              <a:lnSpc>
                <a:spcPts val="3100"/>
              </a:lnSpc>
              <a:tabLst/>
            </a:pPr>
            <a:r>
              <a:rPr lang="en-US" altLang="zh-CN" sz="2000" b="1" i="1" dirty="0">
                <a:solidFill>
                  <a:srgbClr val="000000"/>
                </a:solidFill>
                <a:latin typeface="Times New Roman" pitchFamily="18" charset="0"/>
                <a:cs typeface="Times New Roman" pitchFamily="18" charset="0"/>
              </a:rPr>
              <a:t>Pipelining </a:t>
            </a:r>
            <a:r>
              <a:rPr lang="en-US" altLang="zh-CN" sz="20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0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canalización</a:t>
            </a:r>
            <a:r>
              <a:rPr lang="en-US" altLang="zh-CN" sz="20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p>
          <a:p>
            <a:pPr>
              <a:lnSpc>
                <a:spcPts val="3100"/>
              </a:lnSpc>
              <a:tabLst/>
            </a:pPr>
            <a:r>
              <a:rPr lang="en-US" altLang="zh-CN" sz="2000" b="1" i="1" dirty="0">
                <a:solidFill>
                  <a:srgbClr val="000000"/>
                </a:solidFill>
                <a:latin typeface="Times New Roman" pitchFamily="18" charset="0"/>
                <a:cs typeface="Times New Roman" pitchFamily="18" charset="0"/>
              </a:rPr>
              <a:t>Archivos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registros</a:t>
            </a:r>
          </a:p>
          <a:p>
            <a:pPr>
              <a:lnSpc>
                <a:spcPts val="3100"/>
              </a:lnSpc>
              <a:tabLst/>
            </a:pP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un</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ciclo</a:t>
            </a:r>
          </a:p>
          <a:p>
            <a:pPr>
              <a:lnSpc>
                <a:spcPts val="3100"/>
              </a:lnSpc>
              <a:tabLst/>
            </a:pP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una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palabra</a:t>
            </a:r>
          </a:p>
          <a:p>
            <a:pPr>
              <a:lnSpc>
                <a:spcPts val="3100"/>
              </a:lnSpc>
              <a:tabLst/>
            </a:pPr>
            <a:r>
              <a:rPr lang="en-US" altLang="zh-CN" sz="2000" b="1" i="1" dirty="0">
                <a:solidFill>
                  <a:srgbClr val="000000"/>
                </a:solidFill>
                <a:latin typeface="Times New Roman" pitchFamily="18" charset="0"/>
                <a:cs typeface="Times New Roman" pitchFamily="18" charset="0"/>
              </a:rPr>
              <a:t>Longitud</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la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palabra</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p>
          <a:p>
            <a:pPr>
              <a:lnSpc>
                <a:spcPts val="3100"/>
              </a:lnSpc>
              <a:tabLst/>
            </a:pPr>
            <a:r>
              <a:rPr lang="en-US" altLang="zh-CN" sz="2000" b="1" i="1" dirty="0">
                <a:solidFill>
                  <a:srgbClr val="000000"/>
                </a:solidFill>
                <a:latin typeface="Times New Roman" pitchFamily="18" charset="0"/>
                <a:cs typeface="Times New Roman" pitchFamily="18" charset="0"/>
              </a:rPr>
              <a:t>Set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reducido</a:t>
            </a:r>
          </a:p>
          <a:p>
            <a:pPr>
              <a:lnSpc>
                <a:spcPts val="3100"/>
              </a:lnSpc>
              <a:tabLst/>
            </a:pPr>
            <a:r>
              <a:rPr lang="en-US" altLang="zh-CN" sz="2000" b="1" i="1" dirty="0">
                <a:solidFill>
                  <a:srgbClr val="000000"/>
                </a:solidFill>
                <a:latin typeface="Times New Roman" pitchFamily="18" charset="0"/>
                <a:cs typeface="Times New Roman" pitchFamily="18" charset="0"/>
              </a:rPr>
              <a:t>Set</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de</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Instrucciones</a:t>
            </a:r>
            <a:r>
              <a:rPr lang="en-US" altLang="zh-CN" sz="2000" b="1" i="1" dirty="0">
                <a:latin typeface="Times New Roman" pitchFamily="18" charset="0"/>
                <a:cs typeface="Times New Roman" pitchFamily="18" charset="0"/>
              </a:rPr>
              <a:t> </a:t>
            </a:r>
            <a:r>
              <a:rPr lang="en-US" altLang="zh-CN" sz="2000" b="1" i="1" dirty="0">
                <a:solidFill>
                  <a:srgbClr val="000000"/>
                </a:solidFill>
                <a:latin typeface="Times New Roman" pitchFamily="18" charset="0"/>
                <a:cs typeface="Times New Roman" pitchFamily="18" charset="0"/>
              </a:rPr>
              <a:t>ortogonal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5100" y="431922"/>
            <a:ext cx="10363200" cy="828432"/>
          </a:xfrm>
          <a:noFill/>
        </p:spPr>
        <p:txBody>
          <a:bodyPr vert="horz" wrap="square" lIns="0" tIns="0" rIns="0" bIns="45720" rtlCol="0" anchor="ctr">
            <a:spAutoFit/>
          </a:bodyPr>
          <a:lstStyle/>
          <a:p>
            <a:pPr>
              <a:lnSpc>
                <a:spcPts val="6100"/>
              </a:lnSpc>
            </a:pPr>
            <a:r>
              <a:rPr lang="es-AR" sz="4000"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Detallada de un Microcontrolador</a:t>
            </a:r>
            <a:endParaRPr lang="es-ES" sz="4000"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3" name="Marcador de contenido 2"/>
          <p:cNvSpPr>
            <a:spLocks noGrp="1"/>
          </p:cNvSpPr>
          <p:nvPr>
            <p:ph idx="1"/>
          </p:nvPr>
        </p:nvSpPr>
        <p:spPr/>
        <p:txBody>
          <a:bodyPr>
            <a:normAutofit/>
          </a:bodyPr>
          <a:lstStyle/>
          <a:p>
            <a:pPr lvl="0"/>
            <a:r>
              <a:rPr lang="es-AR" sz="2000" b="1" dirty="0">
                <a:effectLst>
                  <a:outerShdw blurRad="38100" dist="38100" dir="2700000" algn="tl">
                    <a:srgbClr val="000000">
                      <a:alpha val="43137"/>
                    </a:srgbClr>
                  </a:outerShdw>
                </a:effectLst>
              </a:rPr>
              <a:t>Procesador o CPU (Unidad Central de Proceso).</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Memoria Central:</a:t>
            </a:r>
            <a:endParaRPr lang="es-ES" sz="2000" b="1" dirty="0">
              <a:effectLst>
                <a:outerShdw blurRad="38100" dist="38100" dir="2700000" algn="tl">
                  <a:srgbClr val="000000">
                    <a:alpha val="43137"/>
                  </a:srgbClr>
                </a:outerShdw>
              </a:effectLst>
            </a:endParaRPr>
          </a:p>
          <a:p>
            <a:pPr lvl="1"/>
            <a:r>
              <a:rPr lang="es-AR" sz="2000" b="1" dirty="0">
                <a:effectLst>
                  <a:outerShdw blurRad="38100" dist="38100" dir="2700000" algn="tl">
                    <a:srgbClr val="000000">
                      <a:alpha val="43137"/>
                    </a:srgbClr>
                  </a:outerShdw>
                </a:effectLst>
              </a:rPr>
              <a:t>Memoria de programa de tipo ROM/EPROM/EEPROM/Flash .</a:t>
            </a:r>
            <a:endParaRPr lang="es-ES" sz="2000" b="1" dirty="0">
              <a:effectLst>
                <a:outerShdw blurRad="38100" dist="38100" dir="2700000" algn="tl">
                  <a:srgbClr val="000000">
                    <a:alpha val="43137"/>
                  </a:srgbClr>
                </a:outerShdw>
              </a:effectLst>
            </a:endParaRPr>
          </a:p>
          <a:p>
            <a:pPr lvl="1"/>
            <a:r>
              <a:rPr lang="es-AR" sz="2000" b="1" dirty="0">
                <a:effectLst>
                  <a:outerShdw blurRad="38100" dist="38100" dir="2700000" algn="tl">
                    <a:srgbClr val="000000">
                      <a:alpha val="43137"/>
                    </a:srgbClr>
                  </a:outerShdw>
                </a:effectLst>
              </a:rPr>
              <a:t>Memoria de datos de tipo RAM.</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Buses de control, datos y direcciones.</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Líneas de E/S para comunicarse con el exterior.</a:t>
            </a:r>
            <a:endParaRPr lang="es-ES" sz="2000" b="1" dirty="0">
              <a:effectLst>
                <a:outerShdw blurRad="38100" dist="38100" dir="2700000" algn="tl">
                  <a:srgbClr val="000000">
                    <a:alpha val="43137"/>
                  </a:srgbClr>
                </a:outerShdw>
              </a:effectLst>
            </a:endParaRPr>
          </a:p>
          <a:p>
            <a:pPr lvl="0"/>
            <a:r>
              <a:rPr lang="es-AR" sz="2000" b="1" dirty="0">
                <a:effectLst>
                  <a:outerShdw blurRad="38100" dist="38100" dir="2700000" algn="tl">
                    <a:srgbClr val="000000">
                      <a:alpha val="43137"/>
                    </a:srgbClr>
                  </a:outerShdw>
                </a:effectLst>
              </a:rPr>
              <a:t>Recursos auxiliares (temporizadores, Puertas Serie y Paralelo, Conversores Analógico/Digital, Conversores Digital/Analógico, etc.).</a:t>
            </a:r>
            <a:endParaRPr lang="es-ES" sz="2000" b="1" dirty="0">
              <a:effectLst>
                <a:outerShdw blurRad="38100" dist="38100" dir="2700000" algn="tl">
                  <a:srgbClr val="000000">
                    <a:alpha val="43137"/>
                  </a:srgbClr>
                </a:outerShdw>
              </a:effectLst>
            </a:endParaRPr>
          </a:p>
          <a:p>
            <a:r>
              <a:rPr lang="es-AR" sz="2000" b="1" dirty="0">
                <a:effectLst>
                  <a:outerShdw blurRad="38100" dist="38100" dir="2700000" algn="tl">
                    <a:srgbClr val="000000">
                      <a:alpha val="43137"/>
                    </a:srgbClr>
                  </a:outerShdw>
                </a:effectLst>
              </a:rPr>
              <a:t>Generador de impulsos de reloj (sincroniza el funcionamiento de todo el sistema).</a:t>
            </a:r>
            <a:endParaRPr lang="es-ES" sz="2000" b="1" dirty="0">
              <a:effectLst>
                <a:outerShdw blurRad="38100" dist="38100" dir="2700000" algn="tl">
                  <a:srgbClr val="000000">
                    <a:alpha val="43137"/>
                  </a:srgbClr>
                </a:outerShdw>
              </a:effectLst>
            </a:endParaRPr>
          </a:p>
        </p:txBody>
      </p:sp>
      <p:pic>
        <p:nvPicPr>
          <p:cNvPr id="4" name="Imagen 3" descr="http://perso.wanadoo.es/pictob/imagenes/arqmicrob.jpg"/>
          <p:cNvPicPr/>
          <p:nvPr/>
        </p:nvPicPr>
        <p:blipFill>
          <a:blip r:embed="rId3">
            <a:extLst>
              <a:ext uri="{28A0092B-C50C-407E-A947-70E740481C1C}">
                <a14:useLocalDpi xmlns:a14="http://schemas.microsoft.com/office/drawing/2010/main" val="0"/>
              </a:ext>
            </a:extLst>
          </a:blip>
          <a:srcRect/>
          <a:stretch>
            <a:fillRect/>
          </a:stretch>
        </p:blipFill>
        <p:spPr bwMode="auto">
          <a:xfrm>
            <a:off x="2767647" y="5075237"/>
            <a:ext cx="4712653" cy="2286000"/>
          </a:xfrm>
          <a:prstGeom prst="rect">
            <a:avLst/>
          </a:prstGeom>
          <a:noFill/>
          <a:ln>
            <a:noFill/>
          </a:ln>
        </p:spPr>
      </p:pic>
    </p:spTree>
    <p:extLst>
      <p:ext uri="{BB962C8B-B14F-4D97-AF65-F5344CB8AC3E}">
        <p14:creationId xmlns:p14="http://schemas.microsoft.com/office/powerpoint/2010/main" val="2505989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7663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Organización y Gestión de la Memoria</a:t>
            </a:r>
          </a:p>
        </p:txBody>
      </p:sp>
      <p:sp>
        <p:nvSpPr>
          <p:cNvPr id="3" name="Marcador de contenido 2"/>
          <p:cNvSpPr>
            <a:spLocks noGrp="1"/>
          </p:cNvSpPr>
          <p:nvPr>
            <p:ph idx="1"/>
          </p:nvPr>
        </p:nvSpPr>
        <p:spPr>
          <a:xfrm>
            <a:off x="457200" y="1189037"/>
            <a:ext cx="9766300" cy="4525963"/>
          </a:xfrm>
        </p:spPr>
        <p:txBody>
          <a:bodyPr>
            <a:normAutofit/>
          </a:bodyPr>
          <a:lstStyle/>
          <a:p>
            <a:pPr marL="0" lvl="0" indent="0">
              <a:buNone/>
            </a:pPr>
            <a:r>
              <a:rPr lang="es-AR" sz="2400" b="1" dirty="0">
                <a:solidFill>
                  <a:srgbClr val="FF0000"/>
                </a:solidFill>
                <a:effectLst>
                  <a:outerShdw blurRad="38100" dist="38100" dir="2700000" algn="tl">
                    <a:srgbClr val="000000">
                      <a:alpha val="43137"/>
                    </a:srgbClr>
                  </a:outerShdw>
                </a:effectLst>
              </a:rPr>
              <a:t>Memoria de instrucciones o programa</a:t>
            </a:r>
            <a:r>
              <a:rPr lang="es-AR" sz="2400" dirty="0"/>
              <a:t> Es donde se almacena el programa a ejecutar. Esta memoria solo podrá ser leída por el PIC, que va leyendo las instrucciones del programa almacenado en esta memoria y las va ejecutando. Al apagar el microcontrolador esta memoria no se borra.</a:t>
            </a:r>
            <a:endParaRPr lang="es-ES" sz="2400" dirty="0"/>
          </a:p>
          <a:p>
            <a:pPr marL="0" lvl="0" indent="0">
              <a:buNone/>
            </a:pPr>
            <a:r>
              <a:rPr lang="es-AR" sz="2400" b="1" dirty="0">
                <a:solidFill>
                  <a:srgbClr val="FF0000"/>
                </a:solidFill>
                <a:effectLst>
                  <a:outerShdw blurRad="38100" dist="38100" dir="2700000" algn="tl">
                    <a:srgbClr val="000000">
                      <a:alpha val="43137"/>
                    </a:srgbClr>
                  </a:outerShdw>
                </a:effectLst>
              </a:rPr>
              <a:t>Memoria de datos RAM</a:t>
            </a:r>
            <a:r>
              <a:rPr lang="es-AR" sz="2400" dirty="0"/>
              <a:t> Incluye los registros que configuran el comportamiento del microcontrolador y los registros que almacenan los valores de las variables del programa. Al apagar el microcontrolador esta memoria no mantiene los datos.</a:t>
            </a:r>
            <a:endParaRPr lang="es-ES" sz="2400" dirty="0"/>
          </a:p>
          <a:p>
            <a:pPr marL="0" indent="0">
              <a:buNone/>
            </a:pPr>
            <a:r>
              <a:rPr lang="es-AR" sz="2400" b="1" dirty="0">
                <a:solidFill>
                  <a:srgbClr val="FF0000"/>
                </a:solidFill>
                <a:effectLst>
                  <a:outerShdw blurRad="38100" dist="38100" dir="2700000" algn="tl">
                    <a:srgbClr val="000000">
                      <a:alpha val="43137"/>
                    </a:srgbClr>
                  </a:outerShdw>
                </a:effectLst>
              </a:rPr>
              <a:t>Memoria de datos EEPROM</a:t>
            </a:r>
            <a:r>
              <a:rPr lang="es-AR" sz="2400" dirty="0"/>
              <a:t>. Es un espacio de memoria EEPROM en la que se pueden guardar variables que se desea conservar aunque se apague el microcontrolador..</a:t>
            </a:r>
            <a:endParaRPr lang="es-ES" sz="2400" dirty="0"/>
          </a:p>
        </p:txBody>
      </p:sp>
      <p:pic>
        <p:nvPicPr>
          <p:cNvPr id="4" name="Imagen 3" descr="http://perso.wanadoo.es/pictob/imagenes/harvardpic1684.gif"/>
          <p:cNvPicPr/>
          <p:nvPr/>
        </p:nvPicPr>
        <p:blipFill>
          <a:blip r:embed="rId3">
            <a:extLst>
              <a:ext uri="{28A0092B-C50C-407E-A947-70E740481C1C}">
                <a14:useLocalDpi xmlns:a14="http://schemas.microsoft.com/office/drawing/2010/main" val="0"/>
              </a:ext>
            </a:extLst>
          </a:blip>
          <a:srcRect/>
          <a:stretch>
            <a:fillRect/>
          </a:stretch>
        </p:blipFill>
        <p:spPr bwMode="auto">
          <a:xfrm>
            <a:off x="2679700" y="5234623"/>
            <a:ext cx="6096000" cy="2202814"/>
          </a:xfrm>
          <a:prstGeom prst="rect">
            <a:avLst/>
          </a:prstGeom>
          <a:noFill/>
          <a:ln>
            <a:noFill/>
          </a:ln>
        </p:spPr>
      </p:pic>
    </p:spTree>
    <p:extLst>
      <p:ext uri="{BB962C8B-B14F-4D97-AF65-F5344CB8AC3E}">
        <p14:creationId xmlns:p14="http://schemas.microsoft.com/office/powerpoint/2010/main" val="24354087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897841" y="655637"/>
            <a:ext cx="7944658" cy="63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527"/>
              <a:t>Ciclo de Máquina</a:t>
            </a:r>
            <a:endParaRPr lang="es-ES" altLang="es-AR" sz="3527"/>
          </a:p>
        </p:txBody>
      </p:sp>
      <p:sp>
        <p:nvSpPr>
          <p:cNvPr id="36867" name="Text Box 3"/>
          <p:cNvSpPr txBox="1">
            <a:spLocks noChangeArrowheads="1"/>
          </p:cNvSpPr>
          <p:nvPr/>
        </p:nvSpPr>
        <p:spPr bwMode="auto">
          <a:xfrm>
            <a:off x="602897" y="1544598"/>
            <a:ext cx="9239603" cy="80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z="1543" u="sng" dirty="0">
                <a:effectLst>
                  <a:outerShdw blurRad="38100" dist="38100" dir="2700000" algn="tl">
                    <a:srgbClr val="000000">
                      <a:alpha val="43137"/>
                    </a:srgbClr>
                  </a:outerShdw>
                </a:effectLst>
              </a:rPr>
              <a:t>Pasos del ciclo de máquina</a:t>
            </a:r>
            <a:r>
              <a:rPr lang="es-MX" sz="1543" dirty="0">
                <a:effectLst>
                  <a:outerShdw blurRad="38100" dist="38100" dir="2700000" algn="tl">
                    <a:srgbClr val="000000">
                      <a:alpha val="43137"/>
                    </a:srgbClr>
                  </a:outerShdw>
                </a:effectLst>
              </a:rPr>
              <a:t>. Tiene dos etapas de operación principales: el </a:t>
            </a:r>
            <a:r>
              <a:rPr lang="es-MX" sz="1543" dirty="0">
                <a:solidFill>
                  <a:srgbClr val="FF0000"/>
                </a:solidFill>
                <a:effectLst>
                  <a:outerShdw blurRad="38100" dist="38100" dir="2700000" algn="tl">
                    <a:srgbClr val="000000">
                      <a:alpha val="43137"/>
                    </a:srgbClr>
                  </a:outerShdw>
                </a:effectLst>
              </a:rPr>
              <a:t>ciclo de instrucción</a:t>
            </a:r>
            <a:r>
              <a:rPr lang="es-MX" sz="1543" dirty="0">
                <a:effectLst>
                  <a:outerShdw blurRad="38100" dist="38100" dir="2700000" algn="tl">
                    <a:srgbClr val="000000">
                      <a:alpha val="43137"/>
                    </a:srgbClr>
                  </a:outerShdw>
                </a:effectLst>
              </a:rPr>
              <a:t> y el </a:t>
            </a:r>
            <a:r>
              <a:rPr lang="es-MX" sz="1543" dirty="0">
                <a:solidFill>
                  <a:srgbClr val="FF0000"/>
                </a:solidFill>
                <a:effectLst>
                  <a:outerShdw blurRad="38100" dist="38100" dir="2700000" algn="tl">
                    <a:srgbClr val="000000">
                      <a:alpha val="43137"/>
                    </a:srgbClr>
                  </a:outerShdw>
                </a:effectLst>
              </a:rPr>
              <a:t>ciclo de operación</a:t>
            </a:r>
            <a:r>
              <a:rPr lang="es-MX" sz="1543" dirty="0">
                <a:effectLst>
                  <a:outerShdw blurRad="38100" dist="38100" dir="2700000" algn="tl">
                    <a:srgbClr val="000000">
                      <a:alpha val="43137"/>
                    </a:srgbClr>
                  </a:outerShdw>
                </a:effectLst>
              </a:rPr>
              <a:t>. Cada ciclo consta de varios pasos que se requieren para procesar una sola instrucción de máquina en la CPU.</a:t>
            </a:r>
            <a:endParaRPr lang="es-ES" sz="1543" dirty="0">
              <a:effectLst>
                <a:outerShdw blurRad="38100" dist="38100" dir="2700000" algn="tl">
                  <a:srgbClr val="000000">
                    <a:alpha val="43137"/>
                  </a:srgbClr>
                </a:outerShdw>
              </a:effectLst>
            </a:endParaRPr>
          </a:p>
        </p:txBody>
      </p:sp>
      <p:graphicFrame>
        <p:nvGraphicFramePr>
          <p:cNvPr id="39940" name="Object 2"/>
          <p:cNvGraphicFramePr>
            <a:graphicFrameLocks noChangeAspect="1"/>
          </p:cNvGraphicFramePr>
          <p:nvPr>
            <p:extLst>
              <p:ext uri="{D42A27DB-BD31-4B8C-83A1-F6EECF244321}">
                <p14:modId xmlns:p14="http://schemas.microsoft.com/office/powerpoint/2010/main" val="2773226732"/>
              </p:ext>
            </p:extLst>
          </p:nvPr>
        </p:nvGraphicFramePr>
        <p:xfrm>
          <a:off x="1488359" y="2349565"/>
          <a:ext cx="7934159" cy="4047575"/>
        </p:xfrm>
        <a:graphic>
          <a:graphicData uri="http://schemas.openxmlformats.org/presentationml/2006/ole">
            <mc:AlternateContent xmlns:mc="http://schemas.openxmlformats.org/markup-compatibility/2006">
              <mc:Choice xmlns:v="urn:schemas-microsoft-com:vml" Requires="v">
                <p:oleObj name="Imagen de mapa de bits" r:id="rId2" imgW="5477640" imgH="4153480" progId="Paint.Picture">
                  <p:embed/>
                </p:oleObj>
              </mc:Choice>
              <mc:Fallback>
                <p:oleObj name="Imagen de mapa de bits" r:id="rId2" imgW="5477640" imgH="4153480" progId="Paint.Picture">
                  <p:embed/>
                  <p:pic>
                    <p:nvPicPr>
                      <p:cNvPr id="3994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359" y="2349565"/>
                        <a:ext cx="7934159" cy="404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Imagen 1" descr="Imagen que contiene Calendario&#10;&#10;El contenido generado por IA puede ser incorrecto.">
            <a:extLst>
              <a:ext uri="{FF2B5EF4-FFF2-40B4-BE49-F238E27FC236}">
                <a16:creationId xmlns:a16="http://schemas.microsoft.com/office/drawing/2014/main" id="{F85BD975-CE1E-5EA9-7705-25AD2AE1DDA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68642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6405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74975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a:spLocks/>
          </p:cNvSpPr>
          <p:nvPr/>
        </p:nvSpPr>
        <p:spPr>
          <a:xfrm>
            <a:off x="810895" y="46037"/>
            <a:ext cx="9071610"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s-AR" sz="2800" dirty="0"/>
              <a:t>Arquitectura Interna PIC16Fxxx - Memoria de Programa</a:t>
            </a:r>
            <a:endParaRPr lang="es-ES" sz="2800" dirty="0"/>
          </a:p>
        </p:txBody>
      </p:sp>
      <p:pic>
        <p:nvPicPr>
          <p:cNvPr id="1945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9760" y="4150392"/>
            <a:ext cx="5188722" cy="321427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brir llave 1"/>
          <p:cNvSpPr/>
          <p:nvPr/>
        </p:nvSpPr>
        <p:spPr>
          <a:xfrm>
            <a:off x="1305891" y="5456237"/>
            <a:ext cx="270203" cy="144564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5" name="Abrir llave 4"/>
          <p:cNvSpPr/>
          <p:nvPr/>
        </p:nvSpPr>
        <p:spPr>
          <a:xfrm>
            <a:off x="1308100" y="4541837"/>
            <a:ext cx="337675" cy="82531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6" name="Abrir llave 5"/>
          <p:cNvSpPr/>
          <p:nvPr/>
        </p:nvSpPr>
        <p:spPr>
          <a:xfrm>
            <a:off x="1384300" y="4084637"/>
            <a:ext cx="337675" cy="36637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sz="1400"/>
          </a:p>
        </p:txBody>
      </p:sp>
      <p:sp>
        <p:nvSpPr>
          <p:cNvPr id="3" name="CuadroTexto 2"/>
          <p:cNvSpPr txBox="1"/>
          <p:nvPr/>
        </p:nvSpPr>
        <p:spPr>
          <a:xfrm>
            <a:off x="317500" y="5837237"/>
            <a:ext cx="1031051" cy="523220"/>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Memoria</a:t>
            </a:r>
          </a:p>
          <a:p>
            <a:pPr algn="ctr"/>
            <a:r>
              <a:rPr lang="es-ES" sz="1400" b="1" i="1" dirty="0">
                <a:solidFill>
                  <a:srgbClr val="FF0000"/>
                </a:solidFill>
                <a:effectLst>
                  <a:outerShdw blurRad="38100" dist="38100" dir="2700000" algn="tl">
                    <a:srgbClr val="000000">
                      <a:alpha val="43137"/>
                    </a:srgbClr>
                  </a:outerShdw>
                </a:effectLst>
              </a:rPr>
              <a:t>del Usuario</a:t>
            </a:r>
          </a:p>
        </p:txBody>
      </p:sp>
      <p:sp>
        <p:nvSpPr>
          <p:cNvPr id="8" name="CuadroTexto 7"/>
          <p:cNvSpPr txBox="1"/>
          <p:nvPr/>
        </p:nvSpPr>
        <p:spPr>
          <a:xfrm>
            <a:off x="698500" y="4843660"/>
            <a:ext cx="505267" cy="307777"/>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Pila </a:t>
            </a:r>
          </a:p>
        </p:txBody>
      </p:sp>
      <p:sp>
        <p:nvSpPr>
          <p:cNvPr id="9" name="CuadroTexto 8"/>
          <p:cNvSpPr txBox="1"/>
          <p:nvPr/>
        </p:nvSpPr>
        <p:spPr>
          <a:xfrm>
            <a:off x="317500" y="4094817"/>
            <a:ext cx="1196160" cy="523220"/>
          </a:xfrm>
          <a:prstGeom prst="rect">
            <a:avLst/>
          </a:prstGeom>
          <a:noFill/>
        </p:spPr>
        <p:txBody>
          <a:bodyPr wrap="none" rtlCol="0">
            <a:spAutoFit/>
          </a:bodyPr>
          <a:lstStyle/>
          <a:p>
            <a:pPr algn="ctr"/>
            <a:r>
              <a:rPr lang="es-ES" sz="1400" b="1" i="1" dirty="0">
                <a:solidFill>
                  <a:srgbClr val="FF0000"/>
                </a:solidFill>
                <a:effectLst>
                  <a:outerShdw blurRad="38100" dist="38100" dir="2700000" algn="tl">
                    <a:srgbClr val="000000">
                      <a:alpha val="43137"/>
                    </a:srgbClr>
                  </a:outerShdw>
                </a:effectLst>
              </a:rPr>
              <a:t>Contador</a:t>
            </a:r>
          </a:p>
          <a:p>
            <a:pPr algn="ctr"/>
            <a:r>
              <a:rPr lang="es-ES" sz="1400" b="1" i="1" dirty="0">
                <a:solidFill>
                  <a:srgbClr val="FF0000"/>
                </a:solidFill>
                <a:effectLst>
                  <a:outerShdw blurRad="38100" dist="38100" dir="2700000" algn="tl">
                    <a:srgbClr val="000000">
                      <a:alpha val="43137"/>
                    </a:srgbClr>
                  </a:outerShdw>
                </a:effectLst>
              </a:rPr>
              <a:t>del Programa</a:t>
            </a:r>
          </a:p>
        </p:txBody>
      </p:sp>
      <p:sp>
        <p:nvSpPr>
          <p:cNvPr id="10" name="CuadroTexto 9"/>
          <p:cNvSpPr txBox="1"/>
          <p:nvPr/>
        </p:nvSpPr>
        <p:spPr>
          <a:xfrm>
            <a:off x="317500" y="1112837"/>
            <a:ext cx="10058400" cy="3139321"/>
          </a:xfrm>
          <a:prstGeom prst="rect">
            <a:avLst/>
          </a:prstGeom>
          <a:noFill/>
        </p:spPr>
        <p:txBody>
          <a:bodyPr wrap="square" rtlCol="0">
            <a:spAutoFit/>
          </a:bodyPr>
          <a:lstStyle/>
          <a:p>
            <a:r>
              <a:rPr lang="es-AR" b="1" dirty="0">
                <a:solidFill>
                  <a:srgbClr val="FF0000"/>
                </a:solidFill>
                <a:effectLst>
                  <a:outerShdw blurRad="38100" dist="38100" dir="2700000" algn="tl">
                    <a:srgbClr val="000000">
                      <a:alpha val="43137"/>
                    </a:srgbClr>
                  </a:outerShdw>
                </a:effectLst>
              </a:rPr>
              <a:t>Espacio de Memoria del Usuario</a:t>
            </a:r>
            <a:r>
              <a:rPr lang="es-AR" dirty="0"/>
              <a:t> es donde irá el programa, desde la dirección 0000h hasta la 3FFh (3FFh en decimal es 1023.</a:t>
            </a:r>
            <a:br>
              <a:rPr lang="es-AR" dirty="0"/>
            </a:br>
            <a:r>
              <a:rPr lang="es-AR" b="1" dirty="0" err="1">
                <a:solidFill>
                  <a:srgbClr val="FF0000"/>
                </a:solidFill>
                <a:effectLst>
                  <a:outerShdw blurRad="38100" dist="38100" dir="2700000" algn="tl">
                    <a:srgbClr val="000000">
                      <a:alpha val="43137"/>
                    </a:srgbClr>
                  </a:outerShdw>
                </a:effectLst>
              </a:rPr>
              <a:t>Reset</a:t>
            </a:r>
            <a:r>
              <a:rPr lang="es-AR" b="1" dirty="0">
                <a:solidFill>
                  <a:srgbClr val="FF0000"/>
                </a:solidFill>
                <a:effectLst>
                  <a:outerShdw blurRad="38100" dist="38100" dir="2700000" algn="tl">
                    <a:srgbClr val="000000">
                      <a:alpha val="43137"/>
                    </a:srgbClr>
                  </a:outerShdw>
                </a:effectLst>
              </a:rPr>
              <a:t> Vector</a:t>
            </a:r>
            <a:r>
              <a:rPr lang="es-AR" dirty="0"/>
              <a:t> es la primera dirección (0000h) a la que se dirige el PIC al encenderlo o al resetearlo y donde debe estar siempre la primera instrucción.</a:t>
            </a:r>
            <a:br>
              <a:rPr lang="es-AR" dirty="0"/>
            </a:br>
            <a:r>
              <a:rPr lang="es-AR" b="1" dirty="0">
                <a:solidFill>
                  <a:srgbClr val="FF0000"/>
                </a:solidFill>
                <a:effectLst>
                  <a:outerShdw blurRad="38100" dist="38100" dir="2700000" algn="tl">
                    <a:srgbClr val="000000">
                      <a:alpha val="43137"/>
                    </a:srgbClr>
                  </a:outerShdw>
                </a:effectLst>
              </a:rPr>
              <a:t>Vector de Interrupción</a:t>
            </a:r>
            <a:r>
              <a:rPr lang="es-AR" dirty="0"/>
              <a:t> es la dirección (0004h) a la que se dirige el PIC cuando se produce una interrupción, esto es, un evento que permite sacar al PIC de la ejecución normal del programa para ejecutar una subrutina de atención a la interrupción.</a:t>
            </a:r>
            <a:br>
              <a:rPr lang="es-AR" dirty="0"/>
            </a:br>
            <a:r>
              <a:rPr lang="es-AR" b="1" dirty="0">
                <a:solidFill>
                  <a:srgbClr val="FF0000"/>
                </a:solidFill>
                <a:effectLst>
                  <a:outerShdw blurRad="38100" dist="38100" dir="2700000" algn="tl">
                    <a:srgbClr val="000000">
                      <a:alpha val="43137"/>
                    </a:srgbClr>
                  </a:outerShdw>
                </a:effectLst>
              </a:rPr>
              <a:t>PC (Contador de Programa)</a:t>
            </a:r>
            <a:r>
              <a:rPr lang="es-AR" dirty="0"/>
              <a:t> es un registro de 13 bits que apunta a la dirección de la memoria de programa que contiene la instrucción a ejecutar.</a:t>
            </a:r>
            <a:br>
              <a:rPr lang="es-AR" dirty="0"/>
            </a:br>
            <a:r>
              <a:rPr lang="es-AR" b="1" dirty="0">
                <a:solidFill>
                  <a:srgbClr val="FF0000"/>
                </a:solidFill>
                <a:effectLst>
                  <a:outerShdw blurRad="38100" dist="38100" dir="2700000" algn="tl">
                    <a:srgbClr val="000000">
                      <a:alpha val="43137"/>
                    </a:srgbClr>
                  </a:outerShdw>
                </a:effectLst>
              </a:rPr>
              <a:t>Niveles de la pila de 1 a 8</a:t>
            </a:r>
            <a:r>
              <a:rPr lang="es-AR" dirty="0"/>
              <a:t> son los niveles de la pila, que se utiliza cuando se ejecutan subrutinas.</a:t>
            </a:r>
            <a:endParaRPr lang="es-ES" dirty="0"/>
          </a:p>
          <a:p>
            <a:endParaRPr lang="es-ES" dirty="0"/>
          </a:p>
        </p:txBody>
      </p:sp>
    </p:spTree>
    <p:extLst>
      <p:ext uri="{BB962C8B-B14F-4D97-AF65-F5344CB8AC3E}">
        <p14:creationId xmlns:p14="http://schemas.microsoft.com/office/powerpoint/2010/main" val="5793764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1897841" y="655637"/>
            <a:ext cx="7944658" cy="635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spcBef>
                <a:spcPct val="50000"/>
              </a:spcBef>
            </a:pPr>
            <a:r>
              <a:rPr lang="es-MX" altLang="es-AR" sz="3527"/>
              <a:t>Ciclo de Máquina</a:t>
            </a:r>
            <a:endParaRPr lang="es-ES" altLang="es-AR" sz="3527"/>
          </a:p>
        </p:txBody>
      </p:sp>
      <p:sp>
        <p:nvSpPr>
          <p:cNvPr id="36867" name="Text Box 3"/>
          <p:cNvSpPr txBox="1">
            <a:spLocks noChangeArrowheads="1"/>
          </p:cNvSpPr>
          <p:nvPr/>
        </p:nvSpPr>
        <p:spPr bwMode="auto">
          <a:xfrm>
            <a:off x="602897" y="1544598"/>
            <a:ext cx="9239603" cy="80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ahoma" pitchFamily="34" charset="0"/>
              </a:defRPr>
            </a:lvl1pPr>
            <a:lvl2pPr marL="742950" indent="-285750" eaLnBrk="0" hangingPunct="0">
              <a:defRPr>
                <a:solidFill>
                  <a:schemeClr val="tx1"/>
                </a:solidFill>
                <a:latin typeface="Tahoma" pitchFamily="34" charset="0"/>
              </a:defRPr>
            </a:lvl2pPr>
            <a:lvl3pPr marL="1143000" indent="-228600" eaLnBrk="0" hangingPunct="0">
              <a:defRPr>
                <a:solidFill>
                  <a:schemeClr val="tx1"/>
                </a:solidFill>
                <a:latin typeface="Tahoma" pitchFamily="34" charset="0"/>
              </a:defRPr>
            </a:lvl3pPr>
            <a:lvl4pPr marL="1600200" indent="-228600" eaLnBrk="0" hangingPunct="0">
              <a:defRPr>
                <a:solidFill>
                  <a:schemeClr val="tx1"/>
                </a:solidFill>
                <a:latin typeface="Tahoma" pitchFamily="34" charset="0"/>
              </a:defRPr>
            </a:lvl4pPr>
            <a:lvl5pPr marL="2057400" indent="-228600" eaLnBrk="0" hangingPunct="0">
              <a:defRPr>
                <a:solidFill>
                  <a:schemeClr val="tx1"/>
                </a:solidFill>
                <a:latin typeface="Tahoma" pitchFamily="34" charset="0"/>
              </a:defRPr>
            </a:lvl5pPr>
            <a:lvl6pPr marL="2514600" indent="-228600" eaLnBrk="0" fontAlgn="base" hangingPunct="0">
              <a:spcBef>
                <a:spcPct val="0"/>
              </a:spcBef>
              <a:spcAft>
                <a:spcPct val="0"/>
              </a:spcAft>
              <a:defRPr>
                <a:solidFill>
                  <a:schemeClr val="tx1"/>
                </a:solidFill>
                <a:latin typeface="Tahoma" pitchFamily="34" charset="0"/>
              </a:defRPr>
            </a:lvl6pPr>
            <a:lvl7pPr marL="2971800" indent="-228600" eaLnBrk="0" fontAlgn="base" hangingPunct="0">
              <a:spcBef>
                <a:spcPct val="0"/>
              </a:spcBef>
              <a:spcAft>
                <a:spcPct val="0"/>
              </a:spcAft>
              <a:defRPr>
                <a:solidFill>
                  <a:schemeClr val="tx1"/>
                </a:solidFill>
                <a:latin typeface="Tahoma" pitchFamily="34" charset="0"/>
              </a:defRPr>
            </a:lvl7pPr>
            <a:lvl8pPr marL="3429000" indent="-228600" eaLnBrk="0" fontAlgn="base" hangingPunct="0">
              <a:spcBef>
                <a:spcPct val="0"/>
              </a:spcBef>
              <a:spcAft>
                <a:spcPct val="0"/>
              </a:spcAft>
              <a:defRPr>
                <a:solidFill>
                  <a:schemeClr val="tx1"/>
                </a:solidFill>
                <a:latin typeface="Tahoma" pitchFamily="34" charset="0"/>
              </a:defRPr>
            </a:lvl8pPr>
            <a:lvl9pPr marL="3886200" indent="-228600" eaLnBrk="0" fontAlgn="base" hangingPunct="0">
              <a:spcBef>
                <a:spcPct val="0"/>
              </a:spcBef>
              <a:spcAft>
                <a:spcPct val="0"/>
              </a:spcAft>
              <a:defRPr>
                <a:solidFill>
                  <a:schemeClr val="tx1"/>
                </a:solidFill>
                <a:latin typeface="Tahoma" pitchFamily="34" charset="0"/>
              </a:defRPr>
            </a:lvl9pPr>
          </a:lstStyle>
          <a:p>
            <a:pPr eaLnBrk="1" hangingPunct="1">
              <a:spcBef>
                <a:spcPct val="50000"/>
              </a:spcBef>
              <a:defRPr/>
            </a:pPr>
            <a:r>
              <a:rPr lang="es-MX" sz="1543" u="sng" dirty="0">
                <a:effectLst>
                  <a:outerShdw blurRad="38100" dist="38100" dir="2700000" algn="tl">
                    <a:srgbClr val="000000">
                      <a:alpha val="43137"/>
                    </a:srgbClr>
                  </a:outerShdw>
                </a:effectLst>
              </a:rPr>
              <a:t>Pasos del ciclo de máquina</a:t>
            </a:r>
            <a:r>
              <a:rPr lang="es-MX" sz="1543" dirty="0">
                <a:effectLst>
                  <a:outerShdw blurRad="38100" dist="38100" dir="2700000" algn="tl">
                    <a:srgbClr val="000000">
                      <a:alpha val="43137"/>
                    </a:srgbClr>
                  </a:outerShdw>
                </a:effectLst>
              </a:rPr>
              <a:t>. Tiene dos etapas de operación principales: el </a:t>
            </a:r>
            <a:r>
              <a:rPr lang="es-MX" sz="1543" dirty="0">
                <a:solidFill>
                  <a:srgbClr val="FF0000"/>
                </a:solidFill>
                <a:effectLst>
                  <a:outerShdw blurRad="38100" dist="38100" dir="2700000" algn="tl">
                    <a:srgbClr val="000000">
                      <a:alpha val="43137"/>
                    </a:srgbClr>
                  </a:outerShdw>
                </a:effectLst>
              </a:rPr>
              <a:t>ciclo de instrucción</a:t>
            </a:r>
            <a:r>
              <a:rPr lang="es-MX" sz="1543" dirty="0">
                <a:effectLst>
                  <a:outerShdw blurRad="38100" dist="38100" dir="2700000" algn="tl">
                    <a:srgbClr val="000000">
                      <a:alpha val="43137"/>
                    </a:srgbClr>
                  </a:outerShdw>
                </a:effectLst>
              </a:rPr>
              <a:t> y el </a:t>
            </a:r>
            <a:r>
              <a:rPr lang="es-MX" sz="1543" dirty="0">
                <a:solidFill>
                  <a:srgbClr val="FF0000"/>
                </a:solidFill>
                <a:effectLst>
                  <a:outerShdw blurRad="38100" dist="38100" dir="2700000" algn="tl">
                    <a:srgbClr val="000000">
                      <a:alpha val="43137"/>
                    </a:srgbClr>
                  </a:outerShdw>
                </a:effectLst>
              </a:rPr>
              <a:t>ciclo de operación</a:t>
            </a:r>
            <a:r>
              <a:rPr lang="es-MX" sz="1543" dirty="0">
                <a:effectLst>
                  <a:outerShdw blurRad="38100" dist="38100" dir="2700000" algn="tl">
                    <a:srgbClr val="000000">
                      <a:alpha val="43137"/>
                    </a:srgbClr>
                  </a:outerShdw>
                </a:effectLst>
              </a:rPr>
              <a:t>. Cada ciclo consta de varios pasos que se requieren para procesar una sola instrucción de máquina en la CPU.</a:t>
            </a:r>
            <a:endParaRPr lang="es-ES" sz="1543" dirty="0">
              <a:effectLst>
                <a:outerShdw blurRad="38100" dist="38100" dir="2700000" algn="tl">
                  <a:srgbClr val="000000">
                    <a:alpha val="43137"/>
                  </a:srgbClr>
                </a:outerShdw>
              </a:effectLst>
            </a:endParaRPr>
          </a:p>
        </p:txBody>
      </p:sp>
      <p:graphicFrame>
        <p:nvGraphicFramePr>
          <p:cNvPr id="39940" name="Object 2"/>
          <p:cNvGraphicFramePr>
            <a:graphicFrameLocks noChangeAspect="1"/>
          </p:cNvGraphicFramePr>
          <p:nvPr/>
        </p:nvGraphicFramePr>
        <p:xfrm>
          <a:off x="1488359" y="2349565"/>
          <a:ext cx="7934159" cy="4047575"/>
        </p:xfrm>
        <a:graphic>
          <a:graphicData uri="http://schemas.openxmlformats.org/presentationml/2006/ole">
            <mc:AlternateContent xmlns:mc="http://schemas.openxmlformats.org/markup-compatibility/2006">
              <mc:Choice xmlns:v="urn:schemas-microsoft-com:vml" Requires="v">
                <p:oleObj name="Imagen de mapa de bits" r:id="rId2" imgW="5477640" imgH="4153480" progId="Paint.Picture">
                  <p:embed/>
                </p:oleObj>
              </mc:Choice>
              <mc:Fallback>
                <p:oleObj name="Imagen de mapa de bits" r:id="rId2" imgW="5477640" imgH="4153480" progId="Paint.Picture">
                  <p:embed/>
                  <p:pic>
                    <p:nvPicPr>
                      <p:cNvPr id="3994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359" y="2349565"/>
                        <a:ext cx="7934159" cy="404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 name="Imagen 1" descr="Imagen que contiene Calendario&#10;&#10;El contenido generado por IA puede ser incorrecto.">
            <a:extLst>
              <a:ext uri="{FF2B5EF4-FFF2-40B4-BE49-F238E27FC236}">
                <a16:creationId xmlns:a16="http://schemas.microsoft.com/office/drawing/2014/main" id="{D7E88129-A916-95E6-0323-5D7BB93BA61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4550670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372100" y="2184400"/>
            <a:ext cx="24257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Instruction</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Cycles</a:t>
            </a:r>
          </a:p>
        </p:txBody>
      </p:sp>
      <p:sp>
        <p:nvSpPr>
          <p:cNvPr id="3"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sp>
        <p:nvSpPr>
          <p:cNvPr id="5" name="TextBox 1"/>
          <p:cNvSpPr txBox="1"/>
          <p:nvPr/>
        </p:nvSpPr>
        <p:spPr>
          <a:xfrm>
            <a:off x="1549400" y="1646237"/>
            <a:ext cx="7785100" cy="622300"/>
          </a:xfrm>
          <a:prstGeom prst="rect">
            <a:avLst/>
          </a:prstGeom>
          <a:noFill/>
        </p:spPr>
        <p:txBody>
          <a:bodyPr wrap="none" lIns="0" tIns="0" rIns="0" rtlCol="0">
            <a:spAutoFit/>
          </a:bodyPr>
          <a:lstStyle/>
          <a:p>
            <a:pPr>
              <a:lnSpc>
                <a:spcPts val="2700"/>
              </a:lnSpc>
              <a:tabLst/>
            </a:pP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búsqueda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instrucciones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superpone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con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la</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ejecución</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de</a:t>
            </a:r>
          </a:p>
          <a:p>
            <a:pPr>
              <a:lnSpc>
                <a:spcPts val="2100"/>
              </a:lnSpc>
              <a:tabLst/>
            </a:pPr>
            <a:r>
              <a:rPr lang="en-US" altLang="zh-CN" sz="1997" b="1" dirty="0">
                <a:solidFill>
                  <a:srgbClr val="000000"/>
                </a:solidFill>
                <a:latin typeface="Times New Roman" pitchFamily="18" charset="0"/>
                <a:cs typeface="Times New Roman" pitchFamily="18" charset="0"/>
              </a:rPr>
              <a:t>instrucciones</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previamente</a:t>
            </a:r>
            <a:r>
              <a:rPr lang="en-US" altLang="zh-CN" sz="1997" dirty="0">
                <a:latin typeface="Times New Roman" pitchFamily="18" charset="0"/>
                <a:cs typeface="Times New Roman" pitchFamily="18" charset="0"/>
              </a:rPr>
              <a:t> </a:t>
            </a:r>
            <a:r>
              <a:rPr lang="en-US" altLang="zh-CN" sz="1997" b="1" dirty="0">
                <a:solidFill>
                  <a:srgbClr val="000000"/>
                </a:solidFill>
                <a:latin typeface="Times New Roman" pitchFamily="18" charset="0"/>
                <a:cs typeface="Times New Roman" pitchFamily="18" charset="0"/>
              </a:rPr>
              <a:t>buscadas</a:t>
            </a:r>
          </a:p>
        </p:txBody>
      </p:sp>
      <p:sp>
        <p:nvSpPr>
          <p:cNvPr id="6"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7" name="TextBox 1"/>
          <p:cNvSpPr txBox="1"/>
          <p:nvPr/>
        </p:nvSpPr>
        <p:spPr>
          <a:xfrm>
            <a:off x="1346200" y="3009900"/>
            <a:ext cx="2374900" cy="381000"/>
          </a:xfrm>
          <a:prstGeom prst="rect">
            <a:avLst/>
          </a:prstGeom>
          <a:noFill/>
        </p:spPr>
        <p:txBody>
          <a:bodyPr wrap="none" lIns="0" tIns="0" rIns="0" rtlCol="0">
            <a:spAutoFit/>
          </a:bodyPr>
          <a:lstStyle/>
          <a:p>
            <a:pPr>
              <a:lnSpc>
                <a:spcPts val="3000"/>
              </a:lnSpc>
              <a:tabLst/>
            </a:pPr>
            <a:r>
              <a:rPr lang="en-US" altLang="zh-CN" sz="2202" b="1" dirty="0">
                <a:solidFill>
                  <a:srgbClr val="FFFFFF"/>
                </a:solidFill>
                <a:latin typeface="Times New Roman" pitchFamily="18" charset="0"/>
                <a:cs typeface="Times New Roman" pitchFamily="18" charset="0"/>
              </a:rPr>
              <a:t>Example</a:t>
            </a:r>
            <a:r>
              <a:rPr lang="en-US" altLang="zh-CN" sz="2202" dirty="0">
                <a:latin typeface="Times New Roman" pitchFamily="18" charset="0"/>
                <a:cs typeface="Times New Roman" pitchFamily="18" charset="0"/>
              </a:rPr>
              <a:t> </a:t>
            </a:r>
            <a:r>
              <a:rPr lang="en-US" altLang="zh-CN" sz="2202" b="1" dirty="0">
                <a:solidFill>
                  <a:srgbClr val="FFFFFF"/>
                </a:solidFill>
                <a:latin typeface="Times New Roman" pitchFamily="18" charset="0"/>
                <a:cs typeface="Times New Roman" pitchFamily="18" charset="0"/>
              </a:rPr>
              <a:t>Program</a:t>
            </a:r>
          </a:p>
        </p:txBody>
      </p:sp>
      <p:sp>
        <p:nvSpPr>
          <p:cNvPr id="8"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9"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10"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1"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2"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3"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4"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5"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6" name="TextBox 1"/>
          <p:cNvSpPr txBox="1"/>
          <p:nvPr/>
        </p:nvSpPr>
        <p:spPr>
          <a:xfrm>
            <a:off x="88773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T7</a:t>
            </a:r>
          </a:p>
        </p:txBody>
      </p:sp>
      <p:sp>
        <p:nvSpPr>
          <p:cNvPr id="17" name="TextBox 1"/>
          <p:cNvSpPr txBox="1"/>
          <p:nvPr/>
        </p:nvSpPr>
        <p:spPr>
          <a:xfrm>
            <a:off x="6248400" y="3416300"/>
            <a:ext cx="3162300" cy="190500"/>
          </a:xfrm>
          <a:prstGeom prst="rect">
            <a:avLst/>
          </a:prstGeom>
          <a:noFill/>
        </p:spPr>
        <p:txBody>
          <a:bodyPr wrap="none" lIns="0" tIns="0" rIns="0" rtlCol="0">
            <a:spAutoFit/>
          </a:bodyPr>
          <a:lstStyle/>
          <a:p>
            <a:pPr>
              <a:lnSpc>
                <a:spcPts val="1500"/>
              </a:lnSpc>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una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instrucción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normal</a:t>
            </a:r>
          </a:p>
        </p:txBody>
      </p:sp>
      <p:sp>
        <p:nvSpPr>
          <p:cNvPr id="18"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9"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20" name="TextBox 1"/>
          <p:cNvSpPr txBox="1"/>
          <p:nvPr/>
        </p:nvSpPr>
        <p:spPr>
          <a:xfrm>
            <a:off x="5016500" y="3771900"/>
            <a:ext cx="23368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CC0000"/>
                </a:solidFill>
                <a:latin typeface="Arial Narrow" pitchFamily="18" charset="0"/>
                <a:cs typeface="Arial Narrow" pitchFamily="18" charset="0"/>
              </a:rPr>
              <a:t>Ejecuta</a:t>
            </a:r>
          </a:p>
        </p:txBody>
      </p:sp>
      <p:sp>
        <p:nvSpPr>
          <p:cNvPr id="21" name="TextBox 1"/>
          <p:cNvSpPr txBox="1"/>
          <p:nvPr/>
        </p:nvSpPr>
        <p:spPr>
          <a:xfrm>
            <a:off x="7505700" y="3771900"/>
            <a:ext cx="1663700" cy="876300"/>
          </a:xfrm>
          <a:prstGeom prst="rect">
            <a:avLst/>
          </a:prstGeom>
          <a:noFill/>
        </p:spPr>
        <p:txBody>
          <a:bodyPr wrap="none" lIns="0" tIns="0" rIns="0" rtlCol="0">
            <a:spAutoFit/>
          </a:bodyPr>
          <a:lstStyle/>
          <a:p>
            <a:pPr>
              <a:lnSpc>
                <a:spcPts val="1500"/>
              </a:lnSpc>
              <a:tabLst>
                <a:tab pos="1282700" algn="l"/>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para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ejecutar</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la</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instrucción</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call</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incluye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nivelado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del</a:t>
            </a:r>
          </a:p>
          <a:p>
            <a:pPr>
              <a:lnSpc>
                <a:spcPts val="1300"/>
              </a:lnSpc>
              <a:tabLst>
                <a:tab pos="1282700" algn="l"/>
              </a:tabLst>
            </a:pPr>
            <a:r>
              <a:rPr lang="en-US" altLang="zh-CN" sz="1097" b="1" dirty="0">
                <a:solidFill>
                  <a:srgbClr val="000065"/>
                </a:solidFill>
                <a:latin typeface="Times New Roman" pitchFamily="18" charset="0"/>
                <a:cs typeface="Times New Roman" pitchFamily="18" charset="0"/>
              </a:rPr>
              <a:t>pipeline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(Flush)</a:t>
            </a:r>
          </a:p>
          <a:p>
            <a:pPr>
              <a:lnSpc>
                <a:spcPts val="1400"/>
              </a:lnSpc>
              <a:tabLst>
                <a:tab pos="1282700" algn="l"/>
              </a:tabLst>
            </a:pPr>
            <a:r>
              <a:rPr lang="en-US" altLang="zh-CN" dirty="0"/>
              <a:t>	</a:t>
            </a:r>
            <a:r>
              <a:rPr lang="en-US" altLang="zh-CN" sz="1397" b="1" dirty="0">
                <a:solidFill>
                  <a:srgbClr val="000000"/>
                </a:solidFill>
                <a:latin typeface="Arial Narrow" pitchFamily="18" charset="0"/>
                <a:cs typeface="Arial Narrow" pitchFamily="18" charset="0"/>
              </a:rPr>
              <a:t>Fetch</a:t>
            </a:r>
          </a:p>
        </p:txBody>
      </p:sp>
      <p:sp>
        <p:nvSpPr>
          <p:cNvPr id="22"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3"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6"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7"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8" name="TextBox 1"/>
          <p:cNvSpPr txBox="1"/>
          <p:nvPr/>
        </p:nvSpPr>
        <p:spPr>
          <a:xfrm>
            <a:off x="8788400" y="59690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9" name="TextBox 1"/>
          <p:cNvSpPr txBox="1"/>
          <p:nvPr/>
        </p:nvSpPr>
        <p:spPr>
          <a:xfrm>
            <a:off x="965200" y="5994400"/>
            <a:ext cx="3073400" cy="508000"/>
          </a:xfrm>
          <a:prstGeom prst="rect">
            <a:avLst/>
          </a:prstGeom>
          <a:noFill/>
        </p:spPr>
        <p:txBody>
          <a:bodyPr wrap="none" lIns="0" tIns="0" rIns="0" rtlCol="0">
            <a:spAutoFit/>
          </a:bodyPr>
          <a:lstStyle/>
          <a:p>
            <a:pPr>
              <a:lnSpc>
                <a:spcPts val="1400"/>
              </a:lnSpc>
              <a:tabLst>
                <a:tab pos="1206500" algn="l"/>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a:p>
            <a:pPr>
              <a:lnSpc>
                <a:spcPts val="1000"/>
              </a:lnSpc>
            </a:pPr>
            <a:endParaRPr lang="en-US" altLang="zh-CN" dirty="0"/>
          </a:p>
          <a:p>
            <a:pPr>
              <a:lnSpc>
                <a:spcPts val="1600"/>
              </a:lnSpc>
              <a:tabLst>
                <a:tab pos="1206500" algn="l"/>
              </a:tabLst>
            </a:pPr>
            <a:r>
              <a:rPr lang="en-US" altLang="zh-CN" sz="1800" b="1" dirty="0">
                <a:solidFill>
                  <a:srgbClr val="000000"/>
                </a:solidFill>
                <a:latin typeface="Courier New" pitchFamily="18" charset="0"/>
                <a:cs typeface="Courier New" pitchFamily="18" charset="0"/>
              </a:rPr>
              <a:t>54</a:t>
            </a:r>
          </a:p>
          <a:p>
            <a:pPr>
              <a:lnSpc>
                <a:spcPts val="0"/>
              </a:lnSpc>
              <a:tabLst>
                <a:tab pos="1206500" algn="l"/>
              </a:tabLst>
            </a:pPr>
            <a:r>
              <a:rPr lang="en-US" altLang="zh-CN" dirty="0"/>
              <a:t>	</a:t>
            </a:r>
            <a:r>
              <a:rPr lang="en-US" altLang="zh-CN" sz="1800" b="1" dirty="0">
                <a:solidFill>
                  <a:srgbClr val="000000"/>
                </a:solidFill>
                <a:latin typeface="Courier New" pitchFamily="18" charset="0"/>
                <a:cs typeface="Courier New" pitchFamily="18" charset="0"/>
              </a:rPr>
              <a:t>return</a:t>
            </a:r>
          </a:p>
        </p:txBody>
      </p:sp>
      <p:sp>
        <p:nvSpPr>
          <p:cNvPr id="4" name="3 CuadroTexto"/>
          <p:cNvSpPr txBox="1"/>
          <p:nvPr/>
        </p:nvSpPr>
        <p:spPr>
          <a:xfrm>
            <a:off x="546100" y="2560637"/>
            <a:ext cx="3536737" cy="369332"/>
          </a:xfrm>
          <a:prstGeom prst="rect">
            <a:avLst/>
          </a:prstGeom>
          <a:solidFill>
            <a:srgbClr val="FFFF00">
              <a:alpha val="37000"/>
            </a:srgbClr>
          </a:solidFill>
          <a:ln w="3175">
            <a:solidFill>
              <a:schemeClr val="tx1"/>
            </a:solidFill>
          </a:ln>
        </p:spPr>
        <p:txBody>
          <a:bodyPr wrap="none" rtlCol="0">
            <a:spAutoFit/>
          </a:bodyPr>
          <a:lstStyle/>
          <a:p>
            <a:r>
              <a:rPr lang="es-ES" dirty="0"/>
              <a:t>4 ciclo de reloj = 1 ciclo de Maquina</a:t>
            </a:r>
            <a:endParaRPr lang="es-AR" dirty="0"/>
          </a:p>
        </p:txBody>
      </p:sp>
      <p:pic>
        <p:nvPicPr>
          <p:cNvPr id="30" name="Imagen 29" descr="Imagen que contiene Calendario&#10;&#10;El contenido generado por IA puede ser incorrecto.">
            <a:extLst>
              <a:ext uri="{FF2B5EF4-FFF2-40B4-BE49-F238E27FC236}">
                <a16:creationId xmlns:a16="http://schemas.microsoft.com/office/drawing/2014/main" id="{691269EE-0093-3251-E8E3-08376489936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3"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981200" algn="l"/>
              </a:tabLst>
            </a:pPr>
            <a:r>
              <a:rPr lang="en-US" altLang="zh-CN" dirty="0"/>
              <a:t>	</a:t>
            </a:r>
            <a:r>
              <a:rPr lang="en-US" altLang="zh-CN" sz="2502" b="1" dirty="0">
                <a:solidFill>
                  <a:srgbClr val="FFFFFF"/>
                </a:solidFill>
                <a:latin typeface="Courier New" pitchFamily="18" charset="0"/>
                <a:cs typeface="Courier New" pitchFamily="18" charset="0"/>
              </a:rPr>
              <a:t>-</a:t>
            </a:r>
          </a:p>
          <a:p>
            <a:pPr>
              <a:lnSpc>
                <a:spcPts val="1000"/>
              </a:lnSpc>
            </a:pPr>
            <a:endParaRPr lang="en-US" altLang="zh-CN" dirty="0"/>
          </a:p>
          <a:p>
            <a:pPr>
              <a:lnSpc>
                <a:spcPts val="1000"/>
              </a:lnSpc>
            </a:pPr>
            <a:endParaRPr lang="en-US" altLang="zh-CN" dirty="0"/>
          </a:p>
          <a:p>
            <a:pPr>
              <a:lnSpc>
                <a:spcPts val="3100"/>
              </a:lnSpc>
              <a:tabLst>
                <a:tab pos="19812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1104900" y="1739900"/>
            <a:ext cx="3136900" cy="1917700"/>
          </a:xfrm>
          <a:prstGeom prst="rect">
            <a:avLst/>
          </a:prstGeom>
          <a:noFill/>
        </p:spPr>
        <p:txBody>
          <a:bodyPr wrap="none" lIns="0" tIns="0" rIns="0" rtlCol="0">
            <a:spAutoFit/>
          </a:bodyPr>
          <a:lstStyle/>
          <a:p>
            <a:pPr>
              <a:lnSpc>
                <a:spcPts val="1900"/>
              </a:lnSpc>
              <a:tabLst>
                <a:tab pos="190500" algn="l"/>
                <a:tab pos="1244600" algn="l"/>
              </a:tabLst>
            </a:pPr>
            <a:r>
              <a:rPr lang="en-US" altLang="zh-CN" dirty="0"/>
              <a:t>		</a:t>
            </a:r>
            <a:r>
              <a:rPr lang="en-US" altLang="zh-CN" sz="2502" b="1" dirty="0">
                <a:solidFill>
                  <a:srgbClr val="FF7B80"/>
                </a:solidFill>
                <a:latin typeface="Courier New" pitchFamily="18" charset="0"/>
                <a:cs typeface="Courier New" pitchFamily="18" charset="0"/>
              </a:rPr>
              <a:t>movlw</a:t>
            </a:r>
            <a:r>
              <a:rPr lang="en-US" altLang="zh-CN" sz="2502" dirty="0">
                <a:latin typeface="Times New Roman" pitchFamily="18" charset="0"/>
                <a:cs typeface="Times New Roman" pitchFamily="18" charset="0"/>
              </a:rPr>
              <a:t>  </a:t>
            </a:r>
            <a:r>
              <a:rPr lang="en-US" altLang="zh-CN" sz="2502" b="1" dirty="0">
                <a:solidFill>
                  <a:srgbClr val="FF7B80"/>
                </a:solidFill>
                <a:latin typeface="Courier New" pitchFamily="18" charset="0"/>
                <a:cs typeface="Courier New" pitchFamily="18" charset="0"/>
              </a:rPr>
              <a:t>0x05</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190500" algn="l"/>
                <a:tab pos="1244600" algn="l"/>
              </a:tabLst>
            </a:pPr>
            <a:r>
              <a:rPr lang="en-US" altLang="zh-CN" dirty="0"/>
              <a:t>	</a:t>
            </a: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a:p>
            <a:pPr>
              <a:lnSpc>
                <a:spcPts val="1700"/>
              </a:lnSpc>
              <a:tabLst>
                <a:tab pos="190500" algn="l"/>
                <a:tab pos="1244600" algn="l"/>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5" name="TextBox 1"/>
          <p:cNvSpPr txBox="1"/>
          <p:nvPr/>
        </p:nvSpPr>
        <p:spPr>
          <a:xfrm>
            <a:off x="4394200" y="3009900"/>
            <a:ext cx="431800" cy="622300"/>
          </a:xfrm>
          <a:prstGeom prst="rect">
            <a:avLst/>
          </a:prstGeom>
          <a:noFill/>
        </p:spPr>
        <p:txBody>
          <a:bodyPr wrap="none" lIns="0" tIns="0" rIns="0" rtlCol="0">
            <a:spAutoFit/>
          </a:bodyPr>
          <a:lstStyle/>
          <a:p>
            <a:pPr>
              <a:lnSpc>
                <a:spcPts val="1900"/>
              </a:lnSpc>
              <a:tabLst>
                <a:tab pos="114300" algn="l"/>
              </a:tabLst>
            </a:pPr>
            <a:r>
              <a:rPr lang="en-US" altLang="zh-CN" dirty="0"/>
              <a:t>	</a:t>
            </a:r>
            <a:r>
              <a:rPr lang="en-US" altLang="zh-CN" sz="1397" b="1" dirty="0">
                <a:solidFill>
                  <a:srgbClr val="000000"/>
                </a:solidFill>
                <a:latin typeface="Times New Roman" pitchFamily="18" charset="0"/>
                <a:cs typeface="Times New Roman" pitchFamily="18" charset="0"/>
              </a:rPr>
              <a:t>T0</a:t>
            </a:r>
          </a:p>
          <a:p>
            <a:pPr>
              <a:lnSpc>
                <a:spcPts val="1000"/>
              </a:lnSpc>
            </a:pPr>
            <a:endParaRPr lang="en-US" altLang="zh-CN" dirty="0"/>
          </a:p>
          <a:p>
            <a:pPr>
              <a:lnSpc>
                <a:spcPts val="1900"/>
              </a:lnSpc>
              <a:tabLst>
                <a:tab pos="114300" algn="l"/>
              </a:tabLst>
            </a:pPr>
            <a:r>
              <a:rPr lang="en-US" altLang="zh-CN" sz="1397" b="1" dirty="0">
                <a:solidFill>
                  <a:srgbClr val="000000"/>
                </a:solidFill>
                <a:latin typeface="Arial Narrow" pitchFamily="18" charset="0"/>
                <a:cs typeface="Arial Narrow" pitchFamily="18" charset="0"/>
              </a:rPr>
              <a:t>Busca</a:t>
            </a:r>
          </a:p>
        </p:txBody>
      </p:sp>
      <p:sp>
        <p:nvSpPr>
          <p:cNvPr id="6"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7"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8"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9"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0"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1"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2"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13"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6"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14" name="Imagen 13" descr="Imagen que contiene Calendario&#10;&#10;El contenido generado por IA puede ser incorrecto.">
            <a:extLst>
              <a:ext uri="{FF2B5EF4-FFF2-40B4-BE49-F238E27FC236}">
                <a16:creationId xmlns:a16="http://schemas.microsoft.com/office/drawing/2014/main" id="{0C8F6627-2280-B2F0-CF05-840C782BCD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REG1</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022600" cy="889000"/>
          </a:xfrm>
          <a:prstGeom prst="rect">
            <a:avLst/>
          </a:prstGeom>
          <a:noFill/>
        </p:spPr>
        <p:txBody>
          <a:bodyPr wrap="none" lIns="0" tIns="0" rIns="0" rtlCol="0">
            <a:spAutoFit/>
          </a:bodyPr>
          <a:lstStyle/>
          <a:p>
            <a:pPr>
              <a:lnSpc>
                <a:spcPts val="1900"/>
              </a:lnSpc>
              <a:tabLst>
                <a:tab pos="1130300" algn="l"/>
              </a:tabLst>
            </a:pPr>
            <a:r>
              <a:rPr lang="en-US" altLang="zh-CN" dirty="0"/>
              <a:t>	</a:t>
            </a:r>
            <a:r>
              <a:rPr lang="en-US" altLang="zh-CN" sz="2502" b="1" dirty="0">
                <a:solidFill>
                  <a:srgbClr val="FFFF9A"/>
                </a:solidFill>
                <a:latin typeface="Courier New" pitchFamily="18" charset="0"/>
                <a:cs typeface="Courier New" pitchFamily="18" charset="0"/>
              </a:rPr>
              <a:t>movlw</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0x05</a:t>
            </a:r>
          </a:p>
          <a:p>
            <a:pPr>
              <a:lnSpc>
                <a:spcPts val="1000"/>
              </a:lnSpc>
            </a:pPr>
            <a:endParaRPr lang="en-US" altLang="zh-CN" dirty="0"/>
          </a:p>
          <a:p>
            <a:pPr>
              <a:lnSpc>
                <a:spcPts val="1000"/>
              </a:lnSpc>
            </a:pPr>
            <a:endParaRPr lang="en-US" altLang="zh-CN" dirty="0"/>
          </a:p>
          <a:p>
            <a:pPr>
              <a:lnSpc>
                <a:spcPts val="3100"/>
              </a:lnSpc>
              <a:tabLst>
                <a:tab pos="1130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1"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2" name="TextBox 1"/>
          <p:cNvSpPr txBox="1"/>
          <p:nvPr/>
        </p:nvSpPr>
        <p:spPr>
          <a:xfrm>
            <a:off x="5016500" y="37465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13"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6"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7"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18"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0"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19" name="Imagen 18" descr="Imagen que contiene Calendario&#10;&#10;El contenido generado por IA puede ser incorrecto.">
            <a:extLst>
              <a:ext uri="{FF2B5EF4-FFF2-40B4-BE49-F238E27FC236}">
                <a16:creationId xmlns:a16="http://schemas.microsoft.com/office/drawing/2014/main" id="{2ECDAC77-6AF6-634F-9AE9-F7E16CD281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438400" y="1689100"/>
            <a:ext cx="17018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SUB1</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022600" cy="889000"/>
          </a:xfrm>
          <a:prstGeom prst="rect">
            <a:avLst/>
          </a:prstGeom>
          <a:noFill/>
        </p:spPr>
        <p:txBody>
          <a:bodyPr wrap="none" lIns="0" tIns="0" rIns="0" rtlCol="0">
            <a:spAutoFit/>
          </a:bodyPr>
          <a:lstStyle/>
          <a:p>
            <a:pPr>
              <a:lnSpc>
                <a:spcPts val="1900"/>
              </a:lnSpc>
              <a:tabLst>
                <a:tab pos="1130300" algn="l"/>
              </a:tabLst>
            </a:pPr>
            <a:r>
              <a:rPr lang="en-US" altLang="zh-CN" dirty="0"/>
              <a:t>	</a:t>
            </a:r>
            <a:r>
              <a:rPr lang="en-US" altLang="zh-CN" sz="2502" b="1" dirty="0">
                <a:solidFill>
                  <a:srgbClr val="FFFF9A"/>
                </a:solidFill>
                <a:latin typeface="Courier New" pitchFamily="18" charset="0"/>
                <a:cs typeface="Courier New" pitchFamily="18" charset="0"/>
              </a:rPr>
              <a:t>movwf</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REG1</a:t>
            </a:r>
          </a:p>
          <a:p>
            <a:pPr>
              <a:lnSpc>
                <a:spcPts val="1000"/>
              </a:lnSpc>
            </a:pPr>
            <a:endParaRPr lang="en-US" altLang="zh-CN" dirty="0"/>
          </a:p>
          <a:p>
            <a:pPr>
              <a:lnSpc>
                <a:spcPts val="1000"/>
              </a:lnSpc>
            </a:pPr>
            <a:endParaRPr lang="en-US" altLang="zh-CN" dirty="0"/>
          </a:p>
          <a:p>
            <a:pPr>
              <a:lnSpc>
                <a:spcPts val="3100"/>
              </a:lnSpc>
              <a:tabLst>
                <a:tab pos="1130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248400" y="3416300"/>
            <a:ext cx="31623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ejecución</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normal</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una</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instrucción</a:t>
            </a:r>
          </a:p>
        </p:txBody>
      </p:sp>
      <p:sp>
        <p:nvSpPr>
          <p:cNvPr id="12"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3"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4" name="TextBox 1"/>
          <p:cNvSpPr txBox="1"/>
          <p:nvPr/>
        </p:nvSpPr>
        <p:spPr>
          <a:xfrm>
            <a:off x="5016500" y="3759200"/>
            <a:ext cx="10922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5"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8"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9"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21" name="Imagen 20" descr="Imagen que contiene Calendario&#10;&#10;El contenido generado por IA puede ser incorrecto.">
            <a:extLst>
              <a:ext uri="{FF2B5EF4-FFF2-40B4-BE49-F238E27FC236}">
                <a16:creationId xmlns:a16="http://schemas.microsoft.com/office/drawing/2014/main" id="{4A45BAF7-DCE0-DB4E-5826-38AFE6248A6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addwf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REG2</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30800" y="1714500"/>
            <a:ext cx="2959100" cy="889000"/>
          </a:xfrm>
          <a:prstGeom prst="rect">
            <a:avLst/>
          </a:prstGeom>
          <a:noFill/>
        </p:spPr>
        <p:txBody>
          <a:bodyPr wrap="none" lIns="0" tIns="0" rIns="0" rtlCol="0">
            <a:spAutoFit/>
          </a:bodyPr>
          <a:lstStyle/>
          <a:p>
            <a:pPr>
              <a:lnSpc>
                <a:spcPts val="1900"/>
              </a:lnSpc>
              <a:tabLst>
                <a:tab pos="1257300" algn="l"/>
              </a:tabLst>
            </a:pPr>
            <a:r>
              <a:rPr lang="en-US" altLang="zh-CN" dirty="0"/>
              <a:t>	</a:t>
            </a:r>
            <a:r>
              <a:rPr lang="en-US" altLang="zh-CN" sz="2502" b="1" dirty="0">
                <a:solidFill>
                  <a:srgbClr val="FFFF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SUB1</a:t>
            </a:r>
          </a:p>
          <a:p>
            <a:pPr>
              <a:lnSpc>
                <a:spcPts val="1000"/>
              </a:lnSpc>
            </a:pPr>
            <a:endParaRPr lang="en-US" altLang="zh-CN" dirty="0"/>
          </a:p>
          <a:p>
            <a:pPr>
              <a:lnSpc>
                <a:spcPts val="1000"/>
              </a:lnSpc>
            </a:pPr>
            <a:endParaRPr lang="en-US" altLang="zh-CN" dirty="0"/>
          </a:p>
          <a:p>
            <a:pPr>
              <a:lnSpc>
                <a:spcPts val="3100"/>
              </a:lnSpc>
              <a:tabLst>
                <a:tab pos="1257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3"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4" name="TextBox 1"/>
          <p:cNvSpPr txBox="1"/>
          <p:nvPr/>
        </p:nvSpPr>
        <p:spPr>
          <a:xfrm>
            <a:off x="5016500" y="3771900"/>
            <a:ext cx="17145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5"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1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18"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19"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21" name="Imagen 20" descr="Imagen que contiene Calendario&#10;&#10;El contenido generado por IA puede ser incorrecto.">
            <a:extLst>
              <a:ext uri="{FF2B5EF4-FFF2-40B4-BE49-F238E27FC236}">
                <a16:creationId xmlns:a16="http://schemas.microsoft.com/office/drawing/2014/main" id="{1C894657-DEF4-3548-9E7A-65615AF499C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159000" y="1689100"/>
            <a:ext cx="2273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PORTB,w</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921000" cy="889000"/>
          </a:xfrm>
          <a:prstGeom prst="rect">
            <a:avLst/>
          </a:prstGeom>
          <a:noFill/>
        </p:spPr>
        <p:txBody>
          <a:bodyPr wrap="none" lIns="0" tIns="0" rIns="0" rtlCol="0">
            <a:spAutoFit/>
          </a:bodyPr>
          <a:lstStyle/>
          <a:p>
            <a:pPr>
              <a:lnSpc>
                <a:spcPts val="1900"/>
              </a:lnSpc>
              <a:tabLst>
                <a:tab pos="1219200" algn="l"/>
              </a:tabLst>
            </a:pPr>
            <a:r>
              <a:rPr lang="en-US" altLang="zh-CN" dirty="0"/>
              <a:t>	</a:t>
            </a:r>
            <a:r>
              <a:rPr lang="en-US" altLang="zh-CN" sz="2502" b="1" dirty="0">
                <a:solidFill>
                  <a:srgbClr val="FFFF9A"/>
                </a:solidFill>
                <a:latin typeface="Courier New" pitchFamily="18" charset="0"/>
                <a:cs typeface="Courier New" pitchFamily="18" charset="0"/>
              </a:rPr>
              <a:t>call</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SUB1</a:t>
            </a:r>
          </a:p>
          <a:p>
            <a:pPr>
              <a:lnSpc>
                <a:spcPts val="1000"/>
              </a:lnSpc>
            </a:pPr>
            <a:endParaRPr lang="en-US" altLang="zh-CN" dirty="0"/>
          </a:p>
          <a:p>
            <a:pPr>
              <a:lnSpc>
                <a:spcPts val="1000"/>
              </a:lnSpc>
            </a:pPr>
            <a:endParaRPr lang="en-US" altLang="zh-CN" dirty="0"/>
          </a:p>
          <a:p>
            <a:pPr>
              <a:lnSpc>
                <a:spcPts val="3100"/>
              </a:lnSpc>
              <a:tabLst>
                <a:tab pos="12192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2171700" y="3784600"/>
            <a:ext cx="14605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4" name="TextBox 1"/>
          <p:cNvSpPr txBox="1"/>
          <p:nvPr/>
        </p:nvSpPr>
        <p:spPr>
          <a:xfrm>
            <a:off x="1104900" y="3784600"/>
            <a:ext cx="127000" cy="8509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4</a:t>
            </a:r>
          </a:p>
        </p:txBody>
      </p:sp>
      <p:sp>
        <p:nvSpPr>
          <p:cNvPr id="15" name="TextBox 1"/>
          <p:cNvSpPr txBox="1"/>
          <p:nvPr/>
        </p:nvSpPr>
        <p:spPr>
          <a:xfrm>
            <a:off x="6896100" y="4419600"/>
            <a:ext cx="4191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Nivela</a:t>
            </a:r>
          </a:p>
        </p:txBody>
      </p:sp>
      <p:sp>
        <p:nvSpPr>
          <p:cNvPr id="16" name="TextBox 1"/>
          <p:cNvSpPr txBox="1"/>
          <p:nvPr/>
        </p:nvSpPr>
        <p:spPr>
          <a:xfrm>
            <a:off x="5016500" y="3771900"/>
            <a:ext cx="1714500" cy="863600"/>
          </a:xfrm>
          <a:prstGeom prst="rect">
            <a:avLst/>
          </a:prstGeom>
          <a:noFill/>
        </p:spPr>
        <p:txBody>
          <a:bodyPr wrap="none" lIns="0" tIns="0" rIns="0" rtlCol="0">
            <a:spAutoFit/>
          </a:bodyPr>
          <a:lstStyle/>
          <a:p>
            <a:pPr>
              <a:lnSpc>
                <a:spcPts val="1600"/>
              </a:lnSpc>
              <a:tabLst>
                <a:tab pos="622300" algn="l"/>
                <a:tab pos="12446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 pos="1244600" algn="l"/>
              </a:tabLst>
            </a:pPr>
            <a:r>
              <a:rPr lang="en-US" altLang="zh-CN" dirty="0"/>
              <a:t>		</a:t>
            </a:r>
            <a:r>
              <a:rPr lang="en-US" altLang="zh-CN" sz="1397" b="1" dirty="0">
                <a:solidFill>
                  <a:srgbClr val="000000"/>
                </a:solidFill>
                <a:latin typeface="Arial Narrow" pitchFamily="18" charset="0"/>
                <a:cs typeface="Arial Narrow" pitchFamily="18" charset="0"/>
              </a:rPr>
              <a:t>Busca</a:t>
            </a:r>
          </a:p>
        </p:txBody>
      </p:sp>
      <p:sp>
        <p:nvSpPr>
          <p:cNvPr id="17" name="TextBox 1"/>
          <p:cNvSpPr txBox="1"/>
          <p:nvPr/>
        </p:nvSpPr>
        <p:spPr>
          <a:xfrm>
            <a:off x="7505700" y="3759200"/>
            <a:ext cx="1371600" cy="520700"/>
          </a:xfrm>
          <a:prstGeom prst="rect">
            <a:avLst/>
          </a:prstGeom>
          <a:noFill/>
        </p:spPr>
        <p:txBody>
          <a:bodyPr wrap="none" lIns="0" tIns="0" rIns="0" rtlCol="0">
            <a:spAutoFit/>
          </a:bodyPr>
          <a:lstStyle/>
          <a:p>
            <a:pPr>
              <a:lnSpc>
                <a:spcPts val="1500"/>
              </a:lnSpc>
              <a:tabLst/>
            </a:pPr>
            <a:r>
              <a:rPr lang="en-US" altLang="zh-CN" sz="1097" b="1" dirty="0">
                <a:solidFill>
                  <a:srgbClr val="000065"/>
                </a:solidFill>
                <a:latin typeface="Times New Roman" pitchFamily="18" charset="0"/>
                <a:cs typeface="Times New Roman" pitchFamily="18" charset="0"/>
              </a:rPr>
              <a:t>Tiempo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ejecución</a:t>
            </a:r>
          </a:p>
          <a:p>
            <a:pPr>
              <a:lnSpc>
                <a:spcPts val="1300"/>
              </a:lnSpc>
              <a:tabLst/>
            </a:pPr>
            <a:r>
              <a:rPr lang="en-US" altLang="zh-CN" sz="1097" b="1" dirty="0">
                <a:solidFill>
                  <a:srgbClr val="000065"/>
                </a:solidFill>
                <a:latin typeface="Times New Roman" pitchFamily="18" charset="0"/>
                <a:cs typeface="Times New Roman" pitchFamily="18" charset="0"/>
              </a:rPr>
              <a:t>del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call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includo</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el</a:t>
            </a:r>
          </a:p>
          <a:p>
            <a:pPr>
              <a:lnSpc>
                <a:spcPts val="1300"/>
              </a:lnSpc>
              <a:tabLst/>
            </a:pPr>
            <a:r>
              <a:rPr lang="en-US" altLang="zh-CN" sz="1097" b="1" dirty="0">
                <a:solidFill>
                  <a:srgbClr val="000065"/>
                </a:solidFill>
                <a:latin typeface="Times New Roman" pitchFamily="18" charset="0"/>
                <a:cs typeface="Times New Roman" pitchFamily="18" charset="0"/>
              </a:rPr>
              <a:t>flush</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del</a:t>
            </a:r>
            <a:r>
              <a:rPr lang="en-US" altLang="zh-CN" sz="1097" dirty="0">
                <a:latin typeface="Times New Roman" pitchFamily="18" charset="0"/>
                <a:cs typeface="Times New Roman" pitchFamily="18" charset="0"/>
              </a:rPr>
              <a:t> </a:t>
            </a:r>
            <a:r>
              <a:rPr lang="en-US" altLang="zh-CN" sz="1097" b="1" dirty="0">
                <a:solidFill>
                  <a:srgbClr val="000065"/>
                </a:solidFill>
                <a:latin typeface="Times New Roman" pitchFamily="18" charset="0"/>
                <a:cs typeface="Times New Roman" pitchFamily="18" charset="0"/>
              </a:rPr>
              <a:t>pipeline</a:t>
            </a:r>
          </a:p>
        </p:txBody>
      </p:sp>
      <p:sp>
        <p:nvSpPr>
          <p:cNvPr id="18"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19" name="TextBox 1"/>
          <p:cNvSpPr txBox="1"/>
          <p:nvPr/>
        </p:nvSpPr>
        <p:spPr>
          <a:xfrm>
            <a:off x="6908800" y="5295900"/>
            <a:ext cx="360612" cy="251351"/>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Traer</a:t>
            </a:r>
          </a:p>
        </p:txBody>
      </p:sp>
      <p:sp>
        <p:nvSpPr>
          <p:cNvPr id="20"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1"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2"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3"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4"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6"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25" name="Imagen 24" descr="Imagen que contiene Calendario&#10;&#10;El contenido generado por IA puede ser incorrecto.">
            <a:extLst>
              <a:ext uri="{FF2B5EF4-FFF2-40B4-BE49-F238E27FC236}">
                <a16:creationId xmlns:a16="http://schemas.microsoft.com/office/drawing/2014/main" id="{D9931ECF-6259-334B-FFDF-725F4C905B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730500" y="1689100"/>
            <a:ext cx="1130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return</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3213100" cy="889000"/>
          </a:xfrm>
          <a:prstGeom prst="rect">
            <a:avLst/>
          </a:prstGeom>
          <a:noFill/>
        </p:spPr>
        <p:txBody>
          <a:bodyPr wrap="none" lIns="0" tIns="0" rIns="0" rtlCol="0">
            <a:spAutoFit/>
          </a:bodyPr>
          <a:lstStyle/>
          <a:p>
            <a:pPr>
              <a:lnSpc>
                <a:spcPts val="1900"/>
              </a:lnSpc>
              <a:tabLst>
                <a:tab pos="939800" algn="l"/>
              </a:tabLst>
            </a:pPr>
            <a:r>
              <a:rPr lang="en-US" altLang="zh-CN" dirty="0"/>
              <a:t>	</a:t>
            </a:r>
            <a:r>
              <a:rPr lang="en-US" altLang="zh-CN" sz="2502" b="1" dirty="0">
                <a:solidFill>
                  <a:srgbClr val="FFFF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FF9A"/>
                </a:solidFill>
                <a:latin typeface="Courier New" pitchFamily="18" charset="0"/>
                <a:cs typeface="Courier New" pitchFamily="18" charset="0"/>
              </a:rPr>
              <a:t>PORTB,w</a:t>
            </a:r>
          </a:p>
          <a:p>
            <a:pPr>
              <a:lnSpc>
                <a:spcPts val="1000"/>
              </a:lnSpc>
            </a:pPr>
            <a:endParaRPr lang="en-US" altLang="zh-CN" dirty="0"/>
          </a:p>
          <a:p>
            <a:pPr>
              <a:lnSpc>
                <a:spcPts val="1000"/>
              </a:lnSpc>
            </a:pPr>
            <a:endParaRPr lang="en-US" altLang="zh-CN" dirty="0"/>
          </a:p>
          <a:p>
            <a:pPr>
              <a:lnSpc>
                <a:spcPts val="3100"/>
              </a:lnSpc>
              <a:tabLst>
                <a:tab pos="9398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5"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6"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7"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18"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19"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0"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1"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2"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3"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4"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5"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6"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7" name="TextBox 1"/>
          <p:cNvSpPr txBox="1"/>
          <p:nvPr/>
        </p:nvSpPr>
        <p:spPr>
          <a:xfrm>
            <a:off x="7518400" y="56261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8"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30"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29" name="Imagen 28" descr="Imagen que contiene Calendario&#10;&#10;El contenido generado por IA puede ser incorrecto.">
            <a:extLst>
              <a:ext uri="{FF2B5EF4-FFF2-40B4-BE49-F238E27FC236}">
                <a16:creationId xmlns:a16="http://schemas.microsoft.com/office/drawing/2014/main" id="{17008EB1-3048-86F2-2D93-F009E2447CD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159000" y="1689100"/>
            <a:ext cx="2273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movf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PORTC,w</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511300" algn="l"/>
              </a:tabLst>
            </a:pPr>
            <a:r>
              <a:rPr lang="en-US" altLang="zh-CN" dirty="0"/>
              <a:t>	</a:t>
            </a:r>
            <a:r>
              <a:rPr lang="en-US" altLang="zh-CN" sz="2502" b="1" dirty="0">
                <a:solidFill>
                  <a:srgbClr val="FFFF9A"/>
                </a:solidFill>
                <a:latin typeface="Courier New" pitchFamily="18" charset="0"/>
                <a:cs typeface="Courier New" pitchFamily="18" charset="0"/>
              </a:rPr>
              <a:t>return</a:t>
            </a:r>
          </a:p>
          <a:p>
            <a:pPr>
              <a:lnSpc>
                <a:spcPts val="1000"/>
              </a:lnSpc>
            </a:pPr>
            <a:endParaRPr lang="en-US" altLang="zh-CN" dirty="0"/>
          </a:p>
          <a:p>
            <a:pPr>
              <a:lnSpc>
                <a:spcPts val="1000"/>
              </a:lnSpc>
            </a:pPr>
            <a:endParaRPr lang="en-US" altLang="zh-CN" dirty="0"/>
          </a:p>
          <a:p>
            <a:pPr>
              <a:lnSpc>
                <a:spcPts val="3100"/>
              </a:lnSpc>
              <a:tabLst>
                <a:tab pos="1511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5"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6"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7"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8"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19"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0"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1"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2"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3"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4"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5"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6" name="TextBox 1"/>
          <p:cNvSpPr txBox="1"/>
          <p:nvPr/>
        </p:nvSpPr>
        <p:spPr>
          <a:xfrm>
            <a:off x="965200" y="59817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p:txBody>
      </p:sp>
      <p:sp>
        <p:nvSpPr>
          <p:cNvPr id="27" name="TextBox 1"/>
          <p:cNvSpPr txBox="1"/>
          <p:nvPr/>
        </p:nvSpPr>
        <p:spPr>
          <a:xfrm>
            <a:off x="965200" y="63246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54</a:t>
            </a:r>
          </a:p>
        </p:txBody>
      </p:sp>
      <p:sp>
        <p:nvSpPr>
          <p:cNvPr id="28"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9"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30" name="TextBox 1"/>
          <p:cNvSpPr txBox="1"/>
          <p:nvPr/>
        </p:nvSpPr>
        <p:spPr>
          <a:xfrm>
            <a:off x="2171700" y="63246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32"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31" name="Imagen 30" descr="Imagen que contiene Calendario&#10;&#10;El contenido generado por IA puede ser incorrecto.">
            <a:extLst>
              <a:ext uri="{FF2B5EF4-FFF2-40B4-BE49-F238E27FC236}">
                <a16:creationId xmlns:a16="http://schemas.microsoft.com/office/drawing/2014/main" id="{5225C526-DD6C-22AA-C194-DBF040A99F7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349500" y="1689100"/>
            <a:ext cx="1892300" cy="241300"/>
          </a:xfrm>
          <a:prstGeom prst="rect">
            <a:avLst/>
          </a:prstGeom>
          <a:noFill/>
        </p:spPr>
        <p:txBody>
          <a:bodyPr wrap="none" lIns="0" tIns="0" rIns="0" rtlCol="0">
            <a:spAutoFit/>
          </a:bodyPr>
          <a:lstStyle/>
          <a:p>
            <a:pPr>
              <a:lnSpc>
                <a:spcPts val="1900"/>
              </a:lnSpc>
              <a:tabLst/>
            </a:pPr>
            <a:r>
              <a:rPr lang="en-US" altLang="zh-CN" sz="2502" b="1" dirty="0">
                <a:solidFill>
                  <a:srgbClr val="FF9A9A"/>
                </a:solidFill>
                <a:latin typeface="Courier New" pitchFamily="18" charset="0"/>
                <a:cs typeface="Courier New" pitchFamily="18" charset="0"/>
              </a:rPr>
              <a:t>addwf</a:t>
            </a:r>
            <a:r>
              <a:rPr lang="en-US" altLang="zh-CN" sz="2502" dirty="0">
                <a:latin typeface="Times New Roman" pitchFamily="18" charset="0"/>
                <a:cs typeface="Times New Roman" pitchFamily="18" charset="0"/>
              </a:rPr>
              <a:t>  </a:t>
            </a:r>
            <a:r>
              <a:rPr lang="en-US" altLang="zh-CN" sz="2502" b="1" dirty="0">
                <a:solidFill>
                  <a:srgbClr val="FF9A9A"/>
                </a:solidFill>
                <a:latin typeface="Courier New" pitchFamily="18" charset="0"/>
                <a:cs typeface="Courier New" pitchFamily="18" charset="0"/>
              </a:rPr>
              <a:t>REG2</a:t>
            </a:r>
          </a:p>
        </p:txBody>
      </p:sp>
      <p:sp>
        <p:nvSpPr>
          <p:cNvPr id="3" name="TextBox 1"/>
          <p:cNvSpPr txBox="1"/>
          <p:nvPr/>
        </p:nvSpPr>
        <p:spPr>
          <a:xfrm>
            <a:off x="2413000" y="1219200"/>
            <a:ext cx="5753100" cy="317500"/>
          </a:xfrm>
          <a:prstGeom prst="rect">
            <a:avLst/>
          </a:prstGeom>
          <a:noFill/>
        </p:spPr>
        <p:txBody>
          <a:bodyPr wrap="none" lIns="0" tIns="0" rIns="0" rtlCol="0">
            <a:spAutoFit/>
          </a:bodyPr>
          <a:lstStyle/>
          <a:p>
            <a:pPr>
              <a:lnSpc>
                <a:spcPts val="2500"/>
              </a:lnSpc>
              <a:tabLst/>
            </a:pPr>
            <a:r>
              <a:rPr lang="en-US" altLang="zh-CN" sz="1602" b="1" dirty="0">
                <a:solidFill>
                  <a:srgbClr val="000000"/>
                </a:solidFill>
                <a:latin typeface="Times New Roman" pitchFamily="18" charset="0"/>
                <a:cs typeface="Times New Roman" pitchFamily="18" charset="0"/>
              </a:rPr>
              <a:t>Búsca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Instruccion</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Ejecuta</a:t>
            </a:r>
            <a:r>
              <a:rPr lang="en-US" altLang="zh-CN" sz="1602" dirty="0">
                <a:latin typeface="Times New Roman" pitchFamily="18" charset="0"/>
                <a:cs typeface="Times New Roman" pitchFamily="18" charset="0"/>
              </a:rPr>
              <a:t> </a:t>
            </a:r>
            <a:r>
              <a:rPr lang="en-US" altLang="zh-CN" sz="1602" b="1" dirty="0">
                <a:solidFill>
                  <a:srgbClr val="000000"/>
                </a:solidFill>
                <a:latin typeface="Times New Roman" pitchFamily="18" charset="0"/>
                <a:cs typeface="Times New Roman" pitchFamily="18" charset="0"/>
              </a:rPr>
              <a:t>Instrucción</a:t>
            </a:r>
          </a:p>
        </p:txBody>
      </p:sp>
      <p:sp>
        <p:nvSpPr>
          <p:cNvPr id="4" name="TextBox 1"/>
          <p:cNvSpPr txBox="1"/>
          <p:nvPr/>
        </p:nvSpPr>
        <p:spPr>
          <a:xfrm>
            <a:off x="5168900" y="1714500"/>
            <a:ext cx="2819400" cy="889000"/>
          </a:xfrm>
          <a:prstGeom prst="rect">
            <a:avLst/>
          </a:prstGeom>
          <a:noFill/>
        </p:spPr>
        <p:txBody>
          <a:bodyPr wrap="none" lIns="0" tIns="0" rIns="0" rtlCol="0">
            <a:spAutoFit/>
          </a:bodyPr>
          <a:lstStyle/>
          <a:p>
            <a:pPr>
              <a:lnSpc>
                <a:spcPts val="1900"/>
              </a:lnSpc>
              <a:tabLst>
                <a:tab pos="1511300" algn="l"/>
              </a:tabLst>
            </a:pPr>
            <a:r>
              <a:rPr lang="en-US" altLang="zh-CN" dirty="0"/>
              <a:t>	</a:t>
            </a:r>
            <a:r>
              <a:rPr lang="en-US" altLang="zh-CN" sz="2502" b="1" dirty="0">
                <a:solidFill>
                  <a:srgbClr val="FFFF9A"/>
                </a:solidFill>
                <a:latin typeface="Courier New" pitchFamily="18" charset="0"/>
                <a:cs typeface="Courier New" pitchFamily="18" charset="0"/>
              </a:rPr>
              <a:t>return</a:t>
            </a:r>
          </a:p>
          <a:p>
            <a:pPr>
              <a:lnSpc>
                <a:spcPts val="1000"/>
              </a:lnSpc>
            </a:pPr>
            <a:endParaRPr lang="en-US" altLang="zh-CN" dirty="0"/>
          </a:p>
          <a:p>
            <a:pPr>
              <a:lnSpc>
                <a:spcPts val="1000"/>
              </a:lnSpc>
            </a:pPr>
            <a:endParaRPr lang="en-US" altLang="zh-CN" dirty="0"/>
          </a:p>
          <a:p>
            <a:pPr>
              <a:lnSpc>
                <a:spcPts val="3100"/>
              </a:lnSpc>
              <a:tabLst>
                <a:tab pos="1511300" algn="l"/>
              </a:tabLst>
            </a:pPr>
            <a:r>
              <a:rPr lang="en-US" altLang="zh-CN" sz="2202" b="1" dirty="0">
                <a:solidFill>
                  <a:srgbClr val="000000"/>
                </a:solidFill>
                <a:latin typeface="Times New Roman" pitchFamily="18" charset="0"/>
                <a:cs typeface="Times New Roman" pitchFamily="18" charset="0"/>
              </a:rPr>
              <a:t>Ciclos</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de</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Instrucción</a:t>
            </a:r>
          </a:p>
        </p:txBody>
      </p:sp>
      <p:sp>
        <p:nvSpPr>
          <p:cNvPr id="5" name="TextBox 1"/>
          <p:cNvSpPr txBox="1"/>
          <p:nvPr/>
        </p:nvSpPr>
        <p:spPr>
          <a:xfrm>
            <a:off x="1104900" y="3429000"/>
            <a:ext cx="25273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MAIN</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movlw</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0x05</a:t>
            </a:r>
          </a:p>
        </p:txBody>
      </p:sp>
      <p:sp>
        <p:nvSpPr>
          <p:cNvPr id="6" name="TextBox 1"/>
          <p:cNvSpPr txBox="1"/>
          <p:nvPr/>
        </p:nvSpPr>
        <p:spPr>
          <a:xfrm>
            <a:off x="1295400" y="3009900"/>
            <a:ext cx="2463800" cy="381000"/>
          </a:xfrm>
          <a:prstGeom prst="rect">
            <a:avLst/>
          </a:prstGeom>
          <a:noFill/>
        </p:spPr>
        <p:txBody>
          <a:bodyPr wrap="none" lIns="0" tIns="0" rIns="0" rtlCol="0">
            <a:spAutoFit/>
          </a:bodyPr>
          <a:lstStyle/>
          <a:p>
            <a:pPr>
              <a:lnSpc>
                <a:spcPts val="3000"/>
              </a:lnSpc>
              <a:tabLst/>
            </a:pPr>
            <a:r>
              <a:rPr lang="en-US" altLang="zh-CN" sz="2202" b="1" dirty="0">
                <a:solidFill>
                  <a:srgbClr val="000000"/>
                </a:solidFill>
                <a:latin typeface="Times New Roman" pitchFamily="18" charset="0"/>
                <a:cs typeface="Times New Roman" pitchFamily="18" charset="0"/>
              </a:rPr>
              <a:t>Programa</a:t>
            </a:r>
            <a:r>
              <a:rPr lang="en-US" altLang="zh-CN" sz="2202" dirty="0">
                <a:latin typeface="Times New Roman" pitchFamily="18" charset="0"/>
                <a:cs typeface="Times New Roman" pitchFamily="18" charset="0"/>
              </a:rPr>
              <a:t> </a:t>
            </a:r>
            <a:r>
              <a:rPr lang="en-US" altLang="zh-CN" sz="2202" b="1" dirty="0">
                <a:solidFill>
                  <a:srgbClr val="000000"/>
                </a:solidFill>
                <a:latin typeface="Times New Roman" pitchFamily="18" charset="0"/>
                <a:cs typeface="Times New Roman" pitchFamily="18" charset="0"/>
              </a:rPr>
              <a:t>Ejemplo</a:t>
            </a:r>
          </a:p>
        </p:txBody>
      </p:sp>
      <p:sp>
        <p:nvSpPr>
          <p:cNvPr id="7" name="TextBox 1"/>
          <p:cNvSpPr txBox="1"/>
          <p:nvPr/>
        </p:nvSpPr>
        <p:spPr>
          <a:xfrm>
            <a:off x="4394200" y="34163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8" name="TextBox 1"/>
          <p:cNvSpPr txBox="1"/>
          <p:nvPr/>
        </p:nvSpPr>
        <p:spPr>
          <a:xfrm>
            <a:off x="45085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T0</a:t>
            </a:r>
          </a:p>
        </p:txBody>
      </p:sp>
      <p:sp>
        <p:nvSpPr>
          <p:cNvPr id="9" name="TextBox 1"/>
          <p:cNvSpPr txBox="1"/>
          <p:nvPr/>
        </p:nvSpPr>
        <p:spPr>
          <a:xfrm>
            <a:off x="51308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T1</a:t>
            </a:r>
          </a:p>
        </p:txBody>
      </p:sp>
      <p:sp>
        <p:nvSpPr>
          <p:cNvPr id="10" name="TextBox 1"/>
          <p:cNvSpPr txBox="1"/>
          <p:nvPr/>
        </p:nvSpPr>
        <p:spPr>
          <a:xfrm>
            <a:off x="57531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T2</a:t>
            </a:r>
          </a:p>
        </p:txBody>
      </p:sp>
      <p:sp>
        <p:nvSpPr>
          <p:cNvPr id="11" name="TextBox 1"/>
          <p:cNvSpPr txBox="1"/>
          <p:nvPr/>
        </p:nvSpPr>
        <p:spPr>
          <a:xfrm>
            <a:off x="63754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T3</a:t>
            </a:r>
          </a:p>
        </p:txBody>
      </p:sp>
      <p:sp>
        <p:nvSpPr>
          <p:cNvPr id="12" name="TextBox 1"/>
          <p:cNvSpPr txBox="1"/>
          <p:nvPr/>
        </p:nvSpPr>
        <p:spPr>
          <a:xfrm>
            <a:off x="6997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T4</a:t>
            </a:r>
          </a:p>
        </p:txBody>
      </p:sp>
      <p:sp>
        <p:nvSpPr>
          <p:cNvPr id="13" name="TextBox 1"/>
          <p:cNvSpPr txBox="1"/>
          <p:nvPr/>
        </p:nvSpPr>
        <p:spPr>
          <a:xfrm>
            <a:off x="76327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T5</a:t>
            </a:r>
          </a:p>
        </p:txBody>
      </p:sp>
      <p:sp>
        <p:nvSpPr>
          <p:cNvPr id="14" name="TextBox 1"/>
          <p:cNvSpPr txBox="1"/>
          <p:nvPr/>
        </p:nvSpPr>
        <p:spPr>
          <a:xfrm>
            <a:off x="82550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T6</a:t>
            </a:r>
          </a:p>
        </p:txBody>
      </p:sp>
      <p:sp>
        <p:nvSpPr>
          <p:cNvPr id="15" name="TextBox 1"/>
          <p:cNvSpPr txBox="1"/>
          <p:nvPr/>
        </p:nvSpPr>
        <p:spPr>
          <a:xfrm>
            <a:off x="8877300" y="2997200"/>
            <a:ext cx="2032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T7</a:t>
            </a:r>
          </a:p>
        </p:txBody>
      </p:sp>
      <p:sp>
        <p:nvSpPr>
          <p:cNvPr id="16" name="TextBox 1"/>
          <p:cNvSpPr txBox="1"/>
          <p:nvPr/>
        </p:nvSpPr>
        <p:spPr>
          <a:xfrm>
            <a:off x="2171700" y="4445000"/>
            <a:ext cx="14605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addwf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REG2</a:t>
            </a:r>
          </a:p>
        </p:txBody>
      </p:sp>
      <p:sp>
        <p:nvSpPr>
          <p:cNvPr id="17" name="TextBox 1"/>
          <p:cNvSpPr txBox="1"/>
          <p:nvPr/>
        </p:nvSpPr>
        <p:spPr>
          <a:xfrm>
            <a:off x="2171700" y="3784600"/>
            <a:ext cx="14605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movwf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REG1</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call</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p>
        </p:txBody>
      </p:sp>
      <p:sp>
        <p:nvSpPr>
          <p:cNvPr id="18" name="TextBox 1"/>
          <p:cNvSpPr txBox="1"/>
          <p:nvPr/>
        </p:nvSpPr>
        <p:spPr>
          <a:xfrm>
            <a:off x="1104900" y="3784600"/>
            <a:ext cx="127000" cy="5080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2</a:t>
            </a:r>
          </a:p>
          <a:p>
            <a:pPr>
              <a:lnSpc>
                <a:spcPts val="1000"/>
              </a:lnSpc>
            </a:pPr>
            <a:endParaRPr lang="en-US" altLang="zh-CN" dirty="0"/>
          </a:p>
          <a:p>
            <a:pPr>
              <a:lnSpc>
                <a:spcPts val="1600"/>
              </a:lnSpc>
              <a:tabLst/>
            </a:pPr>
            <a:r>
              <a:rPr lang="en-US" altLang="zh-CN" sz="1800" b="1" dirty="0">
                <a:solidFill>
                  <a:srgbClr val="000000"/>
                </a:solidFill>
                <a:latin typeface="Courier New" pitchFamily="18" charset="0"/>
                <a:cs typeface="Courier New" pitchFamily="18" charset="0"/>
              </a:rPr>
              <a:t>3</a:t>
            </a:r>
          </a:p>
        </p:txBody>
      </p:sp>
      <p:sp>
        <p:nvSpPr>
          <p:cNvPr id="19" name="TextBox 1"/>
          <p:cNvSpPr txBox="1"/>
          <p:nvPr/>
        </p:nvSpPr>
        <p:spPr>
          <a:xfrm>
            <a:off x="1104900" y="4445000"/>
            <a:ext cx="1270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4</a:t>
            </a:r>
          </a:p>
        </p:txBody>
      </p:sp>
      <p:sp>
        <p:nvSpPr>
          <p:cNvPr id="20" name="TextBox 1"/>
          <p:cNvSpPr txBox="1"/>
          <p:nvPr/>
        </p:nvSpPr>
        <p:spPr>
          <a:xfrm>
            <a:off x="6908800" y="44196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21" name="TextBox 1"/>
          <p:cNvSpPr txBox="1"/>
          <p:nvPr/>
        </p:nvSpPr>
        <p:spPr>
          <a:xfrm>
            <a:off x="5016500" y="3759200"/>
            <a:ext cx="1714500" cy="533400"/>
          </a:xfrm>
          <a:prstGeom prst="rect">
            <a:avLst/>
          </a:prstGeom>
          <a:noFill/>
        </p:spPr>
        <p:txBody>
          <a:bodyPr wrap="none" lIns="0" tIns="0" rIns="0" rtlCol="0">
            <a:spAutoFit/>
          </a:bodyPr>
          <a:lstStyle/>
          <a:p>
            <a:pPr>
              <a:lnSpc>
                <a:spcPts val="1600"/>
              </a:lnSpc>
              <a:tabLst>
                <a:tab pos="622300" algn="l"/>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a:p>
            <a:pPr>
              <a:lnSpc>
                <a:spcPts val="1000"/>
              </a:lnSpc>
            </a:pPr>
            <a:endParaRPr lang="en-US" altLang="zh-CN" dirty="0"/>
          </a:p>
          <a:p>
            <a:pPr>
              <a:lnSpc>
                <a:spcPts val="1600"/>
              </a:lnSpc>
              <a:tabLst>
                <a:tab pos="622300" algn="l"/>
              </a:tabLst>
            </a:pPr>
            <a:r>
              <a:rPr lang="en-US" altLang="zh-CN" dirty="0"/>
              <a:t>	</a:t>
            </a: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2" name="TextBox 1"/>
          <p:cNvSpPr txBox="1"/>
          <p:nvPr/>
        </p:nvSpPr>
        <p:spPr>
          <a:xfrm>
            <a:off x="62611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3" name="TextBox 1"/>
          <p:cNvSpPr txBox="1"/>
          <p:nvPr/>
        </p:nvSpPr>
        <p:spPr>
          <a:xfrm>
            <a:off x="8763000" y="44196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24" name="TextBox 1"/>
          <p:cNvSpPr txBox="1"/>
          <p:nvPr/>
        </p:nvSpPr>
        <p:spPr>
          <a:xfrm>
            <a:off x="965200" y="5308600"/>
            <a:ext cx="30734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SUB1</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PORTB,w</a:t>
            </a:r>
          </a:p>
        </p:txBody>
      </p:sp>
      <p:sp>
        <p:nvSpPr>
          <p:cNvPr id="25" name="TextBox 1"/>
          <p:cNvSpPr txBox="1"/>
          <p:nvPr/>
        </p:nvSpPr>
        <p:spPr>
          <a:xfrm>
            <a:off x="6883400" y="52959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6" name="TextBox 1"/>
          <p:cNvSpPr txBox="1"/>
          <p:nvPr/>
        </p:nvSpPr>
        <p:spPr>
          <a:xfrm>
            <a:off x="2171700" y="5651500"/>
            <a:ext cx="8128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return</a:t>
            </a:r>
          </a:p>
        </p:txBody>
      </p:sp>
      <p:sp>
        <p:nvSpPr>
          <p:cNvPr id="27" name="TextBox 1"/>
          <p:cNvSpPr txBox="1"/>
          <p:nvPr/>
        </p:nvSpPr>
        <p:spPr>
          <a:xfrm>
            <a:off x="965200" y="5651500"/>
            <a:ext cx="266700" cy="177800"/>
          </a:xfrm>
          <a:prstGeom prst="rect">
            <a:avLst/>
          </a:prstGeom>
          <a:noFill/>
        </p:spPr>
        <p:txBody>
          <a:bodyPr wrap="none" lIns="0" tIns="0" rIns="0" rtlCol="0">
            <a:spAutoFit/>
          </a:bodyPr>
          <a:lstStyle/>
          <a:p>
            <a:pPr>
              <a:lnSpc>
                <a:spcPts val="1400"/>
              </a:lnSpc>
              <a:tabLst/>
            </a:pPr>
            <a:r>
              <a:rPr lang="en-US" altLang="zh-CN" sz="1800" b="1" dirty="0">
                <a:solidFill>
                  <a:srgbClr val="000000"/>
                </a:solidFill>
                <a:latin typeface="Courier New" pitchFamily="18" charset="0"/>
                <a:cs typeface="Courier New" pitchFamily="18" charset="0"/>
              </a:rPr>
              <a:t>52</a:t>
            </a:r>
          </a:p>
        </p:txBody>
      </p:sp>
      <p:sp>
        <p:nvSpPr>
          <p:cNvPr id="28" name="TextBox 1"/>
          <p:cNvSpPr txBox="1"/>
          <p:nvPr/>
        </p:nvSpPr>
        <p:spPr>
          <a:xfrm>
            <a:off x="7518400" y="5626100"/>
            <a:ext cx="10922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r>
              <a:rPr lang="en-US" altLang="zh-CN" sz="1397" dirty="0">
                <a:latin typeface="Times New Roman" pitchFamily="18" charset="0"/>
                <a:cs typeface="Times New Roman" pitchFamily="18" charset="0"/>
              </a:rPr>
              <a:t>    </a:t>
            </a:r>
            <a:r>
              <a:rPr lang="en-US" altLang="zh-CN" sz="1397" b="1" dirty="0">
                <a:solidFill>
                  <a:srgbClr val="000000"/>
                </a:solidFill>
                <a:latin typeface="Arial Narrow" pitchFamily="18" charset="0"/>
                <a:cs typeface="Arial Narrow" pitchFamily="18" charset="0"/>
              </a:rPr>
              <a:t>Ejecuta</a:t>
            </a:r>
          </a:p>
        </p:txBody>
      </p:sp>
      <p:sp>
        <p:nvSpPr>
          <p:cNvPr id="29" name="TextBox 1"/>
          <p:cNvSpPr txBox="1"/>
          <p:nvPr/>
        </p:nvSpPr>
        <p:spPr>
          <a:xfrm>
            <a:off x="8140700" y="5969000"/>
            <a:ext cx="431800" cy="203200"/>
          </a:xfrm>
          <a:prstGeom prst="rect">
            <a:avLst/>
          </a:prstGeom>
          <a:noFill/>
        </p:spPr>
        <p:txBody>
          <a:bodyPr wrap="none" lIns="0" tIns="0" rIns="0" rtlCol="0">
            <a:spAutoFit/>
          </a:bodyPr>
          <a:lstStyle/>
          <a:p>
            <a:pPr>
              <a:lnSpc>
                <a:spcPts val="1600"/>
              </a:lnSpc>
              <a:tabLst/>
            </a:pPr>
            <a:r>
              <a:rPr lang="en-US" altLang="zh-CN" sz="1397" b="1" dirty="0">
                <a:solidFill>
                  <a:srgbClr val="000000"/>
                </a:solidFill>
                <a:latin typeface="Arial Narrow" pitchFamily="18" charset="0"/>
                <a:cs typeface="Arial Narrow" pitchFamily="18" charset="0"/>
              </a:rPr>
              <a:t>Busca</a:t>
            </a:r>
          </a:p>
        </p:txBody>
      </p:sp>
      <p:sp>
        <p:nvSpPr>
          <p:cNvPr id="30" name="TextBox 1"/>
          <p:cNvSpPr txBox="1"/>
          <p:nvPr/>
        </p:nvSpPr>
        <p:spPr>
          <a:xfrm>
            <a:off x="8788400" y="5969000"/>
            <a:ext cx="381000" cy="203200"/>
          </a:xfrm>
          <a:prstGeom prst="rect">
            <a:avLst/>
          </a:prstGeom>
          <a:noFill/>
        </p:spPr>
        <p:txBody>
          <a:bodyPr wrap="none" lIns="0" tIns="0" rIns="0" rtlCol="0">
            <a:spAutoFit/>
          </a:bodyPr>
          <a:lstStyle/>
          <a:p>
            <a:pPr>
              <a:lnSpc>
                <a:spcPts val="1600"/>
              </a:lnSpc>
              <a:tabLst/>
            </a:pPr>
            <a:r>
              <a:rPr lang="en-US" altLang="zh-CN" sz="1397" b="1" dirty="0">
                <a:solidFill>
                  <a:srgbClr val="CC0000"/>
                </a:solidFill>
                <a:latin typeface="Arial Narrow" pitchFamily="18" charset="0"/>
                <a:cs typeface="Arial Narrow" pitchFamily="18" charset="0"/>
              </a:rPr>
              <a:t>Flush</a:t>
            </a:r>
          </a:p>
        </p:txBody>
      </p:sp>
      <p:sp>
        <p:nvSpPr>
          <p:cNvPr id="31" name="TextBox 1"/>
          <p:cNvSpPr txBox="1"/>
          <p:nvPr/>
        </p:nvSpPr>
        <p:spPr>
          <a:xfrm>
            <a:off x="965200" y="5994400"/>
            <a:ext cx="3073400" cy="508000"/>
          </a:xfrm>
          <a:prstGeom prst="rect">
            <a:avLst/>
          </a:prstGeom>
          <a:noFill/>
        </p:spPr>
        <p:txBody>
          <a:bodyPr wrap="none" lIns="0" tIns="0" rIns="0" rtlCol="0">
            <a:spAutoFit/>
          </a:bodyPr>
          <a:lstStyle/>
          <a:p>
            <a:pPr>
              <a:lnSpc>
                <a:spcPts val="1400"/>
              </a:lnSpc>
              <a:tabLst>
                <a:tab pos="1206500" algn="l"/>
              </a:tabLst>
            </a:pPr>
            <a:r>
              <a:rPr lang="en-US" altLang="zh-CN" sz="1800" b="1" dirty="0">
                <a:solidFill>
                  <a:srgbClr val="000000"/>
                </a:solidFill>
                <a:latin typeface="Courier New" pitchFamily="18" charset="0"/>
                <a:cs typeface="Courier New" pitchFamily="18" charset="0"/>
              </a:rPr>
              <a:t>53</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SUB2</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movf</a:t>
            </a:r>
            <a:r>
              <a:rPr lang="en-US" altLang="zh-CN" sz="1800" dirty="0">
                <a:latin typeface="Times New Roman" pitchFamily="18" charset="0"/>
                <a:cs typeface="Times New Roman" pitchFamily="18" charset="0"/>
              </a:rPr>
              <a:t>        </a:t>
            </a:r>
            <a:r>
              <a:rPr lang="en-US" altLang="zh-CN" sz="1800" b="1" dirty="0">
                <a:solidFill>
                  <a:srgbClr val="000000"/>
                </a:solidFill>
                <a:latin typeface="Courier New" pitchFamily="18" charset="0"/>
                <a:cs typeface="Courier New" pitchFamily="18" charset="0"/>
              </a:rPr>
              <a:t>PORTC,w</a:t>
            </a:r>
          </a:p>
          <a:p>
            <a:pPr>
              <a:lnSpc>
                <a:spcPts val="1000"/>
              </a:lnSpc>
            </a:pPr>
            <a:endParaRPr lang="en-US" altLang="zh-CN" dirty="0"/>
          </a:p>
          <a:p>
            <a:pPr>
              <a:lnSpc>
                <a:spcPts val="1600"/>
              </a:lnSpc>
              <a:tabLst>
                <a:tab pos="1206500" algn="l"/>
              </a:tabLst>
            </a:pPr>
            <a:r>
              <a:rPr lang="en-US" altLang="zh-CN" sz="1800" b="1" dirty="0">
                <a:solidFill>
                  <a:srgbClr val="000000"/>
                </a:solidFill>
                <a:latin typeface="Courier New" pitchFamily="18" charset="0"/>
                <a:cs typeface="Courier New" pitchFamily="18" charset="0"/>
              </a:rPr>
              <a:t>54</a:t>
            </a:r>
          </a:p>
          <a:p>
            <a:pPr>
              <a:lnSpc>
                <a:spcPts val="0"/>
              </a:lnSpc>
              <a:tabLst>
                <a:tab pos="1206500" algn="l"/>
              </a:tabLst>
            </a:pPr>
            <a:r>
              <a:rPr lang="en-US" altLang="zh-CN" dirty="0"/>
              <a:t>	</a:t>
            </a:r>
            <a:r>
              <a:rPr lang="en-US" altLang="zh-CN" sz="1800" b="1" dirty="0">
                <a:solidFill>
                  <a:srgbClr val="000000"/>
                </a:solidFill>
                <a:latin typeface="Courier New" pitchFamily="18" charset="0"/>
                <a:cs typeface="Courier New" pitchFamily="18" charset="0"/>
              </a:rPr>
              <a:t>return</a:t>
            </a:r>
          </a:p>
        </p:txBody>
      </p:sp>
      <p:sp>
        <p:nvSpPr>
          <p:cNvPr id="33" name="TextBox 1"/>
          <p:cNvSpPr txBox="1"/>
          <p:nvPr/>
        </p:nvSpPr>
        <p:spPr>
          <a:xfrm>
            <a:off x="965200" y="350837"/>
            <a:ext cx="89661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Pipelining de Instrucciones</a:t>
            </a:r>
          </a:p>
        </p:txBody>
      </p:sp>
      <p:pic>
        <p:nvPicPr>
          <p:cNvPr id="32" name="Imagen 31" descr="Imagen que contiene Calendario&#10;&#10;El contenido generado por IA puede ser incorrecto.">
            <a:extLst>
              <a:ext uri="{FF2B5EF4-FFF2-40B4-BE49-F238E27FC236}">
                <a16:creationId xmlns:a16="http://schemas.microsoft.com/office/drawing/2014/main" id="{37F099B4-5849-1957-0EB6-1DA1EC1626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2</a:t>
            </a:r>
            <a:br>
              <a:rPr lang="es-ES" dirty="0"/>
            </a:br>
            <a:endParaRPr lang="es-AR" dirty="0"/>
          </a:p>
        </p:txBody>
      </p:sp>
      <p:pic>
        <p:nvPicPr>
          <p:cNvPr id="2" name="Imagen 1" descr="Imagen que contiene Calendario&#10;&#10;El contenido generado por IA puede ser incorrecto.">
            <a:extLst>
              <a:ext uri="{FF2B5EF4-FFF2-40B4-BE49-F238E27FC236}">
                <a16:creationId xmlns:a16="http://schemas.microsoft.com/office/drawing/2014/main" id="{36C396C3-D824-9456-7307-4222A837A6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266723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50838"/>
            <a:ext cx="9690100" cy="1143000"/>
          </a:xfrm>
        </p:spPr>
        <p:txBody>
          <a:bodyPr>
            <a:norm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de Computadoras</a:t>
            </a:r>
          </a:p>
        </p:txBody>
      </p:sp>
      <p:sp>
        <p:nvSpPr>
          <p:cNvPr id="4" name="Título 1"/>
          <p:cNvSpPr txBox="1">
            <a:spLocks/>
          </p:cNvSpPr>
          <p:nvPr/>
        </p:nvSpPr>
        <p:spPr>
          <a:xfrm>
            <a:off x="457200" y="2027237"/>
            <a:ext cx="96901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Organización y gestión de la memoria</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5" name="Subtítulo 2"/>
          <p:cNvSpPr txBox="1">
            <a:spLocks/>
          </p:cNvSpPr>
          <p:nvPr/>
        </p:nvSpPr>
        <p:spPr>
          <a:xfrm>
            <a:off x="1079500" y="3475037"/>
            <a:ext cx="8763000" cy="17526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r>
              <a:rPr lang="es-ES" i="1" dirty="0">
                <a:solidFill>
                  <a:srgbClr val="0070C0"/>
                </a:solidFill>
                <a:effectLst>
                  <a:outerShdw blurRad="38100" dist="38100" dir="2700000" algn="tl">
                    <a:srgbClr val="000000">
                      <a:alpha val="43137"/>
                    </a:srgbClr>
                  </a:outerShdw>
                </a:effectLst>
              </a:rPr>
              <a:t>Memoria RAM</a:t>
            </a:r>
          </a:p>
          <a:p>
            <a:pPr marL="457200" indent="-457200"/>
            <a:r>
              <a:rPr lang="es-ES" i="1" dirty="0">
                <a:solidFill>
                  <a:srgbClr val="0070C0"/>
                </a:solidFill>
                <a:effectLst>
                  <a:outerShdw blurRad="38100" dist="38100" dir="2700000" algn="tl">
                    <a:srgbClr val="000000">
                      <a:alpha val="43137"/>
                    </a:srgbClr>
                  </a:outerShdw>
                </a:effectLst>
              </a:rPr>
              <a:t>Registros de Trabajo</a:t>
            </a:r>
          </a:p>
        </p:txBody>
      </p:sp>
      <p:pic>
        <p:nvPicPr>
          <p:cNvPr id="3" name="Imagen 2" descr="Imagen que contiene Calendario&#10;&#10;El contenido generado por IA puede ser incorrecto.">
            <a:extLst>
              <a:ext uri="{FF2B5EF4-FFF2-40B4-BE49-F238E27FC236}">
                <a16:creationId xmlns:a16="http://schemas.microsoft.com/office/drawing/2014/main" id="{20B31D6B-19A0-0ED0-F420-CA77989C4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6504031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6901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Memoria de Datos</a:t>
            </a:r>
          </a:p>
        </p:txBody>
      </p:sp>
      <p:sp>
        <p:nvSpPr>
          <p:cNvPr id="3" name="Marcador de contenido 2"/>
          <p:cNvSpPr>
            <a:spLocks noGrp="1"/>
          </p:cNvSpPr>
          <p:nvPr>
            <p:ph idx="1"/>
          </p:nvPr>
        </p:nvSpPr>
        <p:spPr>
          <a:xfrm>
            <a:off x="457200" y="1600200"/>
            <a:ext cx="9918700" cy="4525963"/>
          </a:xfrm>
        </p:spPr>
        <p:txBody>
          <a:bodyPr>
            <a:normAutofit/>
          </a:bodyPr>
          <a:lstStyle/>
          <a:p>
            <a:pPr marL="0" indent="0">
              <a:buNone/>
            </a:pPr>
            <a:r>
              <a:rPr lang="es-AR" dirty="0"/>
              <a:t>  Almacena los datos variables y los resultados temporales. Debe permitir lectura y escritura. En un microcontrolador se suele encontrar:</a:t>
            </a:r>
            <a:endParaRPr lang="es-ES" dirty="0"/>
          </a:p>
          <a:p>
            <a:r>
              <a:rPr lang="es-AR" b="1" dirty="0">
                <a:solidFill>
                  <a:srgbClr val="FF0000"/>
                </a:solidFill>
                <a:effectLst>
                  <a:outerShdw blurRad="38100" dist="38100" dir="2700000" algn="tl">
                    <a:srgbClr val="000000">
                      <a:alpha val="43137"/>
                    </a:srgbClr>
                  </a:outerShdw>
                </a:effectLst>
              </a:rPr>
              <a:t>RAM: </a:t>
            </a:r>
            <a:r>
              <a:rPr lang="es-AR" dirty="0"/>
              <a:t>Memoria de lectura y escritura muy rápida y volátil. </a:t>
            </a:r>
            <a:r>
              <a:rPr lang="es-AR" u="sng" dirty="0">
                <a:effectLst>
                  <a:outerShdw blurRad="38100" dist="38100" dir="2700000" algn="tl">
                    <a:srgbClr val="000000">
                      <a:alpha val="43137"/>
                    </a:srgbClr>
                  </a:outerShdw>
                </a:effectLst>
              </a:rPr>
              <a:t>Algunas posiciones de la memoria se tratan como registros.</a:t>
            </a:r>
            <a:endParaRPr lang="es-ES" u="sng" dirty="0">
              <a:effectLst>
                <a:outerShdw blurRad="38100" dist="38100" dir="2700000" algn="tl">
                  <a:srgbClr val="000000">
                    <a:alpha val="43137"/>
                  </a:srgbClr>
                </a:outerShdw>
              </a:effectLst>
            </a:endParaRPr>
          </a:p>
          <a:p>
            <a:r>
              <a:rPr lang="es-AR" b="1" dirty="0">
                <a:solidFill>
                  <a:srgbClr val="FF0000"/>
                </a:solidFill>
                <a:effectLst>
                  <a:outerShdw blurRad="38100" dist="38100" dir="2700000" algn="tl">
                    <a:srgbClr val="000000">
                      <a:alpha val="43137"/>
                    </a:srgbClr>
                  </a:outerShdw>
                </a:effectLst>
              </a:rPr>
              <a:t>EEPROM:</a:t>
            </a:r>
            <a:r>
              <a:rPr lang="es-AR" dirty="0"/>
              <a:t> Memoria de lectura y escritura lenta pero no volátil.</a:t>
            </a:r>
            <a:endParaRPr lang="es-ES" dirty="0"/>
          </a:p>
          <a:p>
            <a:endParaRPr lang="es-ES" dirty="0"/>
          </a:p>
        </p:txBody>
      </p:sp>
      <p:pic>
        <p:nvPicPr>
          <p:cNvPr id="4" name="Imagen 3" descr="Imagen que contiene Calendario&#10;&#10;El contenido generado por IA puede ser incorrecto.">
            <a:extLst>
              <a:ext uri="{FF2B5EF4-FFF2-40B4-BE49-F238E27FC236}">
                <a16:creationId xmlns:a16="http://schemas.microsoft.com/office/drawing/2014/main" id="{6CB6BE0F-53ED-B946-1A8E-B9F8786E85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8702899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6405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67268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431922"/>
            <a:ext cx="9766300" cy="828432"/>
          </a:xfrm>
          <a:noFill/>
        </p:spPr>
        <p:txBody>
          <a:bodyPr vert="horz" wrap="square" lIns="0" tIns="0" rIns="0" bIns="45720" rtlCol="0" anchor="ctr">
            <a:spAutoFit/>
          </a:bodyPr>
          <a:lstStyle/>
          <a:p>
            <a:pPr>
              <a:lnSpc>
                <a:spcPts val="6100"/>
              </a:lnSpc>
            </a:pPr>
            <a:r>
              <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Unidad Aritmético Lógica</a:t>
            </a:r>
          </a:p>
        </p:txBody>
      </p:sp>
      <p:pic>
        <p:nvPicPr>
          <p:cNvPr id="4" name="Imagen 3" descr="http://perso.wanadoo.es/pictob/imagenes/alu1.gif"/>
          <p:cNvPicPr/>
          <p:nvPr/>
        </p:nvPicPr>
        <p:blipFill>
          <a:blip r:embed="rId3">
            <a:extLst>
              <a:ext uri="{28A0092B-C50C-407E-A947-70E740481C1C}">
                <a14:useLocalDpi xmlns:a14="http://schemas.microsoft.com/office/drawing/2010/main" val="0"/>
              </a:ext>
            </a:extLst>
          </a:blip>
          <a:srcRect/>
          <a:stretch>
            <a:fillRect/>
          </a:stretch>
        </p:blipFill>
        <p:spPr bwMode="auto">
          <a:xfrm>
            <a:off x="317500" y="1189037"/>
            <a:ext cx="8915400" cy="6024683"/>
          </a:xfrm>
          <a:prstGeom prst="rect">
            <a:avLst/>
          </a:prstGeom>
          <a:noFill/>
          <a:ln>
            <a:noFill/>
          </a:ln>
        </p:spPr>
      </p:pic>
      <p:sp>
        <p:nvSpPr>
          <p:cNvPr id="6" name="CuadroTexto 5"/>
          <p:cNvSpPr txBox="1"/>
          <p:nvPr/>
        </p:nvSpPr>
        <p:spPr>
          <a:xfrm flipH="1">
            <a:off x="5499100" y="1766371"/>
            <a:ext cx="3383281" cy="369332"/>
          </a:xfrm>
          <a:prstGeom prst="rect">
            <a:avLst/>
          </a:prstGeom>
          <a:noFill/>
        </p:spPr>
        <p:txBody>
          <a:bodyPr wrap="square" rtlCol="0">
            <a:spAutoFit/>
          </a:bodyPr>
          <a:lstStyle/>
          <a:p>
            <a:r>
              <a:rPr lang="es-ES" b="1" dirty="0"/>
              <a:t>F    Registros</a:t>
            </a:r>
          </a:p>
        </p:txBody>
      </p:sp>
      <p:sp>
        <p:nvSpPr>
          <p:cNvPr id="7" name="Rectángulo 6"/>
          <p:cNvSpPr/>
          <p:nvPr/>
        </p:nvSpPr>
        <p:spPr>
          <a:xfrm>
            <a:off x="4113840" y="4705905"/>
            <a:ext cx="394660" cy="369332"/>
          </a:xfrm>
          <a:prstGeom prst="rect">
            <a:avLst/>
          </a:prstGeom>
        </p:spPr>
        <p:txBody>
          <a:bodyPr wrap="none">
            <a:spAutoFit/>
          </a:bodyPr>
          <a:lstStyle/>
          <a:p>
            <a:r>
              <a:rPr lang="es-ES" b="1" dirty="0"/>
              <a:t>W</a:t>
            </a:r>
          </a:p>
        </p:txBody>
      </p:sp>
      <p:sp>
        <p:nvSpPr>
          <p:cNvPr id="8" name="CuadroTexto 7"/>
          <p:cNvSpPr txBox="1"/>
          <p:nvPr/>
        </p:nvSpPr>
        <p:spPr>
          <a:xfrm>
            <a:off x="4182900" y="6218237"/>
            <a:ext cx="73631" cy="369332"/>
          </a:xfrm>
          <a:prstGeom prst="rect">
            <a:avLst/>
          </a:prstGeom>
          <a:noFill/>
        </p:spPr>
        <p:txBody>
          <a:bodyPr wrap="square" rtlCol="0">
            <a:spAutoFit/>
          </a:bodyPr>
          <a:lstStyle/>
          <a:p>
            <a:r>
              <a:rPr lang="es-ES" b="1" dirty="0"/>
              <a:t>W</a:t>
            </a:r>
          </a:p>
        </p:txBody>
      </p:sp>
      <p:sp>
        <p:nvSpPr>
          <p:cNvPr id="9" name="CuadroTexto 8"/>
          <p:cNvSpPr txBox="1"/>
          <p:nvPr/>
        </p:nvSpPr>
        <p:spPr>
          <a:xfrm>
            <a:off x="2908300" y="1951037"/>
            <a:ext cx="73631" cy="369332"/>
          </a:xfrm>
          <a:prstGeom prst="rect">
            <a:avLst/>
          </a:prstGeom>
          <a:noFill/>
        </p:spPr>
        <p:txBody>
          <a:bodyPr wrap="square" rtlCol="0">
            <a:spAutoFit/>
          </a:bodyPr>
          <a:lstStyle/>
          <a:p>
            <a:r>
              <a:rPr lang="es-ES" b="1" dirty="0"/>
              <a:t>W</a:t>
            </a:r>
          </a:p>
        </p:txBody>
      </p:sp>
      <p:sp>
        <p:nvSpPr>
          <p:cNvPr id="3" name="2 CuadroTexto"/>
          <p:cNvSpPr txBox="1"/>
          <p:nvPr/>
        </p:nvSpPr>
        <p:spPr>
          <a:xfrm>
            <a:off x="5118101" y="4541837"/>
            <a:ext cx="5181599" cy="2970044"/>
          </a:xfrm>
          <a:prstGeom prst="rect">
            <a:avLst/>
          </a:prstGeom>
          <a:noFill/>
        </p:spPr>
        <p:txBody>
          <a:bodyPr wrap="square" rtlCol="0">
            <a:spAutoFit/>
          </a:bodyPr>
          <a:lstStyle/>
          <a:p>
            <a:r>
              <a:rPr lang="es-AR" sz="1100" b="1" dirty="0"/>
              <a:t>La ALU</a:t>
            </a:r>
            <a:endParaRPr lang="es-ES" sz="1100" b="1" dirty="0"/>
          </a:p>
          <a:p>
            <a:r>
              <a:rPr lang="es-AR" sz="1100" dirty="0"/>
              <a:t>    El PIC16F84A posee una ALU (Unidad Aritmético Lógica) de 8 bits capaz de realizar operaciones de desplazamientos, lógicas, sumas y restas. </a:t>
            </a:r>
          </a:p>
          <a:p>
            <a:r>
              <a:rPr lang="es-AR" sz="1100" dirty="0"/>
              <a:t>Su salida va al </a:t>
            </a:r>
            <a:r>
              <a:rPr lang="es-AR" sz="1100" b="1" u="sng" dirty="0"/>
              <a:t>registro de trabajo W </a:t>
            </a:r>
            <a:r>
              <a:rPr lang="es-AR" sz="1100" dirty="0"/>
              <a:t>y también a la </a:t>
            </a:r>
            <a:r>
              <a:rPr lang="es-AR" sz="1100" b="1" u="sng" dirty="0"/>
              <a:t>memoria de datos</a:t>
            </a:r>
            <a:r>
              <a:rPr lang="es-AR" sz="1100" dirty="0"/>
              <a:t>, por lo tanto el resultado puede guardarse en cualquiera de los dos destinos. </a:t>
            </a:r>
            <a:r>
              <a:rPr lang="es-AR" sz="1100" b="1" dirty="0">
                <a:solidFill>
                  <a:srgbClr val="FF0000"/>
                </a:solidFill>
                <a:effectLst>
                  <a:outerShdw blurRad="38100" dist="38100" dir="2700000" algn="tl">
                    <a:srgbClr val="000000">
                      <a:alpha val="43137"/>
                    </a:srgbClr>
                  </a:outerShdw>
                </a:effectLst>
              </a:rPr>
              <a:t>Dependiendo de la instrucción ejecutada</a:t>
            </a:r>
            <a:r>
              <a:rPr lang="es-AR" sz="1100" dirty="0"/>
              <a:t>,.</a:t>
            </a:r>
          </a:p>
          <a:p>
            <a:r>
              <a:rPr lang="es-AR" sz="1100" dirty="0"/>
              <a:t>La ALU puede afectar a los bits de </a:t>
            </a:r>
            <a:r>
              <a:rPr lang="es-AR" sz="1100" b="1" u="sng" dirty="0">
                <a:solidFill>
                  <a:srgbClr val="FF0000"/>
                </a:solidFill>
                <a:effectLst>
                  <a:outerShdw blurRad="38100" dist="38100" dir="2700000" algn="tl">
                    <a:srgbClr val="000000">
                      <a:alpha val="43137"/>
                    </a:srgbClr>
                  </a:outerShdw>
                </a:effectLst>
              </a:rPr>
              <a:t>Acarreo , Acarreo Digital (DC) y Cero (Z) del Registro de Estado</a:t>
            </a:r>
            <a:r>
              <a:rPr lang="es-AR" sz="1100" b="1" u="sng" dirty="0">
                <a:effectLst>
                  <a:outerShdw blurRad="38100" dist="38100" dir="2700000" algn="tl">
                    <a:srgbClr val="000000">
                      <a:alpha val="43137"/>
                    </a:srgbClr>
                  </a:outerShdw>
                </a:effectLst>
              </a:rPr>
              <a:t> (</a:t>
            </a:r>
            <a:r>
              <a:rPr lang="es-AR" sz="1100" b="1" u="sng" dirty="0">
                <a:effectLst>
                  <a:outerShdw blurRad="38100" dist="38100" dir="2700000" algn="tl">
                    <a:srgbClr val="000000">
                      <a:alpha val="43137"/>
                    </a:srgbClr>
                  </a:outerShdw>
                </a:effectLst>
                <a:hlinkClick r:id="rId4"/>
              </a:rPr>
              <a:t>STATUS</a:t>
            </a:r>
            <a:r>
              <a:rPr lang="es-AR" sz="1100" b="1" u="sng" dirty="0">
                <a:effectLst>
                  <a:outerShdw blurRad="38100" dist="38100" dir="2700000" algn="tl">
                    <a:srgbClr val="000000">
                      <a:alpha val="43137"/>
                    </a:srgbClr>
                  </a:outerShdw>
                </a:effectLst>
              </a:rPr>
              <a:t>)</a:t>
            </a:r>
            <a:r>
              <a:rPr lang="es-AR" sz="1100" dirty="0"/>
              <a:t>.</a:t>
            </a:r>
            <a:endParaRPr lang="es-ES" sz="1100" dirty="0"/>
          </a:p>
          <a:p>
            <a:r>
              <a:rPr lang="es-AR" sz="1100" dirty="0"/>
              <a:t> </a:t>
            </a:r>
            <a:endParaRPr lang="es-ES" sz="1100" dirty="0"/>
          </a:p>
          <a:p>
            <a:r>
              <a:rPr lang="es-AR" sz="1100" b="1" dirty="0">
                <a:solidFill>
                  <a:srgbClr val="FF0000"/>
                </a:solidFill>
              </a:rPr>
              <a:t>Registro de trabajo</a:t>
            </a:r>
            <a:endParaRPr lang="es-ES" sz="1100" b="1" dirty="0">
              <a:solidFill>
                <a:srgbClr val="FF0000"/>
              </a:solidFill>
            </a:endParaRPr>
          </a:p>
          <a:p>
            <a:r>
              <a:rPr lang="es-AR" sz="1100" dirty="0"/>
              <a:t>    El acumulador o registro de trabajo (W) </a:t>
            </a:r>
            <a:r>
              <a:rPr lang="es-AR" sz="1100" b="1" u="sng" dirty="0"/>
              <a:t>es el registro mas utilizado de todos</a:t>
            </a:r>
            <a:r>
              <a:rPr lang="es-AR" sz="1100" dirty="0"/>
              <a:t>. </a:t>
            </a:r>
          </a:p>
          <a:p>
            <a:r>
              <a:rPr lang="es-AR" sz="1100" dirty="0"/>
              <a:t>No se trata de un registro de la RAM ya que </a:t>
            </a:r>
            <a:r>
              <a:rPr lang="es-AR" sz="1100" b="1" u="sng" dirty="0"/>
              <a:t>no tiene dirección</a:t>
            </a:r>
            <a:r>
              <a:rPr lang="es-AR" sz="1100" dirty="0"/>
              <a:t> pero se usa constantemente para mover datos y dar valores a las variables (registros). </a:t>
            </a:r>
          </a:p>
          <a:p>
            <a:r>
              <a:rPr lang="es-AR" sz="1100" dirty="0"/>
              <a:t>Por ejemplo, si queremos copiar la información del registro 0Ch en el registro 0Dh </a:t>
            </a:r>
            <a:r>
              <a:rPr lang="es-AR" sz="1100" b="1" dirty="0">
                <a:effectLst>
                  <a:outerShdw blurRad="38100" dist="38100" dir="2700000" algn="tl">
                    <a:srgbClr val="000000">
                      <a:alpha val="43137"/>
                    </a:srgbClr>
                  </a:outerShdw>
                </a:effectLst>
              </a:rPr>
              <a:t>no podremos hacerlo directamente</a:t>
            </a:r>
            <a:r>
              <a:rPr lang="es-AR" sz="1100" dirty="0"/>
              <a:t>, deberemos usar una instrucción para cargar el valor del registro 0Ch en el acumulador y después otra instrucción para cargar el valor del acumulador en el registro 0Bh.</a:t>
            </a:r>
          </a:p>
        </p:txBody>
      </p:sp>
      <p:sp>
        <p:nvSpPr>
          <p:cNvPr id="5" name="4 CuadroTexto"/>
          <p:cNvSpPr txBox="1"/>
          <p:nvPr/>
        </p:nvSpPr>
        <p:spPr>
          <a:xfrm>
            <a:off x="5074797" y="4084637"/>
            <a:ext cx="3773597" cy="369332"/>
          </a:xfrm>
          <a:prstGeom prst="rect">
            <a:avLst/>
          </a:prstGeom>
          <a:noFill/>
        </p:spPr>
        <p:txBody>
          <a:bodyPr wrap="none" rtlCol="0">
            <a:spAutoFit/>
          </a:bodyPr>
          <a:lstStyle/>
          <a:p>
            <a:r>
              <a:rPr lang="es-ES" i="1" dirty="0">
                <a:solidFill>
                  <a:schemeClr val="tx2">
                    <a:lumMod val="60000"/>
                    <a:lumOff val="40000"/>
                  </a:schemeClr>
                </a:solidFill>
                <a:effectLst>
                  <a:outerShdw blurRad="38100" dist="38100" dir="2700000" algn="tl">
                    <a:srgbClr val="000000">
                      <a:alpha val="43137"/>
                    </a:srgbClr>
                  </a:outerShdw>
                </a:effectLst>
              </a:rPr>
              <a:t>A Memoria de Datos (RAM / EEPROM)</a:t>
            </a:r>
            <a:endParaRPr lang="es-AR" i="1" dirty="0">
              <a:solidFill>
                <a:schemeClr val="tx2">
                  <a:lumMod val="60000"/>
                  <a:lumOff val="40000"/>
                </a:schemeClr>
              </a:solidFill>
              <a:effectLst>
                <a:outerShdw blurRad="38100" dist="38100" dir="2700000" algn="tl">
                  <a:srgbClr val="000000">
                    <a:alpha val="43137"/>
                  </a:srgbClr>
                </a:outerShdw>
              </a:effectLst>
            </a:endParaRPr>
          </a:p>
        </p:txBody>
      </p:sp>
      <p:pic>
        <p:nvPicPr>
          <p:cNvPr id="10" name="Imagen 9" descr="Imagen que contiene Calendario&#10;&#10;El contenido generado por IA puede ser incorrecto.">
            <a:extLst>
              <a:ext uri="{FF2B5EF4-FFF2-40B4-BE49-F238E27FC236}">
                <a16:creationId xmlns:a16="http://schemas.microsoft.com/office/drawing/2014/main" id="{B0289136-EC35-7395-0088-4F02D36DD7C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7687900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50837"/>
            <a:ext cx="9169400" cy="6870700"/>
          </a:xfrm>
          <a:prstGeom prst="rect">
            <a:avLst/>
          </a:prstGeom>
          <a:noFill/>
        </p:spPr>
      </p:pic>
      <p:sp>
        <p:nvSpPr>
          <p:cNvPr id="2" name="TextBox 1"/>
          <p:cNvSpPr txBox="1"/>
          <p:nvPr/>
        </p:nvSpPr>
        <p:spPr>
          <a:xfrm rot="16200000">
            <a:off x="3771900" y="3124200"/>
            <a:ext cx="863600" cy="241300"/>
          </a:xfrm>
          <a:prstGeom prst="rect">
            <a:avLst/>
          </a:prstGeom>
          <a:noFill/>
        </p:spPr>
        <p:txBody>
          <a:bodyPr wrap="none" lIns="0" tIns="0" rIns="0" rtlCol="0">
            <a:spAutoFit/>
          </a:bodyPr>
          <a:lstStyle/>
          <a:p>
            <a:pPr>
              <a:lnSpc>
                <a:spcPts val="1900"/>
              </a:lnSpc>
              <a:tabLst/>
            </a:pPr>
            <a:r>
              <a:rPr lang="en-US" altLang="zh-CN" sz="1397" dirty="0">
                <a:solidFill>
                  <a:srgbClr val="000000"/>
                </a:solidFill>
                <a:latin typeface="Arial Black" pitchFamily="18" charset="0"/>
                <a:cs typeface="Arial Black" pitchFamily="18" charset="0"/>
              </a:rPr>
              <a:t>s</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Data</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Bu</a:t>
            </a:r>
          </a:p>
        </p:txBody>
      </p:sp>
      <p:sp>
        <p:nvSpPr>
          <p:cNvPr id="3" name="TextBox 1"/>
          <p:cNvSpPr txBox="1"/>
          <p:nvPr/>
        </p:nvSpPr>
        <p:spPr>
          <a:xfrm>
            <a:off x="2959100" y="5537200"/>
            <a:ext cx="736600" cy="241300"/>
          </a:xfrm>
          <a:prstGeom prst="rect">
            <a:avLst/>
          </a:prstGeom>
          <a:noFill/>
        </p:spPr>
        <p:txBody>
          <a:bodyPr wrap="none" lIns="0" tIns="0" rIns="0" rtlCol="0">
            <a:spAutoFit/>
          </a:bodyPr>
          <a:lstStyle/>
          <a:p>
            <a:pPr>
              <a:lnSpc>
                <a:spcPts val="1900"/>
              </a:lnSpc>
              <a:tabLst/>
            </a:pPr>
            <a:r>
              <a:rPr lang="en-US" altLang="zh-CN" sz="1397" dirty="0">
                <a:solidFill>
                  <a:srgbClr val="00279F"/>
                </a:solidFill>
                <a:latin typeface="Arial Black" pitchFamily="18" charset="0"/>
                <a:cs typeface="Arial Black" pitchFamily="18" charset="0"/>
              </a:rPr>
              <a:t>Opcode</a:t>
            </a:r>
          </a:p>
        </p:txBody>
      </p:sp>
      <p:sp>
        <p:nvSpPr>
          <p:cNvPr id="4" name="TextBox 1"/>
          <p:cNvSpPr txBox="1"/>
          <p:nvPr/>
        </p:nvSpPr>
        <p:spPr>
          <a:xfrm>
            <a:off x="3898900" y="5537200"/>
            <a:ext cx="114300" cy="241300"/>
          </a:xfrm>
          <a:prstGeom prst="rect">
            <a:avLst/>
          </a:prstGeom>
          <a:noFill/>
        </p:spPr>
        <p:txBody>
          <a:bodyPr wrap="none" lIns="0" tIns="0" rIns="0" rtlCol="0">
            <a:spAutoFit/>
          </a:bodyPr>
          <a:lstStyle/>
          <a:p>
            <a:pPr>
              <a:lnSpc>
                <a:spcPts val="1900"/>
              </a:lnSpc>
              <a:tabLst/>
            </a:pPr>
            <a:r>
              <a:rPr lang="en-US" altLang="zh-CN" sz="1397" dirty="0">
                <a:solidFill>
                  <a:srgbClr val="CC0000"/>
                </a:solidFill>
                <a:latin typeface="Arial Black" pitchFamily="18" charset="0"/>
                <a:cs typeface="Arial Black" pitchFamily="18" charset="0"/>
              </a:rPr>
              <a:t>d</a:t>
            </a:r>
          </a:p>
        </p:txBody>
      </p:sp>
      <p:sp>
        <p:nvSpPr>
          <p:cNvPr id="5" name="TextBox 1"/>
          <p:cNvSpPr txBox="1"/>
          <p:nvPr/>
        </p:nvSpPr>
        <p:spPr>
          <a:xfrm>
            <a:off x="546100" y="198437"/>
            <a:ext cx="96012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a:t>Concepto del Archivo de Registros</a:t>
            </a:r>
          </a:p>
        </p:txBody>
      </p:sp>
      <p:sp>
        <p:nvSpPr>
          <p:cNvPr id="6" name="TextBox 1"/>
          <p:cNvSpPr txBox="1"/>
          <p:nvPr/>
        </p:nvSpPr>
        <p:spPr>
          <a:xfrm>
            <a:off x="5257800" y="1384300"/>
            <a:ext cx="1092200" cy="419100"/>
          </a:xfrm>
          <a:prstGeom prst="rect">
            <a:avLst/>
          </a:prstGeom>
          <a:noFill/>
        </p:spPr>
        <p:txBody>
          <a:bodyPr wrap="none" lIns="0" tIns="0" rIns="0" rtlCol="0">
            <a:spAutoFit/>
          </a:bodyPr>
          <a:lstStyle/>
          <a:p>
            <a:pPr>
              <a:lnSpc>
                <a:spcPts val="1800"/>
              </a:lnSpc>
              <a:tabLst>
                <a:tab pos="38100" algn="l"/>
              </a:tabLst>
            </a:pPr>
            <a:r>
              <a:rPr lang="en-US" altLang="zh-CN" dirty="0"/>
              <a:t>	</a:t>
            </a:r>
            <a:r>
              <a:rPr lang="en-US" altLang="zh-CN" sz="1302" b="1" dirty="0">
                <a:solidFill>
                  <a:srgbClr val="000000"/>
                </a:solidFill>
                <a:latin typeface="Times New Roman" pitchFamily="18" charset="0"/>
                <a:cs typeface="Times New Roman" pitchFamily="18" charset="0"/>
              </a:rPr>
              <a:t>Data</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Memory</a:t>
            </a:r>
          </a:p>
          <a:p>
            <a:pPr>
              <a:lnSpc>
                <a:spcPts val="1500"/>
              </a:lnSpc>
              <a:tabLst>
                <a:tab pos="38100" algn="l"/>
              </a:tabLst>
            </a:pPr>
            <a:r>
              <a:rPr lang="en-US" altLang="zh-CN" sz="1302" b="1" dirty="0">
                <a:solidFill>
                  <a:srgbClr val="000000"/>
                </a:solidFill>
                <a:latin typeface="Times New Roman" pitchFamily="18" charset="0"/>
                <a:cs typeface="Times New Roman" pitchFamily="18" charset="0"/>
              </a:rPr>
              <a:t>(Register</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File)</a:t>
            </a:r>
          </a:p>
        </p:txBody>
      </p:sp>
      <p:sp>
        <p:nvSpPr>
          <p:cNvPr id="7" name="TextBox 1"/>
          <p:cNvSpPr txBox="1"/>
          <p:nvPr/>
        </p:nvSpPr>
        <p:spPr>
          <a:xfrm>
            <a:off x="1981200" y="2108200"/>
            <a:ext cx="1524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w</a:t>
            </a:r>
          </a:p>
        </p:txBody>
      </p:sp>
      <p:sp>
        <p:nvSpPr>
          <p:cNvPr id="8" name="TextBox 1"/>
          <p:cNvSpPr txBox="1"/>
          <p:nvPr/>
        </p:nvSpPr>
        <p:spPr>
          <a:xfrm>
            <a:off x="3048000" y="2108200"/>
            <a:ext cx="635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f</a:t>
            </a:r>
          </a:p>
        </p:txBody>
      </p:sp>
      <p:sp>
        <p:nvSpPr>
          <p:cNvPr id="9" name="TextBox 1"/>
          <p:cNvSpPr txBox="1"/>
          <p:nvPr/>
        </p:nvSpPr>
        <p:spPr>
          <a:xfrm>
            <a:off x="2324100" y="2349500"/>
            <a:ext cx="457200" cy="279400"/>
          </a:xfrm>
          <a:prstGeom prst="rect">
            <a:avLst/>
          </a:prstGeom>
          <a:noFill/>
        </p:spPr>
        <p:txBody>
          <a:bodyPr wrap="none" lIns="0" tIns="0" rIns="0" rtlCol="0">
            <a:spAutoFit/>
          </a:bodyPr>
          <a:lstStyle/>
          <a:p>
            <a:pPr>
              <a:lnSpc>
                <a:spcPts val="2200"/>
              </a:lnSpc>
              <a:tabLst/>
            </a:pPr>
            <a:r>
              <a:rPr lang="en-US" altLang="zh-CN" sz="1602" dirty="0">
                <a:solidFill>
                  <a:srgbClr val="000000"/>
                </a:solidFill>
                <a:latin typeface="Arial Black" pitchFamily="18" charset="0"/>
                <a:cs typeface="Arial Black" pitchFamily="18" charset="0"/>
              </a:rPr>
              <a:t>ALU</a:t>
            </a:r>
          </a:p>
        </p:txBody>
      </p:sp>
      <p:sp>
        <p:nvSpPr>
          <p:cNvPr id="10" name="TextBox 1"/>
          <p:cNvSpPr txBox="1"/>
          <p:nvPr/>
        </p:nvSpPr>
        <p:spPr>
          <a:xfrm>
            <a:off x="1765300" y="3187700"/>
            <a:ext cx="114300" cy="241300"/>
          </a:xfrm>
          <a:prstGeom prst="rect">
            <a:avLst/>
          </a:prstGeom>
          <a:noFill/>
        </p:spPr>
        <p:txBody>
          <a:bodyPr wrap="none" lIns="0" tIns="0" rIns="0" rtlCol="0">
            <a:spAutoFit/>
          </a:bodyPr>
          <a:lstStyle/>
          <a:p>
            <a:pPr>
              <a:lnSpc>
                <a:spcPts val="1900"/>
              </a:lnSpc>
              <a:tabLst/>
            </a:pPr>
            <a:r>
              <a:rPr lang="en-US" altLang="zh-CN" sz="1397" dirty="0">
                <a:solidFill>
                  <a:srgbClr val="CC0000"/>
                </a:solidFill>
                <a:latin typeface="Arial Black" pitchFamily="18" charset="0"/>
                <a:cs typeface="Arial Black" pitchFamily="18" charset="0"/>
              </a:rPr>
              <a:t>d</a:t>
            </a:r>
          </a:p>
        </p:txBody>
      </p:sp>
      <p:sp>
        <p:nvSpPr>
          <p:cNvPr id="12" name="TextBox 1"/>
          <p:cNvSpPr txBox="1"/>
          <p:nvPr/>
        </p:nvSpPr>
        <p:spPr>
          <a:xfrm>
            <a:off x="7505700" y="1341437"/>
            <a:ext cx="1942840" cy="2367315"/>
          </a:xfrm>
          <a:prstGeom prst="rect">
            <a:avLst/>
          </a:prstGeom>
          <a:noFill/>
        </p:spPr>
        <p:txBody>
          <a:bodyPr wrap="none" lIns="0" tIns="0" rIns="0" rtlCol="0">
            <a:spAutoFit/>
          </a:bodyPr>
          <a:lstStyle/>
          <a:p>
            <a:pPr>
              <a:lnSpc>
                <a:spcPts val="1900"/>
              </a:lnSpc>
              <a:tabLst/>
            </a:pPr>
            <a:r>
              <a:rPr lang="en-US" altLang="zh-CN" sz="1397" b="1" u="sng" dirty="0">
                <a:solidFill>
                  <a:srgbClr val="000000"/>
                </a:solidFill>
                <a:latin typeface="Times New Roman" pitchFamily="18" charset="0"/>
                <a:cs typeface="Times New Roman" pitchFamily="18" charset="0"/>
              </a:rPr>
              <a:t>Concepto de Archivo de</a:t>
            </a:r>
          </a:p>
          <a:p>
            <a:pPr>
              <a:lnSpc>
                <a:spcPts val="1700"/>
              </a:lnSpc>
              <a:tabLst/>
            </a:pPr>
            <a:r>
              <a:rPr lang="en-US" altLang="zh-CN" sz="1397" b="1" dirty="0">
                <a:solidFill>
                  <a:srgbClr val="000000"/>
                </a:solidFill>
                <a:latin typeface="Times New Roman" pitchFamily="18" charset="0"/>
                <a:cs typeface="Times New Roman" pitchFamily="18" charset="0"/>
              </a:rPr>
              <a:t>Registro: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datos</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memoria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parte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p>
          <a:p>
            <a:pPr>
              <a:lnSpc>
                <a:spcPts val="1700"/>
              </a:lnSpc>
              <a:tabLst/>
            </a:pPr>
            <a:r>
              <a:rPr lang="en-US" altLang="zh-CN" sz="1397" b="1" dirty="0">
                <a:solidFill>
                  <a:srgbClr val="000000"/>
                </a:solidFill>
                <a:latin typeface="Times New Roman" pitchFamily="18" charset="0"/>
                <a:cs typeface="Times New Roman" pitchFamily="18" charset="0"/>
              </a:rPr>
              <a:t>archivo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a:t>
            </a:r>
          </a:p>
          <a:p>
            <a:pPr>
              <a:lnSpc>
                <a:spcPts val="1700"/>
              </a:lnSpc>
              <a:tabLst/>
            </a:pPr>
            <a:r>
              <a:rPr lang="en-US" altLang="zh-CN" sz="1397" b="1" dirty="0">
                <a:solidFill>
                  <a:srgbClr val="000000"/>
                </a:solidFill>
                <a:latin typeface="Times New Roman" pitchFamily="18" charset="0"/>
                <a:cs typeface="Times New Roman" pitchFamily="18" charset="0"/>
              </a:rPr>
              <a:t>cualquier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localización</a:t>
            </a:r>
          </a:p>
          <a:p>
            <a:pPr>
              <a:lnSpc>
                <a:spcPts val="1800"/>
              </a:lnSpc>
              <a:tabLst/>
            </a:pPr>
            <a:r>
              <a:rPr lang="en-US" altLang="zh-CN" sz="1397" b="1" dirty="0">
                <a:solidFill>
                  <a:srgbClr val="000000"/>
                </a:solidFill>
                <a:latin typeface="Times New Roman" pitchFamily="18" charset="0"/>
                <a:cs typeface="Times New Roman" pitchFamily="18" charset="0"/>
              </a:rPr>
              <a:t>puede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ser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operada</a:t>
            </a:r>
          </a:p>
          <a:p>
            <a:pPr>
              <a:lnSpc>
                <a:spcPts val="1700"/>
              </a:lnSpc>
              <a:tabLst/>
            </a:pPr>
            <a:r>
              <a:rPr lang="en-US" altLang="zh-CN" sz="1397" b="1" dirty="0">
                <a:solidFill>
                  <a:srgbClr val="000000"/>
                </a:solidFill>
                <a:latin typeface="Times New Roman" pitchFamily="18" charset="0"/>
                <a:cs typeface="Times New Roman" pitchFamily="18" charset="0"/>
              </a:rPr>
              <a:t>directamente</a:t>
            </a:r>
          </a:p>
          <a:p>
            <a:pPr>
              <a:lnSpc>
                <a:spcPts val="2300"/>
              </a:lnSpc>
              <a:tabLst/>
            </a:pPr>
            <a:r>
              <a:rPr lang="en-US" altLang="zh-CN" sz="1397" b="1" dirty="0">
                <a:solidFill>
                  <a:srgbClr val="000000"/>
                </a:solidFill>
                <a:latin typeface="Times New Roman" pitchFamily="18" charset="0"/>
                <a:cs typeface="Times New Roman" pitchFamily="18" charset="0"/>
              </a:rPr>
              <a:t>Todos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periféricos</a:t>
            </a:r>
          </a:p>
          <a:p>
            <a:pPr>
              <a:lnSpc>
                <a:spcPts val="1700"/>
              </a:lnSpc>
              <a:tabLst/>
            </a:pPr>
            <a:r>
              <a:rPr lang="en-US" altLang="zh-CN" sz="1397" b="1" dirty="0">
                <a:solidFill>
                  <a:srgbClr val="000000"/>
                </a:solidFill>
                <a:latin typeface="Times New Roman" pitchFamily="18" charset="0"/>
                <a:cs typeface="Times New Roman" pitchFamily="18" charset="0"/>
              </a:rPr>
              <a:t>estan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mapeados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como</a:t>
            </a:r>
          </a:p>
          <a:p>
            <a:pPr>
              <a:lnSpc>
                <a:spcPts val="1800"/>
              </a:lnSpc>
              <a:tabLst/>
            </a:pPr>
            <a:r>
              <a:rPr lang="en-US" altLang="zh-CN" sz="1397" b="1" dirty="0">
                <a:solidFill>
                  <a:srgbClr val="000000"/>
                </a:solidFill>
                <a:latin typeface="Times New Roman" pitchFamily="18" charset="0"/>
                <a:cs typeface="Times New Roman" pitchFamily="18" charset="0"/>
              </a:rPr>
              <a:t>una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serie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err="1">
                <a:solidFill>
                  <a:srgbClr val="000000"/>
                </a:solidFill>
                <a:latin typeface="Times New Roman" pitchFamily="18" charset="0"/>
                <a:cs typeface="Times New Roman" pitchFamily="18" charset="0"/>
              </a:rPr>
              <a:t>registros</a:t>
            </a:r>
            <a:endParaRPr lang="en-US" altLang="zh-CN" sz="1397" b="1" dirty="0">
              <a:solidFill>
                <a:srgbClr val="000000"/>
              </a:solidFill>
              <a:latin typeface="Times New Roman" pitchFamily="18" charset="0"/>
              <a:cs typeface="Times New Roman" pitchFamily="18" charset="0"/>
            </a:endParaRPr>
          </a:p>
        </p:txBody>
      </p:sp>
      <p:sp>
        <p:nvSpPr>
          <p:cNvPr id="13" name="TextBox 1"/>
          <p:cNvSpPr txBox="1"/>
          <p:nvPr/>
        </p:nvSpPr>
        <p:spPr>
          <a:xfrm>
            <a:off x="2146300" y="3352800"/>
            <a:ext cx="1524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w</a:t>
            </a:r>
          </a:p>
        </p:txBody>
      </p:sp>
      <p:sp>
        <p:nvSpPr>
          <p:cNvPr id="14" name="TextBox 1"/>
          <p:cNvSpPr txBox="1"/>
          <p:nvPr/>
        </p:nvSpPr>
        <p:spPr>
          <a:xfrm>
            <a:off x="2882900" y="3352800"/>
            <a:ext cx="63500" cy="228600"/>
          </a:xfrm>
          <a:prstGeom prst="rect">
            <a:avLst/>
          </a:prstGeom>
          <a:noFill/>
        </p:spPr>
        <p:txBody>
          <a:bodyPr wrap="none" lIns="0" tIns="0" rIns="0" rtlCol="0">
            <a:spAutoFit/>
          </a:bodyPr>
          <a:lstStyle/>
          <a:p>
            <a:pPr>
              <a:lnSpc>
                <a:spcPts val="1800"/>
              </a:lnSpc>
              <a:tabLst/>
            </a:pPr>
            <a:r>
              <a:rPr lang="en-US" altLang="zh-CN" sz="1302" dirty="0">
                <a:solidFill>
                  <a:srgbClr val="000000"/>
                </a:solidFill>
                <a:latin typeface="Arial Black" pitchFamily="18" charset="0"/>
                <a:cs typeface="Arial Black" pitchFamily="18" charset="0"/>
              </a:rPr>
              <a:t>f</a:t>
            </a:r>
          </a:p>
        </p:txBody>
      </p:sp>
      <p:sp>
        <p:nvSpPr>
          <p:cNvPr id="15" name="TextBox 1"/>
          <p:cNvSpPr txBox="1"/>
          <p:nvPr/>
        </p:nvSpPr>
        <p:spPr>
          <a:xfrm>
            <a:off x="6464300" y="2171700"/>
            <a:ext cx="203200" cy="1651000"/>
          </a:xfrm>
          <a:prstGeom prst="rect">
            <a:avLst/>
          </a:prstGeom>
          <a:noFill/>
        </p:spPr>
        <p:txBody>
          <a:bodyPr wrap="none" lIns="0" tIns="0" rIns="0" rtlCol="0">
            <a:spAutoFit/>
          </a:bodyPr>
          <a:lstStyle/>
          <a:p>
            <a:pPr>
              <a:lnSpc>
                <a:spcPts val="1200"/>
              </a:lnSpc>
              <a:tabLst/>
            </a:pPr>
            <a:r>
              <a:rPr lang="en-US" altLang="zh-CN" sz="900" b="1" dirty="0">
                <a:solidFill>
                  <a:srgbClr val="000000"/>
                </a:solidFill>
                <a:latin typeface="Times New Roman" pitchFamily="18" charset="0"/>
                <a:cs typeface="Times New Roman" pitchFamily="18" charset="0"/>
              </a:rPr>
              <a:t>07h</a:t>
            </a:r>
          </a:p>
          <a:p>
            <a:pPr>
              <a:lnSpc>
                <a:spcPts val="1900"/>
              </a:lnSpc>
              <a:tabLst/>
            </a:pPr>
            <a:r>
              <a:rPr lang="en-US" altLang="zh-CN" sz="900" b="1" dirty="0">
                <a:solidFill>
                  <a:srgbClr val="000000"/>
                </a:solidFill>
                <a:latin typeface="Times New Roman" pitchFamily="18" charset="0"/>
                <a:cs typeface="Times New Roman" pitchFamily="18" charset="0"/>
              </a:rPr>
              <a:t>08h</a:t>
            </a:r>
          </a:p>
          <a:p>
            <a:pPr>
              <a:lnSpc>
                <a:spcPts val="1900"/>
              </a:lnSpc>
              <a:tabLst/>
            </a:pPr>
            <a:r>
              <a:rPr lang="en-US" altLang="zh-CN" sz="900" b="1" dirty="0">
                <a:solidFill>
                  <a:srgbClr val="000000"/>
                </a:solidFill>
                <a:latin typeface="Times New Roman" pitchFamily="18" charset="0"/>
                <a:cs typeface="Times New Roman" pitchFamily="18" charset="0"/>
              </a:rPr>
              <a:t>09h</a:t>
            </a:r>
          </a:p>
          <a:p>
            <a:pPr>
              <a:lnSpc>
                <a:spcPts val="1900"/>
              </a:lnSpc>
              <a:tabLst/>
            </a:pPr>
            <a:r>
              <a:rPr lang="en-US" altLang="zh-CN" sz="900" b="1" dirty="0">
                <a:solidFill>
                  <a:srgbClr val="000000"/>
                </a:solidFill>
                <a:latin typeface="Times New Roman" pitchFamily="18" charset="0"/>
                <a:cs typeface="Times New Roman" pitchFamily="18" charset="0"/>
              </a:rPr>
              <a:t>0Ah</a:t>
            </a:r>
          </a:p>
          <a:p>
            <a:pPr>
              <a:lnSpc>
                <a:spcPts val="1900"/>
              </a:lnSpc>
              <a:tabLst/>
            </a:pPr>
            <a:r>
              <a:rPr lang="en-US" altLang="zh-CN" sz="900" b="1" dirty="0">
                <a:solidFill>
                  <a:srgbClr val="000000"/>
                </a:solidFill>
                <a:latin typeface="Times New Roman" pitchFamily="18" charset="0"/>
                <a:cs typeface="Times New Roman" pitchFamily="18" charset="0"/>
              </a:rPr>
              <a:t>0Bh</a:t>
            </a:r>
          </a:p>
          <a:p>
            <a:pPr>
              <a:lnSpc>
                <a:spcPts val="1900"/>
              </a:lnSpc>
              <a:tabLst/>
            </a:pPr>
            <a:r>
              <a:rPr lang="en-US" altLang="zh-CN" sz="900" b="1" dirty="0">
                <a:solidFill>
                  <a:srgbClr val="000000"/>
                </a:solidFill>
                <a:latin typeface="Times New Roman" pitchFamily="18" charset="0"/>
                <a:cs typeface="Times New Roman" pitchFamily="18" charset="0"/>
              </a:rPr>
              <a:t>0Ch</a:t>
            </a:r>
          </a:p>
          <a:p>
            <a:pPr>
              <a:lnSpc>
                <a:spcPts val="1900"/>
              </a:lnSpc>
              <a:tabLst/>
            </a:pPr>
            <a:r>
              <a:rPr lang="en-US" altLang="zh-CN" sz="900" b="1" dirty="0">
                <a:solidFill>
                  <a:srgbClr val="000000"/>
                </a:solidFill>
                <a:latin typeface="Times New Roman" pitchFamily="18" charset="0"/>
                <a:cs typeface="Times New Roman" pitchFamily="18" charset="0"/>
              </a:rPr>
              <a:t>0Dh</a:t>
            </a:r>
          </a:p>
        </p:txBody>
      </p:sp>
      <p:sp>
        <p:nvSpPr>
          <p:cNvPr id="16" name="TextBox 1"/>
          <p:cNvSpPr txBox="1"/>
          <p:nvPr/>
        </p:nvSpPr>
        <p:spPr>
          <a:xfrm>
            <a:off x="6464300" y="3886200"/>
            <a:ext cx="203200" cy="647700"/>
          </a:xfrm>
          <a:prstGeom prst="rect">
            <a:avLst/>
          </a:prstGeom>
          <a:noFill/>
        </p:spPr>
        <p:txBody>
          <a:bodyPr wrap="none" lIns="0" tIns="0" rIns="0" rtlCol="0">
            <a:spAutoFit/>
          </a:bodyPr>
          <a:lstStyle/>
          <a:p>
            <a:pPr>
              <a:lnSpc>
                <a:spcPts val="1200"/>
              </a:lnSpc>
              <a:tabLst/>
            </a:pPr>
            <a:r>
              <a:rPr lang="en-US" altLang="zh-CN" sz="900" b="1" dirty="0">
                <a:solidFill>
                  <a:srgbClr val="000000"/>
                </a:solidFill>
                <a:latin typeface="Times New Roman" pitchFamily="18" charset="0"/>
                <a:cs typeface="Times New Roman" pitchFamily="18" charset="0"/>
              </a:rPr>
              <a:t>0Eh</a:t>
            </a:r>
          </a:p>
          <a:p>
            <a:pPr>
              <a:lnSpc>
                <a:spcPts val="1900"/>
              </a:lnSpc>
              <a:tabLst/>
            </a:pPr>
            <a:r>
              <a:rPr lang="en-US" altLang="zh-CN" sz="900" b="1" dirty="0">
                <a:solidFill>
                  <a:srgbClr val="000000"/>
                </a:solidFill>
                <a:latin typeface="Times New Roman" pitchFamily="18" charset="0"/>
                <a:cs typeface="Times New Roman" pitchFamily="18" charset="0"/>
              </a:rPr>
              <a:t>0Fh</a:t>
            </a:r>
          </a:p>
          <a:p>
            <a:pPr>
              <a:lnSpc>
                <a:spcPts val="1900"/>
              </a:lnSpc>
              <a:tabLst/>
            </a:pPr>
            <a:r>
              <a:rPr lang="en-US" altLang="zh-CN" sz="900" b="1" dirty="0">
                <a:solidFill>
                  <a:srgbClr val="000000"/>
                </a:solidFill>
                <a:latin typeface="Times New Roman" pitchFamily="18" charset="0"/>
                <a:cs typeface="Times New Roman" pitchFamily="18" charset="0"/>
              </a:rPr>
              <a:t>10h</a:t>
            </a:r>
          </a:p>
        </p:txBody>
      </p:sp>
      <p:sp>
        <p:nvSpPr>
          <p:cNvPr id="18" name="TextBox 1"/>
          <p:cNvSpPr txBox="1"/>
          <p:nvPr/>
        </p:nvSpPr>
        <p:spPr>
          <a:xfrm>
            <a:off x="7505700" y="3779837"/>
            <a:ext cx="2095500" cy="2590800"/>
          </a:xfrm>
          <a:prstGeom prst="rect">
            <a:avLst/>
          </a:prstGeom>
          <a:noFill/>
        </p:spPr>
        <p:txBody>
          <a:bodyPr wrap="none" lIns="0" tIns="0" rIns="0" rtlCol="0">
            <a:spAutoFit/>
          </a:bodyPr>
          <a:lstStyle/>
          <a:p>
            <a:pPr>
              <a:lnSpc>
                <a:spcPts val="1900"/>
              </a:lnSpc>
              <a:tabLst/>
            </a:pPr>
            <a:r>
              <a:rPr lang="en-US" altLang="zh-CN" sz="1397" b="1" u="sng" dirty="0">
                <a:solidFill>
                  <a:srgbClr val="000000"/>
                </a:solidFill>
                <a:latin typeface="Times New Roman" pitchFamily="18" charset="0"/>
                <a:cs typeface="Times New Roman" pitchFamily="18" charset="0"/>
              </a:rPr>
              <a:t>Set de instrucciones</a:t>
            </a:r>
          </a:p>
          <a:p>
            <a:pPr>
              <a:lnSpc>
                <a:spcPts val="1700"/>
              </a:lnSpc>
              <a:tabLst/>
            </a:pPr>
            <a:r>
              <a:rPr lang="en-US" altLang="zh-CN" sz="1397" b="1" dirty="0">
                <a:solidFill>
                  <a:srgbClr val="000000"/>
                </a:solidFill>
                <a:latin typeface="Times New Roman" pitchFamily="18" charset="0"/>
                <a:cs typeface="Times New Roman" pitchFamily="18" charset="0"/>
              </a:rPr>
              <a:t>Ortogonal: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Todas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las</a:t>
            </a:r>
          </a:p>
          <a:p>
            <a:pPr>
              <a:lnSpc>
                <a:spcPts val="1800"/>
              </a:lnSpc>
              <a:tabLst/>
            </a:pPr>
            <a:r>
              <a:rPr lang="en-US" altLang="zh-CN" sz="1397" b="1" dirty="0">
                <a:solidFill>
                  <a:srgbClr val="000000"/>
                </a:solidFill>
                <a:latin typeface="Times New Roman" pitchFamily="18" charset="0"/>
                <a:cs typeface="Times New Roman" pitchFamily="18" charset="0"/>
              </a:rPr>
              <a:t>instrucciones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pueden</a:t>
            </a:r>
          </a:p>
          <a:p>
            <a:pPr>
              <a:lnSpc>
                <a:spcPts val="1700"/>
              </a:lnSpc>
              <a:tabLst/>
            </a:pPr>
            <a:r>
              <a:rPr lang="en-US" altLang="zh-CN" sz="1397" b="1" dirty="0">
                <a:solidFill>
                  <a:srgbClr val="000000"/>
                </a:solidFill>
                <a:latin typeface="Times New Roman" pitchFamily="18" charset="0"/>
                <a:cs typeface="Times New Roman" pitchFamily="18" charset="0"/>
              </a:rPr>
              <a:t>operar</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sobre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cualquier</a:t>
            </a:r>
          </a:p>
          <a:p>
            <a:pPr>
              <a:lnSpc>
                <a:spcPts val="1800"/>
              </a:lnSpc>
              <a:tabLst/>
            </a:pPr>
            <a:r>
              <a:rPr lang="en-US" altLang="zh-CN" sz="1397" b="1" dirty="0">
                <a:solidFill>
                  <a:srgbClr val="000000"/>
                </a:solidFill>
                <a:latin typeface="Times New Roman" pitchFamily="18" charset="0"/>
                <a:cs typeface="Times New Roman" pitchFamily="18" charset="0"/>
              </a:rPr>
              <a:t>localización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memoria</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datos</a:t>
            </a:r>
          </a:p>
          <a:p>
            <a:pPr>
              <a:lnSpc>
                <a:spcPts val="2200"/>
              </a:lnSpc>
              <a:tabLst/>
            </a:pP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longitud</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formato</a:t>
            </a:r>
          </a:p>
          <a:p>
            <a:pPr>
              <a:lnSpc>
                <a:spcPts val="1800"/>
              </a:lnSpc>
              <a:tabLst/>
            </a:pP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palabras</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p>
          <a:p>
            <a:pPr>
              <a:lnSpc>
                <a:spcPts val="1700"/>
              </a:lnSpc>
              <a:tabLst/>
            </a:pPr>
            <a:r>
              <a:rPr lang="en-US" altLang="zh-CN" sz="1397" b="1" dirty="0">
                <a:solidFill>
                  <a:srgbClr val="000000"/>
                </a:solidFill>
                <a:latin typeface="Times New Roman" pitchFamily="18" charset="0"/>
                <a:cs typeface="Times New Roman" pitchFamily="18" charset="0"/>
              </a:rPr>
              <a:t>instrucción</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permite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un</a:t>
            </a:r>
          </a:p>
          <a:p>
            <a:pPr>
              <a:lnSpc>
                <a:spcPts val="1800"/>
              </a:lnSpc>
              <a:tabLst/>
            </a:pPr>
            <a:r>
              <a:rPr lang="en-US" altLang="zh-CN" sz="1397" b="1" dirty="0">
                <a:solidFill>
                  <a:srgbClr val="000000"/>
                </a:solidFill>
                <a:latin typeface="Times New Roman" pitchFamily="18" charset="0"/>
                <a:cs typeface="Times New Roman" pitchFamily="18" charset="0"/>
              </a:rPr>
              <a:t>direccionamiento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directo</a:t>
            </a:r>
          </a:p>
          <a:p>
            <a:pPr>
              <a:lnSpc>
                <a:spcPts val="1700"/>
              </a:lnSpc>
              <a:tabLst/>
            </a:pPr>
            <a:r>
              <a:rPr lang="en-US" altLang="zh-CN" sz="1397" b="1" dirty="0">
                <a:solidFill>
                  <a:srgbClr val="000000"/>
                </a:solidFill>
                <a:latin typeface="Times New Roman" pitchFamily="18" charset="0"/>
                <a:cs typeface="Times New Roman" pitchFamily="18" charset="0"/>
              </a:rPr>
              <a:t>del</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archivo</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registros</a:t>
            </a:r>
          </a:p>
        </p:txBody>
      </p:sp>
      <p:sp>
        <p:nvSpPr>
          <p:cNvPr id="19" name="TextBox 1"/>
          <p:cNvSpPr txBox="1"/>
          <p:nvPr/>
        </p:nvSpPr>
        <p:spPr>
          <a:xfrm>
            <a:off x="1181100" y="4495800"/>
            <a:ext cx="2984500" cy="2108200"/>
          </a:xfrm>
          <a:prstGeom prst="rect">
            <a:avLst/>
          </a:prstGeom>
          <a:noFill/>
        </p:spPr>
        <p:txBody>
          <a:bodyPr wrap="none" lIns="0" tIns="0" rIns="0" rtlCol="0">
            <a:spAutoFit/>
          </a:bodyPr>
          <a:lstStyle/>
          <a:p>
            <a:pPr>
              <a:lnSpc>
                <a:spcPts val="2200"/>
              </a:lnSpc>
              <a:tabLst>
                <a:tab pos="254000" algn="l"/>
                <a:tab pos="508000" algn="l"/>
                <a:tab pos="850900" algn="l"/>
                <a:tab pos="914400" algn="l"/>
                <a:tab pos="1270000" algn="l"/>
              </a:tabLst>
            </a:pPr>
            <a:r>
              <a:rPr lang="en-US" altLang="zh-CN" dirty="0"/>
              <a:t>					</a:t>
            </a:r>
            <a:r>
              <a:rPr lang="en-US" altLang="zh-CN" sz="1602" dirty="0">
                <a:solidFill>
                  <a:srgbClr val="000000"/>
                </a:solidFill>
                <a:latin typeface="Arial Black" pitchFamily="18" charset="0"/>
                <a:cs typeface="Arial Black" pitchFamily="18" charset="0"/>
              </a:rPr>
              <a:t>W</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500"/>
              </a:lnSpc>
              <a:tabLst>
                <a:tab pos="254000" algn="l"/>
                <a:tab pos="508000" algn="l"/>
                <a:tab pos="850900" algn="l"/>
                <a:tab pos="914400" algn="l"/>
                <a:tab pos="1270000" algn="l"/>
              </a:tabLst>
            </a:pPr>
            <a:r>
              <a:rPr lang="en-US" altLang="zh-CN" sz="1302" b="1" dirty="0">
                <a:solidFill>
                  <a:srgbClr val="000000"/>
                </a:solidFill>
                <a:latin typeface="Times New Roman" pitchFamily="18" charset="0"/>
                <a:cs typeface="Times New Roman" pitchFamily="18" charset="0"/>
              </a:rPr>
              <a:t>Decoded</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Instruction</a:t>
            </a:r>
          </a:p>
          <a:p>
            <a:pPr>
              <a:lnSpc>
                <a:spcPts val="1500"/>
              </a:lnSpc>
              <a:tabLst>
                <a:tab pos="254000" algn="l"/>
                <a:tab pos="508000" algn="l"/>
                <a:tab pos="850900" algn="l"/>
                <a:tab pos="914400" algn="l"/>
                <a:tab pos="1270000" algn="l"/>
              </a:tabLst>
            </a:pPr>
            <a:r>
              <a:rPr lang="en-US" altLang="zh-CN" dirty="0"/>
              <a:t>		</a:t>
            </a:r>
            <a:r>
              <a:rPr lang="en-US" altLang="zh-CN" sz="1302" b="1" dirty="0">
                <a:solidFill>
                  <a:srgbClr val="000000"/>
                </a:solidFill>
                <a:latin typeface="Times New Roman" pitchFamily="18" charset="0"/>
                <a:cs typeface="Times New Roman" pitchFamily="18" charset="0"/>
              </a:rPr>
              <a:t>from</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Program</a:t>
            </a:r>
          </a:p>
          <a:p>
            <a:pPr>
              <a:lnSpc>
                <a:spcPts val="1500"/>
              </a:lnSpc>
              <a:tabLst>
                <a:tab pos="254000" algn="l"/>
                <a:tab pos="508000" algn="l"/>
                <a:tab pos="850900" algn="l"/>
                <a:tab pos="914400" algn="l"/>
                <a:tab pos="1270000" algn="l"/>
              </a:tabLst>
            </a:pPr>
            <a:r>
              <a:rPr lang="en-US" altLang="zh-CN" dirty="0"/>
              <a:t>				</a:t>
            </a:r>
            <a:r>
              <a:rPr lang="en-US" altLang="zh-CN" sz="1302" b="1" dirty="0">
                <a:solidFill>
                  <a:srgbClr val="000000"/>
                </a:solidFill>
                <a:latin typeface="Times New Roman" pitchFamily="18" charset="0"/>
                <a:cs typeface="Times New Roman" pitchFamily="18" charset="0"/>
              </a:rPr>
              <a:t>Memory:</a:t>
            </a:r>
          </a:p>
          <a:p>
            <a:pPr>
              <a:lnSpc>
                <a:spcPts val="2100"/>
              </a:lnSpc>
              <a:tabLst>
                <a:tab pos="254000" algn="l"/>
                <a:tab pos="508000" algn="l"/>
                <a:tab pos="850900" algn="l"/>
                <a:tab pos="914400" algn="l"/>
                <a:tab pos="1270000" algn="l"/>
              </a:tabLst>
            </a:pPr>
            <a:r>
              <a:rPr lang="en-US" altLang="zh-CN" dirty="0"/>
              <a:t>			</a:t>
            </a:r>
            <a:r>
              <a:rPr lang="en-US" altLang="zh-CN" sz="1097" b="1" dirty="0">
                <a:solidFill>
                  <a:srgbClr val="000000"/>
                </a:solidFill>
                <a:latin typeface="Times New Roman" pitchFamily="18" charset="0"/>
                <a:cs typeface="Times New Roman" pitchFamily="18" charset="0"/>
              </a:rPr>
              <a:t>Arithmetic/Logic</a:t>
            </a:r>
          </a:p>
          <a:p>
            <a:pPr>
              <a:lnSpc>
                <a:spcPts val="1500"/>
              </a:lnSpc>
              <a:tabLst>
                <a:tab pos="254000" algn="l"/>
                <a:tab pos="508000" algn="l"/>
                <a:tab pos="850900" algn="l"/>
                <a:tab pos="914400" algn="l"/>
                <a:tab pos="1270000" algn="l"/>
              </a:tabLst>
            </a:pPr>
            <a:r>
              <a:rPr lang="en-US" altLang="zh-CN" dirty="0"/>
              <a:t>	</a:t>
            </a:r>
            <a:r>
              <a:rPr lang="en-US" altLang="zh-CN" sz="1097" b="1" dirty="0">
                <a:solidFill>
                  <a:srgbClr val="000000"/>
                </a:solidFill>
                <a:latin typeface="Times New Roman" pitchFamily="18" charset="0"/>
                <a:cs typeface="Times New Roman" pitchFamily="18" charset="0"/>
              </a:rPr>
              <a:t>Function</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to</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be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Performed</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Result</a:t>
            </a:r>
          </a:p>
        </p:txBody>
      </p:sp>
      <p:sp>
        <p:nvSpPr>
          <p:cNvPr id="20" name="TextBox 1"/>
          <p:cNvSpPr txBox="1"/>
          <p:nvPr/>
        </p:nvSpPr>
        <p:spPr>
          <a:xfrm>
            <a:off x="3568700" y="6515100"/>
            <a:ext cx="749300" cy="190500"/>
          </a:xfrm>
          <a:prstGeom prst="rect">
            <a:avLst/>
          </a:prstGeom>
          <a:noFill/>
        </p:spPr>
        <p:txBody>
          <a:bodyPr wrap="none" lIns="0" tIns="0" rIns="0" rtlCol="0">
            <a:spAutoFit/>
          </a:bodyPr>
          <a:lstStyle/>
          <a:p>
            <a:pPr>
              <a:lnSpc>
                <a:spcPts val="1500"/>
              </a:lnSpc>
              <a:tabLst/>
            </a:pPr>
            <a:r>
              <a:rPr lang="en-US" altLang="zh-CN" sz="1097" b="1" dirty="0">
                <a:solidFill>
                  <a:srgbClr val="000000"/>
                </a:solidFill>
                <a:latin typeface="Times New Roman" pitchFamily="18" charset="0"/>
                <a:cs typeface="Times New Roman" pitchFamily="18" charset="0"/>
              </a:rPr>
              <a:t>Destination</a:t>
            </a:r>
          </a:p>
        </p:txBody>
      </p:sp>
      <p:sp>
        <p:nvSpPr>
          <p:cNvPr id="21" name="TextBox 1"/>
          <p:cNvSpPr txBox="1"/>
          <p:nvPr/>
        </p:nvSpPr>
        <p:spPr>
          <a:xfrm>
            <a:off x="4394200" y="5562600"/>
            <a:ext cx="1879600" cy="965200"/>
          </a:xfrm>
          <a:prstGeom prst="rect">
            <a:avLst/>
          </a:prstGeom>
          <a:noFill/>
        </p:spPr>
        <p:txBody>
          <a:bodyPr wrap="none" lIns="0" tIns="0" rIns="0" rtlCol="0">
            <a:spAutoFit/>
          </a:bodyPr>
          <a:lstStyle/>
          <a:p>
            <a:pPr>
              <a:lnSpc>
                <a:spcPts val="1900"/>
              </a:lnSpc>
              <a:tabLst>
                <a:tab pos="609600" algn="l"/>
              </a:tabLst>
            </a:pPr>
            <a:r>
              <a:rPr lang="en-US" altLang="zh-CN" sz="1397" dirty="0">
                <a:solidFill>
                  <a:srgbClr val="CC0000"/>
                </a:solidFill>
                <a:latin typeface="Arial Black" pitchFamily="18" charset="0"/>
                <a:cs typeface="Arial Black" pitchFamily="18" charset="0"/>
              </a:rPr>
              <a:t>Address</a:t>
            </a:r>
          </a:p>
          <a:p>
            <a:pPr>
              <a:lnSpc>
                <a:spcPts val="1000"/>
              </a:lnSpc>
            </a:pPr>
            <a:endParaRPr lang="en-US" altLang="zh-CN" dirty="0"/>
          </a:p>
          <a:p>
            <a:pPr>
              <a:lnSpc>
                <a:spcPts val="1000"/>
              </a:lnSpc>
            </a:pPr>
            <a:endParaRPr lang="en-US" altLang="zh-CN" dirty="0"/>
          </a:p>
          <a:p>
            <a:pPr>
              <a:lnSpc>
                <a:spcPts val="2300"/>
              </a:lnSpc>
              <a:tabLst>
                <a:tab pos="609600" algn="l"/>
              </a:tabLst>
            </a:pPr>
            <a:r>
              <a:rPr lang="en-US" altLang="zh-CN" dirty="0"/>
              <a:t>	</a:t>
            </a:r>
            <a:r>
              <a:rPr lang="en-US" altLang="zh-CN" sz="1097" b="1" dirty="0">
                <a:solidFill>
                  <a:srgbClr val="000000"/>
                </a:solidFill>
                <a:latin typeface="Times New Roman" pitchFamily="18" charset="0"/>
                <a:cs typeface="Times New Roman" pitchFamily="18" charset="0"/>
              </a:rPr>
              <a:t>Address</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of</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Second</a:t>
            </a:r>
          </a:p>
          <a:p>
            <a:pPr>
              <a:lnSpc>
                <a:spcPts val="1300"/>
              </a:lnSpc>
              <a:tabLst>
                <a:tab pos="609600" algn="l"/>
              </a:tabLst>
            </a:pPr>
            <a:r>
              <a:rPr lang="en-US" altLang="zh-CN" dirty="0"/>
              <a:t>	</a:t>
            </a:r>
            <a:r>
              <a:rPr lang="en-US" altLang="zh-CN" sz="1097" b="1" dirty="0">
                <a:solidFill>
                  <a:srgbClr val="000000"/>
                </a:solidFill>
                <a:latin typeface="Times New Roman" pitchFamily="18" charset="0"/>
                <a:cs typeface="Times New Roman" pitchFamily="18" charset="0"/>
              </a:rPr>
              <a:t>Source</a:t>
            </a:r>
            <a:r>
              <a:rPr lang="en-US" altLang="zh-CN" sz="1097" dirty="0">
                <a:latin typeface="Times New Roman" pitchFamily="18" charset="0"/>
                <a:cs typeface="Times New Roman" pitchFamily="18" charset="0"/>
              </a:rPr>
              <a:t> </a:t>
            </a:r>
            <a:r>
              <a:rPr lang="en-US" altLang="zh-CN" sz="1097" b="1" dirty="0">
                <a:solidFill>
                  <a:srgbClr val="000000"/>
                </a:solidFill>
                <a:latin typeface="Times New Roman" pitchFamily="18" charset="0"/>
                <a:cs typeface="Times New Roman" pitchFamily="18" charset="0"/>
              </a:rPr>
              <a:t>Operand</a:t>
            </a:r>
          </a:p>
        </p:txBody>
      </p:sp>
      <p:pic>
        <p:nvPicPr>
          <p:cNvPr id="11" name="Imagen 10" descr="Imagen que contiene Calendario&#10;&#10;El contenido generado por IA puede ser incorrecto.">
            <a:extLst>
              <a:ext uri="{FF2B5EF4-FFF2-40B4-BE49-F238E27FC236}">
                <a16:creationId xmlns:a16="http://schemas.microsoft.com/office/drawing/2014/main" id="{37CBFBA9-07D9-794B-F6A9-DDF2C94487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3489755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2717800" y="584200"/>
            <a:ext cx="6388100" cy="774700"/>
          </a:xfrm>
          <a:prstGeom prst="rect">
            <a:avLst/>
          </a:prstGeom>
          <a:noFill/>
        </p:spPr>
        <p:txBody>
          <a:bodyPr wrap="none" lIns="0" tIns="0" rIns="0" rtlCol="0">
            <a:spAutoFit/>
          </a:bodyPr>
          <a:lstStyle/>
          <a:p>
            <a:pPr>
              <a:lnSpc>
                <a:spcPts val="6100"/>
              </a:lnSpc>
              <a:tabLst/>
            </a:pPr>
            <a:r>
              <a:rPr lang="en-US" altLang="zh-CN" sz="4397" b="1" dirty="0">
                <a:solidFill>
                  <a:srgbClr val="000000"/>
                </a:solidFill>
                <a:latin typeface="Times New Roman" pitchFamily="18" charset="0"/>
                <a:cs typeface="Times New Roman" pitchFamily="18" charset="0"/>
              </a:rPr>
              <a:t>Instérprete</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Visual</a:t>
            </a:r>
            <a:r>
              <a:rPr lang="en-US" altLang="zh-CN" sz="4397" dirty="0">
                <a:latin typeface="Times New Roman" pitchFamily="18" charset="0"/>
                <a:cs typeface="Times New Roman" pitchFamily="18" charset="0"/>
              </a:rPr>
              <a:t> </a:t>
            </a:r>
            <a:r>
              <a:rPr lang="en-US" altLang="zh-CN" sz="4397" b="1" dirty="0">
                <a:solidFill>
                  <a:srgbClr val="000000"/>
                </a:solidFill>
                <a:latin typeface="Times New Roman" pitchFamily="18" charset="0"/>
                <a:cs typeface="Times New Roman" pitchFamily="18" charset="0"/>
              </a:rPr>
              <a:t>PIC16</a:t>
            </a:r>
          </a:p>
        </p:txBody>
      </p:sp>
      <p:sp>
        <p:nvSpPr>
          <p:cNvPr id="3" name="TextBox 1"/>
          <p:cNvSpPr txBox="1"/>
          <p:nvPr/>
        </p:nvSpPr>
        <p:spPr>
          <a:xfrm>
            <a:off x="5092700" y="2425700"/>
            <a:ext cx="355600" cy="419100"/>
          </a:xfrm>
          <a:prstGeom prst="rect">
            <a:avLst/>
          </a:prstGeom>
          <a:noFill/>
        </p:spPr>
        <p:txBody>
          <a:bodyPr wrap="none" lIns="0" tIns="0" rIns="0" rtlCol="0">
            <a:spAutoFit/>
          </a:bodyPr>
          <a:lstStyle/>
          <a:p>
            <a:pPr>
              <a:lnSpc>
                <a:spcPts val="1800"/>
              </a:lnSpc>
              <a:tabLst>
                <a:tab pos="25400" algn="l"/>
              </a:tabLst>
            </a:pPr>
            <a:r>
              <a:rPr lang="en-US" altLang="zh-CN" sz="1302" b="1" dirty="0">
                <a:solidFill>
                  <a:srgbClr val="000000"/>
                </a:solidFill>
                <a:latin typeface="Times New Roman" pitchFamily="18" charset="0"/>
                <a:cs typeface="Times New Roman" pitchFamily="18" charset="0"/>
              </a:rPr>
              <a:t>Data</a:t>
            </a:r>
          </a:p>
          <a:p>
            <a:pPr>
              <a:lnSpc>
                <a:spcPts val="1500"/>
              </a:lnSpc>
              <a:tabLst>
                <a:tab pos="25400" algn="l"/>
              </a:tabLst>
            </a:pPr>
            <a:r>
              <a:rPr lang="en-US" altLang="zh-CN" dirty="0"/>
              <a:t>	</a:t>
            </a:r>
            <a:r>
              <a:rPr lang="en-US" altLang="zh-CN" sz="1302" b="1" dirty="0">
                <a:solidFill>
                  <a:srgbClr val="000000"/>
                </a:solidFill>
                <a:latin typeface="Times New Roman" pitchFamily="18" charset="0"/>
                <a:cs typeface="Times New Roman" pitchFamily="18" charset="0"/>
              </a:rPr>
              <a:t>Bus</a:t>
            </a:r>
          </a:p>
        </p:txBody>
      </p:sp>
      <p:sp>
        <p:nvSpPr>
          <p:cNvPr id="4" name="TextBox 1"/>
          <p:cNvSpPr txBox="1"/>
          <p:nvPr/>
        </p:nvSpPr>
        <p:spPr>
          <a:xfrm>
            <a:off x="8636000" y="3302000"/>
            <a:ext cx="901700" cy="1346200"/>
          </a:xfrm>
          <a:prstGeom prst="rect">
            <a:avLst/>
          </a:prstGeom>
          <a:noFill/>
        </p:spPr>
        <p:txBody>
          <a:bodyPr wrap="none" lIns="0" tIns="0" rIns="0" rtlCol="0">
            <a:spAutoFit/>
          </a:bodyPr>
          <a:lstStyle/>
          <a:p>
            <a:pPr>
              <a:lnSpc>
                <a:spcPts val="2500"/>
              </a:lnSpc>
              <a:tabLst>
                <a:tab pos="38100" algn="l"/>
                <a:tab pos="50800" algn="l"/>
                <a:tab pos="63500" algn="l"/>
              </a:tabLst>
            </a:pPr>
            <a:r>
              <a:rPr lang="en-US" altLang="zh-CN" sz="1800" b="1" dirty="0">
                <a:solidFill>
                  <a:srgbClr val="000000"/>
                </a:solidFill>
                <a:latin typeface="Times New Roman" pitchFamily="18" charset="0"/>
                <a:cs typeface="Times New Roman" pitchFamily="18" charset="0"/>
              </a:rPr>
              <a:t>STATUS</a:t>
            </a:r>
          </a:p>
          <a:p>
            <a:pPr>
              <a:lnSpc>
                <a:spcPts val="2000"/>
              </a:lnSpc>
              <a:tabLst>
                <a:tab pos="38100" algn="l"/>
                <a:tab pos="50800" algn="l"/>
                <a:tab pos="63500" algn="l"/>
              </a:tabLst>
            </a:pPr>
            <a:r>
              <a:rPr lang="en-US" altLang="zh-CN" dirty="0"/>
              <a:t>			</a:t>
            </a:r>
            <a:r>
              <a:rPr lang="en-US" altLang="zh-CN" sz="1800" dirty="0">
                <a:solidFill>
                  <a:srgbClr val="000000"/>
                </a:solidFill>
                <a:latin typeface="Times New Roman" pitchFamily="18" charset="0"/>
                <a:cs typeface="Times New Roman" pitchFamily="18" charset="0"/>
              </a:rPr>
              <a:t>2</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1</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0</a:t>
            </a:r>
          </a:p>
          <a:p>
            <a:pPr>
              <a:lnSpc>
                <a:spcPts val="3300"/>
              </a:lnSpc>
              <a:tabLst>
                <a:tab pos="38100" algn="l"/>
                <a:tab pos="50800" algn="l"/>
                <a:tab pos="63500" algn="l"/>
              </a:tabLst>
            </a:pPr>
            <a:r>
              <a:rPr lang="en-US" altLang="zh-CN" dirty="0"/>
              <a:t>		</a:t>
            </a:r>
            <a:r>
              <a:rPr lang="en-US" altLang="zh-CN" sz="2502" b="1" dirty="0">
                <a:solidFill>
                  <a:srgbClr val="000000"/>
                </a:solidFill>
                <a:latin typeface="Times New Roman" pitchFamily="18" charset="0"/>
                <a:cs typeface="Times New Roman" pitchFamily="18" charset="0"/>
              </a:rPr>
              <a:t>1</a:t>
            </a:r>
            <a:r>
              <a:rPr lang="en-US" altLang="zh-CN" sz="2502" dirty="0">
                <a:latin typeface="Times New Roman" pitchFamily="18" charset="0"/>
                <a:cs typeface="Times New Roman" pitchFamily="18" charset="0"/>
              </a:rPr>
              <a:t>  </a:t>
            </a:r>
            <a:r>
              <a:rPr lang="en-US" altLang="zh-CN" sz="2502" b="1" dirty="0">
                <a:solidFill>
                  <a:srgbClr val="B2B2B2"/>
                </a:solidFill>
                <a:latin typeface="Times New Roman" pitchFamily="18" charset="0"/>
                <a:cs typeface="Times New Roman" pitchFamily="18" charset="0"/>
              </a:rPr>
              <a:t>0</a:t>
            </a:r>
            <a:r>
              <a:rPr lang="en-US" altLang="zh-CN" sz="2502" dirty="0">
                <a:latin typeface="Times New Roman" pitchFamily="18" charset="0"/>
                <a:cs typeface="Times New Roman" pitchFamily="18" charset="0"/>
              </a:rPr>
              <a:t>  </a:t>
            </a:r>
            <a:r>
              <a:rPr lang="en-US" altLang="zh-CN" sz="2502" b="1" dirty="0">
                <a:solidFill>
                  <a:srgbClr val="000000"/>
                </a:solidFill>
                <a:latin typeface="Times New Roman" pitchFamily="18" charset="0"/>
                <a:cs typeface="Times New Roman" pitchFamily="18" charset="0"/>
              </a:rPr>
              <a:t>0</a:t>
            </a:r>
          </a:p>
          <a:p>
            <a:pPr>
              <a:lnSpc>
                <a:spcPts val="2700"/>
              </a:lnSpc>
              <a:tabLst>
                <a:tab pos="38100" algn="l"/>
                <a:tab pos="50800" algn="l"/>
                <a:tab pos="63500" algn="l"/>
              </a:tabLst>
            </a:pPr>
            <a:r>
              <a:rPr lang="en-US" altLang="zh-CN" dirty="0"/>
              <a:t>	</a:t>
            </a:r>
            <a:r>
              <a:rPr lang="en-US" altLang="zh-CN" sz="1800" b="1" dirty="0">
                <a:solidFill>
                  <a:srgbClr val="000000"/>
                </a:solidFill>
                <a:latin typeface="Times New Roman" pitchFamily="18" charset="0"/>
                <a:cs typeface="Times New Roman" pitchFamily="18" charset="0"/>
              </a:rPr>
              <a:t>Z</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DC</a:t>
            </a:r>
            <a:r>
              <a:rPr lang="en-US" altLang="zh-CN" sz="1800" dirty="0">
                <a:latin typeface="Times New Roman" pitchFamily="18" charset="0"/>
                <a:cs typeface="Times New Roman" pitchFamily="18" charset="0"/>
              </a:rPr>
              <a:t> </a:t>
            </a:r>
            <a:r>
              <a:rPr lang="en-US" altLang="zh-CN" sz="1800" b="1" dirty="0">
                <a:solidFill>
                  <a:srgbClr val="000000"/>
                </a:solidFill>
                <a:latin typeface="Times New Roman" pitchFamily="18" charset="0"/>
                <a:cs typeface="Times New Roman" pitchFamily="18" charset="0"/>
              </a:rPr>
              <a:t>C</a:t>
            </a:r>
          </a:p>
        </p:txBody>
      </p:sp>
      <p:sp>
        <p:nvSpPr>
          <p:cNvPr id="5" name="TextBox 1"/>
          <p:cNvSpPr txBox="1"/>
          <p:nvPr/>
        </p:nvSpPr>
        <p:spPr>
          <a:xfrm>
            <a:off x="2552700" y="2484437"/>
            <a:ext cx="2260600" cy="4254500"/>
          </a:xfrm>
          <a:prstGeom prst="rect">
            <a:avLst/>
          </a:prstGeom>
          <a:noFill/>
        </p:spPr>
        <p:txBody>
          <a:bodyPr wrap="none" lIns="0" tIns="0" rIns="0" rtlCol="0">
            <a:spAutoFit/>
          </a:bodyPr>
          <a:lstStyle/>
          <a:p>
            <a:pPr>
              <a:lnSpc>
                <a:spcPts val="1800"/>
              </a:lnSpc>
              <a:tabLst>
                <a:tab pos="241300" algn="l"/>
                <a:tab pos="787400" algn="l"/>
                <a:tab pos="952500" algn="l"/>
                <a:tab pos="1041400" algn="l"/>
                <a:tab pos="1143000" algn="l"/>
              </a:tabLst>
            </a:pPr>
            <a:r>
              <a:rPr lang="en-US" altLang="zh-CN" sz="1302" b="1" dirty="0">
                <a:solidFill>
                  <a:srgbClr val="000000"/>
                </a:solidFill>
                <a:latin typeface="Times New Roman" pitchFamily="18" charset="0"/>
                <a:cs typeface="Times New Roman" pitchFamily="18" charset="0"/>
              </a:rPr>
              <a:t>Literal</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Data</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from</a:t>
            </a:r>
          </a:p>
          <a:p>
            <a:pPr>
              <a:lnSpc>
                <a:spcPts val="1500"/>
              </a:lnSpc>
              <a:tabLst>
                <a:tab pos="241300" algn="l"/>
                <a:tab pos="787400" algn="l"/>
                <a:tab pos="952500" algn="l"/>
                <a:tab pos="1041400" algn="l"/>
                <a:tab pos="1143000" algn="l"/>
              </a:tabLst>
            </a:pPr>
            <a:r>
              <a:rPr lang="en-US" altLang="zh-CN" sz="1302" b="1" dirty="0">
                <a:solidFill>
                  <a:srgbClr val="000000"/>
                </a:solidFill>
                <a:latin typeface="Times New Roman" pitchFamily="18" charset="0"/>
                <a:cs typeface="Times New Roman" pitchFamily="18" charset="0"/>
              </a:rPr>
              <a:t>Instruction</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Word</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6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800" dirty="0">
                <a:latin typeface="Times New Roman" pitchFamily="18" charset="0"/>
                <a:cs typeface="Times New Roman" pitchFamily="18" charset="0"/>
              </a:rPr>
              <a:t>             </a:t>
            </a:r>
            <a:r>
              <a:rPr lang="en-US" altLang="zh-CN" sz="1800" dirty="0">
                <a:solidFill>
                  <a:srgbClr val="000000"/>
                </a:solidFill>
                <a:latin typeface="Arial Black" pitchFamily="18" charset="0"/>
                <a:cs typeface="Arial Black" pitchFamily="18" charset="0"/>
              </a:rPr>
              <a:t>f</a:t>
            </a:r>
          </a:p>
          <a:p>
            <a:pPr>
              <a:lnSpc>
                <a:spcPts val="2600"/>
              </a:lnSpc>
              <a:tabLst>
                <a:tab pos="241300" algn="l"/>
                <a:tab pos="787400" algn="l"/>
                <a:tab pos="952500" algn="l"/>
                <a:tab pos="1041400" algn="l"/>
                <a:tab pos="1143000" algn="l"/>
              </a:tabLst>
            </a:pPr>
            <a:r>
              <a:rPr lang="en-US" altLang="zh-CN" dirty="0"/>
              <a:t>			</a:t>
            </a:r>
            <a:r>
              <a:rPr lang="en-US" altLang="zh-CN" sz="2202" dirty="0">
                <a:solidFill>
                  <a:srgbClr val="000000"/>
                </a:solidFill>
                <a:latin typeface="Arial Black" pitchFamily="18" charset="0"/>
                <a:cs typeface="Arial Black" pitchFamily="18" charset="0"/>
              </a:rPr>
              <a:t>ALU</a:t>
            </a:r>
          </a:p>
          <a:p>
            <a:pPr>
              <a:lnSpc>
                <a:spcPts val="1000"/>
              </a:lnSpc>
            </a:pPr>
            <a:endParaRPr lang="en-US" altLang="zh-CN" dirty="0"/>
          </a:p>
          <a:p>
            <a:pPr>
              <a:lnSpc>
                <a:spcPts val="33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d</a:t>
            </a:r>
          </a:p>
          <a:p>
            <a:pPr>
              <a:lnSpc>
                <a:spcPts val="15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800" dirty="0">
                <a:latin typeface="Times New Roman" pitchFamily="18" charset="0"/>
                <a:cs typeface="Times New Roman" pitchFamily="18" charset="0"/>
              </a:rPr>
              <a:t>             </a:t>
            </a:r>
            <a:r>
              <a:rPr lang="en-US" altLang="zh-CN" sz="1800" dirty="0">
                <a:solidFill>
                  <a:srgbClr val="000000"/>
                </a:solidFill>
                <a:latin typeface="Arial Black" pitchFamily="18" charset="0"/>
                <a:cs typeface="Arial Black" pitchFamily="18" charset="0"/>
              </a:rPr>
              <a:t>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700"/>
              </a:lnSpc>
              <a:tabLst>
                <a:tab pos="241300" algn="l"/>
                <a:tab pos="787400" algn="l"/>
                <a:tab pos="952500" algn="l"/>
                <a:tab pos="1041400" algn="l"/>
                <a:tab pos="11430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200"/>
              </a:lnSpc>
              <a:tabLst>
                <a:tab pos="241300" algn="l"/>
                <a:tab pos="787400" algn="l"/>
                <a:tab pos="952500" algn="l"/>
                <a:tab pos="1041400" algn="l"/>
                <a:tab pos="1143000" algn="l"/>
              </a:tabLst>
            </a:pPr>
            <a:r>
              <a:rPr lang="en-US" altLang="zh-CN" dirty="0"/>
              <a:t>					</a:t>
            </a:r>
            <a:r>
              <a:rPr lang="en-US" altLang="zh-CN" sz="1800" dirty="0">
                <a:solidFill>
                  <a:srgbClr val="000000"/>
                </a:solidFill>
                <a:latin typeface="Arial Black" pitchFamily="18" charset="0"/>
                <a:cs typeface="Arial Black" pitchFamily="18" charset="0"/>
              </a:rPr>
              <a:t>W</a:t>
            </a:r>
            <a:r>
              <a:rPr lang="en-US" altLang="zh-CN" sz="1397" dirty="0">
                <a:latin typeface="Times New Roman" pitchFamily="18" charset="0"/>
                <a:cs typeface="Times New Roman" pitchFamily="18" charset="0"/>
              </a:rPr>
              <a:t>  </a:t>
            </a:r>
            <a:r>
              <a:rPr lang="en-US" altLang="zh-CN" sz="1397" dirty="0">
                <a:solidFill>
                  <a:srgbClr val="000000"/>
                </a:solidFill>
                <a:latin typeface="Arial Black" pitchFamily="18" charset="0"/>
                <a:cs typeface="Arial Black" pitchFamily="18" charset="0"/>
              </a:rPr>
              <a:t>Register</a:t>
            </a:r>
          </a:p>
        </p:txBody>
      </p:sp>
      <p:sp>
        <p:nvSpPr>
          <p:cNvPr id="6" name="TextBox 1"/>
          <p:cNvSpPr txBox="1"/>
          <p:nvPr/>
        </p:nvSpPr>
        <p:spPr>
          <a:xfrm>
            <a:off x="6400800" y="2649537"/>
            <a:ext cx="990600" cy="4330700"/>
          </a:xfrm>
          <a:prstGeom prst="rect">
            <a:avLst/>
          </a:prstGeom>
          <a:noFill/>
        </p:spPr>
        <p:txBody>
          <a:bodyPr wrap="none" lIns="0" tIns="0" rIns="0" rtlCol="0">
            <a:spAutoFit/>
          </a:bodyPr>
          <a:lstStyle/>
          <a:p>
            <a:pPr>
              <a:lnSpc>
                <a:spcPts val="1800"/>
              </a:lnSpc>
              <a:tabLst>
                <a:tab pos="304800" algn="l"/>
                <a:tab pos="317500" algn="l"/>
              </a:tabLst>
            </a:pPr>
            <a:r>
              <a:rPr lang="en-US" altLang="zh-CN" sz="1302" b="1" dirty="0">
                <a:solidFill>
                  <a:srgbClr val="000000"/>
                </a:solidFill>
                <a:latin typeface="Times New Roman" pitchFamily="18" charset="0"/>
                <a:cs typeface="Times New Roman" pitchFamily="18" charset="0"/>
              </a:rPr>
              <a:t>Register</a:t>
            </a:r>
            <a:r>
              <a:rPr lang="en-US" altLang="zh-CN" sz="1302" dirty="0">
                <a:latin typeface="Times New Roman" pitchFamily="18" charset="0"/>
                <a:cs typeface="Times New Roman" pitchFamily="18" charset="0"/>
              </a:rPr>
              <a:t> </a:t>
            </a:r>
            <a:r>
              <a:rPr lang="en-US" altLang="zh-CN" sz="1302" b="1" dirty="0">
                <a:solidFill>
                  <a:srgbClr val="000000"/>
                </a:solidFill>
                <a:latin typeface="Times New Roman" pitchFamily="18" charset="0"/>
                <a:cs typeface="Times New Roman" pitchFamily="18" charset="0"/>
              </a:rPr>
              <a:t>File</a:t>
            </a:r>
          </a:p>
          <a:p>
            <a:pPr>
              <a:lnSpc>
                <a:spcPts val="32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18</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9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a:p>
            <a:pPr>
              <a:lnSpc>
                <a:spcPts val="2600"/>
              </a:lnSpc>
              <a:tabLst>
                <a:tab pos="304800" algn="l"/>
                <a:tab pos="317500" algn="l"/>
              </a:tabLst>
            </a:pPr>
            <a:r>
              <a:rPr lang="en-US" altLang="zh-CN" dirty="0"/>
              <a:t>	</a:t>
            </a:r>
            <a:r>
              <a:rPr lang="en-US" altLang="zh-CN" sz="2502" b="1" dirty="0">
                <a:solidFill>
                  <a:srgbClr val="000000"/>
                </a:solidFill>
                <a:latin typeface="Times New Roman" pitchFamily="18" charset="0"/>
                <a:cs typeface="Times New Roman" pitchFamily="18" charset="0"/>
              </a:rPr>
              <a:t>FF</a:t>
            </a:r>
          </a:p>
        </p:txBody>
      </p:sp>
      <p:sp>
        <p:nvSpPr>
          <p:cNvPr id="7" name="TextBox 1"/>
          <p:cNvSpPr txBox="1"/>
          <p:nvPr/>
        </p:nvSpPr>
        <p:spPr>
          <a:xfrm>
            <a:off x="7772400" y="2768600"/>
            <a:ext cx="660400" cy="4267200"/>
          </a:xfrm>
          <a:prstGeom prst="rect">
            <a:avLst/>
          </a:prstGeom>
          <a:noFill/>
        </p:spPr>
        <p:txBody>
          <a:bodyPr wrap="none" lIns="0" tIns="0" rIns="0" rtlCol="0">
            <a:spAutoFit/>
          </a:bodyPr>
          <a:lstStyle/>
          <a:p>
            <a:pPr>
              <a:lnSpc>
                <a:spcPts val="1800"/>
              </a:lnSpc>
              <a:tabLst/>
            </a:pPr>
            <a:r>
              <a:rPr lang="en-US" altLang="zh-CN" sz="1302" b="1" dirty="0">
                <a:solidFill>
                  <a:srgbClr val="000000"/>
                </a:solidFill>
                <a:latin typeface="Times New Roman" pitchFamily="18" charset="0"/>
                <a:cs typeface="Times New Roman" pitchFamily="18" charset="0"/>
              </a:rPr>
              <a:t>Address</a:t>
            </a:r>
          </a:p>
          <a:p>
            <a:pPr>
              <a:lnSpc>
                <a:spcPts val="2600"/>
              </a:lnSpc>
              <a:tabLst/>
            </a:pPr>
            <a:r>
              <a:rPr lang="en-US" altLang="zh-CN" sz="1800" dirty="0">
                <a:solidFill>
                  <a:srgbClr val="000000"/>
                </a:solidFill>
                <a:latin typeface="Times New Roman" pitchFamily="18" charset="0"/>
                <a:cs typeface="Times New Roman" pitchFamily="18" charset="0"/>
              </a:rPr>
              <a:t>00h</a:t>
            </a:r>
          </a:p>
          <a:p>
            <a:pPr>
              <a:lnSpc>
                <a:spcPts val="2600"/>
              </a:lnSpc>
              <a:tabLst/>
            </a:pPr>
            <a:r>
              <a:rPr lang="en-US" altLang="zh-CN" sz="1800" dirty="0">
                <a:solidFill>
                  <a:srgbClr val="000000"/>
                </a:solidFill>
                <a:latin typeface="Times New Roman" pitchFamily="18" charset="0"/>
                <a:cs typeface="Times New Roman" pitchFamily="18" charset="0"/>
              </a:rPr>
              <a:t>01h</a:t>
            </a:r>
          </a:p>
          <a:p>
            <a:pPr>
              <a:lnSpc>
                <a:spcPts val="2600"/>
              </a:lnSpc>
              <a:tabLst/>
            </a:pPr>
            <a:r>
              <a:rPr lang="en-US" altLang="zh-CN" sz="1800" dirty="0">
                <a:solidFill>
                  <a:srgbClr val="000000"/>
                </a:solidFill>
                <a:latin typeface="Times New Roman" pitchFamily="18" charset="0"/>
                <a:cs typeface="Times New Roman" pitchFamily="18" charset="0"/>
              </a:rPr>
              <a:t>02h</a:t>
            </a:r>
          </a:p>
          <a:p>
            <a:pPr>
              <a:lnSpc>
                <a:spcPts val="2600"/>
              </a:lnSpc>
              <a:tabLst/>
            </a:pPr>
            <a:r>
              <a:rPr lang="en-US" altLang="zh-CN" sz="1800" dirty="0">
                <a:solidFill>
                  <a:srgbClr val="000000"/>
                </a:solidFill>
                <a:latin typeface="Times New Roman" pitchFamily="18" charset="0"/>
                <a:cs typeface="Times New Roman" pitchFamily="18" charset="0"/>
              </a:rPr>
              <a:t>03h</a:t>
            </a:r>
          </a:p>
          <a:p>
            <a:pPr>
              <a:lnSpc>
                <a:spcPts val="2600"/>
              </a:lnSpc>
              <a:tabLst/>
            </a:pPr>
            <a:r>
              <a:rPr lang="en-US" altLang="zh-CN" sz="1800" dirty="0">
                <a:solidFill>
                  <a:srgbClr val="000000"/>
                </a:solidFill>
                <a:latin typeface="Times New Roman" pitchFamily="18" charset="0"/>
                <a:cs typeface="Times New Roman" pitchFamily="18" charset="0"/>
              </a:rPr>
              <a:t>04h</a:t>
            </a:r>
          </a:p>
          <a:p>
            <a:pPr>
              <a:lnSpc>
                <a:spcPts val="2600"/>
              </a:lnSpc>
              <a:tabLst/>
            </a:pPr>
            <a:r>
              <a:rPr lang="en-US" altLang="zh-CN" sz="1800" dirty="0">
                <a:solidFill>
                  <a:srgbClr val="000000"/>
                </a:solidFill>
                <a:latin typeface="Times New Roman" pitchFamily="18" charset="0"/>
                <a:cs typeface="Times New Roman" pitchFamily="18" charset="0"/>
              </a:rPr>
              <a:t>05h</a:t>
            </a:r>
          </a:p>
          <a:p>
            <a:pPr>
              <a:lnSpc>
                <a:spcPts val="2600"/>
              </a:lnSpc>
              <a:tabLst/>
            </a:pPr>
            <a:r>
              <a:rPr lang="en-US" altLang="zh-CN" sz="1800" dirty="0">
                <a:solidFill>
                  <a:srgbClr val="000000"/>
                </a:solidFill>
                <a:latin typeface="Times New Roman" pitchFamily="18" charset="0"/>
                <a:cs typeface="Times New Roman" pitchFamily="18" charset="0"/>
              </a:rPr>
              <a:t>06h</a:t>
            </a:r>
          </a:p>
          <a:p>
            <a:pPr>
              <a:lnSpc>
                <a:spcPts val="2600"/>
              </a:lnSpc>
              <a:tabLst/>
            </a:pPr>
            <a:r>
              <a:rPr lang="en-US" altLang="zh-CN" sz="1800" dirty="0">
                <a:solidFill>
                  <a:srgbClr val="000000"/>
                </a:solidFill>
                <a:latin typeface="Times New Roman" pitchFamily="18" charset="0"/>
                <a:cs typeface="Times New Roman" pitchFamily="18" charset="0"/>
              </a:rPr>
              <a:t>07h</a:t>
            </a:r>
          </a:p>
          <a:p>
            <a:pPr>
              <a:lnSpc>
                <a:spcPts val="2600"/>
              </a:lnSpc>
              <a:tabLst/>
            </a:pPr>
            <a:r>
              <a:rPr lang="en-US" altLang="zh-CN" sz="1800" dirty="0">
                <a:solidFill>
                  <a:srgbClr val="000000"/>
                </a:solidFill>
                <a:latin typeface="Times New Roman" pitchFamily="18" charset="0"/>
                <a:cs typeface="Times New Roman" pitchFamily="18" charset="0"/>
              </a:rPr>
              <a:t>08h</a:t>
            </a:r>
          </a:p>
          <a:p>
            <a:pPr>
              <a:lnSpc>
                <a:spcPts val="2600"/>
              </a:lnSpc>
              <a:tabLst/>
            </a:pPr>
            <a:r>
              <a:rPr lang="en-US" altLang="zh-CN" sz="1800" dirty="0">
                <a:solidFill>
                  <a:srgbClr val="000000"/>
                </a:solidFill>
                <a:latin typeface="Times New Roman" pitchFamily="18" charset="0"/>
                <a:cs typeface="Times New Roman" pitchFamily="18" charset="0"/>
              </a:rPr>
              <a:t>09h</a:t>
            </a:r>
          </a:p>
          <a:p>
            <a:pPr>
              <a:lnSpc>
                <a:spcPts val="2600"/>
              </a:lnSpc>
              <a:tabLst/>
            </a:pPr>
            <a:r>
              <a:rPr lang="en-US" altLang="zh-CN" sz="1800" dirty="0">
                <a:solidFill>
                  <a:srgbClr val="000000"/>
                </a:solidFill>
                <a:latin typeface="Times New Roman" pitchFamily="18" charset="0"/>
                <a:cs typeface="Times New Roman" pitchFamily="18" charset="0"/>
              </a:rPr>
              <a:t>0Ah</a:t>
            </a:r>
          </a:p>
          <a:p>
            <a:pPr>
              <a:lnSpc>
                <a:spcPts val="2600"/>
              </a:lnSpc>
              <a:tabLst/>
            </a:pPr>
            <a:r>
              <a:rPr lang="en-US" altLang="zh-CN" sz="1800" dirty="0">
                <a:solidFill>
                  <a:srgbClr val="000000"/>
                </a:solidFill>
                <a:latin typeface="Times New Roman" pitchFamily="18" charset="0"/>
                <a:cs typeface="Times New Roman" pitchFamily="18" charset="0"/>
              </a:rPr>
              <a:t>0Bh</a:t>
            </a:r>
          </a:p>
        </p:txBody>
      </p:sp>
      <p:sp>
        <p:nvSpPr>
          <p:cNvPr id="8" name="TextBox 1"/>
          <p:cNvSpPr txBox="1"/>
          <p:nvPr/>
        </p:nvSpPr>
        <p:spPr>
          <a:xfrm>
            <a:off x="1155700" y="1689100"/>
            <a:ext cx="1320800" cy="469900"/>
          </a:xfrm>
          <a:prstGeom prst="rect">
            <a:avLst/>
          </a:prstGeom>
          <a:noFill/>
        </p:spPr>
        <p:txBody>
          <a:bodyPr wrap="none" lIns="0" tIns="0" rIns="0" rtlCol="0">
            <a:spAutoFit/>
          </a:bodyPr>
          <a:lstStyle/>
          <a:p>
            <a:pPr>
              <a:lnSpc>
                <a:spcPts val="3700"/>
              </a:lnSpc>
              <a:tabLst/>
            </a:pPr>
            <a:r>
              <a:rPr lang="en-US" altLang="zh-CN" sz="2639" dirty="0">
                <a:solidFill>
                  <a:srgbClr val="000000"/>
                </a:solidFill>
                <a:latin typeface="Arial Black" pitchFamily="18" charset="0"/>
                <a:cs typeface="Arial Black" pitchFamily="18" charset="0"/>
              </a:rPr>
              <a:t>ADDLW</a:t>
            </a:r>
          </a:p>
        </p:txBody>
      </p:sp>
      <p:sp>
        <p:nvSpPr>
          <p:cNvPr id="9" name="TextBox 1"/>
          <p:cNvSpPr txBox="1"/>
          <p:nvPr/>
        </p:nvSpPr>
        <p:spPr>
          <a:xfrm>
            <a:off x="7988300" y="1790700"/>
            <a:ext cx="698500" cy="241300"/>
          </a:xfrm>
          <a:prstGeom prst="rect">
            <a:avLst/>
          </a:prstGeom>
          <a:noFill/>
        </p:spPr>
        <p:txBody>
          <a:bodyPr wrap="none" lIns="0" tIns="0" rIns="0" rtlCol="0">
            <a:spAutoFit/>
          </a:bodyPr>
          <a:lstStyle/>
          <a:p>
            <a:pPr>
              <a:lnSpc>
                <a:spcPts val="1900"/>
              </a:lnSpc>
              <a:tabLst/>
            </a:pPr>
            <a:r>
              <a:rPr lang="en-US" altLang="zh-CN" sz="1433" b="1" dirty="0">
                <a:solidFill>
                  <a:srgbClr val="000000"/>
                </a:solidFill>
                <a:latin typeface="Times New Roman" pitchFamily="18" charset="0"/>
                <a:cs typeface="Times New Roman" pitchFamily="18" charset="0"/>
              </a:rPr>
              <a:t>Execute</a:t>
            </a:r>
          </a:p>
        </p:txBody>
      </p:sp>
      <p:sp>
        <p:nvSpPr>
          <p:cNvPr id="10" name="TextBox 1"/>
          <p:cNvSpPr txBox="1"/>
          <p:nvPr/>
        </p:nvSpPr>
        <p:spPr>
          <a:xfrm>
            <a:off x="8966200" y="1790700"/>
            <a:ext cx="495300" cy="241300"/>
          </a:xfrm>
          <a:prstGeom prst="rect">
            <a:avLst/>
          </a:prstGeom>
          <a:noFill/>
        </p:spPr>
        <p:txBody>
          <a:bodyPr wrap="none" lIns="0" tIns="0" rIns="0" rtlCol="0">
            <a:spAutoFit/>
          </a:bodyPr>
          <a:lstStyle/>
          <a:p>
            <a:pPr>
              <a:lnSpc>
                <a:spcPts val="1900"/>
              </a:lnSpc>
              <a:tabLst/>
            </a:pPr>
            <a:r>
              <a:rPr lang="en-US" altLang="zh-CN" sz="1433" b="1" dirty="0">
                <a:solidFill>
                  <a:srgbClr val="000000"/>
                </a:solidFill>
                <a:latin typeface="Times New Roman" pitchFamily="18" charset="0"/>
                <a:cs typeface="Times New Roman" pitchFamily="18" charset="0"/>
              </a:rPr>
              <a:t>Reset</a:t>
            </a:r>
          </a:p>
        </p:txBody>
      </p:sp>
      <p:sp>
        <p:nvSpPr>
          <p:cNvPr id="11" name="TextBox 1"/>
          <p:cNvSpPr txBox="1"/>
          <p:nvPr/>
        </p:nvSpPr>
        <p:spPr>
          <a:xfrm>
            <a:off x="1155700" y="2616200"/>
            <a:ext cx="228600" cy="571500"/>
          </a:xfrm>
          <a:prstGeom prst="rect">
            <a:avLst/>
          </a:prstGeom>
          <a:noFill/>
        </p:spPr>
        <p:txBody>
          <a:bodyPr wrap="none" lIns="0" tIns="0" rIns="0" rtlCol="0">
            <a:spAutoFit/>
          </a:bodyPr>
          <a:lstStyle/>
          <a:p>
            <a:pPr>
              <a:lnSpc>
                <a:spcPts val="1300"/>
              </a:lnSpc>
              <a:tabLst/>
            </a:pPr>
            <a:r>
              <a:rPr lang="en-US" altLang="zh-CN" sz="984" b="1" dirty="0">
                <a:solidFill>
                  <a:srgbClr val="000000"/>
                </a:solidFill>
                <a:latin typeface="Times New Roman" pitchFamily="18" charset="0"/>
                <a:cs typeface="Times New Roman" pitchFamily="18" charset="0"/>
              </a:rPr>
              <a:t>Hex</a:t>
            </a:r>
          </a:p>
          <a:p>
            <a:pPr>
              <a:lnSpc>
                <a:spcPts val="1500"/>
              </a:lnSpc>
              <a:tabLst/>
            </a:pPr>
            <a:r>
              <a:rPr lang="en-US" altLang="zh-CN" sz="984" b="1" dirty="0">
                <a:solidFill>
                  <a:srgbClr val="000000"/>
                </a:solidFill>
                <a:latin typeface="Times New Roman" pitchFamily="18" charset="0"/>
                <a:cs typeface="Times New Roman" pitchFamily="18" charset="0"/>
              </a:rPr>
              <a:t>Dec</a:t>
            </a:r>
          </a:p>
          <a:p>
            <a:pPr>
              <a:lnSpc>
                <a:spcPts val="1500"/>
              </a:lnSpc>
              <a:tabLst/>
            </a:pPr>
            <a:r>
              <a:rPr lang="en-US" altLang="zh-CN" sz="984" b="1" dirty="0">
                <a:solidFill>
                  <a:srgbClr val="000000"/>
                </a:solidFill>
                <a:latin typeface="Times New Roman" pitchFamily="18" charset="0"/>
                <a:cs typeface="Times New Roman" pitchFamily="18" charset="0"/>
              </a:rPr>
              <a:t>Bin</a:t>
            </a:r>
          </a:p>
        </p:txBody>
      </p:sp>
      <p:sp>
        <p:nvSpPr>
          <p:cNvPr id="12" name="TextBox 1"/>
          <p:cNvSpPr txBox="1"/>
          <p:nvPr/>
        </p:nvSpPr>
        <p:spPr>
          <a:xfrm>
            <a:off x="4597400" y="1689100"/>
            <a:ext cx="1092200" cy="482600"/>
          </a:xfrm>
          <a:prstGeom prst="rect">
            <a:avLst/>
          </a:prstGeom>
          <a:noFill/>
        </p:spPr>
        <p:txBody>
          <a:bodyPr wrap="none" lIns="0" tIns="0" rIns="0" rtlCol="0">
            <a:spAutoFit/>
          </a:bodyPr>
          <a:lstStyle/>
          <a:p>
            <a:pPr>
              <a:lnSpc>
                <a:spcPts val="3800"/>
              </a:lnSpc>
              <a:tabLst/>
            </a:pPr>
            <a:r>
              <a:rPr lang="en-US" altLang="zh-CN" sz="2639" dirty="0">
                <a:solidFill>
                  <a:srgbClr val="000000"/>
                </a:solidFill>
                <a:latin typeface="Arial Black" pitchFamily="18" charset="0"/>
                <a:cs typeface="Arial Black" pitchFamily="18" charset="0"/>
              </a:rPr>
              <a:t>0x0A</a:t>
            </a:r>
            <a:r>
              <a:rPr lang="en-US" altLang="zh-CN" sz="2617" dirty="0">
                <a:latin typeface="Times New Roman" pitchFamily="18" charset="0"/>
                <a:cs typeface="Times New Roman" pitchFamily="18" charset="0"/>
              </a:rPr>
              <a:t> </a:t>
            </a:r>
            <a:r>
              <a:rPr lang="en-US" altLang="zh-CN" sz="2617" dirty="0">
                <a:solidFill>
                  <a:srgbClr val="ACA89A"/>
                </a:solidFill>
                <a:latin typeface="Arial Black" pitchFamily="18" charset="0"/>
                <a:cs typeface="Arial Black" pitchFamily="18" charset="0"/>
              </a:rPr>
              <a:t>,</a:t>
            </a:r>
          </a:p>
        </p:txBody>
      </p:sp>
      <p:pic>
        <p:nvPicPr>
          <p:cNvPr id="13" name="Imagen 12" descr="Imagen que contiene Calendario&#10;&#10;El contenido generado por IA puede ser incorrecto.">
            <a:extLst>
              <a:ext uri="{FF2B5EF4-FFF2-40B4-BE49-F238E27FC236}">
                <a16:creationId xmlns:a16="http://schemas.microsoft.com/office/drawing/2014/main" id="{0A6DB382-8896-67EB-1AA1-462E04A3429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42333825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03300" y="2865437"/>
            <a:ext cx="8229600" cy="1143000"/>
          </a:xfrm>
        </p:spPr>
        <p:txBody>
          <a:bodyPr/>
          <a:lstStyle/>
          <a:p>
            <a:r>
              <a:rPr lang="es-ES" b="1" i="1" u="sng" dirty="0">
                <a:solidFill>
                  <a:srgbClr val="0070C0"/>
                </a:solidFill>
                <a:effectLst>
                  <a:outerShdw blurRad="38100" dist="38100" dir="2700000" algn="tl">
                    <a:srgbClr val="000000">
                      <a:alpha val="43137"/>
                    </a:srgbClr>
                  </a:outerShdw>
                </a:effectLst>
              </a:rPr>
              <a:t>Bancos y Registros de Trabajo</a:t>
            </a:r>
          </a:p>
        </p:txBody>
      </p:sp>
      <p:pic>
        <p:nvPicPr>
          <p:cNvPr id="3" name="Imagen 2" descr="Imagen que contiene Calendario&#10;&#10;El contenido generado por IA puede ser incorrecto.">
            <a:extLst>
              <a:ext uri="{FF2B5EF4-FFF2-40B4-BE49-F238E27FC236}">
                <a16:creationId xmlns:a16="http://schemas.microsoft.com/office/drawing/2014/main" id="{9FCE7A27-E7A2-E53C-1098-A47DF604C2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232263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3 Imagen" descr="http://perso.wanadoo.es/pictob/imagenes/memdato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792" y="947927"/>
            <a:ext cx="4108308" cy="2758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1 Título"/>
          <p:cNvSpPr txBox="1">
            <a:spLocks/>
          </p:cNvSpPr>
          <p:nvPr/>
        </p:nvSpPr>
        <p:spPr>
          <a:xfrm>
            <a:off x="999490" y="0"/>
            <a:ext cx="9071610" cy="828432"/>
          </a:xfrm>
          <a:prstGeom prst="rect">
            <a:avLst/>
          </a:prstGeom>
          <a:noFill/>
        </p:spPr>
        <p:txBody>
          <a:bodyPr wrap="square" lIns="0" tIns="0" rIns="0" rtlCol="0">
            <a:spAutoFit/>
          </a:bodyPr>
          <a:lstStyle>
            <a:defPPr>
              <a:defRPr lang="en-US"/>
            </a:defPPr>
            <a:lvl1pPr algn="ctr">
              <a:lnSpc>
                <a:spcPts val="6100"/>
              </a:lnSpc>
              <a:tabLst/>
              <a:defRPr sz="4397"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s-AR" sz="2800" dirty="0"/>
              <a:t>Arquitectura Interna PIC16Fxx - Memoria de Datos</a:t>
            </a:r>
            <a:endParaRPr lang="es-ES" sz="2800" dirty="0"/>
          </a:p>
        </p:txBody>
      </p:sp>
      <p:sp>
        <p:nvSpPr>
          <p:cNvPr id="3" name="CuadroTexto 2"/>
          <p:cNvSpPr txBox="1"/>
          <p:nvPr/>
        </p:nvSpPr>
        <p:spPr>
          <a:xfrm>
            <a:off x="810895" y="1504467"/>
            <a:ext cx="4916805" cy="923330"/>
          </a:xfrm>
          <a:prstGeom prst="rect">
            <a:avLst/>
          </a:prstGeom>
          <a:noFill/>
        </p:spPr>
        <p:txBody>
          <a:bodyPr wrap="square" rtlCol="0">
            <a:spAutoFit/>
          </a:bodyPr>
          <a:lstStyle/>
          <a:p>
            <a:pPr>
              <a:spcBef>
                <a:spcPct val="0"/>
              </a:spcBef>
            </a:pPr>
            <a:r>
              <a:rPr lang="es-AR" altLang="es-ES" b="1" dirty="0">
                <a:solidFill>
                  <a:srgbClr val="FF0000"/>
                </a:solidFill>
                <a:effectLst>
                  <a:outerShdw blurRad="38100" dist="38100" dir="2700000" algn="tl">
                    <a:srgbClr val="000000">
                      <a:alpha val="43137"/>
                    </a:srgbClr>
                  </a:outerShdw>
                </a:effectLst>
              </a:rPr>
              <a:t>Está organizada en páginas o bancos de registro. Para cambiar de página se utiliza un bit del registro STATUS (RP0).</a:t>
            </a:r>
          </a:p>
        </p:txBody>
      </p:sp>
      <p:sp>
        <p:nvSpPr>
          <p:cNvPr id="4" name="Rectángulo 3"/>
          <p:cNvSpPr/>
          <p:nvPr/>
        </p:nvSpPr>
        <p:spPr>
          <a:xfrm>
            <a:off x="4919203" y="5066307"/>
            <a:ext cx="5151897" cy="923330"/>
          </a:xfrm>
          <a:prstGeom prst="rect">
            <a:avLst/>
          </a:prstGeom>
          <a:noFill/>
        </p:spPr>
        <p:txBody>
          <a:bodyPr wrap="square" rtlCol="0">
            <a:spAutoFit/>
          </a:bodyPr>
          <a:lstStyle/>
          <a:p>
            <a:pPr>
              <a:spcBef>
                <a:spcPct val="0"/>
              </a:spcBef>
            </a:pPr>
            <a:r>
              <a:rPr lang="es-AR" altLang="es-ES" b="1" dirty="0">
                <a:solidFill>
                  <a:srgbClr val="FF0000"/>
                </a:solidFill>
                <a:effectLst>
                  <a:outerShdw blurRad="38100" dist="38100" dir="2700000" algn="tl">
                    <a:srgbClr val="000000">
                      <a:alpha val="43137"/>
                    </a:srgbClr>
                  </a:outerShdw>
                </a:effectLst>
              </a:rPr>
              <a:t>Cada banco se divide a su vez en dos áreas:</a:t>
            </a:r>
          </a:p>
          <a:p>
            <a:pPr marL="742950" lvl="1" indent="-285750">
              <a:spcBef>
                <a:spcPct val="0"/>
              </a:spcBef>
              <a:buFont typeface="Arial" pitchFamily="34" charset="0"/>
              <a:buChar char="•"/>
            </a:pPr>
            <a:r>
              <a:rPr lang="es-AR" altLang="es-ES" b="1" dirty="0">
                <a:solidFill>
                  <a:srgbClr val="FF0000"/>
                </a:solidFill>
                <a:effectLst>
                  <a:outerShdw blurRad="38100" dist="38100" dir="2700000" algn="tl">
                    <a:srgbClr val="000000">
                      <a:alpha val="43137"/>
                    </a:srgbClr>
                  </a:outerShdw>
                </a:effectLst>
              </a:rPr>
              <a:t>SFR (Registros de Funciones Especiales)</a:t>
            </a:r>
          </a:p>
          <a:p>
            <a:pPr marL="742950" lvl="1" indent="-285750">
              <a:spcBef>
                <a:spcPct val="0"/>
              </a:spcBef>
              <a:buFont typeface="Arial" pitchFamily="34" charset="0"/>
              <a:buChar char="•"/>
            </a:pPr>
            <a:r>
              <a:rPr lang="es-AR" altLang="es-ES" b="1" dirty="0">
                <a:solidFill>
                  <a:srgbClr val="FF0000"/>
                </a:solidFill>
                <a:effectLst>
                  <a:outerShdw blurRad="38100" dist="38100" dir="2700000" algn="tl">
                    <a:srgbClr val="000000">
                      <a:alpha val="43137"/>
                    </a:srgbClr>
                  </a:outerShdw>
                </a:effectLst>
              </a:rPr>
              <a:t>GPR (Registros de Propósito General)</a:t>
            </a:r>
            <a:endParaRPr lang="es-ES" b="1" dirty="0">
              <a:solidFill>
                <a:srgbClr val="FF000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272" y="2840204"/>
            <a:ext cx="4049326" cy="4719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8700" y="3756030"/>
            <a:ext cx="3378978" cy="1117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Elipse 1"/>
          <p:cNvSpPr/>
          <p:nvPr/>
        </p:nvSpPr>
        <p:spPr>
          <a:xfrm>
            <a:off x="7008249" y="4008437"/>
            <a:ext cx="472051" cy="914400"/>
          </a:xfrm>
          <a:prstGeom prst="ellipse">
            <a:avLst/>
          </a:prstGeom>
          <a:solidFill>
            <a:srgbClr val="FF0000">
              <a:alpha val="2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p:cNvSpPr/>
          <p:nvPr/>
        </p:nvSpPr>
        <p:spPr>
          <a:xfrm>
            <a:off x="2222500" y="5151437"/>
            <a:ext cx="2286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9" name="Imagen 8" descr="Imagen que contiene Calendario&#10;&#10;El contenido generado por IA puede ser incorrecto.">
            <a:extLst>
              <a:ext uri="{FF2B5EF4-FFF2-40B4-BE49-F238E27FC236}">
                <a16:creationId xmlns:a16="http://schemas.microsoft.com/office/drawing/2014/main" id="{1524364E-20D5-3D77-2821-8976F930BE1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8496122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774" y="884237"/>
            <a:ext cx="4049326" cy="659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603" name="1 Título"/>
          <p:cNvSpPr txBox="1">
            <a:spLocks/>
          </p:cNvSpPr>
          <p:nvPr/>
        </p:nvSpPr>
        <p:spPr bwMode="auto">
          <a:xfrm>
            <a:off x="810895" y="122237"/>
            <a:ext cx="9071610" cy="61947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s-AR" altLang="es-ES" sz="2646" b="1" i="1" dirty="0">
                <a:solidFill>
                  <a:srgbClr val="FF0000"/>
                </a:solidFill>
                <a:effectLst>
                  <a:outerShdw blurRad="38100" dist="38100" dir="2700000" algn="tl">
                    <a:srgbClr val="000000">
                      <a:alpha val="43137"/>
                    </a:srgbClr>
                  </a:outerShdw>
                </a:effectLst>
                <a:latin typeface="Calibri" panose="020F0502020204030204" pitchFamily="34" charset="0"/>
              </a:rPr>
              <a:t>Memoria de Datos</a:t>
            </a:r>
          </a:p>
        </p:txBody>
      </p:sp>
      <p:sp>
        <p:nvSpPr>
          <p:cNvPr id="25604" name="3 CuadroTexto"/>
          <p:cNvSpPr txBox="1">
            <a:spLocks noChangeArrowheads="1"/>
          </p:cNvSpPr>
          <p:nvPr/>
        </p:nvSpPr>
        <p:spPr bwMode="auto">
          <a:xfrm>
            <a:off x="139482" y="3322637"/>
            <a:ext cx="4750018" cy="703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ES" sz="1984" b="1" i="1" dirty="0">
                <a:solidFill>
                  <a:srgbClr val="FF0000"/>
                </a:solidFill>
                <a:effectLst>
                  <a:outerShdw blurRad="38100" dist="38100" dir="2700000" algn="tl">
                    <a:srgbClr val="000000">
                      <a:alpha val="43137"/>
                    </a:srgbClr>
                  </a:outerShdw>
                </a:effectLst>
              </a:rPr>
              <a:t>SFR: Registros de Propósito Especial</a:t>
            </a:r>
          </a:p>
          <a:p>
            <a:pPr eaLnBrk="1" hangingPunct="1"/>
            <a:r>
              <a:rPr lang="es-AR" altLang="es-ES" sz="1984" b="1" i="1" dirty="0">
                <a:solidFill>
                  <a:srgbClr val="0070C0"/>
                </a:solidFill>
                <a:effectLst>
                  <a:outerShdw blurRad="38100" dist="38100" dir="2700000" algn="tl">
                    <a:srgbClr val="000000">
                      <a:alpha val="43137"/>
                    </a:srgbClr>
                  </a:outerShdw>
                </a:effectLst>
              </a:rPr>
              <a:t>GFR: Registros de Propósito General</a:t>
            </a:r>
          </a:p>
        </p:txBody>
      </p:sp>
      <p:sp>
        <p:nvSpPr>
          <p:cNvPr id="2" name="Rectángulo 1"/>
          <p:cNvSpPr/>
          <p:nvPr/>
        </p:nvSpPr>
        <p:spPr>
          <a:xfrm>
            <a:off x="6030892" y="4025650"/>
            <a:ext cx="306408" cy="1750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descr="Imagen que contiene Calendario&#10;&#10;El contenido generado por IA puede ser incorrecto.">
            <a:extLst>
              <a:ext uri="{FF2B5EF4-FFF2-40B4-BE49-F238E27FC236}">
                <a16:creationId xmlns:a16="http://schemas.microsoft.com/office/drawing/2014/main" id="{80E896C4-8933-1C7C-0DEC-4EA9D6D3CF9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720040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28980" y="414337"/>
            <a:ext cx="9169400" cy="6870700"/>
          </a:xfrm>
          <a:prstGeom prst="rect">
            <a:avLst/>
          </a:prstGeom>
          <a:noFill/>
        </p:spPr>
      </p:pic>
      <p:sp>
        <p:nvSpPr>
          <p:cNvPr id="3" name="TextBox 1"/>
          <p:cNvSpPr txBox="1"/>
          <p:nvPr/>
        </p:nvSpPr>
        <p:spPr>
          <a:xfrm>
            <a:off x="1999814" y="122237"/>
            <a:ext cx="5953938" cy="1379865"/>
          </a:xfrm>
          <a:prstGeom prst="rect">
            <a:avLst/>
          </a:prstGeom>
          <a:noFill/>
        </p:spPr>
        <p:txBody>
          <a:bodyPr wrap="none" lIns="0" tIns="0" rIns="0" rtlCol="0">
            <a:spAutoFit/>
          </a:bodyPr>
          <a:lstStyle/>
          <a:p>
            <a:pPr algn="ctr">
              <a:lnSpc>
                <a:spcPts val="6100"/>
              </a:lnSpc>
              <a:tabLst>
                <a:tab pos="254000" algn="l"/>
              </a:tabLst>
            </a:pPr>
            <a:r>
              <a:rPr lang="en-US" altLang="zh-CN" dirty="0"/>
              <a:t>	</a:t>
            </a: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Organización de la </a:t>
            </a:r>
            <a:r>
              <a:rPr lang="en-US" altLang="zh-CN" sz="2646" b="1" i="1" dirty="0" err="1">
                <a:solidFill>
                  <a:srgbClr val="FF0000"/>
                </a:solidFill>
                <a:effectLst>
                  <a:outerShdw blurRad="38100" dist="38100" dir="2700000" algn="tl">
                    <a:srgbClr val="000000">
                      <a:alpha val="43137"/>
                    </a:srgbClr>
                  </a:outerShdw>
                </a:effectLst>
                <a:latin typeface="Calibri" panose="020F0502020204030204" pitchFamily="34" charset="0"/>
              </a:rPr>
              <a:t>Memoria</a:t>
            </a: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 de Datos</a:t>
            </a:r>
          </a:p>
          <a:p>
            <a:pPr>
              <a:lnSpc>
                <a:spcPts val="4300"/>
              </a:lnSpc>
              <a:tabLst>
                <a:tab pos="254000" algn="l"/>
              </a:tabLst>
            </a:pPr>
            <a:endParaRPr lang="en-US" altLang="zh-CN" sz="1397" b="1" dirty="0">
              <a:solidFill>
                <a:srgbClr val="000000"/>
              </a:solidFill>
              <a:latin typeface="Times New Roman" pitchFamily="18" charset="0"/>
              <a:cs typeface="Times New Roman" pitchFamily="18" charset="0"/>
            </a:endParaRPr>
          </a:p>
        </p:txBody>
      </p:sp>
      <p:sp>
        <p:nvSpPr>
          <p:cNvPr id="4" name="TextBox 1"/>
          <p:cNvSpPr txBox="1"/>
          <p:nvPr/>
        </p:nvSpPr>
        <p:spPr>
          <a:xfrm>
            <a:off x="3784600" y="1866900"/>
            <a:ext cx="1155700" cy="4737100"/>
          </a:xfrm>
          <a:prstGeom prst="rect">
            <a:avLst/>
          </a:prstGeom>
          <a:noFill/>
        </p:spPr>
        <p:txBody>
          <a:bodyPr wrap="none" lIns="0" tIns="0" rIns="0" rtlCol="0">
            <a:spAutoFit/>
          </a:bodyPr>
          <a:lstStyle/>
          <a:p>
            <a:pPr>
              <a:lnSpc>
                <a:spcPts val="19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228600" algn="l"/>
                <a:tab pos="241300" algn="l"/>
                <a:tab pos="304800" algn="l"/>
                <a:tab pos="317500" algn="l"/>
                <a:tab pos="368300" algn="l"/>
                <a:tab pos="381000" algn="l"/>
                <a:tab pos="393700" algn="l"/>
              </a:tabLst>
            </a:pPr>
            <a:r>
              <a:rPr lang="en-US" altLang="zh-CN" sz="1397" b="1" dirty="0">
                <a:solidFill>
                  <a:srgbClr val="000000"/>
                </a:solidFill>
                <a:latin typeface="Times New Roman" pitchFamily="18" charset="0"/>
                <a:cs typeface="Times New Roman" pitchFamily="18" charset="0"/>
              </a:rPr>
              <a:t>OPTION_REG</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STATUS</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TRISA</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TRISB</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TRISC</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TRISD</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TRISE</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PCLATH</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CC0000"/>
                </a:solidFill>
                <a:latin typeface="Times New Roman" pitchFamily="18" charset="0"/>
                <a:cs typeface="Times New Roman" pitchFamily="18" charset="0"/>
              </a:rPr>
              <a:t>INTCON</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PIE1</a:t>
            </a:r>
          </a:p>
          <a:p>
            <a:pPr>
              <a:lnSpc>
                <a:spcPts val="2700"/>
              </a:lnSpc>
              <a:tabLst>
                <a:tab pos="228600" algn="l"/>
                <a:tab pos="241300" algn="l"/>
                <a:tab pos="304800" algn="l"/>
                <a:tab pos="317500" algn="l"/>
                <a:tab pos="368300" algn="l"/>
                <a:tab pos="381000" algn="l"/>
                <a:tab pos="393700" algn="l"/>
              </a:tabLst>
            </a:pPr>
            <a:r>
              <a:rPr lang="en-US" altLang="zh-CN" dirty="0"/>
              <a:t>						</a:t>
            </a:r>
            <a:r>
              <a:rPr lang="en-US" altLang="zh-CN" sz="1397" b="1" dirty="0">
                <a:solidFill>
                  <a:srgbClr val="000000"/>
                </a:solidFill>
                <a:latin typeface="Times New Roman" pitchFamily="18" charset="0"/>
                <a:cs typeface="Times New Roman" pitchFamily="18" charset="0"/>
              </a:rPr>
              <a:t>PIE2</a:t>
            </a:r>
          </a:p>
        </p:txBody>
      </p:sp>
      <p:sp>
        <p:nvSpPr>
          <p:cNvPr id="5" name="TextBox 1"/>
          <p:cNvSpPr txBox="1"/>
          <p:nvPr/>
        </p:nvSpPr>
        <p:spPr>
          <a:xfrm>
            <a:off x="6197600" y="1866900"/>
            <a:ext cx="698500" cy="4737100"/>
          </a:xfrm>
          <a:prstGeom prst="rect">
            <a:avLst/>
          </a:prstGeom>
          <a:noFill/>
        </p:spPr>
        <p:txBody>
          <a:bodyPr wrap="none" lIns="0" tIns="0" rIns="0" rtlCol="0">
            <a:spAutoFit/>
          </a:bodyPr>
          <a:lstStyle/>
          <a:p>
            <a:pPr>
              <a:lnSpc>
                <a:spcPts val="19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TMR0</a:t>
            </a:r>
          </a:p>
          <a:p>
            <a:pPr>
              <a:lnSpc>
                <a:spcPts val="27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STATUS</a:t>
            </a:r>
          </a:p>
          <a:p>
            <a:pPr>
              <a:lnSpc>
                <a:spcPts val="2700"/>
              </a:lnSpc>
              <a:tabLst>
                <a:tab pos="38100" algn="l"/>
                <a:tab pos="1143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4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PORTB</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PCLATH</a:t>
            </a:r>
          </a:p>
          <a:p>
            <a:pPr>
              <a:lnSpc>
                <a:spcPts val="2700"/>
              </a:lnSpc>
              <a:tabLst>
                <a:tab pos="38100" algn="l"/>
                <a:tab pos="114300" algn="l"/>
                <a:tab pos="152400" algn="l"/>
                <a:tab pos="177800" algn="l"/>
              </a:tabLst>
            </a:pPr>
            <a:r>
              <a:rPr lang="en-US" altLang="zh-CN" sz="1397" b="1" dirty="0">
                <a:solidFill>
                  <a:srgbClr val="CC0000"/>
                </a:solidFill>
                <a:latin typeface="Times New Roman" pitchFamily="18" charset="0"/>
                <a:cs typeface="Times New Roman" pitchFamily="18" charset="0"/>
              </a:rPr>
              <a:t>INTCON</a:t>
            </a:r>
          </a:p>
          <a:p>
            <a:pPr>
              <a:lnSpc>
                <a:spcPts val="2700"/>
              </a:lnSpc>
              <a:tabLst>
                <a:tab pos="38100" algn="l"/>
                <a:tab pos="114300" algn="l"/>
                <a:tab pos="152400" algn="l"/>
                <a:tab pos="177800" algn="l"/>
              </a:tabLst>
            </a:pPr>
            <a:r>
              <a:rPr lang="en-US" altLang="zh-CN" sz="1397" b="1" dirty="0">
                <a:solidFill>
                  <a:srgbClr val="000000"/>
                </a:solidFill>
                <a:latin typeface="Times New Roman" pitchFamily="18" charset="0"/>
                <a:cs typeface="Times New Roman" pitchFamily="18" charset="0"/>
              </a:rPr>
              <a:t>EEDATA</a:t>
            </a:r>
          </a:p>
          <a:p>
            <a:pPr>
              <a:lnSpc>
                <a:spcPts val="2700"/>
              </a:lnSpc>
              <a:tabLst>
                <a:tab pos="38100" algn="l"/>
                <a:tab pos="1143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EEADR</a:t>
            </a:r>
          </a:p>
        </p:txBody>
      </p:sp>
      <p:sp>
        <p:nvSpPr>
          <p:cNvPr id="6" name="TextBox 1"/>
          <p:cNvSpPr txBox="1"/>
          <p:nvPr/>
        </p:nvSpPr>
        <p:spPr>
          <a:xfrm>
            <a:off x="8153400" y="1866900"/>
            <a:ext cx="1155700" cy="4737100"/>
          </a:xfrm>
          <a:prstGeom prst="rect">
            <a:avLst/>
          </a:prstGeom>
          <a:noFill/>
        </p:spPr>
        <p:txBody>
          <a:bodyPr wrap="none" lIns="0" tIns="0" rIns="0" rtlCol="0">
            <a:spAutoFit/>
          </a:bodyPr>
          <a:lstStyle/>
          <a:p>
            <a:pPr>
              <a:lnSpc>
                <a:spcPts val="19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215900" algn="l"/>
                <a:tab pos="228600" algn="l"/>
                <a:tab pos="241300" algn="l"/>
                <a:tab pos="317500" algn="l"/>
                <a:tab pos="381000" algn="l"/>
                <a:tab pos="406400" algn="l"/>
              </a:tabLst>
            </a:pPr>
            <a:r>
              <a:rPr lang="en-US" altLang="zh-CN" sz="1397" b="1" dirty="0">
                <a:solidFill>
                  <a:srgbClr val="000000"/>
                </a:solidFill>
                <a:latin typeface="Times New Roman" pitchFamily="18" charset="0"/>
                <a:cs typeface="Times New Roman" pitchFamily="18" charset="0"/>
              </a:rPr>
              <a:t>OPTION_REG</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STATUS</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4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TRISB</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PCLATH</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CC0000"/>
                </a:solidFill>
                <a:latin typeface="Times New Roman" pitchFamily="18" charset="0"/>
                <a:cs typeface="Times New Roman" pitchFamily="18" charset="0"/>
              </a:rPr>
              <a:t>INTCON</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EECON1</a:t>
            </a:r>
          </a:p>
          <a:p>
            <a:pPr>
              <a:lnSpc>
                <a:spcPts val="2700"/>
              </a:lnSpc>
              <a:tabLst>
                <a:tab pos="215900" algn="l"/>
                <a:tab pos="228600" algn="l"/>
                <a:tab pos="241300" algn="l"/>
                <a:tab pos="317500" algn="l"/>
                <a:tab pos="381000" algn="l"/>
                <a:tab pos="406400" algn="l"/>
              </a:tabLst>
            </a:pPr>
            <a:r>
              <a:rPr lang="en-US" altLang="zh-CN" dirty="0"/>
              <a:t>	</a:t>
            </a:r>
            <a:r>
              <a:rPr lang="en-US" altLang="zh-CN" sz="1397" b="1" dirty="0">
                <a:solidFill>
                  <a:srgbClr val="000000"/>
                </a:solidFill>
                <a:latin typeface="Times New Roman" pitchFamily="18" charset="0"/>
                <a:cs typeface="Times New Roman" pitchFamily="18" charset="0"/>
              </a:rPr>
              <a:t>EECON2</a:t>
            </a:r>
          </a:p>
        </p:txBody>
      </p:sp>
      <p:sp>
        <p:nvSpPr>
          <p:cNvPr id="7" name="TextBox 1"/>
          <p:cNvSpPr txBox="1"/>
          <p:nvPr/>
        </p:nvSpPr>
        <p:spPr>
          <a:xfrm>
            <a:off x="32512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089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08D</a:t>
            </a:r>
          </a:p>
        </p:txBody>
      </p:sp>
      <p:sp>
        <p:nvSpPr>
          <p:cNvPr id="8" name="TextBox 1"/>
          <p:cNvSpPr txBox="1"/>
          <p:nvPr/>
        </p:nvSpPr>
        <p:spPr>
          <a:xfrm>
            <a:off x="5435600" y="1905000"/>
            <a:ext cx="317500" cy="4737100"/>
          </a:xfrm>
          <a:prstGeom prst="rect">
            <a:avLst/>
          </a:prstGeom>
          <a:noFill/>
        </p:spPr>
        <p:txBody>
          <a:bodyPr wrap="none" lIns="0" tIns="0" rIns="0" rtlCol="0">
            <a:spAutoFit/>
          </a:bodyPr>
          <a:lstStyle/>
          <a:p>
            <a:pPr>
              <a:lnSpc>
                <a:spcPts val="19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100</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101</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102</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103</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104</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105</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106</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107</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108</a:t>
            </a:r>
          </a:p>
          <a:p>
            <a:pPr>
              <a:lnSpc>
                <a:spcPts val="2700"/>
              </a:lnSpc>
              <a:tabLst>
                <a:tab pos="38100" algn="l"/>
              </a:tabLst>
            </a:pPr>
            <a:r>
              <a:rPr lang="en-US" altLang="zh-CN" dirty="0"/>
              <a:t>	</a:t>
            </a:r>
            <a:r>
              <a:rPr lang="en-US" altLang="zh-CN" sz="1397" b="1" dirty="0">
                <a:solidFill>
                  <a:srgbClr val="000000"/>
                </a:solidFill>
                <a:latin typeface="Times New Roman" pitchFamily="18" charset="0"/>
                <a:cs typeface="Times New Roman" pitchFamily="18" charset="0"/>
              </a:rPr>
              <a:t>109</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10A</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10B</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10C</a:t>
            </a:r>
          </a:p>
          <a:p>
            <a:pPr>
              <a:lnSpc>
                <a:spcPts val="2700"/>
              </a:lnSpc>
              <a:tabLst>
                <a:tab pos="38100" algn="l"/>
              </a:tabLst>
            </a:pPr>
            <a:r>
              <a:rPr lang="en-US" altLang="zh-CN" sz="1397" b="1" dirty="0">
                <a:solidFill>
                  <a:srgbClr val="000000"/>
                </a:solidFill>
                <a:latin typeface="Times New Roman" pitchFamily="18" charset="0"/>
                <a:cs typeface="Times New Roman" pitchFamily="18" charset="0"/>
              </a:rPr>
              <a:t>10D</a:t>
            </a:r>
          </a:p>
        </p:txBody>
      </p:sp>
      <p:sp>
        <p:nvSpPr>
          <p:cNvPr id="9" name="TextBox 1"/>
          <p:cNvSpPr txBox="1"/>
          <p:nvPr/>
        </p:nvSpPr>
        <p:spPr>
          <a:xfrm>
            <a:off x="76327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189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18D</a:t>
            </a:r>
          </a:p>
        </p:txBody>
      </p:sp>
      <p:sp>
        <p:nvSpPr>
          <p:cNvPr id="10" name="TextBox 1"/>
          <p:cNvSpPr txBox="1"/>
          <p:nvPr/>
        </p:nvSpPr>
        <p:spPr>
          <a:xfrm>
            <a:off x="1879600" y="1866900"/>
            <a:ext cx="698500" cy="4737100"/>
          </a:xfrm>
          <a:prstGeom prst="rect">
            <a:avLst/>
          </a:prstGeom>
          <a:noFill/>
        </p:spPr>
        <p:txBody>
          <a:bodyPr wrap="none" lIns="0" tIns="0" rIns="0" rtlCol="0">
            <a:spAutoFit/>
          </a:bodyPr>
          <a:lstStyle/>
          <a:p>
            <a:pPr>
              <a:lnSpc>
                <a:spcPts val="19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INDF</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TMR0</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PCL</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STATUS</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CC0000"/>
                </a:solidFill>
                <a:latin typeface="Times New Roman" pitchFamily="18" charset="0"/>
                <a:cs typeface="Times New Roman" pitchFamily="18" charset="0"/>
              </a:rPr>
              <a:t>FSR</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PORTA</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PORTB</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PORTC</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PORTD</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PORTE</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PCLATH</a:t>
            </a:r>
          </a:p>
          <a:p>
            <a:pPr>
              <a:lnSpc>
                <a:spcPts val="2700"/>
              </a:lnSpc>
              <a:tabLst>
                <a:tab pos="38100" algn="l"/>
                <a:tab pos="50800" algn="l"/>
                <a:tab pos="114300" algn="l"/>
                <a:tab pos="139700" algn="l"/>
                <a:tab pos="152400" algn="l"/>
                <a:tab pos="177800" algn="l"/>
              </a:tabLst>
            </a:pPr>
            <a:r>
              <a:rPr lang="en-US" altLang="zh-CN" sz="1397" b="1" dirty="0">
                <a:solidFill>
                  <a:srgbClr val="CC0000"/>
                </a:solidFill>
                <a:latin typeface="Times New Roman" pitchFamily="18" charset="0"/>
                <a:cs typeface="Times New Roman" pitchFamily="18" charset="0"/>
              </a:rPr>
              <a:t>INTCON</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PIR1</a:t>
            </a:r>
          </a:p>
          <a:p>
            <a:pPr>
              <a:lnSpc>
                <a:spcPts val="2700"/>
              </a:lnSpc>
              <a:tabLst>
                <a:tab pos="38100" algn="l"/>
                <a:tab pos="50800" algn="l"/>
                <a:tab pos="114300" algn="l"/>
                <a:tab pos="139700" algn="l"/>
                <a:tab pos="152400" algn="l"/>
                <a:tab pos="177800" algn="l"/>
              </a:tabLst>
            </a:pPr>
            <a:r>
              <a:rPr lang="en-US" altLang="zh-CN" dirty="0"/>
              <a:t>					</a:t>
            </a:r>
            <a:r>
              <a:rPr lang="en-US" altLang="zh-CN" sz="1397" b="1" dirty="0">
                <a:solidFill>
                  <a:srgbClr val="000000"/>
                </a:solidFill>
                <a:latin typeface="Times New Roman" pitchFamily="18" charset="0"/>
                <a:cs typeface="Times New Roman" pitchFamily="18" charset="0"/>
              </a:rPr>
              <a:t>PIR2</a:t>
            </a:r>
          </a:p>
        </p:txBody>
      </p:sp>
      <p:sp>
        <p:nvSpPr>
          <p:cNvPr id="11" name="TextBox 1"/>
          <p:cNvSpPr txBox="1"/>
          <p:nvPr/>
        </p:nvSpPr>
        <p:spPr>
          <a:xfrm>
            <a:off x="1117600" y="1905000"/>
            <a:ext cx="317500" cy="4737100"/>
          </a:xfrm>
          <a:prstGeom prst="rect">
            <a:avLst/>
          </a:prstGeom>
          <a:noFill/>
        </p:spPr>
        <p:txBody>
          <a:bodyPr wrap="none" lIns="0" tIns="0" rIns="0" rtlCol="0">
            <a:spAutoFit/>
          </a:bodyPr>
          <a:lstStyle/>
          <a:p>
            <a:pPr>
              <a:lnSpc>
                <a:spcPts val="19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000</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001</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002</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003</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004</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005</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006</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007</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008</a:t>
            </a:r>
          </a:p>
          <a:p>
            <a:pPr>
              <a:lnSpc>
                <a:spcPts val="2700"/>
              </a:lnSpc>
              <a:tabLst>
                <a:tab pos="25400" algn="l"/>
              </a:tabLst>
            </a:pPr>
            <a:r>
              <a:rPr lang="en-US" altLang="zh-CN" dirty="0"/>
              <a:t>	</a:t>
            </a:r>
            <a:r>
              <a:rPr lang="en-US" altLang="zh-CN" sz="1397" b="1" dirty="0">
                <a:solidFill>
                  <a:srgbClr val="000000"/>
                </a:solidFill>
                <a:latin typeface="Times New Roman" pitchFamily="18" charset="0"/>
                <a:cs typeface="Times New Roman" pitchFamily="18" charset="0"/>
              </a:rPr>
              <a:t>009</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00A</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00B</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00C</a:t>
            </a:r>
          </a:p>
          <a:p>
            <a:pPr>
              <a:lnSpc>
                <a:spcPts val="2700"/>
              </a:lnSpc>
              <a:tabLst>
                <a:tab pos="25400" algn="l"/>
              </a:tabLst>
            </a:pPr>
            <a:r>
              <a:rPr lang="en-US" altLang="zh-CN" sz="1397" b="1" dirty="0">
                <a:solidFill>
                  <a:srgbClr val="000000"/>
                </a:solidFill>
                <a:latin typeface="Times New Roman" pitchFamily="18" charset="0"/>
                <a:cs typeface="Times New Roman" pitchFamily="18" charset="0"/>
              </a:rPr>
              <a:t>00D</a:t>
            </a:r>
          </a:p>
        </p:txBody>
      </p:sp>
      <p:sp>
        <p:nvSpPr>
          <p:cNvPr id="12" name="TextBox 1"/>
          <p:cNvSpPr txBox="1"/>
          <p:nvPr/>
        </p:nvSpPr>
        <p:spPr>
          <a:xfrm>
            <a:off x="4406900" y="6692900"/>
            <a:ext cx="2159000" cy="241300"/>
          </a:xfrm>
          <a:prstGeom prst="rect">
            <a:avLst/>
          </a:prstGeom>
          <a:noFill/>
        </p:spPr>
        <p:txBody>
          <a:bodyPr wrap="none" lIns="0" tIns="0" rIns="0" rtlCol="0">
            <a:spAutoFit/>
          </a:bodyPr>
          <a:lstStyle/>
          <a:p>
            <a:pPr>
              <a:lnSpc>
                <a:spcPts val="1900"/>
              </a:lnSpc>
              <a:tabLst/>
            </a:pPr>
            <a:r>
              <a:rPr lang="en-US" altLang="zh-CN" sz="1397" b="1" dirty="0">
                <a:solidFill>
                  <a:srgbClr val="000000"/>
                </a:solidFill>
                <a:latin typeface="Times New Roman" pitchFamily="18" charset="0"/>
                <a:cs typeface="Times New Roman" pitchFamily="18" charset="0"/>
              </a:rPr>
              <a:t>Device</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Specific</a:t>
            </a:r>
            <a:r>
              <a:rPr lang="en-US" altLang="zh-CN" sz="1397" dirty="0">
                <a:latin typeface="Times New Roman" pitchFamily="18" charset="0"/>
                <a:cs typeface="Times New Roman" pitchFamily="18" charset="0"/>
              </a:rPr>
              <a:t> </a:t>
            </a:r>
            <a:r>
              <a:rPr lang="en-US" altLang="zh-CN" sz="1397" b="1" dirty="0">
                <a:solidFill>
                  <a:srgbClr val="000000"/>
                </a:solidFill>
                <a:latin typeface="Times New Roman" pitchFamily="18" charset="0"/>
                <a:cs typeface="Times New Roman" pitchFamily="18" charset="0"/>
              </a:rPr>
              <a:t>Registers</a:t>
            </a:r>
          </a:p>
        </p:txBody>
      </p:sp>
      <p:sp>
        <p:nvSpPr>
          <p:cNvPr id="13" name="12 CuadroTexto"/>
          <p:cNvSpPr txBox="1"/>
          <p:nvPr/>
        </p:nvSpPr>
        <p:spPr>
          <a:xfrm>
            <a:off x="1689100" y="1341437"/>
            <a:ext cx="7608493" cy="369332"/>
          </a:xfrm>
          <a:prstGeom prst="rect">
            <a:avLst/>
          </a:prstGeom>
          <a:noFill/>
        </p:spPr>
        <p:txBody>
          <a:bodyPr wrap="none" rtlCol="0">
            <a:spAutoFit/>
          </a:bodyPr>
          <a:lstStyle/>
          <a:p>
            <a:r>
              <a:rPr lang="es-ES_tradnl" b="1" dirty="0">
                <a:effectLst>
                  <a:outerShdw blurRad="38100" dist="38100" dir="2700000" algn="tl">
                    <a:srgbClr val="000000">
                      <a:alpha val="43137"/>
                    </a:srgbClr>
                  </a:outerShdw>
                </a:effectLst>
              </a:rPr>
              <a:t>Banco 0                          Banco 1                           Banco 2                               Banco 3</a:t>
            </a:r>
          </a:p>
        </p:txBody>
      </p:sp>
      <p:pic>
        <p:nvPicPr>
          <p:cNvPr id="14" name="Imagen 13" descr="http://perso.wanadoo.es/pictob/imagenes/microc2.jpg">
            <a:extLst>
              <a:ext uri="{FF2B5EF4-FFF2-40B4-BE49-F238E27FC236}">
                <a16:creationId xmlns:a16="http://schemas.microsoft.com/office/drawing/2014/main" id="{E7ECD489-8FE2-449D-8AA5-EA1F5729DB53}"/>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4468783" y="834142"/>
            <a:ext cx="1335117" cy="507295"/>
          </a:xfrm>
          <a:prstGeom prst="rect">
            <a:avLst/>
          </a:prstGeom>
          <a:noFill/>
          <a:ln>
            <a:noFill/>
          </a:ln>
        </p:spPr>
      </p:pic>
      <p:pic>
        <p:nvPicPr>
          <p:cNvPr id="2" name="Imagen 1" descr="Imagen que contiene Calendario&#10;&#10;El contenido generado por IA puede ser incorrecto.">
            <a:extLst>
              <a:ext uri="{FF2B5EF4-FFF2-40B4-BE49-F238E27FC236}">
                <a16:creationId xmlns:a16="http://schemas.microsoft.com/office/drawing/2014/main" id="{525D9847-56EE-8656-50B4-1EFEA52AD37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7374215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272260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698500" y="-119063"/>
            <a:ext cx="9169400" cy="6870700"/>
          </a:xfrm>
          <a:prstGeom prst="rect">
            <a:avLst/>
          </a:prstGeom>
          <a:noFill/>
        </p:spPr>
      </p:pic>
      <p:sp>
        <p:nvSpPr>
          <p:cNvPr id="2" name="TextBox 1"/>
          <p:cNvSpPr txBox="1"/>
          <p:nvPr/>
        </p:nvSpPr>
        <p:spPr>
          <a:xfrm>
            <a:off x="3269218" y="274637"/>
            <a:ext cx="2687082" cy="722442"/>
          </a:xfrm>
          <a:prstGeom prst="rect">
            <a:avLst/>
          </a:prstGeom>
          <a:noFill/>
        </p:spPr>
        <p:txBody>
          <a:bodyPr wrap="none" lIns="0" tIns="0" rIns="0" rtlCol="0">
            <a:spAutoFit/>
          </a:bodyPr>
          <a:lstStyle/>
          <a:p>
            <a:pPr algn="ctr">
              <a:lnSpc>
                <a:spcPts val="6100"/>
              </a:lnSpc>
              <a:tabLst/>
            </a:pPr>
            <a:r>
              <a:rPr lang="en-US" altLang="zh-CN" sz="2646" b="1" i="1" dirty="0">
                <a:solidFill>
                  <a:srgbClr val="FF0000"/>
                </a:solidFill>
                <a:effectLst>
                  <a:outerShdw blurRad="38100" dist="38100" dir="2700000" algn="tl">
                    <a:srgbClr val="000000">
                      <a:alpha val="43137"/>
                    </a:srgbClr>
                  </a:outerShdw>
                </a:effectLst>
                <a:latin typeface="Calibri" panose="020F0502020204030204" pitchFamily="34" charset="0"/>
              </a:rPr>
              <a:t>Registro de STATUS</a:t>
            </a:r>
          </a:p>
        </p:txBody>
      </p:sp>
      <p:sp>
        <p:nvSpPr>
          <p:cNvPr id="3" name="TextBox 1"/>
          <p:cNvSpPr txBox="1"/>
          <p:nvPr/>
        </p:nvSpPr>
        <p:spPr>
          <a:xfrm>
            <a:off x="1943100" y="1341437"/>
            <a:ext cx="3302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IRP</a:t>
            </a:r>
          </a:p>
        </p:txBody>
      </p:sp>
      <p:sp>
        <p:nvSpPr>
          <p:cNvPr id="4" name="TextBox 1"/>
          <p:cNvSpPr txBox="1"/>
          <p:nvPr/>
        </p:nvSpPr>
        <p:spPr>
          <a:xfrm>
            <a:off x="2844800" y="1341437"/>
            <a:ext cx="393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RP1</a:t>
            </a:r>
          </a:p>
        </p:txBody>
      </p:sp>
      <p:sp>
        <p:nvSpPr>
          <p:cNvPr id="5" name="TextBox 1"/>
          <p:cNvSpPr txBox="1"/>
          <p:nvPr/>
        </p:nvSpPr>
        <p:spPr>
          <a:xfrm>
            <a:off x="3759200" y="1341437"/>
            <a:ext cx="393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RP0</a:t>
            </a:r>
          </a:p>
        </p:txBody>
      </p:sp>
      <p:sp>
        <p:nvSpPr>
          <p:cNvPr id="6" name="TextBox 1"/>
          <p:cNvSpPr txBox="1"/>
          <p:nvPr/>
        </p:nvSpPr>
        <p:spPr>
          <a:xfrm>
            <a:off x="4737100" y="1341437"/>
            <a:ext cx="266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TO</a:t>
            </a:r>
          </a:p>
        </p:txBody>
      </p:sp>
      <p:sp>
        <p:nvSpPr>
          <p:cNvPr id="7" name="TextBox 1"/>
          <p:cNvSpPr txBox="1"/>
          <p:nvPr/>
        </p:nvSpPr>
        <p:spPr>
          <a:xfrm>
            <a:off x="5664200" y="1341437"/>
            <a:ext cx="2794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PD</a:t>
            </a:r>
          </a:p>
        </p:txBody>
      </p:sp>
      <p:sp>
        <p:nvSpPr>
          <p:cNvPr id="8" name="TextBox 1"/>
          <p:cNvSpPr txBox="1"/>
          <p:nvPr/>
        </p:nvSpPr>
        <p:spPr>
          <a:xfrm>
            <a:off x="6667500" y="1341437"/>
            <a:ext cx="1143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Z</a:t>
            </a:r>
          </a:p>
        </p:txBody>
      </p:sp>
      <p:sp>
        <p:nvSpPr>
          <p:cNvPr id="9" name="TextBox 1"/>
          <p:cNvSpPr txBox="1"/>
          <p:nvPr/>
        </p:nvSpPr>
        <p:spPr>
          <a:xfrm>
            <a:off x="7493000" y="1341437"/>
            <a:ext cx="2921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DC</a:t>
            </a:r>
          </a:p>
        </p:txBody>
      </p:sp>
      <p:sp>
        <p:nvSpPr>
          <p:cNvPr id="10" name="TextBox 1"/>
          <p:cNvSpPr txBox="1"/>
          <p:nvPr/>
        </p:nvSpPr>
        <p:spPr>
          <a:xfrm>
            <a:off x="8496300" y="1341437"/>
            <a:ext cx="139700" cy="279400"/>
          </a:xfrm>
          <a:prstGeom prst="rect">
            <a:avLst/>
          </a:prstGeom>
          <a:noFill/>
        </p:spPr>
        <p:txBody>
          <a:bodyPr wrap="none" lIns="0" tIns="0" rIns="0" rtlCol="0">
            <a:spAutoFit/>
          </a:bodyPr>
          <a:lstStyle/>
          <a:p>
            <a:pPr>
              <a:lnSpc>
                <a:spcPts val="2200"/>
              </a:lnSpc>
              <a:tabLst/>
            </a:pPr>
            <a:r>
              <a:rPr lang="en-US" altLang="zh-CN" sz="1602" b="1" dirty="0">
                <a:solidFill>
                  <a:srgbClr val="000000"/>
                </a:solidFill>
                <a:latin typeface="Times New Roman" pitchFamily="18" charset="0"/>
                <a:cs typeface="Times New Roman" pitchFamily="18" charset="0"/>
              </a:rPr>
              <a:t>C</a:t>
            </a:r>
          </a:p>
        </p:txBody>
      </p:sp>
      <p:sp>
        <p:nvSpPr>
          <p:cNvPr id="11" name="TextBox 1"/>
          <p:cNvSpPr txBox="1"/>
          <p:nvPr/>
        </p:nvSpPr>
        <p:spPr>
          <a:xfrm>
            <a:off x="1752600" y="1608137"/>
            <a:ext cx="279400" cy="190500"/>
          </a:xfrm>
          <a:prstGeom prst="rect">
            <a:avLst/>
          </a:prstGeom>
          <a:noFill/>
        </p:spPr>
        <p:txBody>
          <a:bodyPr wrap="none" lIns="0" tIns="0" rIns="0" rtlCol="0">
            <a:spAutoFit/>
          </a:bodyPr>
          <a:lstStyle/>
          <a:p>
            <a:pPr>
              <a:lnSpc>
                <a:spcPts val="1500"/>
              </a:lnSpc>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7</a:t>
            </a:r>
          </a:p>
        </p:txBody>
      </p:sp>
      <p:sp>
        <p:nvSpPr>
          <p:cNvPr id="12" name="TextBox 1"/>
          <p:cNvSpPr txBox="1"/>
          <p:nvPr/>
        </p:nvSpPr>
        <p:spPr>
          <a:xfrm>
            <a:off x="8661400" y="1608137"/>
            <a:ext cx="279400" cy="190500"/>
          </a:xfrm>
          <a:prstGeom prst="rect">
            <a:avLst/>
          </a:prstGeom>
          <a:noFill/>
        </p:spPr>
        <p:txBody>
          <a:bodyPr wrap="none" lIns="0" tIns="0" rIns="0" rtlCol="0">
            <a:spAutoFit/>
          </a:bodyPr>
          <a:lstStyle/>
          <a:p>
            <a:pPr>
              <a:lnSpc>
                <a:spcPts val="1500"/>
              </a:lnSpc>
              <a:tabLst/>
            </a:pPr>
            <a:r>
              <a:rPr lang="en-US" altLang="zh-CN" sz="1200" dirty="0">
                <a:solidFill>
                  <a:srgbClr val="000000"/>
                </a:solidFill>
                <a:latin typeface="Times New Roman" pitchFamily="18" charset="0"/>
                <a:cs typeface="Times New Roman" pitchFamily="18" charset="0"/>
              </a:rPr>
              <a:t>bit</a:t>
            </a:r>
            <a:r>
              <a:rPr lang="en-US" altLang="zh-CN" sz="1200" dirty="0">
                <a:latin typeface="Times New Roman" pitchFamily="18" charset="0"/>
                <a:cs typeface="Times New Roman" pitchFamily="18" charset="0"/>
              </a:rPr>
              <a:t> </a:t>
            </a:r>
            <a:r>
              <a:rPr lang="en-US" altLang="zh-CN" sz="1200" dirty="0">
                <a:solidFill>
                  <a:srgbClr val="000000"/>
                </a:solidFill>
                <a:latin typeface="Times New Roman" pitchFamily="18" charset="0"/>
                <a:cs typeface="Times New Roman" pitchFamily="18" charset="0"/>
              </a:rPr>
              <a:t>0</a:t>
            </a:r>
          </a:p>
        </p:txBody>
      </p:sp>
      <p:sp>
        <p:nvSpPr>
          <p:cNvPr id="13" name="TextBox 1"/>
          <p:cNvSpPr txBox="1"/>
          <p:nvPr/>
        </p:nvSpPr>
        <p:spPr>
          <a:xfrm>
            <a:off x="2070100" y="2179637"/>
            <a:ext cx="8077200" cy="3842077"/>
          </a:xfrm>
          <a:prstGeom prst="rect">
            <a:avLst/>
          </a:prstGeom>
          <a:noFill/>
        </p:spPr>
        <p:txBody>
          <a:bodyPr wrap="square" lIns="0" tIns="0" rIns="0" rtlCol="0">
            <a:spAutoFit/>
          </a:bodyPr>
          <a:lstStyle/>
          <a:p>
            <a:pPr>
              <a:lnSpc>
                <a:spcPts val="25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IRP:</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Registro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Selector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Bancos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(usado</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para</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el</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Dir.</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Indirecto)</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2,</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3</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RP1:RP0:</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Selectores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Bancos</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de</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Registros</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01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2,</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11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Bank</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3</a:t>
            </a:r>
          </a:p>
          <a:p>
            <a:pPr>
              <a:lnSpc>
                <a:spcPts val="2300"/>
              </a:lnSpc>
              <a:tabLst>
                <a:tab pos="914400" algn="l"/>
              </a:tabLst>
            </a:pPr>
            <a:r>
              <a:rPr lang="en-US" altLang="zh-CN" sz="18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TO</a:t>
            </a: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Time-out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ocurrió</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un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WDT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time-out</a:t>
            </a:r>
          </a:p>
          <a:p>
            <a:pPr>
              <a:lnSpc>
                <a:spcPts val="2300"/>
              </a:lnSpc>
              <a:tabLst>
                <a:tab pos="914400" algn="l"/>
              </a:tabLst>
            </a:pPr>
            <a:r>
              <a:rPr lang="en-US" altLang="zh-CN" sz="1800" b="1" dirty="0">
                <a:solidFill>
                  <a:srgbClr val="00B050"/>
                </a:solidFill>
                <a:effectLst>
                  <a:outerShdw blurRad="38100" dist="38100" dir="2700000" algn="tl">
                    <a:srgbClr val="000000">
                      <a:alpha val="43137"/>
                    </a:srgbClr>
                  </a:outerShdw>
                </a:effectLst>
                <a:latin typeface="Times New Roman" pitchFamily="18" charset="0"/>
                <a:cs typeface="Times New Roman" pitchFamily="18" charset="0"/>
              </a:rPr>
              <a:t>PD</a:t>
            </a: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Power-down</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0</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ejecución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una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instrucción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SLEEP</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Z:</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Cero</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resultado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la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operación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aritmética</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es</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cero</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DC:</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Digit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carry</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borrow</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Acarreo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cuarto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bit</a:t>
            </a:r>
          </a:p>
          <a:p>
            <a:pPr>
              <a:lnSpc>
                <a:spcPts val="2300"/>
              </a:lnSpc>
              <a:tabLst>
                <a:tab pos="914400" algn="l"/>
              </a:tabLst>
            </a:pPr>
            <a:r>
              <a:rPr lang="en-US" altLang="zh-CN" sz="18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a:t>
            </a:r>
            <a:r>
              <a:rPr lang="en-US" altLang="zh-CN" sz="1800"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Carry</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borrow</a:t>
            </a:r>
            <a:r>
              <a:rPr lang="en-US" altLang="zh-CN" sz="1800" dirty="0">
                <a:latin typeface="Times New Roman" pitchFamily="18" charset="0"/>
                <a:cs typeface="Times New Roman" pitchFamily="18" charset="0"/>
              </a:rPr>
              <a:t> </a:t>
            </a:r>
            <a:r>
              <a:rPr lang="en-US" altLang="zh-CN" sz="1800" dirty="0">
                <a:solidFill>
                  <a:srgbClr val="000000"/>
                </a:solidFill>
                <a:latin typeface="Times New Roman" pitchFamily="18" charset="0"/>
                <a:cs typeface="Times New Roman" pitchFamily="18" charset="0"/>
              </a:rPr>
              <a:t>bit</a:t>
            </a:r>
          </a:p>
          <a:p>
            <a:pPr>
              <a:lnSpc>
                <a:spcPts val="1900"/>
              </a:lnSpc>
              <a:tabLst>
                <a:tab pos="914400" algn="l"/>
              </a:tabLst>
            </a:pPr>
            <a:r>
              <a:rPr lang="en-US" altLang="zh-CN" dirty="0"/>
              <a:t>	</a:t>
            </a:r>
            <a:r>
              <a:rPr lang="en-US" altLang="zh-CN" sz="1397" dirty="0">
                <a:solidFill>
                  <a:srgbClr val="000000"/>
                </a:solidFill>
                <a:latin typeface="Times New Roman" pitchFamily="18" charset="0"/>
                <a:cs typeface="Times New Roman" pitchFamily="18" charset="0"/>
              </a:rPr>
              <a:t>1</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Acarreo</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en</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el</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Bit</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de</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Mayor</a:t>
            </a:r>
            <a:r>
              <a:rPr lang="en-US" altLang="zh-CN" sz="1397" dirty="0">
                <a:latin typeface="Times New Roman" pitchFamily="18" charset="0"/>
                <a:cs typeface="Times New Roman" pitchFamily="18" charset="0"/>
              </a:rPr>
              <a:t> </a:t>
            </a:r>
            <a:r>
              <a:rPr lang="en-US" altLang="zh-CN" sz="1397" dirty="0">
                <a:solidFill>
                  <a:srgbClr val="000000"/>
                </a:solidFill>
                <a:latin typeface="Times New Roman" pitchFamily="18" charset="0"/>
                <a:cs typeface="Times New Roman" pitchFamily="18" charset="0"/>
              </a:rPr>
              <a:t>Peso</a:t>
            </a:r>
          </a:p>
        </p:txBody>
      </p:sp>
      <p:sp>
        <p:nvSpPr>
          <p:cNvPr id="15" name="CuadroTexto 14"/>
          <p:cNvSpPr txBox="1"/>
          <p:nvPr/>
        </p:nvSpPr>
        <p:spPr>
          <a:xfrm>
            <a:off x="1765300"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18" name="CuadroTexto 17"/>
          <p:cNvSpPr txBox="1"/>
          <p:nvPr/>
        </p:nvSpPr>
        <p:spPr>
          <a:xfrm>
            <a:off x="26908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19" name="CuadroTexto 18"/>
          <p:cNvSpPr txBox="1"/>
          <p:nvPr/>
        </p:nvSpPr>
        <p:spPr>
          <a:xfrm>
            <a:off x="36052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0" name="CuadroTexto 19"/>
          <p:cNvSpPr txBox="1"/>
          <p:nvPr/>
        </p:nvSpPr>
        <p:spPr>
          <a:xfrm>
            <a:off x="64246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1" name="CuadroTexto 20"/>
          <p:cNvSpPr txBox="1"/>
          <p:nvPr/>
        </p:nvSpPr>
        <p:spPr>
          <a:xfrm>
            <a:off x="7339011"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2" name="CuadroTexto 21"/>
          <p:cNvSpPr txBox="1"/>
          <p:nvPr/>
        </p:nvSpPr>
        <p:spPr>
          <a:xfrm>
            <a:off x="8242300" y="1798637"/>
            <a:ext cx="623889" cy="369332"/>
          </a:xfrm>
          <a:prstGeom prst="rect">
            <a:avLst/>
          </a:prstGeom>
          <a:noFill/>
        </p:spPr>
        <p:txBody>
          <a:bodyPr wrap="none" rtlCol="0">
            <a:spAutoFit/>
          </a:bodyPr>
          <a:lstStyle/>
          <a:p>
            <a:r>
              <a:rPr lang="es-ES" b="1" i="1" dirty="0">
                <a:solidFill>
                  <a:srgbClr val="FF0000"/>
                </a:solidFill>
                <a:effectLst>
                  <a:outerShdw blurRad="38100" dist="38100" dir="2700000" algn="tl">
                    <a:srgbClr val="000000">
                      <a:alpha val="43137"/>
                    </a:srgbClr>
                  </a:outerShdw>
                </a:effectLst>
              </a:rPr>
              <a:t>R/W</a:t>
            </a:r>
          </a:p>
        </p:txBody>
      </p:sp>
      <p:sp>
        <p:nvSpPr>
          <p:cNvPr id="23" name="CuadroTexto 22"/>
          <p:cNvSpPr txBox="1"/>
          <p:nvPr/>
        </p:nvSpPr>
        <p:spPr>
          <a:xfrm>
            <a:off x="4732200" y="1798637"/>
            <a:ext cx="314510" cy="369332"/>
          </a:xfrm>
          <a:prstGeom prst="rect">
            <a:avLst/>
          </a:prstGeom>
          <a:noFill/>
        </p:spPr>
        <p:txBody>
          <a:bodyPr wrap="none" rtlCol="0">
            <a:spAutoFit/>
          </a:bodyPr>
          <a:lstStyle/>
          <a:p>
            <a:r>
              <a:rPr lang="es-ES" b="1" i="1" dirty="0">
                <a:solidFill>
                  <a:srgbClr val="00B050"/>
                </a:solidFill>
                <a:effectLst>
                  <a:outerShdw blurRad="38100" dist="38100" dir="2700000" algn="tl">
                    <a:srgbClr val="000000">
                      <a:alpha val="43137"/>
                    </a:srgbClr>
                  </a:outerShdw>
                </a:effectLst>
              </a:rPr>
              <a:t>R</a:t>
            </a:r>
          </a:p>
        </p:txBody>
      </p:sp>
      <p:sp>
        <p:nvSpPr>
          <p:cNvPr id="24" name="CuadroTexto 23"/>
          <p:cNvSpPr txBox="1"/>
          <p:nvPr/>
        </p:nvSpPr>
        <p:spPr>
          <a:xfrm>
            <a:off x="5575300" y="1810305"/>
            <a:ext cx="314510" cy="369332"/>
          </a:xfrm>
          <a:prstGeom prst="rect">
            <a:avLst/>
          </a:prstGeom>
          <a:noFill/>
        </p:spPr>
        <p:txBody>
          <a:bodyPr wrap="none" rtlCol="0">
            <a:spAutoFit/>
          </a:bodyPr>
          <a:lstStyle/>
          <a:p>
            <a:r>
              <a:rPr lang="es-ES" b="1" i="1" dirty="0">
                <a:solidFill>
                  <a:srgbClr val="00B050"/>
                </a:solidFill>
                <a:effectLst>
                  <a:outerShdw blurRad="38100" dist="38100" dir="2700000" algn="tl">
                    <a:srgbClr val="000000">
                      <a:alpha val="43137"/>
                    </a:srgbClr>
                  </a:outerShdw>
                </a:effectLst>
              </a:rPr>
              <a:t>R</a:t>
            </a:r>
          </a:p>
        </p:txBody>
      </p:sp>
      <p:sp>
        <p:nvSpPr>
          <p:cNvPr id="14" name="CuadroTexto 13">
            <a:extLst>
              <a:ext uri="{FF2B5EF4-FFF2-40B4-BE49-F238E27FC236}">
                <a16:creationId xmlns:a16="http://schemas.microsoft.com/office/drawing/2014/main" id="{982E101C-3073-44DC-8230-8E6C9C45734E}"/>
              </a:ext>
            </a:extLst>
          </p:cNvPr>
          <p:cNvSpPr txBox="1"/>
          <p:nvPr/>
        </p:nvSpPr>
        <p:spPr>
          <a:xfrm>
            <a:off x="3759200" y="6546299"/>
            <a:ext cx="2573590" cy="646331"/>
          </a:xfrm>
          <a:prstGeom prst="rect">
            <a:avLst/>
          </a:prstGeom>
          <a:noFill/>
        </p:spPr>
        <p:txBody>
          <a:bodyPr wrap="none" rtlCol="0">
            <a:spAutoFit/>
          </a:bodyPr>
          <a:lstStyle/>
          <a:p>
            <a:r>
              <a:rPr lang="es-ES" b="1" dirty="0" err="1">
                <a:solidFill>
                  <a:srgbClr val="00B050"/>
                </a:solidFill>
              </a:rPr>
              <a:t>BITs</a:t>
            </a:r>
            <a:r>
              <a:rPr lang="es-ES" b="1" dirty="0">
                <a:solidFill>
                  <a:srgbClr val="00B050"/>
                </a:solidFill>
              </a:rPr>
              <a:t> de Lectura</a:t>
            </a:r>
          </a:p>
          <a:p>
            <a:r>
              <a:rPr lang="es-ES" b="1" dirty="0" err="1">
                <a:solidFill>
                  <a:srgbClr val="FF0000"/>
                </a:solidFill>
              </a:rPr>
              <a:t>BITs</a:t>
            </a:r>
            <a:r>
              <a:rPr lang="es-ES" b="1" dirty="0">
                <a:solidFill>
                  <a:srgbClr val="FF0000"/>
                </a:solidFill>
              </a:rPr>
              <a:t> de </a:t>
            </a:r>
            <a:r>
              <a:rPr lang="es-ES" b="1" dirty="0" err="1">
                <a:solidFill>
                  <a:srgbClr val="FF0000"/>
                </a:solidFill>
              </a:rPr>
              <a:t>Lectua</a:t>
            </a:r>
            <a:r>
              <a:rPr lang="es-ES" b="1" dirty="0">
                <a:solidFill>
                  <a:srgbClr val="FF0000"/>
                </a:solidFill>
              </a:rPr>
              <a:t> / Escritura</a:t>
            </a:r>
          </a:p>
        </p:txBody>
      </p:sp>
      <p:pic>
        <p:nvPicPr>
          <p:cNvPr id="16" name="Imagen 15" descr="Imagen que contiene Calendario&#10;&#10;El contenido generado por IA puede ser incorrecto.">
            <a:extLst>
              <a:ext uri="{FF2B5EF4-FFF2-40B4-BE49-F238E27FC236}">
                <a16:creationId xmlns:a16="http://schemas.microsoft.com/office/drawing/2014/main" id="{3B227DE3-4FC4-3F9F-C428-E5EF4D2054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5922386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INDF (00h y 80h)</a:t>
            </a:r>
            <a:endPar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endParaRPr>
          </a:p>
        </p:txBody>
      </p:sp>
      <p:sp>
        <p:nvSpPr>
          <p:cNvPr id="3" name="Marcador de contenido 2"/>
          <p:cNvSpPr>
            <a:spLocks noGrp="1"/>
          </p:cNvSpPr>
          <p:nvPr>
            <p:ph idx="1"/>
          </p:nvPr>
        </p:nvSpPr>
        <p:spPr>
          <a:xfrm>
            <a:off x="457200" y="1600200"/>
            <a:ext cx="9690100" cy="4525963"/>
          </a:xfrm>
        </p:spPr>
        <p:txBody>
          <a:bodyPr/>
          <a:lstStyle/>
          <a:p>
            <a:r>
              <a:rPr lang="es-ES" dirty="0"/>
              <a:t>El registro INDF (</a:t>
            </a:r>
            <a:r>
              <a:rPr lang="es-ES" dirty="0" err="1"/>
              <a:t>Indirect</a:t>
            </a:r>
            <a:r>
              <a:rPr lang="es-ES" dirty="0"/>
              <a:t> File) que ocupa la posición 00 no tiene existencia física, por lo que no se podrá acceder a él. </a:t>
            </a:r>
          </a:p>
          <a:p>
            <a:r>
              <a:rPr lang="es-ES" dirty="0"/>
              <a:t>En realidad este registro sirve únicamente para especificar la utilización del direccionamiento indirecto junto con el registro FSR. </a:t>
            </a:r>
          </a:p>
          <a:p>
            <a:pPr marL="0" indent="0" algn="ctr">
              <a:buNone/>
            </a:pPr>
            <a:r>
              <a:rPr lang="es-ES" i="1" dirty="0">
                <a:effectLst>
                  <a:outerShdw blurRad="38100" dist="38100" dir="2700000" algn="tl">
                    <a:srgbClr val="000000">
                      <a:alpha val="43137"/>
                    </a:srgbClr>
                  </a:outerShdw>
                </a:effectLst>
              </a:rPr>
              <a:t>Ver el direccionamiento indirecto en "El PIC16F84A".</a:t>
            </a:r>
            <a:endParaRPr lang="es-ES" dirty="0"/>
          </a:p>
        </p:txBody>
      </p:sp>
      <p:pic>
        <p:nvPicPr>
          <p:cNvPr id="4" name="Imagen 3" descr="Imagen que contiene Calendario&#10;&#10;El contenido generado por IA puede ser incorrecto.">
            <a:extLst>
              <a:ext uri="{FF2B5EF4-FFF2-40B4-BE49-F238E27FC236}">
                <a16:creationId xmlns:a16="http://schemas.microsoft.com/office/drawing/2014/main" id="{C337CB97-8283-1405-457B-E6476C3163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662183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TMR0 (01h)</a:t>
            </a:r>
          </a:p>
        </p:txBody>
      </p:sp>
      <p:sp>
        <p:nvSpPr>
          <p:cNvPr id="3" name="Marcador de contenido 2"/>
          <p:cNvSpPr>
            <a:spLocks noGrp="1"/>
          </p:cNvSpPr>
          <p:nvPr>
            <p:ph idx="1"/>
          </p:nvPr>
        </p:nvSpPr>
        <p:spPr>
          <a:xfrm>
            <a:off x="457200" y="1417638"/>
            <a:ext cx="9931400" cy="5715000"/>
          </a:xfrm>
        </p:spPr>
        <p:txBody>
          <a:bodyPr>
            <a:noAutofit/>
          </a:bodyPr>
          <a:lstStyle/>
          <a:p>
            <a:r>
              <a:rPr lang="es-ES" sz="2400" b="1" dirty="0"/>
              <a:t>El registro TMR0 (</a:t>
            </a:r>
            <a:r>
              <a:rPr lang="es-ES" sz="2400" b="1" dirty="0" err="1"/>
              <a:t>Timer</a:t>
            </a:r>
            <a:r>
              <a:rPr lang="es-ES" sz="2400" b="1" dirty="0"/>
              <a:t> 0) almacena el valor del contador TMR0, que está funcionando continuamente e </a:t>
            </a:r>
            <a:r>
              <a:rPr lang="es-ES" sz="2400" b="1" i="1" u="sng" dirty="0">
                <a:solidFill>
                  <a:schemeClr val="accent5">
                    <a:lumMod val="75000"/>
                  </a:schemeClr>
                </a:solidFill>
                <a:effectLst>
                  <a:outerShdw blurRad="38100" dist="38100" dir="2700000" algn="tl">
                    <a:srgbClr val="000000">
                      <a:alpha val="43137"/>
                    </a:srgbClr>
                  </a:outerShdw>
                </a:effectLst>
              </a:rPr>
              <a:t>incrementando el valor.</a:t>
            </a:r>
            <a:r>
              <a:rPr lang="es-ES" sz="2400" b="1" dirty="0"/>
              <a:t> Se incrementa en una unidad con cada impulso de reloj</a:t>
            </a:r>
          </a:p>
          <a:p>
            <a:r>
              <a:rPr lang="es-ES" sz="2400" b="1" dirty="0"/>
              <a:t>Las </a:t>
            </a:r>
            <a:r>
              <a:rPr lang="es-ES" sz="2400" b="1" u="sng" dirty="0">
                <a:solidFill>
                  <a:srgbClr val="0070C0"/>
                </a:solidFill>
                <a:effectLst>
                  <a:outerShdw blurRad="38100" dist="38100" dir="2700000" algn="tl">
                    <a:srgbClr val="000000">
                      <a:alpha val="43137"/>
                    </a:srgbClr>
                  </a:outerShdw>
                </a:effectLst>
              </a:rPr>
              <a:t>opciones que controlan</a:t>
            </a:r>
            <a:r>
              <a:rPr lang="es-ES" sz="2400" b="1" dirty="0"/>
              <a:t> este contador residen en el registro OPTION.</a:t>
            </a:r>
          </a:p>
          <a:p>
            <a:r>
              <a:rPr lang="es-ES" sz="2400" b="1" dirty="0"/>
              <a:t>Cada vez que llega al valor FF, vuelve a 00 </a:t>
            </a:r>
            <a:r>
              <a:rPr lang="es-ES" sz="2400" b="1" i="1" u="sng" dirty="0">
                <a:solidFill>
                  <a:schemeClr val="accent5">
                    <a:lumMod val="75000"/>
                  </a:schemeClr>
                </a:solidFill>
                <a:effectLst>
                  <a:outerShdw blurRad="38100" dist="38100" dir="2700000" algn="tl">
                    <a:srgbClr val="000000">
                      <a:alpha val="43137"/>
                    </a:srgbClr>
                  </a:outerShdw>
                </a:effectLst>
              </a:rPr>
              <a:t>generando una interrupción</a:t>
            </a:r>
            <a:r>
              <a:rPr lang="es-ES" sz="2400" b="1" dirty="0"/>
              <a:t>.</a:t>
            </a:r>
          </a:p>
          <a:p>
            <a:r>
              <a:rPr lang="es-ES" sz="2400" b="1" dirty="0"/>
              <a:t>El registro TMR0 se puede leer o escribir directamente con cualquier instrucción, con el fin de conocer su posición actual, o para inicializarlo en un estado determinado. </a:t>
            </a:r>
          </a:p>
          <a:p>
            <a:r>
              <a:rPr lang="es-ES" sz="2400" b="1" dirty="0">
                <a:solidFill>
                  <a:srgbClr val="FF0000"/>
                </a:solidFill>
              </a:rPr>
              <a:t>Es importante saber que después de cualquier escritura en este registro, es necesario un retardo de dos ciclos de instrucción para que se retome la incrementación. Este retraso es independiente de la fuente de reloj usada. Las instrucciones que se utilizan son: </a:t>
            </a:r>
          </a:p>
          <a:p>
            <a:pPr marL="1257300" lvl="3" indent="0">
              <a:buNone/>
            </a:pPr>
            <a:r>
              <a:rPr lang="es-ES" sz="2400" dirty="0">
                <a:solidFill>
                  <a:srgbClr val="FF0000"/>
                </a:solidFill>
                <a:effectLst>
                  <a:outerShdw blurRad="38100" dist="38100" dir="2700000" algn="tl">
                    <a:srgbClr val="000000">
                      <a:alpha val="43137"/>
                    </a:srgbClr>
                  </a:outerShdw>
                </a:effectLst>
              </a:rPr>
              <a:t>                               MOVF TMR0 o </a:t>
            </a:r>
          </a:p>
          <a:p>
            <a:pPr marL="1257300" lvl="3" indent="0">
              <a:buNone/>
            </a:pPr>
            <a:r>
              <a:rPr lang="es-ES" sz="2400" dirty="0">
                <a:solidFill>
                  <a:srgbClr val="FF0000"/>
                </a:solidFill>
                <a:effectLst>
                  <a:outerShdw blurRad="38100" dist="38100" dir="2700000" algn="tl">
                    <a:srgbClr val="000000">
                      <a:alpha val="43137"/>
                    </a:srgbClr>
                  </a:outerShdw>
                </a:effectLst>
              </a:rPr>
              <a:t>                               CLRF TMR0.</a:t>
            </a:r>
          </a:p>
          <a:p>
            <a:endParaRPr lang="es-ES" sz="2400" dirty="0"/>
          </a:p>
        </p:txBody>
      </p:sp>
      <p:pic>
        <p:nvPicPr>
          <p:cNvPr id="4" name="Imagen 3" descr="Imagen que contiene Calendario&#10;&#10;El contenido generado por IA puede ser incorrecto.">
            <a:extLst>
              <a:ext uri="{FF2B5EF4-FFF2-40B4-BE49-F238E27FC236}">
                <a16:creationId xmlns:a16="http://schemas.microsoft.com/office/drawing/2014/main" id="{DBBDC321-0BBD-374C-E2E2-2860DFFC57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8092741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1053482" y="350837"/>
            <a:ext cx="8789018" cy="6551814"/>
          </a:xfrm>
          <a:prstGeom prst="rect">
            <a:avLst/>
          </a:prstGeom>
        </p:spPr>
      </p:pic>
      <p:sp>
        <p:nvSpPr>
          <p:cNvPr id="2" name="Rectángulo 1"/>
          <p:cNvSpPr/>
          <p:nvPr/>
        </p:nvSpPr>
        <p:spPr>
          <a:xfrm>
            <a:off x="7251700" y="5151437"/>
            <a:ext cx="2339295"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 (80h)</a:t>
            </a:r>
            <a:endParaRPr lang="es-ES" dirty="0"/>
          </a:p>
        </p:txBody>
      </p:sp>
      <p:sp>
        <p:nvSpPr>
          <p:cNvPr id="4" name="Rectángulo 3"/>
          <p:cNvSpPr/>
          <p:nvPr/>
        </p:nvSpPr>
        <p:spPr>
          <a:xfrm>
            <a:off x="7251700" y="5467905"/>
            <a:ext cx="2925288"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INTCON (0Bh y 8Bh)</a:t>
            </a:r>
            <a:endParaRPr lang="es-ES" dirty="0"/>
          </a:p>
        </p:txBody>
      </p:sp>
      <p:sp>
        <p:nvSpPr>
          <p:cNvPr id="5" name="CuadroTexto 4"/>
          <p:cNvSpPr txBox="1"/>
          <p:nvPr/>
        </p:nvSpPr>
        <p:spPr>
          <a:xfrm>
            <a:off x="1079500" y="727372"/>
            <a:ext cx="77893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interno</a:t>
            </a:r>
          </a:p>
        </p:txBody>
      </p:sp>
      <p:sp>
        <p:nvSpPr>
          <p:cNvPr id="6" name="CuadroTexto 5"/>
          <p:cNvSpPr txBox="1"/>
          <p:nvPr/>
        </p:nvSpPr>
        <p:spPr>
          <a:xfrm>
            <a:off x="774700" y="1489372"/>
            <a:ext cx="769763"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Externo</a:t>
            </a:r>
          </a:p>
        </p:txBody>
      </p:sp>
      <p:sp>
        <p:nvSpPr>
          <p:cNvPr id="7" name="CuadroTexto 6"/>
          <p:cNvSpPr txBox="1"/>
          <p:nvPr/>
        </p:nvSpPr>
        <p:spPr>
          <a:xfrm>
            <a:off x="698500" y="3470572"/>
            <a:ext cx="82266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perro</a:t>
            </a:r>
          </a:p>
          <a:p>
            <a:r>
              <a:rPr lang="es-ES" sz="1200" i="1" dirty="0" err="1">
                <a:solidFill>
                  <a:srgbClr val="FF0000"/>
                </a:solidFill>
                <a:effectLst>
                  <a:outerShdw blurRad="38100" dist="38100" dir="2700000" algn="tl">
                    <a:srgbClr val="000000">
                      <a:alpha val="43137"/>
                    </a:srgbClr>
                  </a:outerShdw>
                </a:effectLst>
              </a:rPr>
              <a:t>guardian</a:t>
            </a:r>
            <a:endParaRPr lang="es-ES" sz="1200" i="1" dirty="0">
              <a:solidFill>
                <a:srgbClr val="FF0000"/>
              </a:solidFill>
              <a:effectLst>
                <a:outerShdw blurRad="38100" dist="38100" dir="2700000" algn="tl">
                  <a:srgbClr val="000000">
                    <a:alpha val="43137"/>
                  </a:srgbClr>
                </a:outerShdw>
              </a:effectLst>
            </a:endParaRPr>
          </a:p>
        </p:txBody>
      </p:sp>
      <p:sp>
        <p:nvSpPr>
          <p:cNvPr id="8" name="CuadroTexto 7"/>
          <p:cNvSpPr txBox="1"/>
          <p:nvPr/>
        </p:nvSpPr>
        <p:spPr>
          <a:xfrm>
            <a:off x="4432300" y="1169927"/>
            <a:ext cx="6096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Fuente </a:t>
            </a:r>
          </a:p>
          <a:p>
            <a:r>
              <a:rPr lang="es-ES" sz="1000" i="1" dirty="0">
                <a:solidFill>
                  <a:srgbClr val="FF0000"/>
                </a:solidFill>
                <a:effectLst>
                  <a:outerShdw blurRad="38100" dist="38100" dir="2700000" algn="tl">
                    <a:srgbClr val="000000">
                      <a:alpha val="43137"/>
                    </a:srgbClr>
                  </a:outerShdw>
                </a:effectLst>
              </a:rPr>
              <a:t>Reloj</a:t>
            </a:r>
          </a:p>
        </p:txBody>
      </p:sp>
      <p:sp>
        <p:nvSpPr>
          <p:cNvPr id="9" name="CuadroTexto 8"/>
          <p:cNvSpPr txBox="1"/>
          <p:nvPr/>
        </p:nvSpPr>
        <p:spPr>
          <a:xfrm>
            <a:off x="6184900" y="2332037"/>
            <a:ext cx="8382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Escritura T0</a:t>
            </a:r>
          </a:p>
        </p:txBody>
      </p:sp>
      <p:sp>
        <p:nvSpPr>
          <p:cNvPr id="10" name="CuadroTexto 9"/>
          <p:cNvSpPr txBox="1"/>
          <p:nvPr/>
        </p:nvSpPr>
        <p:spPr>
          <a:xfrm>
            <a:off x="5727700" y="26368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1" name="CuadroTexto 10"/>
          <p:cNvSpPr txBox="1"/>
          <p:nvPr/>
        </p:nvSpPr>
        <p:spPr>
          <a:xfrm>
            <a:off x="5956300" y="3457416"/>
            <a:ext cx="6858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2" name="CuadroTexto 11"/>
          <p:cNvSpPr txBox="1"/>
          <p:nvPr/>
        </p:nvSpPr>
        <p:spPr>
          <a:xfrm>
            <a:off x="3517900" y="38560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3" name="CuadroTexto 12"/>
          <p:cNvSpPr txBox="1"/>
          <p:nvPr/>
        </p:nvSpPr>
        <p:spPr>
          <a:xfrm>
            <a:off x="3746500" y="4676616"/>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Divisor de frecuencia</a:t>
            </a:r>
          </a:p>
        </p:txBody>
      </p:sp>
      <p:pic>
        <p:nvPicPr>
          <p:cNvPr id="14" name="Imagen 13"/>
          <p:cNvPicPr>
            <a:picLocks noChangeAspect="1"/>
          </p:cNvPicPr>
          <p:nvPr/>
        </p:nvPicPr>
        <p:blipFill>
          <a:blip r:embed="rId4"/>
          <a:stretch>
            <a:fillRect/>
          </a:stretch>
        </p:blipFill>
        <p:spPr>
          <a:xfrm>
            <a:off x="1917700" y="6065837"/>
            <a:ext cx="6400800" cy="1219200"/>
          </a:xfrm>
          <a:prstGeom prst="rect">
            <a:avLst/>
          </a:prstGeom>
        </p:spPr>
      </p:pic>
      <p:pic>
        <p:nvPicPr>
          <p:cNvPr id="15" name="Imagen 14"/>
          <p:cNvPicPr>
            <a:picLocks noChangeAspect="1"/>
          </p:cNvPicPr>
          <p:nvPr/>
        </p:nvPicPr>
        <p:blipFill>
          <a:blip r:embed="rId5"/>
          <a:stretch>
            <a:fillRect/>
          </a:stretch>
        </p:blipFill>
        <p:spPr>
          <a:xfrm>
            <a:off x="8470900" y="2865437"/>
            <a:ext cx="847725" cy="171450"/>
          </a:xfrm>
          <a:prstGeom prst="rect">
            <a:avLst/>
          </a:prstGeom>
        </p:spPr>
      </p:pic>
      <p:pic>
        <p:nvPicPr>
          <p:cNvPr id="16" name="Imagen 15"/>
          <p:cNvPicPr>
            <a:picLocks noChangeAspect="1"/>
          </p:cNvPicPr>
          <p:nvPr/>
        </p:nvPicPr>
        <p:blipFill>
          <a:blip r:embed="rId5"/>
          <a:stretch>
            <a:fillRect/>
          </a:stretch>
        </p:blipFill>
        <p:spPr>
          <a:xfrm>
            <a:off x="6032500" y="5684837"/>
            <a:ext cx="847725" cy="171450"/>
          </a:xfrm>
          <a:prstGeom prst="rect">
            <a:avLst/>
          </a:prstGeom>
        </p:spPr>
      </p:pic>
    </p:spTree>
    <p:extLst>
      <p:ext uri="{BB962C8B-B14F-4D97-AF65-F5344CB8AC3E}">
        <p14:creationId xmlns:p14="http://schemas.microsoft.com/office/powerpoint/2010/main" val="807964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OPTION (80h)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(1)</a:t>
            </a:r>
          </a:p>
        </p:txBody>
      </p:sp>
      <p:sp>
        <p:nvSpPr>
          <p:cNvPr id="3" name="Marcador de contenido 2"/>
          <p:cNvSpPr>
            <a:spLocks noGrp="1"/>
          </p:cNvSpPr>
          <p:nvPr>
            <p:ph idx="1"/>
          </p:nvPr>
        </p:nvSpPr>
        <p:spPr>
          <a:xfrm>
            <a:off x="457200" y="1616075"/>
            <a:ext cx="9931400" cy="2011362"/>
          </a:xfrm>
        </p:spPr>
        <p:txBody>
          <a:bodyPr>
            <a:noAutofit/>
          </a:bodyPr>
          <a:lstStyle/>
          <a:p>
            <a:r>
              <a:rPr lang="es-ES" sz="2400" b="1" dirty="0"/>
              <a:t>El registro OPTION (o registro de opciones) se emplea para programar las opciones del temporizador TMR0, el tipo de flanco con el que se detecta una interrupción y la activación de las resistencias de polarización del puerto B. </a:t>
            </a:r>
          </a:p>
          <a:p>
            <a:r>
              <a:rPr lang="es-ES" sz="2400" b="1" dirty="0"/>
              <a:t>Ocupa la posición 81h de la página 1 del banco de registros. Debe escribirse usando la instrucción especial OPTION. Esta instrucción carga el contenido de W en el registro OPTION.</a:t>
            </a:r>
          </a:p>
          <a:p>
            <a:endParaRPr lang="es-ES" dirty="0"/>
          </a:p>
        </p:txBody>
      </p:sp>
      <p:pic>
        <p:nvPicPr>
          <p:cNvPr id="4" name="Imagen 3"/>
          <p:cNvPicPr>
            <a:picLocks noChangeAspect="1"/>
          </p:cNvPicPr>
          <p:nvPr/>
        </p:nvPicPr>
        <p:blipFill>
          <a:blip r:embed="rId3"/>
          <a:stretch>
            <a:fillRect/>
          </a:stretch>
        </p:blipFill>
        <p:spPr>
          <a:xfrm>
            <a:off x="2603500" y="4560887"/>
            <a:ext cx="4600575" cy="1352550"/>
          </a:xfrm>
          <a:prstGeom prst="rect">
            <a:avLst/>
          </a:prstGeom>
        </p:spPr>
      </p:pic>
      <p:pic>
        <p:nvPicPr>
          <p:cNvPr id="5" name="Imagen 4" descr="Imagen que contiene Calendario&#10;&#10;El contenido generado por IA puede ser incorrecto.">
            <a:extLst>
              <a:ext uri="{FF2B5EF4-FFF2-40B4-BE49-F238E27FC236}">
                <a16:creationId xmlns:a16="http://schemas.microsoft.com/office/drawing/2014/main" id="{1AB66B2A-AB06-B8CD-8BCB-D0258864FC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7136427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622300" y="794672"/>
            <a:ext cx="9753600" cy="6109365"/>
          </a:xfrm>
          <a:prstGeom prst="rect">
            <a:avLst/>
          </a:prstGeom>
          <a:noFill/>
        </p:spPr>
        <p:txBody>
          <a:bodyPr wrap="square" rtlCol="0">
            <a:spAutoFit/>
          </a:bodyPr>
          <a:lstStyle/>
          <a:p>
            <a:r>
              <a:rPr lang="es-ES" sz="1700" b="1" dirty="0">
                <a:solidFill>
                  <a:srgbClr val="FF0000"/>
                </a:solidFill>
              </a:rPr>
              <a:t>Bit 7, /RBPU (RB </a:t>
            </a:r>
            <a:r>
              <a:rPr lang="es-ES" sz="1700" b="1" dirty="0" err="1">
                <a:solidFill>
                  <a:srgbClr val="FF0000"/>
                </a:solidFill>
              </a:rPr>
              <a:t>Pull</a:t>
            </a:r>
            <a:r>
              <a:rPr lang="es-ES" sz="1700" b="1" dirty="0">
                <a:solidFill>
                  <a:srgbClr val="FF0000"/>
                </a:solidFill>
              </a:rPr>
              <a:t> Up).</a:t>
            </a:r>
            <a:r>
              <a:rPr lang="es-ES" sz="1700" b="1" dirty="0"/>
              <a:t> Conexión de las resistencias de polarización del Puerto B. Se conectan todas  cuando el puerto B </a:t>
            </a:r>
            <a:r>
              <a:rPr lang="es-ES" sz="1700" b="1" dirty="0" err="1"/>
              <a:t>actua</a:t>
            </a:r>
            <a:r>
              <a:rPr lang="es-ES" sz="1700" b="1" dirty="0"/>
              <a:t> como entrada.</a:t>
            </a:r>
          </a:p>
          <a:p>
            <a:r>
              <a:rPr lang="es-ES" sz="1700" b="1" dirty="0"/>
              <a:t>	1: Todas las resistencias son desconectadas.</a:t>
            </a:r>
          </a:p>
          <a:p>
            <a:r>
              <a:rPr lang="es-ES" sz="1700" b="1" dirty="0"/>
              <a:t>	 0: Las resistencias se activan de forma individual.</a:t>
            </a:r>
          </a:p>
          <a:p>
            <a:endParaRPr lang="es-ES" sz="1700" b="1" dirty="0"/>
          </a:p>
          <a:p>
            <a:r>
              <a:rPr lang="es-ES" sz="1700" b="1" dirty="0">
                <a:solidFill>
                  <a:srgbClr val="FF0000"/>
                </a:solidFill>
              </a:rPr>
              <a:t>Bit 6, INTDEG (</a:t>
            </a:r>
            <a:r>
              <a:rPr lang="es-ES" sz="1700" b="1" dirty="0" err="1">
                <a:solidFill>
                  <a:srgbClr val="FF0000"/>
                </a:solidFill>
              </a:rPr>
              <a:t>INTerrupt</a:t>
            </a:r>
            <a:r>
              <a:rPr lang="es-ES" sz="1700" b="1" dirty="0">
                <a:solidFill>
                  <a:srgbClr val="FF0000"/>
                </a:solidFill>
              </a:rPr>
              <a:t> </a:t>
            </a:r>
            <a:r>
              <a:rPr lang="es-ES" sz="1700" b="1" dirty="0" err="1">
                <a:solidFill>
                  <a:srgbClr val="FF0000"/>
                </a:solidFill>
              </a:rPr>
              <a:t>EDGe</a:t>
            </a:r>
            <a:r>
              <a:rPr lang="es-ES" sz="1700" b="1" dirty="0">
                <a:solidFill>
                  <a:srgbClr val="FF0000"/>
                </a:solidFill>
              </a:rPr>
              <a:t>).</a:t>
            </a:r>
            <a:r>
              <a:rPr lang="es-ES" sz="1700" b="1" dirty="0"/>
              <a:t> Selecciona el tipo de flanco para la interrupción externa. Este bit indica el tipo de flanco de la señal externa que ha de provocar una interrupción en la patilla RB0/INT.</a:t>
            </a:r>
          </a:p>
          <a:p>
            <a:r>
              <a:rPr lang="es-ES" sz="1700" b="1" dirty="0"/>
              <a:t>	1: La interrupción es producida por el flanco ascendente o de subida.</a:t>
            </a:r>
          </a:p>
          <a:p>
            <a:r>
              <a:rPr lang="es-ES" sz="1700" b="1" dirty="0"/>
              <a:t>	0: La interrupción es producida por el flanco descendente o de bajada.</a:t>
            </a:r>
          </a:p>
          <a:p>
            <a:endParaRPr lang="es-ES" sz="1700" b="1" dirty="0"/>
          </a:p>
          <a:p>
            <a:r>
              <a:rPr lang="es-ES" sz="1700" b="1" dirty="0">
                <a:solidFill>
                  <a:srgbClr val="FF0000"/>
                </a:solidFill>
              </a:rPr>
              <a:t>Bit 5, T0CS (</a:t>
            </a:r>
            <a:r>
              <a:rPr lang="es-ES" sz="1700" b="1" dirty="0" err="1">
                <a:solidFill>
                  <a:srgbClr val="FF0000"/>
                </a:solidFill>
              </a:rPr>
              <a:t>Timer</a:t>
            </a:r>
            <a:r>
              <a:rPr lang="es-ES" sz="1700" b="1" dirty="0">
                <a:solidFill>
                  <a:srgbClr val="FF0000"/>
                </a:solidFill>
              </a:rPr>
              <a:t> 0 </a:t>
            </a:r>
            <a:r>
              <a:rPr lang="es-ES" sz="1700" b="1" dirty="0" err="1">
                <a:solidFill>
                  <a:srgbClr val="FF0000"/>
                </a:solidFill>
              </a:rPr>
              <a:t>Signal</a:t>
            </a:r>
            <a:r>
              <a:rPr lang="es-ES" sz="1700" b="1" dirty="0">
                <a:solidFill>
                  <a:srgbClr val="FF0000"/>
                </a:solidFill>
              </a:rPr>
              <a:t> </a:t>
            </a:r>
            <a:r>
              <a:rPr lang="es-ES" sz="1700" b="1" dirty="0" err="1">
                <a:solidFill>
                  <a:srgbClr val="FF0000"/>
                </a:solidFill>
              </a:rPr>
              <a:t>Source</a:t>
            </a:r>
            <a:r>
              <a:rPr lang="es-ES" sz="1700" b="1" dirty="0">
                <a:solidFill>
                  <a:srgbClr val="FF0000"/>
                </a:solidFill>
              </a:rPr>
              <a:t>).</a:t>
            </a:r>
            <a:r>
              <a:rPr lang="es-ES" sz="1700" b="1" dirty="0"/>
              <a:t> Selección de la fuente de reloj para el TMR0.</a:t>
            </a:r>
          </a:p>
          <a:p>
            <a:r>
              <a:rPr lang="es-ES" sz="1700" b="1" dirty="0"/>
              <a:t>	1: TMR0 se usa en modo contador de los pulsos introducidos a través de RA4/T0CKI</a:t>
            </a:r>
          </a:p>
          <a:p>
            <a:r>
              <a:rPr lang="es-ES" sz="1700" b="1" dirty="0"/>
              <a:t>	0: TMR0 se usa en modo temporizador haciendo uso de los pulsos de reloj internos (</a:t>
            </a:r>
            <a:r>
              <a:rPr lang="es-ES" sz="1700" b="1" dirty="0" err="1"/>
              <a:t>Fosc</a:t>
            </a:r>
            <a:r>
              <a:rPr lang="es-ES" sz="1700" b="1" dirty="0"/>
              <a:t>/4).</a:t>
            </a:r>
          </a:p>
          <a:p>
            <a:endParaRPr lang="es-ES" sz="1700" b="1" dirty="0">
              <a:solidFill>
                <a:srgbClr val="FF0000"/>
              </a:solidFill>
            </a:endParaRPr>
          </a:p>
          <a:p>
            <a:r>
              <a:rPr lang="es-ES" sz="1700" b="1" dirty="0">
                <a:solidFill>
                  <a:srgbClr val="FF0000"/>
                </a:solidFill>
              </a:rPr>
              <a:t>Bit 4, T0SE (</a:t>
            </a:r>
            <a:r>
              <a:rPr lang="es-ES" sz="1700" b="1" dirty="0" err="1">
                <a:solidFill>
                  <a:srgbClr val="FF0000"/>
                </a:solidFill>
              </a:rPr>
              <a:t>Timer</a:t>
            </a:r>
            <a:r>
              <a:rPr lang="es-ES" sz="1700" b="1" dirty="0">
                <a:solidFill>
                  <a:srgbClr val="FF0000"/>
                </a:solidFill>
              </a:rPr>
              <a:t> 0 </a:t>
            </a:r>
            <a:r>
              <a:rPr lang="es-ES" sz="1700" b="1" dirty="0" err="1">
                <a:solidFill>
                  <a:srgbClr val="FF0000"/>
                </a:solidFill>
              </a:rPr>
              <a:t>Signal</a:t>
            </a:r>
            <a:r>
              <a:rPr lang="es-ES" sz="1700" b="1" dirty="0">
                <a:solidFill>
                  <a:srgbClr val="FF0000"/>
                </a:solidFill>
              </a:rPr>
              <a:t> </a:t>
            </a:r>
            <a:r>
              <a:rPr lang="es-ES" sz="1700" b="1" dirty="0" err="1">
                <a:solidFill>
                  <a:srgbClr val="FF0000"/>
                </a:solidFill>
              </a:rPr>
              <a:t>Edge</a:t>
            </a:r>
            <a:r>
              <a:rPr lang="es-ES" sz="1700" b="1" dirty="0">
                <a:solidFill>
                  <a:srgbClr val="FF0000"/>
                </a:solidFill>
              </a:rPr>
              <a:t>).</a:t>
            </a:r>
            <a:r>
              <a:rPr lang="es-ES" sz="1700" b="1" dirty="0"/>
              <a:t> Tipo de flanco activo de T0CKI (patilla RA4/T0CKI).</a:t>
            </a:r>
          </a:p>
          <a:p>
            <a:r>
              <a:rPr lang="es-ES" sz="1700" b="1" dirty="0"/>
              <a:t>	1 = El TMR0 se incrementa con el flanco descendente de la señal aplicada a RA4/T0CK1.</a:t>
            </a:r>
          </a:p>
          <a:p>
            <a:r>
              <a:rPr lang="es-ES" sz="1700" b="1" dirty="0"/>
              <a:t>	0 = El TMR0 se incrementa con el flanco ascendente.</a:t>
            </a:r>
          </a:p>
          <a:p>
            <a:r>
              <a:rPr lang="es-ES" sz="1700" b="1" dirty="0">
                <a:solidFill>
                  <a:srgbClr val="FF0000"/>
                </a:solidFill>
              </a:rPr>
              <a:t>Bit 3, PSA (</a:t>
            </a:r>
            <a:r>
              <a:rPr lang="es-ES" sz="1700" b="1" dirty="0" err="1">
                <a:solidFill>
                  <a:srgbClr val="FF0000"/>
                </a:solidFill>
              </a:rPr>
              <a:t>PreScaler</a:t>
            </a:r>
            <a:r>
              <a:rPr lang="es-ES" sz="1700" b="1" dirty="0">
                <a:solidFill>
                  <a:srgbClr val="FF0000"/>
                </a:solidFill>
              </a:rPr>
              <a:t> </a:t>
            </a:r>
            <a:r>
              <a:rPr lang="es-ES" sz="1700" b="1" dirty="0" err="1">
                <a:solidFill>
                  <a:srgbClr val="FF0000"/>
                </a:solidFill>
              </a:rPr>
              <a:t>Assignement</a:t>
            </a:r>
            <a:r>
              <a:rPr lang="es-ES" sz="1700" b="1" dirty="0">
                <a:solidFill>
                  <a:srgbClr val="FF0000"/>
                </a:solidFill>
              </a:rPr>
              <a:t>).</a:t>
            </a:r>
            <a:r>
              <a:rPr lang="es-ES" sz="1700" b="1" dirty="0"/>
              <a:t> Se usa para la asignación del divisor de frecuencias o </a:t>
            </a:r>
            <a:r>
              <a:rPr lang="es-ES" sz="1700" b="1" dirty="0" err="1"/>
              <a:t>Prescaler</a:t>
            </a:r>
            <a:r>
              <a:rPr lang="es-ES" sz="1700" b="1" dirty="0"/>
              <a:t>.</a:t>
            </a:r>
          </a:p>
          <a:p>
            <a:r>
              <a:rPr lang="es-ES" sz="1700" b="1" dirty="0"/>
              <a:t>	1 = El divisor de frecuencia se asigna al WDT.</a:t>
            </a:r>
          </a:p>
          <a:p>
            <a:r>
              <a:rPr lang="es-ES" sz="1700" b="1" dirty="0"/>
              <a:t>	0 = El divisor de frecuencia se asigna a TMR0.</a:t>
            </a:r>
          </a:p>
          <a:p>
            <a:endParaRPr lang="es-ES" sz="1700" b="1" dirty="0"/>
          </a:p>
          <a:p>
            <a:r>
              <a:rPr lang="es-ES" sz="1700" b="1" dirty="0">
                <a:solidFill>
                  <a:srgbClr val="FF0000"/>
                </a:solidFill>
              </a:rPr>
              <a:t>Bits 0, 1 y 2, PS0, PS1 y PS2 (</a:t>
            </a:r>
            <a:r>
              <a:rPr lang="es-ES" sz="1700" b="1" dirty="0" err="1">
                <a:solidFill>
                  <a:srgbClr val="FF0000"/>
                </a:solidFill>
              </a:rPr>
              <a:t>Prescaler</a:t>
            </a:r>
            <a:r>
              <a:rPr lang="es-ES" sz="1700" b="1" dirty="0">
                <a:solidFill>
                  <a:srgbClr val="FF0000"/>
                </a:solidFill>
              </a:rPr>
              <a:t> </a:t>
            </a:r>
            <a:r>
              <a:rPr lang="es-ES" sz="1700" b="1" dirty="0" err="1">
                <a:solidFill>
                  <a:srgbClr val="FF0000"/>
                </a:solidFill>
              </a:rPr>
              <a:t>Rate</a:t>
            </a:r>
            <a:r>
              <a:rPr lang="es-ES" sz="1700" b="1" dirty="0">
                <a:solidFill>
                  <a:srgbClr val="FF0000"/>
                </a:solidFill>
              </a:rPr>
              <a:t> </a:t>
            </a:r>
            <a:r>
              <a:rPr lang="es-ES" sz="1700" b="1" dirty="0" err="1">
                <a:solidFill>
                  <a:srgbClr val="FF0000"/>
                </a:solidFill>
              </a:rPr>
              <a:t>Select</a:t>
            </a:r>
            <a:r>
              <a:rPr lang="es-ES" sz="1700" b="1" dirty="0">
                <a:solidFill>
                  <a:srgbClr val="FF0000"/>
                </a:solidFill>
              </a:rPr>
              <a:t> Bits).</a:t>
            </a:r>
            <a:r>
              <a:rPr lang="es-ES" sz="1700" b="1" dirty="0"/>
              <a:t> Configura la tasa del valor del divisor de frecuencia o </a:t>
            </a:r>
            <a:r>
              <a:rPr lang="es-ES" sz="1700" b="1" dirty="0" err="1"/>
              <a:t>prescaler</a:t>
            </a:r>
            <a:r>
              <a:rPr lang="es-ES" sz="1700" b="1" dirty="0"/>
              <a:t>. Difiere dependiendo que se haya asignado al TMR0 o al WDT.</a:t>
            </a:r>
            <a:endParaRPr lang="es-ES" sz="1700" dirty="0"/>
          </a:p>
        </p:txBody>
      </p:sp>
      <p:sp>
        <p:nvSpPr>
          <p:cNvPr id="3" name="Rectángulo 2"/>
          <p:cNvSpPr/>
          <p:nvPr/>
        </p:nvSpPr>
        <p:spPr>
          <a:xfrm>
            <a:off x="2673350" y="161706"/>
            <a:ext cx="5346700" cy="646331"/>
          </a:xfrm>
          <a:prstGeom prst="rect">
            <a:avLst/>
          </a:prstGeom>
        </p:spPr>
        <p:txBody>
          <a:bodyPr>
            <a:spAutoFit/>
          </a:bodyPr>
          <a:lstStyle/>
          <a:p>
            <a:pPr algn="ctr"/>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 (80h)</a:t>
            </a:r>
            <a:br>
              <a:rPr lang="es-ES" b="1" i="1" dirty="0">
                <a:solidFill>
                  <a:srgbClr val="FF0000"/>
                </a:solidFill>
                <a:effectLst>
                  <a:outerShdw blurRad="38100" dist="38100" dir="2700000" algn="tl">
                    <a:srgbClr val="000000">
                      <a:alpha val="43137"/>
                    </a:srgbClr>
                  </a:outerShdw>
                </a:effectLst>
                <a:latin typeface="Calibri" panose="020F0502020204030204" pitchFamily="34" charset="0"/>
              </a:rPr>
            </a:br>
            <a:r>
              <a:rPr lang="es-ES" i="1" dirty="0">
                <a:solidFill>
                  <a:srgbClr val="FF0000"/>
                </a:solidFill>
                <a:effectLst>
                  <a:outerShdw blurRad="38100" dist="38100" dir="2700000" algn="tl">
                    <a:srgbClr val="000000">
                      <a:alpha val="43137"/>
                    </a:srgbClr>
                  </a:outerShdw>
                </a:effectLst>
                <a:latin typeface="Calibri" panose="020F0502020204030204" pitchFamily="34" charset="0"/>
              </a:rPr>
              <a:t>(1)</a:t>
            </a:r>
            <a:endParaRPr lang="es-ES" dirty="0"/>
          </a:p>
        </p:txBody>
      </p:sp>
    </p:spTree>
    <p:extLst>
      <p:ext uri="{BB962C8B-B14F-4D97-AF65-F5344CB8AC3E}">
        <p14:creationId xmlns:p14="http://schemas.microsoft.com/office/powerpoint/2010/main" val="31595245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3"/>
          <a:stretch>
            <a:fillRect/>
          </a:stretch>
        </p:blipFill>
        <p:spPr>
          <a:xfrm>
            <a:off x="2984500" y="4925265"/>
            <a:ext cx="3133725" cy="1978772"/>
          </a:xfrm>
          <a:prstGeom prst="rect">
            <a:avLst/>
          </a:prstGeom>
        </p:spPr>
      </p:pic>
      <p:pic>
        <p:nvPicPr>
          <p:cNvPr id="5" name="Imagen 4"/>
          <p:cNvPicPr>
            <a:picLocks noChangeAspect="1"/>
          </p:cNvPicPr>
          <p:nvPr/>
        </p:nvPicPr>
        <p:blipFill>
          <a:blip r:embed="rId4"/>
          <a:stretch>
            <a:fillRect/>
          </a:stretch>
        </p:blipFill>
        <p:spPr>
          <a:xfrm>
            <a:off x="2832100" y="1265237"/>
            <a:ext cx="3581400" cy="1052917"/>
          </a:xfrm>
          <a:prstGeom prst="rect">
            <a:avLst/>
          </a:prstGeom>
        </p:spPr>
      </p:pic>
      <p:sp>
        <p:nvSpPr>
          <p:cNvPr id="6" name="CuadroTexto 5"/>
          <p:cNvSpPr txBox="1"/>
          <p:nvPr/>
        </p:nvSpPr>
        <p:spPr>
          <a:xfrm>
            <a:off x="169054" y="2332037"/>
            <a:ext cx="10359246" cy="2862322"/>
          </a:xfrm>
          <a:prstGeom prst="rect">
            <a:avLst/>
          </a:prstGeom>
          <a:noFill/>
        </p:spPr>
        <p:txBody>
          <a:bodyPr wrap="none" rtlCol="0">
            <a:spAutoFit/>
          </a:bodyPr>
          <a:lstStyle/>
          <a:p>
            <a:r>
              <a:rPr lang="es-ES" b="1" dirty="0"/>
              <a:t>Bit 7, /RBPU </a:t>
            </a:r>
            <a:r>
              <a:rPr lang="es-ES" dirty="0"/>
              <a:t>(RB </a:t>
            </a:r>
            <a:r>
              <a:rPr lang="es-ES" dirty="0" err="1"/>
              <a:t>Pull</a:t>
            </a:r>
            <a:r>
              <a:rPr lang="es-ES" dirty="0"/>
              <a:t> Up). Conexión de las resistencias de polarización del Puerto B. Se conectan todas </a:t>
            </a:r>
          </a:p>
          <a:p>
            <a:r>
              <a:rPr lang="es-ES" dirty="0"/>
              <a:t>cuando el puerto B </a:t>
            </a:r>
            <a:r>
              <a:rPr lang="es-ES" dirty="0" err="1"/>
              <a:t>actua</a:t>
            </a:r>
            <a:r>
              <a:rPr lang="es-ES" dirty="0"/>
              <a:t> como entrada.</a:t>
            </a:r>
          </a:p>
          <a:p>
            <a:r>
              <a:rPr lang="es-ES" b="1" dirty="0"/>
              <a:t>Bit 6, INTDEG </a:t>
            </a:r>
            <a:r>
              <a:rPr lang="es-ES" dirty="0"/>
              <a:t>(</a:t>
            </a:r>
            <a:r>
              <a:rPr lang="es-ES" dirty="0" err="1"/>
              <a:t>INTerrupt</a:t>
            </a:r>
            <a:r>
              <a:rPr lang="es-ES" dirty="0"/>
              <a:t> </a:t>
            </a:r>
            <a:r>
              <a:rPr lang="es-ES" dirty="0" err="1"/>
              <a:t>EDGe</a:t>
            </a:r>
            <a:r>
              <a:rPr lang="es-ES" dirty="0"/>
              <a:t>). Selecciona el tipo de flanco para la interrupción externa. </a:t>
            </a:r>
          </a:p>
          <a:p>
            <a:r>
              <a:rPr lang="es-ES" dirty="0"/>
              <a:t>Este bit indica el tipo de flanco de la señal externa que ha de provocar una interrupción en la patilla RB0/INT.</a:t>
            </a:r>
          </a:p>
          <a:p>
            <a:r>
              <a:rPr lang="es-ES" b="1" dirty="0"/>
              <a:t>Bit 5, T0CS </a:t>
            </a:r>
            <a:r>
              <a:rPr lang="es-ES" dirty="0"/>
              <a:t>(</a:t>
            </a:r>
            <a:r>
              <a:rPr lang="es-ES" dirty="0" err="1"/>
              <a:t>Timer</a:t>
            </a:r>
            <a:r>
              <a:rPr lang="es-ES" dirty="0"/>
              <a:t> 0 </a:t>
            </a:r>
            <a:r>
              <a:rPr lang="es-ES" dirty="0" err="1"/>
              <a:t>Signal</a:t>
            </a:r>
            <a:r>
              <a:rPr lang="es-ES" dirty="0"/>
              <a:t> </a:t>
            </a:r>
            <a:r>
              <a:rPr lang="es-ES" dirty="0" err="1"/>
              <a:t>Source</a:t>
            </a:r>
            <a:r>
              <a:rPr lang="es-ES" dirty="0"/>
              <a:t>). Selección de la fuente de reloj para el TMR0.</a:t>
            </a:r>
          </a:p>
          <a:p>
            <a:r>
              <a:rPr lang="es-ES" b="1" dirty="0"/>
              <a:t>Bit 4, T0SE </a:t>
            </a:r>
            <a:r>
              <a:rPr lang="es-ES" dirty="0"/>
              <a:t>(</a:t>
            </a:r>
            <a:r>
              <a:rPr lang="es-ES" dirty="0" err="1"/>
              <a:t>Timer</a:t>
            </a:r>
            <a:r>
              <a:rPr lang="es-ES" dirty="0"/>
              <a:t> 0 </a:t>
            </a:r>
            <a:r>
              <a:rPr lang="es-ES" dirty="0" err="1"/>
              <a:t>Signal</a:t>
            </a:r>
            <a:r>
              <a:rPr lang="es-ES" dirty="0"/>
              <a:t> </a:t>
            </a:r>
            <a:r>
              <a:rPr lang="es-ES" dirty="0" err="1"/>
              <a:t>Edge</a:t>
            </a:r>
            <a:r>
              <a:rPr lang="es-ES" dirty="0"/>
              <a:t>). Tipo de flanco activo de T0CKI (patilla RA4/T0CKI).</a:t>
            </a:r>
          </a:p>
          <a:p>
            <a:r>
              <a:rPr lang="es-ES" b="1" dirty="0"/>
              <a:t>Bit 3, PSA </a:t>
            </a:r>
            <a:r>
              <a:rPr lang="es-ES" dirty="0"/>
              <a:t>(</a:t>
            </a:r>
            <a:r>
              <a:rPr lang="es-ES" dirty="0" err="1"/>
              <a:t>PreScaler</a:t>
            </a:r>
            <a:r>
              <a:rPr lang="es-ES" dirty="0"/>
              <a:t> </a:t>
            </a:r>
            <a:r>
              <a:rPr lang="es-ES" dirty="0" err="1"/>
              <a:t>Assignement</a:t>
            </a:r>
            <a:r>
              <a:rPr lang="es-ES" dirty="0"/>
              <a:t>). Se usa para la asignación del divisor de frecuencias o </a:t>
            </a:r>
            <a:r>
              <a:rPr lang="es-ES" dirty="0" err="1"/>
              <a:t>Prescaler</a:t>
            </a:r>
            <a:r>
              <a:rPr lang="es-ES" dirty="0"/>
              <a:t>.</a:t>
            </a:r>
          </a:p>
          <a:p>
            <a:r>
              <a:rPr lang="es-ES" b="1" dirty="0"/>
              <a:t>Bits 0, 1 y 2, PS0, PS1 y PS2 </a:t>
            </a:r>
            <a:r>
              <a:rPr lang="es-ES" dirty="0"/>
              <a:t>(</a:t>
            </a:r>
            <a:r>
              <a:rPr lang="es-ES" dirty="0" err="1"/>
              <a:t>Prescaler</a:t>
            </a:r>
            <a:r>
              <a:rPr lang="es-ES" dirty="0"/>
              <a:t> </a:t>
            </a:r>
            <a:r>
              <a:rPr lang="es-ES" dirty="0" err="1"/>
              <a:t>Rate</a:t>
            </a:r>
            <a:r>
              <a:rPr lang="es-ES" dirty="0"/>
              <a:t> </a:t>
            </a:r>
            <a:r>
              <a:rPr lang="es-ES" dirty="0" err="1"/>
              <a:t>Select</a:t>
            </a:r>
            <a:r>
              <a:rPr lang="es-ES" dirty="0"/>
              <a:t> Bits). Configura la tasa del valor del divisor de frecuencia</a:t>
            </a:r>
          </a:p>
          <a:p>
            <a:r>
              <a:rPr lang="es-ES" dirty="0"/>
              <a:t>o </a:t>
            </a:r>
            <a:r>
              <a:rPr lang="es-ES" dirty="0" err="1"/>
              <a:t>prescaler</a:t>
            </a:r>
            <a:r>
              <a:rPr lang="es-ES" dirty="0"/>
              <a:t>. Difiere dependiendo que se haya asignado al TMR0 o al WDT.</a:t>
            </a:r>
          </a:p>
          <a:p>
            <a:endParaRPr lang="es-ES" dirty="0"/>
          </a:p>
        </p:txBody>
      </p:sp>
      <p:sp>
        <p:nvSpPr>
          <p:cNvPr id="7" name="Título 1"/>
          <p:cNvSpPr>
            <a:spLocks noGrp="1"/>
          </p:cNvSpPr>
          <p:nvPr>
            <p:ph type="title"/>
          </p:nvPr>
        </p:nvSpPr>
        <p:spPr>
          <a:xfrm>
            <a:off x="393700" y="274638"/>
            <a:ext cx="84582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OPTION (80h)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(2)</a:t>
            </a:r>
          </a:p>
        </p:txBody>
      </p:sp>
    </p:spTree>
    <p:extLst>
      <p:ext uri="{BB962C8B-B14F-4D97-AF65-F5344CB8AC3E}">
        <p14:creationId xmlns:p14="http://schemas.microsoft.com/office/powerpoint/2010/main" val="928459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2300" y="274638"/>
            <a:ext cx="9525000" cy="1143000"/>
          </a:xfrm>
        </p:spPr>
        <p:txBody>
          <a:bodyPr vert="horz" lIns="91440" tIns="45720" rIns="91440" bIns="45720" rtlCol="0" anchor="ctr">
            <a:normAutofit fontScale="90000"/>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El Contador de programa PC </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PCL(002h y 082h)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PCLATH (00Ah y 08Ah)</a:t>
            </a:r>
          </a:p>
        </p:txBody>
      </p:sp>
      <p:sp>
        <p:nvSpPr>
          <p:cNvPr id="3" name="Marcador de contenido 2"/>
          <p:cNvSpPr>
            <a:spLocks noGrp="1"/>
          </p:cNvSpPr>
          <p:nvPr>
            <p:ph idx="1"/>
          </p:nvPr>
        </p:nvSpPr>
        <p:spPr>
          <a:xfrm>
            <a:off x="457200" y="1417638"/>
            <a:ext cx="9931400" cy="6142037"/>
          </a:xfrm>
        </p:spPr>
        <p:txBody>
          <a:bodyPr>
            <a:noAutofit/>
          </a:bodyPr>
          <a:lstStyle/>
          <a:p>
            <a:r>
              <a:rPr lang="es-ES" sz="2400" b="1" u="sng" dirty="0">
                <a:solidFill>
                  <a:srgbClr val="FF0000"/>
                </a:solidFill>
              </a:rPr>
              <a:t>Dos Registros por que uno solo no puede representar los 14 bits del PC</a:t>
            </a:r>
          </a:p>
          <a:p>
            <a:r>
              <a:rPr lang="es-ES" sz="2400" b="1" dirty="0">
                <a:effectLst>
                  <a:outerShdw blurRad="38100" dist="38100" dir="2700000" algn="tl">
                    <a:srgbClr val="000000">
                      <a:alpha val="43137"/>
                    </a:srgbClr>
                  </a:outerShdw>
                </a:effectLst>
              </a:rPr>
              <a:t>Este registro contiene la dirección de la próxima instrucción a ejecutar. </a:t>
            </a:r>
          </a:p>
          <a:p>
            <a:r>
              <a:rPr lang="es-ES" sz="2400" b="1" dirty="0">
                <a:effectLst>
                  <a:outerShdw blurRad="38100" dist="38100" dir="2700000" algn="tl">
                    <a:srgbClr val="000000">
                      <a:alpha val="43137"/>
                    </a:srgbClr>
                  </a:outerShdw>
                </a:effectLst>
              </a:rPr>
              <a:t>Se incrementa automáticamente al ejecutar cada instrucción</a:t>
            </a:r>
          </a:p>
          <a:p>
            <a:r>
              <a:rPr lang="es-ES" sz="2400" b="1" dirty="0">
                <a:effectLst>
                  <a:outerShdw blurRad="38100" dist="38100" dir="2700000" algn="tl">
                    <a:srgbClr val="000000">
                      <a:alpha val="43137"/>
                    </a:srgbClr>
                  </a:outerShdw>
                </a:effectLst>
              </a:rPr>
              <a:t>Algunas instrucciones (que llamaremos de control) cambian el contenido del PC alterando la secuencia lineal de ejecución. </a:t>
            </a:r>
          </a:p>
          <a:p>
            <a:r>
              <a:rPr lang="es-ES" sz="2400" b="1" dirty="0">
                <a:effectLst>
                  <a:outerShdw blurRad="38100" dist="38100" dir="2700000" algn="tl">
                    <a:srgbClr val="000000">
                      <a:alpha val="43137"/>
                    </a:srgbClr>
                  </a:outerShdw>
                </a:effectLst>
              </a:rPr>
              <a:t>Dentro de estas instrucciones se encuentran </a:t>
            </a:r>
            <a:r>
              <a:rPr lang="es-ES" sz="2400" b="1" dirty="0">
                <a:solidFill>
                  <a:srgbClr val="FF0000"/>
                </a:solidFill>
                <a:effectLst>
                  <a:outerShdw blurRad="38100" dist="38100" dir="2700000" algn="tl">
                    <a:srgbClr val="000000">
                      <a:alpha val="43137"/>
                    </a:srgbClr>
                  </a:outerShdw>
                </a:effectLst>
              </a:rPr>
              <a:t>GOTO y CALL </a:t>
            </a:r>
            <a:r>
              <a:rPr lang="es-ES" sz="2400" b="1" dirty="0">
                <a:effectLst>
                  <a:outerShdw blurRad="38100" dist="38100" dir="2700000" algn="tl">
                    <a:srgbClr val="000000">
                      <a:alpha val="43137"/>
                    </a:srgbClr>
                  </a:outerShdw>
                </a:effectLst>
              </a:rPr>
              <a:t>que permiten cargar en forma directa un valor constante en el PC</a:t>
            </a:r>
          </a:p>
          <a:p>
            <a:r>
              <a:rPr lang="es-ES" sz="2400" b="1" dirty="0">
                <a:effectLst>
                  <a:outerShdw blurRad="38100" dist="38100" dir="2700000" algn="tl">
                    <a:srgbClr val="000000">
                      <a:alpha val="43137"/>
                    </a:srgbClr>
                  </a:outerShdw>
                </a:effectLst>
              </a:rPr>
              <a:t>Otras instrucciones de control son los </a:t>
            </a:r>
            <a:r>
              <a:rPr lang="es-ES" sz="2400" b="1" dirty="0">
                <a:solidFill>
                  <a:srgbClr val="FF0000"/>
                </a:solidFill>
                <a:effectLst>
                  <a:outerShdw blurRad="38100" dist="38100" dir="2700000" algn="tl">
                    <a:srgbClr val="000000">
                      <a:alpha val="43137"/>
                    </a:srgbClr>
                  </a:outerShdw>
                </a:effectLst>
              </a:rPr>
              <a:t>SKIP</a:t>
            </a:r>
            <a:r>
              <a:rPr lang="es-ES" sz="2400" b="1" dirty="0">
                <a:effectLst>
                  <a:outerShdw blurRad="38100" dist="38100" dir="2700000" algn="tl">
                    <a:srgbClr val="000000">
                      <a:alpha val="43137"/>
                    </a:srgbClr>
                  </a:outerShdw>
                </a:effectLst>
              </a:rPr>
              <a:t> o saltos condicionales, que producen un incremento adicional del PC si se cumple una condición específica, haciendo que el programa salte, sin ejecutar, la instrucción siguiente.</a:t>
            </a:r>
            <a:endParaRPr lang="es-ES" sz="2400" dirty="0"/>
          </a:p>
        </p:txBody>
      </p:sp>
      <p:sp>
        <p:nvSpPr>
          <p:cNvPr id="4" name="Rectángulo 3"/>
          <p:cNvSpPr/>
          <p:nvPr/>
        </p:nvSpPr>
        <p:spPr>
          <a:xfrm>
            <a:off x="5186941" y="6486306"/>
            <a:ext cx="2369559" cy="646331"/>
          </a:xfrm>
          <a:prstGeom prst="rect">
            <a:avLst/>
          </a:prstGeom>
        </p:spPr>
        <p:txBody>
          <a:bodyPr wrap="none">
            <a:spAutoFit/>
          </a:bodyPr>
          <a:lstStyle/>
          <a:p>
            <a:r>
              <a:rPr lang="es-ES" b="1" dirty="0">
                <a:solidFill>
                  <a:srgbClr val="9F5F9F"/>
                </a:solidFill>
                <a:latin typeface="Verdana" panose="020B0604030504040204" pitchFamily="34" charset="0"/>
              </a:rPr>
              <a:t>Registro PCL</a:t>
            </a:r>
          </a:p>
          <a:p>
            <a:r>
              <a:rPr lang="es-ES" b="1" dirty="0">
                <a:solidFill>
                  <a:srgbClr val="9F5F9F"/>
                </a:solidFill>
                <a:latin typeface="Verdana" panose="020B0604030504040204" pitchFamily="34" charset="0"/>
              </a:rPr>
              <a:t>Registro PCLATH</a:t>
            </a:r>
          </a:p>
        </p:txBody>
      </p:sp>
      <p:pic>
        <p:nvPicPr>
          <p:cNvPr id="5" name="Imagen 4"/>
          <p:cNvPicPr>
            <a:picLocks noChangeAspect="1"/>
          </p:cNvPicPr>
          <p:nvPr/>
        </p:nvPicPr>
        <p:blipFill>
          <a:blip r:embed="rId3"/>
          <a:stretch>
            <a:fillRect/>
          </a:stretch>
        </p:blipFill>
        <p:spPr>
          <a:xfrm>
            <a:off x="7899400" y="6014899"/>
            <a:ext cx="1638300" cy="1193938"/>
          </a:xfrm>
          <a:prstGeom prst="rect">
            <a:avLst/>
          </a:prstGeom>
        </p:spPr>
      </p:pic>
      <p:graphicFrame>
        <p:nvGraphicFramePr>
          <p:cNvPr id="6" name="Tabla 5"/>
          <p:cNvGraphicFramePr>
            <a:graphicFrameLocks noGrp="1"/>
          </p:cNvGraphicFramePr>
          <p:nvPr>
            <p:extLst>
              <p:ext uri="{D42A27DB-BD31-4B8C-83A1-F6EECF244321}">
                <p14:modId xmlns:p14="http://schemas.microsoft.com/office/powerpoint/2010/main" val="2258947340"/>
              </p:ext>
            </p:extLst>
          </p:nvPr>
        </p:nvGraphicFramePr>
        <p:xfrm>
          <a:off x="2111324" y="6405642"/>
          <a:ext cx="2473376" cy="370840"/>
        </p:xfrm>
        <a:graphic>
          <a:graphicData uri="http://schemas.openxmlformats.org/drawingml/2006/table">
            <a:tbl>
              <a:tblPr firstRow="1" bandRow="1">
                <a:tableStyleId>{5C22544A-7EE6-4342-B048-85BDC9FD1C3A}</a:tableStyleId>
              </a:tblPr>
              <a:tblGrid>
                <a:gridCol w="309172">
                  <a:extLst>
                    <a:ext uri="{9D8B030D-6E8A-4147-A177-3AD203B41FA5}">
                      <a16:colId xmlns:a16="http://schemas.microsoft.com/office/drawing/2014/main" val="20000"/>
                    </a:ext>
                  </a:extLst>
                </a:gridCol>
                <a:gridCol w="309172">
                  <a:extLst>
                    <a:ext uri="{9D8B030D-6E8A-4147-A177-3AD203B41FA5}">
                      <a16:colId xmlns:a16="http://schemas.microsoft.com/office/drawing/2014/main" val="20001"/>
                    </a:ext>
                  </a:extLst>
                </a:gridCol>
                <a:gridCol w="309172">
                  <a:extLst>
                    <a:ext uri="{9D8B030D-6E8A-4147-A177-3AD203B41FA5}">
                      <a16:colId xmlns:a16="http://schemas.microsoft.com/office/drawing/2014/main" val="20002"/>
                    </a:ext>
                  </a:extLst>
                </a:gridCol>
                <a:gridCol w="309172">
                  <a:extLst>
                    <a:ext uri="{9D8B030D-6E8A-4147-A177-3AD203B41FA5}">
                      <a16:colId xmlns:a16="http://schemas.microsoft.com/office/drawing/2014/main" val="20003"/>
                    </a:ext>
                  </a:extLst>
                </a:gridCol>
                <a:gridCol w="309172">
                  <a:extLst>
                    <a:ext uri="{9D8B030D-6E8A-4147-A177-3AD203B41FA5}">
                      <a16:colId xmlns:a16="http://schemas.microsoft.com/office/drawing/2014/main" val="20004"/>
                    </a:ext>
                  </a:extLst>
                </a:gridCol>
                <a:gridCol w="309172">
                  <a:extLst>
                    <a:ext uri="{9D8B030D-6E8A-4147-A177-3AD203B41FA5}">
                      <a16:colId xmlns:a16="http://schemas.microsoft.com/office/drawing/2014/main" val="20005"/>
                    </a:ext>
                  </a:extLst>
                </a:gridCol>
                <a:gridCol w="309172">
                  <a:extLst>
                    <a:ext uri="{9D8B030D-6E8A-4147-A177-3AD203B41FA5}">
                      <a16:colId xmlns:a16="http://schemas.microsoft.com/office/drawing/2014/main" val="20006"/>
                    </a:ext>
                  </a:extLst>
                </a:gridCol>
                <a:gridCol w="309172">
                  <a:extLst>
                    <a:ext uri="{9D8B030D-6E8A-4147-A177-3AD203B41FA5}">
                      <a16:colId xmlns:a16="http://schemas.microsoft.com/office/drawing/2014/main" val="20007"/>
                    </a:ext>
                  </a:extLst>
                </a:gridCol>
              </a:tblGrid>
              <a:tr h="370840">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0000"/>
                  </a:ext>
                </a:extLst>
              </a:tr>
            </a:tbl>
          </a:graphicData>
        </a:graphic>
      </p:graphicFrame>
      <p:graphicFrame>
        <p:nvGraphicFramePr>
          <p:cNvPr id="7" name="Tabla 6"/>
          <p:cNvGraphicFramePr>
            <a:graphicFrameLocks noGrp="1"/>
          </p:cNvGraphicFramePr>
          <p:nvPr>
            <p:extLst>
              <p:ext uri="{D42A27DB-BD31-4B8C-83A1-F6EECF244321}">
                <p14:modId xmlns:p14="http://schemas.microsoft.com/office/powerpoint/2010/main" val="4269188307"/>
              </p:ext>
            </p:extLst>
          </p:nvPr>
        </p:nvGraphicFramePr>
        <p:xfrm>
          <a:off x="457200" y="6405642"/>
          <a:ext cx="1579035" cy="370840"/>
        </p:xfrm>
        <a:graphic>
          <a:graphicData uri="http://schemas.openxmlformats.org/drawingml/2006/table">
            <a:tbl>
              <a:tblPr firstRow="1" bandRow="1">
                <a:tableStyleId>{5C22544A-7EE6-4342-B048-85BDC9FD1C3A}</a:tableStyleId>
              </a:tblPr>
              <a:tblGrid>
                <a:gridCol w="315807">
                  <a:extLst>
                    <a:ext uri="{9D8B030D-6E8A-4147-A177-3AD203B41FA5}">
                      <a16:colId xmlns:a16="http://schemas.microsoft.com/office/drawing/2014/main" val="20000"/>
                    </a:ext>
                  </a:extLst>
                </a:gridCol>
                <a:gridCol w="315807">
                  <a:extLst>
                    <a:ext uri="{9D8B030D-6E8A-4147-A177-3AD203B41FA5}">
                      <a16:colId xmlns:a16="http://schemas.microsoft.com/office/drawing/2014/main" val="20001"/>
                    </a:ext>
                  </a:extLst>
                </a:gridCol>
                <a:gridCol w="315807">
                  <a:extLst>
                    <a:ext uri="{9D8B030D-6E8A-4147-A177-3AD203B41FA5}">
                      <a16:colId xmlns:a16="http://schemas.microsoft.com/office/drawing/2014/main" val="20002"/>
                    </a:ext>
                  </a:extLst>
                </a:gridCol>
                <a:gridCol w="315807">
                  <a:extLst>
                    <a:ext uri="{9D8B030D-6E8A-4147-A177-3AD203B41FA5}">
                      <a16:colId xmlns:a16="http://schemas.microsoft.com/office/drawing/2014/main" val="20003"/>
                    </a:ext>
                  </a:extLst>
                </a:gridCol>
                <a:gridCol w="315807">
                  <a:extLst>
                    <a:ext uri="{9D8B030D-6E8A-4147-A177-3AD203B41FA5}">
                      <a16:colId xmlns:a16="http://schemas.microsoft.com/office/drawing/2014/main" val="20004"/>
                    </a:ext>
                  </a:extLst>
                </a:gridCol>
              </a:tblGrid>
              <a:tr h="370840">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0000"/>
                  </a:ext>
                </a:extLst>
              </a:tr>
            </a:tbl>
          </a:graphicData>
        </a:graphic>
      </p:graphicFrame>
      <p:sp>
        <p:nvSpPr>
          <p:cNvPr id="8" name="CuadroTexto 7"/>
          <p:cNvSpPr txBox="1"/>
          <p:nvPr/>
        </p:nvSpPr>
        <p:spPr>
          <a:xfrm>
            <a:off x="393700" y="6710442"/>
            <a:ext cx="2233304" cy="369332"/>
          </a:xfrm>
          <a:prstGeom prst="rect">
            <a:avLst/>
          </a:prstGeom>
          <a:noFill/>
        </p:spPr>
        <p:txBody>
          <a:bodyPr wrap="none" rtlCol="0">
            <a:spAutoFit/>
          </a:bodyPr>
          <a:lstStyle/>
          <a:p>
            <a:r>
              <a:rPr lang="es-ES" i="1" dirty="0">
                <a:effectLst>
                  <a:outerShdw blurRad="38100" dist="38100" dir="2700000" algn="tl">
                    <a:srgbClr val="000000">
                      <a:alpha val="43137"/>
                    </a:srgbClr>
                  </a:outerShdw>
                </a:effectLst>
              </a:rPr>
              <a:t>PCH                         PCL</a:t>
            </a:r>
          </a:p>
        </p:txBody>
      </p:sp>
      <p:sp>
        <p:nvSpPr>
          <p:cNvPr id="9" name="Cerrar llave 8"/>
          <p:cNvSpPr/>
          <p:nvPr/>
        </p:nvSpPr>
        <p:spPr>
          <a:xfrm rot="5400000">
            <a:off x="2362200" y="4946174"/>
            <a:ext cx="304800" cy="4114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10" name="CuadroTexto 9"/>
          <p:cNvSpPr txBox="1"/>
          <p:nvPr/>
        </p:nvSpPr>
        <p:spPr>
          <a:xfrm>
            <a:off x="1993900" y="7079774"/>
            <a:ext cx="2362200" cy="369332"/>
          </a:xfrm>
          <a:prstGeom prst="rect">
            <a:avLst/>
          </a:prstGeom>
          <a:noFill/>
        </p:spPr>
        <p:txBody>
          <a:bodyPr wrap="square" rtlCol="0">
            <a:spAutoFit/>
          </a:bodyPr>
          <a:lstStyle/>
          <a:p>
            <a:r>
              <a:rPr lang="es-ES" dirty="0">
                <a:effectLst>
                  <a:outerShdw blurRad="38100" dist="38100" dir="2700000" algn="tl">
                    <a:srgbClr val="000000">
                      <a:alpha val="43137"/>
                    </a:srgbClr>
                  </a:outerShdw>
                </a:effectLst>
              </a:rPr>
              <a:t>13 bits</a:t>
            </a:r>
          </a:p>
        </p:txBody>
      </p:sp>
      <p:sp>
        <p:nvSpPr>
          <p:cNvPr id="12" name="Cerrar llave 11"/>
          <p:cNvSpPr/>
          <p:nvPr/>
        </p:nvSpPr>
        <p:spPr>
          <a:xfrm rot="16200000">
            <a:off x="2294929" y="4140239"/>
            <a:ext cx="439341" cy="41148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dirty="0"/>
          </a:p>
        </p:txBody>
      </p:sp>
      <p:sp>
        <p:nvSpPr>
          <p:cNvPr id="13" name="CuadroTexto 12"/>
          <p:cNvSpPr txBox="1"/>
          <p:nvPr/>
        </p:nvSpPr>
        <p:spPr>
          <a:xfrm>
            <a:off x="2298700" y="5684837"/>
            <a:ext cx="426720" cy="369332"/>
          </a:xfrm>
          <a:prstGeom prst="rect">
            <a:avLst/>
          </a:prstGeom>
          <a:noFill/>
        </p:spPr>
        <p:txBody>
          <a:bodyPr wrap="none" rtlCol="0">
            <a:spAutoFit/>
          </a:bodyPr>
          <a:lstStyle/>
          <a:p>
            <a:r>
              <a:rPr lang="es-ES" i="1" dirty="0">
                <a:effectLst>
                  <a:outerShdw blurRad="38100" dist="38100" dir="2700000" algn="tl">
                    <a:srgbClr val="000000">
                      <a:alpha val="43137"/>
                    </a:srgbClr>
                  </a:outerShdw>
                </a:effectLst>
              </a:rPr>
              <a:t>PC</a:t>
            </a:r>
          </a:p>
        </p:txBody>
      </p:sp>
    </p:spTree>
    <p:extLst>
      <p:ext uri="{BB962C8B-B14F-4D97-AF65-F5344CB8AC3E}">
        <p14:creationId xmlns:p14="http://schemas.microsoft.com/office/powerpoint/2010/main" val="13307091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690100" cy="1143000"/>
          </a:xfrm>
        </p:spPr>
        <p:txBody>
          <a:bodyPr vert="horz" lIns="91440" tIns="45720" rIns="91440" bIns="45720" rtlCol="0" anchor="ct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FSR (04h y 84h)</a:t>
            </a:r>
          </a:p>
        </p:txBody>
      </p:sp>
      <p:sp>
        <p:nvSpPr>
          <p:cNvPr id="3" name="Marcador de contenido 2"/>
          <p:cNvSpPr>
            <a:spLocks noGrp="1"/>
          </p:cNvSpPr>
          <p:nvPr>
            <p:ph idx="1"/>
          </p:nvPr>
        </p:nvSpPr>
        <p:spPr>
          <a:xfrm>
            <a:off x="457200" y="1417638"/>
            <a:ext cx="9931400" cy="1447799"/>
          </a:xfrm>
        </p:spPr>
        <p:txBody>
          <a:bodyPr>
            <a:noAutofit/>
          </a:bodyPr>
          <a:lstStyle/>
          <a:p>
            <a:r>
              <a:rPr lang="es-ES" sz="2800" b="1" dirty="0"/>
              <a:t>El contenido del FSR se utiliza para el direccionamiento indirecto junto con el registro INDF. Este registro contiene 8 bits. Ver el direccionamiento indirecto en "El PIC16F84A".</a:t>
            </a:r>
            <a:endParaRPr lang="es-ES" sz="2400" b="1" dirty="0"/>
          </a:p>
        </p:txBody>
      </p:sp>
      <p:pic>
        <p:nvPicPr>
          <p:cNvPr id="4" name="Imagen 3" descr="Imagen que contiene Calendario&#10;&#10;El contenido generado por IA puede ser incorrecto.">
            <a:extLst>
              <a:ext uri="{FF2B5EF4-FFF2-40B4-BE49-F238E27FC236}">
                <a16:creationId xmlns:a16="http://schemas.microsoft.com/office/drawing/2014/main" id="{6C8CCCC9-322C-2941-CEE4-4AD0B3188E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0344804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80233" y="1112837"/>
            <a:ext cx="9829800" cy="3539430"/>
          </a:xfrm>
          <a:prstGeom prst="rect">
            <a:avLst/>
          </a:prstGeom>
          <a:noFill/>
        </p:spPr>
        <p:txBody>
          <a:bodyPr wrap="square" rtlCol="0">
            <a:spAutoFit/>
          </a:bodyPr>
          <a:lstStyle/>
          <a:p>
            <a:pPr marL="457200" indent="-457200">
              <a:buFont typeface="Arial" panose="020B0604020202020204" pitchFamily="34" charset="0"/>
              <a:buChar char="•"/>
            </a:pPr>
            <a:r>
              <a:rPr lang="es-ES" sz="2800" dirty="0"/>
              <a:t>Estos registros son idénticos para el puerto A y el puerto B, con la diferencia de que uno será de 5 bits y otro de 8 bits, el mismo número de bits que tiene cada puerto.</a:t>
            </a:r>
          </a:p>
          <a:p>
            <a:pPr marL="457200" indent="-457200">
              <a:buFont typeface="Arial" panose="020B0604020202020204" pitchFamily="34" charset="0"/>
              <a:buChar char="•"/>
            </a:pPr>
            <a:r>
              <a:rPr lang="es-ES" sz="2800" dirty="0"/>
              <a:t>Los registros TRIS, también son llamados así, </a:t>
            </a:r>
            <a:r>
              <a:rPr lang="es-ES" sz="2800" u="sng" dirty="0">
                <a:solidFill>
                  <a:schemeClr val="accent4">
                    <a:lumMod val="75000"/>
                  </a:schemeClr>
                </a:solidFill>
                <a:effectLst>
                  <a:outerShdw blurRad="38100" dist="38100" dir="2700000" algn="tl">
                    <a:srgbClr val="000000">
                      <a:alpha val="43137"/>
                    </a:srgbClr>
                  </a:outerShdw>
                </a:effectLst>
              </a:rPr>
              <a:t>sirven para configurar</a:t>
            </a:r>
            <a:r>
              <a:rPr lang="es-ES" sz="2800" dirty="0"/>
              <a:t> si los bits de cada puerto serán de entrada o de salida.</a:t>
            </a:r>
          </a:p>
          <a:p>
            <a:r>
              <a:rPr lang="es-ES" sz="2800" dirty="0">
                <a:solidFill>
                  <a:srgbClr val="FF0000"/>
                </a:solidFill>
                <a:effectLst>
                  <a:outerShdw blurRad="38100" dist="38100" dir="2700000" algn="tl">
                    <a:srgbClr val="000000">
                      <a:alpha val="43137"/>
                    </a:srgbClr>
                  </a:outerShdw>
                </a:effectLst>
              </a:rPr>
              <a:t>1: Los pines del puerto correspondiente serán de entrada</a:t>
            </a:r>
          </a:p>
          <a:p>
            <a:r>
              <a:rPr lang="es-ES" sz="2800" dirty="0">
                <a:solidFill>
                  <a:srgbClr val="FF0000"/>
                </a:solidFill>
                <a:effectLst>
                  <a:outerShdw blurRad="38100" dist="38100" dir="2700000" algn="tl">
                    <a:srgbClr val="000000">
                      <a:alpha val="43137"/>
                    </a:srgbClr>
                  </a:outerShdw>
                </a:effectLst>
              </a:rPr>
              <a:t>0: Los pines del puerto </a:t>
            </a:r>
            <a:r>
              <a:rPr lang="es-ES" sz="2800" dirty="0" err="1">
                <a:solidFill>
                  <a:srgbClr val="FF0000"/>
                </a:solidFill>
                <a:effectLst>
                  <a:outerShdw blurRad="38100" dist="38100" dir="2700000" algn="tl">
                    <a:srgbClr val="000000">
                      <a:alpha val="43137"/>
                    </a:srgbClr>
                  </a:outerShdw>
                </a:effectLst>
              </a:rPr>
              <a:t>correpondiente</a:t>
            </a:r>
            <a:r>
              <a:rPr lang="es-ES" sz="2800" dirty="0">
                <a:solidFill>
                  <a:srgbClr val="FF0000"/>
                </a:solidFill>
                <a:effectLst>
                  <a:outerShdw blurRad="38100" dist="38100" dir="2700000" algn="tl">
                    <a:srgbClr val="000000">
                      <a:alpha val="43137"/>
                    </a:srgbClr>
                  </a:outerShdw>
                </a:effectLst>
              </a:rPr>
              <a:t>  actuarán como una salida.</a:t>
            </a:r>
          </a:p>
        </p:txBody>
      </p:sp>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TRISA y TRISB (85h y 86h)</a:t>
            </a:r>
          </a:p>
        </p:txBody>
      </p:sp>
      <p:grpSp>
        <p:nvGrpSpPr>
          <p:cNvPr id="2" name="Grupo 1"/>
          <p:cNvGrpSpPr/>
          <p:nvPr/>
        </p:nvGrpSpPr>
        <p:grpSpPr>
          <a:xfrm>
            <a:off x="1384300" y="4571999"/>
            <a:ext cx="7620000" cy="2789238"/>
            <a:chOff x="774700" y="3988331"/>
            <a:chExt cx="8610600" cy="3372906"/>
          </a:xfrm>
        </p:grpSpPr>
        <p:pic>
          <p:nvPicPr>
            <p:cNvPr id="9"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3988331"/>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ángulo 9"/>
            <p:cNvSpPr/>
            <p:nvPr/>
          </p:nvSpPr>
          <p:spPr>
            <a:xfrm>
              <a:off x="3060700" y="7056437"/>
              <a:ext cx="1511300" cy="2286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4" name="Elipse 3">
            <a:extLst>
              <a:ext uri="{FF2B5EF4-FFF2-40B4-BE49-F238E27FC236}">
                <a16:creationId xmlns:a16="http://schemas.microsoft.com/office/drawing/2014/main" id="{BE05BACD-7808-1164-7852-4F9BA49A6DDB}"/>
              </a:ext>
            </a:extLst>
          </p:cNvPr>
          <p:cNvSpPr/>
          <p:nvPr/>
        </p:nvSpPr>
        <p:spPr>
          <a:xfrm>
            <a:off x="7327900" y="5755902"/>
            <a:ext cx="609600" cy="1447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Elipse 4">
            <a:extLst>
              <a:ext uri="{FF2B5EF4-FFF2-40B4-BE49-F238E27FC236}">
                <a16:creationId xmlns:a16="http://schemas.microsoft.com/office/drawing/2014/main" id="{7AD20E73-1D1E-9779-550E-44D1C6040412}"/>
              </a:ext>
            </a:extLst>
          </p:cNvPr>
          <p:cNvSpPr/>
          <p:nvPr/>
        </p:nvSpPr>
        <p:spPr>
          <a:xfrm>
            <a:off x="8242300" y="5608637"/>
            <a:ext cx="609600" cy="188016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5042959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pt-BR"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PORTA y PORTB (05h y 06h)</a:t>
            </a:r>
          </a:p>
        </p:txBody>
      </p:sp>
      <p:sp>
        <p:nvSpPr>
          <p:cNvPr id="3" name="Marcador de contenido 2"/>
          <p:cNvSpPr>
            <a:spLocks noGrp="1"/>
          </p:cNvSpPr>
          <p:nvPr>
            <p:ph idx="1"/>
          </p:nvPr>
        </p:nvSpPr>
        <p:spPr>
          <a:xfrm>
            <a:off x="457200" y="1189037"/>
            <a:ext cx="9931400" cy="1447799"/>
          </a:xfrm>
        </p:spPr>
        <p:txBody>
          <a:bodyPr>
            <a:noAutofit/>
          </a:bodyPr>
          <a:lstStyle/>
          <a:p>
            <a:r>
              <a:rPr lang="es-ES" sz="2800" dirty="0"/>
              <a:t>Estos registros </a:t>
            </a:r>
            <a:r>
              <a:rPr lang="es-ES" sz="2800" u="sng" dirty="0">
                <a:effectLst>
                  <a:outerShdw blurRad="38100" dist="38100" dir="2700000" algn="tl">
                    <a:srgbClr val="000000">
                      <a:alpha val="43137"/>
                    </a:srgbClr>
                  </a:outerShdw>
                </a:effectLst>
              </a:rPr>
              <a:t>contienen los niveles lógicos </a:t>
            </a:r>
            <a:r>
              <a:rPr lang="es-ES" sz="1800" i="1" dirty="0">
                <a:solidFill>
                  <a:srgbClr val="FF0000"/>
                </a:solidFill>
                <a:effectLst>
                  <a:outerShdw blurRad="38100" dist="38100" dir="2700000" algn="tl">
                    <a:srgbClr val="000000">
                      <a:alpha val="43137"/>
                    </a:srgbClr>
                  </a:outerShdw>
                </a:effectLst>
              </a:rPr>
              <a:t>(0/1)</a:t>
            </a:r>
            <a:r>
              <a:rPr lang="es-ES" sz="2800" dirty="0"/>
              <a:t> de los pines de E/S.</a:t>
            </a:r>
          </a:p>
          <a:p>
            <a:r>
              <a:rPr lang="es-ES" sz="2800" dirty="0"/>
              <a:t>Cada bit se puede leer o escribir según el pin correspondiente se haya configurado como entrada o como salida.</a:t>
            </a:r>
            <a:r>
              <a:rPr lang="es-ES" sz="1800" i="1" dirty="0">
                <a:solidFill>
                  <a:srgbClr val="FF0000"/>
                </a:solidFill>
                <a:effectLst>
                  <a:outerShdw blurRad="38100" dist="38100" dir="2700000" algn="tl">
                    <a:srgbClr val="000000">
                      <a:alpha val="43137"/>
                    </a:srgbClr>
                  </a:outerShdw>
                </a:effectLst>
              </a:rPr>
              <a:t> (Ver TRISA / TRISB)</a:t>
            </a:r>
            <a:endParaRPr lang="es-ES" sz="1800" dirty="0">
              <a:solidFill>
                <a:srgbClr val="FF0000"/>
              </a:solidFill>
            </a:endParaRPr>
          </a:p>
        </p:txBody>
      </p:sp>
      <p:pic>
        <p:nvPicPr>
          <p:cNvPr id="4" name="Imagen 3"/>
          <p:cNvPicPr>
            <a:picLocks noChangeAspect="1"/>
          </p:cNvPicPr>
          <p:nvPr/>
        </p:nvPicPr>
        <p:blipFill>
          <a:blip r:embed="rId3"/>
          <a:stretch>
            <a:fillRect/>
          </a:stretch>
        </p:blipFill>
        <p:spPr>
          <a:xfrm>
            <a:off x="1841500" y="6218237"/>
            <a:ext cx="3371850" cy="962025"/>
          </a:xfrm>
          <a:prstGeom prst="rect">
            <a:avLst/>
          </a:prstGeom>
        </p:spPr>
      </p:pic>
      <p:pic>
        <p:nvPicPr>
          <p:cNvPr id="5" name="Imagen 4"/>
          <p:cNvPicPr>
            <a:picLocks noChangeAspect="1"/>
          </p:cNvPicPr>
          <p:nvPr/>
        </p:nvPicPr>
        <p:blipFill>
          <a:blip r:embed="rId4"/>
          <a:stretch>
            <a:fillRect/>
          </a:stretch>
        </p:blipFill>
        <p:spPr>
          <a:xfrm>
            <a:off x="5353050" y="6237287"/>
            <a:ext cx="3371850" cy="942975"/>
          </a:xfrm>
          <a:prstGeom prst="rect">
            <a:avLst/>
          </a:prstGeom>
        </p:spPr>
      </p:pic>
      <p:grpSp>
        <p:nvGrpSpPr>
          <p:cNvPr id="11" name="Grupo 10"/>
          <p:cNvGrpSpPr/>
          <p:nvPr/>
        </p:nvGrpSpPr>
        <p:grpSpPr>
          <a:xfrm>
            <a:off x="927100" y="3074985"/>
            <a:ext cx="8458200" cy="3010957"/>
            <a:chOff x="774700" y="2713037"/>
            <a:chExt cx="8610600" cy="3372906"/>
          </a:xfrm>
        </p:grpSpPr>
        <p:pic>
          <p:nvPicPr>
            <p:cNvPr id="6" name="3 Imagen" descr="http://perso.wanadoo.es/pictob/imagenes/arq16f84.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4700" y="2713037"/>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ángulo 7"/>
            <p:cNvSpPr/>
            <p:nvPr/>
          </p:nvSpPr>
          <p:spPr>
            <a:xfrm>
              <a:off x="3060700" y="5761037"/>
              <a:ext cx="1511300" cy="2286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9" name="CuadroTexto 8"/>
          <p:cNvSpPr txBox="1"/>
          <p:nvPr/>
        </p:nvSpPr>
        <p:spPr>
          <a:xfrm>
            <a:off x="5499100" y="6675437"/>
            <a:ext cx="1093569" cy="369332"/>
          </a:xfrm>
          <a:prstGeom prst="rect">
            <a:avLst/>
          </a:prstGeom>
          <a:noFill/>
        </p:spPr>
        <p:txBody>
          <a:bodyPr wrap="none" rtlCol="0">
            <a:spAutoFit/>
          </a:bodyPr>
          <a:lstStyle/>
          <a:p>
            <a:r>
              <a:rPr lang="es-ES" b="1" dirty="0">
                <a:solidFill>
                  <a:srgbClr val="FF0000"/>
                </a:solidFill>
                <a:effectLst>
                  <a:outerShdw blurRad="38100" dist="38100" dir="2700000" algn="tl">
                    <a:srgbClr val="000000">
                      <a:alpha val="43137"/>
                    </a:srgbClr>
                  </a:outerShdw>
                </a:effectLst>
              </a:rPr>
              <a:t>X     </a:t>
            </a:r>
            <a:r>
              <a:rPr lang="es-ES" b="1" dirty="0" err="1">
                <a:solidFill>
                  <a:srgbClr val="FF0000"/>
                </a:solidFill>
                <a:effectLst>
                  <a:outerShdw blurRad="38100" dist="38100" dir="2700000" algn="tl">
                    <a:srgbClr val="000000">
                      <a:alpha val="43137"/>
                    </a:srgbClr>
                  </a:outerShdw>
                </a:effectLst>
              </a:rPr>
              <a:t>X</a:t>
            </a:r>
            <a:r>
              <a:rPr lang="es-ES" b="1" dirty="0">
                <a:solidFill>
                  <a:srgbClr val="FF0000"/>
                </a:solidFill>
                <a:effectLst>
                  <a:outerShdw blurRad="38100" dist="38100" dir="2700000" algn="tl">
                    <a:srgbClr val="000000">
                      <a:alpha val="43137"/>
                    </a:srgbClr>
                  </a:outerShdw>
                </a:effectLst>
              </a:rPr>
              <a:t>     </a:t>
            </a:r>
            <a:r>
              <a:rPr lang="es-ES" b="1" dirty="0" err="1">
                <a:solidFill>
                  <a:srgbClr val="FF0000"/>
                </a:solidFill>
                <a:effectLst>
                  <a:outerShdw blurRad="38100" dist="38100" dir="2700000" algn="tl">
                    <a:srgbClr val="000000">
                      <a:alpha val="43137"/>
                    </a:srgbClr>
                  </a:outerShdw>
                </a:effectLst>
              </a:rPr>
              <a:t>X</a:t>
            </a:r>
            <a:endParaRPr lang="es-ES" b="1" dirty="0">
              <a:solidFill>
                <a:srgbClr val="FF0000"/>
              </a:solidFill>
              <a:effectLst>
                <a:outerShdw blurRad="38100" dist="38100" dir="2700000" algn="tl">
                  <a:srgbClr val="000000">
                    <a:alpha val="43137"/>
                  </a:srgbClr>
                </a:outerShdw>
              </a:effectLst>
            </a:endParaRPr>
          </a:p>
        </p:txBody>
      </p:sp>
      <p:sp>
        <p:nvSpPr>
          <p:cNvPr id="10" name="CuadroTexto 9"/>
          <p:cNvSpPr txBox="1"/>
          <p:nvPr/>
        </p:nvSpPr>
        <p:spPr>
          <a:xfrm>
            <a:off x="1917700" y="7208837"/>
            <a:ext cx="4689425" cy="369332"/>
          </a:xfrm>
          <a:prstGeom prst="rect">
            <a:avLst/>
          </a:prstGeom>
          <a:noFill/>
        </p:spPr>
        <p:txBody>
          <a:bodyPr wrap="none" rtlCol="0">
            <a:spAutoFit/>
          </a:bodyPr>
          <a:lstStyle/>
          <a:p>
            <a:r>
              <a:rPr lang="es-ES" dirty="0">
                <a:effectLst>
                  <a:outerShdw blurRad="38100" dist="38100" dir="2700000" algn="tl">
                    <a:srgbClr val="000000">
                      <a:alpha val="43137"/>
                    </a:srgbClr>
                  </a:outerShdw>
                </a:effectLst>
              </a:rPr>
              <a:t>Puerto B                                                   Puerto A</a:t>
            </a:r>
          </a:p>
        </p:txBody>
      </p:sp>
      <p:sp>
        <p:nvSpPr>
          <p:cNvPr id="7" name="Elipse 6"/>
          <p:cNvSpPr/>
          <p:nvPr/>
        </p:nvSpPr>
        <p:spPr>
          <a:xfrm>
            <a:off x="8547100" y="4160837"/>
            <a:ext cx="838200" cy="215370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Elipse 12">
            <a:extLst>
              <a:ext uri="{FF2B5EF4-FFF2-40B4-BE49-F238E27FC236}">
                <a16:creationId xmlns:a16="http://schemas.microsoft.com/office/drawing/2014/main" id="{6C4A6652-FA85-DB5D-00F0-264A4E79A1BE}"/>
              </a:ext>
            </a:extLst>
          </p:cNvPr>
          <p:cNvSpPr/>
          <p:nvPr/>
        </p:nvSpPr>
        <p:spPr>
          <a:xfrm>
            <a:off x="7327900" y="4390561"/>
            <a:ext cx="990600" cy="14466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630638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0"/>
            <a:ext cx="10071100" cy="1417638"/>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EEDATA (08h)</a:t>
            </a:r>
            <a:b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br>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EEADR (09h)</a:t>
            </a:r>
          </a:p>
        </p:txBody>
      </p:sp>
      <p:sp>
        <p:nvSpPr>
          <p:cNvPr id="3" name="Marcador de contenido 2"/>
          <p:cNvSpPr>
            <a:spLocks noGrp="1"/>
          </p:cNvSpPr>
          <p:nvPr>
            <p:ph idx="1"/>
          </p:nvPr>
        </p:nvSpPr>
        <p:spPr>
          <a:xfrm>
            <a:off x="457200" y="1417638"/>
            <a:ext cx="9931400" cy="2011362"/>
          </a:xfrm>
        </p:spPr>
        <p:txBody>
          <a:bodyPr>
            <a:noAutofit/>
          </a:bodyPr>
          <a:lstStyle/>
          <a:p>
            <a:r>
              <a:rPr lang="es-ES" sz="2400" dirty="0"/>
              <a:t>El registro </a:t>
            </a:r>
            <a:r>
              <a:rPr lang="es-ES" sz="2400" dirty="0">
                <a:solidFill>
                  <a:srgbClr val="FF0000"/>
                </a:solidFill>
                <a:effectLst>
                  <a:outerShdw blurRad="38100" dist="38100" dir="2700000" algn="tl">
                    <a:srgbClr val="000000">
                      <a:alpha val="43137"/>
                    </a:srgbClr>
                  </a:outerShdw>
                </a:effectLst>
              </a:rPr>
              <a:t>EEDATA (Datos de EEPROM)</a:t>
            </a:r>
            <a:r>
              <a:rPr lang="es-ES" sz="2400" dirty="0"/>
              <a:t> guarda el contenido de una posición de la memoria EEPROM de datos antes de su escritura o después de su lectura, según leamos o escribamos en ella. </a:t>
            </a:r>
          </a:p>
          <a:p>
            <a:r>
              <a:rPr lang="es-ES" sz="2400" dirty="0"/>
              <a:t>El registro </a:t>
            </a:r>
            <a:r>
              <a:rPr lang="es-ES" sz="2400" dirty="0">
                <a:solidFill>
                  <a:srgbClr val="FF0000"/>
                </a:solidFill>
                <a:effectLst>
                  <a:outerShdw blurRad="38100" dist="38100" dir="2700000" algn="tl">
                    <a:srgbClr val="000000">
                      <a:alpha val="43137"/>
                    </a:srgbClr>
                  </a:outerShdw>
                </a:effectLst>
              </a:rPr>
              <a:t>EEADR (Dirección de EEPROM)</a:t>
            </a:r>
            <a:r>
              <a:rPr lang="es-ES" sz="2400" dirty="0"/>
              <a:t> guarda la dirección de la posición de memoria EEPROM cuando queramos acceder a ella.</a:t>
            </a:r>
          </a:p>
        </p:txBody>
      </p:sp>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3779837"/>
            <a:ext cx="8610600" cy="337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Elipse 4"/>
          <p:cNvSpPr/>
          <p:nvPr/>
        </p:nvSpPr>
        <p:spPr>
          <a:xfrm>
            <a:off x="7480300" y="3703637"/>
            <a:ext cx="1219200" cy="106680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7750346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p:cNvSpPr txBox="1"/>
          <p:nvPr/>
        </p:nvSpPr>
        <p:spPr>
          <a:xfrm>
            <a:off x="280233" y="1417638"/>
            <a:ext cx="9829800" cy="954107"/>
          </a:xfrm>
          <a:prstGeom prst="rect">
            <a:avLst/>
          </a:prstGeom>
          <a:noFill/>
        </p:spPr>
        <p:txBody>
          <a:bodyPr wrap="square" rtlCol="0">
            <a:spAutoFit/>
          </a:bodyPr>
          <a:lstStyle/>
          <a:p>
            <a:r>
              <a:rPr lang="es-ES" sz="2800" dirty="0"/>
              <a:t>Este registro contiene configuraciones importantes acerca de la escritura y la lectura de la EEPROM de datos. </a:t>
            </a:r>
            <a:endParaRPr lang="es-ES" sz="2800" dirty="0">
              <a:solidFill>
                <a:srgbClr val="FF0000"/>
              </a:solidFill>
              <a:effectLst>
                <a:outerShdw blurRad="38100" dist="38100" dir="2700000" algn="tl">
                  <a:srgbClr val="000000">
                    <a:alpha val="43137"/>
                  </a:srgbClr>
                </a:outerShdw>
              </a:effectLst>
            </a:endParaRPr>
          </a:p>
        </p:txBody>
      </p:sp>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EECON1 (88h)</a:t>
            </a:r>
          </a:p>
        </p:txBody>
      </p:sp>
      <p:pic>
        <p:nvPicPr>
          <p:cNvPr id="2" name="Imagen 1"/>
          <p:cNvPicPr>
            <a:picLocks noChangeAspect="1"/>
          </p:cNvPicPr>
          <p:nvPr/>
        </p:nvPicPr>
        <p:blipFill>
          <a:blip r:embed="rId3"/>
          <a:stretch>
            <a:fillRect/>
          </a:stretch>
        </p:blipFill>
        <p:spPr>
          <a:xfrm>
            <a:off x="2984500" y="2371745"/>
            <a:ext cx="4171950" cy="1419225"/>
          </a:xfrm>
          <a:prstGeom prst="rect">
            <a:avLst/>
          </a:prstGeom>
        </p:spPr>
      </p:pic>
      <p:sp>
        <p:nvSpPr>
          <p:cNvPr id="3" name="CuadroTexto 2"/>
          <p:cNvSpPr txBox="1"/>
          <p:nvPr/>
        </p:nvSpPr>
        <p:spPr>
          <a:xfrm>
            <a:off x="774700" y="3828263"/>
            <a:ext cx="9613900" cy="1754326"/>
          </a:xfrm>
          <a:prstGeom prst="rect">
            <a:avLst/>
          </a:prstGeom>
          <a:noFill/>
        </p:spPr>
        <p:txBody>
          <a:bodyPr wrap="square" rtlCol="0">
            <a:spAutoFit/>
          </a:bodyPr>
          <a:lstStyle/>
          <a:p>
            <a:r>
              <a:rPr lang="es-ES" u="sng" dirty="0">
                <a:solidFill>
                  <a:srgbClr val="FF0000"/>
                </a:solidFill>
                <a:effectLst>
                  <a:outerShdw blurRad="38100" dist="38100" dir="2700000" algn="tl">
                    <a:srgbClr val="000000">
                      <a:alpha val="43137"/>
                    </a:srgbClr>
                  </a:outerShdw>
                </a:effectLst>
              </a:rPr>
              <a:t>U (</a:t>
            </a:r>
            <a:r>
              <a:rPr lang="es-ES" u="sng" dirty="0" err="1">
                <a:solidFill>
                  <a:srgbClr val="FF0000"/>
                </a:solidFill>
                <a:effectLst>
                  <a:outerShdw blurRad="38100" dist="38100" dir="2700000" algn="tl">
                    <a:srgbClr val="000000">
                      <a:alpha val="43137"/>
                    </a:srgbClr>
                  </a:outerShdw>
                </a:effectLst>
              </a:rPr>
              <a:t>Unimplemented</a:t>
            </a:r>
            <a:r>
              <a:rPr lang="es-ES" u="sng" dirty="0">
                <a:solidFill>
                  <a:srgbClr val="FF0000"/>
                </a:solidFill>
                <a:effectLst>
                  <a:outerShdw blurRad="38100" dist="38100" dir="2700000" algn="tl">
                    <a:srgbClr val="000000">
                      <a:alpha val="43137"/>
                    </a:srgbClr>
                  </a:outerShdw>
                </a:effectLst>
              </a:rPr>
              <a:t>), No implementado. Se lee como 0.</a:t>
            </a:r>
          </a:p>
          <a:p>
            <a:r>
              <a:rPr lang="es-ES" b="1" dirty="0">
                <a:solidFill>
                  <a:srgbClr val="FF0000"/>
                </a:solidFill>
                <a:effectLst>
                  <a:outerShdw blurRad="38100" dist="38100" dir="2700000" algn="tl">
                    <a:srgbClr val="000000">
                      <a:alpha val="43137"/>
                    </a:srgbClr>
                  </a:outerShdw>
                </a:effectLst>
              </a:rPr>
              <a:t>Bit 4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EEIF.</a:t>
            </a:r>
            <a:r>
              <a:rPr lang="es-ES" b="1" dirty="0"/>
              <a:t> </a:t>
            </a:r>
            <a:r>
              <a:rPr lang="es-ES" dirty="0"/>
              <a:t>Bit de interrupción de escritura en la memoria EEPROM ( EEPROM </a:t>
            </a:r>
            <a:r>
              <a:rPr lang="es-ES" dirty="0" err="1"/>
              <a:t>Interrupt</a:t>
            </a:r>
            <a:r>
              <a:rPr lang="es-ES" dirty="0"/>
              <a:t> </a:t>
            </a:r>
            <a:r>
              <a:rPr lang="es-ES" dirty="0" err="1"/>
              <a:t>Flag</a:t>
            </a:r>
            <a:r>
              <a:rPr lang="es-ES" dirty="0"/>
              <a:t>)</a:t>
            </a:r>
          </a:p>
          <a:p>
            <a:r>
              <a:rPr lang="es-ES" b="1" dirty="0">
                <a:solidFill>
                  <a:srgbClr val="FF0000"/>
                </a:solidFill>
                <a:effectLst>
                  <a:outerShdw blurRad="38100" dist="38100" dir="2700000" algn="tl">
                    <a:srgbClr val="000000">
                      <a:alpha val="43137"/>
                    </a:srgbClr>
                  </a:outerShdw>
                </a:effectLst>
              </a:rPr>
              <a:t>Bit 3 (</a:t>
            </a:r>
            <a:r>
              <a:rPr lang="es-ES" b="1" dirty="0" err="1">
                <a:solidFill>
                  <a:srgbClr val="FF0000"/>
                </a:solidFill>
                <a:effectLst>
                  <a:outerShdw blurRad="38100" dist="38100" dir="2700000" algn="tl">
                    <a:srgbClr val="000000">
                      <a:alpha val="43137"/>
                    </a:srgbClr>
                  </a:outerShdw>
                </a:effectLst>
              </a:rPr>
              <a:t>flag</a:t>
            </a:r>
            <a:r>
              <a:rPr lang="es-ES" b="1" dirty="0">
                <a:solidFill>
                  <a:srgbClr val="FF0000"/>
                </a:solidFill>
                <a:effectLst>
                  <a:outerShdw blurRad="38100" dist="38100" dir="2700000" algn="tl">
                    <a:srgbClr val="000000">
                      <a:alpha val="43137"/>
                    </a:srgbClr>
                  </a:outerShdw>
                </a:effectLst>
              </a:rPr>
              <a:t>), WRERR.</a:t>
            </a:r>
            <a:r>
              <a:rPr lang="es-ES" b="1" dirty="0"/>
              <a:t> </a:t>
            </a:r>
            <a:r>
              <a:rPr lang="es-ES" dirty="0"/>
              <a:t>Bit de error de escritura (</a:t>
            </a:r>
            <a:r>
              <a:rPr lang="es-ES" dirty="0" err="1"/>
              <a:t>Write</a:t>
            </a:r>
            <a:r>
              <a:rPr lang="es-ES" dirty="0"/>
              <a:t> Error)</a:t>
            </a:r>
          </a:p>
          <a:p>
            <a:r>
              <a:rPr lang="es-ES" b="1" dirty="0">
                <a:solidFill>
                  <a:srgbClr val="FF0000"/>
                </a:solidFill>
                <a:effectLst>
                  <a:outerShdw blurRad="38100" dist="38100" dir="2700000" algn="tl">
                    <a:srgbClr val="000000">
                      <a:alpha val="43137"/>
                    </a:srgbClr>
                  </a:outerShdw>
                </a:effectLst>
              </a:rPr>
              <a:t>Bit 2, WREN.</a:t>
            </a:r>
            <a:r>
              <a:rPr lang="es-ES" b="1" dirty="0"/>
              <a:t> </a:t>
            </a:r>
            <a:r>
              <a:rPr lang="es-ES" dirty="0"/>
              <a:t>Bit de habilitación de escritura. (</a:t>
            </a:r>
            <a:r>
              <a:rPr lang="es-ES" dirty="0" err="1"/>
              <a:t>Write</a:t>
            </a:r>
            <a:r>
              <a:rPr lang="es-ES" dirty="0"/>
              <a:t> </a:t>
            </a:r>
            <a:r>
              <a:rPr lang="es-ES" dirty="0" err="1"/>
              <a:t>Enable</a:t>
            </a:r>
            <a:r>
              <a:rPr lang="es-ES" dirty="0"/>
              <a:t>)</a:t>
            </a:r>
          </a:p>
          <a:p>
            <a:r>
              <a:rPr lang="es-ES" b="1" dirty="0">
                <a:solidFill>
                  <a:srgbClr val="FF0000"/>
                </a:solidFill>
                <a:effectLst>
                  <a:outerShdw blurRad="38100" dist="38100" dir="2700000" algn="tl">
                    <a:srgbClr val="000000">
                      <a:alpha val="43137"/>
                    </a:srgbClr>
                  </a:outerShdw>
                </a:effectLst>
              </a:rPr>
              <a:t>Bit 1, WR.</a:t>
            </a:r>
            <a:r>
              <a:rPr lang="es-ES" b="1" dirty="0"/>
              <a:t> </a:t>
            </a:r>
            <a:r>
              <a:rPr lang="es-ES" dirty="0"/>
              <a:t>Bit de control de escritura (</a:t>
            </a:r>
            <a:r>
              <a:rPr lang="es-ES" dirty="0" err="1"/>
              <a:t>Write</a:t>
            </a:r>
            <a:r>
              <a:rPr lang="es-ES" dirty="0"/>
              <a:t> Data)</a:t>
            </a:r>
          </a:p>
          <a:p>
            <a:r>
              <a:rPr lang="fr-FR" b="1" dirty="0">
                <a:solidFill>
                  <a:srgbClr val="FF0000"/>
                </a:solidFill>
                <a:effectLst>
                  <a:outerShdw blurRad="38100" dist="38100" dir="2700000" algn="tl">
                    <a:srgbClr val="000000">
                      <a:alpha val="43137"/>
                    </a:srgbClr>
                  </a:outerShdw>
                </a:effectLst>
              </a:rPr>
              <a:t>Bit 0, RD. </a:t>
            </a:r>
            <a:r>
              <a:rPr lang="fr-FR" dirty="0"/>
              <a:t>Bit de control de </a:t>
            </a:r>
            <a:r>
              <a:rPr lang="fr-FR" dirty="0" err="1"/>
              <a:t>lectura</a:t>
            </a:r>
            <a:r>
              <a:rPr lang="fr-FR" dirty="0"/>
              <a:t> (Read Data)</a:t>
            </a:r>
            <a:endParaRPr lang="es-ES" dirty="0"/>
          </a:p>
        </p:txBody>
      </p:sp>
    </p:spTree>
    <p:extLst>
      <p:ext uri="{BB962C8B-B14F-4D97-AF65-F5344CB8AC3E}">
        <p14:creationId xmlns:p14="http://schemas.microsoft.com/office/powerpoint/2010/main" val="33964301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EECON2 (89h)</a:t>
            </a:r>
          </a:p>
        </p:txBody>
      </p:sp>
      <p:sp>
        <p:nvSpPr>
          <p:cNvPr id="4" name="CuadroTexto 3"/>
          <p:cNvSpPr txBox="1"/>
          <p:nvPr/>
        </p:nvSpPr>
        <p:spPr>
          <a:xfrm>
            <a:off x="317500" y="1570037"/>
            <a:ext cx="10052624" cy="1938992"/>
          </a:xfrm>
          <a:prstGeom prst="rect">
            <a:avLst/>
          </a:prstGeom>
          <a:noFill/>
        </p:spPr>
        <p:txBody>
          <a:bodyPr wrap="none" rtlCol="0">
            <a:spAutoFit/>
          </a:bodyPr>
          <a:lstStyle/>
          <a:p>
            <a:r>
              <a:rPr lang="es-ES" sz="2400" b="1" dirty="0">
                <a:effectLst>
                  <a:outerShdw blurRad="38100" dist="38100" dir="2700000" algn="tl">
                    <a:srgbClr val="000000">
                      <a:alpha val="43137"/>
                    </a:srgbClr>
                  </a:outerShdw>
                </a:effectLst>
              </a:rPr>
              <a:t>Este registro no está implementado físicamente, por lo cual no se puede leer. </a:t>
            </a:r>
          </a:p>
          <a:p>
            <a:r>
              <a:rPr lang="es-ES" sz="2400" b="1" dirty="0">
                <a:effectLst>
                  <a:outerShdw blurRad="38100" dist="38100" dir="2700000" algn="tl">
                    <a:srgbClr val="000000">
                      <a:alpha val="43137"/>
                    </a:srgbClr>
                  </a:outerShdw>
                </a:effectLst>
              </a:rPr>
              <a:t>Tan sólo sirve para un proceso de protección de escritura que consiste en </a:t>
            </a:r>
          </a:p>
          <a:p>
            <a:r>
              <a:rPr lang="es-ES" sz="2400" b="1" dirty="0">
                <a:effectLst>
                  <a:outerShdw blurRad="38100" dist="38100" dir="2700000" algn="tl">
                    <a:srgbClr val="000000">
                      <a:alpha val="43137"/>
                    </a:srgbClr>
                  </a:outerShdw>
                </a:effectLst>
              </a:rPr>
              <a:t>copiar en él unos datos específicos, con el fin de evitar que un programa por</a:t>
            </a:r>
          </a:p>
          <a:p>
            <a:r>
              <a:rPr lang="es-ES" sz="2400" b="1" dirty="0">
                <a:effectLst>
                  <a:outerShdw blurRad="38100" dist="38100" dir="2700000" algn="tl">
                    <a:srgbClr val="000000">
                      <a:alpha val="43137"/>
                    </a:srgbClr>
                  </a:outerShdw>
                </a:effectLst>
              </a:rPr>
              <a:t>error pueda programar la EEPROM, manipulando simplemente los bits </a:t>
            </a:r>
          </a:p>
          <a:p>
            <a:r>
              <a:rPr lang="es-ES" sz="2400" b="1" dirty="0">
                <a:effectLst>
                  <a:outerShdw blurRad="38100" dist="38100" dir="2700000" algn="tl">
                    <a:srgbClr val="000000">
                      <a:alpha val="43137"/>
                    </a:srgbClr>
                  </a:outerShdw>
                </a:effectLst>
              </a:rPr>
              <a:t>del EECON1.</a:t>
            </a:r>
          </a:p>
        </p:txBody>
      </p:sp>
      <p:pic>
        <p:nvPicPr>
          <p:cNvPr id="2" name="Imagen 1" descr="Imagen que contiene Calendario&#10;&#10;El contenido generado por IA puede ser incorrecto.">
            <a:extLst>
              <a:ext uri="{FF2B5EF4-FFF2-40B4-BE49-F238E27FC236}">
                <a16:creationId xmlns:a16="http://schemas.microsoft.com/office/drawing/2014/main" id="{1E2D110C-67C5-EE45-019D-855F3E291A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248647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17500" y="274638"/>
            <a:ext cx="10071100" cy="1143000"/>
          </a:xfrm>
        </p:spPr>
        <p:txBody>
          <a:bodyPr vert="horz" lIns="91440" tIns="45720" rIns="91440" bIns="45720" rtlCol="0" anchor="ctr">
            <a:normAutofit/>
          </a:bodyPr>
          <a:lstStyle/>
          <a:p>
            <a:r>
              <a:rPr lang="es-ES" sz="2646" b="1" i="1" dirty="0">
                <a:solidFill>
                  <a:srgbClr val="FF0000"/>
                </a:solidFill>
                <a:effectLst>
                  <a:outerShdw blurRad="38100" dist="38100" dir="2700000" algn="tl">
                    <a:srgbClr val="000000">
                      <a:alpha val="43137"/>
                    </a:srgbClr>
                  </a:outerShdw>
                </a:effectLst>
                <a:latin typeface="Calibri" panose="020F0502020204030204" pitchFamily="34" charset="0"/>
                <a:ea typeface="+mn-ea"/>
                <a:cs typeface="+mn-cs"/>
              </a:rPr>
              <a:t>Registro INTCON (0Bh y 8Bh)</a:t>
            </a:r>
          </a:p>
        </p:txBody>
      </p:sp>
      <p:sp>
        <p:nvSpPr>
          <p:cNvPr id="3" name="Marcador de contenido 2"/>
          <p:cNvSpPr>
            <a:spLocks noGrp="1"/>
          </p:cNvSpPr>
          <p:nvPr>
            <p:ph idx="1"/>
          </p:nvPr>
        </p:nvSpPr>
        <p:spPr>
          <a:xfrm>
            <a:off x="457200" y="1417638"/>
            <a:ext cx="10071100" cy="2011362"/>
          </a:xfrm>
        </p:spPr>
        <p:txBody>
          <a:bodyPr>
            <a:noAutofit/>
          </a:bodyPr>
          <a:lstStyle/>
          <a:p>
            <a:r>
              <a:rPr lang="es-ES" sz="2200" b="1" dirty="0"/>
              <a:t>Este registro contiene los </a:t>
            </a:r>
            <a:r>
              <a:rPr lang="es-ES" sz="2200" b="1" u="sng" dirty="0">
                <a:solidFill>
                  <a:srgbClr val="FF0000"/>
                </a:solidFill>
                <a:effectLst>
                  <a:outerShdw blurRad="38100" dist="38100" dir="2700000" algn="tl">
                    <a:srgbClr val="000000">
                      <a:alpha val="43137"/>
                    </a:srgbClr>
                  </a:outerShdw>
                </a:effectLst>
              </a:rPr>
              <a:t>bits de selección de fuentes de interrupción</a:t>
            </a:r>
            <a:r>
              <a:rPr lang="es-ES" sz="2200" b="1" dirty="0"/>
              <a:t>, el bit de activación global de interrupciones y varios </a:t>
            </a:r>
            <a:r>
              <a:rPr lang="es-ES" sz="2200" b="1" dirty="0" err="1"/>
              <a:t>flag</a:t>
            </a:r>
            <a:r>
              <a:rPr lang="es-ES" sz="2200" b="1" dirty="0"/>
              <a:t> que indican la causa de una interrupción. </a:t>
            </a:r>
          </a:p>
          <a:p>
            <a:r>
              <a:rPr lang="es-ES" sz="2200" b="1" dirty="0"/>
              <a:t>Se utiliza para el control global de las interrupciones y para indicar la procedencia de algunas de ellas.</a:t>
            </a:r>
          </a:p>
          <a:p>
            <a:r>
              <a:rPr lang="es-ES" sz="2200" b="1" dirty="0"/>
              <a:t>Hay cuatro potenciales recursos de interrupción:</a:t>
            </a:r>
          </a:p>
          <a:p>
            <a:pPr marL="541338" lvl="1" indent="-279400"/>
            <a:r>
              <a:rPr lang="es-ES" sz="2200" b="1" dirty="0"/>
              <a:t>Una fuente externa a través del pin RB0/INT.</a:t>
            </a:r>
          </a:p>
          <a:p>
            <a:pPr marL="541338" lvl="1" indent="-279400"/>
            <a:r>
              <a:rPr lang="es-ES" sz="2200" b="1" dirty="0"/>
              <a:t>El desbordamiento del temporizador 0 (TMR0).</a:t>
            </a:r>
          </a:p>
          <a:p>
            <a:pPr marL="541338" lvl="1" indent="-279400"/>
            <a:r>
              <a:rPr lang="es-ES" sz="2200" b="1" dirty="0"/>
              <a:t>Un cambio de estado en los pines RB4 a RB7.</a:t>
            </a:r>
          </a:p>
          <a:p>
            <a:pPr marL="541338" lvl="1" indent="-279400"/>
            <a:r>
              <a:rPr lang="es-ES" sz="2200" b="1" dirty="0"/>
              <a:t>Programación de la EEPROM de datos.</a:t>
            </a:r>
          </a:p>
          <a:p>
            <a:endParaRPr lang="es-ES" dirty="0"/>
          </a:p>
        </p:txBody>
      </p:sp>
      <p:pic>
        <p:nvPicPr>
          <p:cNvPr id="6" name="Imagen 5"/>
          <p:cNvPicPr>
            <a:picLocks noChangeAspect="1"/>
          </p:cNvPicPr>
          <p:nvPr/>
        </p:nvPicPr>
        <p:blipFill>
          <a:blip r:embed="rId3"/>
          <a:stretch>
            <a:fillRect/>
          </a:stretch>
        </p:blipFill>
        <p:spPr>
          <a:xfrm>
            <a:off x="6386415" y="4084637"/>
            <a:ext cx="4324350" cy="1371600"/>
          </a:xfrm>
          <a:prstGeom prst="rect">
            <a:avLst/>
          </a:prstGeom>
        </p:spPr>
      </p:pic>
      <p:sp>
        <p:nvSpPr>
          <p:cNvPr id="7" name="CuadroTexto 6"/>
          <p:cNvSpPr txBox="1"/>
          <p:nvPr/>
        </p:nvSpPr>
        <p:spPr>
          <a:xfrm>
            <a:off x="400050" y="5329912"/>
            <a:ext cx="10293350" cy="2031325"/>
          </a:xfrm>
          <a:prstGeom prst="rect">
            <a:avLst/>
          </a:prstGeom>
          <a:noFill/>
        </p:spPr>
        <p:txBody>
          <a:bodyPr wrap="square" rtlCol="0">
            <a:spAutoFit/>
          </a:bodyPr>
          <a:lstStyle/>
          <a:p>
            <a:r>
              <a:rPr lang="es-ES" b="1" dirty="0">
                <a:solidFill>
                  <a:srgbClr val="FF0000"/>
                </a:solidFill>
                <a:effectLst>
                  <a:outerShdw blurRad="38100" dist="38100" dir="2700000" algn="tl">
                    <a:srgbClr val="000000">
                      <a:alpha val="43137"/>
                    </a:srgbClr>
                  </a:outerShdw>
                </a:effectLst>
              </a:rPr>
              <a:t>Bit 7, GIE: </a:t>
            </a:r>
            <a:r>
              <a:rPr lang="es-ES" dirty="0"/>
              <a:t>Habilitación global de interrupciones.</a:t>
            </a:r>
          </a:p>
          <a:p>
            <a:r>
              <a:rPr lang="es-ES" b="1" dirty="0">
                <a:solidFill>
                  <a:srgbClr val="FF0000"/>
                </a:solidFill>
                <a:effectLst>
                  <a:outerShdw blurRad="38100" dist="38100" dir="2700000" algn="tl">
                    <a:srgbClr val="000000">
                      <a:alpha val="43137"/>
                    </a:srgbClr>
                  </a:outerShdw>
                </a:effectLst>
              </a:rPr>
              <a:t>Bit 6, EEIE: </a:t>
            </a:r>
            <a:r>
              <a:rPr lang="es-ES" dirty="0"/>
              <a:t>Habilitación de las Interrupciones de la memoria EEPROM.</a:t>
            </a:r>
          </a:p>
          <a:p>
            <a:r>
              <a:rPr lang="es-ES" b="1" dirty="0">
                <a:solidFill>
                  <a:srgbClr val="FF0000"/>
                </a:solidFill>
                <a:effectLst>
                  <a:outerShdw blurRad="38100" dist="38100" dir="2700000" algn="tl">
                    <a:srgbClr val="000000">
                      <a:alpha val="43137"/>
                    </a:srgbClr>
                  </a:outerShdw>
                </a:effectLst>
              </a:rPr>
              <a:t>Bit 5, T0IE: </a:t>
            </a:r>
            <a:r>
              <a:rPr lang="es-ES" dirty="0"/>
              <a:t>Habilitación de la interrupción del temporizador por desbordamiento (</a:t>
            </a:r>
            <a:r>
              <a:rPr lang="es-ES" dirty="0" err="1"/>
              <a:t>Timer</a:t>
            </a:r>
            <a:r>
              <a:rPr lang="es-ES" dirty="0"/>
              <a:t> 0 </a:t>
            </a:r>
            <a:r>
              <a:rPr lang="es-ES" dirty="0" err="1"/>
              <a:t>Interrupt</a:t>
            </a:r>
            <a:r>
              <a:rPr lang="es-ES" dirty="0"/>
              <a:t> </a:t>
            </a:r>
            <a:r>
              <a:rPr lang="es-ES" dirty="0" err="1"/>
              <a:t>Enable</a:t>
            </a:r>
            <a:r>
              <a:rPr lang="es-ES" dirty="0"/>
              <a:t>)</a:t>
            </a:r>
          </a:p>
          <a:p>
            <a:r>
              <a:rPr lang="es-ES" b="1" dirty="0">
                <a:solidFill>
                  <a:srgbClr val="FF0000"/>
                </a:solidFill>
                <a:effectLst>
                  <a:outerShdw blurRad="38100" dist="38100" dir="2700000" algn="tl">
                    <a:srgbClr val="000000">
                      <a:alpha val="43137"/>
                    </a:srgbClr>
                  </a:outerShdw>
                </a:effectLst>
              </a:rPr>
              <a:t>Bit 4, INTE: </a:t>
            </a:r>
            <a:r>
              <a:rPr lang="es-ES" dirty="0"/>
              <a:t>Habilitación de la entrada de interrupción externa (</a:t>
            </a:r>
            <a:r>
              <a:rPr lang="es-ES" dirty="0" err="1"/>
              <a:t>Interrupt</a:t>
            </a:r>
            <a:r>
              <a:rPr lang="es-ES" dirty="0"/>
              <a:t> </a:t>
            </a:r>
            <a:r>
              <a:rPr lang="es-ES" dirty="0" err="1"/>
              <a:t>Enable</a:t>
            </a:r>
            <a:r>
              <a:rPr lang="es-ES" dirty="0"/>
              <a:t>) por patilla RB0/INT.</a:t>
            </a:r>
          </a:p>
          <a:p>
            <a:r>
              <a:rPr lang="es-ES" b="1" dirty="0">
                <a:solidFill>
                  <a:srgbClr val="FF0000"/>
                </a:solidFill>
                <a:effectLst>
                  <a:outerShdw blurRad="38100" dist="38100" dir="2700000" algn="tl">
                    <a:srgbClr val="000000">
                      <a:alpha val="43137"/>
                    </a:srgbClr>
                  </a:outerShdw>
                </a:effectLst>
              </a:rPr>
              <a:t>Bit 3, RBIE</a:t>
            </a:r>
            <a:r>
              <a:rPr lang="es-ES" b="1" dirty="0"/>
              <a:t>: </a:t>
            </a:r>
            <a:r>
              <a:rPr lang="es-ES" dirty="0"/>
              <a:t>Habilitación de las interrupciones del puerto B.</a:t>
            </a:r>
          </a:p>
          <a:p>
            <a:r>
              <a:rPr lang="es-ES" b="1" dirty="0">
                <a:solidFill>
                  <a:srgbClr val="FF0000"/>
                </a:solidFill>
                <a:effectLst>
                  <a:outerShdw blurRad="38100" dist="38100" dir="2700000" algn="tl">
                    <a:srgbClr val="000000">
                      <a:alpha val="43137"/>
                    </a:srgbClr>
                  </a:outerShdw>
                </a:effectLst>
              </a:rPr>
              <a:t>Bit 2 </a:t>
            </a:r>
            <a:r>
              <a:rPr lang="es-ES" b="1" dirty="0">
                <a:solidFill>
                  <a:schemeClr val="accent3">
                    <a:lumMod val="75000"/>
                  </a:schemeClr>
                </a:solidFill>
                <a:effectLst>
                  <a:outerShdw blurRad="38100" dist="38100" dir="2700000" algn="tl">
                    <a:srgbClr val="000000">
                      <a:alpha val="43137"/>
                    </a:srgbClr>
                  </a:outerShdw>
                </a:effectLst>
              </a:rPr>
              <a:t>(</a:t>
            </a:r>
            <a:r>
              <a:rPr lang="es-ES" b="1" dirty="0" err="1">
                <a:solidFill>
                  <a:schemeClr val="accent3">
                    <a:lumMod val="75000"/>
                  </a:schemeClr>
                </a:solidFill>
                <a:effectLst>
                  <a:outerShdw blurRad="38100" dist="38100" dir="2700000" algn="tl">
                    <a:srgbClr val="000000">
                      <a:alpha val="43137"/>
                    </a:srgbClr>
                  </a:outerShdw>
                </a:effectLst>
              </a:rPr>
              <a:t>flag</a:t>
            </a:r>
            <a:r>
              <a:rPr lang="es-ES" b="1" dirty="0">
                <a:solidFill>
                  <a:schemeClr val="accent3">
                    <a:lumMod val="75000"/>
                  </a:schemeClr>
                </a:solidFill>
                <a:effectLst>
                  <a:outerShdw blurRad="38100" dist="38100" dir="2700000" algn="tl">
                    <a:srgbClr val="000000">
                      <a:alpha val="43137"/>
                    </a:srgbClr>
                  </a:outerShdw>
                </a:effectLst>
              </a:rPr>
              <a:t>)</a:t>
            </a:r>
            <a:r>
              <a:rPr lang="es-ES" b="1" dirty="0">
                <a:solidFill>
                  <a:srgbClr val="FF0000"/>
                </a:solidFill>
                <a:effectLst>
                  <a:outerShdw blurRad="38100" dist="38100" dir="2700000" algn="tl">
                    <a:srgbClr val="000000">
                      <a:alpha val="43137"/>
                    </a:srgbClr>
                  </a:outerShdw>
                </a:effectLst>
              </a:rPr>
              <a:t>, T0IF: </a:t>
            </a:r>
            <a:r>
              <a:rPr lang="es-ES" dirty="0"/>
              <a:t>Bit de interrupción de desbordamiento del TMR0.</a:t>
            </a:r>
          </a:p>
          <a:p>
            <a:r>
              <a:rPr lang="es-ES" b="1" dirty="0">
                <a:solidFill>
                  <a:srgbClr val="FF0000"/>
                </a:solidFill>
                <a:effectLst>
                  <a:outerShdw blurRad="38100" dist="38100" dir="2700000" algn="tl">
                    <a:srgbClr val="000000">
                      <a:alpha val="43137"/>
                    </a:srgbClr>
                  </a:outerShdw>
                </a:effectLst>
              </a:rPr>
              <a:t>Bit 1 </a:t>
            </a:r>
            <a:r>
              <a:rPr lang="es-ES" b="1" dirty="0">
                <a:solidFill>
                  <a:schemeClr val="accent3">
                    <a:lumMod val="75000"/>
                  </a:schemeClr>
                </a:solidFill>
                <a:effectLst>
                  <a:outerShdw blurRad="38100" dist="38100" dir="2700000" algn="tl">
                    <a:srgbClr val="000000">
                      <a:alpha val="43137"/>
                    </a:srgbClr>
                  </a:outerShdw>
                </a:effectLst>
              </a:rPr>
              <a:t>(</a:t>
            </a:r>
            <a:r>
              <a:rPr lang="es-ES" b="1" dirty="0" err="1">
                <a:solidFill>
                  <a:schemeClr val="accent3">
                    <a:lumMod val="75000"/>
                  </a:schemeClr>
                </a:solidFill>
                <a:effectLst>
                  <a:outerShdw blurRad="38100" dist="38100" dir="2700000" algn="tl">
                    <a:srgbClr val="000000">
                      <a:alpha val="43137"/>
                    </a:srgbClr>
                  </a:outerShdw>
                </a:effectLst>
              </a:rPr>
              <a:t>flag</a:t>
            </a:r>
            <a:r>
              <a:rPr lang="es-ES" b="1" dirty="0">
                <a:solidFill>
                  <a:schemeClr val="accent3">
                    <a:lumMod val="75000"/>
                  </a:schemeClr>
                </a:solidFill>
                <a:effectLst>
                  <a:outerShdw blurRad="38100" dist="38100" dir="2700000" algn="tl">
                    <a:srgbClr val="000000">
                      <a:alpha val="43137"/>
                    </a:srgbClr>
                  </a:outerShdw>
                </a:effectLst>
              </a:rPr>
              <a:t>)</a:t>
            </a:r>
            <a:r>
              <a:rPr lang="es-ES" b="1" dirty="0">
                <a:solidFill>
                  <a:srgbClr val="FF0000"/>
                </a:solidFill>
                <a:effectLst>
                  <a:outerShdw blurRad="38100" dist="38100" dir="2700000" algn="tl">
                    <a:srgbClr val="000000">
                      <a:alpha val="43137"/>
                    </a:srgbClr>
                  </a:outerShdw>
                </a:effectLst>
              </a:rPr>
              <a:t>, INTF: </a:t>
            </a:r>
            <a:r>
              <a:rPr lang="es-ES" dirty="0"/>
              <a:t>Bit de interrupción de la Entrada de Interrupción INT (patilla RB0/INT).</a:t>
            </a:r>
          </a:p>
        </p:txBody>
      </p:sp>
      <p:pic>
        <p:nvPicPr>
          <p:cNvPr id="4" name="Imagen 3" descr="Imagen que contiene Calendario&#10;&#10;El contenido generado por IA puede ser incorrecto.">
            <a:extLst>
              <a:ext uri="{FF2B5EF4-FFF2-40B4-BE49-F238E27FC236}">
                <a16:creationId xmlns:a16="http://schemas.microsoft.com/office/drawing/2014/main" id="{152D3A14-0AAA-9D8B-AB07-D65EAA465F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7999417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25" y="655637"/>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Tree>
    <p:extLst>
      <p:ext uri="{BB962C8B-B14F-4D97-AF65-F5344CB8AC3E}">
        <p14:creationId xmlns:p14="http://schemas.microsoft.com/office/powerpoint/2010/main" val="529469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4638"/>
            <a:ext cx="9766300" cy="1143000"/>
          </a:xfrm>
          <a:ln w="3175">
            <a:solidFill>
              <a:schemeClr val="tx1"/>
            </a:solidFill>
          </a:ln>
        </p:spPr>
        <p:txBody>
          <a:bodyPr>
            <a:normAutofit/>
          </a:bodyPr>
          <a:lstStyle/>
          <a:p>
            <a:r>
              <a:rPr lang="es-ES" dirty="0"/>
              <a:t>Cuestionario</a:t>
            </a:r>
            <a:br>
              <a:rPr lang="es-ES" dirty="0"/>
            </a:br>
            <a:r>
              <a:rPr lang="es-ES" sz="1200" b="1" dirty="0">
                <a:solidFill>
                  <a:srgbClr val="FF0000"/>
                </a:solidFill>
                <a:effectLst>
                  <a:outerShdw blurRad="38100" dist="38100" dir="2700000" algn="tl">
                    <a:srgbClr val="000000">
                      <a:alpha val="43137"/>
                    </a:srgbClr>
                  </a:outerShdw>
                </a:effectLst>
              </a:rPr>
              <a:t>(20 minutos)</a:t>
            </a:r>
            <a:endParaRPr lang="es-ES" dirty="0">
              <a:solidFill>
                <a:srgbClr val="FF0000"/>
              </a:solidFill>
            </a:endParaRPr>
          </a:p>
        </p:txBody>
      </p:sp>
      <p:sp>
        <p:nvSpPr>
          <p:cNvPr id="3" name="Marcador de contenido 2"/>
          <p:cNvSpPr>
            <a:spLocks noGrp="1"/>
          </p:cNvSpPr>
          <p:nvPr>
            <p:ph idx="1"/>
          </p:nvPr>
        </p:nvSpPr>
        <p:spPr>
          <a:xfrm>
            <a:off x="457200" y="1600200"/>
            <a:ext cx="9766300" cy="4525963"/>
          </a:xfrm>
        </p:spPr>
        <p:txBody>
          <a:bodyPr/>
          <a:lstStyle/>
          <a:p>
            <a:r>
              <a:rPr lang="es-ES" i="1" dirty="0">
                <a:effectLst>
                  <a:outerShdw blurRad="38100" dist="38100" dir="2700000" algn="tl">
                    <a:srgbClr val="000000">
                      <a:alpha val="43137"/>
                    </a:srgbClr>
                  </a:outerShdw>
                </a:effectLst>
              </a:rPr>
              <a:t>Mencione  los registros trabajo y describa su utilización.</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Brevemente describa</a:t>
            </a:r>
          </a:p>
          <a:p>
            <a:pPr lvl="1"/>
            <a:r>
              <a:rPr lang="es-ES" i="1" dirty="0">
                <a:effectLst>
                  <a:outerShdw blurRad="38100" dist="38100" dir="2700000" algn="tl">
                    <a:srgbClr val="000000">
                      <a:alpha val="43137"/>
                    </a:srgbClr>
                  </a:outerShdw>
                </a:effectLst>
              </a:rPr>
              <a:t>El uso del registro W</a:t>
            </a:r>
          </a:p>
          <a:p>
            <a:pPr lvl="1"/>
            <a:r>
              <a:rPr lang="es-ES" i="1" dirty="0">
                <a:effectLst>
                  <a:outerShdw blurRad="38100" dist="38100" dir="2700000" algn="tl">
                    <a:srgbClr val="000000">
                      <a:alpha val="43137"/>
                    </a:srgbClr>
                  </a:outerShdw>
                </a:effectLst>
              </a:rPr>
              <a:t>El uso del registro Status </a:t>
            </a:r>
          </a:p>
        </p:txBody>
      </p:sp>
      <p:pic>
        <p:nvPicPr>
          <p:cNvPr id="4" name="Imagen 3" descr="Imagen que contiene Calendario&#10;&#10;El contenido generado por IA puede ser incorrecto.">
            <a:extLst>
              <a:ext uri="{FF2B5EF4-FFF2-40B4-BE49-F238E27FC236}">
                <a16:creationId xmlns:a16="http://schemas.microsoft.com/office/drawing/2014/main" id="{4ADA0E73-6FCE-2062-3680-E0C3DE0B26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9782585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3</a:t>
            </a:r>
            <a:endParaRPr lang="es-AR" dirty="0"/>
          </a:p>
        </p:txBody>
      </p:sp>
      <p:pic>
        <p:nvPicPr>
          <p:cNvPr id="2" name="Imagen 1" descr="Imagen que contiene Calendario&#10;&#10;El contenido generado por IA puede ser incorrecto.">
            <a:extLst>
              <a:ext uri="{FF2B5EF4-FFF2-40B4-BE49-F238E27FC236}">
                <a16:creationId xmlns:a16="http://schemas.microsoft.com/office/drawing/2014/main" id="{7DECADD3-BABE-CDBC-8AC2-245DEDC02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3854253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2B51C-1B66-9E1B-1F21-457F84A36F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7AC7E1-49A7-F351-7A54-AC7E2C6C9F37}"/>
              </a:ext>
            </a:extLst>
          </p:cNvPr>
          <p:cNvSpPr>
            <a:spLocks noGrp="1"/>
          </p:cNvSpPr>
          <p:nvPr>
            <p:ph type="title"/>
          </p:nvPr>
        </p:nvSpPr>
        <p:spPr>
          <a:xfrm>
            <a:off x="722312" y="4406900"/>
            <a:ext cx="9577387" cy="1362075"/>
          </a:xfrm>
        </p:spPr>
        <p:txBody>
          <a:bodyPr vert="horz" lIns="80201" tIns="40100" rIns="80201" bIns="40100" rtlCol="0" anchor="t">
            <a:noAutofit/>
          </a:bodyPr>
          <a:lstStyle/>
          <a:p>
            <a:r>
              <a:rPr lang="es-AR" altLang="es-AR" sz="5400" noProof="1"/>
              <a:t>Uso del Timer 0 para la familia PIC16Fxxx</a:t>
            </a:r>
            <a:endParaRPr lang="en-US" sz="5400"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99CB0210-9F50-AAAE-317F-070C292BB2E9}"/>
              </a:ext>
            </a:extLst>
          </p:cNvPr>
          <p:cNvSpPr>
            <a:spLocks noGrp="1"/>
          </p:cNvSpPr>
          <p:nvPr>
            <p:ph type="body" idx="1"/>
          </p:nvPr>
        </p:nvSpPr>
        <p:spPr/>
        <p:txBody>
          <a:bodyPr vert="horz" lIns="80201" tIns="40100" rIns="80201" bIns="40100" rtlCol="0" anchor="b">
            <a:normAutofit/>
          </a:bodyPr>
          <a:lstStyle/>
          <a:p>
            <a:r>
              <a:rPr lang="es-AR" kern="1200" noProof="0" dirty="0">
                <a:solidFill>
                  <a:schemeClr val="tx1">
                    <a:alpha val="55000"/>
                  </a:schemeClr>
                </a:solidFill>
                <a:latin typeface="+mn-lt"/>
                <a:ea typeface="+mn-ea"/>
                <a:cs typeface="+mn-cs"/>
              </a:rPr>
              <a:t>Arquitectura</a:t>
            </a:r>
            <a:r>
              <a:rPr lang="en-US" kern="1200" dirty="0">
                <a:solidFill>
                  <a:schemeClr val="tx1">
                    <a:alpha val="55000"/>
                  </a:schemeClr>
                </a:solidFill>
                <a:latin typeface="+mn-lt"/>
                <a:ea typeface="+mn-ea"/>
                <a:cs typeface="+mn-cs"/>
              </a:rPr>
              <a:t> de </a:t>
            </a:r>
            <a:r>
              <a:rPr lang="en-US" kern="1200" dirty="0" err="1">
                <a:solidFill>
                  <a:schemeClr val="tx1">
                    <a:alpha val="55000"/>
                  </a:schemeClr>
                </a:solidFill>
                <a:latin typeface="+mn-lt"/>
                <a:ea typeface="+mn-ea"/>
                <a:cs typeface="+mn-cs"/>
              </a:rPr>
              <a:t>Computadoras</a:t>
            </a:r>
            <a:endParaRPr lang="en-US" kern="1200" dirty="0">
              <a:solidFill>
                <a:schemeClr val="tx1">
                  <a:alpha val="55000"/>
                </a:schemeClr>
              </a:solidFill>
              <a:latin typeface="+mn-lt"/>
              <a:ea typeface="+mn-ea"/>
              <a:cs typeface="+mn-cs"/>
            </a:endParaRPr>
          </a:p>
          <a:p>
            <a:r>
              <a:rPr lang="en-US" sz="1140" dirty="0" err="1">
                <a:solidFill>
                  <a:schemeClr val="tx1">
                    <a:alpha val="55000"/>
                  </a:schemeClr>
                </a:solidFill>
              </a:rPr>
              <a:t>Docente</a:t>
            </a:r>
            <a:r>
              <a:rPr lang="en-US" sz="1140" dirty="0">
                <a:solidFill>
                  <a:schemeClr val="tx1">
                    <a:alpha val="55000"/>
                  </a:schemeClr>
                </a:solidFill>
              </a:rPr>
              <a:t> a cargo: Roberto Garcia</a:t>
            </a:r>
          </a:p>
          <a:p>
            <a:r>
              <a:rPr lang="en-US" sz="1140" dirty="0" err="1">
                <a:solidFill>
                  <a:schemeClr val="tx1">
                    <a:alpha val="55000"/>
                  </a:schemeClr>
                </a:solidFill>
              </a:rPr>
              <a:t>Docente</a:t>
            </a:r>
            <a:r>
              <a:rPr lang="en-US" sz="1140" dirty="0">
                <a:solidFill>
                  <a:schemeClr val="tx1">
                    <a:alpha val="55000"/>
                  </a:schemeClr>
                </a:solidFill>
              </a:rPr>
              <a:t>: Julian Tomczak</a:t>
            </a:r>
          </a:p>
        </p:txBody>
      </p:sp>
      <p:pic>
        <p:nvPicPr>
          <p:cNvPr id="6" name="Imagen 5" descr="Imagen que contiene Calendario&#10;&#10;El contenido generado por IA puede ser incorrecto.">
            <a:extLst>
              <a:ext uri="{FF2B5EF4-FFF2-40B4-BE49-F238E27FC236}">
                <a16:creationId xmlns:a16="http://schemas.microsoft.com/office/drawing/2014/main" id="{0C726127-5D34-2402-DA7A-200705A117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40448401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perso.wanadoo.es/pictob/imagenes/arq16f84.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300" y="708025"/>
            <a:ext cx="10195836" cy="589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1 Título"/>
          <p:cNvSpPr>
            <a:spLocks noGrp="1"/>
          </p:cNvSpPr>
          <p:nvPr>
            <p:ph type="title"/>
          </p:nvPr>
        </p:nvSpPr>
        <p:spPr>
          <a:xfrm>
            <a:off x="457200" y="-30163"/>
            <a:ext cx="9766300" cy="828432"/>
          </a:xfrm>
          <a:noFill/>
        </p:spPr>
        <p:txBody>
          <a:bodyPr wrap="square" lIns="0" tIns="0" rIns="0" rtlCol="0">
            <a:spAutoFit/>
          </a:body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Arquitectura Interna PIC16Fxx</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pic>
        <p:nvPicPr>
          <p:cNvPr id="7" name="Imagen 6" descr="http://perso.wanadoo.es/pictob/imagenes/microc2.jpg"/>
          <p:cNvPicPr/>
          <p:nvPr/>
        </p:nvPicPr>
        <p:blipFill>
          <a:blip r:embed="rId4">
            <a:extLst>
              <a:ext uri="{28A0092B-C50C-407E-A947-70E740481C1C}">
                <a14:useLocalDpi xmlns:a14="http://schemas.microsoft.com/office/drawing/2010/main" val="0"/>
              </a:ext>
            </a:extLst>
          </a:blip>
          <a:srcRect/>
          <a:stretch>
            <a:fillRect/>
          </a:stretch>
        </p:blipFill>
        <p:spPr bwMode="auto">
          <a:xfrm>
            <a:off x="4470400" y="6546849"/>
            <a:ext cx="1752600" cy="838200"/>
          </a:xfrm>
          <a:prstGeom prst="rect">
            <a:avLst/>
          </a:prstGeom>
          <a:noFill/>
          <a:ln>
            <a:noFill/>
          </a:ln>
        </p:spPr>
      </p:pic>
      <p:sp>
        <p:nvSpPr>
          <p:cNvPr id="3" name="Rectángulo 2"/>
          <p:cNvSpPr/>
          <p:nvPr/>
        </p:nvSpPr>
        <p:spPr>
          <a:xfrm>
            <a:off x="2984500" y="5989637"/>
            <a:ext cx="1752600" cy="381000"/>
          </a:xfrm>
          <a:prstGeom prst="rect">
            <a:avLst/>
          </a:prstGeom>
          <a:solidFill>
            <a:srgbClr val="FDE4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Elipse 1">
            <a:extLst>
              <a:ext uri="{FF2B5EF4-FFF2-40B4-BE49-F238E27FC236}">
                <a16:creationId xmlns:a16="http://schemas.microsoft.com/office/drawing/2014/main" id="{1F7738F6-B83E-1D43-B8BF-225C1F601FED}"/>
              </a:ext>
            </a:extLst>
          </p:cNvPr>
          <p:cNvSpPr/>
          <p:nvPr/>
        </p:nvSpPr>
        <p:spPr>
          <a:xfrm>
            <a:off x="6413500" y="5837237"/>
            <a:ext cx="1143000" cy="533400"/>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Elipse 4">
            <a:extLst>
              <a:ext uri="{FF2B5EF4-FFF2-40B4-BE49-F238E27FC236}">
                <a16:creationId xmlns:a16="http://schemas.microsoft.com/office/drawing/2014/main" id="{4B95AFF1-25E1-270C-597F-5ECD66C24D2D}"/>
              </a:ext>
            </a:extLst>
          </p:cNvPr>
          <p:cNvSpPr/>
          <p:nvPr/>
        </p:nvSpPr>
        <p:spPr>
          <a:xfrm>
            <a:off x="7937500" y="2332036"/>
            <a:ext cx="1295400" cy="990601"/>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8968434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D59A-DB8B-F8E5-A8A4-ACC7226C611F}"/>
            </a:ext>
          </a:extLst>
        </p:cNvPr>
        <p:cNvGrpSpPr/>
        <p:nvPr/>
      </p:nvGrpSpPr>
      <p:grpSpPr>
        <a:xfrm>
          <a:off x="0" y="0"/>
          <a:ext cx="0" cy="0"/>
          <a:chOff x="0" y="0"/>
          <a:chExt cx="0" cy="0"/>
        </a:xfrm>
      </p:grpSpPr>
      <p:sp>
        <p:nvSpPr>
          <p:cNvPr id="13314" name="Título 1">
            <a:extLst>
              <a:ext uri="{FF2B5EF4-FFF2-40B4-BE49-F238E27FC236}">
                <a16:creationId xmlns:a16="http://schemas.microsoft.com/office/drawing/2014/main" id="{062AB88B-7EBC-4FEC-B1AA-81C1D4F8F76A}"/>
              </a:ext>
            </a:extLst>
          </p:cNvPr>
          <p:cNvSpPr>
            <a:spLocks noGrp="1"/>
          </p:cNvSpPr>
          <p:nvPr>
            <p:ph type="title"/>
          </p:nvPr>
        </p:nvSpPr>
        <p:spPr>
          <a:xfrm>
            <a:off x="530494" y="0"/>
            <a:ext cx="9427735" cy="1331693"/>
          </a:xfrm>
        </p:spPr>
        <p:txBody>
          <a:bodyPr/>
          <a:lstStyle/>
          <a:p>
            <a:pPr eaLnBrk="1" hangingPunct="1"/>
            <a:r>
              <a:rPr lang="es-AR" altLang="es-AR"/>
              <a:t>Registros que se utilizan</a:t>
            </a:r>
          </a:p>
        </p:txBody>
      </p:sp>
      <p:sp>
        <p:nvSpPr>
          <p:cNvPr id="3" name="Marcador de contenido 2">
            <a:extLst>
              <a:ext uri="{FF2B5EF4-FFF2-40B4-BE49-F238E27FC236}">
                <a16:creationId xmlns:a16="http://schemas.microsoft.com/office/drawing/2014/main" id="{5F4A62E7-C80D-F325-14E2-9D057051AD71}"/>
              </a:ext>
            </a:extLst>
          </p:cNvPr>
          <p:cNvSpPr>
            <a:spLocks noGrp="1"/>
          </p:cNvSpPr>
          <p:nvPr>
            <p:ph idx="1"/>
          </p:nvPr>
        </p:nvSpPr>
        <p:spPr>
          <a:xfrm>
            <a:off x="864663" y="1840921"/>
            <a:ext cx="8735728" cy="2546141"/>
          </a:xfrm>
        </p:spPr>
        <p:txBody>
          <a:bodyPr rtlCol="0">
            <a:normAutofit/>
          </a:bodyPr>
          <a:lstStyle/>
          <a:p>
            <a:pPr marL="285750" indent="-285750" eaLnBrk="1" fontAlgn="auto" hangingPunct="1">
              <a:buClr>
                <a:srgbClr val="D24726"/>
              </a:buClr>
              <a:buSzPct val="150000"/>
              <a:buFont typeface="Arial" panose="020B0604020202020204" pitchFamily="34" charset="0"/>
              <a:buChar char="•"/>
              <a:defRPr/>
            </a:pPr>
            <a:r>
              <a:rPr lang="es-AR" sz="2000" dirty="0">
                <a:solidFill>
                  <a:srgbClr val="FF0000"/>
                </a:solidFill>
              </a:rPr>
              <a:t>TMR0:</a:t>
            </a:r>
            <a:r>
              <a:rPr lang="es-AR" sz="2000" dirty="0">
                <a:solidFill>
                  <a:schemeClr val="tx1"/>
                </a:solidFill>
              </a:rPr>
              <a:t> Registro que almacena el valor del contador. Cuando desborda genera una </a:t>
            </a:r>
            <a:r>
              <a:rPr lang="es-AR" sz="2000" u="sng" dirty="0">
                <a:solidFill>
                  <a:schemeClr val="tx1"/>
                </a:solidFill>
              </a:rPr>
              <a:t>interrupción</a:t>
            </a:r>
            <a:r>
              <a:rPr lang="es-AR" sz="2000" dirty="0">
                <a:solidFill>
                  <a:schemeClr val="tx1"/>
                </a:solidFill>
              </a:rPr>
              <a:t> </a:t>
            </a:r>
          </a:p>
          <a:p>
            <a:pPr marL="285750" indent="-285750" eaLnBrk="1" fontAlgn="auto" hangingPunct="1">
              <a:buClr>
                <a:srgbClr val="D24726"/>
              </a:buClr>
              <a:buSzPct val="150000"/>
              <a:buFont typeface="Arial" panose="020B0604020202020204" pitchFamily="34" charset="0"/>
              <a:buChar char="•"/>
              <a:defRPr/>
            </a:pPr>
            <a:endParaRPr lang="es-AR" sz="2000" dirty="0">
              <a:solidFill>
                <a:srgbClr val="FF0000"/>
              </a:solidFill>
            </a:endParaRPr>
          </a:p>
          <a:p>
            <a:pPr marL="285750" indent="-285750" eaLnBrk="1" fontAlgn="auto" hangingPunct="1">
              <a:buClr>
                <a:srgbClr val="D24726"/>
              </a:buClr>
              <a:buSzPct val="150000"/>
              <a:buFont typeface="Arial" panose="020B0604020202020204" pitchFamily="34" charset="0"/>
              <a:buChar char="•"/>
              <a:defRPr/>
            </a:pPr>
            <a:r>
              <a:rPr lang="es-AR" sz="2000" dirty="0">
                <a:solidFill>
                  <a:srgbClr val="FF0000"/>
                </a:solidFill>
              </a:rPr>
              <a:t>INTCON:</a:t>
            </a:r>
            <a:r>
              <a:rPr lang="es-AR" sz="2000" dirty="0">
                <a:solidFill>
                  <a:schemeClr val="tx1"/>
                </a:solidFill>
              </a:rPr>
              <a:t> Registro utilizado para </a:t>
            </a:r>
            <a:r>
              <a:rPr lang="es-AR" sz="2000" u="sng" dirty="0">
                <a:solidFill>
                  <a:schemeClr val="tx1"/>
                </a:solidFill>
              </a:rPr>
              <a:t>habilitar las interrupciones </a:t>
            </a:r>
            <a:r>
              <a:rPr lang="es-AR" sz="2000" dirty="0">
                <a:solidFill>
                  <a:schemeClr val="tx1"/>
                </a:solidFill>
              </a:rPr>
              <a:t>del </a:t>
            </a:r>
            <a:r>
              <a:rPr lang="es-AR" sz="2000" dirty="0" err="1">
                <a:solidFill>
                  <a:schemeClr val="tx1"/>
                </a:solidFill>
              </a:rPr>
              <a:t>Timer</a:t>
            </a:r>
            <a:r>
              <a:rPr lang="es-AR" sz="2000" dirty="0">
                <a:solidFill>
                  <a:schemeClr val="tx1"/>
                </a:solidFill>
              </a:rPr>
              <a:t> 0.</a:t>
            </a:r>
          </a:p>
          <a:p>
            <a:pPr marL="285750" indent="-285750" eaLnBrk="1" fontAlgn="auto" hangingPunct="1">
              <a:buClr>
                <a:srgbClr val="D24726"/>
              </a:buClr>
              <a:buSzPct val="150000"/>
              <a:buFont typeface="Arial" panose="020B0604020202020204" pitchFamily="34" charset="0"/>
              <a:buChar char="•"/>
              <a:defRPr/>
            </a:pPr>
            <a:endParaRPr lang="es-AR" sz="2000" dirty="0">
              <a:solidFill>
                <a:srgbClr val="FF0000"/>
              </a:solidFill>
            </a:endParaRPr>
          </a:p>
          <a:p>
            <a:pPr marL="285750" indent="-285750" eaLnBrk="1" fontAlgn="auto" hangingPunct="1">
              <a:buClr>
                <a:srgbClr val="D24726"/>
              </a:buClr>
              <a:buSzPct val="150000"/>
              <a:buFont typeface="Arial" panose="020B0604020202020204" pitchFamily="34" charset="0"/>
              <a:buChar char="•"/>
              <a:defRPr/>
            </a:pPr>
            <a:r>
              <a:rPr lang="es-AR" sz="2000" dirty="0">
                <a:solidFill>
                  <a:srgbClr val="FF0000"/>
                </a:solidFill>
              </a:rPr>
              <a:t>OPTION:</a:t>
            </a:r>
            <a:r>
              <a:rPr lang="es-AR" sz="2000" dirty="0">
                <a:solidFill>
                  <a:schemeClr val="tx1"/>
                </a:solidFill>
              </a:rPr>
              <a:t> Registro de configuración del </a:t>
            </a:r>
            <a:r>
              <a:rPr lang="es-AR" sz="2000" dirty="0" err="1">
                <a:solidFill>
                  <a:schemeClr val="tx1"/>
                </a:solidFill>
              </a:rPr>
              <a:t>preescaler</a:t>
            </a:r>
            <a:r>
              <a:rPr lang="es-AR" sz="2000" dirty="0">
                <a:solidFill>
                  <a:schemeClr val="tx1"/>
                </a:solidFill>
              </a:rPr>
              <a:t>, entre otras cosas que veremos a continuación.</a:t>
            </a:r>
          </a:p>
        </p:txBody>
      </p:sp>
      <p:pic>
        <p:nvPicPr>
          <p:cNvPr id="13316" name="Imagen 3">
            <a:extLst>
              <a:ext uri="{FF2B5EF4-FFF2-40B4-BE49-F238E27FC236}">
                <a16:creationId xmlns:a16="http://schemas.microsoft.com/office/drawing/2014/main" id="{CD13D73A-593A-1234-652B-743B155293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7678" y="4579554"/>
            <a:ext cx="7013367" cy="219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ángulo 1">
            <a:extLst>
              <a:ext uri="{FF2B5EF4-FFF2-40B4-BE49-F238E27FC236}">
                <a16:creationId xmlns:a16="http://schemas.microsoft.com/office/drawing/2014/main" id="{766581B9-B481-D41D-4A34-738A85485C48}"/>
              </a:ext>
            </a:extLst>
          </p:cNvPr>
          <p:cNvSpPr/>
          <p:nvPr/>
        </p:nvSpPr>
        <p:spPr>
          <a:xfrm>
            <a:off x="2603500" y="5532437"/>
            <a:ext cx="838200" cy="2286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a:extLst>
              <a:ext uri="{FF2B5EF4-FFF2-40B4-BE49-F238E27FC236}">
                <a16:creationId xmlns:a16="http://schemas.microsoft.com/office/drawing/2014/main" id="{6AB2B3C8-7F2E-BDE3-304F-8160F41E3C2D}"/>
              </a:ext>
            </a:extLst>
          </p:cNvPr>
          <p:cNvSpPr/>
          <p:nvPr/>
        </p:nvSpPr>
        <p:spPr>
          <a:xfrm>
            <a:off x="2603500" y="5913437"/>
            <a:ext cx="838200" cy="3048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Rectángulo 6">
            <a:extLst>
              <a:ext uri="{FF2B5EF4-FFF2-40B4-BE49-F238E27FC236}">
                <a16:creationId xmlns:a16="http://schemas.microsoft.com/office/drawing/2014/main" id="{526C04F7-1A99-BCDC-5FE6-CEE6F5B59E0D}"/>
              </a:ext>
            </a:extLst>
          </p:cNvPr>
          <p:cNvSpPr/>
          <p:nvPr/>
        </p:nvSpPr>
        <p:spPr>
          <a:xfrm>
            <a:off x="2603500" y="6370637"/>
            <a:ext cx="838200" cy="304800"/>
          </a:xfrm>
          <a:prstGeom prst="rect">
            <a:avLst/>
          </a:prstGeom>
          <a:solidFill>
            <a:srgbClr val="FF0000">
              <a:alpha val="1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descr="Imagen que contiene Calendario&#10;&#10;El contenido generado por IA puede ser incorrecto.">
            <a:extLst>
              <a:ext uri="{FF2B5EF4-FFF2-40B4-BE49-F238E27FC236}">
                <a16:creationId xmlns:a16="http://schemas.microsoft.com/office/drawing/2014/main" id="{70CDAF7F-2AB4-A9F0-B35C-999B5DB717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4179828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3"/>
          <a:stretch>
            <a:fillRect/>
          </a:stretch>
        </p:blipFill>
        <p:spPr>
          <a:xfrm>
            <a:off x="1053482" y="350837"/>
            <a:ext cx="8789018" cy="6551814"/>
          </a:xfrm>
          <a:prstGeom prst="rect">
            <a:avLst/>
          </a:prstGeom>
        </p:spPr>
      </p:pic>
      <p:sp>
        <p:nvSpPr>
          <p:cNvPr id="2" name="Rectángulo 1"/>
          <p:cNvSpPr/>
          <p:nvPr/>
        </p:nvSpPr>
        <p:spPr>
          <a:xfrm>
            <a:off x="7675242" y="5380037"/>
            <a:ext cx="1786258"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OPTION</a:t>
            </a:r>
            <a:endParaRPr lang="es-ES" dirty="0"/>
          </a:p>
        </p:txBody>
      </p:sp>
      <p:sp>
        <p:nvSpPr>
          <p:cNvPr id="4" name="Rectángulo 3"/>
          <p:cNvSpPr/>
          <p:nvPr/>
        </p:nvSpPr>
        <p:spPr>
          <a:xfrm>
            <a:off x="7675242" y="5696505"/>
            <a:ext cx="1775935"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INTCON</a:t>
            </a:r>
            <a:endParaRPr lang="es-ES" dirty="0"/>
          </a:p>
        </p:txBody>
      </p:sp>
      <p:sp>
        <p:nvSpPr>
          <p:cNvPr id="5" name="CuadroTexto 4"/>
          <p:cNvSpPr txBox="1"/>
          <p:nvPr/>
        </p:nvSpPr>
        <p:spPr>
          <a:xfrm>
            <a:off x="1079500" y="727372"/>
            <a:ext cx="77893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interno</a:t>
            </a:r>
          </a:p>
        </p:txBody>
      </p:sp>
      <p:sp>
        <p:nvSpPr>
          <p:cNvPr id="6" name="CuadroTexto 5"/>
          <p:cNvSpPr txBox="1"/>
          <p:nvPr/>
        </p:nvSpPr>
        <p:spPr>
          <a:xfrm>
            <a:off x="774700" y="1489372"/>
            <a:ext cx="769763"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reloj </a:t>
            </a:r>
          </a:p>
          <a:p>
            <a:r>
              <a:rPr lang="es-ES" sz="1200" i="1" dirty="0">
                <a:solidFill>
                  <a:srgbClr val="FF0000"/>
                </a:solidFill>
                <a:effectLst>
                  <a:outerShdw blurRad="38100" dist="38100" dir="2700000" algn="tl">
                    <a:srgbClr val="000000">
                      <a:alpha val="43137"/>
                    </a:srgbClr>
                  </a:outerShdw>
                </a:effectLst>
              </a:rPr>
              <a:t>Externo</a:t>
            </a:r>
          </a:p>
        </p:txBody>
      </p:sp>
      <p:sp>
        <p:nvSpPr>
          <p:cNvPr id="7" name="CuadroTexto 6"/>
          <p:cNvSpPr txBox="1"/>
          <p:nvPr/>
        </p:nvSpPr>
        <p:spPr>
          <a:xfrm>
            <a:off x="698500" y="3470572"/>
            <a:ext cx="822661" cy="461665"/>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s-ES" sz="1200" i="1" dirty="0">
                <a:solidFill>
                  <a:srgbClr val="FF0000"/>
                </a:solidFill>
                <a:effectLst>
                  <a:outerShdw blurRad="38100" dist="38100" dir="2700000" algn="tl">
                    <a:srgbClr val="000000">
                      <a:alpha val="43137"/>
                    </a:srgbClr>
                  </a:outerShdw>
                </a:effectLst>
              </a:rPr>
              <a:t>Uso perro</a:t>
            </a:r>
          </a:p>
          <a:p>
            <a:r>
              <a:rPr lang="es-ES" sz="1200" i="1" dirty="0" err="1">
                <a:solidFill>
                  <a:srgbClr val="FF0000"/>
                </a:solidFill>
                <a:effectLst>
                  <a:outerShdw blurRad="38100" dist="38100" dir="2700000" algn="tl">
                    <a:srgbClr val="000000">
                      <a:alpha val="43137"/>
                    </a:srgbClr>
                  </a:outerShdw>
                </a:effectLst>
              </a:rPr>
              <a:t>guardian</a:t>
            </a:r>
            <a:endParaRPr lang="es-ES" sz="1200" i="1" dirty="0">
              <a:solidFill>
                <a:srgbClr val="FF0000"/>
              </a:solidFill>
              <a:effectLst>
                <a:outerShdw blurRad="38100" dist="38100" dir="2700000" algn="tl">
                  <a:srgbClr val="000000">
                    <a:alpha val="43137"/>
                  </a:srgbClr>
                </a:outerShdw>
              </a:effectLst>
            </a:endParaRPr>
          </a:p>
        </p:txBody>
      </p:sp>
      <p:sp>
        <p:nvSpPr>
          <p:cNvPr id="8" name="CuadroTexto 7"/>
          <p:cNvSpPr txBox="1"/>
          <p:nvPr/>
        </p:nvSpPr>
        <p:spPr>
          <a:xfrm>
            <a:off x="4432300" y="1169927"/>
            <a:ext cx="609600" cy="40011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Fuente </a:t>
            </a:r>
          </a:p>
          <a:p>
            <a:r>
              <a:rPr lang="es-ES" sz="1000" i="1" dirty="0">
                <a:solidFill>
                  <a:srgbClr val="FF0000"/>
                </a:solidFill>
                <a:effectLst>
                  <a:outerShdw blurRad="38100" dist="38100" dir="2700000" algn="tl">
                    <a:srgbClr val="000000">
                      <a:alpha val="43137"/>
                    </a:srgbClr>
                  </a:outerShdw>
                </a:effectLst>
              </a:rPr>
              <a:t>Reloj</a:t>
            </a:r>
          </a:p>
        </p:txBody>
      </p:sp>
      <p:sp>
        <p:nvSpPr>
          <p:cNvPr id="9" name="CuadroTexto 8"/>
          <p:cNvSpPr txBox="1"/>
          <p:nvPr/>
        </p:nvSpPr>
        <p:spPr>
          <a:xfrm>
            <a:off x="6184900" y="2332037"/>
            <a:ext cx="8382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Escritura T0</a:t>
            </a:r>
          </a:p>
        </p:txBody>
      </p:sp>
      <p:sp>
        <p:nvSpPr>
          <p:cNvPr id="10" name="CuadroTexto 9"/>
          <p:cNvSpPr txBox="1"/>
          <p:nvPr/>
        </p:nvSpPr>
        <p:spPr>
          <a:xfrm>
            <a:off x="5880100" y="26368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1" name="CuadroTexto 10"/>
          <p:cNvSpPr txBox="1"/>
          <p:nvPr/>
        </p:nvSpPr>
        <p:spPr>
          <a:xfrm>
            <a:off x="5956300" y="3457416"/>
            <a:ext cx="6858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2" name="CuadroTexto 11"/>
          <p:cNvSpPr txBox="1"/>
          <p:nvPr/>
        </p:nvSpPr>
        <p:spPr>
          <a:xfrm>
            <a:off x="3670300" y="3856037"/>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Asignación </a:t>
            </a:r>
            <a:r>
              <a:rPr lang="es-ES" sz="1000" i="1" dirty="0" err="1">
                <a:solidFill>
                  <a:srgbClr val="FF0000"/>
                </a:solidFill>
                <a:effectLst>
                  <a:outerShdw blurRad="38100" dist="38100" dir="2700000" algn="tl">
                    <a:srgbClr val="000000">
                      <a:alpha val="43137"/>
                    </a:srgbClr>
                  </a:outerShdw>
                </a:effectLst>
              </a:rPr>
              <a:t>Prescaler</a:t>
            </a:r>
            <a:endParaRPr lang="es-ES" sz="1000" i="1" dirty="0">
              <a:solidFill>
                <a:srgbClr val="FF0000"/>
              </a:solidFill>
              <a:effectLst>
                <a:outerShdw blurRad="38100" dist="38100" dir="2700000" algn="tl">
                  <a:srgbClr val="000000">
                    <a:alpha val="43137"/>
                  </a:srgbClr>
                </a:outerShdw>
              </a:effectLst>
            </a:endParaRPr>
          </a:p>
        </p:txBody>
      </p:sp>
      <p:sp>
        <p:nvSpPr>
          <p:cNvPr id="13" name="CuadroTexto 12"/>
          <p:cNvSpPr txBox="1"/>
          <p:nvPr/>
        </p:nvSpPr>
        <p:spPr>
          <a:xfrm>
            <a:off x="3746500" y="4676616"/>
            <a:ext cx="1295400" cy="246221"/>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s-ES" sz="1000" i="1" dirty="0">
                <a:solidFill>
                  <a:srgbClr val="FF0000"/>
                </a:solidFill>
                <a:effectLst>
                  <a:outerShdw blurRad="38100" dist="38100" dir="2700000" algn="tl">
                    <a:srgbClr val="000000">
                      <a:alpha val="43137"/>
                    </a:srgbClr>
                  </a:outerShdw>
                </a:effectLst>
              </a:rPr>
              <a:t>Divisor de frecuencia</a:t>
            </a:r>
          </a:p>
        </p:txBody>
      </p:sp>
      <p:pic>
        <p:nvPicPr>
          <p:cNvPr id="14" name="Imagen 13"/>
          <p:cNvPicPr>
            <a:picLocks noChangeAspect="1"/>
          </p:cNvPicPr>
          <p:nvPr/>
        </p:nvPicPr>
        <p:blipFill>
          <a:blip r:embed="rId4"/>
          <a:stretch>
            <a:fillRect/>
          </a:stretch>
        </p:blipFill>
        <p:spPr>
          <a:xfrm>
            <a:off x="1917700" y="6294437"/>
            <a:ext cx="6400800" cy="1219200"/>
          </a:xfrm>
          <a:prstGeom prst="rect">
            <a:avLst/>
          </a:prstGeom>
        </p:spPr>
      </p:pic>
      <p:pic>
        <p:nvPicPr>
          <p:cNvPr id="15" name="Imagen 14"/>
          <p:cNvPicPr>
            <a:picLocks noChangeAspect="1"/>
          </p:cNvPicPr>
          <p:nvPr/>
        </p:nvPicPr>
        <p:blipFill>
          <a:blip r:embed="rId5"/>
          <a:stretch>
            <a:fillRect/>
          </a:stretch>
        </p:blipFill>
        <p:spPr>
          <a:xfrm>
            <a:off x="8470900" y="2865437"/>
            <a:ext cx="847725" cy="171450"/>
          </a:xfrm>
          <a:prstGeom prst="rect">
            <a:avLst/>
          </a:prstGeom>
        </p:spPr>
      </p:pic>
      <p:pic>
        <p:nvPicPr>
          <p:cNvPr id="16" name="Imagen 15"/>
          <p:cNvPicPr>
            <a:picLocks noChangeAspect="1"/>
          </p:cNvPicPr>
          <p:nvPr/>
        </p:nvPicPr>
        <p:blipFill>
          <a:blip r:embed="rId5"/>
          <a:stretch>
            <a:fillRect/>
          </a:stretch>
        </p:blipFill>
        <p:spPr>
          <a:xfrm>
            <a:off x="6032500" y="5684837"/>
            <a:ext cx="847725" cy="171450"/>
          </a:xfrm>
          <a:prstGeom prst="rect">
            <a:avLst/>
          </a:prstGeom>
        </p:spPr>
      </p:pic>
      <p:sp>
        <p:nvSpPr>
          <p:cNvPr id="17" name="Elipse 16">
            <a:extLst>
              <a:ext uri="{FF2B5EF4-FFF2-40B4-BE49-F238E27FC236}">
                <a16:creationId xmlns:a16="http://schemas.microsoft.com/office/drawing/2014/main" id="{1D0A5622-B5F4-656E-AEF8-8973107EAB03}"/>
              </a:ext>
            </a:extLst>
          </p:cNvPr>
          <p:cNvSpPr/>
          <p:nvPr/>
        </p:nvSpPr>
        <p:spPr>
          <a:xfrm>
            <a:off x="2374900" y="2123037"/>
            <a:ext cx="838200" cy="455221"/>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Elipse 17">
            <a:extLst>
              <a:ext uri="{FF2B5EF4-FFF2-40B4-BE49-F238E27FC236}">
                <a16:creationId xmlns:a16="http://schemas.microsoft.com/office/drawing/2014/main" id="{152620F1-A044-46F7-ACE2-FDAE0E96D283}"/>
              </a:ext>
            </a:extLst>
          </p:cNvPr>
          <p:cNvSpPr/>
          <p:nvPr/>
        </p:nvSpPr>
        <p:spPr>
          <a:xfrm>
            <a:off x="3670300" y="2179637"/>
            <a:ext cx="838200" cy="455221"/>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2" name="Elipse 21">
            <a:extLst>
              <a:ext uri="{FF2B5EF4-FFF2-40B4-BE49-F238E27FC236}">
                <a16:creationId xmlns:a16="http://schemas.microsoft.com/office/drawing/2014/main" id="{B2BDC213-92C2-3D6C-AAA5-98A41B449B42}"/>
              </a:ext>
            </a:extLst>
          </p:cNvPr>
          <p:cNvSpPr/>
          <p:nvPr/>
        </p:nvSpPr>
        <p:spPr>
          <a:xfrm>
            <a:off x="5194300" y="2484437"/>
            <a:ext cx="685800" cy="379021"/>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3" name="Elipse 22">
            <a:extLst>
              <a:ext uri="{FF2B5EF4-FFF2-40B4-BE49-F238E27FC236}">
                <a16:creationId xmlns:a16="http://schemas.microsoft.com/office/drawing/2014/main" id="{6E6729F1-05C5-2DCB-E8D4-3732594F501C}"/>
              </a:ext>
            </a:extLst>
          </p:cNvPr>
          <p:cNvSpPr/>
          <p:nvPr/>
        </p:nvSpPr>
        <p:spPr>
          <a:xfrm>
            <a:off x="6261100" y="4239016"/>
            <a:ext cx="838200" cy="455221"/>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4" name="Elipse 23">
            <a:extLst>
              <a:ext uri="{FF2B5EF4-FFF2-40B4-BE49-F238E27FC236}">
                <a16:creationId xmlns:a16="http://schemas.microsoft.com/office/drawing/2014/main" id="{27C0FECC-B9DD-9E13-10DD-9F59E8E6AE49}"/>
              </a:ext>
            </a:extLst>
          </p:cNvPr>
          <p:cNvSpPr/>
          <p:nvPr/>
        </p:nvSpPr>
        <p:spPr>
          <a:xfrm>
            <a:off x="3136900" y="4012395"/>
            <a:ext cx="685800" cy="453242"/>
          </a:xfrm>
          <a:prstGeom prst="ellipse">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5" name="Elipse 24">
            <a:extLst>
              <a:ext uri="{FF2B5EF4-FFF2-40B4-BE49-F238E27FC236}">
                <a16:creationId xmlns:a16="http://schemas.microsoft.com/office/drawing/2014/main" id="{7C068CBD-A31D-7FE9-40D0-2AF1B26657F7}"/>
              </a:ext>
            </a:extLst>
          </p:cNvPr>
          <p:cNvSpPr/>
          <p:nvPr/>
        </p:nvSpPr>
        <p:spPr>
          <a:xfrm>
            <a:off x="5880101" y="5667216"/>
            <a:ext cx="1143000" cy="246221"/>
          </a:xfrm>
          <a:prstGeom prst="ellipse">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6" name="CuadroTexto 25">
            <a:extLst>
              <a:ext uri="{FF2B5EF4-FFF2-40B4-BE49-F238E27FC236}">
                <a16:creationId xmlns:a16="http://schemas.microsoft.com/office/drawing/2014/main" id="{3AE285FC-34B8-18C4-071B-D3CF45B5E838}"/>
              </a:ext>
            </a:extLst>
          </p:cNvPr>
          <p:cNvSpPr txBox="1"/>
          <p:nvPr/>
        </p:nvSpPr>
        <p:spPr>
          <a:xfrm>
            <a:off x="8470900" y="3228816"/>
            <a:ext cx="838200" cy="246221"/>
          </a:xfrm>
          <a:prstGeom prst="rect">
            <a:avLst/>
          </a:prstGeom>
          <a:solidFill>
            <a:srgbClr val="00B0F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1000" i="1" dirty="0" err="1">
                <a:solidFill>
                  <a:schemeClr val="tx1"/>
                </a:solidFill>
                <a:effectLst>
                  <a:outerShdw blurRad="38100" dist="38100" dir="2700000" algn="tl">
                    <a:srgbClr val="000000">
                      <a:alpha val="43137"/>
                    </a:srgbClr>
                  </a:outerShdw>
                </a:effectLst>
              </a:rPr>
              <a:t>Timer</a:t>
            </a:r>
            <a:r>
              <a:rPr lang="es-ES" sz="1000" i="1" dirty="0">
                <a:solidFill>
                  <a:schemeClr val="tx1"/>
                </a:solidFill>
                <a:effectLst>
                  <a:outerShdw blurRad="38100" dist="38100" dir="2700000" algn="tl">
                    <a:srgbClr val="000000">
                      <a:alpha val="43137"/>
                    </a:srgbClr>
                  </a:outerShdw>
                </a:effectLst>
              </a:rPr>
              <a:t> 0</a:t>
            </a:r>
          </a:p>
        </p:txBody>
      </p:sp>
      <p:sp>
        <p:nvSpPr>
          <p:cNvPr id="27" name="CuadroTexto 26">
            <a:extLst>
              <a:ext uri="{FF2B5EF4-FFF2-40B4-BE49-F238E27FC236}">
                <a16:creationId xmlns:a16="http://schemas.microsoft.com/office/drawing/2014/main" id="{5DBF03C8-84D2-5D4A-A699-7C28E422C9DE}"/>
              </a:ext>
            </a:extLst>
          </p:cNvPr>
          <p:cNvSpPr txBox="1"/>
          <p:nvPr/>
        </p:nvSpPr>
        <p:spPr>
          <a:xfrm>
            <a:off x="6032500" y="5895816"/>
            <a:ext cx="838200" cy="246221"/>
          </a:xfrm>
          <a:prstGeom prst="rect">
            <a:avLst/>
          </a:prstGeom>
          <a:solidFill>
            <a:srgbClr val="00B0F0"/>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s-ES" sz="1000" i="1" dirty="0">
                <a:solidFill>
                  <a:schemeClr val="tx1"/>
                </a:solidFill>
                <a:effectLst>
                  <a:outerShdw blurRad="38100" dist="38100" dir="2700000" algn="tl">
                    <a:srgbClr val="000000">
                      <a:alpha val="43137"/>
                    </a:srgbClr>
                  </a:outerShdw>
                </a:effectLst>
              </a:rPr>
              <a:t>WDT</a:t>
            </a:r>
          </a:p>
        </p:txBody>
      </p:sp>
      <p:sp>
        <p:nvSpPr>
          <p:cNvPr id="28" name="Elipse 27">
            <a:extLst>
              <a:ext uri="{FF2B5EF4-FFF2-40B4-BE49-F238E27FC236}">
                <a16:creationId xmlns:a16="http://schemas.microsoft.com/office/drawing/2014/main" id="{F73BE416-D70A-A422-EF19-62D9323BF658}"/>
              </a:ext>
            </a:extLst>
          </p:cNvPr>
          <p:cNvSpPr/>
          <p:nvPr/>
        </p:nvSpPr>
        <p:spPr>
          <a:xfrm>
            <a:off x="8265205" y="2808837"/>
            <a:ext cx="1196295" cy="285200"/>
          </a:xfrm>
          <a:prstGeom prst="ellipse">
            <a:avLst/>
          </a:prstGeom>
          <a:solidFill>
            <a:srgbClr val="92D05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dirty="0"/>
          </a:p>
        </p:txBody>
      </p:sp>
      <p:sp>
        <p:nvSpPr>
          <p:cNvPr id="29" name="Rectángulo 28">
            <a:extLst>
              <a:ext uri="{FF2B5EF4-FFF2-40B4-BE49-F238E27FC236}">
                <a16:creationId xmlns:a16="http://schemas.microsoft.com/office/drawing/2014/main" id="{9EA42714-345D-2072-0EA7-DB67035E4587}"/>
              </a:ext>
            </a:extLst>
          </p:cNvPr>
          <p:cNvSpPr/>
          <p:nvPr/>
        </p:nvSpPr>
        <p:spPr>
          <a:xfrm>
            <a:off x="7675242" y="5075237"/>
            <a:ext cx="1651734" cy="369332"/>
          </a:xfrm>
          <a:prstGeom prst="rect">
            <a:avLst/>
          </a:prstGeom>
        </p:spPr>
        <p:txBody>
          <a:bodyPr wrap="none">
            <a:spAutoFit/>
          </a:bodyPr>
          <a:lstStyle/>
          <a:p>
            <a:r>
              <a:rPr lang="es-ES" b="1" i="1" dirty="0">
                <a:solidFill>
                  <a:srgbClr val="FF0000"/>
                </a:solidFill>
                <a:effectLst>
                  <a:outerShdw blurRad="38100" dist="38100" dir="2700000" algn="tl">
                    <a:srgbClr val="000000">
                      <a:alpha val="43137"/>
                    </a:srgbClr>
                  </a:outerShdw>
                </a:effectLst>
                <a:latin typeface="Calibri" panose="020F0502020204030204" pitchFamily="34" charset="0"/>
              </a:rPr>
              <a:t>Registro TMR0</a:t>
            </a:r>
            <a:endParaRPr lang="es-ES" dirty="0"/>
          </a:p>
        </p:txBody>
      </p:sp>
    </p:spTree>
    <p:extLst>
      <p:ext uri="{BB962C8B-B14F-4D97-AF65-F5344CB8AC3E}">
        <p14:creationId xmlns:p14="http://schemas.microsoft.com/office/powerpoint/2010/main" val="10097438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A7C6B-AD42-7884-88B7-194264F30F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E29627-4310-7D58-A926-7201C9A25C68}"/>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ED217DF4-8D52-BCA9-BCC7-283C057096DA}"/>
              </a:ext>
            </a:extLst>
          </p:cNvPr>
          <p:cNvSpPr>
            <a:spLocks noGrp="1"/>
          </p:cNvSpPr>
          <p:nvPr>
            <p:ph idx="1"/>
          </p:nvPr>
        </p:nvSpPr>
        <p:spPr>
          <a:xfrm>
            <a:off x="735170" y="2373544"/>
            <a:ext cx="8479531" cy="3816486"/>
          </a:xfrm>
        </p:spPr>
        <p:txBody>
          <a:bodyPr vert="horz" lIns="80201" tIns="40100" rIns="80201" bIns="40100" rtlCol="0">
            <a:normAutofit/>
          </a:bodyPr>
          <a:lstStyle/>
          <a:p>
            <a:r>
              <a:rPr lang="es-AR" sz="2400" b="1" dirty="0"/>
              <a:t>1 ciclo de máquina = </a:t>
            </a:r>
            <a:r>
              <a:rPr lang="es-AR" sz="2400" b="1" dirty="0">
                <a:solidFill>
                  <a:srgbClr val="00B050"/>
                </a:solidFill>
              </a:rPr>
              <a:t>4 ciclos de reloj</a:t>
            </a:r>
            <a:r>
              <a:rPr lang="es-AR" sz="2400" dirty="0">
                <a:solidFill>
                  <a:srgbClr val="00B050"/>
                </a:solidFill>
              </a:rPr>
              <a:t> </a:t>
            </a:r>
            <a:r>
              <a:rPr lang="es-AR" sz="2400" dirty="0"/>
              <a:t>(</a:t>
            </a:r>
            <a:r>
              <a:rPr lang="es-AR" sz="2400" dirty="0" err="1"/>
              <a:t>fetch</a:t>
            </a:r>
            <a:r>
              <a:rPr lang="es-AR" sz="2400" dirty="0"/>
              <a:t>, </a:t>
            </a:r>
            <a:r>
              <a:rPr lang="es-AR" sz="2400" dirty="0" err="1"/>
              <a:t>decode</a:t>
            </a:r>
            <a:r>
              <a:rPr lang="es-AR" sz="2400" dirty="0"/>
              <a:t>, </a:t>
            </a:r>
            <a:r>
              <a:rPr lang="es-AR" sz="2400" dirty="0" err="1"/>
              <a:t>execute</a:t>
            </a:r>
            <a:r>
              <a:rPr lang="es-AR" sz="2400" dirty="0"/>
              <a:t>, preparar siguiente).</a:t>
            </a:r>
          </a:p>
          <a:p>
            <a:r>
              <a:rPr lang="es-MX" sz="2400" dirty="0"/>
              <a:t>Si se utiliza el </a:t>
            </a:r>
            <a:r>
              <a:rPr lang="es-MX" sz="2400" u="sng" dirty="0">
                <a:solidFill>
                  <a:srgbClr val="FF0000"/>
                </a:solidFill>
              </a:rPr>
              <a:t>reloj interno de 4 MHz</a:t>
            </a:r>
            <a:r>
              <a:rPr lang="es-MX" sz="2400" dirty="0"/>
              <a:t>, la frecuencia de ciclos de máquina será: </a:t>
            </a:r>
          </a:p>
          <a:p>
            <a:pPr marL="0" indent="0" algn="ctr">
              <a:buNone/>
            </a:pPr>
            <a:r>
              <a:rPr lang="es-MX" sz="2400" b="1" dirty="0">
                <a:solidFill>
                  <a:srgbClr val="FF0000"/>
                </a:solidFill>
              </a:rPr>
              <a:t>f maquina = 4 MHZ / </a:t>
            </a:r>
            <a:r>
              <a:rPr lang="es-MX" sz="2400" b="1" dirty="0">
                <a:solidFill>
                  <a:srgbClr val="00B050"/>
                </a:solidFill>
              </a:rPr>
              <a:t>4</a:t>
            </a:r>
            <a:r>
              <a:rPr lang="es-MX" sz="2400" b="1" dirty="0">
                <a:solidFill>
                  <a:srgbClr val="FF0000"/>
                </a:solidFill>
              </a:rPr>
              <a:t> = 1MHZ</a:t>
            </a:r>
          </a:p>
          <a:p>
            <a:r>
              <a:rPr lang="es-MX" sz="2400" dirty="0"/>
              <a:t>Se pueden ejecutar </a:t>
            </a:r>
            <a:r>
              <a:rPr lang="es-MX" sz="2400" b="1" dirty="0"/>
              <a:t>1.000.000 instrucciones por segundo,  </a:t>
            </a:r>
            <a:r>
              <a:rPr lang="es-MX" sz="2400" dirty="0"/>
              <a:t>es decir  cada instrucción</a:t>
            </a:r>
            <a:r>
              <a:rPr lang="es-MX" sz="2400" b="1" dirty="0"/>
              <a:t> </a:t>
            </a:r>
            <a:r>
              <a:rPr lang="es-MX" sz="2400" dirty="0"/>
              <a:t>demora</a:t>
            </a:r>
            <a:r>
              <a:rPr lang="es-MX" sz="2400" b="1" dirty="0"/>
              <a:t> </a:t>
            </a:r>
            <a:r>
              <a:rPr lang="es-MX" sz="2400" b="1" dirty="0">
                <a:solidFill>
                  <a:srgbClr val="FF0000"/>
                </a:solidFill>
              </a:rPr>
              <a:t>1 </a:t>
            </a:r>
            <a:r>
              <a:rPr lang="el-GR" sz="2400" dirty="0">
                <a:solidFill>
                  <a:srgbClr val="FF0000"/>
                </a:solidFill>
              </a:rPr>
              <a:t>μ</a:t>
            </a:r>
            <a:r>
              <a:rPr lang="es-AR" sz="2400" dirty="0">
                <a:solidFill>
                  <a:srgbClr val="FF0000"/>
                </a:solidFill>
              </a:rPr>
              <a:t>s</a:t>
            </a:r>
            <a:endParaRPr lang="es-MX" sz="2400" dirty="0">
              <a:solidFill>
                <a:srgbClr val="FF0000"/>
              </a:solidFill>
            </a:endParaRPr>
          </a:p>
        </p:txBody>
      </p:sp>
      <p:pic>
        <p:nvPicPr>
          <p:cNvPr id="6" name="Imagen 5" descr="Imagen que contiene Calendario&#10;&#10;El contenido generado por IA puede ser incorrecto.">
            <a:extLst>
              <a:ext uri="{FF2B5EF4-FFF2-40B4-BE49-F238E27FC236}">
                <a16:creationId xmlns:a16="http://schemas.microsoft.com/office/drawing/2014/main" id="{3A83F5E3-F651-91CA-56E2-43714A9BA3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graphicFrame>
        <p:nvGraphicFramePr>
          <p:cNvPr id="3" name="Object 2">
            <a:extLst>
              <a:ext uri="{FF2B5EF4-FFF2-40B4-BE49-F238E27FC236}">
                <a16:creationId xmlns:a16="http://schemas.microsoft.com/office/drawing/2014/main" id="{3A247B32-9E7F-BF40-88F2-D26DF16D4A6A}"/>
              </a:ext>
            </a:extLst>
          </p:cNvPr>
          <p:cNvGraphicFramePr>
            <a:graphicFrameLocks noChangeAspect="1"/>
          </p:cNvGraphicFramePr>
          <p:nvPr>
            <p:extLst>
              <p:ext uri="{D42A27DB-BD31-4B8C-83A1-F6EECF244321}">
                <p14:modId xmlns:p14="http://schemas.microsoft.com/office/powerpoint/2010/main" val="4168684444"/>
              </p:ext>
            </p:extLst>
          </p:nvPr>
        </p:nvGraphicFramePr>
        <p:xfrm>
          <a:off x="7404100" y="5279746"/>
          <a:ext cx="3122216" cy="2157691"/>
        </p:xfrm>
        <a:graphic>
          <a:graphicData uri="http://schemas.openxmlformats.org/presentationml/2006/ole">
            <mc:AlternateContent xmlns:mc="http://schemas.openxmlformats.org/markup-compatibility/2006">
              <mc:Choice xmlns:v="urn:schemas-microsoft-com:vml" Requires="v">
                <p:oleObj name="Imagen de mapa de bits" r:id="rId4" imgW="5477640" imgH="4153480" progId="Paint.Picture">
                  <p:embed/>
                </p:oleObj>
              </mc:Choice>
              <mc:Fallback>
                <p:oleObj name="Imagen de mapa de bits" r:id="rId4" imgW="5477640" imgH="4153480" progId="Paint.Picture">
                  <p:embed/>
                  <p:pic>
                    <p:nvPicPr>
                      <p:cNvPr id="3" name="Object 2">
                        <a:extLst>
                          <a:ext uri="{FF2B5EF4-FFF2-40B4-BE49-F238E27FC236}">
                            <a16:creationId xmlns:a16="http://schemas.microsoft.com/office/drawing/2014/main" id="{3A247B32-9E7F-BF40-88F2-D26DF16D4A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04100" y="5279746"/>
                        <a:ext cx="3122216" cy="2157691"/>
                      </a:xfrm>
                      <a:prstGeom prst="rect">
                        <a:avLst/>
                      </a:prstGeom>
                      <a:noFill/>
                      <a:ln>
                        <a:noFill/>
                      </a:ln>
                    </p:spPr>
                  </p:pic>
                </p:oleObj>
              </mc:Fallback>
            </mc:AlternateContent>
          </a:graphicData>
        </a:graphic>
      </p:graphicFrame>
      <p:sp>
        <p:nvSpPr>
          <p:cNvPr id="5" name="Rectángulo 4">
            <a:extLst>
              <a:ext uri="{FF2B5EF4-FFF2-40B4-BE49-F238E27FC236}">
                <a16:creationId xmlns:a16="http://schemas.microsoft.com/office/drawing/2014/main" id="{EA935D62-6833-A0C8-B0EB-CD766EE8C679}"/>
              </a:ext>
            </a:extLst>
          </p:cNvPr>
          <p:cNvSpPr/>
          <p:nvPr/>
        </p:nvSpPr>
        <p:spPr>
          <a:xfrm>
            <a:off x="853192" y="6294437"/>
            <a:ext cx="6322308" cy="1200329"/>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dirty="0">
                <a:solidFill>
                  <a:schemeClr val="tx2">
                    <a:lumMod val="75000"/>
                  </a:schemeClr>
                </a:solidFill>
              </a:rPr>
              <a:t>IMPORTANTE    </a:t>
            </a:r>
          </a:p>
          <a:p>
            <a:pPr algn="ctr"/>
            <a:r>
              <a:rPr lang="es-AR" altLang="es-AR" i="1" dirty="0">
                <a:solidFill>
                  <a:schemeClr val="tx2">
                    <a:lumMod val="75000"/>
                  </a:schemeClr>
                </a:solidFill>
              </a:rPr>
              <a:t> </a:t>
            </a: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92136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B361-428C-30FA-04F3-10648E335C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CB5B1B-1B61-76B1-2402-81292218C7EE}"/>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F01C9BCE-3945-F56B-780C-C661AF01803C}"/>
              </a:ext>
            </a:extLst>
          </p:cNvPr>
          <p:cNvSpPr>
            <a:spLocks noGrp="1"/>
          </p:cNvSpPr>
          <p:nvPr>
            <p:ph idx="1"/>
          </p:nvPr>
        </p:nvSpPr>
        <p:spPr>
          <a:xfrm>
            <a:off x="735171" y="2373544"/>
            <a:ext cx="9523809" cy="4413812"/>
          </a:xfrm>
        </p:spPr>
        <p:txBody>
          <a:bodyPr vert="horz" lIns="80201" tIns="40100" rIns="80201" bIns="40100" rtlCol="0">
            <a:normAutofit fontScale="70000" lnSpcReduction="20000"/>
          </a:bodyPr>
          <a:lstStyle/>
          <a:p>
            <a:pPr marL="0" indent="0">
              <a:buNone/>
            </a:pPr>
            <a:r>
              <a:rPr lang="es-MX" b="1" u="sng" dirty="0">
                <a:solidFill>
                  <a:srgbClr val="FF0000"/>
                </a:solidFill>
              </a:rPr>
              <a:t>Registro OPTION</a:t>
            </a:r>
          </a:p>
          <a:p>
            <a:pPr marL="0" indent="0">
              <a:buNone/>
            </a:pPr>
            <a:endParaRPr lang="es-MX" dirty="0"/>
          </a:p>
          <a:p>
            <a:pPr marL="0" indent="0">
              <a:buNone/>
            </a:pPr>
            <a:endParaRPr lang="es-MX" dirty="0"/>
          </a:p>
          <a:p>
            <a:pPr marL="0" indent="0">
              <a:buNone/>
            </a:pPr>
            <a:endParaRPr lang="es-AR" dirty="0">
              <a:solidFill>
                <a:srgbClr val="FF0000"/>
              </a:solidFill>
            </a:endParaRPr>
          </a:p>
          <a:p>
            <a:pPr marL="0" indent="0">
              <a:buNone/>
            </a:pPr>
            <a:r>
              <a:rPr lang="es-AR" sz="3400" b="1" u="sng" dirty="0">
                <a:solidFill>
                  <a:srgbClr val="FF0000"/>
                </a:solidFill>
              </a:rPr>
              <a:t>Fuente de reloj: </a:t>
            </a:r>
          </a:p>
          <a:p>
            <a:r>
              <a:rPr lang="pt-BR" sz="3400" dirty="0"/>
              <a:t>Interna </a:t>
            </a:r>
            <a:r>
              <a:rPr lang="pt-BR" sz="3400" dirty="0" err="1"/>
              <a:t>Fosc</a:t>
            </a:r>
            <a:r>
              <a:rPr lang="pt-BR" sz="3400" dirty="0"/>
              <a:t>/4      </a:t>
            </a:r>
            <a:r>
              <a:rPr lang="pt-BR" sz="3400" dirty="0">
                <a:solidFill>
                  <a:schemeClr val="tx2">
                    <a:lumMod val="60000"/>
                    <a:lumOff val="40000"/>
                  </a:schemeClr>
                </a:solidFill>
              </a:rPr>
              <a:t>(bit T0CS=0) </a:t>
            </a:r>
            <a:r>
              <a:rPr lang="pt-BR" sz="3400" dirty="0"/>
              <a:t>	→ 	recomendado para delays</a:t>
            </a:r>
          </a:p>
          <a:p>
            <a:r>
              <a:rPr lang="pt-BR" sz="3400" dirty="0"/>
              <a:t>Externa en T0CKI </a:t>
            </a:r>
            <a:r>
              <a:rPr lang="pt-BR" sz="3400" dirty="0">
                <a:solidFill>
                  <a:schemeClr val="tx2">
                    <a:lumMod val="60000"/>
                    <a:lumOff val="40000"/>
                  </a:schemeClr>
                </a:solidFill>
              </a:rPr>
              <a:t>(bit T0CS=1) </a:t>
            </a:r>
            <a:r>
              <a:rPr lang="pt-BR" sz="3400" dirty="0"/>
              <a:t>	→	</a:t>
            </a:r>
            <a:r>
              <a:rPr lang="pt-BR" sz="3400" dirty="0" err="1"/>
              <a:t>cuenta</a:t>
            </a:r>
            <a:r>
              <a:rPr lang="pt-BR" sz="3400" dirty="0"/>
              <a:t> flancos (</a:t>
            </a:r>
            <a:r>
              <a:rPr lang="pt-BR" sz="3400" dirty="0" err="1"/>
              <a:t>según</a:t>
            </a:r>
            <a:r>
              <a:rPr lang="pt-BR" sz="3400" dirty="0"/>
              <a:t> T0SE).</a:t>
            </a:r>
          </a:p>
          <a:p>
            <a:pPr marL="0" indent="0">
              <a:buNone/>
            </a:pPr>
            <a:endParaRPr lang="es-MX" sz="3400" dirty="0">
              <a:solidFill>
                <a:srgbClr val="FF0000"/>
              </a:solidFill>
            </a:endParaRPr>
          </a:p>
          <a:p>
            <a:pPr marL="0" indent="0">
              <a:buNone/>
            </a:pPr>
            <a:r>
              <a:rPr lang="es-MX" sz="3400" b="1" u="sng" dirty="0" err="1">
                <a:solidFill>
                  <a:srgbClr val="FF0000"/>
                </a:solidFill>
              </a:rPr>
              <a:t>Preescaler</a:t>
            </a:r>
            <a:r>
              <a:rPr lang="es-MX" sz="3400" b="1" u="sng" dirty="0">
                <a:solidFill>
                  <a:srgbClr val="FF0000"/>
                </a:solidFill>
              </a:rPr>
              <a:t>: </a:t>
            </a:r>
          </a:p>
          <a:p>
            <a:r>
              <a:rPr lang="es-MX" sz="3400" dirty="0"/>
              <a:t>PSA=1 → </a:t>
            </a:r>
            <a:r>
              <a:rPr lang="es-MX" sz="3400" dirty="0" err="1"/>
              <a:t>prescaler</a:t>
            </a:r>
            <a:r>
              <a:rPr lang="es-MX" sz="3400" dirty="0"/>
              <a:t> asignado a TMR0 </a:t>
            </a:r>
            <a:r>
              <a:rPr lang="es-MX" sz="3400" dirty="0">
                <a:solidFill>
                  <a:srgbClr val="00B050"/>
                </a:solidFill>
              </a:rPr>
              <a:t>(valores 1:2 a 1:256 vía PS2:PS0)</a:t>
            </a:r>
            <a:r>
              <a:rPr lang="es-MX" sz="3400" dirty="0"/>
              <a:t>.</a:t>
            </a:r>
          </a:p>
          <a:p>
            <a:r>
              <a:rPr lang="es-MX" sz="3400" dirty="0"/>
              <a:t>PSA=0 → sin </a:t>
            </a:r>
            <a:r>
              <a:rPr lang="es-MX" sz="3400" dirty="0" err="1"/>
              <a:t>prescaler</a:t>
            </a:r>
            <a:r>
              <a:rPr lang="es-MX" sz="3400" dirty="0"/>
              <a:t> en TMR0 (va directo a </a:t>
            </a:r>
            <a:r>
              <a:rPr lang="es-MX" sz="3400" dirty="0" err="1"/>
              <a:t>Fosc</a:t>
            </a:r>
            <a:r>
              <a:rPr lang="es-MX" sz="3400" dirty="0"/>
              <a:t>/4).</a:t>
            </a:r>
            <a:endParaRPr lang="pt-BR" sz="3400" dirty="0"/>
          </a:p>
        </p:txBody>
      </p:sp>
      <p:pic>
        <p:nvPicPr>
          <p:cNvPr id="6" name="Imagen 5" descr="Imagen que contiene Calendario&#10;&#10;El contenido generado por IA puede ser incorrecto.">
            <a:extLst>
              <a:ext uri="{FF2B5EF4-FFF2-40B4-BE49-F238E27FC236}">
                <a16:creationId xmlns:a16="http://schemas.microsoft.com/office/drawing/2014/main" id="{D24489B5-4E37-0918-88F9-E79CD163A8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graphicFrame>
        <p:nvGraphicFramePr>
          <p:cNvPr id="5" name="Tabla 4">
            <a:extLst>
              <a:ext uri="{FF2B5EF4-FFF2-40B4-BE49-F238E27FC236}">
                <a16:creationId xmlns:a16="http://schemas.microsoft.com/office/drawing/2014/main" id="{09876929-BF8E-73A3-1A65-C0EC7643E4C3}"/>
              </a:ext>
            </a:extLst>
          </p:cNvPr>
          <p:cNvGraphicFramePr>
            <a:graphicFrameLocks noGrp="1"/>
          </p:cNvGraphicFramePr>
          <p:nvPr>
            <p:extLst>
              <p:ext uri="{D42A27DB-BD31-4B8C-83A1-F6EECF244321}">
                <p14:modId xmlns:p14="http://schemas.microsoft.com/office/powerpoint/2010/main" val="2437288672"/>
              </p:ext>
            </p:extLst>
          </p:nvPr>
        </p:nvGraphicFramePr>
        <p:xfrm>
          <a:off x="1951564" y="2864603"/>
          <a:ext cx="7128936" cy="650516"/>
        </p:xfrm>
        <a:graphic>
          <a:graphicData uri="http://schemas.openxmlformats.org/drawingml/2006/table">
            <a:tbl>
              <a:tblPr firstRow="1" bandRow="1">
                <a:tableStyleId>{5940675A-B579-460E-94D1-54222C63F5DA}</a:tableStyleId>
              </a:tblPr>
              <a:tblGrid>
                <a:gridCol w="891117">
                  <a:extLst>
                    <a:ext uri="{9D8B030D-6E8A-4147-A177-3AD203B41FA5}">
                      <a16:colId xmlns:a16="http://schemas.microsoft.com/office/drawing/2014/main" val="4189032162"/>
                    </a:ext>
                  </a:extLst>
                </a:gridCol>
                <a:gridCol w="891117">
                  <a:extLst>
                    <a:ext uri="{9D8B030D-6E8A-4147-A177-3AD203B41FA5}">
                      <a16:colId xmlns:a16="http://schemas.microsoft.com/office/drawing/2014/main" val="294409631"/>
                    </a:ext>
                  </a:extLst>
                </a:gridCol>
                <a:gridCol w="891117">
                  <a:extLst>
                    <a:ext uri="{9D8B030D-6E8A-4147-A177-3AD203B41FA5}">
                      <a16:colId xmlns:a16="http://schemas.microsoft.com/office/drawing/2014/main" val="767796657"/>
                    </a:ext>
                  </a:extLst>
                </a:gridCol>
                <a:gridCol w="891117">
                  <a:extLst>
                    <a:ext uri="{9D8B030D-6E8A-4147-A177-3AD203B41FA5}">
                      <a16:colId xmlns:a16="http://schemas.microsoft.com/office/drawing/2014/main" val="2350454090"/>
                    </a:ext>
                  </a:extLst>
                </a:gridCol>
                <a:gridCol w="891117">
                  <a:extLst>
                    <a:ext uri="{9D8B030D-6E8A-4147-A177-3AD203B41FA5}">
                      <a16:colId xmlns:a16="http://schemas.microsoft.com/office/drawing/2014/main" val="3261649070"/>
                    </a:ext>
                  </a:extLst>
                </a:gridCol>
                <a:gridCol w="891117">
                  <a:extLst>
                    <a:ext uri="{9D8B030D-6E8A-4147-A177-3AD203B41FA5}">
                      <a16:colId xmlns:a16="http://schemas.microsoft.com/office/drawing/2014/main" val="864864824"/>
                    </a:ext>
                  </a:extLst>
                </a:gridCol>
                <a:gridCol w="891117">
                  <a:extLst>
                    <a:ext uri="{9D8B030D-6E8A-4147-A177-3AD203B41FA5}">
                      <a16:colId xmlns:a16="http://schemas.microsoft.com/office/drawing/2014/main" val="1011266204"/>
                    </a:ext>
                  </a:extLst>
                </a:gridCol>
                <a:gridCol w="891117">
                  <a:extLst>
                    <a:ext uri="{9D8B030D-6E8A-4147-A177-3AD203B41FA5}">
                      <a16:colId xmlns:a16="http://schemas.microsoft.com/office/drawing/2014/main" val="1322241517"/>
                    </a:ext>
                  </a:extLst>
                </a:gridCol>
              </a:tblGrid>
              <a:tr h="325258">
                <a:tc>
                  <a:txBody>
                    <a:bodyPr/>
                    <a:lstStyle/>
                    <a:p>
                      <a:pPr algn="ctr"/>
                      <a:r>
                        <a:rPr lang="es-AR" sz="1600" b="0" i="0" u="none" strike="noStrike" kern="1200" baseline="0" dirty="0">
                          <a:solidFill>
                            <a:schemeClr val="tx1"/>
                          </a:solidFill>
                          <a:latin typeface="+mn-lt"/>
                          <a:ea typeface="+mn-ea"/>
                          <a:cs typeface="+mn-cs"/>
                        </a:rPr>
                        <a:t>RBPU</a:t>
                      </a:r>
                      <a:endParaRPr lang="es-AR" sz="1600" dirty="0"/>
                    </a:p>
                  </a:txBody>
                  <a:tcPr marL="80201" marR="80201" marT="40100" marB="40100"/>
                </a:tc>
                <a:tc>
                  <a:txBody>
                    <a:bodyPr/>
                    <a:lstStyle/>
                    <a:p>
                      <a:pPr algn="ctr"/>
                      <a:r>
                        <a:rPr lang="es-AR" sz="1600" b="0" i="0" u="none" strike="noStrike" kern="1200" baseline="0" dirty="0">
                          <a:solidFill>
                            <a:schemeClr val="tx1"/>
                          </a:solidFill>
                          <a:latin typeface="+mn-lt"/>
                          <a:ea typeface="+mn-ea"/>
                          <a:cs typeface="+mn-cs"/>
                        </a:rPr>
                        <a:t>INTEDG</a:t>
                      </a:r>
                      <a:endParaRPr lang="es-AR" sz="1600" dirty="0"/>
                    </a:p>
                  </a:txBody>
                  <a:tcPr marL="80201" marR="80201" marT="40100" marB="40100"/>
                </a:tc>
                <a:tc>
                  <a:txBody>
                    <a:bodyPr/>
                    <a:lstStyle/>
                    <a:p>
                      <a:pPr algn="ctr"/>
                      <a:r>
                        <a:rPr lang="es-AR" sz="1600" b="0" i="0" u="none" strike="noStrike" kern="1200" baseline="0" dirty="0">
                          <a:solidFill>
                            <a:schemeClr val="tx2">
                              <a:lumMod val="60000"/>
                              <a:lumOff val="40000"/>
                            </a:schemeClr>
                          </a:solidFill>
                          <a:highlight>
                            <a:srgbClr val="FDE4CF"/>
                          </a:highlight>
                          <a:latin typeface="+mn-lt"/>
                          <a:ea typeface="+mn-ea"/>
                          <a:cs typeface="+mn-cs"/>
                        </a:rPr>
                        <a:t>T0CS</a:t>
                      </a:r>
                      <a:endParaRPr lang="es-AR" sz="1600" dirty="0">
                        <a:solidFill>
                          <a:schemeClr val="tx2">
                            <a:lumMod val="60000"/>
                            <a:lumOff val="40000"/>
                          </a:schemeClr>
                        </a:solidFill>
                        <a:highlight>
                          <a:srgbClr val="FDE4CF"/>
                        </a:highlight>
                      </a:endParaRPr>
                    </a:p>
                  </a:txBody>
                  <a:tcPr marL="80201" marR="80201" marT="40100" marB="40100"/>
                </a:tc>
                <a:tc>
                  <a:txBody>
                    <a:bodyPr/>
                    <a:lstStyle/>
                    <a:p>
                      <a:pPr algn="ctr"/>
                      <a:r>
                        <a:rPr lang="es-AR" sz="1600" b="0" i="0" u="none" strike="noStrike" kern="1200" baseline="0" dirty="0">
                          <a:solidFill>
                            <a:schemeClr val="tx1"/>
                          </a:solidFill>
                          <a:latin typeface="+mn-lt"/>
                          <a:ea typeface="+mn-ea"/>
                          <a:cs typeface="+mn-cs"/>
                        </a:rPr>
                        <a:t>T0SE</a:t>
                      </a:r>
                      <a:endParaRPr lang="es-AR" sz="1600" dirty="0"/>
                    </a:p>
                  </a:txBody>
                  <a:tcPr marL="80201" marR="80201" marT="40100" marB="40100"/>
                </a:tc>
                <a:tc>
                  <a:txBody>
                    <a:bodyPr/>
                    <a:lstStyle/>
                    <a:p>
                      <a:pPr algn="ctr"/>
                      <a:r>
                        <a:rPr lang="es-AR" sz="1600" b="0" i="0" u="none" strike="noStrike" kern="1200" baseline="0" dirty="0">
                          <a:solidFill>
                            <a:schemeClr val="tx1"/>
                          </a:solidFill>
                          <a:highlight>
                            <a:srgbClr val="FDE4CF"/>
                          </a:highlight>
                          <a:latin typeface="+mn-lt"/>
                          <a:ea typeface="+mn-ea"/>
                          <a:cs typeface="+mn-cs"/>
                        </a:rPr>
                        <a:t>PSA</a:t>
                      </a:r>
                      <a:endParaRPr lang="es-AR" sz="1600" dirty="0">
                        <a:solidFill>
                          <a:schemeClr val="tx1"/>
                        </a:solidFill>
                        <a:highlight>
                          <a:srgbClr val="FDE4CF"/>
                        </a:highlight>
                      </a:endParaRPr>
                    </a:p>
                  </a:txBody>
                  <a:tcPr marL="80201" marR="80201" marT="40100" marB="40100"/>
                </a:tc>
                <a:tc>
                  <a:txBody>
                    <a:bodyPr/>
                    <a:lstStyle/>
                    <a:p>
                      <a:pPr algn="ctr"/>
                      <a:r>
                        <a:rPr lang="es-AR" sz="1600" b="0" i="0" u="none" strike="noStrike" kern="1200" baseline="0" dirty="0">
                          <a:solidFill>
                            <a:schemeClr val="accent3">
                              <a:lumMod val="75000"/>
                            </a:schemeClr>
                          </a:solidFill>
                          <a:highlight>
                            <a:srgbClr val="00FF00"/>
                          </a:highlight>
                          <a:latin typeface="+mn-lt"/>
                          <a:ea typeface="+mn-ea"/>
                          <a:cs typeface="+mn-cs"/>
                        </a:rPr>
                        <a:t>PS2</a:t>
                      </a:r>
                      <a:endParaRPr lang="es-AR" sz="1600" dirty="0">
                        <a:solidFill>
                          <a:schemeClr val="accent3">
                            <a:lumMod val="75000"/>
                          </a:schemeClr>
                        </a:solidFill>
                        <a:highlight>
                          <a:srgbClr val="00FF00"/>
                        </a:highlight>
                      </a:endParaRPr>
                    </a:p>
                  </a:txBody>
                  <a:tcPr marL="80201" marR="80201" marT="40100" marB="40100"/>
                </a:tc>
                <a:tc>
                  <a:txBody>
                    <a:bodyPr/>
                    <a:lstStyle/>
                    <a:p>
                      <a:pPr algn="ctr"/>
                      <a:r>
                        <a:rPr lang="es-AR" sz="1600" b="0" i="0" u="none" strike="noStrike" kern="1200" baseline="0" dirty="0">
                          <a:solidFill>
                            <a:schemeClr val="accent3">
                              <a:lumMod val="75000"/>
                            </a:schemeClr>
                          </a:solidFill>
                          <a:highlight>
                            <a:srgbClr val="00FF00"/>
                          </a:highlight>
                          <a:latin typeface="+mn-lt"/>
                          <a:ea typeface="+mn-ea"/>
                          <a:cs typeface="+mn-cs"/>
                        </a:rPr>
                        <a:t>PS1</a:t>
                      </a:r>
                      <a:endParaRPr lang="es-AR" sz="1600" dirty="0">
                        <a:solidFill>
                          <a:schemeClr val="accent3">
                            <a:lumMod val="75000"/>
                          </a:schemeClr>
                        </a:solidFill>
                        <a:highlight>
                          <a:srgbClr val="00FF00"/>
                        </a:highlight>
                      </a:endParaRPr>
                    </a:p>
                  </a:txBody>
                  <a:tcPr marL="80201" marR="80201" marT="40100" marB="40100"/>
                </a:tc>
                <a:tc>
                  <a:txBody>
                    <a:bodyPr/>
                    <a:lstStyle/>
                    <a:p>
                      <a:pPr algn="ctr"/>
                      <a:r>
                        <a:rPr lang="es-AR" sz="1600" b="0" i="0" u="none" strike="noStrike" kern="1200" baseline="0" dirty="0">
                          <a:solidFill>
                            <a:schemeClr val="accent3">
                              <a:lumMod val="75000"/>
                            </a:schemeClr>
                          </a:solidFill>
                          <a:highlight>
                            <a:srgbClr val="00FF00"/>
                          </a:highlight>
                          <a:latin typeface="+mn-lt"/>
                          <a:ea typeface="+mn-ea"/>
                          <a:cs typeface="+mn-cs"/>
                        </a:rPr>
                        <a:t>PS0</a:t>
                      </a:r>
                      <a:endParaRPr lang="es-AR" sz="1600" dirty="0">
                        <a:solidFill>
                          <a:schemeClr val="accent3">
                            <a:lumMod val="75000"/>
                          </a:schemeClr>
                        </a:solidFill>
                        <a:highlight>
                          <a:srgbClr val="00FF00"/>
                        </a:highlight>
                      </a:endParaRPr>
                    </a:p>
                  </a:txBody>
                  <a:tcPr marL="80201" marR="80201" marT="40100" marB="40100"/>
                </a:tc>
                <a:extLst>
                  <a:ext uri="{0D108BD9-81ED-4DB2-BD59-A6C34878D82A}">
                    <a16:rowId xmlns:a16="http://schemas.microsoft.com/office/drawing/2014/main" val="3377763911"/>
                  </a:ext>
                </a:extLst>
              </a:tr>
              <a:tr h="325258">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chemeClr val="tx2">
                              <a:lumMod val="60000"/>
                              <a:lumOff val="40000"/>
                            </a:schemeClr>
                          </a:solidFill>
                          <a:highlight>
                            <a:srgbClr val="FDE4CF"/>
                          </a:highlight>
                        </a:rPr>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chemeClr val="tx1"/>
                          </a:solidFill>
                          <a:highlight>
                            <a:srgbClr val="FDE4CF"/>
                          </a:highlight>
                        </a:rPr>
                        <a:t>1</a:t>
                      </a:r>
                    </a:p>
                  </a:txBody>
                  <a:tcPr marL="80201" marR="80201" marT="40100" marB="40100"/>
                </a:tc>
                <a:tc>
                  <a:txBody>
                    <a:bodyPr/>
                    <a:lstStyle/>
                    <a:p>
                      <a:pPr algn="ctr"/>
                      <a:r>
                        <a:rPr lang="es-AR" sz="1600" dirty="0">
                          <a:solidFill>
                            <a:schemeClr val="accent3">
                              <a:lumMod val="75000"/>
                            </a:schemeClr>
                          </a:solidFill>
                          <a:highlight>
                            <a:srgbClr val="00FF00"/>
                          </a:highlight>
                        </a:rPr>
                        <a:t>0</a:t>
                      </a:r>
                    </a:p>
                  </a:txBody>
                  <a:tcPr marL="80201" marR="80201" marT="40100" marB="40100"/>
                </a:tc>
                <a:tc>
                  <a:txBody>
                    <a:bodyPr/>
                    <a:lstStyle/>
                    <a:p>
                      <a:pPr algn="ctr"/>
                      <a:r>
                        <a:rPr lang="es-AR" sz="1600" dirty="0">
                          <a:solidFill>
                            <a:schemeClr val="accent3">
                              <a:lumMod val="75000"/>
                            </a:schemeClr>
                          </a:solidFill>
                          <a:highlight>
                            <a:srgbClr val="00FF00"/>
                          </a:highlight>
                        </a:rPr>
                        <a:t>0</a:t>
                      </a:r>
                    </a:p>
                  </a:txBody>
                  <a:tcPr marL="80201" marR="80201" marT="40100" marB="40100"/>
                </a:tc>
                <a:tc>
                  <a:txBody>
                    <a:bodyPr/>
                    <a:lstStyle/>
                    <a:p>
                      <a:pPr algn="ctr"/>
                      <a:r>
                        <a:rPr lang="es-AR" sz="1600" dirty="0">
                          <a:solidFill>
                            <a:schemeClr val="accent3">
                              <a:lumMod val="75000"/>
                            </a:schemeClr>
                          </a:solidFill>
                          <a:highlight>
                            <a:srgbClr val="00FF00"/>
                          </a:highlight>
                        </a:rPr>
                        <a:t>0</a:t>
                      </a:r>
                    </a:p>
                  </a:txBody>
                  <a:tcPr marL="80201" marR="80201" marT="40100" marB="40100"/>
                </a:tc>
                <a:extLst>
                  <a:ext uri="{0D108BD9-81ED-4DB2-BD59-A6C34878D82A}">
                    <a16:rowId xmlns:a16="http://schemas.microsoft.com/office/drawing/2014/main" val="2751453384"/>
                  </a:ext>
                </a:extLst>
              </a:tr>
            </a:tbl>
          </a:graphicData>
        </a:graphic>
      </p:graphicFrame>
    </p:spTree>
    <p:extLst>
      <p:ext uri="{BB962C8B-B14F-4D97-AF65-F5344CB8AC3E}">
        <p14:creationId xmlns:p14="http://schemas.microsoft.com/office/powerpoint/2010/main" val="37150400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3E79-9C15-26DD-2B45-C20F982A23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3F3A2C-266C-D434-EB84-55B4A80E4BA1}"/>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8B58091D-4281-A03E-3FD6-77C2C7C7FCD0}"/>
              </a:ext>
            </a:extLst>
          </p:cNvPr>
          <p:cNvSpPr>
            <a:spLocks noGrp="1"/>
          </p:cNvSpPr>
          <p:nvPr>
            <p:ph idx="1"/>
          </p:nvPr>
        </p:nvSpPr>
        <p:spPr>
          <a:xfrm>
            <a:off x="735171" y="2373544"/>
            <a:ext cx="9523809" cy="3816486"/>
          </a:xfrm>
        </p:spPr>
        <p:txBody>
          <a:bodyPr vert="horz" lIns="80201" tIns="40100" rIns="80201" bIns="40100" rtlCol="0">
            <a:normAutofit lnSpcReduction="10000"/>
          </a:bodyPr>
          <a:lstStyle/>
          <a:p>
            <a:pPr marL="0" indent="0">
              <a:buNone/>
            </a:pPr>
            <a:r>
              <a:rPr lang="es-MX" dirty="0"/>
              <a:t>TMR0 es un contador de 8 bits (0 a 255)</a:t>
            </a:r>
          </a:p>
          <a:p>
            <a:pPr marL="0" indent="0">
              <a:buNone/>
            </a:pPr>
            <a:r>
              <a:rPr lang="es-MX" dirty="0"/>
              <a:t>Calculamos el tiempo </a:t>
            </a:r>
            <a:r>
              <a:rPr lang="es-MX" u="sng" dirty="0"/>
              <a:t>sin usar </a:t>
            </a:r>
            <a:r>
              <a:rPr lang="es-MX" u="sng" dirty="0" err="1"/>
              <a:t>preescaler</a:t>
            </a:r>
            <a:r>
              <a:rPr lang="es-MX" dirty="0"/>
              <a:t>:</a:t>
            </a:r>
          </a:p>
          <a:p>
            <a:pPr marL="401010" lvl="1" indent="0">
              <a:buNone/>
            </a:pPr>
            <a:r>
              <a:rPr lang="es-MX" dirty="0">
                <a:solidFill>
                  <a:srgbClr val="FF0000"/>
                </a:solidFill>
              </a:rPr>
              <a:t>	T = (256 – TMR0) * </a:t>
            </a:r>
            <a:r>
              <a:rPr lang="es-MX" dirty="0" err="1">
                <a:solidFill>
                  <a:srgbClr val="FF0000"/>
                </a:solidFill>
              </a:rPr>
              <a:t>T</a:t>
            </a:r>
            <a:r>
              <a:rPr lang="es-MX" sz="877" dirty="0" err="1">
                <a:solidFill>
                  <a:srgbClr val="FF0000"/>
                </a:solidFill>
              </a:rPr>
              <a:t>instrucción</a:t>
            </a:r>
            <a:endParaRPr lang="es-MX" sz="2400" u="sng" dirty="0">
              <a:solidFill>
                <a:srgbClr val="00B050"/>
              </a:solidFill>
            </a:endParaRPr>
          </a:p>
          <a:p>
            <a:pPr marL="0" indent="0">
              <a:buNone/>
            </a:pPr>
            <a:r>
              <a:rPr lang="es-MX" dirty="0"/>
              <a:t>Para el pic16F628a:</a:t>
            </a:r>
          </a:p>
          <a:p>
            <a:pPr marL="401010" lvl="1" indent="0">
              <a:buNone/>
            </a:pPr>
            <a:r>
              <a:rPr lang="es-MX" dirty="0">
                <a:solidFill>
                  <a:srgbClr val="FF0000"/>
                </a:solidFill>
              </a:rPr>
              <a:t>	T = (256 – TMR0) * 1 </a:t>
            </a:r>
            <a:r>
              <a:rPr lang="el-GR" dirty="0">
                <a:solidFill>
                  <a:srgbClr val="FF0000"/>
                </a:solidFill>
              </a:rPr>
              <a:t>μ</a:t>
            </a:r>
            <a:r>
              <a:rPr lang="es-AR" dirty="0">
                <a:solidFill>
                  <a:srgbClr val="FF0000"/>
                </a:solidFill>
              </a:rPr>
              <a:t>s </a:t>
            </a:r>
            <a:r>
              <a:rPr lang="es-MX" sz="1000" dirty="0">
                <a:solidFill>
                  <a:srgbClr val="FF0000"/>
                </a:solidFill>
              </a:rPr>
              <a:t>                  </a:t>
            </a:r>
            <a:r>
              <a:rPr lang="es-MX" u="sng" dirty="0">
                <a:solidFill>
                  <a:srgbClr val="00B050"/>
                </a:solidFill>
              </a:rPr>
              <a:t>Cada instrucción</a:t>
            </a:r>
            <a:r>
              <a:rPr lang="es-MX" b="1" u="sng" dirty="0">
                <a:solidFill>
                  <a:srgbClr val="00B050"/>
                </a:solidFill>
              </a:rPr>
              <a:t> </a:t>
            </a:r>
            <a:r>
              <a:rPr lang="es-MX" u="sng" dirty="0">
                <a:solidFill>
                  <a:srgbClr val="00B050"/>
                </a:solidFill>
              </a:rPr>
              <a:t>demora</a:t>
            </a:r>
            <a:r>
              <a:rPr lang="es-MX" b="1" u="sng" dirty="0">
                <a:solidFill>
                  <a:srgbClr val="00B050"/>
                </a:solidFill>
              </a:rPr>
              <a:t> 1 </a:t>
            </a:r>
            <a:r>
              <a:rPr lang="el-GR" u="sng" dirty="0">
                <a:solidFill>
                  <a:srgbClr val="00B050"/>
                </a:solidFill>
              </a:rPr>
              <a:t>μ</a:t>
            </a:r>
            <a:r>
              <a:rPr lang="es-AR" u="sng" dirty="0">
                <a:solidFill>
                  <a:srgbClr val="00B050"/>
                </a:solidFill>
              </a:rPr>
              <a:t>s</a:t>
            </a:r>
            <a:endParaRPr lang="es-AR" dirty="0">
              <a:solidFill>
                <a:srgbClr val="FF0000"/>
              </a:solidFill>
            </a:endParaRPr>
          </a:p>
          <a:p>
            <a:pPr marL="0" indent="0">
              <a:buNone/>
            </a:pPr>
            <a:r>
              <a:rPr lang="es-AR" dirty="0"/>
              <a:t>¿Cuál es el tiempo máximo que podemos calcular sin usar el </a:t>
            </a:r>
            <a:r>
              <a:rPr lang="es-AR" dirty="0" err="1"/>
              <a:t>preescaler</a:t>
            </a:r>
            <a:r>
              <a:rPr lang="es-AR" dirty="0"/>
              <a:t>?</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F064D400-E6B8-4896-C692-6FA363E746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5" name="Rectángulo 4">
            <a:extLst>
              <a:ext uri="{FF2B5EF4-FFF2-40B4-BE49-F238E27FC236}">
                <a16:creationId xmlns:a16="http://schemas.microsoft.com/office/drawing/2014/main" id="{3C98D7DB-9F80-12E2-F764-E0AC3701A754}"/>
              </a:ext>
            </a:extLst>
          </p:cNvPr>
          <p:cNvSpPr/>
          <p:nvPr/>
        </p:nvSpPr>
        <p:spPr>
          <a:xfrm>
            <a:off x="1996192" y="6294437"/>
            <a:ext cx="6322308" cy="1200329"/>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dirty="0">
                <a:solidFill>
                  <a:schemeClr val="tx2">
                    <a:lumMod val="75000"/>
                  </a:schemeClr>
                </a:solidFill>
              </a:rPr>
              <a:t>IMPORTANTE    </a:t>
            </a:r>
          </a:p>
          <a:p>
            <a:pPr algn="ctr"/>
            <a:r>
              <a:rPr lang="es-AR" altLang="es-AR" i="1" dirty="0">
                <a:solidFill>
                  <a:schemeClr val="tx2">
                    <a:lumMod val="75000"/>
                  </a:schemeClr>
                </a:solidFill>
              </a:rPr>
              <a:t> </a:t>
            </a: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9597972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B705E-1C4B-8A1C-B7C0-5F6ED20CBF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83D6ED-18A5-6CD8-2AA6-6AAB457F9F23}"/>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250DC25A-01AD-C449-C016-25859A79777E}"/>
              </a:ext>
            </a:extLst>
          </p:cNvPr>
          <p:cNvSpPr>
            <a:spLocks noGrp="1"/>
          </p:cNvSpPr>
          <p:nvPr>
            <p:ph idx="1"/>
          </p:nvPr>
        </p:nvSpPr>
        <p:spPr>
          <a:xfrm>
            <a:off x="735171" y="2373544"/>
            <a:ext cx="9523809" cy="3816486"/>
          </a:xfrm>
        </p:spPr>
        <p:txBody>
          <a:bodyPr vert="horz" lIns="80201" tIns="40100" rIns="80201" bIns="40100" rtlCol="0">
            <a:normAutofit/>
          </a:bodyPr>
          <a:lstStyle/>
          <a:p>
            <a:pPr marL="0" indent="0">
              <a:buNone/>
            </a:pPr>
            <a:r>
              <a:rPr lang="es-AR" dirty="0"/>
              <a:t>¿Cuál es el tiempo máximo que podemos calcular sin usar el </a:t>
            </a:r>
            <a:r>
              <a:rPr lang="es-AR" dirty="0" err="1"/>
              <a:t>preescaler</a:t>
            </a:r>
            <a:r>
              <a:rPr lang="es-AR" dirty="0"/>
              <a:t>?</a:t>
            </a:r>
          </a:p>
          <a:p>
            <a:pPr marL="0" indent="0" algn="ctr">
              <a:buNone/>
            </a:pPr>
            <a:endParaRPr lang="es-MX" dirty="0"/>
          </a:p>
          <a:p>
            <a:pPr marL="0" indent="0" algn="ctr">
              <a:buNone/>
            </a:pPr>
            <a:r>
              <a:rPr lang="es-MX" dirty="0" err="1">
                <a:solidFill>
                  <a:srgbClr val="FF0000"/>
                </a:solidFill>
              </a:rPr>
              <a:t>T</a:t>
            </a:r>
            <a:r>
              <a:rPr lang="es-MX" sz="1228" dirty="0" err="1">
                <a:solidFill>
                  <a:srgbClr val="FF0000"/>
                </a:solidFill>
              </a:rPr>
              <a:t>maximo</a:t>
            </a:r>
            <a:r>
              <a:rPr lang="es-MX" dirty="0">
                <a:solidFill>
                  <a:srgbClr val="FF0000"/>
                </a:solidFill>
              </a:rPr>
              <a:t> = (256 – 0) * 1 </a:t>
            </a:r>
            <a:r>
              <a:rPr lang="el-GR" dirty="0">
                <a:solidFill>
                  <a:srgbClr val="FF0000"/>
                </a:solidFill>
              </a:rPr>
              <a:t>μ</a:t>
            </a:r>
            <a:r>
              <a:rPr lang="es-AR" dirty="0">
                <a:solidFill>
                  <a:srgbClr val="FF0000"/>
                </a:solidFill>
              </a:rPr>
              <a:t>s = 256 </a:t>
            </a:r>
            <a:r>
              <a:rPr lang="el-GR" dirty="0">
                <a:solidFill>
                  <a:srgbClr val="FF0000"/>
                </a:solidFill>
              </a:rPr>
              <a:t>μ</a:t>
            </a:r>
            <a:r>
              <a:rPr lang="es-AR" dirty="0">
                <a:solidFill>
                  <a:srgbClr val="FF0000"/>
                </a:solidFill>
              </a:rPr>
              <a:t>s </a:t>
            </a:r>
          </a:p>
          <a:p>
            <a:pPr marL="0" indent="0">
              <a:buNone/>
            </a:pPr>
            <a:endParaRPr lang="es-AR" dirty="0">
              <a:solidFill>
                <a:srgbClr val="FF0000"/>
              </a:solidFill>
            </a:endParaRPr>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02547F28-F4A4-04DE-6705-1F029AC9A8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3" name="Rectángulo 2">
            <a:extLst>
              <a:ext uri="{FF2B5EF4-FFF2-40B4-BE49-F238E27FC236}">
                <a16:creationId xmlns:a16="http://schemas.microsoft.com/office/drawing/2014/main" id="{DC200A08-1F27-74CC-1B8C-29D7FDD17018}"/>
              </a:ext>
            </a:extLst>
          </p:cNvPr>
          <p:cNvSpPr/>
          <p:nvPr/>
        </p:nvSpPr>
        <p:spPr>
          <a:xfrm>
            <a:off x="1996192" y="6294437"/>
            <a:ext cx="6322308" cy="1200329"/>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dirty="0">
                <a:solidFill>
                  <a:schemeClr val="tx2">
                    <a:lumMod val="75000"/>
                  </a:schemeClr>
                </a:solidFill>
              </a:rPr>
              <a:t>IMPORTANTE    </a:t>
            </a:r>
          </a:p>
          <a:p>
            <a:pPr algn="ctr"/>
            <a:r>
              <a:rPr lang="es-AR" altLang="es-AR" i="1" dirty="0">
                <a:solidFill>
                  <a:schemeClr val="tx2">
                    <a:lumMod val="75000"/>
                  </a:schemeClr>
                </a:solidFill>
              </a:rPr>
              <a:t> </a:t>
            </a: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3152241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2D452-5C72-3B4C-E751-7106EBFBD9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68F8E1-FA65-92B9-D45D-3C76CA5EB14A}"/>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BA22C166-E1E1-E486-0534-4A895F1A4F05}"/>
              </a:ext>
            </a:extLst>
          </p:cNvPr>
          <p:cNvSpPr>
            <a:spLocks noGrp="1"/>
          </p:cNvSpPr>
          <p:nvPr>
            <p:ph idx="1"/>
          </p:nvPr>
        </p:nvSpPr>
        <p:spPr>
          <a:xfrm>
            <a:off x="735171" y="2373544"/>
            <a:ext cx="9523809" cy="3816486"/>
          </a:xfrm>
        </p:spPr>
        <p:txBody>
          <a:bodyPr vert="horz" lIns="80201" tIns="40100" rIns="80201" bIns="40100" rtlCol="0">
            <a:normAutofit fontScale="92500" lnSpcReduction="20000"/>
          </a:bodyPr>
          <a:lstStyle/>
          <a:p>
            <a:r>
              <a:rPr lang="es-AR" sz="2600" dirty="0"/>
              <a:t>Si usamos el </a:t>
            </a:r>
            <a:r>
              <a:rPr lang="es-AR" sz="2600" dirty="0" err="1"/>
              <a:t>preescaler</a:t>
            </a:r>
            <a:r>
              <a:rPr lang="es-AR" sz="2600" dirty="0"/>
              <a:t> (PSA=0):</a:t>
            </a:r>
          </a:p>
          <a:p>
            <a:pPr marL="401010" lvl="1" indent="0">
              <a:buNone/>
            </a:pPr>
            <a:r>
              <a:rPr lang="es-MX" sz="2600" dirty="0">
                <a:solidFill>
                  <a:srgbClr val="FF0000"/>
                </a:solidFill>
              </a:rPr>
              <a:t>T = (256 – TMR0) * </a:t>
            </a:r>
            <a:r>
              <a:rPr lang="es-MX" sz="2600" dirty="0" err="1">
                <a:solidFill>
                  <a:srgbClr val="FF0000"/>
                </a:solidFill>
              </a:rPr>
              <a:t>Tinstrucción</a:t>
            </a:r>
            <a:r>
              <a:rPr lang="es-MX" sz="2600" dirty="0">
                <a:solidFill>
                  <a:srgbClr val="FF0000"/>
                </a:solidFill>
              </a:rPr>
              <a:t>   * </a:t>
            </a:r>
            <a:r>
              <a:rPr lang="es-MX" sz="2600" dirty="0" err="1">
                <a:solidFill>
                  <a:srgbClr val="FF0000"/>
                </a:solidFill>
              </a:rPr>
              <a:t>Preescaler</a:t>
            </a:r>
            <a:endParaRPr lang="es-MX" sz="2600" dirty="0">
              <a:solidFill>
                <a:srgbClr val="FF0000"/>
              </a:solidFill>
            </a:endParaRPr>
          </a:p>
          <a:p>
            <a:pPr marL="401010" lvl="1" indent="0">
              <a:buNone/>
            </a:pPr>
            <a:endParaRPr lang="es-MX" sz="2600" dirty="0">
              <a:solidFill>
                <a:srgbClr val="FF0000"/>
              </a:solidFill>
            </a:endParaRPr>
          </a:p>
          <a:p>
            <a:r>
              <a:rPr lang="es-MX" sz="2600" dirty="0"/>
              <a:t>Para el pic16F628a:</a:t>
            </a:r>
            <a:endParaRPr lang="es-AR" sz="2600" dirty="0"/>
          </a:p>
          <a:p>
            <a:pPr marL="401010" lvl="1" indent="0">
              <a:buNone/>
            </a:pPr>
            <a:r>
              <a:rPr lang="es-MX" sz="2600" dirty="0">
                <a:solidFill>
                  <a:srgbClr val="FF0000"/>
                </a:solidFill>
              </a:rPr>
              <a:t>T = (256 – 0) * 1 </a:t>
            </a:r>
            <a:r>
              <a:rPr lang="el-GR" sz="2600" dirty="0">
                <a:solidFill>
                  <a:srgbClr val="FF0000"/>
                </a:solidFill>
              </a:rPr>
              <a:t>μ</a:t>
            </a:r>
            <a:r>
              <a:rPr lang="es-AR" sz="2600" dirty="0">
                <a:solidFill>
                  <a:srgbClr val="FF0000"/>
                </a:solidFill>
              </a:rPr>
              <a:t>s </a:t>
            </a:r>
            <a:r>
              <a:rPr lang="es-MX" sz="2600" dirty="0">
                <a:solidFill>
                  <a:srgbClr val="FF0000"/>
                </a:solidFill>
              </a:rPr>
              <a:t>* </a:t>
            </a:r>
            <a:r>
              <a:rPr lang="es-MX" sz="2600" dirty="0" err="1">
                <a:solidFill>
                  <a:srgbClr val="FF0000"/>
                </a:solidFill>
              </a:rPr>
              <a:t>Preescaler</a:t>
            </a:r>
            <a:endParaRPr lang="es-MX" sz="2600" dirty="0">
              <a:solidFill>
                <a:srgbClr val="FF0000"/>
              </a:solidFill>
            </a:endParaRPr>
          </a:p>
          <a:p>
            <a:pPr marL="401010" lvl="1" indent="0">
              <a:buNone/>
            </a:pPr>
            <a:endParaRPr lang="es-AR" sz="2600" dirty="0">
              <a:solidFill>
                <a:srgbClr val="FF0000"/>
              </a:solidFill>
            </a:endParaRPr>
          </a:p>
          <a:p>
            <a:r>
              <a:rPr lang="es-AR" sz="2600" dirty="0"/>
              <a:t>Con los bits PS2, PS1 y PS0</a:t>
            </a:r>
          </a:p>
          <a:p>
            <a:pPr marL="0" indent="0">
              <a:buNone/>
            </a:pPr>
            <a:r>
              <a:rPr lang="es-AR" sz="2600" dirty="0"/>
              <a:t>elegimos un valor para el </a:t>
            </a:r>
            <a:r>
              <a:rPr lang="es-AR" sz="2600" dirty="0" err="1"/>
              <a:t>preescaler</a:t>
            </a:r>
            <a:r>
              <a:rPr lang="es-AR" sz="2600" dirty="0"/>
              <a:t>.</a:t>
            </a:r>
          </a:p>
          <a:p>
            <a:pPr marL="0" indent="0">
              <a:buNone/>
            </a:pPr>
            <a:endParaRPr lang="es-AR" sz="2600" dirty="0"/>
          </a:p>
          <a:p>
            <a:pPr marL="0" indent="0">
              <a:buNone/>
            </a:pPr>
            <a:r>
              <a:rPr lang="es-MX" dirty="0">
                <a:solidFill>
                  <a:srgbClr val="FF0000"/>
                </a:solidFill>
              </a:rPr>
              <a:t>¿Ahora cual es el Tiempo máximo?</a:t>
            </a:r>
            <a:endParaRPr lang="es-AR" dirty="0">
              <a:solidFill>
                <a:srgbClr val="FF0000"/>
              </a:solidFill>
            </a:endParaRPr>
          </a:p>
        </p:txBody>
      </p:sp>
      <p:pic>
        <p:nvPicPr>
          <p:cNvPr id="6" name="Imagen 5" descr="Imagen que contiene Calendario&#10;&#10;El contenido generado por IA puede ser incorrecto.">
            <a:extLst>
              <a:ext uri="{FF2B5EF4-FFF2-40B4-BE49-F238E27FC236}">
                <a16:creationId xmlns:a16="http://schemas.microsoft.com/office/drawing/2014/main" id="{DCB3CEC1-C5D1-C996-C604-6AE40C164F1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graphicFrame>
        <p:nvGraphicFramePr>
          <p:cNvPr id="3" name="Tabla 2">
            <a:extLst>
              <a:ext uri="{FF2B5EF4-FFF2-40B4-BE49-F238E27FC236}">
                <a16:creationId xmlns:a16="http://schemas.microsoft.com/office/drawing/2014/main" id="{EB41BB97-C1C5-4A1D-F60B-3EA514F48515}"/>
              </a:ext>
            </a:extLst>
          </p:cNvPr>
          <p:cNvGraphicFramePr>
            <a:graphicFrameLocks noGrp="1"/>
          </p:cNvGraphicFramePr>
          <p:nvPr>
            <p:extLst>
              <p:ext uri="{D42A27DB-BD31-4B8C-83A1-F6EECF244321}">
                <p14:modId xmlns:p14="http://schemas.microsoft.com/office/powerpoint/2010/main" val="232987340"/>
              </p:ext>
            </p:extLst>
          </p:nvPr>
        </p:nvGraphicFramePr>
        <p:xfrm>
          <a:off x="7018768" y="2997077"/>
          <a:ext cx="3280932" cy="2916360"/>
        </p:xfrm>
        <a:graphic>
          <a:graphicData uri="http://schemas.openxmlformats.org/drawingml/2006/table">
            <a:tbl>
              <a:tblPr firstRow="1" bandRow="1">
                <a:tableStyleId>{2D5ABB26-0587-4C30-8999-92F81FD0307C}</a:tableStyleId>
              </a:tblPr>
              <a:tblGrid>
                <a:gridCol w="820233">
                  <a:extLst>
                    <a:ext uri="{9D8B030D-6E8A-4147-A177-3AD203B41FA5}">
                      <a16:colId xmlns:a16="http://schemas.microsoft.com/office/drawing/2014/main" val="2546778606"/>
                    </a:ext>
                  </a:extLst>
                </a:gridCol>
                <a:gridCol w="820233">
                  <a:extLst>
                    <a:ext uri="{9D8B030D-6E8A-4147-A177-3AD203B41FA5}">
                      <a16:colId xmlns:a16="http://schemas.microsoft.com/office/drawing/2014/main" val="563199293"/>
                    </a:ext>
                  </a:extLst>
                </a:gridCol>
                <a:gridCol w="820233">
                  <a:extLst>
                    <a:ext uri="{9D8B030D-6E8A-4147-A177-3AD203B41FA5}">
                      <a16:colId xmlns:a16="http://schemas.microsoft.com/office/drawing/2014/main" val="3038125215"/>
                    </a:ext>
                  </a:extLst>
                </a:gridCol>
                <a:gridCol w="820233">
                  <a:extLst>
                    <a:ext uri="{9D8B030D-6E8A-4147-A177-3AD203B41FA5}">
                      <a16:colId xmlns:a16="http://schemas.microsoft.com/office/drawing/2014/main" val="2089456446"/>
                    </a:ext>
                  </a:extLst>
                </a:gridCol>
              </a:tblGrid>
              <a:tr h="320802">
                <a:tc>
                  <a:txBody>
                    <a:bodyPr/>
                    <a:lstStyle/>
                    <a:p>
                      <a:pPr algn="ctr"/>
                      <a:r>
                        <a:rPr lang="es-AR" sz="1600" dirty="0"/>
                        <a:t>PS2</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AR" sz="1600" dirty="0"/>
                        <a:t>PS1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PS0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TMR0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945664"/>
                  </a:ext>
                </a:extLst>
              </a:tr>
              <a:tr h="320802">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1:2</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931602"/>
                  </a:ext>
                </a:extLst>
              </a:tr>
              <a:tr h="320802">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1:4</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584993"/>
                  </a:ext>
                </a:extLst>
              </a:tr>
              <a:tr h="320802">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1:8</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173238"/>
                  </a:ext>
                </a:extLst>
              </a:tr>
              <a:tr h="320802">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1:16</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8365811"/>
                  </a:ext>
                </a:extLst>
              </a:tr>
              <a:tr h="320802">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1:32</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9349309"/>
                  </a:ext>
                </a:extLst>
              </a:tr>
              <a:tr h="320802">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1:64</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4352969"/>
                  </a:ext>
                </a:extLst>
              </a:tr>
              <a:tr h="320802">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0</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1:128</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8776838"/>
                  </a:ext>
                </a:extLst>
              </a:tr>
              <a:tr h="320802">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t>1</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AR" sz="1600" dirty="0">
                          <a:solidFill>
                            <a:srgbClr val="FF0000"/>
                          </a:solidFill>
                        </a:rPr>
                        <a:t>1:256</a:t>
                      </a:r>
                    </a:p>
                  </a:txBody>
                  <a:tcPr marL="80201" marR="80201" marT="40100" marB="401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5511973"/>
                  </a:ext>
                </a:extLst>
              </a:tr>
            </a:tbl>
          </a:graphicData>
        </a:graphic>
      </p:graphicFrame>
      <p:sp>
        <p:nvSpPr>
          <p:cNvPr id="5" name="Rectángulo 4">
            <a:extLst>
              <a:ext uri="{FF2B5EF4-FFF2-40B4-BE49-F238E27FC236}">
                <a16:creationId xmlns:a16="http://schemas.microsoft.com/office/drawing/2014/main" id="{08BEB85E-9814-7D7F-AF20-B5FA6B259FD2}"/>
              </a:ext>
            </a:extLst>
          </p:cNvPr>
          <p:cNvSpPr/>
          <p:nvPr/>
        </p:nvSpPr>
        <p:spPr>
          <a:xfrm>
            <a:off x="1996192" y="6294437"/>
            <a:ext cx="6322308" cy="1200329"/>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dirty="0">
                <a:solidFill>
                  <a:schemeClr val="tx2">
                    <a:lumMod val="75000"/>
                  </a:schemeClr>
                </a:solidFill>
              </a:rPr>
              <a:t>IMPORTANTE    </a:t>
            </a:r>
          </a:p>
          <a:p>
            <a:pPr algn="ctr"/>
            <a:r>
              <a:rPr lang="es-AR" altLang="es-AR" i="1" dirty="0">
                <a:solidFill>
                  <a:schemeClr val="tx2">
                    <a:lumMod val="75000"/>
                  </a:schemeClr>
                </a:solidFill>
              </a:rPr>
              <a:t> </a:t>
            </a: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7011427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4E85-B721-194E-613D-179AD16F8A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704ECA-4832-6245-9B8C-7B8C50A2CFBE}"/>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648A5D2A-C3F5-7523-BDE5-1DA9943E0192}"/>
              </a:ext>
            </a:extLst>
          </p:cNvPr>
          <p:cNvSpPr>
            <a:spLocks noGrp="1"/>
          </p:cNvSpPr>
          <p:nvPr>
            <p:ph idx="1"/>
          </p:nvPr>
        </p:nvSpPr>
        <p:spPr>
          <a:xfrm>
            <a:off x="735171" y="2373544"/>
            <a:ext cx="9523809" cy="3816486"/>
          </a:xfrm>
          <a:ln>
            <a:noFill/>
          </a:ln>
        </p:spPr>
        <p:txBody>
          <a:bodyPr vert="horz" lIns="80201" tIns="40100" rIns="80201" bIns="40100" rtlCol="0">
            <a:normAutofit/>
          </a:bodyPr>
          <a:lstStyle/>
          <a:p>
            <a:pPr marL="0" indent="0">
              <a:buNone/>
            </a:pPr>
            <a:r>
              <a:rPr lang="es-AR" dirty="0"/>
              <a:t>¿Cuál es el tiempo máximo que podemos calcular usando el </a:t>
            </a:r>
            <a:r>
              <a:rPr lang="es-AR" dirty="0" err="1"/>
              <a:t>preescaler</a:t>
            </a:r>
            <a:r>
              <a:rPr lang="es-AR" dirty="0"/>
              <a:t>?</a:t>
            </a:r>
          </a:p>
          <a:p>
            <a:pPr marL="0" indent="0" algn="ctr">
              <a:buNone/>
            </a:pPr>
            <a:endParaRPr lang="es-MX" dirty="0">
              <a:solidFill>
                <a:srgbClr val="FF0000"/>
              </a:solidFill>
            </a:endParaRPr>
          </a:p>
          <a:p>
            <a:pPr marL="0" indent="0" algn="ctr">
              <a:buNone/>
            </a:pPr>
            <a:r>
              <a:rPr lang="es-MX" dirty="0" err="1">
                <a:solidFill>
                  <a:srgbClr val="FF0000"/>
                </a:solidFill>
              </a:rPr>
              <a:t>T</a:t>
            </a:r>
            <a:r>
              <a:rPr lang="es-MX" sz="1228" dirty="0" err="1">
                <a:solidFill>
                  <a:srgbClr val="FF0000"/>
                </a:solidFill>
              </a:rPr>
              <a:t>maximo</a:t>
            </a:r>
            <a:r>
              <a:rPr lang="es-MX" dirty="0">
                <a:solidFill>
                  <a:srgbClr val="FF0000"/>
                </a:solidFill>
              </a:rPr>
              <a:t> = (256 – 0) * 1 </a:t>
            </a:r>
            <a:r>
              <a:rPr lang="el-GR" dirty="0">
                <a:solidFill>
                  <a:srgbClr val="FF0000"/>
                </a:solidFill>
              </a:rPr>
              <a:t>μ</a:t>
            </a:r>
            <a:r>
              <a:rPr lang="es-AR" dirty="0">
                <a:solidFill>
                  <a:srgbClr val="FF0000"/>
                </a:solidFill>
              </a:rPr>
              <a:t>s * 256 = 65536 </a:t>
            </a:r>
            <a:r>
              <a:rPr lang="el-GR" dirty="0">
                <a:solidFill>
                  <a:srgbClr val="FF0000"/>
                </a:solidFill>
              </a:rPr>
              <a:t>μ</a:t>
            </a:r>
            <a:r>
              <a:rPr lang="es-AR" dirty="0">
                <a:solidFill>
                  <a:srgbClr val="FF0000"/>
                </a:solidFill>
              </a:rPr>
              <a:t>s = 65,536ms</a:t>
            </a:r>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5F2290C6-AFB2-9CB5-382C-AC39977A37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3" name="Rectángulo 2">
            <a:extLst>
              <a:ext uri="{FF2B5EF4-FFF2-40B4-BE49-F238E27FC236}">
                <a16:creationId xmlns:a16="http://schemas.microsoft.com/office/drawing/2014/main" id="{F777E373-4E09-5E5A-BF46-32B2AFE63BE7}"/>
              </a:ext>
            </a:extLst>
          </p:cNvPr>
          <p:cNvSpPr/>
          <p:nvPr/>
        </p:nvSpPr>
        <p:spPr>
          <a:xfrm>
            <a:off x="1996192" y="6294437"/>
            <a:ext cx="6322308" cy="1200329"/>
          </a:xfrm>
          <a:prstGeom prst="rect">
            <a:avLst/>
          </a:prstGeom>
          <a:gradFill>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p:spPr>
        <p:txBody>
          <a:bodyPr wrap="none">
            <a:spAutoFit/>
          </a:bodyPr>
          <a:lstStyle/>
          <a:p>
            <a:pPr algn="ctr"/>
            <a:r>
              <a:rPr lang="es-AR" altLang="es-AR" i="1" dirty="0">
                <a:solidFill>
                  <a:schemeClr val="tx2">
                    <a:lumMod val="75000"/>
                  </a:schemeClr>
                </a:solidFill>
              </a:rPr>
              <a:t>IMPORTANTE    </a:t>
            </a:r>
          </a:p>
          <a:p>
            <a:pPr algn="ctr"/>
            <a:r>
              <a:rPr lang="es-AR" altLang="es-AR" i="1" dirty="0">
                <a:solidFill>
                  <a:schemeClr val="tx2">
                    <a:lumMod val="75000"/>
                  </a:schemeClr>
                </a:solidFill>
              </a:rPr>
              <a:t> </a:t>
            </a:r>
            <a:r>
              <a:rPr lang="es-AR" altLang="es-AR" i="1" u="sng" dirty="0">
                <a:solidFill>
                  <a:schemeClr val="tx2">
                    <a:lumMod val="75000"/>
                  </a:schemeClr>
                </a:solidFill>
                <a:effectLst>
                  <a:outerShdw blurRad="38100" dist="38100" dir="2700000" algn="tl">
                    <a:srgbClr val="000000">
                      <a:alpha val="43137"/>
                    </a:srgbClr>
                  </a:outerShdw>
                </a:effectLst>
              </a:rPr>
              <a:t>Referencias unidades de tiempo</a:t>
            </a:r>
          </a:p>
          <a:p>
            <a:r>
              <a:rPr lang="es-AR" altLang="es-AR" i="1" dirty="0">
                <a:solidFill>
                  <a:srgbClr val="C00000"/>
                </a:solidFill>
                <a:effectLst>
                  <a:outerShdw blurRad="38100" dist="38100" dir="2700000" algn="tl">
                    <a:srgbClr val="000000">
                      <a:alpha val="43137"/>
                    </a:srgbClr>
                  </a:outerShdw>
                </a:effectLst>
              </a:rPr>
              <a:t>µs</a:t>
            </a:r>
            <a:r>
              <a:rPr lang="es-AR" altLang="es-AR" i="1" dirty="0">
                <a:solidFill>
                  <a:schemeClr val="tx2">
                    <a:lumMod val="75000"/>
                  </a:schemeClr>
                </a:solidFill>
                <a:effectLst>
                  <a:outerShdw blurRad="38100" dist="38100" dir="2700000" algn="tl">
                    <a:srgbClr val="000000">
                      <a:alpha val="43137"/>
                    </a:srgbClr>
                  </a:outerShdw>
                </a:effectLst>
              </a:rPr>
              <a:t>= microsegundo</a:t>
            </a:r>
            <a:r>
              <a:rPr lang="es-AR" i="1" dirty="0">
                <a:solidFill>
                  <a:schemeClr val="tx2">
                    <a:lumMod val="75000"/>
                  </a:schemeClr>
                </a:solidFill>
                <a:effectLst>
                  <a:outerShdw blurRad="38100" dist="38100" dir="2700000" algn="tl">
                    <a:srgbClr val="000000">
                      <a:alpha val="43137"/>
                    </a:srgbClr>
                  </a:outerShdw>
                </a:effectLst>
              </a:rPr>
              <a:t>, es igual a la millonésima parte de un segundo.</a:t>
            </a:r>
            <a:endParaRPr lang="es-AR" altLang="es-AR" i="1" dirty="0">
              <a:solidFill>
                <a:schemeClr val="tx2">
                  <a:lumMod val="75000"/>
                </a:schemeClr>
              </a:solidFill>
              <a:effectLst>
                <a:outerShdw blurRad="38100" dist="38100" dir="2700000" algn="tl">
                  <a:srgbClr val="000000">
                    <a:alpha val="43137"/>
                  </a:srgbClr>
                </a:outerShdw>
              </a:effectLst>
            </a:endParaRPr>
          </a:p>
          <a:p>
            <a:r>
              <a:rPr lang="es-AR" i="1" dirty="0">
                <a:solidFill>
                  <a:srgbClr val="C00000"/>
                </a:solidFill>
                <a:effectLst>
                  <a:outerShdw blurRad="38100" dist="38100" dir="2700000" algn="tl">
                    <a:srgbClr val="000000">
                      <a:alpha val="43137"/>
                    </a:srgbClr>
                  </a:outerShdw>
                </a:effectLst>
              </a:rPr>
              <a:t>ms</a:t>
            </a:r>
            <a:r>
              <a:rPr lang="es-AR" i="1" dirty="0">
                <a:solidFill>
                  <a:schemeClr val="tx2">
                    <a:lumMod val="75000"/>
                  </a:schemeClr>
                </a:solidFill>
                <a:effectLst>
                  <a:outerShdw blurRad="38100" dist="38100" dir="2700000" algn="tl">
                    <a:srgbClr val="000000">
                      <a:alpha val="43137"/>
                    </a:srgbClr>
                  </a:outerShdw>
                </a:effectLst>
              </a:rPr>
              <a:t>= milisegundo= es igual a la milésima parte de un segundo. </a:t>
            </a:r>
            <a:endParaRPr lang="es-ES" i="1" dirty="0">
              <a:solidFill>
                <a:schemeClr val="tx2">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9083129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DFC99-8276-0136-42A3-5B7813E97A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07FB84-79DE-E676-8D43-148CBF707E4C}"/>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E6616346-F1EC-CBF2-09CA-A573A379B582}"/>
              </a:ext>
            </a:extLst>
          </p:cNvPr>
          <p:cNvSpPr>
            <a:spLocks noGrp="1"/>
          </p:cNvSpPr>
          <p:nvPr>
            <p:ph idx="1"/>
          </p:nvPr>
        </p:nvSpPr>
        <p:spPr>
          <a:xfrm>
            <a:off x="735171" y="2373544"/>
            <a:ext cx="9523809" cy="3816486"/>
          </a:xfrm>
        </p:spPr>
        <p:txBody>
          <a:bodyPr vert="horz" lIns="80201" tIns="40100" rIns="80201" bIns="40100" rtlCol="0">
            <a:normAutofit/>
          </a:bodyPr>
          <a:lstStyle/>
          <a:p>
            <a:pPr marL="0" indent="0">
              <a:buNone/>
            </a:pPr>
            <a:r>
              <a:rPr lang="es-AR" dirty="0"/>
              <a:t>¿Para 10ms que registros y que valor de </a:t>
            </a:r>
            <a:r>
              <a:rPr lang="es-AR" dirty="0" err="1"/>
              <a:t>preescaler</a:t>
            </a:r>
            <a:r>
              <a:rPr lang="es-AR" dirty="0"/>
              <a:t> debo usar?</a:t>
            </a:r>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FD26CFD8-C0C2-E036-C785-ABC6229CD3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00E0F428-9F51-6303-65F8-964792D42093}"/>
              </a:ext>
            </a:extLst>
          </p:cNvPr>
          <p:cNvPicPr>
            <a:picLocks noChangeAspect="1"/>
          </p:cNvPicPr>
          <p:nvPr/>
        </p:nvPicPr>
        <p:blipFill>
          <a:blip r:embed="rId4"/>
          <a:stretch>
            <a:fillRect/>
          </a:stretch>
        </p:blipFill>
        <p:spPr>
          <a:xfrm>
            <a:off x="810449" y="3523279"/>
            <a:ext cx="3304547" cy="2999758"/>
          </a:xfrm>
          <a:prstGeom prst="rect">
            <a:avLst/>
          </a:prstGeom>
        </p:spPr>
      </p:pic>
      <p:graphicFrame>
        <p:nvGraphicFramePr>
          <p:cNvPr id="9" name="Tabla 8">
            <a:extLst>
              <a:ext uri="{FF2B5EF4-FFF2-40B4-BE49-F238E27FC236}">
                <a16:creationId xmlns:a16="http://schemas.microsoft.com/office/drawing/2014/main" id="{88E1F57B-ED69-610A-9858-8690313282E7}"/>
              </a:ext>
            </a:extLst>
          </p:cNvPr>
          <p:cNvGraphicFramePr>
            <a:graphicFrameLocks noGrp="1"/>
          </p:cNvGraphicFramePr>
          <p:nvPr>
            <p:extLst>
              <p:ext uri="{D42A27DB-BD31-4B8C-83A1-F6EECF244321}">
                <p14:modId xmlns:p14="http://schemas.microsoft.com/office/powerpoint/2010/main" val="1096433184"/>
              </p:ext>
            </p:extLst>
          </p:nvPr>
        </p:nvGraphicFramePr>
        <p:xfrm>
          <a:off x="4489969" y="4648022"/>
          <a:ext cx="6038334" cy="732015"/>
        </p:xfrm>
        <a:graphic>
          <a:graphicData uri="http://schemas.openxmlformats.org/drawingml/2006/table">
            <a:tbl>
              <a:tblPr firstRow="1" bandRow="1">
                <a:tableStyleId>{5940675A-B579-460E-94D1-54222C63F5DA}</a:tableStyleId>
              </a:tblPr>
              <a:tblGrid>
                <a:gridCol w="754792">
                  <a:extLst>
                    <a:ext uri="{9D8B030D-6E8A-4147-A177-3AD203B41FA5}">
                      <a16:colId xmlns:a16="http://schemas.microsoft.com/office/drawing/2014/main" val="4189032162"/>
                    </a:ext>
                  </a:extLst>
                </a:gridCol>
                <a:gridCol w="820912">
                  <a:extLst>
                    <a:ext uri="{9D8B030D-6E8A-4147-A177-3AD203B41FA5}">
                      <a16:colId xmlns:a16="http://schemas.microsoft.com/office/drawing/2014/main" val="294409631"/>
                    </a:ext>
                  </a:extLst>
                </a:gridCol>
                <a:gridCol w="688670">
                  <a:extLst>
                    <a:ext uri="{9D8B030D-6E8A-4147-A177-3AD203B41FA5}">
                      <a16:colId xmlns:a16="http://schemas.microsoft.com/office/drawing/2014/main" val="767796657"/>
                    </a:ext>
                  </a:extLst>
                </a:gridCol>
                <a:gridCol w="754792">
                  <a:extLst>
                    <a:ext uri="{9D8B030D-6E8A-4147-A177-3AD203B41FA5}">
                      <a16:colId xmlns:a16="http://schemas.microsoft.com/office/drawing/2014/main" val="2350454090"/>
                    </a:ext>
                  </a:extLst>
                </a:gridCol>
                <a:gridCol w="754792">
                  <a:extLst>
                    <a:ext uri="{9D8B030D-6E8A-4147-A177-3AD203B41FA5}">
                      <a16:colId xmlns:a16="http://schemas.microsoft.com/office/drawing/2014/main" val="3261649070"/>
                    </a:ext>
                  </a:extLst>
                </a:gridCol>
                <a:gridCol w="754792">
                  <a:extLst>
                    <a:ext uri="{9D8B030D-6E8A-4147-A177-3AD203B41FA5}">
                      <a16:colId xmlns:a16="http://schemas.microsoft.com/office/drawing/2014/main" val="864864824"/>
                    </a:ext>
                  </a:extLst>
                </a:gridCol>
                <a:gridCol w="754792">
                  <a:extLst>
                    <a:ext uri="{9D8B030D-6E8A-4147-A177-3AD203B41FA5}">
                      <a16:colId xmlns:a16="http://schemas.microsoft.com/office/drawing/2014/main" val="1011266204"/>
                    </a:ext>
                  </a:extLst>
                </a:gridCol>
                <a:gridCol w="754792">
                  <a:extLst>
                    <a:ext uri="{9D8B030D-6E8A-4147-A177-3AD203B41FA5}">
                      <a16:colId xmlns:a16="http://schemas.microsoft.com/office/drawing/2014/main" val="1322241517"/>
                    </a:ext>
                  </a:extLst>
                </a:gridCol>
              </a:tblGrid>
              <a:tr h="407975">
                <a:tc>
                  <a:txBody>
                    <a:bodyPr/>
                    <a:lstStyle/>
                    <a:p>
                      <a:pPr algn="ctr"/>
                      <a:r>
                        <a:rPr lang="es-AR" sz="1600" b="1" i="0" u="none" strike="noStrike" kern="1200" baseline="0" dirty="0">
                          <a:solidFill>
                            <a:schemeClr val="tx1"/>
                          </a:solidFill>
                          <a:latin typeface="+mn-lt"/>
                          <a:ea typeface="+mn-ea"/>
                          <a:cs typeface="+mn-cs"/>
                        </a:rPr>
                        <a:t>RBPU</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INTEDG</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T0CS</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T0SE</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PSA</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PS2</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PS1</a:t>
                      </a:r>
                      <a:endParaRPr lang="es-AR" sz="1600" b="1" dirty="0"/>
                    </a:p>
                  </a:txBody>
                  <a:tcPr marL="80201" marR="80201" marT="40100" marB="40100"/>
                </a:tc>
                <a:tc>
                  <a:txBody>
                    <a:bodyPr/>
                    <a:lstStyle/>
                    <a:p>
                      <a:pPr algn="ctr"/>
                      <a:r>
                        <a:rPr lang="es-AR" sz="1600" b="1" i="0" u="none" strike="noStrike" kern="1200" baseline="0" dirty="0">
                          <a:solidFill>
                            <a:schemeClr val="tx1"/>
                          </a:solidFill>
                          <a:latin typeface="+mn-lt"/>
                          <a:ea typeface="+mn-ea"/>
                          <a:cs typeface="+mn-cs"/>
                        </a:rPr>
                        <a:t>PS0</a:t>
                      </a:r>
                      <a:endParaRPr lang="es-AR" sz="1600" b="1" dirty="0"/>
                    </a:p>
                  </a:txBody>
                  <a:tcPr marL="80201" marR="80201" marT="40100" marB="40100"/>
                </a:tc>
                <a:extLst>
                  <a:ext uri="{0D108BD9-81ED-4DB2-BD59-A6C34878D82A}">
                    <a16:rowId xmlns:a16="http://schemas.microsoft.com/office/drawing/2014/main" val="3377763911"/>
                  </a:ext>
                </a:extLst>
              </a:tr>
              <a:tr h="320802">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tc>
                  <a:txBody>
                    <a:bodyPr/>
                    <a:lstStyle/>
                    <a:p>
                      <a:pPr algn="ctr"/>
                      <a:endParaRPr lang="es-AR" sz="1600" b="1" dirty="0"/>
                    </a:p>
                  </a:txBody>
                  <a:tcPr marL="80201" marR="80201" marT="40100" marB="40100"/>
                </a:tc>
                <a:extLst>
                  <a:ext uri="{0D108BD9-81ED-4DB2-BD59-A6C34878D82A}">
                    <a16:rowId xmlns:a16="http://schemas.microsoft.com/office/drawing/2014/main" val="2751453384"/>
                  </a:ext>
                </a:extLst>
              </a:tr>
            </a:tbl>
          </a:graphicData>
        </a:graphic>
      </p:graphicFrame>
    </p:spTree>
    <p:extLst>
      <p:ext uri="{BB962C8B-B14F-4D97-AF65-F5344CB8AC3E}">
        <p14:creationId xmlns:p14="http://schemas.microsoft.com/office/powerpoint/2010/main" val="26069829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3AAA5-9D95-E4C3-09BB-EB8034C667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A7BA70-F270-88BA-EC62-6013981416E0}"/>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98456A4D-9774-C077-1A6C-26F828332CC6}"/>
              </a:ext>
            </a:extLst>
          </p:cNvPr>
          <p:cNvSpPr>
            <a:spLocks noGrp="1"/>
          </p:cNvSpPr>
          <p:nvPr>
            <p:ph idx="1"/>
          </p:nvPr>
        </p:nvSpPr>
        <p:spPr>
          <a:xfrm>
            <a:off x="735171" y="2373544"/>
            <a:ext cx="9523809" cy="3816486"/>
          </a:xfrm>
        </p:spPr>
        <p:txBody>
          <a:bodyPr vert="horz" lIns="80201" tIns="40100" rIns="80201" bIns="40100" rtlCol="0">
            <a:normAutofit fontScale="92500" lnSpcReduction="20000"/>
          </a:bodyPr>
          <a:lstStyle/>
          <a:p>
            <a:pPr marL="0" indent="0">
              <a:buNone/>
            </a:pPr>
            <a:r>
              <a:rPr lang="es-AR" dirty="0"/>
              <a:t>¿Para 10ms que registros y que valor de </a:t>
            </a:r>
            <a:r>
              <a:rPr lang="es-AR" dirty="0" err="1"/>
              <a:t>preescaler</a:t>
            </a:r>
            <a:r>
              <a:rPr lang="es-AR" dirty="0"/>
              <a:t> debo usar?</a:t>
            </a:r>
          </a:p>
          <a:p>
            <a:pPr marL="0" indent="0">
              <a:buNone/>
            </a:pPr>
            <a:endParaRPr lang="es-AR" dirty="0"/>
          </a:p>
          <a:p>
            <a:pPr marL="0" indent="0">
              <a:buNone/>
            </a:pPr>
            <a:r>
              <a:rPr lang="es-AR" dirty="0"/>
              <a:t>Pasos para resolver:</a:t>
            </a:r>
          </a:p>
          <a:p>
            <a:pPr marL="451136" indent="-451136">
              <a:buAutoNum type="arabicParenR"/>
            </a:pPr>
            <a:r>
              <a:rPr lang="es-AR" dirty="0"/>
              <a:t>¿Hay que utilizar </a:t>
            </a:r>
            <a:r>
              <a:rPr lang="es-AR" dirty="0" err="1"/>
              <a:t>preescaler</a:t>
            </a:r>
            <a:r>
              <a:rPr lang="es-AR" dirty="0"/>
              <a:t>?</a:t>
            </a:r>
          </a:p>
          <a:p>
            <a:pPr marL="451136" indent="-451136">
              <a:buAutoNum type="arabicParenR"/>
            </a:pPr>
            <a:r>
              <a:rPr lang="es-AR" dirty="0"/>
              <a:t>¿Qué valor de </a:t>
            </a:r>
            <a:r>
              <a:rPr lang="es-AR" dirty="0" err="1"/>
              <a:t>preescaler</a:t>
            </a:r>
            <a:r>
              <a:rPr lang="es-AR" dirty="0"/>
              <a:t> debemos usar?</a:t>
            </a:r>
          </a:p>
          <a:p>
            <a:pPr marL="451136" indent="-451136">
              <a:buAutoNum type="arabicParenR"/>
            </a:pPr>
            <a:r>
              <a:rPr lang="es-AR" dirty="0"/>
              <a:t>Despejar el TMR0.</a:t>
            </a:r>
          </a:p>
          <a:p>
            <a:pPr marL="451136" indent="-451136">
              <a:buAutoNum type="arabicParenR"/>
            </a:pPr>
            <a:r>
              <a:rPr lang="es-AR" dirty="0"/>
              <a:t>Identificar los valores de los registros a usar.</a:t>
            </a:r>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E72BD9AC-D1FC-5A72-6AE8-D289F1214F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772319"/>
            <a:ext cx="1403510" cy="1368519"/>
          </a:xfrm>
          <a:prstGeom prst="rect">
            <a:avLst/>
          </a:prstGeom>
        </p:spPr>
      </p:pic>
      <p:pic>
        <p:nvPicPr>
          <p:cNvPr id="5" name="Imagen 4">
            <a:extLst>
              <a:ext uri="{FF2B5EF4-FFF2-40B4-BE49-F238E27FC236}">
                <a16:creationId xmlns:a16="http://schemas.microsoft.com/office/drawing/2014/main" id="{B78D01E2-C10E-7BF4-6376-163F44EF17C4}"/>
              </a:ext>
            </a:extLst>
          </p:cNvPr>
          <p:cNvPicPr>
            <a:picLocks noChangeAspect="1"/>
          </p:cNvPicPr>
          <p:nvPr/>
        </p:nvPicPr>
        <p:blipFill>
          <a:blip r:embed="rId4"/>
          <a:stretch>
            <a:fillRect/>
          </a:stretch>
        </p:blipFill>
        <p:spPr>
          <a:xfrm>
            <a:off x="8145069" y="3383075"/>
            <a:ext cx="2535631" cy="2301762"/>
          </a:xfrm>
          <a:prstGeom prst="rect">
            <a:avLst/>
          </a:prstGeom>
        </p:spPr>
      </p:pic>
    </p:spTree>
    <p:extLst>
      <p:ext uri="{BB962C8B-B14F-4D97-AF65-F5344CB8AC3E}">
        <p14:creationId xmlns:p14="http://schemas.microsoft.com/office/powerpoint/2010/main" val="8358947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EE842E-1046-3580-12BD-D8B1CFEDAD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9E4D69-6CF4-B888-8B07-3823E387534D}"/>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40238005-A3BD-FDEC-270F-AF67ED223A79}"/>
              </a:ext>
            </a:extLst>
          </p:cNvPr>
          <p:cNvSpPr>
            <a:spLocks noGrp="1"/>
          </p:cNvSpPr>
          <p:nvPr>
            <p:ph idx="1"/>
          </p:nvPr>
        </p:nvSpPr>
        <p:spPr>
          <a:xfrm>
            <a:off x="735171" y="2373544"/>
            <a:ext cx="9523809" cy="3816486"/>
          </a:xfrm>
        </p:spPr>
        <p:txBody>
          <a:bodyPr vert="horz" lIns="80201" tIns="40100" rIns="80201" bIns="40100" rtlCol="0">
            <a:normAutofit fontScale="85000" lnSpcReduction="20000"/>
          </a:bodyPr>
          <a:lstStyle/>
          <a:p>
            <a:pPr marL="0" indent="0">
              <a:buNone/>
            </a:pPr>
            <a:r>
              <a:rPr lang="es-AR" dirty="0"/>
              <a:t>¿Para 10ms que registros y que valor de </a:t>
            </a:r>
            <a:r>
              <a:rPr lang="es-AR" dirty="0" err="1"/>
              <a:t>preescaler</a:t>
            </a:r>
            <a:r>
              <a:rPr lang="es-AR" dirty="0"/>
              <a:t> debo usar?</a:t>
            </a:r>
          </a:p>
          <a:p>
            <a:pPr marL="0" indent="0">
              <a:buNone/>
            </a:pPr>
            <a:r>
              <a:rPr lang="es-AR" dirty="0">
                <a:solidFill>
                  <a:srgbClr val="FF0000"/>
                </a:solidFill>
              </a:rPr>
              <a:t>Elegimos </a:t>
            </a:r>
            <a:r>
              <a:rPr lang="es-AR" dirty="0" err="1">
                <a:solidFill>
                  <a:srgbClr val="FF0000"/>
                </a:solidFill>
              </a:rPr>
              <a:t>preescaler</a:t>
            </a:r>
            <a:r>
              <a:rPr lang="es-AR" dirty="0">
                <a:solidFill>
                  <a:srgbClr val="FF0000"/>
                </a:solidFill>
              </a:rPr>
              <a:t> 1:64</a:t>
            </a:r>
          </a:p>
          <a:p>
            <a:pPr marL="0" indent="0">
              <a:buNone/>
            </a:pPr>
            <a:r>
              <a:rPr lang="es-MX" dirty="0"/>
              <a:t>	</a:t>
            </a:r>
            <a:r>
              <a:rPr lang="es-MX" dirty="0">
                <a:solidFill>
                  <a:srgbClr val="0070C0"/>
                </a:solidFill>
              </a:rPr>
              <a:t>T = (256 – TMR0) * 1 </a:t>
            </a:r>
            <a:r>
              <a:rPr lang="el-GR" dirty="0">
                <a:solidFill>
                  <a:srgbClr val="0070C0"/>
                </a:solidFill>
              </a:rPr>
              <a:t>μ</a:t>
            </a:r>
            <a:r>
              <a:rPr lang="es-AR" dirty="0">
                <a:solidFill>
                  <a:srgbClr val="0070C0"/>
                </a:solidFill>
              </a:rPr>
              <a:t>s </a:t>
            </a:r>
            <a:r>
              <a:rPr lang="es-MX" dirty="0">
                <a:solidFill>
                  <a:srgbClr val="0070C0"/>
                </a:solidFill>
              </a:rPr>
              <a:t>* </a:t>
            </a:r>
            <a:r>
              <a:rPr lang="es-AR" dirty="0">
                <a:solidFill>
                  <a:srgbClr val="FF0000"/>
                </a:solidFill>
              </a:rPr>
              <a:t>64</a:t>
            </a:r>
            <a:r>
              <a:rPr lang="es-AR" dirty="0">
                <a:solidFill>
                  <a:srgbClr val="0070C0"/>
                </a:solidFill>
              </a:rPr>
              <a:t> = 10000 </a:t>
            </a:r>
            <a:r>
              <a:rPr lang="el-GR" dirty="0">
                <a:solidFill>
                  <a:srgbClr val="0070C0"/>
                </a:solidFill>
              </a:rPr>
              <a:t>μ</a:t>
            </a:r>
            <a:r>
              <a:rPr lang="es-AR" dirty="0">
                <a:solidFill>
                  <a:srgbClr val="0070C0"/>
                </a:solidFill>
              </a:rPr>
              <a:t>s</a:t>
            </a:r>
          </a:p>
          <a:p>
            <a:pPr marL="0" indent="0">
              <a:buNone/>
            </a:pPr>
            <a:r>
              <a:rPr lang="es-AR" dirty="0">
                <a:solidFill>
                  <a:srgbClr val="0070C0"/>
                </a:solidFill>
              </a:rPr>
              <a:t>	TMR0 = 256 - 10000/64 =</a:t>
            </a:r>
          </a:p>
          <a:p>
            <a:pPr marL="0" indent="0">
              <a:buNone/>
            </a:pPr>
            <a:r>
              <a:rPr lang="es-AR" dirty="0">
                <a:solidFill>
                  <a:srgbClr val="0070C0"/>
                </a:solidFill>
              </a:rPr>
              <a:t>	TMR0 = 256 – 156,25 = 99,75 = 100</a:t>
            </a:r>
          </a:p>
          <a:p>
            <a:pPr marL="0" indent="0">
              <a:buNone/>
            </a:pPr>
            <a:endParaRPr lang="es-AR" dirty="0"/>
          </a:p>
          <a:p>
            <a:r>
              <a:rPr lang="es-AR" dirty="0"/>
              <a:t>T = (256 – 100) * 1 </a:t>
            </a:r>
            <a:r>
              <a:rPr lang="el-GR" dirty="0"/>
              <a:t>μ</a:t>
            </a:r>
            <a:r>
              <a:rPr lang="es-AR" dirty="0"/>
              <a:t>s * 64 = 9984 </a:t>
            </a:r>
            <a:r>
              <a:rPr lang="el-GR" dirty="0"/>
              <a:t>μ</a:t>
            </a:r>
            <a:r>
              <a:rPr lang="es-AR" dirty="0"/>
              <a:t>s</a:t>
            </a:r>
          </a:p>
          <a:p>
            <a:pPr marL="0" indent="0">
              <a:buNone/>
            </a:pPr>
            <a:endParaRPr lang="es-AR" dirty="0"/>
          </a:p>
          <a:p>
            <a:pPr marL="0" indent="0">
              <a:buNone/>
            </a:pPr>
            <a:r>
              <a:rPr lang="es-AR" dirty="0"/>
              <a:t>Registro OPTION:</a:t>
            </a:r>
            <a:endParaRPr lang="es-AR" dirty="0">
              <a:solidFill>
                <a:srgbClr val="FF0000"/>
              </a:solidFill>
            </a:endParaRP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97D9618D-2E9A-9ACC-7E42-D65EAF3EF4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8CB471F8-25AC-E565-8414-E4ED0434CE56}"/>
              </a:ext>
            </a:extLst>
          </p:cNvPr>
          <p:cNvPicPr>
            <a:picLocks noChangeAspect="1"/>
          </p:cNvPicPr>
          <p:nvPr/>
        </p:nvPicPr>
        <p:blipFill>
          <a:blip r:embed="rId4"/>
          <a:stretch>
            <a:fillRect/>
          </a:stretch>
        </p:blipFill>
        <p:spPr>
          <a:xfrm>
            <a:off x="7798046" y="2979179"/>
            <a:ext cx="2603887" cy="2363722"/>
          </a:xfrm>
          <a:prstGeom prst="rect">
            <a:avLst/>
          </a:prstGeom>
        </p:spPr>
      </p:pic>
      <p:graphicFrame>
        <p:nvGraphicFramePr>
          <p:cNvPr id="9" name="Tabla 8">
            <a:extLst>
              <a:ext uri="{FF2B5EF4-FFF2-40B4-BE49-F238E27FC236}">
                <a16:creationId xmlns:a16="http://schemas.microsoft.com/office/drawing/2014/main" id="{6AD2DE40-96E2-611E-6000-9C150856CF00}"/>
              </a:ext>
            </a:extLst>
          </p:cNvPr>
          <p:cNvGraphicFramePr>
            <a:graphicFrameLocks noGrp="1"/>
          </p:cNvGraphicFramePr>
          <p:nvPr/>
        </p:nvGraphicFramePr>
        <p:xfrm>
          <a:off x="3318011" y="5461252"/>
          <a:ext cx="6940970" cy="732015"/>
        </p:xfrm>
        <a:graphic>
          <a:graphicData uri="http://schemas.openxmlformats.org/drawingml/2006/table">
            <a:tbl>
              <a:tblPr firstRow="1" bandRow="1">
                <a:tableStyleId>{5940675A-B579-460E-94D1-54222C63F5DA}</a:tableStyleId>
              </a:tblPr>
              <a:tblGrid>
                <a:gridCol w="867621">
                  <a:extLst>
                    <a:ext uri="{9D8B030D-6E8A-4147-A177-3AD203B41FA5}">
                      <a16:colId xmlns:a16="http://schemas.microsoft.com/office/drawing/2014/main" val="4189032162"/>
                    </a:ext>
                  </a:extLst>
                </a:gridCol>
                <a:gridCol w="943628">
                  <a:extLst>
                    <a:ext uri="{9D8B030D-6E8A-4147-A177-3AD203B41FA5}">
                      <a16:colId xmlns:a16="http://schemas.microsoft.com/office/drawing/2014/main" val="294409631"/>
                    </a:ext>
                  </a:extLst>
                </a:gridCol>
                <a:gridCol w="791616">
                  <a:extLst>
                    <a:ext uri="{9D8B030D-6E8A-4147-A177-3AD203B41FA5}">
                      <a16:colId xmlns:a16="http://schemas.microsoft.com/office/drawing/2014/main" val="767796657"/>
                    </a:ext>
                  </a:extLst>
                </a:gridCol>
                <a:gridCol w="858337">
                  <a:extLst>
                    <a:ext uri="{9D8B030D-6E8A-4147-A177-3AD203B41FA5}">
                      <a16:colId xmlns:a16="http://schemas.microsoft.com/office/drawing/2014/main" val="2350454090"/>
                    </a:ext>
                  </a:extLst>
                </a:gridCol>
                <a:gridCol w="876905">
                  <a:extLst>
                    <a:ext uri="{9D8B030D-6E8A-4147-A177-3AD203B41FA5}">
                      <a16:colId xmlns:a16="http://schemas.microsoft.com/office/drawing/2014/main" val="3261649070"/>
                    </a:ext>
                  </a:extLst>
                </a:gridCol>
                <a:gridCol w="867621">
                  <a:extLst>
                    <a:ext uri="{9D8B030D-6E8A-4147-A177-3AD203B41FA5}">
                      <a16:colId xmlns:a16="http://schemas.microsoft.com/office/drawing/2014/main" val="864864824"/>
                    </a:ext>
                  </a:extLst>
                </a:gridCol>
                <a:gridCol w="867621">
                  <a:extLst>
                    <a:ext uri="{9D8B030D-6E8A-4147-A177-3AD203B41FA5}">
                      <a16:colId xmlns:a16="http://schemas.microsoft.com/office/drawing/2014/main" val="1011266204"/>
                    </a:ext>
                  </a:extLst>
                </a:gridCol>
                <a:gridCol w="867621">
                  <a:extLst>
                    <a:ext uri="{9D8B030D-6E8A-4147-A177-3AD203B41FA5}">
                      <a16:colId xmlns:a16="http://schemas.microsoft.com/office/drawing/2014/main" val="1322241517"/>
                    </a:ext>
                  </a:extLst>
                </a:gridCol>
              </a:tblGrid>
              <a:tr h="407975">
                <a:tc>
                  <a:txBody>
                    <a:bodyPr/>
                    <a:lstStyle/>
                    <a:p>
                      <a:pPr algn="ctr"/>
                      <a:r>
                        <a:rPr lang="es-AR" sz="1400" b="0" i="0" u="none" strike="noStrike" kern="1200" baseline="0" dirty="0">
                          <a:solidFill>
                            <a:schemeClr val="tx1"/>
                          </a:solidFill>
                          <a:latin typeface="+mn-lt"/>
                          <a:ea typeface="+mn-ea"/>
                          <a:cs typeface="+mn-cs"/>
                        </a:rPr>
                        <a:t>RBPU</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INTEDG</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T0CS</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T0SE</a:t>
                      </a:r>
                      <a:endParaRPr lang="es-AR" sz="1400" dirty="0"/>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PSA</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PS2</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PS1</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PS0</a:t>
                      </a:r>
                      <a:endParaRPr lang="es-AR" sz="1400" dirty="0">
                        <a:solidFill>
                          <a:srgbClr val="FF0000"/>
                        </a:solidFill>
                      </a:endParaRPr>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extLst>
                  <a:ext uri="{0D108BD9-81ED-4DB2-BD59-A6C34878D82A}">
                    <a16:rowId xmlns:a16="http://schemas.microsoft.com/office/drawing/2014/main" val="2751453384"/>
                  </a:ext>
                </a:extLst>
              </a:tr>
            </a:tbl>
          </a:graphicData>
        </a:graphic>
      </p:graphicFrame>
      <p:sp>
        <p:nvSpPr>
          <p:cNvPr id="3" name="Flecha: a la derecha 2">
            <a:extLst>
              <a:ext uri="{FF2B5EF4-FFF2-40B4-BE49-F238E27FC236}">
                <a16:creationId xmlns:a16="http://schemas.microsoft.com/office/drawing/2014/main" id="{EACA664A-F39B-710D-EEE8-5EF75FF6D4ED}"/>
              </a:ext>
            </a:extLst>
          </p:cNvPr>
          <p:cNvSpPr/>
          <p:nvPr/>
        </p:nvSpPr>
        <p:spPr>
          <a:xfrm>
            <a:off x="7251700" y="45418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5099393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6C821-5F96-9DE7-2B74-AFD8E25332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E5FD6D-CD1B-6520-DC9C-BFF2DFB201B7}"/>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986E84F1-BB9D-57A1-9687-BD9D3E6AF218}"/>
              </a:ext>
            </a:extLst>
          </p:cNvPr>
          <p:cNvSpPr>
            <a:spLocks noGrp="1"/>
          </p:cNvSpPr>
          <p:nvPr>
            <p:ph idx="1"/>
          </p:nvPr>
        </p:nvSpPr>
        <p:spPr>
          <a:xfrm>
            <a:off x="735171" y="2373544"/>
            <a:ext cx="9523809" cy="3816486"/>
          </a:xfrm>
        </p:spPr>
        <p:txBody>
          <a:bodyPr vert="horz" lIns="80201" tIns="40100" rIns="80201" bIns="40100" rtlCol="0">
            <a:normAutofit/>
          </a:bodyPr>
          <a:lstStyle/>
          <a:p>
            <a:pPr marL="0" indent="0" algn="ctr">
              <a:buNone/>
            </a:pPr>
            <a:r>
              <a:rPr lang="es-AR" u="sng" dirty="0">
                <a:solidFill>
                  <a:srgbClr val="FF0000"/>
                </a:solidFill>
                <a:effectLst>
                  <a:outerShdw blurRad="38100" dist="38100" dir="2700000" algn="tl">
                    <a:srgbClr val="000000">
                      <a:alpha val="43137"/>
                    </a:srgbClr>
                  </a:outerShdw>
                </a:effectLst>
              </a:rPr>
              <a:t>Calcular valor del TMR0 y </a:t>
            </a:r>
            <a:r>
              <a:rPr lang="es-AR" u="sng" dirty="0" err="1">
                <a:solidFill>
                  <a:srgbClr val="FF0000"/>
                </a:solidFill>
                <a:effectLst>
                  <a:outerShdw blurRad="38100" dist="38100" dir="2700000" algn="tl">
                    <a:srgbClr val="000000">
                      <a:alpha val="43137"/>
                    </a:srgbClr>
                  </a:outerShdw>
                </a:effectLst>
              </a:rPr>
              <a:t>preescaler</a:t>
            </a:r>
            <a:r>
              <a:rPr lang="es-AR" u="sng" dirty="0">
                <a:solidFill>
                  <a:srgbClr val="FF0000"/>
                </a:solidFill>
                <a:effectLst>
                  <a:outerShdw blurRad="38100" dist="38100" dir="2700000" algn="tl">
                    <a:srgbClr val="000000">
                      <a:alpha val="43137"/>
                    </a:srgbClr>
                  </a:outerShdw>
                </a:effectLst>
              </a:rPr>
              <a:t> para:</a:t>
            </a:r>
          </a:p>
          <a:p>
            <a:pPr marL="451136" indent="-451136">
              <a:buAutoNum type="arabicParenR"/>
            </a:pPr>
            <a:r>
              <a:rPr lang="es-AR" dirty="0"/>
              <a:t>40ms</a:t>
            </a:r>
          </a:p>
          <a:p>
            <a:pPr marL="451136" indent="-451136">
              <a:buAutoNum type="arabicParenR"/>
            </a:pPr>
            <a:r>
              <a:rPr lang="es-AR" dirty="0"/>
              <a:t>5ms</a:t>
            </a:r>
          </a:p>
          <a:p>
            <a:pPr marL="451136" indent="-451136">
              <a:buAutoNum type="arabicParenR"/>
            </a:pPr>
            <a:r>
              <a:rPr lang="es-AR" dirty="0"/>
              <a:t>12ms</a:t>
            </a:r>
          </a:p>
          <a:p>
            <a:pPr marL="451136" indent="-451136">
              <a:buAutoNum type="arabicParenR"/>
            </a:pPr>
            <a:r>
              <a:rPr lang="es-AR" dirty="0"/>
              <a:t>51ms</a:t>
            </a:r>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CAA55DB1-4464-4709-8B75-425ACD8EBE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BFD29FD7-B823-23DC-46F7-A2FC2B80CB7F}"/>
              </a:ext>
            </a:extLst>
          </p:cNvPr>
          <p:cNvPicPr>
            <a:picLocks noChangeAspect="1"/>
          </p:cNvPicPr>
          <p:nvPr/>
        </p:nvPicPr>
        <p:blipFill>
          <a:blip r:embed="rId4"/>
          <a:stretch>
            <a:fillRect/>
          </a:stretch>
        </p:blipFill>
        <p:spPr>
          <a:xfrm>
            <a:off x="7054012" y="3218479"/>
            <a:ext cx="3304547" cy="2999758"/>
          </a:xfrm>
          <a:prstGeom prst="rect">
            <a:avLst/>
          </a:prstGeom>
        </p:spPr>
      </p:pic>
      <p:graphicFrame>
        <p:nvGraphicFramePr>
          <p:cNvPr id="9" name="Tabla 8">
            <a:extLst>
              <a:ext uri="{FF2B5EF4-FFF2-40B4-BE49-F238E27FC236}">
                <a16:creationId xmlns:a16="http://schemas.microsoft.com/office/drawing/2014/main" id="{E27B0896-076D-B2A9-7E92-955718896484}"/>
              </a:ext>
            </a:extLst>
          </p:cNvPr>
          <p:cNvGraphicFramePr>
            <a:graphicFrameLocks noGrp="1"/>
          </p:cNvGraphicFramePr>
          <p:nvPr>
            <p:extLst>
              <p:ext uri="{D42A27DB-BD31-4B8C-83A1-F6EECF244321}">
                <p14:modId xmlns:p14="http://schemas.microsoft.com/office/powerpoint/2010/main" val="3911748704"/>
              </p:ext>
            </p:extLst>
          </p:nvPr>
        </p:nvGraphicFramePr>
        <p:xfrm>
          <a:off x="1101744" y="5753496"/>
          <a:ext cx="5230590" cy="769541"/>
        </p:xfrm>
        <a:graphic>
          <a:graphicData uri="http://schemas.openxmlformats.org/drawingml/2006/table">
            <a:tbl>
              <a:tblPr firstRow="1" bandRow="1">
                <a:tableStyleId>{5940675A-B579-460E-94D1-54222C63F5DA}</a:tableStyleId>
              </a:tblPr>
              <a:tblGrid>
                <a:gridCol w="653824">
                  <a:extLst>
                    <a:ext uri="{9D8B030D-6E8A-4147-A177-3AD203B41FA5}">
                      <a16:colId xmlns:a16="http://schemas.microsoft.com/office/drawing/2014/main" val="4189032162"/>
                    </a:ext>
                  </a:extLst>
                </a:gridCol>
                <a:gridCol w="711099">
                  <a:extLst>
                    <a:ext uri="{9D8B030D-6E8A-4147-A177-3AD203B41FA5}">
                      <a16:colId xmlns:a16="http://schemas.microsoft.com/office/drawing/2014/main" val="294409631"/>
                    </a:ext>
                  </a:extLst>
                </a:gridCol>
                <a:gridCol w="596547">
                  <a:extLst>
                    <a:ext uri="{9D8B030D-6E8A-4147-A177-3AD203B41FA5}">
                      <a16:colId xmlns:a16="http://schemas.microsoft.com/office/drawing/2014/main" val="767796657"/>
                    </a:ext>
                  </a:extLst>
                </a:gridCol>
                <a:gridCol w="653824">
                  <a:extLst>
                    <a:ext uri="{9D8B030D-6E8A-4147-A177-3AD203B41FA5}">
                      <a16:colId xmlns:a16="http://schemas.microsoft.com/office/drawing/2014/main" val="2350454090"/>
                    </a:ext>
                  </a:extLst>
                </a:gridCol>
                <a:gridCol w="653824">
                  <a:extLst>
                    <a:ext uri="{9D8B030D-6E8A-4147-A177-3AD203B41FA5}">
                      <a16:colId xmlns:a16="http://schemas.microsoft.com/office/drawing/2014/main" val="3261649070"/>
                    </a:ext>
                  </a:extLst>
                </a:gridCol>
                <a:gridCol w="653824">
                  <a:extLst>
                    <a:ext uri="{9D8B030D-6E8A-4147-A177-3AD203B41FA5}">
                      <a16:colId xmlns:a16="http://schemas.microsoft.com/office/drawing/2014/main" val="864864824"/>
                    </a:ext>
                  </a:extLst>
                </a:gridCol>
                <a:gridCol w="653824">
                  <a:extLst>
                    <a:ext uri="{9D8B030D-6E8A-4147-A177-3AD203B41FA5}">
                      <a16:colId xmlns:a16="http://schemas.microsoft.com/office/drawing/2014/main" val="1011266204"/>
                    </a:ext>
                  </a:extLst>
                </a:gridCol>
                <a:gridCol w="653824">
                  <a:extLst>
                    <a:ext uri="{9D8B030D-6E8A-4147-A177-3AD203B41FA5}">
                      <a16:colId xmlns:a16="http://schemas.microsoft.com/office/drawing/2014/main" val="1322241517"/>
                    </a:ext>
                  </a:extLst>
                </a:gridCol>
              </a:tblGrid>
              <a:tr h="445501">
                <a:tc>
                  <a:txBody>
                    <a:bodyPr/>
                    <a:lstStyle/>
                    <a:p>
                      <a:pPr algn="ctr"/>
                      <a:r>
                        <a:rPr lang="es-AR" sz="1200" b="0" i="0" u="none" strike="noStrike" kern="1200" baseline="0" dirty="0">
                          <a:solidFill>
                            <a:schemeClr val="tx1"/>
                          </a:solidFill>
                          <a:latin typeface="+mn-lt"/>
                          <a:ea typeface="+mn-ea"/>
                          <a:cs typeface="+mn-cs"/>
                        </a:rPr>
                        <a:t>RBPU</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INTEDG</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T0CS</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T0SE</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PSA</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PS2</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PS1</a:t>
                      </a:r>
                      <a:endParaRPr lang="es-AR" sz="1200" dirty="0"/>
                    </a:p>
                  </a:txBody>
                  <a:tcPr marL="80201" marR="80201" marT="40100" marB="40100"/>
                </a:tc>
                <a:tc>
                  <a:txBody>
                    <a:bodyPr/>
                    <a:lstStyle/>
                    <a:p>
                      <a:pPr algn="ctr"/>
                      <a:r>
                        <a:rPr lang="es-AR" sz="1200" b="0" i="0" u="none" strike="noStrike" kern="1200" baseline="0" dirty="0">
                          <a:solidFill>
                            <a:schemeClr val="tx1"/>
                          </a:solidFill>
                          <a:latin typeface="+mn-lt"/>
                          <a:ea typeface="+mn-ea"/>
                          <a:cs typeface="+mn-cs"/>
                        </a:rPr>
                        <a:t>PS0</a:t>
                      </a:r>
                      <a:endParaRPr lang="es-AR" sz="1200" dirty="0"/>
                    </a:p>
                  </a:txBody>
                  <a:tcPr marL="80201" marR="80201" marT="40100" marB="40100"/>
                </a:tc>
                <a:extLst>
                  <a:ext uri="{0D108BD9-81ED-4DB2-BD59-A6C34878D82A}">
                    <a16:rowId xmlns:a16="http://schemas.microsoft.com/office/drawing/2014/main" val="3377763911"/>
                  </a:ext>
                </a:extLst>
              </a:tr>
              <a:tr h="320802">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tc>
                  <a:txBody>
                    <a:bodyPr/>
                    <a:lstStyle/>
                    <a:p>
                      <a:pPr algn="ctr"/>
                      <a:endParaRPr lang="es-AR" sz="1600" dirty="0"/>
                    </a:p>
                  </a:txBody>
                  <a:tcPr marL="80201" marR="80201" marT="40100" marB="40100"/>
                </a:tc>
                <a:extLst>
                  <a:ext uri="{0D108BD9-81ED-4DB2-BD59-A6C34878D82A}">
                    <a16:rowId xmlns:a16="http://schemas.microsoft.com/office/drawing/2014/main" val="2751453384"/>
                  </a:ext>
                </a:extLst>
              </a:tr>
            </a:tbl>
          </a:graphicData>
        </a:graphic>
      </p:graphicFrame>
    </p:spTree>
    <p:extLst>
      <p:ext uri="{BB962C8B-B14F-4D97-AF65-F5344CB8AC3E}">
        <p14:creationId xmlns:p14="http://schemas.microsoft.com/office/powerpoint/2010/main" val="27692372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6F1C-8052-0634-B7DF-B06D31660A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1EC823-89C0-6A5F-AA8B-784B0B1835F5}"/>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C44E72D8-0954-330C-F94C-928EE097780A}"/>
              </a:ext>
            </a:extLst>
          </p:cNvPr>
          <p:cNvSpPr>
            <a:spLocks noGrp="1"/>
          </p:cNvSpPr>
          <p:nvPr>
            <p:ph idx="1"/>
          </p:nvPr>
        </p:nvSpPr>
        <p:spPr>
          <a:xfrm>
            <a:off x="735171" y="2373544"/>
            <a:ext cx="9523809" cy="3816486"/>
          </a:xfrm>
        </p:spPr>
        <p:txBody>
          <a:bodyPr vert="horz" lIns="80201" tIns="40100" rIns="80201" bIns="40100" rtlCol="0">
            <a:normAutofit fontScale="850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1) 40ms</a:t>
            </a:r>
          </a:p>
          <a:p>
            <a:pPr marL="0" indent="0">
              <a:buNone/>
            </a:pPr>
            <a:r>
              <a:rPr lang="es-AR" dirty="0"/>
              <a:t>Elegimos </a:t>
            </a:r>
            <a:r>
              <a:rPr lang="es-AR" dirty="0" err="1"/>
              <a:t>preescaler</a:t>
            </a:r>
            <a:r>
              <a:rPr lang="es-AR" dirty="0"/>
              <a:t> </a:t>
            </a:r>
            <a:r>
              <a:rPr lang="es-AR" dirty="0">
                <a:solidFill>
                  <a:srgbClr val="8E0028"/>
                </a:solidFill>
              </a:rPr>
              <a:t>1:256</a:t>
            </a:r>
          </a:p>
          <a:p>
            <a:pPr marL="0" indent="0">
              <a:buNone/>
            </a:pPr>
            <a:r>
              <a:rPr lang="es-MX" dirty="0"/>
              <a:t>	</a:t>
            </a:r>
            <a:r>
              <a:rPr lang="es-MX" dirty="0">
                <a:solidFill>
                  <a:schemeClr val="accent1"/>
                </a:solidFill>
              </a:rPr>
              <a:t>T = (256 – TMR0) * 1 </a:t>
            </a:r>
            <a:r>
              <a:rPr lang="el-GR" dirty="0">
                <a:solidFill>
                  <a:schemeClr val="accent1"/>
                </a:solidFill>
              </a:rPr>
              <a:t>μ</a:t>
            </a:r>
            <a:r>
              <a:rPr lang="es-AR" dirty="0">
                <a:solidFill>
                  <a:schemeClr val="accent1"/>
                </a:solidFill>
              </a:rPr>
              <a:t>s </a:t>
            </a:r>
            <a:r>
              <a:rPr lang="es-MX" dirty="0">
                <a:solidFill>
                  <a:schemeClr val="accent1"/>
                </a:solidFill>
              </a:rPr>
              <a:t>* </a:t>
            </a:r>
            <a:r>
              <a:rPr lang="es-AR" dirty="0">
                <a:solidFill>
                  <a:srgbClr val="FF0000"/>
                </a:solidFill>
              </a:rPr>
              <a:t>256</a:t>
            </a:r>
            <a:r>
              <a:rPr lang="es-AR" dirty="0">
                <a:solidFill>
                  <a:schemeClr val="accent1"/>
                </a:solidFill>
              </a:rPr>
              <a:t> = 40000 </a:t>
            </a:r>
            <a:r>
              <a:rPr lang="el-GR" dirty="0">
                <a:solidFill>
                  <a:schemeClr val="accent1"/>
                </a:solidFill>
              </a:rPr>
              <a:t>μ</a:t>
            </a:r>
            <a:r>
              <a:rPr lang="es-AR" dirty="0">
                <a:solidFill>
                  <a:schemeClr val="accent1"/>
                </a:solidFill>
              </a:rPr>
              <a:t>s</a:t>
            </a:r>
          </a:p>
          <a:p>
            <a:pPr marL="0" indent="0">
              <a:buNone/>
            </a:pPr>
            <a:r>
              <a:rPr lang="es-AR" dirty="0">
                <a:solidFill>
                  <a:schemeClr val="accent1"/>
                </a:solidFill>
              </a:rPr>
              <a:t>	TMR0 = 256 - 40000/256 =</a:t>
            </a:r>
          </a:p>
          <a:p>
            <a:pPr marL="0" indent="0">
              <a:buNone/>
            </a:pPr>
            <a:r>
              <a:rPr lang="es-AR" dirty="0">
                <a:solidFill>
                  <a:schemeClr val="accent1"/>
                </a:solidFill>
              </a:rPr>
              <a:t>	TMR0 = 256 – 156,25 = 99,75 = 100</a:t>
            </a:r>
          </a:p>
          <a:p>
            <a:pPr marL="0" indent="0">
              <a:buNone/>
            </a:pPr>
            <a:endParaRPr lang="es-AR" dirty="0"/>
          </a:p>
          <a:p>
            <a:r>
              <a:rPr lang="es-AR" dirty="0">
                <a:solidFill>
                  <a:srgbClr val="FF0000"/>
                </a:solidFill>
              </a:rPr>
              <a:t>T = (256 – 100) * 1 </a:t>
            </a:r>
            <a:r>
              <a:rPr lang="el-GR" dirty="0">
                <a:solidFill>
                  <a:srgbClr val="FF0000"/>
                </a:solidFill>
              </a:rPr>
              <a:t>μ</a:t>
            </a:r>
            <a:r>
              <a:rPr lang="es-AR" dirty="0">
                <a:solidFill>
                  <a:srgbClr val="FF0000"/>
                </a:solidFill>
              </a:rPr>
              <a:t>s * 256 = 39936 </a:t>
            </a:r>
            <a:r>
              <a:rPr lang="el-GR" dirty="0">
                <a:solidFill>
                  <a:srgbClr val="FF0000"/>
                </a:solidFill>
              </a:rPr>
              <a:t>μ</a:t>
            </a:r>
            <a:r>
              <a:rPr lang="es-AR" dirty="0">
                <a:solidFill>
                  <a:srgbClr val="FF0000"/>
                </a:solidFill>
              </a:rPr>
              <a:t>s</a:t>
            </a:r>
          </a:p>
          <a:p>
            <a:pPr marL="0" indent="0">
              <a:buNone/>
            </a:pPr>
            <a:endParaRPr lang="es-AR" dirty="0"/>
          </a:p>
          <a:p>
            <a:pPr marL="0" indent="0">
              <a:buNone/>
            </a:pPr>
            <a:r>
              <a:rPr lang="es-AR" dirty="0">
                <a:solidFill>
                  <a:srgbClr val="FF0000"/>
                </a:solidFill>
              </a:rPr>
              <a:t>Registro OPTION</a:t>
            </a:r>
            <a:r>
              <a:rPr lang="es-AR" dirty="0"/>
              <a:t>:</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F17E81F4-7E17-9B1F-525A-8EFDC1687D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46866F08-2FD3-6396-A189-C05D33B6291D}"/>
              </a:ext>
            </a:extLst>
          </p:cNvPr>
          <p:cNvPicPr>
            <a:picLocks noChangeAspect="1"/>
          </p:cNvPicPr>
          <p:nvPr/>
        </p:nvPicPr>
        <p:blipFill>
          <a:blip r:embed="rId4"/>
          <a:stretch>
            <a:fillRect/>
          </a:stretch>
        </p:blipFill>
        <p:spPr>
          <a:xfrm>
            <a:off x="8223090" y="2979179"/>
            <a:ext cx="2178843" cy="1977881"/>
          </a:xfrm>
          <a:prstGeom prst="rect">
            <a:avLst/>
          </a:prstGeom>
        </p:spPr>
      </p:pic>
      <p:graphicFrame>
        <p:nvGraphicFramePr>
          <p:cNvPr id="9" name="Tabla 8">
            <a:extLst>
              <a:ext uri="{FF2B5EF4-FFF2-40B4-BE49-F238E27FC236}">
                <a16:creationId xmlns:a16="http://schemas.microsoft.com/office/drawing/2014/main" id="{A0D8B128-F512-FFCD-0816-EC092E05571D}"/>
              </a:ext>
            </a:extLst>
          </p:cNvPr>
          <p:cNvGraphicFramePr>
            <a:graphicFrameLocks noGrp="1"/>
          </p:cNvGraphicFramePr>
          <p:nvPr/>
        </p:nvGraphicFramePr>
        <p:xfrm>
          <a:off x="3318011" y="5461252"/>
          <a:ext cx="5844287" cy="732015"/>
        </p:xfrm>
        <a:graphic>
          <a:graphicData uri="http://schemas.openxmlformats.org/drawingml/2006/table">
            <a:tbl>
              <a:tblPr firstRow="1" bandRow="1">
                <a:tableStyleId>{5940675A-B579-460E-94D1-54222C63F5DA}</a:tableStyleId>
              </a:tblPr>
              <a:tblGrid>
                <a:gridCol w="730536">
                  <a:extLst>
                    <a:ext uri="{9D8B030D-6E8A-4147-A177-3AD203B41FA5}">
                      <a16:colId xmlns:a16="http://schemas.microsoft.com/office/drawing/2014/main" val="4189032162"/>
                    </a:ext>
                  </a:extLst>
                </a:gridCol>
                <a:gridCol w="794532">
                  <a:extLst>
                    <a:ext uri="{9D8B030D-6E8A-4147-A177-3AD203B41FA5}">
                      <a16:colId xmlns:a16="http://schemas.microsoft.com/office/drawing/2014/main" val="294409631"/>
                    </a:ext>
                  </a:extLst>
                </a:gridCol>
                <a:gridCol w="666539">
                  <a:extLst>
                    <a:ext uri="{9D8B030D-6E8A-4147-A177-3AD203B41FA5}">
                      <a16:colId xmlns:a16="http://schemas.microsoft.com/office/drawing/2014/main" val="767796657"/>
                    </a:ext>
                  </a:extLst>
                </a:gridCol>
                <a:gridCol w="730536">
                  <a:extLst>
                    <a:ext uri="{9D8B030D-6E8A-4147-A177-3AD203B41FA5}">
                      <a16:colId xmlns:a16="http://schemas.microsoft.com/office/drawing/2014/main" val="2350454090"/>
                    </a:ext>
                  </a:extLst>
                </a:gridCol>
                <a:gridCol w="730536">
                  <a:extLst>
                    <a:ext uri="{9D8B030D-6E8A-4147-A177-3AD203B41FA5}">
                      <a16:colId xmlns:a16="http://schemas.microsoft.com/office/drawing/2014/main" val="3261649070"/>
                    </a:ext>
                  </a:extLst>
                </a:gridCol>
                <a:gridCol w="730536">
                  <a:extLst>
                    <a:ext uri="{9D8B030D-6E8A-4147-A177-3AD203B41FA5}">
                      <a16:colId xmlns:a16="http://schemas.microsoft.com/office/drawing/2014/main" val="864864824"/>
                    </a:ext>
                  </a:extLst>
                </a:gridCol>
                <a:gridCol w="730536">
                  <a:extLst>
                    <a:ext uri="{9D8B030D-6E8A-4147-A177-3AD203B41FA5}">
                      <a16:colId xmlns:a16="http://schemas.microsoft.com/office/drawing/2014/main" val="1011266204"/>
                    </a:ext>
                  </a:extLst>
                </a:gridCol>
                <a:gridCol w="730536">
                  <a:extLst>
                    <a:ext uri="{9D8B030D-6E8A-4147-A177-3AD203B41FA5}">
                      <a16:colId xmlns:a16="http://schemas.microsoft.com/office/drawing/2014/main" val="1322241517"/>
                    </a:ext>
                  </a:extLst>
                </a:gridCol>
              </a:tblGrid>
              <a:tr h="407975">
                <a:tc>
                  <a:txBody>
                    <a:bodyPr/>
                    <a:lstStyle/>
                    <a:p>
                      <a:pPr algn="ctr"/>
                      <a:r>
                        <a:rPr lang="es-AR" sz="1400" b="0" i="0" u="none" strike="noStrike" kern="1200" baseline="0" dirty="0">
                          <a:solidFill>
                            <a:schemeClr val="tx1"/>
                          </a:solidFill>
                          <a:latin typeface="+mn-lt"/>
                          <a:ea typeface="+mn-ea"/>
                          <a:cs typeface="+mn-cs"/>
                        </a:rPr>
                        <a:t>RBPU</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INTEDG</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T0CS</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T0SE</a:t>
                      </a:r>
                      <a:endParaRPr lang="es-AR" sz="1400" dirty="0"/>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PSA</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PS2</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PS1</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PS0</a:t>
                      </a:r>
                      <a:endParaRPr lang="es-AR" sz="1400" dirty="0">
                        <a:solidFill>
                          <a:srgbClr val="FF0000"/>
                        </a:solidFill>
                      </a:endParaRPr>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1</a:t>
                      </a:r>
                    </a:p>
                  </a:txBody>
                  <a:tcPr marL="80201" marR="80201" marT="40100" marB="40100"/>
                </a:tc>
                <a:extLst>
                  <a:ext uri="{0D108BD9-81ED-4DB2-BD59-A6C34878D82A}">
                    <a16:rowId xmlns:a16="http://schemas.microsoft.com/office/drawing/2014/main" val="2751453384"/>
                  </a:ext>
                </a:extLst>
              </a:tr>
            </a:tbl>
          </a:graphicData>
        </a:graphic>
      </p:graphicFrame>
      <p:sp>
        <p:nvSpPr>
          <p:cNvPr id="3" name="Flecha: a la derecha 2">
            <a:extLst>
              <a:ext uri="{FF2B5EF4-FFF2-40B4-BE49-F238E27FC236}">
                <a16:creationId xmlns:a16="http://schemas.microsoft.com/office/drawing/2014/main" id="{6080109E-25E2-2365-8E21-34EFC283A92F}"/>
              </a:ext>
            </a:extLst>
          </p:cNvPr>
          <p:cNvSpPr/>
          <p:nvPr/>
        </p:nvSpPr>
        <p:spPr>
          <a:xfrm>
            <a:off x="7619755" y="46942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2394885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FEDD3-5214-7FD0-2B25-EAB8727F17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2BF927-8439-4CD3-23E8-90356B5D6166}"/>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9F69E518-14F4-BA7D-913C-3D37808748CC}"/>
              </a:ext>
            </a:extLst>
          </p:cNvPr>
          <p:cNvSpPr>
            <a:spLocks noGrp="1"/>
          </p:cNvSpPr>
          <p:nvPr>
            <p:ph idx="1"/>
          </p:nvPr>
        </p:nvSpPr>
        <p:spPr>
          <a:xfrm>
            <a:off x="735171" y="2373544"/>
            <a:ext cx="9523809" cy="3816486"/>
          </a:xfrm>
        </p:spPr>
        <p:txBody>
          <a:bodyPr vert="horz" lIns="80201" tIns="40100" rIns="80201" bIns="40100" rtlCol="0">
            <a:normAutofit fontScale="850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2) 5ms</a:t>
            </a:r>
          </a:p>
          <a:p>
            <a:pPr marL="0" indent="0">
              <a:buNone/>
            </a:pPr>
            <a:r>
              <a:rPr lang="es-AR" dirty="0"/>
              <a:t>Elegimos </a:t>
            </a:r>
            <a:r>
              <a:rPr lang="es-AR" dirty="0" err="1"/>
              <a:t>preescaler</a:t>
            </a:r>
            <a:r>
              <a:rPr lang="es-AR" dirty="0"/>
              <a:t> </a:t>
            </a:r>
            <a:r>
              <a:rPr lang="es-AR" dirty="0">
                <a:solidFill>
                  <a:srgbClr val="8E0028"/>
                </a:solidFill>
              </a:rPr>
              <a:t>1:32</a:t>
            </a:r>
          </a:p>
          <a:p>
            <a:pPr marL="0" indent="0">
              <a:buNone/>
            </a:pPr>
            <a:r>
              <a:rPr lang="es-MX" dirty="0"/>
              <a:t>	</a:t>
            </a:r>
            <a:r>
              <a:rPr lang="es-MX" dirty="0">
                <a:solidFill>
                  <a:schemeClr val="accent1"/>
                </a:solidFill>
              </a:rPr>
              <a:t>T = (256 – TMR0) * 1 </a:t>
            </a:r>
            <a:r>
              <a:rPr lang="el-GR" dirty="0">
                <a:solidFill>
                  <a:schemeClr val="accent1"/>
                </a:solidFill>
              </a:rPr>
              <a:t>μ</a:t>
            </a:r>
            <a:r>
              <a:rPr lang="es-AR" dirty="0">
                <a:solidFill>
                  <a:schemeClr val="accent1"/>
                </a:solidFill>
              </a:rPr>
              <a:t>s </a:t>
            </a:r>
            <a:r>
              <a:rPr lang="es-MX" dirty="0">
                <a:solidFill>
                  <a:schemeClr val="accent1"/>
                </a:solidFill>
              </a:rPr>
              <a:t>* </a:t>
            </a:r>
            <a:r>
              <a:rPr lang="es-AR" dirty="0">
                <a:solidFill>
                  <a:srgbClr val="FF0000"/>
                </a:solidFill>
              </a:rPr>
              <a:t>32</a:t>
            </a:r>
            <a:r>
              <a:rPr lang="es-AR" dirty="0">
                <a:solidFill>
                  <a:schemeClr val="accent1"/>
                </a:solidFill>
              </a:rPr>
              <a:t> = 5000 </a:t>
            </a:r>
            <a:r>
              <a:rPr lang="el-GR" dirty="0">
                <a:solidFill>
                  <a:schemeClr val="accent1"/>
                </a:solidFill>
              </a:rPr>
              <a:t>μ</a:t>
            </a:r>
            <a:r>
              <a:rPr lang="es-AR" dirty="0">
                <a:solidFill>
                  <a:schemeClr val="accent1"/>
                </a:solidFill>
              </a:rPr>
              <a:t>s</a:t>
            </a:r>
          </a:p>
          <a:p>
            <a:pPr marL="0" indent="0">
              <a:buNone/>
            </a:pPr>
            <a:r>
              <a:rPr lang="es-AR" dirty="0">
                <a:solidFill>
                  <a:schemeClr val="accent1"/>
                </a:solidFill>
              </a:rPr>
              <a:t>	TMR0 = 256 – 5000/32 =</a:t>
            </a:r>
          </a:p>
          <a:p>
            <a:pPr marL="0" indent="0">
              <a:buNone/>
            </a:pPr>
            <a:r>
              <a:rPr lang="es-AR" dirty="0">
                <a:solidFill>
                  <a:schemeClr val="accent1"/>
                </a:solidFill>
              </a:rPr>
              <a:t>	TMR0 = 256 – 156,25 = 99,75 = 100</a:t>
            </a:r>
          </a:p>
          <a:p>
            <a:pPr marL="0" indent="0">
              <a:buNone/>
            </a:pPr>
            <a:endParaRPr lang="es-AR" dirty="0"/>
          </a:p>
          <a:p>
            <a:r>
              <a:rPr lang="es-AR" dirty="0">
                <a:solidFill>
                  <a:srgbClr val="FF0000"/>
                </a:solidFill>
              </a:rPr>
              <a:t>T = (256 – 100) * 1 </a:t>
            </a:r>
            <a:r>
              <a:rPr lang="el-GR" dirty="0">
                <a:solidFill>
                  <a:srgbClr val="FF0000"/>
                </a:solidFill>
              </a:rPr>
              <a:t>μ</a:t>
            </a:r>
            <a:r>
              <a:rPr lang="es-AR" dirty="0">
                <a:solidFill>
                  <a:srgbClr val="FF0000"/>
                </a:solidFill>
              </a:rPr>
              <a:t>s * 32 = 4992 </a:t>
            </a:r>
            <a:r>
              <a:rPr lang="el-GR" dirty="0">
                <a:solidFill>
                  <a:srgbClr val="FF0000"/>
                </a:solidFill>
              </a:rPr>
              <a:t>μ</a:t>
            </a:r>
            <a:r>
              <a:rPr lang="es-AR" dirty="0">
                <a:solidFill>
                  <a:srgbClr val="FF0000"/>
                </a:solidFill>
              </a:rPr>
              <a:t>s</a:t>
            </a:r>
          </a:p>
          <a:p>
            <a:pPr marL="0" indent="0">
              <a:buNone/>
            </a:pPr>
            <a:endParaRPr lang="es-AR" dirty="0"/>
          </a:p>
          <a:p>
            <a:pPr marL="0" indent="0">
              <a:buNone/>
            </a:pPr>
            <a:r>
              <a:rPr lang="es-AR" dirty="0">
                <a:solidFill>
                  <a:srgbClr val="FF0000"/>
                </a:solidFill>
              </a:rPr>
              <a:t>Registro OPTION:</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C065F955-471B-D632-0C36-22774734C6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D4ACE14F-27D0-CDF4-49E5-4B71A75DEB4B}"/>
              </a:ext>
            </a:extLst>
          </p:cNvPr>
          <p:cNvPicPr>
            <a:picLocks noChangeAspect="1"/>
          </p:cNvPicPr>
          <p:nvPr/>
        </p:nvPicPr>
        <p:blipFill>
          <a:blip r:embed="rId4"/>
          <a:stretch>
            <a:fillRect/>
          </a:stretch>
        </p:blipFill>
        <p:spPr>
          <a:xfrm>
            <a:off x="8223090" y="2979179"/>
            <a:ext cx="2178843" cy="1977881"/>
          </a:xfrm>
          <a:prstGeom prst="rect">
            <a:avLst/>
          </a:prstGeom>
        </p:spPr>
      </p:pic>
      <p:graphicFrame>
        <p:nvGraphicFramePr>
          <p:cNvPr id="9" name="Tabla 8">
            <a:extLst>
              <a:ext uri="{FF2B5EF4-FFF2-40B4-BE49-F238E27FC236}">
                <a16:creationId xmlns:a16="http://schemas.microsoft.com/office/drawing/2014/main" id="{1F1956D6-98EA-68BB-C62B-BAE3EEA5D3F0}"/>
              </a:ext>
            </a:extLst>
          </p:cNvPr>
          <p:cNvGraphicFramePr>
            <a:graphicFrameLocks noGrp="1"/>
          </p:cNvGraphicFramePr>
          <p:nvPr/>
        </p:nvGraphicFramePr>
        <p:xfrm>
          <a:off x="3318011" y="5461252"/>
          <a:ext cx="5844287" cy="732015"/>
        </p:xfrm>
        <a:graphic>
          <a:graphicData uri="http://schemas.openxmlformats.org/drawingml/2006/table">
            <a:tbl>
              <a:tblPr firstRow="1" bandRow="1">
                <a:tableStyleId>{5940675A-B579-460E-94D1-54222C63F5DA}</a:tableStyleId>
              </a:tblPr>
              <a:tblGrid>
                <a:gridCol w="730536">
                  <a:extLst>
                    <a:ext uri="{9D8B030D-6E8A-4147-A177-3AD203B41FA5}">
                      <a16:colId xmlns:a16="http://schemas.microsoft.com/office/drawing/2014/main" val="4189032162"/>
                    </a:ext>
                  </a:extLst>
                </a:gridCol>
                <a:gridCol w="794532">
                  <a:extLst>
                    <a:ext uri="{9D8B030D-6E8A-4147-A177-3AD203B41FA5}">
                      <a16:colId xmlns:a16="http://schemas.microsoft.com/office/drawing/2014/main" val="294409631"/>
                    </a:ext>
                  </a:extLst>
                </a:gridCol>
                <a:gridCol w="666539">
                  <a:extLst>
                    <a:ext uri="{9D8B030D-6E8A-4147-A177-3AD203B41FA5}">
                      <a16:colId xmlns:a16="http://schemas.microsoft.com/office/drawing/2014/main" val="767796657"/>
                    </a:ext>
                  </a:extLst>
                </a:gridCol>
                <a:gridCol w="730536">
                  <a:extLst>
                    <a:ext uri="{9D8B030D-6E8A-4147-A177-3AD203B41FA5}">
                      <a16:colId xmlns:a16="http://schemas.microsoft.com/office/drawing/2014/main" val="2350454090"/>
                    </a:ext>
                  </a:extLst>
                </a:gridCol>
                <a:gridCol w="730536">
                  <a:extLst>
                    <a:ext uri="{9D8B030D-6E8A-4147-A177-3AD203B41FA5}">
                      <a16:colId xmlns:a16="http://schemas.microsoft.com/office/drawing/2014/main" val="3261649070"/>
                    </a:ext>
                  </a:extLst>
                </a:gridCol>
                <a:gridCol w="730536">
                  <a:extLst>
                    <a:ext uri="{9D8B030D-6E8A-4147-A177-3AD203B41FA5}">
                      <a16:colId xmlns:a16="http://schemas.microsoft.com/office/drawing/2014/main" val="864864824"/>
                    </a:ext>
                  </a:extLst>
                </a:gridCol>
                <a:gridCol w="730536">
                  <a:extLst>
                    <a:ext uri="{9D8B030D-6E8A-4147-A177-3AD203B41FA5}">
                      <a16:colId xmlns:a16="http://schemas.microsoft.com/office/drawing/2014/main" val="1011266204"/>
                    </a:ext>
                  </a:extLst>
                </a:gridCol>
                <a:gridCol w="730536">
                  <a:extLst>
                    <a:ext uri="{9D8B030D-6E8A-4147-A177-3AD203B41FA5}">
                      <a16:colId xmlns:a16="http://schemas.microsoft.com/office/drawing/2014/main" val="1322241517"/>
                    </a:ext>
                  </a:extLst>
                </a:gridCol>
              </a:tblGrid>
              <a:tr h="407975">
                <a:tc>
                  <a:txBody>
                    <a:bodyPr/>
                    <a:lstStyle/>
                    <a:p>
                      <a:pPr algn="ctr"/>
                      <a:r>
                        <a:rPr lang="es-AR" sz="1400" b="0" i="0" u="none" strike="noStrike" kern="1200" baseline="0" dirty="0">
                          <a:solidFill>
                            <a:schemeClr val="tx1"/>
                          </a:solidFill>
                          <a:latin typeface="+mn-lt"/>
                          <a:ea typeface="+mn-ea"/>
                          <a:cs typeface="+mn-cs"/>
                        </a:rPr>
                        <a:t>RBPU</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INTEDG</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T0CS</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T0SE</a:t>
                      </a:r>
                      <a:endParaRPr lang="es-AR" sz="1400" dirty="0"/>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PSA</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PS2</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PS1</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PS0</a:t>
                      </a:r>
                      <a:endParaRPr lang="es-AR" sz="1400" dirty="0">
                        <a:solidFill>
                          <a:srgbClr val="FF0000"/>
                        </a:solidFill>
                      </a:endParaRPr>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0</a:t>
                      </a:r>
                    </a:p>
                  </a:txBody>
                  <a:tcPr marL="80201" marR="80201" marT="40100" marB="40100"/>
                </a:tc>
                <a:extLst>
                  <a:ext uri="{0D108BD9-81ED-4DB2-BD59-A6C34878D82A}">
                    <a16:rowId xmlns:a16="http://schemas.microsoft.com/office/drawing/2014/main" val="2751453384"/>
                  </a:ext>
                </a:extLst>
              </a:tr>
            </a:tbl>
          </a:graphicData>
        </a:graphic>
      </p:graphicFrame>
      <p:sp>
        <p:nvSpPr>
          <p:cNvPr id="3" name="Flecha: a la derecha 2">
            <a:extLst>
              <a:ext uri="{FF2B5EF4-FFF2-40B4-BE49-F238E27FC236}">
                <a16:creationId xmlns:a16="http://schemas.microsoft.com/office/drawing/2014/main" id="{C99B90A3-2028-8706-1C09-1E5BBDECC1DB}"/>
              </a:ext>
            </a:extLst>
          </p:cNvPr>
          <p:cNvSpPr/>
          <p:nvPr/>
        </p:nvSpPr>
        <p:spPr>
          <a:xfrm>
            <a:off x="7695955" y="40084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517222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76760-3CF1-E21B-2A6C-86B83BD9E6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F7F565-A0E7-16F6-5D3B-DF16343302F7}"/>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7F9F03E6-A052-78C9-4998-F91C103D31A9}"/>
              </a:ext>
            </a:extLst>
          </p:cNvPr>
          <p:cNvSpPr>
            <a:spLocks noGrp="1"/>
          </p:cNvSpPr>
          <p:nvPr>
            <p:ph idx="1"/>
          </p:nvPr>
        </p:nvSpPr>
        <p:spPr>
          <a:xfrm>
            <a:off x="735171" y="2373544"/>
            <a:ext cx="9523809" cy="3816486"/>
          </a:xfrm>
        </p:spPr>
        <p:txBody>
          <a:bodyPr vert="horz" lIns="80201" tIns="40100" rIns="80201" bIns="40100" rtlCol="0">
            <a:normAutofit fontScale="850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3) 12ms</a:t>
            </a:r>
          </a:p>
          <a:p>
            <a:pPr marL="0" indent="0">
              <a:buNone/>
            </a:pPr>
            <a:r>
              <a:rPr lang="es-AR" dirty="0"/>
              <a:t>Elegimos </a:t>
            </a:r>
            <a:r>
              <a:rPr lang="es-AR" dirty="0" err="1"/>
              <a:t>preescaler</a:t>
            </a:r>
            <a:r>
              <a:rPr lang="es-AR" dirty="0"/>
              <a:t> </a:t>
            </a:r>
            <a:r>
              <a:rPr lang="es-AR" dirty="0">
                <a:solidFill>
                  <a:srgbClr val="8E0028"/>
                </a:solidFill>
              </a:rPr>
              <a:t>1:64</a:t>
            </a:r>
          </a:p>
          <a:p>
            <a:pPr marL="0" indent="0">
              <a:buNone/>
            </a:pPr>
            <a:r>
              <a:rPr lang="es-MX" dirty="0"/>
              <a:t>	</a:t>
            </a:r>
            <a:r>
              <a:rPr lang="es-MX" dirty="0">
                <a:solidFill>
                  <a:schemeClr val="accent1"/>
                </a:solidFill>
              </a:rPr>
              <a:t>T = (256 – TMR0) * 1 </a:t>
            </a:r>
            <a:r>
              <a:rPr lang="el-GR" dirty="0">
                <a:solidFill>
                  <a:schemeClr val="accent1"/>
                </a:solidFill>
              </a:rPr>
              <a:t>μ</a:t>
            </a:r>
            <a:r>
              <a:rPr lang="es-AR" dirty="0">
                <a:solidFill>
                  <a:schemeClr val="accent1"/>
                </a:solidFill>
              </a:rPr>
              <a:t>s </a:t>
            </a:r>
            <a:r>
              <a:rPr lang="es-MX" dirty="0">
                <a:solidFill>
                  <a:schemeClr val="accent1"/>
                </a:solidFill>
              </a:rPr>
              <a:t>* </a:t>
            </a:r>
            <a:r>
              <a:rPr lang="es-AR" dirty="0">
                <a:solidFill>
                  <a:srgbClr val="FF0000"/>
                </a:solidFill>
              </a:rPr>
              <a:t>64</a:t>
            </a:r>
            <a:r>
              <a:rPr lang="es-AR" dirty="0">
                <a:solidFill>
                  <a:schemeClr val="accent1"/>
                </a:solidFill>
              </a:rPr>
              <a:t> = 12000 </a:t>
            </a:r>
            <a:r>
              <a:rPr lang="el-GR" dirty="0">
                <a:solidFill>
                  <a:schemeClr val="accent1"/>
                </a:solidFill>
              </a:rPr>
              <a:t>μ</a:t>
            </a:r>
            <a:r>
              <a:rPr lang="es-AR" dirty="0">
                <a:solidFill>
                  <a:schemeClr val="accent1"/>
                </a:solidFill>
              </a:rPr>
              <a:t>s</a:t>
            </a:r>
          </a:p>
          <a:p>
            <a:pPr marL="0" indent="0">
              <a:buNone/>
            </a:pPr>
            <a:r>
              <a:rPr lang="es-AR" dirty="0">
                <a:solidFill>
                  <a:schemeClr val="accent1"/>
                </a:solidFill>
              </a:rPr>
              <a:t>	TMR0 = 256 – 12000/64 =</a:t>
            </a:r>
          </a:p>
          <a:p>
            <a:pPr marL="0" indent="0">
              <a:buNone/>
            </a:pPr>
            <a:r>
              <a:rPr lang="es-AR" dirty="0">
                <a:solidFill>
                  <a:schemeClr val="accent1"/>
                </a:solidFill>
              </a:rPr>
              <a:t>	TMR0 = 256 – 187,5 = 68,5 = 68</a:t>
            </a:r>
          </a:p>
          <a:p>
            <a:pPr marL="0" indent="0">
              <a:buNone/>
            </a:pPr>
            <a:endParaRPr lang="es-AR" dirty="0"/>
          </a:p>
          <a:p>
            <a:r>
              <a:rPr lang="es-AR" dirty="0">
                <a:solidFill>
                  <a:srgbClr val="FF0000"/>
                </a:solidFill>
              </a:rPr>
              <a:t>T = (256 – 68) * 1 </a:t>
            </a:r>
            <a:r>
              <a:rPr lang="el-GR" dirty="0">
                <a:solidFill>
                  <a:srgbClr val="FF0000"/>
                </a:solidFill>
              </a:rPr>
              <a:t>μ</a:t>
            </a:r>
            <a:r>
              <a:rPr lang="es-AR" dirty="0">
                <a:solidFill>
                  <a:srgbClr val="FF0000"/>
                </a:solidFill>
              </a:rPr>
              <a:t>s * 64 = 12032 </a:t>
            </a:r>
            <a:r>
              <a:rPr lang="el-GR" dirty="0">
                <a:solidFill>
                  <a:srgbClr val="FF0000"/>
                </a:solidFill>
              </a:rPr>
              <a:t>μ</a:t>
            </a:r>
            <a:r>
              <a:rPr lang="es-AR" dirty="0">
                <a:solidFill>
                  <a:srgbClr val="FF0000"/>
                </a:solidFill>
              </a:rPr>
              <a:t>s</a:t>
            </a:r>
          </a:p>
          <a:p>
            <a:pPr marL="0" indent="0">
              <a:buNone/>
            </a:pPr>
            <a:endParaRPr lang="es-AR" dirty="0"/>
          </a:p>
          <a:p>
            <a:pPr marL="0" indent="0">
              <a:buNone/>
            </a:pPr>
            <a:r>
              <a:rPr lang="es-AR" dirty="0">
                <a:solidFill>
                  <a:srgbClr val="FF0000"/>
                </a:solidFill>
              </a:rPr>
              <a:t>Registro OPTION:</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8FC59441-268A-9EA2-36E6-B915D555D2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33655181-BC62-5EB2-C5F3-314F7355FA95}"/>
              </a:ext>
            </a:extLst>
          </p:cNvPr>
          <p:cNvPicPr>
            <a:picLocks noChangeAspect="1"/>
          </p:cNvPicPr>
          <p:nvPr/>
        </p:nvPicPr>
        <p:blipFill>
          <a:blip r:embed="rId4"/>
          <a:stretch>
            <a:fillRect/>
          </a:stretch>
        </p:blipFill>
        <p:spPr>
          <a:xfrm>
            <a:off x="8223090" y="2979179"/>
            <a:ext cx="2178843" cy="1977881"/>
          </a:xfrm>
          <a:prstGeom prst="rect">
            <a:avLst/>
          </a:prstGeom>
        </p:spPr>
      </p:pic>
      <p:graphicFrame>
        <p:nvGraphicFramePr>
          <p:cNvPr id="9" name="Tabla 8">
            <a:extLst>
              <a:ext uri="{FF2B5EF4-FFF2-40B4-BE49-F238E27FC236}">
                <a16:creationId xmlns:a16="http://schemas.microsoft.com/office/drawing/2014/main" id="{56796ED7-25F8-4062-B03D-45F20DA6C4A1}"/>
              </a:ext>
            </a:extLst>
          </p:cNvPr>
          <p:cNvGraphicFramePr>
            <a:graphicFrameLocks noGrp="1"/>
          </p:cNvGraphicFramePr>
          <p:nvPr>
            <p:extLst>
              <p:ext uri="{D42A27DB-BD31-4B8C-83A1-F6EECF244321}">
                <p14:modId xmlns:p14="http://schemas.microsoft.com/office/powerpoint/2010/main" val="1628599012"/>
              </p:ext>
            </p:extLst>
          </p:nvPr>
        </p:nvGraphicFramePr>
        <p:xfrm>
          <a:off x="3318011" y="5461252"/>
          <a:ext cx="5844287" cy="732015"/>
        </p:xfrm>
        <a:graphic>
          <a:graphicData uri="http://schemas.openxmlformats.org/drawingml/2006/table">
            <a:tbl>
              <a:tblPr firstRow="1" bandRow="1">
                <a:tableStyleId>{5940675A-B579-460E-94D1-54222C63F5DA}</a:tableStyleId>
              </a:tblPr>
              <a:tblGrid>
                <a:gridCol w="730536">
                  <a:extLst>
                    <a:ext uri="{9D8B030D-6E8A-4147-A177-3AD203B41FA5}">
                      <a16:colId xmlns:a16="http://schemas.microsoft.com/office/drawing/2014/main" val="4189032162"/>
                    </a:ext>
                  </a:extLst>
                </a:gridCol>
                <a:gridCol w="794532">
                  <a:extLst>
                    <a:ext uri="{9D8B030D-6E8A-4147-A177-3AD203B41FA5}">
                      <a16:colId xmlns:a16="http://schemas.microsoft.com/office/drawing/2014/main" val="294409631"/>
                    </a:ext>
                  </a:extLst>
                </a:gridCol>
                <a:gridCol w="666539">
                  <a:extLst>
                    <a:ext uri="{9D8B030D-6E8A-4147-A177-3AD203B41FA5}">
                      <a16:colId xmlns:a16="http://schemas.microsoft.com/office/drawing/2014/main" val="767796657"/>
                    </a:ext>
                  </a:extLst>
                </a:gridCol>
                <a:gridCol w="730536">
                  <a:extLst>
                    <a:ext uri="{9D8B030D-6E8A-4147-A177-3AD203B41FA5}">
                      <a16:colId xmlns:a16="http://schemas.microsoft.com/office/drawing/2014/main" val="2350454090"/>
                    </a:ext>
                  </a:extLst>
                </a:gridCol>
                <a:gridCol w="730536">
                  <a:extLst>
                    <a:ext uri="{9D8B030D-6E8A-4147-A177-3AD203B41FA5}">
                      <a16:colId xmlns:a16="http://schemas.microsoft.com/office/drawing/2014/main" val="3261649070"/>
                    </a:ext>
                  </a:extLst>
                </a:gridCol>
                <a:gridCol w="730536">
                  <a:extLst>
                    <a:ext uri="{9D8B030D-6E8A-4147-A177-3AD203B41FA5}">
                      <a16:colId xmlns:a16="http://schemas.microsoft.com/office/drawing/2014/main" val="864864824"/>
                    </a:ext>
                  </a:extLst>
                </a:gridCol>
                <a:gridCol w="730536">
                  <a:extLst>
                    <a:ext uri="{9D8B030D-6E8A-4147-A177-3AD203B41FA5}">
                      <a16:colId xmlns:a16="http://schemas.microsoft.com/office/drawing/2014/main" val="1011266204"/>
                    </a:ext>
                  </a:extLst>
                </a:gridCol>
                <a:gridCol w="730536">
                  <a:extLst>
                    <a:ext uri="{9D8B030D-6E8A-4147-A177-3AD203B41FA5}">
                      <a16:colId xmlns:a16="http://schemas.microsoft.com/office/drawing/2014/main" val="1322241517"/>
                    </a:ext>
                  </a:extLst>
                </a:gridCol>
              </a:tblGrid>
              <a:tr h="407975">
                <a:tc>
                  <a:txBody>
                    <a:bodyPr/>
                    <a:lstStyle/>
                    <a:p>
                      <a:pPr algn="ctr"/>
                      <a:r>
                        <a:rPr lang="es-AR" sz="1400" b="0" i="0" u="none" strike="noStrike" kern="1200" baseline="0" dirty="0">
                          <a:solidFill>
                            <a:schemeClr val="tx1"/>
                          </a:solidFill>
                          <a:latin typeface="+mn-lt"/>
                          <a:ea typeface="+mn-ea"/>
                          <a:cs typeface="+mn-cs"/>
                        </a:rPr>
                        <a:t>RBPU</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INTEDG</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T0CS</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T0SE</a:t>
                      </a:r>
                      <a:endParaRPr lang="es-AR" sz="1400" dirty="0"/>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PSA</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PS2</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PS1</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PS0</a:t>
                      </a:r>
                      <a:endParaRPr lang="es-AR" sz="1400" dirty="0">
                        <a:solidFill>
                          <a:srgbClr val="FF0000"/>
                        </a:solidFill>
                      </a:endParaRPr>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extLst>
                  <a:ext uri="{0D108BD9-81ED-4DB2-BD59-A6C34878D82A}">
                    <a16:rowId xmlns:a16="http://schemas.microsoft.com/office/drawing/2014/main" val="2751453384"/>
                  </a:ext>
                </a:extLst>
              </a:tr>
            </a:tbl>
          </a:graphicData>
        </a:graphic>
      </p:graphicFrame>
      <p:sp>
        <p:nvSpPr>
          <p:cNvPr id="3" name="Flecha: a la derecha 2">
            <a:extLst>
              <a:ext uri="{FF2B5EF4-FFF2-40B4-BE49-F238E27FC236}">
                <a16:creationId xmlns:a16="http://schemas.microsoft.com/office/drawing/2014/main" id="{99EBBE51-E719-BE8A-0592-787CAF7C436E}"/>
              </a:ext>
            </a:extLst>
          </p:cNvPr>
          <p:cNvSpPr/>
          <p:nvPr/>
        </p:nvSpPr>
        <p:spPr>
          <a:xfrm>
            <a:off x="7695955" y="42370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2889921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73F79-6384-A909-53A8-25AE28F9E5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02D832-61DA-91B4-39F4-D08B7631D5D7}"/>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01BEE517-FD35-B445-6BA7-417E50AC6FCC}"/>
              </a:ext>
            </a:extLst>
          </p:cNvPr>
          <p:cNvSpPr>
            <a:spLocks noGrp="1"/>
          </p:cNvSpPr>
          <p:nvPr>
            <p:ph idx="1"/>
          </p:nvPr>
        </p:nvSpPr>
        <p:spPr>
          <a:xfrm>
            <a:off x="735171" y="2373544"/>
            <a:ext cx="9523809" cy="3816486"/>
          </a:xfrm>
        </p:spPr>
        <p:txBody>
          <a:bodyPr vert="horz" lIns="80201" tIns="40100" rIns="80201" bIns="40100" rtlCol="0">
            <a:normAutofit fontScale="850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3) 51ms</a:t>
            </a:r>
          </a:p>
          <a:p>
            <a:pPr marL="0" indent="0">
              <a:buNone/>
            </a:pPr>
            <a:r>
              <a:rPr lang="es-AR" dirty="0"/>
              <a:t>Elegimos </a:t>
            </a:r>
            <a:r>
              <a:rPr lang="es-AR" dirty="0" err="1"/>
              <a:t>preescaler</a:t>
            </a:r>
            <a:r>
              <a:rPr lang="es-AR" dirty="0"/>
              <a:t> </a:t>
            </a:r>
            <a:r>
              <a:rPr lang="es-AR" dirty="0">
                <a:solidFill>
                  <a:srgbClr val="8E0028"/>
                </a:solidFill>
              </a:rPr>
              <a:t>1:256</a:t>
            </a:r>
          </a:p>
          <a:p>
            <a:pPr marL="0" indent="0">
              <a:buNone/>
            </a:pPr>
            <a:r>
              <a:rPr lang="es-MX" dirty="0"/>
              <a:t>	</a:t>
            </a:r>
            <a:r>
              <a:rPr lang="es-MX" dirty="0">
                <a:solidFill>
                  <a:schemeClr val="accent1"/>
                </a:solidFill>
              </a:rPr>
              <a:t>T = (256 – TMR0) * 1 </a:t>
            </a:r>
            <a:r>
              <a:rPr lang="el-GR" dirty="0">
                <a:solidFill>
                  <a:schemeClr val="accent1"/>
                </a:solidFill>
              </a:rPr>
              <a:t>μ</a:t>
            </a:r>
            <a:r>
              <a:rPr lang="es-AR" dirty="0">
                <a:solidFill>
                  <a:schemeClr val="accent1"/>
                </a:solidFill>
              </a:rPr>
              <a:t>s </a:t>
            </a:r>
            <a:r>
              <a:rPr lang="es-MX" dirty="0">
                <a:solidFill>
                  <a:schemeClr val="accent1"/>
                </a:solidFill>
              </a:rPr>
              <a:t>* </a:t>
            </a:r>
            <a:r>
              <a:rPr lang="es-AR" dirty="0">
                <a:solidFill>
                  <a:srgbClr val="FF0000"/>
                </a:solidFill>
              </a:rPr>
              <a:t>256</a:t>
            </a:r>
            <a:r>
              <a:rPr lang="es-AR" dirty="0">
                <a:solidFill>
                  <a:schemeClr val="accent1"/>
                </a:solidFill>
              </a:rPr>
              <a:t> = 51000 </a:t>
            </a:r>
            <a:r>
              <a:rPr lang="el-GR" dirty="0">
                <a:solidFill>
                  <a:schemeClr val="accent1"/>
                </a:solidFill>
              </a:rPr>
              <a:t>μ</a:t>
            </a:r>
            <a:r>
              <a:rPr lang="es-AR" dirty="0">
                <a:solidFill>
                  <a:schemeClr val="accent1"/>
                </a:solidFill>
              </a:rPr>
              <a:t>s</a:t>
            </a:r>
          </a:p>
          <a:p>
            <a:pPr marL="0" indent="0">
              <a:buNone/>
            </a:pPr>
            <a:r>
              <a:rPr lang="es-AR" dirty="0">
                <a:solidFill>
                  <a:schemeClr val="accent1"/>
                </a:solidFill>
              </a:rPr>
              <a:t>	TMR0 = 256 – 51000/256 =</a:t>
            </a:r>
          </a:p>
          <a:p>
            <a:pPr marL="0" indent="0">
              <a:buNone/>
            </a:pPr>
            <a:r>
              <a:rPr lang="es-AR" dirty="0">
                <a:solidFill>
                  <a:schemeClr val="accent1"/>
                </a:solidFill>
              </a:rPr>
              <a:t>	TMR0 = 256 – 199,218 = 56,78 = 57</a:t>
            </a:r>
          </a:p>
          <a:p>
            <a:pPr marL="0" indent="0">
              <a:buNone/>
            </a:pPr>
            <a:endParaRPr lang="es-AR" dirty="0"/>
          </a:p>
          <a:p>
            <a:r>
              <a:rPr lang="es-AR" dirty="0">
                <a:solidFill>
                  <a:srgbClr val="FF0000"/>
                </a:solidFill>
              </a:rPr>
              <a:t>T = (256 – 57) * 1 </a:t>
            </a:r>
            <a:r>
              <a:rPr lang="el-GR" dirty="0">
                <a:solidFill>
                  <a:srgbClr val="FF0000"/>
                </a:solidFill>
              </a:rPr>
              <a:t>μ</a:t>
            </a:r>
            <a:r>
              <a:rPr lang="es-AR" dirty="0">
                <a:solidFill>
                  <a:srgbClr val="FF0000"/>
                </a:solidFill>
              </a:rPr>
              <a:t>s * 256 = 50944 </a:t>
            </a:r>
            <a:r>
              <a:rPr lang="el-GR" dirty="0">
                <a:solidFill>
                  <a:srgbClr val="FF0000"/>
                </a:solidFill>
              </a:rPr>
              <a:t>μ</a:t>
            </a:r>
            <a:r>
              <a:rPr lang="es-AR" dirty="0">
                <a:solidFill>
                  <a:srgbClr val="FF0000"/>
                </a:solidFill>
              </a:rPr>
              <a:t>s</a:t>
            </a:r>
          </a:p>
          <a:p>
            <a:pPr marL="0" indent="0">
              <a:buNone/>
            </a:pPr>
            <a:endParaRPr lang="es-AR" dirty="0"/>
          </a:p>
          <a:p>
            <a:pPr marL="0" indent="0">
              <a:buNone/>
            </a:pPr>
            <a:r>
              <a:rPr lang="es-AR" dirty="0">
                <a:solidFill>
                  <a:srgbClr val="FF0000"/>
                </a:solidFill>
              </a:rPr>
              <a:t>Registro OPTION:</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6281260C-004F-15E0-15AC-CB821A8B725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25212244-1064-7D65-22E3-F95A6E9CF75A}"/>
              </a:ext>
            </a:extLst>
          </p:cNvPr>
          <p:cNvPicPr>
            <a:picLocks noChangeAspect="1"/>
          </p:cNvPicPr>
          <p:nvPr/>
        </p:nvPicPr>
        <p:blipFill>
          <a:blip r:embed="rId4"/>
          <a:stretch>
            <a:fillRect/>
          </a:stretch>
        </p:blipFill>
        <p:spPr>
          <a:xfrm>
            <a:off x="8223090" y="2979179"/>
            <a:ext cx="2178843" cy="1977881"/>
          </a:xfrm>
          <a:prstGeom prst="rect">
            <a:avLst/>
          </a:prstGeom>
        </p:spPr>
      </p:pic>
      <p:graphicFrame>
        <p:nvGraphicFramePr>
          <p:cNvPr id="9" name="Tabla 8">
            <a:extLst>
              <a:ext uri="{FF2B5EF4-FFF2-40B4-BE49-F238E27FC236}">
                <a16:creationId xmlns:a16="http://schemas.microsoft.com/office/drawing/2014/main" id="{F69A63CC-3BD4-6E5A-DC37-F38D15E8D7FF}"/>
              </a:ext>
            </a:extLst>
          </p:cNvPr>
          <p:cNvGraphicFramePr>
            <a:graphicFrameLocks noGrp="1"/>
          </p:cNvGraphicFramePr>
          <p:nvPr/>
        </p:nvGraphicFramePr>
        <p:xfrm>
          <a:off x="3318011" y="5461252"/>
          <a:ext cx="5844287" cy="732015"/>
        </p:xfrm>
        <a:graphic>
          <a:graphicData uri="http://schemas.openxmlformats.org/drawingml/2006/table">
            <a:tbl>
              <a:tblPr firstRow="1" bandRow="1">
                <a:tableStyleId>{5940675A-B579-460E-94D1-54222C63F5DA}</a:tableStyleId>
              </a:tblPr>
              <a:tblGrid>
                <a:gridCol w="730536">
                  <a:extLst>
                    <a:ext uri="{9D8B030D-6E8A-4147-A177-3AD203B41FA5}">
                      <a16:colId xmlns:a16="http://schemas.microsoft.com/office/drawing/2014/main" val="4189032162"/>
                    </a:ext>
                  </a:extLst>
                </a:gridCol>
                <a:gridCol w="794532">
                  <a:extLst>
                    <a:ext uri="{9D8B030D-6E8A-4147-A177-3AD203B41FA5}">
                      <a16:colId xmlns:a16="http://schemas.microsoft.com/office/drawing/2014/main" val="294409631"/>
                    </a:ext>
                  </a:extLst>
                </a:gridCol>
                <a:gridCol w="666539">
                  <a:extLst>
                    <a:ext uri="{9D8B030D-6E8A-4147-A177-3AD203B41FA5}">
                      <a16:colId xmlns:a16="http://schemas.microsoft.com/office/drawing/2014/main" val="767796657"/>
                    </a:ext>
                  </a:extLst>
                </a:gridCol>
                <a:gridCol w="730536">
                  <a:extLst>
                    <a:ext uri="{9D8B030D-6E8A-4147-A177-3AD203B41FA5}">
                      <a16:colId xmlns:a16="http://schemas.microsoft.com/office/drawing/2014/main" val="2350454090"/>
                    </a:ext>
                  </a:extLst>
                </a:gridCol>
                <a:gridCol w="730536">
                  <a:extLst>
                    <a:ext uri="{9D8B030D-6E8A-4147-A177-3AD203B41FA5}">
                      <a16:colId xmlns:a16="http://schemas.microsoft.com/office/drawing/2014/main" val="3261649070"/>
                    </a:ext>
                  </a:extLst>
                </a:gridCol>
                <a:gridCol w="730536">
                  <a:extLst>
                    <a:ext uri="{9D8B030D-6E8A-4147-A177-3AD203B41FA5}">
                      <a16:colId xmlns:a16="http://schemas.microsoft.com/office/drawing/2014/main" val="864864824"/>
                    </a:ext>
                  </a:extLst>
                </a:gridCol>
                <a:gridCol w="730536">
                  <a:extLst>
                    <a:ext uri="{9D8B030D-6E8A-4147-A177-3AD203B41FA5}">
                      <a16:colId xmlns:a16="http://schemas.microsoft.com/office/drawing/2014/main" val="1011266204"/>
                    </a:ext>
                  </a:extLst>
                </a:gridCol>
                <a:gridCol w="730536">
                  <a:extLst>
                    <a:ext uri="{9D8B030D-6E8A-4147-A177-3AD203B41FA5}">
                      <a16:colId xmlns:a16="http://schemas.microsoft.com/office/drawing/2014/main" val="1322241517"/>
                    </a:ext>
                  </a:extLst>
                </a:gridCol>
              </a:tblGrid>
              <a:tr h="407975">
                <a:tc>
                  <a:txBody>
                    <a:bodyPr/>
                    <a:lstStyle/>
                    <a:p>
                      <a:pPr algn="ctr"/>
                      <a:r>
                        <a:rPr lang="es-AR" sz="1400" b="0" i="0" u="none" strike="noStrike" kern="1200" baseline="0" dirty="0">
                          <a:solidFill>
                            <a:schemeClr val="tx1"/>
                          </a:solidFill>
                          <a:latin typeface="+mn-lt"/>
                          <a:ea typeface="+mn-ea"/>
                          <a:cs typeface="+mn-cs"/>
                        </a:rPr>
                        <a:t>RBPU</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INTEDG</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T0CS</a:t>
                      </a:r>
                      <a:endParaRPr lang="es-AR" sz="1400" dirty="0"/>
                    </a:p>
                  </a:txBody>
                  <a:tcPr marL="80201" marR="80201" marT="40100" marB="40100"/>
                </a:tc>
                <a:tc>
                  <a:txBody>
                    <a:bodyPr/>
                    <a:lstStyle/>
                    <a:p>
                      <a:pPr algn="ctr"/>
                      <a:r>
                        <a:rPr lang="es-AR" sz="1400" b="0" i="0" u="none" strike="noStrike" kern="1200" baseline="0" dirty="0">
                          <a:solidFill>
                            <a:schemeClr val="tx1"/>
                          </a:solidFill>
                          <a:latin typeface="+mn-lt"/>
                          <a:ea typeface="+mn-ea"/>
                          <a:cs typeface="+mn-cs"/>
                        </a:rPr>
                        <a:t>T0SE</a:t>
                      </a:r>
                      <a:endParaRPr lang="es-AR" sz="1400" dirty="0"/>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PSA</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PS2</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PS1</a:t>
                      </a:r>
                      <a:endParaRPr lang="es-AR" sz="1400" dirty="0">
                        <a:solidFill>
                          <a:srgbClr val="FF0000"/>
                        </a:solidFill>
                      </a:endParaRPr>
                    </a:p>
                  </a:txBody>
                  <a:tcPr marL="80201" marR="80201" marT="40100" marB="40100"/>
                </a:tc>
                <a:tc>
                  <a:txBody>
                    <a:bodyPr/>
                    <a:lstStyle/>
                    <a:p>
                      <a:pPr algn="ctr"/>
                      <a:r>
                        <a:rPr lang="es-AR" sz="1400" b="0" i="0" u="none" strike="noStrike" kern="1200" baseline="0" dirty="0">
                          <a:solidFill>
                            <a:srgbClr val="FF0000"/>
                          </a:solidFill>
                          <a:latin typeface="+mn-lt"/>
                          <a:ea typeface="+mn-ea"/>
                          <a:cs typeface="+mn-cs"/>
                        </a:rPr>
                        <a:t>PS0</a:t>
                      </a:r>
                      <a:endParaRPr lang="es-AR" sz="1400" dirty="0">
                        <a:solidFill>
                          <a:srgbClr val="FF0000"/>
                        </a:solidFill>
                      </a:endParaRPr>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solidFill>
                            <a:srgbClr val="FF0000"/>
                          </a:solidFill>
                        </a:rPr>
                        <a:t>0</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1</a:t>
                      </a:r>
                    </a:p>
                  </a:txBody>
                  <a:tcPr marL="80201" marR="80201" marT="40100" marB="40100"/>
                </a:tc>
                <a:tc>
                  <a:txBody>
                    <a:bodyPr/>
                    <a:lstStyle/>
                    <a:p>
                      <a:pPr algn="ctr"/>
                      <a:r>
                        <a:rPr lang="es-AR" sz="1600" dirty="0">
                          <a:solidFill>
                            <a:srgbClr val="FF0000"/>
                          </a:solidFill>
                        </a:rPr>
                        <a:t>1</a:t>
                      </a:r>
                    </a:p>
                  </a:txBody>
                  <a:tcPr marL="80201" marR="80201" marT="40100" marB="40100"/>
                </a:tc>
                <a:extLst>
                  <a:ext uri="{0D108BD9-81ED-4DB2-BD59-A6C34878D82A}">
                    <a16:rowId xmlns:a16="http://schemas.microsoft.com/office/drawing/2014/main" val="2751453384"/>
                  </a:ext>
                </a:extLst>
              </a:tr>
            </a:tbl>
          </a:graphicData>
        </a:graphic>
      </p:graphicFrame>
      <p:sp>
        <p:nvSpPr>
          <p:cNvPr id="3" name="Flecha: a la derecha 2">
            <a:extLst>
              <a:ext uri="{FF2B5EF4-FFF2-40B4-BE49-F238E27FC236}">
                <a16:creationId xmlns:a16="http://schemas.microsoft.com/office/drawing/2014/main" id="{A74756AD-7B64-B68C-CB9E-37F1C953BDCF}"/>
              </a:ext>
            </a:extLst>
          </p:cNvPr>
          <p:cNvSpPr/>
          <p:nvPr/>
        </p:nvSpPr>
        <p:spPr>
          <a:xfrm>
            <a:off x="7695955" y="46942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3628962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7C196-5CD6-2DB0-565A-E5B721747B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68BD0F-9CA1-CF9F-40DA-6F1CB16F240A}"/>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04A605ED-1409-4AF0-34AE-F9029D2E06D3}"/>
              </a:ext>
            </a:extLst>
          </p:cNvPr>
          <p:cNvSpPr>
            <a:spLocks noGrp="1"/>
          </p:cNvSpPr>
          <p:nvPr>
            <p:ph idx="1"/>
          </p:nvPr>
        </p:nvSpPr>
        <p:spPr>
          <a:xfrm>
            <a:off x="735171" y="2373544"/>
            <a:ext cx="9523809" cy="3816486"/>
          </a:xfrm>
        </p:spPr>
        <p:txBody>
          <a:bodyPr vert="horz" lIns="80201" tIns="40100" rIns="80201" bIns="40100" rtlCol="0">
            <a:normAutofit/>
          </a:bodyPr>
          <a:lstStyle/>
          <a:p>
            <a:pPr marL="0" indent="0">
              <a:buNone/>
            </a:pPr>
            <a:r>
              <a:rPr lang="es-AR" dirty="0"/>
              <a:t>Y si quiero una demora de 1 segundo?</a:t>
            </a:r>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B337D057-3862-080F-9926-620134A875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D98884E3-896E-5C34-C5E7-5FEC28E639CF}"/>
              </a:ext>
            </a:extLst>
          </p:cNvPr>
          <p:cNvPicPr>
            <a:picLocks noChangeAspect="1"/>
          </p:cNvPicPr>
          <p:nvPr/>
        </p:nvPicPr>
        <p:blipFill>
          <a:blip r:embed="rId4"/>
          <a:stretch>
            <a:fillRect/>
          </a:stretch>
        </p:blipFill>
        <p:spPr>
          <a:xfrm>
            <a:off x="7054012" y="2781908"/>
            <a:ext cx="3304547" cy="2999758"/>
          </a:xfrm>
          <a:prstGeom prst="rect">
            <a:avLst/>
          </a:prstGeom>
        </p:spPr>
      </p:pic>
      <p:graphicFrame>
        <p:nvGraphicFramePr>
          <p:cNvPr id="9" name="Tabla 8">
            <a:extLst>
              <a:ext uri="{FF2B5EF4-FFF2-40B4-BE49-F238E27FC236}">
                <a16:creationId xmlns:a16="http://schemas.microsoft.com/office/drawing/2014/main" id="{7961E8BA-EDAB-61A5-F735-01D217A3BA8C}"/>
              </a:ext>
            </a:extLst>
          </p:cNvPr>
          <p:cNvGraphicFramePr>
            <a:graphicFrameLocks noGrp="1"/>
          </p:cNvGraphicFramePr>
          <p:nvPr/>
        </p:nvGraphicFramePr>
        <p:xfrm>
          <a:off x="1101744" y="4912596"/>
          <a:ext cx="5230590" cy="769541"/>
        </p:xfrm>
        <a:graphic>
          <a:graphicData uri="http://schemas.openxmlformats.org/drawingml/2006/table">
            <a:tbl>
              <a:tblPr firstRow="1" bandRow="1">
                <a:tableStyleId>{5940675A-B579-460E-94D1-54222C63F5DA}</a:tableStyleId>
              </a:tblPr>
              <a:tblGrid>
                <a:gridCol w="653824">
                  <a:extLst>
                    <a:ext uri="{9D8B030D-6E8A-4147-A177-3AD203B41FA5}">
                      <a16:colId xmlns:a16="http://schemas.microsoft.com/office/drawing/2014/main" val="4189032162"/>
                    </a:ext>
                  </a:extLst>
                </a:gridCol>
                <a:gridCol w="711099">
                  <a:extLst>
                    <a:ext uri="{9D8B030D-6E8A-4147-A177-3AD203B41FA5}">
                      <a16:colId xmlns:a16="http://schemas.microsoft.com/office/drawing/2014/main" val="294409631"/>
                    </a:ext>
                  </a:extLst>
                </a:gridCol>
                <a:gridCol w="596547">
                  <a:extLst>
                    <a:ext uri="{9D8B030D-6E8A-4147-A177-3AD203B41FA5}">
                      <a16:colId xmlns:a16="http://schemas.microsoft.com/office/drawing/2014/main" val="767796657"/>
                    </a:ext>
                  </a:extLst>
                </a:gridCol>
                <a:gridCol w="653824">
                  <a:extLst>
                    <a:ext uri="{9D8B030D-6E8A-4147-A177-3AD203B41FA5}">
                      <a16:colId xmlns:a16="http://schemas.microsoft.com/office/drawing/2014/main" val="2350454090"/>
                    </a:ext>
                  </a:extLst>
                </a:gridCol>
                <a:gridCol w="653824">
                  <a:extLst>
                    <a:ext uri="{9D8B030D-6E8A-4147-A177-3AD203B41FA5}">
                      <a16:colId xmlns:a16="http://schemas.microsoft.com/office/drawing/2014/main" val="3261649070"/>
                    </a:ext>
                  </a:extLst>
                </a:gridCol>
                <a:gridCol w="653824">
                  <a:extLst>
                    <a:ext uri="{9D8B030D-6E8A-4147-A177-3AD203B41FA5}">
                      <a16:colId xmlns:a16="http://schemas.microsoft.com/office/drawing/2014/main" val="864864824"/>
                    </a:ext>
                  </a:extLst>
                </a:gridCol>
                <a:gridCol w="653824">
                  <a:extLst>
                    <a:ext uri="{9D8B030D-6E8A-4147-A177-3AD203B41FA5}">
                      <a16:colId xmlns:a16="http://schemas.microsoft.com/office/drawing/2014/main" val="1011266204"/>
                    </a:ext>
                  </a:extLst>
                </a:gridCol>
                <a:gridCol w="653824">
                  <a:extLst>
                    <a:ext uri="{9D8B030D-6E8A-4147-A177-3AD203B41FA5}">
                      <a16:colId xmlns:a16="http://schemas.microsoft.com/office/drawing/2014/main" val="1322241517"/>
                    </a:ext>
                  </a:extLst>
                </a:gridCol>
              </a:tblGrid>
              <a:tr h="445501">
                <a:tc>
                  <a:txBody>
                    <a:bodyPr/>
                    <a:lstStyle/>
                    <a:p>
                      <a:r>
                        <a:rPr lang="es-AR" sz="1200" b="0" i="0" u="none" strike="noStrike" kern="1200" baseline="0" dirty="0">
                          <a:solidFill>
                            <a:schemeClr val="tx1"/>
                          </a:solidFill>
                          <a:latin typeface="+mn-lt"/>
                          <a:ea typeface="+mn-ea"/>
                          <a:cs typeface="+mn-cs"/>
                        </a:rPr>
                        <a:t>RBPU</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INTEDG</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T0CS</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T0SE</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PSA</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PS2</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PS1</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PS0</a:t>
                      </a:r>
                      <a:endParaRPr lang="es-AR" sz="1200" dirty="0"/>
                    </a:p>
                  </a:txBody>
                  <a:tcPr marL="80201" marR="80201" marT="40100" marB="40100"/>
                </a:tc>
                <a:extLst>
                  <a:ext uri="{0D108BD9-81ED-4DB2-BD59-A6C34878D82A}">
                    <a16:rowId xmlns:a16="http://schemas.microsoft.com/office/drawing/2014/main" val="3377763911"/>
                  </a:ext>
                </a:extLst>
              </a:tr>
              <a:tr h="320802">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extLst>
                  <a:ext uri="{0D108BD9-81ED-4DB2-BD59-A6C34878D82A}">
                    <a16:rowId xmlns:a16="http://schemas.microsoft.com/office/drawing/2014/main" val="2751453384"/>
                  </a:ext>
                </a:extLst>
              </a:tr>
            </a:tbl>
          </a:graphicData>
        </a:graphic>
      </p:graphicFrame>
    </p:spTree>
    <p:extLst>
      <p:ext uri="{BB962C8B-B14F-4D97-AF65-F5344CB8AC3E}">
        <p14:creationId xmlns:p14="http://schemas.microsoft.com/office/powerpoint/2010/main" val="4747199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98794-CE27-9542-AD32-7C3008CE25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9FD04F-9084-4ED8-303D-2CB2C6B6D106}"/>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DC4DDD57-A51C-50F0-30EF-40C08896DF76}"/>
              </a:ext>
            </a:extLst>
          </p:cNvPr>
          <p:cNvSpPr>
            <a:spLocks noGrp="1"/>
          </p:cNvSpPr>
          <p:nvPr>
            <p:ph idx="1"/>
          </p:nvPr>
        </p:nvSpPr>
        <p:spPr>
          <a:xfrm>
            <a:off x="735171" y="2332037"/>
            <a:ext cx="9523809" cy="4344953"/>
          </a:xfrm>
        </p:spPr>
        <p:txBody>
          <a:bodyPr vert="horz" lIns="80201" tIns="40100" rIns="80201" bIns="40100" rtlCol="0">
            <a:normAutofit fontScale="700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Para 1s</a:t>
            </a:r>
          </a:p>
          <a:p>
            <a:pPr marL="0" indent="0">
              <a:buNone/>
            </a:pPr>
            <a:r>
              <a:rPr lang="es-AR" dirty="0"/>
              <a:t>Elegimos </a:t>
            </a:r>
            <a:r>
              <a:rPr lang="es-AR" dirty="0" err="1"/>
              <a:t>preescaler</a:t>
            </a:r>
            <a:r>
              <a:rPr lang="es-AR" dirty="0"/>
              <a:t> </a:t>
            </a:r>
            <a:r>
              <a:rPr lang="es-AR" dirty="0">
                <a:solidFill>
                  <a:srgbClr val="8E0028"/>
                </a:solidFill>
              </a:rPr>
              <a:t>1:256 </a:t>
            </a:r>
            <a:r>
              <a:rPr lang="es-AR" dirty="0"/>
              <a:t>             </a:t>
            </a:r>
            <a:r>
              <a:rPr lang="es-AR" u="sng" dirty="0">
                <a:solidFill>
                  <a:srgbClr val="8E0028"/>
                </a:solidFill>
                <a:effectLst>
                  <a:outerShdw blurRad="38100" dist="38100" dir="2700000" algn="tl">
                    <a:srgbClr val="000000">
                      <a:alpha val="43137"/>
                    </a:srgbClr>
                  </a:outerShdw>
                </a:effectLst>
              </a:rPr>
              <a:t>Tiempo máximo 65536 </a:t>
            </a:r>
            <a:r>
              <a:rPr lang="el-GR" u="sng" dirty="0">
                <a:solidFill>
                  <a:srgbClr val="8E0028"/>
                </a:solidFill>
                <a:effectLst>
                  <a:outerShdw blurRad="38100" dist="38100" dir="2700000" algn="tl">
                    <a:srgbClr val="000000">
                      <a:alpha val="43137"/>
                    </a:srgbClr>
                  </a:outerShdw>
                </a:effectLst>
              </a:rPr>
              <a:t>μ</a:t>
            </a:r>
            <a:r>
              <a:rPr lang="es-AR" u="sng" dirty="0">
                <a:solidFill>
                  <a:srgbClr val="8E0028"/>
                </a:solidFill>
                <a:effectLst>
                  <a:outerShdw blurRad="38100" dist="38100" dir="2700000" algn="tl">
                    <a:srgbClr val="000000">
                      <a:alpha val="43137"/>
                    </a:srgbClr>
                  </a:outerShdw>
                </a:effectLst>
              </a:rPr>
              <a:t>s</a:t>
            </a:r>
          </a:p>
          <a:p>
            <a:pPr marL="0" indent="0">
              <a:buNone/>
            </a:pPr>
            <a:endParaRPr lang="es-AR" u="sng" dirty="0">
              <a:solidFill>
                <a:srgbClr val="8E0028"/>
              </a:solidFill>
              <a:effectLst>
                <a:outerShdw blurRad="38100" dist="38100" dir="2700000" algn="tl">
                  <a:srgbClr val="000000">
                    <a:alpha val="43137"/>
                  </a:srgbClr>
                </a:outerShdw>
              </a:effectLst>
            </a:endParaRPr>
          </a:p>
          <a:p>
            <a:pPr marL="0" indent="0">
              <a:buNone/>
            </a:pPr>
            <a:r>
              <a:rPr lang="es-AR" dirty="0"/>
              <a:t>	</a:t>
            </a:r>
            <a:r>
              <a:rPr lang="es-AR" dirty="0">
                <a:solidFill>
                  <a:schemeClr val="tx2"/>
                </a:solidFill>
              </a:rPr>
              <a:t>1.000.000 </a:t>
            </a:r>
            <a:r>
              <a:rPr lang="el-GR" dirty="0">
                <a:solidFill>
                  <a:schemeClr val="tx2"/>
                </a:solidFill>
              </a:rPr>
              <a:t>μ</a:t>
            </a:r>
            <a:r>
              <a:rPr lang="es-AR" dirty="0">
                <a:solidFill>
                  <a:schemeClr val="tx2"/>
                </a:solidFill>
              </a:rPr>
              <a:t>s / 65536 </a:t>
            </a:r>
            <a:r>
              <a:rPr lang="el-GR" dirty="0">
                <a:solidFill>
                  <a:schemeClr val="tx2"/>
                </a:solidFill>
              </a:rPr>
              <a:t>μ</a:t>
            </a:r>
            <a:r>
              <a:rPr lang="es-AR" dirty="0">
                <a:solidFill>
                  <a:schemeClr val="tx2"/>
                </a:solidFill>
              </a:rPr>
              <a:t>s = </a:t>
            </a:r>
            <a:r>
              <a:rPr lang="es-AR" dirty="0">
                <a:solidFill>
                  <a:srgbClr val="0070C0"/>
                </a:solidFill>
              </a:rPr>
              <a:t>15,25</a:t>
            </a:r>
          </a:p>
          <a:p>
            <a:r>
              <a:rPr lang="es-AR" dirty="0"/>
              <a:t>Necesitamos </a:t>
            </a:r>
            <a:r>
              <a:rPr lang="es-AR" dirty="0">
                <a:solidFill>
                  <a:srgbClr val="0070C0"/>
                </a:solidFill>
              </a:rPr>
              <a:t>15 </a:t>
            </a:r>
            <a:r>
              <a:rPr lang="es-AR" dirty="0" err="1">
                <a:solidFill>
                  <a:srgbClr val="0070C0"/>
                </a:solidFill>
              </a:rPr>
              <a:t>overflows</a:t>
            </a:r>
            <a:r>
              <a:rPr lang="es-AR" dirty="0">
                <a:solidFill>
                  <a:srgbClr val="0070C0"/>
                </a:solidFill>
              </a:rPr>
              <a:t> </a:t>
            </a:r>
            <a:r>
              <a:rPr lang="es-AR" dirty="0"/>
              <a:t>con </a:t>
            </a:r>
            <a:r>
              <a:rPr lang="es-AR" dirty="0">
                <a:solidFill>
                  <a:srgbClr val="8E0028"/>
                </a:solidFill>
              </a:rPr>
              <a:t>TMR0 = 0</a:t>
            </a:r>
            <a:r>
              <a:rPr lang="es-AR" dirty="0"/>
              <a:t>:</a:t>
            </a:r>
          </a:p>
          <a:p>
            <a:pPr marL="0" indent="0">
              <a:buNone/>
            </a:pPr>
            <a:r>
              <a:rPr lang="es-AR" dirty="0"/>
              <a:t>	</a:t>
            </a:r>
            <a:r>
              <a:rPr lang="es-AR" dirty="0">
                <a:solidFill>
                  <a:schemeClr val="tx2"/>
                </a:solidFill>
              </a:rPr>
              <a:t>T = 65536 </a:t>
            </a:r>
            <a:r>
              <a:rPr lang="el-GR" dirty="0">
                <a:solidFill>
                  <a:schemeClr val="tx2"/>
                </a:solidFill>
              </a:rPr>
              <a:t>μ</a:t>
            </a:r>
            <a:r>
              <a:rPr lang="es-AR" dirty="0">
                <a:solidFill>
                  <a:schemeClr val="tx2"/>
                </a:solidFill>
              </a:rPr>
              <a:t>s * </a:t>
            </a:r>
            <a:r>
              <a:rPr lang="es-AR" dirty="0">
                <a:solidFill>
                  <a:srgbClr val="0070C0"/>
                </a:solidFill>
              </a:rPr>
              <a:t>15</a:t>
            </a:r>
            <a:r>
              <a:rPr lang="es-AR" dirty="0">
                <a:solidFill>
                  <a:schemeClr val="tx2"/>
                </a:solidFill>
              </a:rPr>
              <a:t> = 983.040 </a:t>
            </a:r>
            <a:r>
              <a:rPr lang="el-GR" dirty="0">
                <a:solidFill>
                  <a:schemeClr val="tx2"/>
                </a:solidFill>
              </a:rPr>
              <a:t>μ</a:t>
            </a:r>
            <a:r>
              <a:rPr lang="es-AR" dirty="0">
                <a:solidFill>
                  <a:schemeClr val="tx2"/>
                </a:solidFill>
              </a:rPr>
              <a:t>s</a:t>
            </a:r>
          </a:p>
          <a:p>
            <a:r>
              <a:rPr lang="es-AR" dirty="0"/>
              <a:t>Y uno mas para completar los 16960 </a:t>
            </a:r>
            <a:r>
              <a:rPr lang="el-GR" dirty="0"/>
              <a:t>μ</a:t>
            </a:r>
            <a:r>
              <a:rPr lang="es-AR" dirty="0"/>
              <a:t>s faltantes </a:t>
            </a:r>
            <a:r>
              <a:rPr lang="es-AR" sz="1800" dirty="0"/>
              <a:t>(1000000 – 983040) </a:t>
            </a:r>
          </a:p>
          <a:p>
            <a:pPr marL="0" indent="0">
              <a:buNone/>
            </a:pPr>
            <a:r>
              <a:rPr lang="es-MX" dirty="0"/>
              <a:t>	T = (256 – TMR0) * 1 </a:t>
            </a:r>
            <a:r>
              <a:rPr lang="el-GR" dirty="0"/>
              <a:t>μ</a:t>
            </a:r>
            <a:r>
              <a:rPr lang="es-AR" dirty="0"/>
              <a:t>s </a:t>
            </a:r>
            <a:r>
              <a:rPr lang="es-MX" dirty="0"/>
              <a:t>* </a:t>
            </a:r>
            <a:r>
              <a:rPr lang="es-AR" dirty="0"/>
              <a:t>256 = 16.960 </a:t>
            </a:r>
            <a:r>
              <a:rPr lang="el-GR" dirty="0"/>
              <a:t>μ</a:t>
            </a:r>
            <a:r>
              <a:rPr lang="es-AR" dirty="0"/>
              <a:t>s</a:t>
            </a:r>
          </a:p>
          <a:p>
            <a:pPr marL="0" indent="0">
              <a:buNone/>
            </a:pPr>
            <a:r>
              <a:rPr lang="es-AR" dirty="0"/>
              <a:t>	TMR0 = 256 – 16960/256 = </a:t>
            </a:r>
          </a:p>
          <a:p>
            <a:pPr marL="0" indent="0">
              <a:buNone/>
            </a:pPr>
            <a:r>
              <a:rPr lang="es-AR" dirty="0">
                <a:solidFill>
                  <a:srgbClr val="8E0028"/>
                </a:solidFill>
              </a:rPr>
              <a:t>	TMR0</a:t>
            </a:r>
            <a:r>
              <a:rPr lang="es-AR" dirty="0"/>
              <a:t> = 256  –    66,25       = 189,75 = </a:t>
            </a:r>
            <a:r>
              <a:rPr lang="es-AR" dirty="0">
                <a:solidFill>
                  <a:srgbClr val="8E0028"/>
                </a:solidFill>
              </a:rPr>
              <a:t>190</a:t>
            </a:r>
          </a:p>
          <a:p>
            <a:pPr marL="0" indent="0">
              <a:buNone/>
            </a:pPr>
            <a:r>
              <a:rPr lang="es-AR" dirty="0"/>
              <a:t>	T = (256 – 190) * 1 </a:t>
            </a:r>
            <a:r>
              <a:rPr lang="el-GR" dirty="0"/>
              <a:t>μ</a:t>
            </a:r>
            <a:r>
              <a:rPr lang="es-AR" dirty="0"/>
              <a:t>s * 256 = </a:t>
            </a:r>
            <a:r>
              <a:rPr lang="es-AR" dirty="0">
                <a:solidFill>
                  <a:srgbClr val="0070C0"/>
                </a:solidFill>
              </a:rPr>
              <a:t>16896</a:t>
            </a:r>
            <a:r>
              <a:rPr lang="es-AR" dirty="0"/>
              <a:t> </a:t>
            </a:r>
            <a:r>
              <a:rPr lang="el-GR" dirty="0"/>
              <a:t>μ</a:t>
            </a:r>
            <a:r>
              <a:rPr lang="es-AR" dirty="0"/>
              <a:t>s</a:t>
            </a:r>
          </a:p>
          <a:p>
            <a:pPr marL="0" indent="0">
              <a:buNone/>
            </a:pPr>
            <a:r>
              <a:rPr lang="es-AR" dirty="0">
                <a:solidFill>
                  <a:srgbClr val="FF0000"/>
                </a:solidFill>
              </a:rPr>
              <a:t>Tiempo final: </a:t>
            </a:r>
            <a:r>
              <a:rPr lang="es-AR" sz="1800" dirty="0">
                <a:solidFill>
                  <a:srgbClr val="0070C0"/>
                </a:solidFill>
              </a:rPr>
              <a:t>(983.040 + 16.896)</a:t>
            </a:r>
            <a:r>
              <a:rPr lang="es-AR" dirty="0">
                <a:solidFill>
                  <a:srgbClr val="FF0000"/>
                </a:solidFill>
              </a:rPr>
              <a:t> = 999.936 </a:t>
            </a:r>
            <a:r>
              <a:rPr lang="el-GR" dirty="0">
                <a:solidFill>
                  <a:srgbClr val="FF0000"/>
                </a:solidFill>
              </a:rPr>
              <a:t>μ</a:t>
            </a:r>
            <a:r>
              <a:rPr lang="es-AR" dirty="0">
                <a:solidFill>
                  <a:srgbClr val="FF0000"/>
                </a:solidFill>
              </a:rPr>
              <a:t>s</a:t>
            </a: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53FF68DC-3BB7-F228-D5C9-F3ED87C03A8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CA1B99D9-8908-7871-7727-33EC608EB8D7}"/>
              </a:ext>
            </a:extLst>
          </p:cNvPr>
          <p:cNvPicPr>
            <a:picLocks noChangeAspect="1"/>
          </p:cNvPicPr>
          <p:nvPr/>
        </p:nvPicPr>
        <p:blipFill>
          <a:blip r:embed="rId4"/>
          <a:stretch>
            <a:fillRect/>
          </a:stretch>
        </p:blipFill>
        <p:spPr>
          <a:xfrm>
            <a:off x="8501857" y="4621356"/>
            <a:ext cx="2178843" cy="1977881"/>
          </a:xfrm>
          <a:prstGeom prst="rect">
            <a:avLst/>
          </a:prstGeom>
        </p:spPr>
      </p:pic>
      <p:pic>
        <p:nvPicPr>
          <p:cNvPr id="3" name="Imagen 2">
            <a:extLst>
              <a:ext uri="{FF2B5EF4-FFF2-40B4-BE49-F238E27FC236}">
                <a16:creationId xmlns:a16="http://schemas.microsoft.com/office/drawing/2014/main" id="{A00E4328-9442-0BF3-5846-0C66B6A8BDC2}"/>
              </a:ext>
            </a:extLst>
          </p:cNvPr>
          <p:cNvPicPr>
            <a:picLocks noChangeAspect="1"/>
          </p:cNvPicPr>
          <p:nvPr/>
        </p:nvPicPr>
        <p:blipFill>
          <a:blip r:embed="rId5"/>
          <a:stretch>
            <a:fillRect/>
          </a:stretch>
        </p:blipFill>
        <p:spPr>
          <a:xfrm>
            <a:off x="6618400" y="6728564"/>
            <a:ext cx="3913148" cy="556473"/>
          </a:xfrm>
          <a:prstGeom prst="rect">
            <a:avLst/>
          </a:prstGeom>
        </p:spPr>
      </p:pic>
      <p:sp>
        <p:nvSpPr>
          <p:cNvPr id="7" name="Flecha: a la derecha 6">
            <a:extLst>
              <a:ext uri="{FF2B5EF4-FFF2-40B4-BE49-F238E27FC236}">
                <a16:creationId xmlns:a16="http://schemas.microsoft.com/office/drawing/2014/main" id="{6F80A892-0ED9-4F38-BE64-82A9C8A85643}"/>
              </a:ext>
            </a:extLst>
          </p:cNvPr>
          <p:cNvSpPr/>
          <p:nvPr/>
        </p:nvSpPr>
        <p:spPr>
          <a:xfrm rot="10800000">
            <a:off x="3975100" y="2624256"/>
            <a:ext cx="437457" cy="393580"/>
          </a:xfrm>
          <a:prstGeom prst="right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8" name="Rectángulo 7">
            <a:extLst>
              <a:ext uri="{FF2B5EF4-FFF2-40B4-BE49-F238E27FC236}">
                <a16:creationId xmlns:a16="http://schemas.microsoft.com/office/drawing/2014/main" id="{59F62266-AA02-2C9F-16E4-815D23A63070}"/>
              </a:ext>
            </a:extLst>
          </p:cNvPr>
          <p:cNvSpPr/>
          <p:nvPr/>
        </p:nvSpPr>
        <p:spPr>
          <a:xfrm>
            <a:off x="735171" y="3147163"/>
            <a:ext cx="5883229" cy="864353"/>
          </a:xfrm>
          <a:prstGeom prst="rect">
            <a:avLst/>
          </a:prstGeom>
          <a:solidFill>
            <a:schemeClr val="accent1">
              <a:alpha val="1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Flecha: a la derecha 8">
            <a:extLst>
              <a:ext uri="{FF2B5EF4-FFF2-40B4-BE49-F238E27FC236}">
                <a16:creationId xmlns:a16="http://schemas.microsoft.com/office/drawing/2014/main" id="{25E44B95-F937-20C4-EF62-5E4A68255642}"/>
              </a:ext>
            </a:extLst>
          </p:cNvPr>
          <p:cNvSpPr/>
          <p:nvPr/>
        </p:nvSpPr>
        <p:spPr>
          <a:xfrm>
            <a:off x="7924555" y="63706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971296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17139-F30C-53A3-AC0E-722620FA6B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27216F-E6F4-513C-C555-9FC436CBE403}"/>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EC11B05A-12D9-CD93-CCED-09B3CBC1B8F9}"/>
              </a:ext>
            </a:extLst>
          </p:cNvPr>
          <p:cNvSpPr>
            <a:spLocks noGrp="1"/>
          </p:cNvSpPr>
          <p:nvPr>
            <p:ph idx="1"/>
          </p:nvPr>
        </p:nvSpPr>
        <p:spPr>
          <a:xfrm>
            <a:off x="735171" y="2373544"/>
            <a:ext cx="9523809" cy="4344953"/>
          </a:xfrm>
        </p:spPr>
        <p:txBody>
          <a:bodyPr vert="horz" lIns="80201" tIns="40100" rIns="80201" bIns="40100" rtlCol="0">
            <a:normAutofit/>
          </a:bodyPr>
          <a:lstStyle/>
          <a:p>
            <a:pPr marL="0" indent="0">
              <a:buNone/>
            </a:pPr>
            <a:r>
              <a:rPr lang="es-AR" dirty="0"/>
              <a:t>Debemos configurar INTCON para interrupciones.</a:t>
            </a:r>
          </a:p>
          <a:p>
            <a:pPr marL="0" indent="0">
              <a:buNone/>
            </a:pPr>
            <a:r>
              <a:rPr lang="es-AR" b="1" dirty="0"/>
              <a:t>GIE = 1</a:t>
            </a:r>
            <a:r>
              <a:rPr lang="es-AR" dirty="0"/>
              <a:t> (Global </a:t>
            </a:r>
            <a:r>
              <a:rPr lang="es-AR" dirty="0" err="1"/>
              <a:t>Interrupt</a:t>
            </a:r>
            <a:r>
              <a:rPr lang="es-AR" dirty="0"/>
              <a:t> </a:t>
            </a:r>
            <a:r>
              <a:rPr lang="es-AR" dirty="0" err="1"/>
              <a:t>Enable</a:t>
            </a:r>
            <a:r>
              <a:rPr lang="es-AR" dirty="0"/>
              <a:t>)</a:t>
            </a:r>
          </a:p>
          <a:p>
            <a:pPr marL="0" indent="0">
              <a:buNone/>
            </a:pPr>
            <a:r>
              <a:rPr lang="es-AR" b="1" dirty="0"/>
              <a:t>T0IE = 1</a:t>
            </a:r>
            <a:r>
              <a:rPr lang="es-AR" dirty="0"/>
              <a:t> (Timer0 </a:t>
            </a:r>
            <a:r>
              <a:rPr lang="es-AR" dirty="0" err="1"/>
              <a:t>Interrupt</a:t>
            </a:r>
            <a:r>
              <a:rPr lang="es-AR" dirty="0"/>
              <a:t> </a:t>
            </a:r>
            <a:r>
              <a:rPr lang="es-AR" dirty="0" err="1"/>
              <a:t>Enable</a:t>
            </a:r>
            <a:r>
              <a:rPr lang="es-AR" dirty="0"/>
              <a:t>)</a:t>
            </a:r>
          </a:p>
          <a:p>
            <a:pPr marL="0" indent="0">
              <a:buNone/>
            </a:pPr>
            <a:endParaRPr lang="es-AR" dirty="0"/>
          </a:p>
          <a:p>
            <a:pPr marL="0" indent="0">
              <a:buNone/>
            </a:pPr>
            <a:endParaRPr lang="es-AR" dirty="0"/>
          </a:p>
          <a:p>
            <a:pPr marL="0" indent="0">
              <a:buNone/>
            </a:pPr>
            <a:r>
              <a:rPr lang="es-AR" dirty="0" err="1">
                <a:solidFill>
                  <a:srgbClr val="8E0028"/>
                </a:solidFill>
              </a:rPr>
              <a:t>Despues</a:t>
            </a:r>
            <a:r>
              <a:rPr lang="es-AR" dirty="0">
                <a:solidFill>
                  <a:srgbClr val="8E0028"/>
                </a:solidFill>
              </a:rPr>
              <a:t> de cada </a:t>
            </a:r>
            <a:r>
              <a:rPr lang="es-AR" dirty="0" err="1">
                <a:solidFill>
                  <a:srgbClr val="8E0028"/>
                </a:solidFill>
              </a:rPr>
              <a:t>overflow</a:t>
            </a:r>
            <a:r>
              <a:rPr lang="es-AR" dirty="0">
                <a:solidFill>
                  <a:srgbClr val="8E0028"/>
                </a:solidFill>
              </a:rPr>
              <a:t> hay que </a:t>
            </a:r>
            <a:r>
              <a:rPr lang="es-AR" dirty="0" err="1">
                <a:solidFill>
                  <a:srgbClr val="8E0028"/>
                </a:solidFill>
              </a:rPr>
              <a:t>setear</a:t>
            </a:r>
            <a:r>
              <a:rPr lang="es-AR" dirty="0">
                <a:solidFill>
                  <a:srgbClr val="8E0028"/>
                </a:solidFill>
              </a:rPr>
              <a:t> T0IF = 0.</a:t>
            </a:r>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B74AD7C3-DEDE-069F-3CF2-020D130C67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3E1B4510-27B4-FFEE-5666-69D4374BCC55}"/>
              </a:ext>
            </a:extLst>
          </p:cNvPr>
          <p:cNvPicPr>
            <a:picLocks noChangeAspect="1"/>
          </p:cNvPicPr>
          <p:nvPr/>
        </p:nvPicPr>
        <p:blipFill>
          <a:blip r:embed="rId4"/>
          <a:stretch>
            <a:fillRect/>
          </a:stretch>
        </p:blipFill>
        <p:spPr>
          <a:xfrm>
            <a:off x="7708900" y="3021156"/>
            <a:ext cx="2178843" cy="1977881"/>
          </a:xfrm>
          <a:prstGeom prst="rect">
            <a:avLst/>
          </a:prstGeom>
        </p:spPr>
      </p:pic>
      <p:pic>
        <p:nvPicPr>
          <p:cNvPr id="3" name="Imagen 2">
            <a:extLst>
              <a:ext uri="{FF2B5EF4-FFF2-40B4-BE49-F238E27FC236}">
                <a16:creationId xmlns:a16="http://schemas.microsoft.com/office/drawing/2014/main" id="{BF260205-D447-CB43-A43F-54A0CE2D767C}"/>
              </a:ext>
            </a:extLst>
          </p:cNvPr>
          <p:cNvPicPr>
            <a:picLocks noChangeAspect="1"/>
          </p:cNvPicPr>
          <p:nvPr/>
        </p:nvPicPr>
        <p:blipFill>
          <a:blip r:embed="rId5"/>
          <a:stretch>
            <a:fillRect/>
          </a:stretch>
        </p:blipFill>
        <p:spPr>
          <a:xfrm>
            <a:off x="6618400" y="6047538"/>
            <a:ext cx="3913148" cy="556473"/>
          </a:xfrm>
          <a:prstGeom prst="rect">
            <a:avLst/>
          </a:prstGeom>
        </p:spPr>
      </p:pic>
      <p:graphicFrame>
        <p:nvGraphicFramePr>
          <p:cNvPr id="8" name="Tabla 7">
            <a:extLst>
              <a:ext uri="{FF2B5EF4-FFF2-40B4-BE49-F238E27FC236}">
                <a16:creationId xmlns:a16="http://schemas.microsoft.com/office/drawing/2014/main" id="{AC54D183-125E-C497-18DD-797B24511B3E}"/>
              </a:ext>
            </a:extLst>
          </p:cNvPr>
          <p:cNvGraphicFramePr>
            <a:graphicFrameLocks noGrp="1"/>
          </p:cNvGraphicFramePr>
          <p:nvPr>
            <p:extLst>
              <p:ext uri="{D42A27DB-BD31-4B8C-83A1-F6EECF244321}">
                <p14:modId xmlns:p14="http://schemas.microsoft.com/office/powerpoint/2010/main" val="716036754"/>
              </p:ext>
            </p:extLst>
          </p:nvPr>
        </p:nvGraphicFramePr>
        <p:xfrm>
          <a:off x="927100" y="4117267"/>
          <a:ext cx="4343886" cy="729370"/>
        </p:xfrm>
        <a:graphic>
          <a:graphicData uri="http://schemas.openxmlformats.org/drawingml/2006/table">
            <a:tbl>
              <a:tblPr firstRow="1" bandRow="1">
                <a:tableStyleId>{5940675A-B579-460E-94D1-54222C63F5DA}</a:tableStyleId>
              </a:tblPr>
              <a:tblGrid>
                <a:gridCol w="542986">
                  <a:extLst>
                    <a:ext uri="{9D8B030D-6E8A-4147-A177-3AD203B41FA5}">
                      <a16:colId xmlns:a16="http://schemas.microsoft.com/office/drawing/2014/main" val="4189032162"/>
                    </a:ext>
                  </a:extLst>
                </a:gridCol>
                <a:gridCol w="590551">
                  <a:extLst>
                    <a:ext uri="{9D8B030D-6E8A-4147-A177-3AD203B41FA5}">
                      <a16:colId xmlns:a16="http://schemas.microsoft.com/office/drawing/2014/main" val="294409631"/>
                    </a:ext>
                  </a:extLst>
                </a:gridCol>
                <a:gridCol w="495419">
                  <a:extLst>
                    <a:ext uri="{9D8B030D-6E8A-4147-A177-3AD203B41FA5}">
                      <a16:colId xmlns:a16="http://schemas.microsoft.com/office/drawing/2014/main" val="767796657"/>
                    </a:ext>
                  </a:extLst>
                </a:gridCol>
                <a:gridCol w="542986">
                  <a:extLst>
                    <a:ext uri="{9D8B030D-6E8A-4147-A177-3AD203B41FA5}">
                      <a16:colId xmlns:a16="http://schemas.microsoft.com/office/drawing/2014/main" val="2350454090"/>
                    </a:ext>
                  </a:extLst>
                </a:gridCol>
                <a:gridCol w="542986">
                  <a:extLst>
                    <a:ext uri="{9D8B030D-6E8A-4147-A177-3AD203B41FA5}">
                      <a16:colId xmlns:a16="http://schemas.microsoft.com/office/drawing/2014/main" val="3261649070"/>
                    </a:ext>
                  </a:extLst>
                </a:gridCol>
                <a:gridCol w="542986">
                  <a:extLst>
                    <a:ext uri="{9D8B030D-6E8A-4147-A177-3AD203B41FA5}">
                      <a16:colId xmlns:a16="http://schemas.microsoft.com/office/drawing/2014/main" val="864864824"/>
                    </a:ext>
                  </a:extLst>
                </a:gridCol>
                <a:gridCol w="542986">
                  <a:extLst>
                    <a:ext uri="{9D8B030D-6E8A-4147-A177-3AD203B41FA5}">
                      <a16:colId xmlns:a16="http://schemas.microsoft.com/office/drawing/2014/main" val="1011266204"/>
                    </a:ext>
                  </a:extLst>
                </a:gridCol>
                <a:gridCol w="542986">
                  <a:extLst>
                    <a:ext uri="{9D8B030D-6E8A-4147-A177-3AD203B41FA5}">
                      <a16:colId xmlns:a16="http://schemas.microsoft.com/office/drawing/2014/main" val="1322241517"/>
                    </a:ext>
                  </a:extLst>
                </a:gridCol>
              </a:tblGrid>
              <a:tr h="405330">
                <a:tc>
                  <a:txBody>
                    <a:bodyPr/>
                    <a:lstStyle/>
                    <a:p>
                      <a:pPr algn="ctr"/>
                      <a:r>
                        <a:rPr lang="es-AR" sz="1100" b="0" i="0" u="none" strike="noStrike" kern="1200" baseline="0" dirty="0">
                          <a:solidFill>
                            <a:schemeClr val="tx1"/>
                          </a:solidFill>
                          <a:latin typeface="+mn-lt"/>
                          <a:ea typeface="+mn-ea"/>
                          <a:cs typeface="+mn-cs"/>
                        </a:rPr>
                        <a:t>GIE</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EEIE</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T0IE</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INTE</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RBIE</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T0IF</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INTF</a:t>
                      </a:r>
                      <a:endParaRPr lang="es-AR" sz="1100" dirty="0"/>
                    </a:p>
                  </a:txBody>
                  <a:tcPr marL="80201" marR="80201" marT="40100" marB="40100"/>
                </a:tc>
                <a:tc>
                  <a:txBody>
                    <a:bodyPr/>
                    <a:lstStyle/>
                    <a:p>
                      <a:pPr algn="ctr"/>
                      <a:r>
                        <a:rPr lang="es-AR" sz="1100" b="0" i="0" u="none" strike="noStrike" kern="1200" baseline="0" dirty="0">
                          <a:solidFill>
                            <a:schemeClr val="tx1"/>
                          </a:solidFill>
                          <a:latin typeface="+mn-lt"/>
                          <a:ea typeface="+mn-ea"/>
                          <a:cs typeface="+mn-cs"/>
                        </a:rPr>
                        <a:t>RBIF</a:t>
                      </a:r>
                      <a:endParaRPr lang="es-AR" sz="1100" dirty="0"/>
                    </a:p>
                  </a:txBody>
                  <a:tcPr marL="80201" marR="80201" marT="40100" marB="40100"/>
                </a:tc>
                <a:extLst>
                  <a:ext uri="{0D108BD9-81ED-4DB2-BD59-A6C34878D82A}">
                    <a16:rowId xmlns:a16="http://schemas.microsoft.com/office/drawing/2014/main" val="3377763911"/>
                  </a:ext>
                </a:extLst>
              </a:tr>
              <a:tr h="320802">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extLst>
                  <a:ext uri="{0D108BD9-81ED-4DB2-BD59-A6C34878D82A}">
                    <a16:rowId xmlns:a16="http://schemas.microsoft.com/office/drawing/2014/main" val="2751453384"/>
                  </a:ext>
                </a:extLst>
              </a:tr>
            </a:tbl>
          </a:graphicData>
        </a:graphic>
      </p:graphicFrame>
      <p:sp>
        <p:nvSpPr>
          <p:cNvPr id="9" name="Elipse 8">
            <a:extLst>
              <a:ext uri="{FF2B5EF4-FFF2-40B4-BE49-F238E27FC236}">
                <a16:creationId xmlns:a16="http://schemas.microsoft.com/office/drawing/2014/main" id="{30A57DDA-BC04-1DF4-6DF5-81B300B70BCF}"/>
              </a:ext>
            </a:extLst>
          </p:cNvPr>
          <p:cNvSpPr/>
          <p:nvPr/>
        </p:nvSpPr>
        <p:spPr>
          <a:xfrm>
            <a:off x="3604524" y="4084637"/>
            <a:ext cx="599176" cy="381000"/>
          </a:xfrm>
          <a:prstGeom prst="ellipse">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AR" sz="1579"/>
          </a:p>
        </p:txBody>
      </p:sp>
      <p:sp>
        <p:nvSpPr>
          <p:cNvPr id="10" name="Flecha: hacia abajo 9">
            <a:extLst>
              <a:ext uri="{FF2B5EF4-FFF2-40B4-BE49-F238E27FC236}">
                <a16:creationId xmlns:a16="http://schemas.microsoft.com/office/drawing/2014/main" id="{B1DA20BB-902B-EC77-223B-CB5F27B95243}"/>
              </a:ext>
            </a:extLst>
          </p:cNvPr>
          <p:cNvSpPr/>
          <p:nvPr/>
        </p:nvSpPr>
        <p:spPr>
          <a:xfrm rot="10800000">
            <a:off x="3740565" y="4909935"/>
            <a:ext cx="310735" cy="241501"/>
          </a:xfrm>
          <a:prstGeom prst="down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7" name="Elipse 6">
            <a:extLst>
              <a:ext uri="{FF2B5EF4-FFF2-40B4-BE49-F238E27FC236}">
                <a16:creationId xmlns:a16="http://schemas.microsoft.com/office/drawing/2014/main" id="{43EC03AA-211A-A612-AA6A-A98C6DDD11AE}"/>
              </a:ext>
            </a:extLst>
          </p:cNvPr>
          <p:cNvSpPr/>
          <p:nvPr/>
        </p:nvSpPr>
        <p:spPr>
          <a:xfrm>
            <a:off x="850900" y="4084637"/>
            <a:ext cx="599176" cy="381000"/>
          </a:xfrm>
          <a:prstGeom prst="ellipse">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AR" sz="1579"/>
          </a:p>
        </p:txBody>
      </p:sp>
      <p:sp>
        <p:nvSpPr>
          <p:cNvPr id="11" name="Flecha: hacia abajo 10">
            <a:extLst>
              <a:ext uri="{FF2B5EF4-FFF2-40B4-BE49-F238E27FC236}">
                <a16:creationId xmlns:a16="http://schemas.microsoft.com/office/drawing/2014/main" id="{9A211683-8B9D-DFA7-43B2-3B704FAAF2DF}"/>
              </a:ext>
            </a:extLst>
          </p:cNvPr>
          <p:cNvSpPr/>
          <p:nvPr/>
        </p:nvSpPr>
        <p:spPr>
          <a:xfrm rot="10800000">
            <a:off x="986941" y="4909935"/>
            <a:ext cx="310735" cy="241501"/>
          </a:xfrm>
          <a:prstGeom prst="down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Tree>
    <p:extLst>
      <p:ext uri="{BB962C8B-B14F-4D97-AF65-F5344CB8AC3E}">
        <p14:creationId xmlns:p14="http://schemas.microsoft.com/office/powerpoint/2010/main" val="22124829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07341-51C8-0D7C-3815-B0DD8DD53D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278A7D-670D-5B0A-AE50-5F2E2D7CA1E5}"/>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8CA115D4-7F32-EFAA-42F0-CFBD3F2C4589}"/>
              </a:ext>
            </a:extLst>
          </p:cNvPr>
          <p:cNvSpPr>
            <a:spLocks noGrp="1"/>
          </p:cNvSpPr>
          <p:nvPr>
            <p:ph idx="1"/>
          </p:nvPr>
        </p:nvSpPr>
        <p:spPr>
          <a:xfrm>
            <a:off x="735171" y="2373544"/>
            <a:ext cx="9523809" cy="3816486"/>
          </a:xfrm>
        </p:spPr>
        <p:txBody>
          <a:bodyPr vert="horz" lIns="80201" tIns="40100" rIns="80201" bIns="40100" rtlCol="0">
            <a:normAutofit/>
          </a:bodyPr>
          <a:lstStyle/>
          <a:p>
            <a:pPr marL="0" indent="0">
              <a:buNone/>
            </a:pPr>
            <a:r>
              <a:rPr lang="es-AR" dirty="0"/>
              <a:t>Calcular valores del TMR0 y </a:t>
            </a:r>
            <a:r>
              <a:rPr lang="es-AR" dirty="0" err="1"/>
              <a:t>preescaler</a:t>
            </a:r>
            <a:r>
              <a:rPr lang="es-AR" dirty="0"/>
              <a:t> para:</a:t>
            </a:r>
          </a:p>
          <a:p>
            <a:pPr marL="451136" indent="-451136">
              <a:buAutoNum type="arabicParenR"/>
            </a:pPr>
            <a:r>
              <a:rPr lang="es-AR" dirty="0"/>
              <a:t>5s</a:t>
            </a:r>
          </a:p>
          <a:p>
            <a:pPr marL="451136" indent="-451136">
              <a:buAutoNum type="arabicParenR"/>
            </a:pPr>
            <a:r>
              <a:rPr lang="es-AR" dirty="0"/>
              <a:t>10s</a:t>
            </a:r>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58C414C3-25D5-0DC5-758B-225FBF730D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EE6EC658-CC11-1195-3CFB-78918FA1E22E}"/>
              </a:ext>
            </a:extLst>
          </p:cNvPr>
          <p:cNvPicPr>
            <a:picLocks noChangeAspect="1"/>
          </p:cNvPicPr>
          <p:nvPr/>
        </p:nvPicPr>
        <p:blipFill>
          <a:blip r:embed="rId4"/>
          <a:stretch>
            <a:fillRect/>
          </a:stretch>
        </p:blipFill>
        <p:spPr>
          <a:xfrm>
            <a:off x="7054012" y="2781908"/>
            <a:ext cx="3304547" cy="2999758"/>
          </a:xfrm>
          <a:prstGeom prst="rect">
            <a:avLst/>
          </a:prstGeom>
        </p:spPr>
      </p:pic>
      <p:graphicFrame>
        <p:nvGraphicFramePr>
          <p:cNvPr id="9" name="Tabla 8">
            <a:extLst>
              <a:ext uri="{FF2B5EF4-FFF2-40B4-BE49-F238E27FC236}">
                <a16:creationId xmlns:a16="http://schemas.microsoft.com/office/drawing/2014/main" id="{59B8EC56-3597-CF66-9467-FC100D4DDCC7}"/>
              </a:ext>
            </a:extLst>
          </p:cNvPr>
          <p:cNvGraphicFramePr>
            <a:graphicFrameLocks noGrp="1"/>
          </p:cNvGraphicFramePr>
          <p:nvPr/>
        </p:nvGraphicFramePr>
        <p:xfrm>
          <a:off x="1101744" y="4912596"/>
          <a:ext cx="5230590" cy="769541"/>
        </p:xfrm>
        <a:graphic>
          <a:graphicData uri="http://schemas.openxmlformats.org/drawingml/2006/table">
            <a:tbl>
              <a:tblPr firstRow="1" bandRow="1">
                <a:tableStyleId>{5940675A-B579-460E-94D1-54222C63F5DA}</a:tableStyleId>
              </a:tblPr>
              <a:tblGrid>
                <a:gridCol w="653824">
                  <a:extLst>
                    <a:ext uri="{9D8B030D-6E8A-4147-A177-3AD203B41FA5}">
                      <a16:colId xmlns:a16="http://schemas.microsoft.com/office/drawing/2014/main" val="4189032162"/>
                    </a:ext>
                  </a:extLst>
                </a:gridCol>
                <a:gridCol w="711099">
                  <a:extLst>
                    <a:ext uri="{9D8B030D-6E8A-4147-A177-3AD203B41FA5}">
                      <a16:colId xmlns:a16="http://schemas.microsoft.com/office/drawing/2014/main" val="294409631"/>
                    </a:ext>
                  </a:extLst>
                </a:gridCol>
                <a:gridCol w="596547">
                  <a:extLst>
                    <a:ext uri="{9D8B030D-6E8A-4147-A177-3AD203B41FA5}">
                      <a16:colId xmlns:a16="http://schemas.microsoft.com/office/drawing/2014/main" val="767796657"/>
                    </a:ext>
                  </a:extLst>
                </a:gridCol>
                <a:gridCol w="653824">
                  <a:extLst>
                    <a:ext uri="{9D8B030D-6E8A-4147-A177-3AD203B41FA5}">
                      <a16:colId xmlns:a16="http://schemas.microsoft.com/office/drawing/2014/main" val="2350454090"/>
                    </a:ext>
                  </a:extLst>
                </a:gridCol>
                <a:gridCol w="653824">
                  <a:extLst>
                    <a:ext uri="{9D8B030D-6E8A-4147-A177-3AD203B41FA5}">
                      <a16:colId xmlns:a16="http://schemas.microsoft.com/office/drawing/2014/main" val="3261649070"/>
                    </a:ext>
                  </a:extLst>
                </a:gridCol>
                <a:gridCol w="653824">
                  <a:extLst>
                    <a:ext uri="{9D8B030D-6E8A-4147-A177-3AD203B41FA5}">
                      <a16:colId xmlns:a16="http://schemas.microsoft.com/office/drawing/2014/main" val="864864824"/>
                    </a:ext>
                  </a:extLst>
                </a:gridCol>
                <a:gridCol w="653824">
                  <a:extLst>
                    <a:ext uri="{9D8B030D-6E8A-4147-A177-3AD203B41FA5}">
                      <a16:colId xmlns:a16="http://schemas.microsoft.com/office/drawing/2014/main" val="1011266204"/>
                    </a:ext>
                  </a:extLst>
                </a:gridCol>
                <a:gridCol w="653824">
                  <a:extLst>
                    <a:ext uri="{9D8B030D-6E8A-4147-A177-3AD203B41FA5}">
                      <a16:colId xmlns:a16="http://schemas.microsoft.com/office/drawing/2014/main" val="1322241517"/>
                    </a:ext>
                  </a:extLst>
                </a:gridCol>
              </a:tblGrid>
              <a:tr h="445501">
                <a:tc>
                  <a:txBody>
                    <a:bodyPr/>
                    <a:lstStyle/>
                    <a:p>
                      <a:r>
                        <a:rPr lang="es-AR" sz="1200" b="0" i="0" u="none" strike="noStrike" kern="1200" baseline="0" dirty="0">
                          <a:solidFill>
                            <a:schemeClr val="tx1"/>
                          </a:solidFill>
                          <a:latin typeface="+mn-lt"/>
                          <a:ea typeface="+mn-ea"/>
                          <a:cs typeface="+mn-cs"/>
                        </a:rPr>
                        <a:t>RBPU</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INTEDG</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T0CS</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T0SE</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PSA</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PS2</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PS1</a:t>
                      </a:r>
                      <a:endParaRPr lang="es-AR" sz="1200" dirty="0"/>
                    </a:p>
                  </a:txBody>
                  <a:tcPr marL="80201" marR="80201" marT="40100" marB="40100"/>
                </a:tc>
                <a:tc>
                  <a:txBody>
                    <a:bodyPr/>
                    <a:lstStyle/>
                    <a:p>
                      <a:r>
                        <a:rPr lang="es-AR" sz="1200" b="0" i="0" u="none" strike="noStrike" kern="1200" baseline="0" dirty="0">
                          <a:solidFill>
                            <a:schemeClr val="tx1"/>
                          </a:solidFill>
                          <a:latin typeface="+mn-lt"/>
                          <a:ea typeface="+mn-ea"/>
                          <a:cs typeface="+mn-cs"/>
                        </a:rPr>
                        <a:t>PS0</a:t>
                      </a:r>
                      <a:endParaRPr lang="es-AR" sz="1200" dirty="0"/>
                    </a:p>
                  </a:txBody>
                  <a:tcPr marL="80201" marR="80201" marT="40100" marB="40100"/>
                </a:tc>
                <a:extLst>
                  <a:ext uri="{0D108BD9-81ED-4DB2-BD59-A6C34878D82A}">
                    <a16:rowId xmlns:a16="http://schemas.microsoft.com/office/drawing/2014/main" val="3377763911"/>
                  </a:ext>
                </a:extLst>
              </a:tr>
              <a:tr h="320802">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tc>
                  <a:txBody>
                    <a:bodyPr/>
                    <a:lstStyle/>
                    <a:p>
                      <a:endParaRPr lang="es-AR" sz="1600" dirty="0"/>
                    </a:p>
                  </a:txBody>
                  <a:tcPr marL="80201" marR="80201" marT="40100" marB="40100"/>
                </a:tc>
                <a:extLst>
                  <a:ext uri="{0D108BD9-81ED-4DB2-BD59-A6C34878D82A}">
                    <a16:rowId xmlns:a16="http://schemas.microsoft.com/office/drawing/2014/main" val="2751453384"/>
                  </a:ext>
                </a:extLst>
              </a:tr>
            </a:tbl>
          </a:graphicData>
        </a:graphic>
      </p:graphicFrame>
    </p:spTree>
    <p:extLst>
      <p:ext uri="{BB962C8B-B14F-4D97-AF65-F5344CB8AC3E}">
        <p14:creationId xmlns:p14="http://schemas.microsoft.com/office/powerpoint/2010/main" val="16826645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ADED-F930-0788-BE37-8314C67AB7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1D537A-820C-0783-ABB9-55D67D04D4E4}"/>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18400ED6-E1C9-F6F6-5B39-25EF52A66686}"/>
              </a:ext>
            </a:extLst>
          </p:cNvPr>
          <p:cNvSpPr>
            <a:spLocks noGrp="1"/>
          </p:cNvSpPr>
          <p:nvPr>
            <p:ph idx="1"/>
          </p:nvPr>
        </p:nvSpPr>
        <p:spPr>
          <a:xfrm>
            <a:off x="735171" y="2373544"/>
            <a:ext cx="9523809" cy="4344953"/>
          </a:xfrm>
        </p:spPr>
        <p:txBody>
          <a:bodyPr vert="horz" lIns="80201" tIns="40100" rIns="80201" bIns="40100" rtlCol="0">
            <a:normAutofit fontScale="775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1) 5s</a:t>
            </a:r>
          </a:p>
          <a:p>
            <a:pPr marL="0" indent="0">
              <a:buNone/>
            </a:pPr>
            <a:r>
              <a:rPr lang="es-AR" dirty="0"/>
              <a:t>Elegimos </a:t>
            </a:r>
            <a:r>
              <a:rPr lang="es-AR" dirty="0" err="1"/>
              <a:t>preescaler</a:t>
            </a:r>
            <a:r>
              <a:rPr lang="es-AR" dirty="0"/>
              <a:t> </a:t>
            </a:r>
            <a:r>
              <a:rPr lang="es-AR" dirty="0">
                <a:solidFill>
                  <a:srgbClr val="8E0028"/>
                </a:solidFill>
              </a:rPr>
              <a:t>1:256</a:t>
            </a:r>
            <a:r>
              <a:rPr lang="es-AR" dirty="0"/>
              <a:t>              </a:t>
            </a:r>
            <a:r>
              <a:rPr lang="es-AR" dirty="0">
                <a:solidFill>
                  <a:srgbClr val="8E0028"/>
                </a:solidFill>
              </a:rPr>
              <a:t>Tiempo máximo 65536 </a:t>
            </a:r>
            <a:r>
              <a:rPr lang="el-GR" dirty="0">
                <a:solidFill>
                  <a:srgbClr val="8E0028"/>
                </a:solidFill>
              </a:rPr>
              <a:t>μ</a:t>
            </a:r>
            <a:r>
              <a:rPr lang="es-AR" dirty="0">
                <a:solidFill>
                  <a:srgbClr val="8E0028"/>
                </a:solidFill>
              </a:rPr>
              <a:t>s</a:t>
            </a:r>
          </a:p>
          <a:p>
            <a:pPr marL="0" indent="0">
              <a:buNone/>
            </a:pPr>
            <a:r>
              <a:rPr lang="es-AR" dirty="0"/>
              <a:t>	</a:t>
            </a:r>
            <a:r>
              <a:rPr lang="es-AR" dirty="0">
                <a:solidFill>
                  <a:schemeClr val="tx2"/>
                </a:solidFill>
              </a:rPr>
              <a:t>5.000.000 </a:t>
            </a:r>
            <a:r>
              <a:rPr lang="el-GR" dirty="0">
                <a:solidFill>
                  <a:schemeClr val="tx2"/>
                </a:solidFill>
              </a:rPr>
              <a:t>μ</a:t>
            </a:r>
            <a:r>
              <a:rPr lang="es-AR" dirty="0">
                <a:solidFill>
                  <a:schemeClr val="tx2"/>
                </a:solidFill>
              </a:rPr>
              <a:t>s / 65536 </a:t>
            </a:r>
            <a:r>
              <a:rPr lang="el-GR" dirty="0">
                <a:solidFill>
                  <a:schemeClr val="tx2"/>
                </a:solidFill>
              </a:rPr>
              <a:t>μ</a:t>
            </a:r>
            <a:r>
              <a:rPr lang="es-AR" dirty="0">
                <a:solidFill>
                  <a:schemeClr val="tx2"/>
                </a:solidFill>
              </a:rPr>
              <a:t>s = 76,29</a:t>
            </a:r>
          </a:p>
          <a:p>
            <a:pPr marL="0" indent="0">
              <a:buNone/>
            </a:pPr>
            <a:r>
              <a:rPr lang="es-AR" dirty="0"/>
              <a:t>Necesitamos 76 </a:t>
            </a:r>
            <a:r>
              <a:rPr lang="es-AR" dirty="0" err="1"/>
              <a:t>overflows</a:t>
            </a:r>
            <a:r>
              <a:rPr lang="es-AR" dirty="0"/>
              <a:t> con </a:t>
            </a:r>
            <a:r>
              <a:rPr lang="es-AR" dirty="0">
                <a:solidFill>
                  <a:srgbClr val="8E0028"/>
                </a:solidFill>
              </a:rPr>
              <a:t>TMR0 = 0</a:t>
            </a:r>
            <a:r>
              <a:rPr lang="es-AR" dirty="0"/>
              <a:t>:</a:t>
            </a:r>
          </a:p>
          <a:p>
            <a:pPr marL="0" indent="0">
              <a:buNone/>
            </a:pPr>
            <a:r>
              <a:rPr lang="es-AR" dirty="0"/>
              <a:t>	</a:t>
            </a:r>
            <a:r>
              <a:rPr lang="es-AR" dirty="0">
                <a:solidFill>
                  <a:schemeClr val="tx2"/>
                </a:solidFill>
              </a:rPr>
              <a:t>T = 65536 </a:t>
            </a:r>
            <a:r>
              <a:rPr lang="el-GR" dirty="0">
                <a:solidFill>
                  <a:schemeClr val="tx2"/>
                </a:solidFill>
              </a:rPr>
              <a:t>μ</a:t>
            </a:r>
            <a:r>
              <a:rPr lang="es-AR" dirty="0">
                <a:solidFill>
                  <a:schemeClr val="tx2"/>
                </a:solidFill>
              </a:rPr>
              <a:t>s * 76 = 4.980.736 </a:t>
            </a:r>
            <a:r>
              <a:rPr lang="el-GR" dirty="0">
                <a:solidFill>
                  <a:schemeClr val="tx2"/>
                </a:solidFill>
              </a:rPr>
              <a:t>μ</a:t>
            </a:r>
            <a:r>
              <a:rPr lang="es-AR" dirty="0">
                <a:solidFill>
                  <a:schemeClr val="tx2"/>
                </a:solidFill>
              </a:rPr>
              <a:t>s</a:t>
            </a:r>
          </a:p>
          <a:p>
            <a:r>
              <a:rPr lang="es-AR" dirty="0"/>
              <a:t>Y uno mas para completar los 19264 </a:t>
            </a:r>
            <a:r>
              <a:rPr lang="el-GR" dirty="0"/>
              <a:t>μ</a:t>
            </a:r>
            <a:r>
              <a:rPr lang="es-AR" dirty="0"/>
              <a:t>s faltantes </a:t>
            </a:r>
            <a:r>
              <a:rPr lang="es-AR" sz="1800" dirty="0"/>
              <a:t>(5000000 – 498736)</a:t>
            </a:r>
          </a:p>
          <a:p>
            <a:pPr marL="0" indent="0">
              <a:buNone/>
            </a:pPr>
            <a:r>
              <a:rPr lang="es-MX" dirty="0"/>
              <a:t>	</a:t>
            </a:r>
            <a:r>
              <a:rPr lang="es-MX" dirty="0">
                <a:solidFill>
                  <a:schemeClr val="tx2"/>
                </a:solidFill>
              </a:rPr>
              <a:t>T = (256 – TMR0) * 1 </a:t>
            </a:r>
            <a:r>
              <a:rPr lang="el-GR" dirty="0">
                <a:solidFill>
                  <a:schemeClr val="tx2"/>
                </a:solidFill>
              </a:rPr>
              <a:t>μ</a:t>
            </a:r>
            <a:r>
              <a:rPr lang="es-AR" dirty="0">
                <a:solidFill>
                  <a:schemeClr val="tx2"/>
                </a:solidFill>
              </a:rPr>
              <a:t>s </a:t>
            </a:r>
            <a:r>
              <a:rPr lang="es-MX" dirty="0">
                <a:solidFill>
                  <a:schemeClr val="tx2"/>
                </a:solidFill>
              </a:rPr>
              <a:t>* </a:t>
            </a:r>
            <a:r>
              <a:rPr lang="es-AR" dirty="0">
                <a:solidFill>
                  <a:schemeClr val="tx2"/>
                </a:solidFill>
              </a:rPr>
              <a:t>256 = 19264 </a:t>
            </a:r>
            <a:r>
              <a:rPr lang="el-GR" dirty="0">
                <a:solidFill>
                  <a:schemeClr val="tx2"/>
                </a:solidFill>
              </a:rPr>
              <a:t>μ</a:t>
            </a:r>
            <a:r>
              <a:rPr lang="es-AR" dirty="0">
                <a:solidFill>
                  <a:schemeClr val="tx2"/>
                </a:solidFill>
              </a:rPr>
              <a:t>s</a:t>
            </a:r>
          </a:p>
          <a:p>
            <a:pPr marL="0" indent="0">
              <a:buNone/>
            </a:pPr>
            <a:r>
              <a:rPr lang="es-AR" dirty="0"/>
              <a:t>	</a:t>
            </a:r>
            <a:r>
              <a:rPr lang="es-AR" dirty="0">
                <a:solidFill>
                  <a:schemeClr val="tx2"/>
                </a:solidFill>
              </a:rPr>
              <a:t>TMR0 = 256 – (19264/256) = </a:t>
            </a:r>
          </a:p>
          <a:p>
            <a:pPr marL="0" indent="0">
              <a:buNone/>
            </a:pPr>
            <a:r>
              <a:rPr lang="es-AR" dirty="0">
                <a:solidFill>
                  <a:srgbClr val="8E0028"/>
                </a:solidFill>
              </a:rPr>
              <a:t>	TMR0</a:t>
            </a:r>
            <a:r>
              <a:rPr lang="es-AR" dirty="0"/>
              <a:t> = 256 –       75,25       = 180,75 = </a:t>
            </a:r>
            <a:r>
              <a:rPr lang="es-AR" dirty="0">
                <a:solidFill>
                  <a:srgbClr val="8E0028"/>
                </a:solidFill>
              </a:rPr>
              <a:t>181</a:t>
            </a:r>
          </a:p>
          <a:p>
            <a:pPr marL="0" indent="0">
              <a:buNone/>
            </a:pPr>
            <a:r>
              <a:rPr lang="es-AR" dirty="0"/>
              <a:t>	</a:t>
            </a:r>
            <a:r>
              <a:rPr lang="es-AR" dirty="0">
                <a:solidFill>
                  <a:schemeClr val="tx2"/>
                </a:solidFill>
              </a:rPr>
              <a:t>T = (256 – 181) * 1 </a:t>
            </a:r>
            <a:r>
              <a:rPr lang="el-GR" dirty="0">
                <a:solidFill>
                  <a:schemeClr val="tx2"/>
                </a:solidFill>
              </a:rPr>
              <a:t>μ</a:t>
            </a:r>
            <a:r>
              <a:rPr lang="es-AR" dirty="0">
                <a:solidFill>
                  <a:schemeClr val="tx2"/>
                </a:solidFill>
              </a:rPr>
              <a:t>s * 256 = 19200 </a:t>
            </a:r>
            <a:r>
              <a:rPr lang="el-GR" dirty="0">
                <a:solidFill>
                  <a:schemeClr val="tx2"/>
                </a:solidFill>
              </a:rPr>
              <a:t>μ</a:t>
            </a:r>
            <a:r>
              <a:rPr lang="es-AR" dirty="0">
                <a:solidFill>
                  <a:schemeClr val="tx2"/>
                </a:solidFill>
              </a:rPr>
              <a:t>s</a:t>
            </a:r>
          </a:p>
          <a:p>
            <a:pPr marL="0" indent="0">
              <a:buNone/>
            </a:pPr>
            <a:r>
              <a:rPr lang="es-AR" dirty="0">
                <a:solidFill>
                  <a:srgbClr val="FF0000"/>
                </a:solidFill>
              </a:rPr>
              <a:t>Tiempo final: </a:t>
            </a:r>
            <a:r>
              <a:rPr lang="es-AR" sz="2100" b="1" dirty="0">
                <a:solidFill>
                  <a:srgbClr val="0070C0"/>
                </a:solidFill>
              </a:rPr>
              <a:t>(4.980.736 + 19200)</a:t>
            </a:r>
            <a:r>
              <a:rPr lang="es-AR" dirty="0">
                <a:solidFill>
                  <a:schemeClr val="tx2"/>
                </a:solidFill>
              </a:rPr>
              <a:t> = </a:t>
            </a:r>
            <a:r>
              <a:rPr lang="es-AR" dirty="0">
                <a:solidFill>
                  <a:srgbClr val="FF0000"/>
                </a:solidFill>
              </a:rPr>
              <a:t>4.999.936 </a:t>
            </a:r>
            <a:r>
              <a:rPr lang="el-GR" dirty="0">
                <a:solidFill>
                  <a:srgbClr val="FF0000"/>
                </a:solidFill>
              </a:rPr>
              <a:t>μ</a:t>
            </a:r>
            <a:r>
              <a:rPr lang="es-AR" dirty="0">
                <a:solidFill>
                  <a:srgbClr val="FF0000"/>
                </a:solidFill>
              </a:rPr>
              <a:t>s</a:t>
            </a: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AAE11A31-F647-F83D-8BFD-C065AF0B8DF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91BEF6B7-5C59-9BCC-9894-39BBC8D34E10}"/>
              </a:ext>
            </a:extLst>
          </p:cNvPr>
          <p:cNvPicPr>
            <a:picLocks noChangeAspect="1"/>
          </p:cNvPicPr>
          <p:nvPr/>
        </p:nvPicPr>
        <p:blipFill>
          <a:blip r:embed="rId4"/>
          <a:stretch>
            <a:fillRect/>
          </a:stretch>
        </p:blipFill>
        <p:spPr>
          <a:xfrm>
            <a:off x="8318500" y="4773756"/>
            <a:ext cx="2178843" cy="1977881"/>
          </a:xfrm>
          <a:prstGeom prst="rect">
            <a:avLst/>
          </a:prstGeom>
        </p:spPr>
      </p:pic>
      <p:pic>
        <p:nvPicPr>
          <p:cNvPr id="3" name="Imagen 2">
            <a:extLst>
              <a:ext uri="{FF2B5EF4-FFF2-40B4-BE49-F238E27FC236}">
                <a16:creationId xmlns:a16="http://schemas.microsoft.com/office/drawing/2014/main" id="{1286780D-22A4-DFA5-C158-47CBA2812750}"/>
              </a:ext>
            </a:extLst>
          </p:cNvPr>
          <p:cNvPicPr>
            <a:picLocks noChangeAspect="1"/>
          </p:cNvPicPr>
          <p:nvPr/>
        </p:nvPicPr>
        <p:blipFill>
          <a:blip r:embed="rId5"/>
          <a:stretch>
            <a:fillRect/>
          </a:stretch>
        </p:blipFill>
        <p:spPr>
          <a:xfrm>
            <a:off x="6618400" y="6880964"/>
            <a:ext cx="3913148" cy="556473"/>
          </a:xfrm>
          <a:prstGeom prst="rect">
            <a:avLst/>
          </a:prstGeom>
        </p:spPr>
      </p:pic>
      <p:sp>
        <p:nvSpPr>
          <p:cNvPr id="7" name="Flecha: a la derecha 6">
            <a:extLst>
              <a:ext uri="{FF2B5EF4-FFF2-40B4-BE49-F238E27FC236}">
                <a16:creationId xmlns:a16="http://schemas.microsoft.com/office/drawing/2014/main" id="{FEDAE8D1-D629-F70C-D290-4B503298C3BA}"/>
              </a:ext>
            </a:extLst>
          </p:cNvPr>
          <p:cNvSpPr/>
          <p:nvPr/>
        </p:nvSpPr>
        <p:spPr>
          <a:xfrm rot="10800000">
            <a:off x="4439382" y="2749986"/>
            <a:ext cx="437457" cy="393580"/>
          </a:xfrm>
          <a:prstGeom prst="right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8" name="Rectángulo 7">
            <a:extLst>
              <a:ext uri="{FF2B5EF4-FFF2-40B4-BE49-F238E27FC236}">
                <a16:creationId xmlns:a16="http://schemas.microsoft.com/office/drawing/2014/main" id="{1FA77972-224E-9E20-FC86-724093F72A11}"/>
              </a:ext>
            </a:extLst>
          </p:cNvPr>
          <p:cNvSpPr/>
          <p:nvPr/>
        </p:nvSpPr>
        <p:spPr>
          <a:xfrm>
            <a:off x="774700" y="3143567"/>
            <a:ext cx="5883229" cy="738623"/>
          </a:xfrm>
          <a:prstGeom prst="rect">
            <a:avLst/>
          </a:prstGeom>
          <a:solidFill>
            <a:schemeClr val="accent1">
              <a:alpha val="1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Flecha: a la derecha 8">
            <a:extLst>
              <a:ext uri="{FF2B5EF4-FFF2-40B4-BE49-F238E27FC236}">
                <a16:creationId xmlns:a16="http://schemas.microsoft.com/office/drawing/2014/main" id="{6685F2A0-908A-076F-C284-62D626FE1271}"/>
              </a:ext>
            </a:extLst>
          </p:cNvPr>
          <p:cNvSpPr/>
          <p:nvPr/>
        </p:nvSpPr>
        <p:spPr>
          <a:xfrm>
            <a:off x="7785100" y="64468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8288721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2877A-C611-3C10-B6C3-615C028BB0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17A187F-C0C6-A0D6-656C-650D4C43517D}"/>
              </a:ext>
            </a:extLst>
          </p:cNvPr>
          <p:cNvSpPr>
            <a:spLocks noGrp="1"/>
          </p:cNvSpPr>
          <p:nvPr>
            <p:ph type="title"/>
          </p:nvPr>
        </p:nvSpPr>
        <p:spPr>
          <a:xfrm>
            <a:off x="1478696" y="1092564"/>
            <a:ext cx="8479532" cy="1162629"/>
          </a:xfrm>
        </p:spPr>
        <p:txBody>
          <a:bodyPr vert="horz" lIns="80201" tIns="40100" rIns="80201" bIns="40100" rtlCol="0" anchor="t">
            <a:normAutofit/>
          </a:bodyPr>
          <a:lstStyle/>
          <a:p>
            <a:r>
              <a:rPr lang="en-US" sz="4736" dirty="0">
                <a:solidFill>
                  <a:srgbClr val="8E0028"/>
                </a:solidFill>
                <a:effectLst>
                  <a:outerShdw blurRad="38100" dist="38100" dir="2700000" algn="tl">
                    <a:srgbClr val="000000">
                      <a:alpha val="43137"/>
                    </a:srgbClr>
                  </a:outerShdw>
                </a:effectLst>
              </a:rPr>
              <a:t>Timer 0 </a:t>
            </a:r>
            <a:r>
              <a:rPr lang="en-US" sz="4736" dirty="0" err="1">
                <a:solidFill>
                  <a:srgbClr val="8E0028"/>
                </a:solidFill>
                <a:effectLst>
                  <a:outerShdw blurRad="38100" dist="38100" dir="2700000" algn="tl">
                    <a:srgbClr val="000000">
                      <a:alpha val="43137"/>
                    </a:srgbClr>
                  </a:outerShdw>
                </a:effectLst>
              </a:rPr>
              <a:t>como</a:t>
            </a:r>
            <a:r>
              <a:rPr lang="en-US" sz="4736" dirty="0">
                <a:solidFill>
                  <a:srgbClr val="8E0028"/>
                </a:solidFill>
                <a:effectLst>
                  <a:outerShdw blurRad="38100" dist="38100" dir="2700000" algn="tl">
                    <a:srgbClr val="000000">
                      <a:alpha val="43137"/>
                    </a:srgbClr>
                  </a:outerShdw>
                </a:effectLst>
              </a:rPr>
              <a:t> </a:t>
            </a:r>
            <a:r>
              <a:rPr lang="en-US" sz="4736" dirty="0" err="1">
                <a:solidFill>
                  <a:srgbClr val="8E0028"/>
                </a:solidFill>
                <a:effectLst>
                  <a:outerShdw blurRad="38100" dist="38100" dir="2700000" algn="tl">
                    <a:srgbClr val="000000">
                      <a:alpha val="43137"/>
                    </a:srgbClr>
                  </a:outerShdw>
                </a:effectLst>
              </a:rPr>
              <a:t>temporizador</a:t>
            </a:r>
            <a:endParaRPr lang="en-US" sz="4736" dirty="0">
              <a:solidFill>
                <a:srgbClr val="8E0028"/>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BF4B3F62-C1DE-D378-33DA-F365119E2E9D}"/>
              </a:ext>
            </a:extLst>
          </p:cNvPr>
          <p:cNvSpPr>
            <a:spLocks noGrp="1"/>
          </p:cNvSpPr>
          <p:nvPr>
            <p:ph idx="1"/>
          </p:nvPr>
        </p:nvSpPr>
        <p:spPr>
          <a:xfrm>
            <a:off x="735171" y="2373544"/>
            <a:ext cx="9523809" cy="4344953"/>
          </a:xfrm>
        </p:spPr>
        <p:txBody>
          <a:bodyPr vert="horz" lIns="80201" tIns="40100" rIns="80201" bIns="40100" rtlCol="0">
            <a:normAutofit fontScale="77500" lnSpcReduction="20000"/>
          </a:bodyPr>
          <a:lstStyle/>
          <a:p>
            <a:pPr marL="0" indent="0" algn="ctr">
              <a:buNone/>
            </a:pPr>
            <a:r>
              <a:rPr lang="es-AR" b="1" u="sng" dirty="0">
                <a:solidFill>
                  <a:srgbClr val="FF0000"/>
                </a:solidFill>
                <a:effectLst>
                  <a:outerShdw blurRad="38100" dist="38100" dir="2700000" algn="tl">
                    <a:srgbClr val="000000">
                      <a:alpha val="43137"/>
                    </a:srgbClr>
                  </a:outerShdw>
                </a:effectLst>
              </a:rPr>
              <a:t>2) 10s</a:t>
            </a:r>
          </a:p>
          <a:p>
            <a:pPr marL="0" indent="0">
              <a:buNone/>
            </a:pPr>
            <a:r>
              <a:rPr lang="es-AR" dirty="0"/>
              <a:t>Elegimos </a:t>
            </a:r>
            <a:r>
              <a:rPr lang="es-AR" dirty="0" err="1"/>
              <a:t>preescaler</a:t>
            </a:r>
            <a:r>
              <a:rPr lang="es-AR" dirty="0"/>
              <a:t> </a:t>
            </a:r>
            <a:r>
              <a:rPr lang="es-AR" dirty="0">
                <a:solidFill>
                  <a:srgbClr val="8E0028"/>
                </a:solidFill>
              </a:rPr>
              <a:t>1:256</a:t>
            </a:r>
            <a:r>
              <a:rPr lang="es-AR" dirty="0"/>
              <a:t>              </a:t>
            </a:r>
            <a:r>
              <a:rPr lang="es-AR" dirty="0">
                <a:solidFill>
                  <a:srgbClr val="8E0028"/>
                </a:solidFill>
              </a:rPr>
              <a:t>Tiempo máximo 65536 </a:t>
            </a:r>
            <a:r>
              <a:rPr lang="el-GR" dirty="0">
                <a:solidFill>
                  <a:srgbClr val="8E0028"/>
                </a:solidFill>
              </a:rPr>
              <a:t>μ</a:t>
            </a:r>
            <a:r>
              <a:rPr lang="es-AR" dirty="0">
                <a:solidFill>
                  <a:srgbClr val="8E0028"/>
                </a:solidFill>
              </a:rPr>
              <a:t>s</a:t>
            </a:r>
          </a:p>
          <a:p>
            <a:pPr marL="0" indent="0">
              <a:buNone/>
            </a:pPr>
            <a:r>
              <a:rPr lang="es-AR" dirty="0"/>
              <a:t>	</a:t>
            </a:r>
            <a:r>
              <a:rPr lang="es-AR" dirty="0">
                <a:solidFill>
                  <a:schemeClr val="accent1"/>
                </a:solidFill>
              </a:rPr>
              <a:t>10000000 </a:t>
            </a:r>
            <a:r>
              <a:rPr lang="el-GR" dirty="0">
                <a:solidFill>
                  <a:schemeClr val="accent1"/>
                </a:solidFill>
              </a:rPr>
              <a:t>μ</a:t>
            </a:r>
            <a:r>
              <a:rPr lang="es-AR" dirty="0">
                <a:solidFill>
                  <a:schemeClr val="accent1"/>
                </a:solidFill>
              </a:rPr>
              <a:t>s / 65536 </a:t>
            </a:r>
            <a:r>
              <a:rPr lang="el-GR" dirty="0">
                <a:solidFill>
                  <a:schemeClr val="accent1"/>
                </a:solidFill>
              </a:rPr>
              <a:t>μ</a:t>
            </a:r>
            <a:r>
              <a:rPr lang="es-AR" dirty="0">
                <a:solidFill>
                  <a:schemeClr val="accent1"/>
                </a:solidFill>
              </a:rPr>
              <a:t>s = 152,58</a:t>
            </a:r>
          </a:p>
          <a:p>
            <a:pPr marL="0" indent="0">
              <a:buNone/>
            </a:pPr>
            <a:r>
              <a:rPr lang="es-AR" dirty="0"/>
              <a:t>Necesitamos 152 </a:t>
            </a:r>
            <a:r>
              <a:rPr lang="es-AR" dirty="0" err="1"/>
              <a:t>overflows</a:t>
            </a:r>
            <a:r>
              <a:rPr lang="es-AR" dirty="0"/>
              <a:t> con </a:t>
            </a:r>
            <a:r>
              <a:rPr lang="es-AR" dirty="0">
                <a:solidFill>
                  <a:srgbClr val="8E0028"/>
                </a:solidFill>
              </a:rPr>
              <a:t>TMR0 = 0</a:t>
            </a:r>
            <a:r>
              <a:rPr lang="es-AR" dirty="0"/>
              <a:t>:</a:t>
            </a:r>
          </a:p>
          <a:p>
            <a:pPr marL="0" indent="0">
              <a:buNone/>
            </a:pPr>
            <a:r>
              <a:rPr lang="es-AR" dirty="0"/>
              <a:t>	</a:t>
            </a:r>
            <a:r>
              <a:rPr lang="es-AR" dirty="0">
                <a:solidFill>
                  <a:schemeClr val="accent1"/>
                </a:solidFill>
              </a:rPr>
              <a:t>T = 65536 </a:t>
            </a:r>
            <a:r>
              <a:rPr lang="el-GR" dirty="0">
                <a:solidFill>
                  <a:schemeClr val="accent1"/>
                </a:solidFill>
              </a:rPr>
              <a:t>μ</a:t>
            </a:r>
            <a:r>
              <a:rPr lang="es-AR" dirty="0">
                <a:solidFill>
                  <a:schemeClr val="accent1"/>
                </a:solidFill>
              </a:rPr>
              <a:t>s * 152 = 9.961.472 </a:t>
            </a:r>
            <a:r>
              <a:rPr lang="el-GR" dirty="0">
                <a:solidFill>
                  <a:schemeClr val="accent1"/>
                </a:solidFill>
              </a:rPr>
              <a:t>μ</a:t>
            </a:r>
            <a:r>
              <a:rPr lang="es-AR" dirty="0">
                <a:solidFill>
                  <a:schemeClr val="accent1"/>
                </a:solidFill>
              </a:rPr>
              <a:t>s</a:t>
            </a:r>
          </a:p>
          <a:p>
            <a:r>
              <a:rPr lang="es-AR" dirty="0"/>
              <a:t>Y uno mas para completar los 38528 </a:t>
            </a:r>
            <a:r>
              <a:rPr lang="el-GR" dirty="0"/>
              <a:t>μ</a:t>
            </a:r>
            <a:r>
              <a:rPr lang="es-AR" dirty="0"/>
              <a:t>s faltantes </a:t>
            </a:r>
            <a:r>
              <a:rPr lang="es-AR" sz="1800" dirty="0"/>
              <a:t>(1000000 – 9961472)</a:t>
            </a:r>
          </a:p>
          <a:p>
            <a:pPr marL="0" indent="0">
              <a:buNone/>
            </a:pPr>
            <a:r>
              <a:rPr lang="es-MX" dirty="0">
                <a:solidFill>
                  <a:schemeClr val="accent1"/>
                </a:solidFill>
              </a:rPr>
              <a:t>	T = (256 – TMR0) * 1 </a:t>
            </a:r>
            <a:r>
              <a:rPr lang="el-GR" dirty="0">
                <a:solidFill>
                  <a:schemeClr val="accent1"/>
                </a:solidFill>
              </a:rPr>
              <a:t>μ</a:t>
            </a:r>
            <a:r>
              <a:rPr lang="es-AR" dirty="0">
                <a:solidFill>
                  <a:schemeClr val="accent1"/>
                </a:solidFill>
              </a:rPr>
              <a:t>s </a:t>
            </a:r>
            <a:r>
              <a:rPr lang="es-MX" dirty="0">
                <a:solidFill>
                  <a:schemeClr val="accent1"/>
                </a:solidFill>
              </a:rPr>
              <a:t>* </a:t>
            </a:r>
            <a:r>
              <a:rPr lang="es-AR" dirty="0">
                <a:solidFill>
                  <a:schemeClr val="accent1"/>
                </a:solidFill>
              </a:rPr>
              <a:t>256 = 38528 </a:t>
            </a:r>
            <a:r>
              <a:rPr lang="el-GR" dirty="0">
                <a:solidFill>
                  <a:schemeClr val="accent1"/>
                </a:solidFill>
              </a:rPr>
              <a:t>μ</a:t>
            </a:r>
            <a:r>
              <a:rPr lang="es-AR" dirty="0">
                <a:solidFill>
                  <a:schemeClr val="accent1"/>
                </a:solidFill>
              </a:rPr>
              <a:t>s</a:t>
            </a:r>
          </a:p>
          <a:p>
            <a:pPr marL="0" indent="0">
              <a:buNone/>
            </a:pPr>
            <a:r>
              <a:rPr lang="es-AR" dirty="0"/>
              <a:t>	</a:t>
            </a:r>
            <a:r>
              <a:rPr lang="es-AR" dirty="0">
                <a:solidFill>
                  <a:schemeClr val="accent1"/>
                </a:solidFill>
              </a:rPr>
              <a:t>TMR0 = 256 – 38528/256 =</a:t>
            </a:r>
            <a:r>
              <a:rPr lang="es-AR" dirty="0"/>
              <a:t> </a:t>
            </a:r>
          </a:p>
          <a:p>
            <a:pPr marL="0" indent="0">
              <a:buNone/>
            </a:pPr>
            <a:r>
              <a:rPr lang="es-AR" dirty="0">
                <a:solidFill>
                  <a:srgbClr val="8E0028"/>
                </a:solidFill>
              </a:rPr>
              <a:t>	</a:t>
            </a:r>
            <a:r>
              <a:rPr lang="es-AR" dirty="0">
                <a:solidFill>
                  <a:schemeClr val="accent1"/>
                </a:solidFill>
              </a:rPr>
              <a:t>TMR0 = 256 – 150,5 = 105,5 = 105</a:t>
            </a:r>
          </a:p>
          <a:p>
            <a:pPr marL="0" indent="0">
              <a:buNone/>
            </a:pPr>
            <a:r>
              <a:rPr lang="es-AR" dirty="0"/>
              <a:t>	</a:t>
            </a:r>
            <a:r>
              <a:rPr lang="es-AR" dirty="0">
                <a:solidFill>
                  <a:schemeClr val="accent1"/>
                </a:solidFill>
              </a:rPr>
              <a:t>T = (256 – 105) * 1 </a:t>
            </a:r>
            <a:r>
              <a:rPr lang="el-GR" dirty="0">
                <a:solidFill>
                  <a:schemeClr val="accent1"/>
                </a:solidFill>
              </a:rPr>
              <a:t>μ</a:t>
            </a:r>
            <a:r>
              <a:rPr lang="es-AR" dirty="0">
                <a:solidFill>
                  <a:schemeClr val="accent1"/>
                </a:solidFill>
              </a:rPr>
              <a:t>s * 256 = 38656 </a:t>
            </a:r>
            <a:r>
              <a:rPr lang="el-GR" dirty="0">
                <a:solidFill>
                  <a:schemeClr val="accent1"/>
                </a:solidFill>
              </a:rPr>
              <a:t>μ</a:t>
            </a:r>
            <a:r>
              <a:rPr lang="es-AR" dirty="0">
                <a:solidFill>
                  <a:schemeClr val="accent1"/>
                </a:solidFill>
              </a:rPr>
              <a:t>s</a:t>
            </a:r>
            <a:endParaRPr lang="es-AR" dirty="0"/>
          </a:p>
          <a:p>
            <a:pPr marL="0" indent="0">
              <a:buNone/>
            </a:pPr>
            <a:r>
              <a:rPr lang="es-AR" dirty="0">
                <a:solidFill>
                  <a:srgbClr val="FF0000"/>
                </a:solidFill>
              </a:rPr>
              <a:t>Tiempo final: </a:t>
            </a:r>
            <a:r>
              <a:rPr lang="es-AR" sz="1800" b="1" dirty="0">
                <a:solidFill>
                  <a:srgbClr val="0070C0"/>
                </a:solidFill>
              </a:rPr>
              <a:t>(9961472 + 38656)</a:t>
            </a:r>
            <a:r>
              <a:rPr lang="es-AR" dirty="0">
                <a:solidFill>
                  <a:srgbClr val="FF0000"/>
                </a:solidFill>
              </a:rPr>
              <a:t> = 1.000.0128 </a:t>
            </a:r>
            <a:r>
              <a:rPr lang="el-GR" dirty="0">
                <a:solidFill>
                  <a:srgbClr val="FF0000"/>
                </a:solidFill>
              </a:rPr>
              <a:t>μ</a:t>
            </a:r>
            <a:r>
              <a:rPr lang="es-AR" dirty="0">
                <a:solidFill>
                  <a:srgbClr val="FF0000"/>
                </a:solidFill>
              </a:rPr>
              <a:t>s</a:t>
            </a: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pic>
        <p:nvPicPr>
          <p:cNvPr id="6" name="Imagen 5" descr="Imagen que contiene Calendario&#10;&#10;El contenido generado por IA puede ser incorrecto.">
            <a:extLst>
              <a:ext uri="{FF2B5EF4-FFF2-40B4-BE49-F238E27FC236}">
                <a16:creationId xmlns:a16="http://schemas.microsoft.com/office/drawing/2014/main" id="{141E207E-A309-2B3A-2025-3163019FAD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5" name="Imagen 4">
            <a:extLst>
              <a:ext uri="{FF2B5EF4-FFF2-40B4-BE49-F238E27FC236}">
                <a16:creationId xmlns:a16="http://schemas.microsoft.com/office/drawing/2014/main" id="{DFEEF5CD-17A6-4ECD-74B0-8CFA8430B40A}"/>
              </a:ext>
            </a:extLst>
          </p:cNvPr>
          <p:cNvPicPr>
            <a:picLocks noChangeAspect="1"/>
          </p:cNvPicPr>
          <p:nvPr/>
        </p:nvPicPr>
        <p:blipFill>
          <a:blip r:embed="rId4"/>
          <a:stretch>
            <a:fillRect/>
          </a:stretch>
        </p:blipFill>
        <p:spPr>
          <a:xfrm>
            <a:off x="8318500" y="4926156"/>
            <a:ext cx="2178843" cy="1977881"/>
          </a:xfrm>
          <a:prstGeom prst="rect">
            <a:avLst/>
          </a:prstGeom>
        </p:spPr>
      </p:pic>
      <p:pic>
        <p:nvPicPr>
          <p:cNvPr id="3" name="Imagen 2">
            <a:extLst>
              <a:ext uri="{FF2B5EF4-FFF2-40B4-BE49-F238E27FC236}">
                <a16:creationId xmlns:a16="http://schemas.microsoft.com/office/drawing/2014/main" id="{45430B54-9C3D-D727-A4BC-792A12E1D582}"/>
              </a:ext>
            </a:extLst>
          </p:cNvPr>
          <p:cNvPicPr>
            <a:picLocks noChangeAspect="1"/>
          </p:cNvPicPr>
          <p:nvPr/>
        </p:nvPicPr>
        <p:blipFill>
          <a:blip r:embed="rId5"/>
          <a:stretch>
            <a:fillRect/>
          </a:stretch>
        </p:blipFill>
        <p:spPr>
          <a:xfrm>
            <a:off x="6618400" y="6957164"/>
            <a:ext cx="3913148" cy="556473"/>
          </a:xfrm>
          <a:prstGeom prst="rect">
            <a:avLst/>
          </a:prstGeom>
        </p:spPr>
      </p:pic>
      <p:sp>
        <p:nvSpPr>
          <p:cNvPr id="7" name="Flecha: a la derecha 6">
            <a:extLst>
              <a:ext uri="{FF2B5EF4-FFF2-40B4-BE49-F238E27FC236}">
                <a16:creationId xmlns:a16="http://schemas.microsoft.com/office/drawing/2014/main" id="{ACE165E0-A661-C08B-7B7B-8B341916B6DE}"/>
              </a:ext>
            </a:extLst>
          </p:cNvPr>
          <p:cNvSpPr/>
          <p:nvPr/>
        </p:nvSpPr>
        <p:spPr>
          <a:xfrm rot="10800000">
            <a:off x="4439382" y="2749986"/>
            <a:ext cx="437457" cy="393580"/>
          </a:xfrm>
          <a:prstGeom prst="right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8" name="Rectángulo 7">
            <a:extLst>
              <a:ext uri="{FF2B5EF4-FFF2-40B4-BE49-F238E27FC236}">
                <a16:creationId xmlns:a16="http://schemas.microsoft.com/office/drawing/2014/main" id="{FC023A66-63CC-7A5F-3797-1161CBBA82F3}"/>
              </a:ext>
            </a:extLst>
          </p:cNvPr>
          <p:cNvSpPr/>
          <p:nvPr/>
        </p:nvSpPr>
        <p:spPr>
          <a:xfrm>
            <a:off x="758871" y="3143567"/>
            <a:ext cx="5883229" cy="738623"/>
          </a:xfrm>
          <a:prstGeom prst="rect">
            <a:avLst/>
          </a:prstGeom>
          <a:solidFill>
            <a:schemeClr val="accent1">
              <a:alpha val="17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Flecha: a la derecha 8">
            <a:extLst>
              <a:ext uri="{FF2B5EF4-FFF2-40B4-BE49-F238E27FC236}">
                <a16:creationId xmlns:a16="http://schemas.microsoft.com/office/drawing/2014/main" id="{5EE4EA7D-1CE5-9A1C-B3BA-FFC1FCC463F0}"/>
              </a:ext>
            </a:extLst>
          </p:cNvPr>
          <p:cNvSpPr/>
          <p:nvPr/>
        </p:nvSpPr>
        <p:spPr>
          <a:xfrm>
            <a:off x="7785100" y="6599237"/>
            <a:ext cx="470145" cy="228600"/>
          </a:xfrm>
          <a:prstGeom prst="righ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63256014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eaLnBrk="1" hangingPunct="1">
              <a:lnSpc>
                <a:spcPct val="150000"/>
              </a:lnSpc>
              <a:spcAft>
                <a:spcPts val="1200"/>
              </a:spcAft>
              <a:buClr>
                <a:srgbClr val="D24726"/>
              </a:buClr>
              <a:buSzPct val="150000"/>
            </a:pPr>
            <a:r>
              <a:rPr lang="es-AR" altLang="es-AR" sz="2000" dirty="0"/>
              <a:t>Ejemplo 1: Identificar qué bits y registros se tienen que usar para generar un </a:t>
            </a:r>
            <a:r>
              <a:rPr lang="es-AR" altLang="es-AR" sz="2000" dirty="0" err="1"/>
              <a:t>delay</a:t>
            </a:r>
            <a:r>
              <a:rPr lang="es-AR" altLang="es-AR" sz="2000" dirty="0"/>
              <a:t> de 20ms y definir sus valores.</a:t>
            </a:r>
          </a:p>
          <a:p>
            <a:pPr marL="0" indent="0" eaLnBrk="1" hangingPunct="1">
              <a:lnSpc>
                <a:spcPct val="150000"/>
              </a:lnSpc>
              <a:spcAft>
                <a:spcPts val="1200"/>
              </a:spcAft>
              <a:buClr>
                <a:srgbClr val="D24726"/>
              </a:buClr>
              <a:buSzPct val="150000"/>
              <a:buNone/>
            </a:pPr>
            <a:r>
              <a:rPr lang="es-AR" altLang="es-AR" sz="2000" b="1" i="1" u="sng" dirty="0">
                <a:solidFill>
                  <a:srgbClr val="C00000"/>
                </a:solidFill>
                <a:effectLst>
                  <a:outerShdw blurRad="38100" dist="38100" dir="2700000" algn="tl">
                    <a:srgbClr val="000000">
                      <a:alpha val="43137"/>
                    </a:srgbClr>
                  </a:outerShdw>
                </a:effectLst>
              </a:rPr>
              <a:t>Pasos a seguir:</a:t>
            </a:r>
          </a:p>
          <a:p>
            <a:pPr marL="457200" indent="-457200" eaLnBrk="1" hangingPunct="1">
              <a:lnSpc>
                <a:spcPct val="150000"/>
              </a:lnSpc>
              <a:spcAft>
                <a:spcPts val="1200"/>
              </a:spcAft>
              <a:buClr>
                <a:srgbClr val="D24726"/>
              </a:buClr>
              <a:buSzPct val="100000"/>
              <a:buFont typeface="+mj-lt"/>
              <a:buAutoNum type="arabicPeriod"/>
            </a:pPr>
            <a:r>
              <a:rPr lang="es-AR" altLang="es-AR" sz="2000" dirty="0"/>
              <a:t>¿Hay que usar </a:t>
            </a:r>
            <a:r>
              <a:rPr lang="es-AR" altLang="es-AR" sz="2000" dirty="0" err="1"/>
              <a:t>preescaler</a:t>
            </a:r>
            <a:r>
              <a:rPr lang="es-AR" altLang="es-AR" sz="2000" dirty="0"/>
              <a:t>? </a:t>
            </a:r>
          </a:p>
          <a:p>
            <a:pPr marL="457200" indent="-457200" eaLnBrk="1" hangingPunct="1">
              <a:lnSpc>
                <a:spcPct val="150000"/>
              </a:lnSpc>
              <a:spcAft>
                <a:spcPts val="1200"/>
              </a:spcAft>
              <a:buClr>
                <a:srgbClr val="D24726"/>
              </a:buClr>
              <a:buSzPct val="100000"/>
              <a:buFont typeface="+mj-lt"/>
              <a:buAutoNum type="arabicPeriod"/>
            </a:pPr>
            <a:r>
              <a:rPr lang="es-AR" altLang="es-AR" sz="2000" dirty="0"/>
              <a:t>En caso de que se requiera, identificar el valor del </a:t>
            </a:r>
            <a:r>
              <a:rPr lang="es-AR" altLang="es-AR" sz="2000" dirty="0" err="1"/>
              <a:t>preescaler</a:t>
            </a:r>
            <a:r>
              <a:rPr lang="es-AR" altLang="es-AR" sz="2000" dirty="0"/>
              <a:t>.</a:t>
            </a:r>
          </a:p>
          <a:p>
            <a:pPr marL="457200" indent="-457200" eaLnBrk="1" hangingPunct="1">
              <a:lnSpc>
                <a:spcPct val="150000"/>
              </a:lnSpc>
              <a:spcAft>
                <a:spcPts val="1200"/>
              </a:spcAft>
              <a:buClr>
                <a:srgbClr val="D24726"/>
              </a:buClr>
              <a:buSzPct val="100000"/>
              <a:buFont typeface="+mj-lt"/>
              <a:buAutoNum type="arabicPeriod"/>
            </a:pPr>
            <a:r>
              <a:rPr lang="es-AR" altLang="es-AR" sz="2000" dirty="0"/>
              <a:t>Despejar el valor de TMR0.</a:t>
            </a:r>
          </a:p>
          <a:p>
            <a:pPr marL="457200" indent="-457200" eaLnBrk="1" hangingPunct="1">
              <a:lnSpc>
                <a:spcPct val="150000"/>
              </a:lnSpc>
              <a:spcAft>
                <a:spcPts val="1200"/>
              </a:spcAft>
              <a:buClr>
                <a:srgbClr val="D24726"/>
              </a:buClr>
              <a:buSzPct val="100000"/>
              <a:buFont typeface="+mj-lt"/>
              <a:buAutoNum type="arabicPeriod"/>
            </a:pPr>
            <a:r>
              <a:rPr lang="es-AR" altLang="es-AR" sz="2000" dirty="0"/>
              <a:t>Identificar los valores de los registros a usar.</a:t>
            </a:r>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pic>
        <p:nvPicPr>
          <p:cNvPr id="2" name="Imagen 1" descr="Imagen que contiene Calendario&#10;&#10;El contenido generado por IA puede ser incorrecto.">
            <a:extLst>
              <a:ext uri="{FF2B5EF4-FFF2-40B4-BE49-F238E27FC236}">
                <a16:creationId xmlns:a16="http://schemas.microsoft.com/office/drawing/2014/main" id="{83DED78D-14C6-9FC7-F3E2-6DF97F9023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3020984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Marcador de contenido 2"/>
              <p:cNvSpPr txBox="1">
                <a:spLocks noGrp="1"/>
              </p:cNvSpPr>
              <p:nvPr>
                <p:ph idx="1"/>
              </p:nvPr>
            </p:nvSpPr>
            <p:spPr bwMode="auto">
              <a:xfrm>
                <a:off x="430372" y="1951037"/>
                <a:ext cx="9793128" cy="479654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ormAutofit/>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eaLnBrk="1" hangingPunct="1">
                  <a:lnSpc>
                    <a:spcPct val="150000"/>
                  </a:lnSpc>
                  <a:spcAft>
                    <a:spcPts val="1200"/>
                  </a:spcAft>
                  <a:buClr>
                    <a:srgbClr val="D24726"/>
                  </a:buClr>
                  <a:buSzPct val="150000"/>
                  <a:buNone/>
                </a:pPr>
                <a:r>
                  <a:rPr lang="es-AR" altLang="es-AR" sz="2000" dirty="0"/>
                  <a:t>Para calcular un tiempo 20 ms:</a:t>
                </a:r>
              </a:p>
              <a:p>
                <a:pPr marL="457200" indent="-457200" eaLnBrk="1" hangingPunct="1">
                  <a:lnSpc>
                    <a:spcPct val="150000"/>
                  </a:lnSpc>
                  <a:buClr>
                    <a:srgbClr val="D24726"/>
                  </a:buClr>
                  <a:buSzPct val="100000"/>
                  <a:buFont typeface="+mj-lt"/>
                  <a:buAutoNum type="arabicPeriod"/>
                </a:pPr>
                <a:r>
                  <a:rPr lang="es-AR" altLang="es-AR" sz="2000" dirty="0"/>
                  <a:t>Sí, se debe usar </a:t>
                </a:r>
                <a:r>
                  <a:rPr lang="es-AR" altLang="es-AR" sz="2000" dirty="0" err="1"/>
                  <a:t>preescaler</a:t>
                </a:r>
                <a:r>
                  <a:rPr lang="es-AR" altLang="es-AR" sz="2000" dirty="0"/>
                  <a:t>. ¿Por qué?</a:t>
                </a:r>
              </a:p>
              <a:p>
                <a:pPr marL="457200" indent="-457200" eaLnBrk="1" hangingPunct="1">
                  <a:lnSpc>
                    <a:spcPct val="150000"/>
                  </a:lnSpc>
                  <a:spcAft>
                    <a:spcPts val="1200"/>
                  </a:spcAft>
                  <a:buClr>
                    <a:srgbClr val="D24726"/>
                  </a:buClr>
                  <a:buSzPct val="100000"/>
                  <a:buFont typeface="+mj-lt"/>
                  <a:buAutoNum type="arabicPeriod"/>
                </a:pPr>
                <a:r>
                  <a:rPr lang="es-AR" altLang="es-AR" sz="2000" dirty="0"/>
                  <a:t>Mínimo se requerirá usarlo en 1:128. ¿Por qué?</a:t>
                </a:r>
              </a:p>
              <a:p>
                <a:pPr marL="457200" indent="-457200" eaLnBrk="1" hangingPunct="1">
                  <a:lnSpc>
                    <a:spcPct val="150000"/>
                  </a:lnSpc>
                  <a:spcAft>
                    <a:spcPts val="1200"/>
                  </a:spcAft>
                  <a:buClr>
                    <a:srgbClr val="D24726"/>
                  </a:buClr>
                  <a:buSzPct val="100000"/>
                  <a:buFont typeface="+mj-lt"/>
                  <a:buAutoNum type="arabicPeriod"/>
                </a:pPr>
                <a:r>
                  <a:rPr lang="es-AR" altLang="es-AR" sz="2000" dirty="0"/>
                  <a:t>De la fórmula presentada anteriormente, tomando a “T” en µs, se despeja:</a:t>
                </a:r>
              </a:p>
              <a:p>
                <a:pPr marL="0" indent="0" eaLnBrk="1" hangingPunct="1">
                  <a:lnSpc>
                    <a:spcPct val="150000"/>
                  </a:lnSpc>
                  <a:buClr>
                    <a:srgbClr val="D24726"/>
                  </a:buClr>
                  <a:buSzPct val="100000"/>
                  <a:buNone/>
                </a:pPr>
                <a14:m>
                  <m:oMath xmlns:m="http://schemas.openxmlformats.org/officeDocument/2006/math">
                    <m:r>
                      <a:rPr lang="es-ES" altLang="es-AR" sz="2000" b="0" i="1" smtClean="0">
                        <a:solidFill>
                          <a:srgbClr val="FF0000"/>
                        </a:solidFill>
                        <a:latin typeface="Cambria Math" panose="02040503050406030204" pitchFamily="18" charset="0"/>
                      </a:rPr>
                      <m:t>𝑇𝑀𝑅</m:t>
                    </m:r>
                    <m:r>
                      <a:rPr lang="es-ES" altLang="es-AR" sz="2000" b="0" i="1" smtClean="0">
                        <a:solidFill>
                          <a:srgbClr val="FF0000"/>
                        </a:solidFill>
                        <a:latin typeface="Cambria Math" panose="02040503050406030204" pitchFamily="18" charset="0"/>
                      </a:rPr>
                      <m:t>0=256−</m:t>
                    </m:r>
                    <m:f>
                      <m:fPr>
                        <m:ctrlPr>
                          <a:rPr lang="es-AR" altLang="es-AR" sz="2000" i="1">
                            <a:latin typeface="Cambria Math" panose="02040503050406030204" pitchFamily="18" charset="0"/>
                          </a:rPr>
                        </m:ctrlPr>
                      </m:fPr>
                      <m:num>
                        <m:r>
                          <a:rPr lang="es-AR" altLang="es-AR" sz="2000" i="1">
                            <a:latin typeface="Cambria Math" panose="02040503050406030204" pitchFamily="18" charset="0"/>
                          </a:rPr>
                          <m:t>𝑇</m:t>
                        </m:r>
                      </m:num>
                      <m:den>
                        <m:r>
                          <a:rPr lang="es-AR" altLang="es-AR" sz="2000" i="1">
                            <a:latin typeface="Cambria Math" panose="02040503050406030204" pitchFamily="18" charset="0"/>
                          </a:rPr>
                          <m:t>𝑝𝑟𝑒𝑒𝑠𝑐𝑎𝑙𝑒𝑟</m:t>
                        </m:r>
                      </m:den>
                    </m:f>
                    <m:r>
                      <a:rPr lang="es-AR" altLang="es-AR" sz="2000">
                        <a:latin typeface="Cambria Math" panose="02040503050406030204" pitchFamily="18" charset="0"/>
                      </a:rPr>
                      <m:t> .</m:t>
                    </m:r>
                  </m:oMath>
                </a14:m>
                <a:r>
                  <a:rPr lang="es-AR" altLang="es-AR" sz="2000" dirty="0"/>
                  <a:t> Para nuestro ejemplo: </a:t>
                </a:r>
                <a:r>
                  <a:rPr lang="es-AR" altLang="es-AR" sz="2000" dirty="0">
                    <a:solidFill>
                      <a:srgbClr val="FF0000"/>
                    </a:solidFill>
                  </a:rPr>
                  <a:t>TMR0</a:t>
                </a:r>
                <a14:m>
                  <m:oMath xmlns:m="http://schemas.openxmlformats.org/officeDocument/2006/math">
                    <m:r>
                      <a:rPr lang="es-AR" altLang="es-AR" sz="2000" i="1">
                        <a:latin typeface="Cambria Math" panose="02040503050406030204" pitchFamily="18" charset="0"/>
                      </a:rPr>
                      <m:t>=256−</m:t>
                    </m:r>
                    <m:f>
                      <m:fPr>
                        <m:ctrlPr>
                          <a:rPr lang="es-AR" altLang="es-AR" sz="2000" i="1">
                            <a:latin typeface="Cambria Math" panose="02040503050406030204" pitchFamily="18" charset="0"/>
                          </a:rPr>
                        </m:ctrlPr>
                      </m:fPr>
                      <m:num>
                        <m:r>
                          <a:rPr lang="es-AR" altLang="es-AR" sz="2000" i="1">
                            <a:latin typeface="Cambria Math" panose="02040503050406030204" pitchFamily="18" charset="0"/>
                          </a:rPr>
                          <m:t>20000</m:t>
                        </m:r>
                      </m:num>
                      <m:den>
                        <m:r>
                          <a:rPr lang="es-AR" altLang="es-AR" sz="2000" i="1">
                            <a:latin typeface="Cambria Math" panose="02040503050406030204" pitchFamily="18" charset="0"/>
                          </a:rPr>
                          <m:t>128</m:t>
                        </m:r>
                      </m:den>
                    </m:f>
                    <m:r>
                      <a:rPr lang="es-AR" altLang="es-AR" sz="2000" i="1">
                        <a:latin typeface="Cambria Math" panose="02040503050406030204" pitchFamily="18" charset="0"/>
                      </a:rPr>
                      <m:t>=99,75 </m:t>
                    </m:r>
                    <m:r>
                      <a:rPr lang="es-AR" altLang="es-AR" sz="2000" i="1">
                        <a:latin typeface="Cambria Math" panose="02040503050406030204" pitchFamily="18" charset="0"/>
                        <a:ea typeface="Cambria Math" panose="02040503050406030204" pitchFamily="18" charset="0"/>
                      </a:rPr>
                      <m:t>≅100</m:t>
                    </m:r>
                    <m:r>
                      <a:rPr lang="es-AR" altLang="es-AR" sz="2000">
                        <a:latin typeface="Cambria Math" panose="02040503050406030204" pitchFamily="18" charset="0"/>
                      </a:rPr>
                      <m:t> </m:t>
                    </m:r>
                  </m:oMath>
                </a14:m>
                <a:endParaRPr lang="es-AR" altLang="es-AR" sz="2000" dirty="0"/>
              </a:p>
              <a:p>
                <a:pPr marL="0" indent="0" algn="ctr" eaLnBrk="1" hangingPunct="1">
                  <a:lnSpc>
                    <a:spcPct val="150000"/>
                  </a:lnSpc>
                  <a:buClr>
                    <a:srgbClr val="D24726"/>
                  </a:buClr>
                  <a:buSzPct val="100000"/>
                  <a:buNone/>
                </a:pPr>
                <a:r>
                  <a:rPr lang="es-AR" altLang="es-AR" sz="2000" dirty="0"/>
                  <a:t>¿Qué valores deben tomar los registros del controlador?</a:t>
                </a:r>
              </a:p>
              <a:p>
                <a:pPr marL="0" indent="0" eaLnBrk="1" hangingPunct="1">
                  <a:lnSpc>
                    <a:spcPct val="150000"/>
                  </a:lnSpc>
                  <a:spcAft>
                    <a:spcPts val="1200"/>
                  </a:spcAft>
                  <a:buClr>
                    <a:srgbClr val="D24726"/>
                  </a:buClr>
                  <a:buSzPct val="100000"/>
                  <a:buNone/>
                </a:pPr>
                <a:r>
                  <a:rPr lang="es-AR" altLang="es-AR" sz="2000" b="1" dirty="0">
                    <a:solidFill>
                      <a:srgbClr val="C00000"/>
                    </a:solidFill>
                    <a:effectLst>
                      <a:outerShdw blurRad="38100" dist="38100" dir="2700000" algn="tl">
                        <a:srgbClr val="000000">
                          <a:alpha val="43137"/>
                        </a:srgbClr>
                      </a:outerShdw>
                    </a:effectLst>
                  </a:rPr>
                  <a:t>            TMR0 </a:t>
                </a:r>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00000"/>
                  <a:buNone/>
                </a:pPr>
                <a:endParaRPr lang="es-AR" altLang="es-AR" sz="2000" dirty="0"/>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mc:Choice>
        <mc:Fallback xmlns="">
          <p:sp>
            <p:nvSpPr>
              <p:cNvPr id="4" name="Marcador de contenido 2"/>
              <p:cNvSpPr txBox="1">
                <a:spLocks noGrp="1" noRot="1" noChangeAspect="1" noMove="1" noResize="1" noEditPoints="1" noAdjustHandles="1" noChangeArrowheads="1" noChangeShapeType="1" noTextEdit="1"/>
              </p:cNvSpPr>
              <p:nvPr>
                <p:ph idx="1"/>
              </p:nvPr>
            </p:nvSpPr>
            <p:spPr bwMode="auto">
              <a:xfrm>
                <a:off x="430372" y="1951037"/>
                <a:ext cx="9793128" cy="4796544"/>
              </a:xfrm>
              <a:prstGeom prst="rect">
                <a:avLst/>
              </a:prstGeom>
              <a:blipFill>
                <a:blip r:embed="rId2"/>
                <a:stretch>
                  <a:fillRect l="-87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pic>
        <p:nvPicPr>
          <p:cNvPr id="5" name="Imagen 4"/>
          <p:cNvPicPr>
            <a:picLocks noChangeAspect="1"/>
          </p:cNvPicPr>
          <p:nvPr/>
        </p:nvPicPr>
        <p:blipFill>
          <a:blip r:embed="rId3"/>
          <a:stretch>
            <a:fillRect/>
          </a:stretch>
        </p:blipFill>
        <p:spPr>
          <a:xfrm>
            <a:off x="1314450" y="6427787"/>
            <a:ext cx="1978025" cy="400050"/>
          </a:xfrm>
          <a:prstGeom prst="rect">
            <a:avLst/>
          </a:prstGeom>
          <a:solidFill>
            <a:schemeClr val="tx2">
              <a:lumMod val="40000"/>
              <a:lumOff val="60000"/>
            </a:schemeClr>
          </a:solidFill>
        </p:spPr>
      </p:pic>
      <p:pic>
        <p:nvPicPr>
          <p:cNvPr id="7" name="Imagen 6"/>
          <p:cNvPicPr>
            <a:picLocks noChangeAspect="1"/>
          </p:cNvPicPr>
          <p:nvPr/>
        </p:nvPicPr>
        <p:blipFill>
          <a:blip r:embed="rId3"/>
          <a:stretch>
            <a:fillRect/>
          </a:stretch>
        </p:blipFill>
        <p:spPr>
          <a:xfrm>
            <a:off x="7251700" y="6446837"/>
            <a:ext cx="1978025" cy="400050"/>
          </a:xfrm>
          <a:prstGeom prst="rect">
            <a:avLst/>
          </a:prstGeom>
        </p:spPr>
      </p:pic>
      <p:sp>
        <p:nvSpPr>
          <p:cNvPr id="3" name="CuadroTexto 2"/>
          <p:cNvSpPr txBox="1"/>
          <p:nvPr/>
        </p:nvSpPr>
        <p:spPr>
          <a:xfrm>
            <a:off x="3639313" y="6153705"/>
            <a:ext cx="945387" cy="369332"/>
          </a:xfrm>
          <a:prstGeom prst="rect">
            <a:avLst/>
          </a:prstGeom>
          <a:noFill/>
        </p:spPr>
        <p:txBody>
          <a:bodyPr wrap="none" rtlCol="0">
            <a:spAutoFit/>
          </a:bodyPr>
          <a:lstStyle/>
          <a:p>
            <a:r>
              <a:rPr lang="es-ES" b="1" dirty="0">
                <a:solidFill>
                  <a:srgbClr val="C00000"/>
                </a:solidFill>
                <a:effectLst>
                  <a:outerShdw blurRad="38100" dist="38100" dir="2700000" algn="tl">
                    <a:srgbClr val="000000">
                      <a:alpha val="43137"/>
                    </a:srgbClr>
                  </a:outerShdw>
                </a:effectLst>
              </a:rPr>
              <a:t>OPTION</a:t>
            </a:r>
          </a:p>
        </p:txBody>
      </p:sp>
      <p:sp>
        <p:nvSpPr>
          <p:cNvPr id="8" name="CuadroTexto 7"/>
          <p:cNvSpPr txBox="1"/>
          <p:nvPr/>
        </p:nvSpPr>
        <p:spPr>
          <a:xfrm>
            <a:off x="7231549" y="6153705"/>
            <a:ext cx="934551" cy="369332"/>
          </a:xfrm>
          <a:prstGeom prst="rect">
            <a:avLst/>
          </a:prstGeom>
          <a:noFill/>
        </p:spPr>
        <p:txBody>
          <a:bodyPr wrap="none" rtlCol="0">
            <a:spAutoFit/>
          </a:bodyPr>
          <a:lstStyle/>
          <a:p>
            <a:r>
              <a:rPr lang="es-ES" b="1" dirty="0">
                <a:solidFill>
                  <a:srgbClr val="C00000"/>
                </a:solidFill>
                <a:effectLst>
                  <a:outerShdw blurRad="38100" dist="38100" dir="2700000" algn="tl">
                    <a:srgbClr val="000000">
                      <a:alpha val="43137"/>
                    </a:srgbClr>
                  </a:outerShdw>
                </a:effectLst>
              </a:rPr>
              <a:t>INTCON</a:t>
            </a:r>
          </a:p>
        </p:txBody>
      </p:sp>
      <p:sp>
        <p:nvSpPr>
          <p:cNvPr id="10"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sp>
        <p:nvSpPr>
          <p:cNvPr id="2" name="CuadroTexto 1"/>
          <p:cNvSpPr txBox="1"/>
          <p:nvPr/>
        </p:nvSpPr>
        <p:spPr>
          <a:xfrm>
            <a:off x="1308100" y="6808958"/>
            <a:ext cx="2020105" cy="646331"/>
          </a:xfrm>
          <a:prstGeom prst="rect">
            <a:avLst/>
          </a:prstGeom>
          <a:noFill/>
        </p:spPr>
        <p:txBody>
          <a:bodyPr wrap="none" rtlCol="0">
            <a:spAutoFit/>
          </a:bodyPr>
          <a:lstStyle/>
          <a:p>
            <a:r>
              <a:rPr lang="es-ES" b="1" dirty="0">
                <a:solidFill>
                  <a:srgbClr val="FF0000"/>
                </a:solidFill>
              </a:rPr>
              <a:t>0   1  1  0  0  1   0   0</a:t>
            </a:r>
          </a:p>
          <a:p>
            <a:r>
              <a:rPr lang="es-ES" b="1" dirty="0">
                <a:solidFill>
                  <a:srgbClr val="FF0000"/>
                </a:solidFill>
              </a:rPr>
              <a:t>        </a:t>
            </a:r>
            <a:r>
              <a:rPr lang="es-ES" sz="1400" i="1" dirty="0">
                <a:solidFill>
                  <a:srgbClr val="FF0000"/>
                </a:solidFill>
              </a:rPr>
              <a:t>100 en base 2</a:t>
            </a:r>
          </a:p>
        </p:txBody>
      </p:sp>
      <p:pic>
        <p:nvPicPr>
          <p:cNvPr id="12" name="Imagen 11"/>
          <p:cNvPicPr>
            <a:picLocks noChangeAspect="1"/>
          </p:cNvPicPr>
          <p:nvPr/>
        </p:nvPicPr>
        <p:blipFill>
          <a:blip r:embed="rId4"/>
          <a:stretch>
            <a:fillRect/>
          </a:stretch>
        </p:blipFill>
        <p:spPr>
          <a:xfrm>
            <a:off x="3670300" y="6523037"/>
            <a:ext cx="3219450" cy="304800"/>
          </a:xfrm>
          <a:prstGeom prst="rect">
            <a:avLst/>
          </a:prstGeom>
        </p:spPr>
      </p:pic>
      <p:sp>
        <p:nvSpPr>
          <p:cNvPr id="13" name="CuadroTexto 12"/>
          <p:cNvSpPr txBox="1"/>
          <p:nvPr/>
        </p:nvSpPr>
        <p:spPr>
          <a:xfrm>
            <a:off x="4432300" y="6827837"/>
            <a:ext cx="2483372" cy="369332"/>
          </a:xfrm>
          <a:prstGeom prst="rect">
            <a:avLst/>
          </a:prstGeom>
          <a:noFill/>
        </p:spPr>
        <p:txBody>
          <a:bodyPr wrap="none" rtlCol="0">
            <a:spAutoFit/>
          </a:bodyPr>
          <a:lstStyle/>
          <a:p>
            <a:r>
              <a:rPr lang="es-ES" b="1" dirty="0">
                <a:solidFill>
                  <a:schemeClr val="accent3">
                    <a:lumMod val="75000"/>
                  </a:schemeClr>
                </a:solidFill>
              </a:rPr>
              <a:t>0/1  0/1</a:t>
            </a:r>
            <a:r>
              <a:rPr lang="es-ES" b="1" dirty="0">
                <a:solidFill>
                  <a:srgbClr val="FF0000"/>
                </a:solidFill>
              </a:rPr>
              <a:t>   0     1     1      0</a:t>
            </a:r>
          </a:p>
        </p:txBody>
      </p:sp>
      <p:sp>
        <p:nvSpPr>
          <p:cNvPr id="14" name="CuadroTexto 13"/>
          <p:cNvSpPr txBox="1"/>
          <p:nvPr/>
        </p:nvSpPr>
        <p:spPr>
          <a:xfrm>
            <a:off x="7350366" y="5227637"/>
            <a:ext cx="434734" cy="276999"/>
          </a:xfrm>
          <a:prstGeom prst="rect">
            <a:avLst/>
          </a:prstGeom>
          <a:noFill/>
        </p:spPr>
        <p:txBody>
          <a:bodyPr wrap="none" rtlCol="0">
            <a:spAutoFit/>
          </a:bodyPr>
          <a:lstStyle/>
          <a:p>
            <a:r>
              <a:rPr lang="es-ES" sz="1200" dirty="0">
                <a:solidFill>
                  <a:srgbClr val="FF0000"/>
                </a:solidFill>
              </a:rPr>
              <a:t>(10)</a:t>
            </a:r>
          </a:p>
        </p:txBody>
      </p:sp>
      <p:pic>
        <p:nvPicPr>
          <p:cNvPr id="6" name="Imagen 5" descr="Imagen que contiene Calendario&#10;&#10;El contenido generado por IA puede ser incorrecto.">
            <a:extLst>
              <a:ext uri="{FF2B5EF4-FFF2-40B4-BE49-F238E27FC236}">
                <a16:creationId xmlns:a16="http://schemas.microsoft.com/office/drawing/2014/main" id="{8F4694BA-4CB1-3617-4D97-DBB02A56D9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9" name="CuadroTexto 8">
            <a:extLst>
              <a:ext uri="{FF2B5EF4-FFF2-40B4-BE49-F238E27FC236}">
                <a16:creationId xmlns:a16="http://schemas.microsoft.com/office/drawing/2014/main" id="{57CA3F5A-2490-CB7F-6A7D-80EA471E077B}"/>
              </a:ext>
            </a:extLst>
          </p:cNvPr>
          <p:cNvSpPr txBox="1"/>
          <p:nvPr/>
        </p:nvSpPr>
        <p:spPr>
          <a:xfrm>
            <a:off x="7230659" y="6874003"/>
            <a:ext cx="2020105" cy="646331"/>
          </a:xfrm>
          <a:prstGeom prst="rect">
            <a:avLst/>
          </a:prstGeom>
          <a:noFill/>
        </p:spPr>
        <p:txBody>
          <a:bodyPr wrap="none" rtlCol="0">
            <a:spAutoFit/>
          </a:bodyPr>
          <a:lstStyle/>
          <a:p>
            <a:r>
              <a:rPr lang="es-ES" b="1" dirty="0">
                <a:solidFill>
                  <a:srgbClr val="FF0000"/>
                </a:solidFill>
              </a:rPr>
              <a:t>1   0  1  0  0  0   0   0</a:t>
            </a:r>
          </a:p>
          <a:p>
            <a:r>
              <a:rPr lang="es-ES" b="1" dirty="0">
                <a:solidFill>
                  <a:srgbClr val="FF0000"/>
                </a:solidFill>
              </a:rPr>
              <a:t>        </a:t>
            </a:r>
            <a:endParaRPr lang="es-ES" sz="1400" i="1" dirty="0">
              <a:solidFill>
                <a:srgbClr val="FF0000"/>
              </a:solidFill>
            </a:endParaRPr>
          </a:p>
        </p:txBody>
      </p:sp>
    </p:spTree>
    <p:extLst>
      <p:ext uri="{BB962C8B-B14F-4D97-AF65-F5344CB8AC3E}">
        <p14:creationId xmlns:p14="http://schemas.microsoft.com/office/powerpoint/2010/main" val="144498032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2"/>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eaLnBrk="1" hangingPunct="1">
              <a:lnSpc>
                <a:spcPct val="150000"/>
              </a:lnSpc>
              <a:spcAft>
                <a:spcPts val="1200"/>
              </a:spcAft>
              <a:buClr>
                <a:srgbClr val="D24726"/>
              </a:buClr>
              <a:buSzPct val="150000"/>
              <a:buNone/>
            </a:pPr>
            <a:r>
              <a:rPr lang="es-AR" altLang="es-AR" sz="2000" dirty="0"/>
              <a:t>Ejercitación:</a:t>
            </a:r>
          </a:p>
          <a:p>
            <a:pPr marL="457200" indent="-457200" eaLnBrk="1" hangingPunct="1">
              <a:lnSpc>
                <a:spcPct val="150000"/>
              </a:lnSpc>
              <a:spcAft>
                <a:spcPts val="1200"/>
              </a:spcAft>
              <a:buClr>
                <a:srgbClr val="D24726"/>
              </a:buClr>
              <a:buSzPct val="100000"/>
              <a:buFont typeface="+mj-lt"/>
              <a:buAutoNum type="arabicPeriod"/>
            </a:pPr>
            <a:r>
              <a:rPr lang="es-AR" altLang="es-AR" sz="2000" dirty="0"/>
              <a:t>Resolver el ejercicio de ejemplo con un </a:t>
            </a:r>
            <a:r>
              <a:rPr lang="es-AR" altLang="es-AR" sz="2000" dirty="0" err="1"/>
              <a:t>preescaler</a:t>
            </a:r>
            <a:r>
              <a:rPr lang="es-AR" altLang="es-AR" sz="2000" dirty="0"/>
              <a:t> de 1:256.</a:t>
            </a:r>
          </a:p>
          <a:p>
            <a:pPr marL="457200" indent="-457200" eaLnBrk="1" hangingPunct="1">
              <a:lnSpc>
                <a:spcPct val="150000"/>
              </a:lnSpc>
              <a:spcAft>
                <a:spcPts val="1200"/>
              </a:spcAft>
              <a:buClr>
                <a:srgbClr val="D24726"/>
              </a:buClr>
              <a:buSzPct val="100000"/>
              <a:buFont typeface="+mj-lt"/>
              <a:buAutoNum type="arabicPeriod"/>
            </a:pPr>
            <a:r>
              <a:rPr lang="es-AR" altLang="es-AR" sz="2000" dirty="0"/>
              <a:t>Realizar una demora de 50ms. Completar todos los pasos vistos en el ejemplo. </a:t>
            </a:r>
          </a:p>
          <a:p>
            <a:pPr marL="457200" indent="-457200" eaLnBrk="1" hangingPunct="1">
              <a:lnSpc>
                <a:spcPct val="150000"/>
              </a:lnSpc>
              <a:spcAft>
                <a:spcPts val="1200"/>
              </a:spcAft>
              <a:buClr>
                <a:srgbClr val="D24726"/>
              </a:buClr>
              <a:buSzPct val="100000"/>
              <a:buFont typeface="+mj-lt"/>
              <a:buAutoNum type="arabicPeriod"/>
            </a:pPr>
            <a:r>
              <a:rPr lang="es-AR" altLang="es-AR" sz="2000" dirty="0" err="1"/>
              <a:t>Idem</a:t>
            </a:r>
            <a:r>
              <a:rPr lang="es-AR" altLang="es-AR" sz="2000" dirty="0"/>
              <a:t> ejercicio anterior con una demora de 1ms.</a:t>
            </a:r>
          </a:p>
          <a:p>
            <a:pPr marL="457200" indent="-457200" eaLnBrk="1" hangingPunct="1">
              <a:lnSpc>
                <a:spcPct val="150000"/>
              </a:lnSpc>
              <a:spcAft>
                <a:spcPts val="1200"/>
              </a:spcAft>
              <a:buClr>
                <a:srgbClr val="D24726"/>
              </a:buClr>
              <a:buSzPct val="100000"/>
              <a:buFont typeface="+mj-lt"/>
              <a:buAutoNum type="arabicPeriod"/>
            </a:pPr>
            <a:r>
              <a:rPr lang="es-AR" altLang="es-AR" sz="2000" dirty="0"/>
              <a:t>Sabiendo que el tiempo máximo que se puede tomar es de 65ms, ¿como se podría generar una demora de 1 segundo utilizando el Timer 0?</a:t>
            </a:r>
          </a:p>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p:cNvSpPr>
            <a:spLocks noGrp="1"/>
          </p:cNvSpPr>
          <p:nvPr>
            <p:ph type="title"/>
          </p:nvPr>
        </p:nvSpPr>
        <p:spPr>
          <a:xfrm>
            <a:off x="0" y="0"/>
            <a:ext cx="10544417" cy="1331693"/>
          </a:xfrm>
        </p:spPr>
        <p:txBody>
          <a:bodyPr/>
          <a:lstStyle/>
          <a:p>
            <a:pPr eaLnBrk="1" hangingPunct="1"/>
            <a:r>
              <a:rPr lang="es-AR" altLang="es-AR" dirty="0">
                <a:solidFill>
                  <a:schemeClr val="tx2">
                    <a:lumMod val="60000"/>
                    <a:lumOff val="40000"/>
                  </a:schemeClr>
                </a:solidFill>
              </a:rPr>
              <a:t>Timer 0 como Temporizador</a:t>
            </a:r>
          </a:p>
        </p:txBody>
      </p:sp>
      <p:pic>
        <p:nvPicPr>
          <p:cNvPr id="2" name="Imagen 1" descr="Imagen que contiene Calendario&#10;&#10;El contenido generado por IA puede ser incorrecto.">
            <a:extLst>
              <a:ext uri="{FF2B5EF4-FFF2-40B4-BE49-F238E27FC236}">
                <a16:creationId xmlns:a16="http://schemas.microsoft.com/office/drawing/2014/main" id="{08E48DC2-DD49-453A-9761-72352B7CB1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169001316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DDCB6-BFCF-1564-A08B-E3A34AB3325A}"/>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E877FC24-E7FC-0564-E487-96A260208061}"/>
              </a:ext>
            </a:extLst>
          </p:cNvPr>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a:extLst>
              <a:ext uri="{FF2B5EF4-FFF2-40B4-BE49-F238E27FC236}">
                <a16:creationId xmlns:a16="http://schemas.microsoft.com/office/drawing/2014/main" id="{325FC76A-ED88-C962-0CB1-D86D0945DA70}"/>
              </a:ext>
            </a:extLst>
          </p:cNvPr>
          <p:cNvSpPr>
            <a:spLocks noGrp="1"/>
          </p:cNvSpPr>
          <p:nvPr>
            <p:ph type="title"/>
          </p:nvPr>
        </p:nvSpPr>
        <p:spPr>
          <a:xfrm>
            <a:off x="1403510" y="0"/>
            <a:ext cx="9140907" cy="1331693"/>
          </a:xfrm>
        </p:spPr>
        <p:txBody>
          <a:bodyPr>
            <a:normAutofit/>
          </a:bodyPr>
          <a:lstStyle/>
          <a:p>
            <a:pPr eaLnBrk="1" hangingPunct="1"/>
            <a:r>
              <a:rPr lang="es-AR" altLang="es-AR" dirty="0">
                <a:solidFill>
                  <a:schemeClr val="tx2">
                    <a:lumMod val="60000"/>
                    <a:lumOff val="40000"/>
                  </a:schemeClr>
                </a:solidFill>
              </a:rPr>
              <a:t>Timer 0 como Contador de Eventos</a:t>
            </a:r>
          </a:p>
        </p:txBody>
      </p:sp>
      <p:pic>
        <p:nvPicPr>
          <p:cNvPr id="2" name="Imagen 1" descr="Imagen que contiene Calendario&#10;&#10;El contenido generado por IA puede ser incorrecto.">
            <a:extLst>
              <a:ext uri="{FF2B5EF4-FFF2-40B4-BE49-F238E27FC236}">
                <a16:creationId xmlns:a16="http://schemas.microsoft.com/office/drawing/2014/main" id="{5FE26926-A9D6-036F-8D54-3F3B879BE9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3" name="Marcador de contenido 2">
            <a:extLst>
              <a:ext uri="{FF2B5EF4-FFF2-40B4-BE49-F238E27FC236}">
                <a16:creationId xmlns:a16="http://schemas.microsoft.com/office/drawing/2014/main" id="{4901E59C-85D8-C8BD-9166-AACEEBB3B4F5}"/>
              </a:ext>
            </a:extLst>
          </p:cNvPr>
          <p:cNvSpPr txBox="1">
            <a:spLocks/>
          </p:cNvSpPr>
          <p:nvPr/>
        </p:nvSpPr>
        <p:spPr bwMode="auto">
          <a:xfrm>
            <a:off x="864662" y="1730498"/>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0" indent="0">
              <a:buNone/>
            </a:pPr>
            <a:r>
              <a:rPr lang="es-MX" dirty="0"/>
              <a:t>TMR0 es un contador de 8 bits (0 a 255)</a:t>
            </a:r>
          </a:p>
          <a:p>
            <a:pPr marL="0" indent="0">
              <a:buNone/>
            </a:pPr>
            <a:r>
              <a:rPr lang="es-MX" dirty="0"/>
              <a:t>Para calcular eventos usaremos la siguiente formula</a:t>
            </a:r>
          </a:p>
          <a:p>
            <a:pPr marL="401010" lvl="1" indent="0">
              <a:buNone/>
            </a:pPr>
            <a:r>
              <a:rPr lang="es-MX" dirty="0">
                <a:solidFill>
                  <a:srgbClr val="FF0000"/>
                </a:solidFill>
              </a:rPr>
              <a:t>	               E = (256 – TMR0) * </a:t>
            </a:r>
            <a:r>
              <a:rPr lang="es-MX" dirty="0" err="1">
                <a:solidFill>
                  <a:srgbClr val="FF0000"/>
                </a:solidFill>
              </a:rPr>
              <a:t>PreEsc</a:t>
            </a:r>
            <a:endParaRPr lang="es-MX" dirty="0">
              <a:solidFill>
                <a:srgbClr val="FF0000"/>
              </a:solidFill>
            </a:endParaRPr>
          </a:p>
          <a:p>
            <a:pPr marL="401010" lvl="1" indent="0">
              <a:buNone/>
            </a:pPr>
            <a:r>
              <a:rPr lang="es-MX" sz="1600" dirty="0">
                <a:solidFill>
                  <a:srgbClr val="FF0000"/>
                </a:solidFill>
              </a:rPr>
              <a:t>Despejando</a:t>
            </a:r>
            <a:r>
              <a:rPr lang="es-MX" dirty="0">
                <a:solidFill>
                  <a:srgbClr val="FF0000"/>
                </a:solidFill>
              </a:rPr>
              <a:t> TMR0 = 256 – ( E / </a:t>
            </a:r>
            <a:r>
              <a:rPr lang="es-MX" dirty="0" err="1">
                <a:solidFill>
                  <a:srgbClr val="FF0000"/>
                </a:solidFill>
              </a:rPr>
              <a:t>PreEsc</a:t>
            </a:r>
            <a:r>
              <a:rPr lang="es-MX" dirty="0">
                <a:solidFill>
                  <a:srgbClr val="FF0000"/>
                </a:solidFill>
              </a:rPr>
              <a:t> )</a:t>
            </a:r>
          </a:p>
          <a:p>
            <a:pPr marL="0" lvl="1" indent="0">
              <a:buNone/>
            </a:pPr>
            <a:endParaRPr lang="es-MX" sz="2800" dirty="0"/>
          </a:p>
          <a:p>
            <a:pPr marL="0" lvl="1" indent="0">
              <a:buNone/>
            </a:pPr>
            <a:r>
              <a:rPr lang="es-MX" sz="2800" dirty="0"/>
              <a:t>Para Calcular el Valor del </a:t>
            </a:r>
            <a:r>
              <a:rPr lang="es-MX" sz="2800" dirty="0" err="1"/>
              <a:t>Preescaler</a:t>
            </a:r>
            <a:endParaRPr lang="es-MX" sz="2800" dirty="0"/>
          </a:p>
          <a:p>
            <a:pPr marL="401010" lvl="1" indent="0">
              <a:buNone/>
            </a:pPr>
            <a:r>
              <a:rPr lang="es-MX" dirty="0">
                <a:solidFill>
                  <a:srgbClr val="00B050"/>
                </a:solidFill>
              </a:rPr>
              <a:t>               </a:t>
            </a:r>
            <a:r>
              <a:rPr lang="es-MX" dirty="0" err="1">
                <a:solidFill>
                  <a:srgbClr val="FF0000"/>
                </a:solidFill>
              </a:rPr>
              <a:t>PreEsc</a:t>
            </a:r>
            <a:r>
              <a:rPr lang="es-MX" dirty="0">
                <a:solidFill>
                  <a:srgbClr val="FF0000"/>
                </a:solidFill>
              </a:rPr>
              <a:t> = (E / 256)</a:t>
            </a:r>
            <a:endParaRPr lang="es-MX" dirty="0">
              <a:solidFill>
                <a:srgbClr val="00B050"/>
              </a:solidFill>
            </a:endParaRPr>
          </a:p>
          <a:p>
            <a:pPr marL="0" indent="0" eaLnBrk="1" hangingPunct="1">
              <a:lnSpc>
                <a:spcPct val="150000"/>
              </a:lnSpc>
              <a:spcAft>
                <a:spcPts val="1200"/>
              </a:spcAft>
              <a:buClr>
                <a:srgbClr val="D24726"/>
              </a:buClr>
              <a:buSzPct val="100000"/>
              <a:buNone/>
            </a:pPr>
            <a:r>
              <a:rPr lang="es-AR" altLang="es-AR" sz="2000" dirty="0"/>
              <a:t>Los registros especiales a ser utilizados son:</a:t>
            </a:r>
          </a:p>
          <a:p>
            <a:pPr marL="0" indent="0" eaLnBrk="1" hangingPunct="1">
              <a:lnSpc>
                <a:spcPct val="150000"/>
              </a:lnSpc>
              <a:spcAft>
                <a:spcPts val="1200"/>
              </a:spcAft>
              <a:buClr>
                <a:srgbClr val="D24726"/>
              </a:buClr>
              <a:buSzPct val="100000"/>
              <a:buNone/>
            </a:pPr>
            <a:r>
              <a:rPr lang="es-AR" altLang="es-AR" sz="2000" dirty="0"/>
              <a:t> </a:t>
            </a:r>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pic>
        <p:nvPicPr>
          <p:cNvPr id="13" name="Imagen 12">
            <a:extLst>
              <a:ext uri="{FF2B5EF4-FFF2-40B4-BE49-F238E27FC236}">
                <a16:creationId xmlns:a16="http://schemas.microsoft.com/office/drawing/2014/main" id="{09548FC4-F989-2EDD-1DD1-1CE77DE88E0B}"/>
              </a:ext>
            </a:extLst>
          </p:cNvPr>
          <p:cNvPicPr>
            <a:picLocks noChangeAspect="1"/>
          </p:cNvPicPr>
          <p:nvPr/>
        </p:nvPicPr>
        <p:blipFill>
          <a:blip r:embed="rId3"/>
          <a:stretch>
            <a:fillRect/>
          </a:stretch>
        </p:blipFill>
        <p:spPr>
          <a:xfrm>
            <a:off x="1007515" y="5235697"/>
            <a:ext cx="8758785" cy="1668340"/>
          </a:xfrm>
          <a:prstGeom prst="rect">
            <a:avLst/>
          </a:prstGeom>
        </p:spPr>
      </p:pic>
    </p:spTree>
    <p:extLst>
      <p:ext uri="{BB962C8B-B14F-4D97-AF65-F5344CB8AC3E}">
        <p14:creationId xmlns:p14="http://schemas.microsoft.com/office/powerpoint/2010/main" val="5845284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28690-615E-A61B-5F6F-F550FEF74CDB}"/>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BE3A7FFB-DA36-4992-D915-B59436E18B6A}"/>
              </a:ext>
            </a:extLst>
          </p:cNvPr>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457200" indent="-457200" algn="ctr" eaLnBrk="1" hangingPunct="1">
              <a:lnSpc>
                <a:spcPct val="150000"/>
              </a:lnSpc>
              <a:spcAft>
                <a:spcPts val="1200"/>
              </a:spcAft>
              <a:buClr>
                <a:srgbClr val="D24726"/>
              </a:buClr>
              <a:buSzPct val="100000"/>
              <a:buFont typeface="+mj-lt"/>
              <a:buAutoNum type="arabicPeriod"/>
            </a:pPr>
            <a:r>
              <a:rPr lang="es-AR" altLang="es-AR" sz="2000" b="1" dirty="0"/>
              <a:t>Calcular 50 eventos.</a:t>
            </a:r>
          </a:p>
          <a:p>
            <a:pPr marL="0" indent="0" eaLnBrk="1" hangingPunct="1">
              <a:lnSpc>
                <a:spcPct val="150000"/>
              </a:lnSpc>
              <a:spcAft>
                <a:spcPts val="1200"/>
              </a:spcAft>
              <a:buClr>
                <a:srgbClr val="D24726"/>
              </a:buClr>
              <a:buSzPct val="100000"/>
              <a:buNone/>
            </a:pPr>
            <a:r>
              <a:rPr lang="es-AR" altLang="es-AR" sz="2000" dirty="0"/>
              <a:t>Como la cantidad de eventos se encuentra dentro del rango de TMR0 no se utiliza el </a:t>
            </a:r>
            <a:r>
              <a:rPr lang="es-AR" altLang="es-AR" sz="2000" dirty="0" err="1"/>
              <a:t>Preescaler</a:t>
            </a:r>
            <a:r>
              <a:rPr lang="es-AR" altLang="es-AR" sz="2000" dirty="0"/>
              <a:t>.</a:t>
            </a:r>
          </a:p>
          <a:p>
            <a:pPr marL="0" indent="0">
              <a:lnSpc>
                <a:spcPct val="150000"/>
              </a:lnSpc>
              <a:spcAft>
                <a:spcPts val="1200"/>
              </a:spcAft>
              <a:buClr>
                <a:srgbClr val="D24726"/>
              </a:buClr>
              <a:buSzPct val="100000"/>
              <a:buNone/>
            </a:pPr>
            <a:r>
              <a:rPr lang="es-MX" sz="2000" dirty="0">
                <a:solidFill>
                  <a:srgbClr val="FF0000"/>
                </a:solidFill>
              </a:rPr>
              <a:t>TMR= (256 – E)</a:t>
            </a:r>
          </a:p>
          <a:p>
            <a:pPr marL="0" indent="0" eaLnBrk="1" hangingPunct="1">
              <a:lnSpc>
                <a:spcPct val="150000"/>
              </a:lnSpc>
              <a:spcAft>
                <a:spcPts val="1200"/>
              </a:spcAft>
              <a:buClr>
                <a:srgbClr val="D24726"/>
              </a:buClr>
              <a:buSzPct val="100000"/>
              <a:buNone/>
            </a:pPr>
            <a:r>
              <a:rPr lang="es-AR" altLang="es-AR" sz="2000" dirty="0"/>
              <a:t>TMR0 = (256 – 50) = 206</a:t>
            </a:r>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p:txBody>
      </p:sp>
      <p:sp>
        <p:nvSpPr>
          <p:cNvPr id="5" name="Título 1">
            <a:extLst>
              <a:ext uri="{FF2B5EF4-FFF2-40B4-BE49-F238E27FC236}">
                <a16:creationId xmlns:a16="http://schemas.microsoft.com/office/drawing/2014/main" id="{D6637482-E44B-7CDC-654D-2407D0EDC98E}"/>
              </a:ext>
            </a:extLst>
          </p:cNvPr>
          <p:cNvSpPr>
            <a:spLocks noGrp="1"/>
          </p:cNvSpPr>
          <p:nvPr>
            <p:ph type="title"/>
          </p:nvPr>
        </p:nvSpPr>
        <p:spPr>
          <a:xfrm>
            <a:off x="1403510" y="0"/>
            <a:ext cx="9140907" cy="1331693"/>
          </a:xfrm>
        </p:spPr>
        <p:txBody>
          <a:bodyPr>
            <a:normAutofit/>
          </a:bodyPr>
          <a:lstStyle/>
          <a:p>
            <a:pPr eaLnBrk="1" hangingPunct="1"/>
            <a:r>
              <a:rPr lang="es-AR" altLang="es-AR" dirty="0">
                <a:solidFill>
                  <a:schemeClr val="tx2">
                    <a:lumMod val="60000"/>
                    <a:lumOff val="40000"/>
                  </a:schemeClr>
                </a:solidFill>
              </a:rPr>
              <a:t>Timer 0 como Contador de Eventos</a:t>
            </a:r>
          </a:p>
        </p:txBody>
      </p:sp>
      <p:pic>
        <p:nvPicPr>
          <p:cNvPr id="2" name="Imagen 1" descr="Imagen que contiene Calendario&#10;&#10;El contenido generado por IA puede ser incorrecto.">
            <a:extLst>
              <a:ext uri="{FF2B5EF4-FFF2-40B4-BE49-F238E27FC236}">
                <a16:creationId xmlns:a16="http://schemas.microsoft.com/office/drawing/2014/main" id="{DDA07B6B-5626-1B55-0B2C-BF344C3D14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pic>
        <p:nvPicPr>
          <p:cNvPr id="8" name="Imagen 7">
            <a:extLst>
              <a:ext uri="{FF2B5EF4-FFF2-40B4-BE49-F238E27FC236}">
                <a16:creationId xmlns:a16="http://schemas.microsoft.com/office/drawing/2014/main" id="{F97BF29D-B1AB-3915-4771-CFB5E6E9758B}"/>
              </a:ext>
            </a:extLst>
          </p:cNvPr>
          <p:cNvPicPr>
            <a:picLocks noChangeAspect="1"/>
          </p:cNvPicPr>
          <p:nvPr/>
        </p:nvPicPr>
        <p:blipFill>
          <a:blip r:embed="rId3"/>
          <a:stretch>
            <a:fillRect/>
          </a:stretch>
        </p:blipFill>
        <p:spPr>
          <a:xfrm>
            <a:off x="4813300" y="3463486"/>
            <a:ext cx="2333625" cy="1762125"/>
          </a:xfrm>
          <a:prstGeom prst="rect">
            <a:avLst/>
          </a:prstGeom>
        </p:spPr>
      </p:pic>
      <p:sp>
        <p:nvSpPr>
          <p:cNvPr id="12" name="CuadroTexto 11">
            <a:extLst>
              <a:ext uri="{FF2B5EF4-FFF2-40B4-BE49-F238E27FC236}">
                <a16:creationId xmlns:a16="http://schemas.microsoft.com/office/drawing/2014/main" id="{1B899556-4C95-88FA-CE16-7065E8A2E612}"/>
              </a:ext>
            </a:extLst>
          </p:cNvPr>
          <p:cNvSpPr txBox="1"/>
          <p:nvPr/>
        </p:nvSpPr>
        <p:spPr>
          <a:xfrm>
            <a:off x="4844881" y="4237037"/>
            <a:ext cx="2302044" cy="276999"/>
          </a:xfrm>
          <a:prstGeom prst="rect">
            <a:avLst/>
          </a:prstGeom>
          <a:noFill/>
        </p:spPr>
        <p:txBody>
          <a:bodyPr wrap="square" rtlCol="0">
            <a:spAutoFit/>
          </a:bodyPr>
          <a:lstStyle/>
          <a:p>
            <a:r>
              <a:rPr lang="es-ES" sz="1200" b="1" dirty="0">
                <a:solidFill>
                  <a:srgbClr val="FF0000"/>
                </a:solidFill>
              </a:rPr>
              <a:t>0       0     1      0      0     0      0      0</a:t>
            </a:r>
            <a:endParaRPr lang="es-AR" sz="1200" b="1" dirty="0">
              <a:solidFill>
                <a:srgbClr val="FF0000"/>
              </a:solidFill>
            </a:endParaRPr>
          </a:p>
        </p:txBody>
      </p:sp>
      <p:sp>
        <p:nvSpPr>
          <p:cNvPr id="13" name="CuadroTexto 12">
            <a:extLst>
              <a:ext uri="{FF2B5EF4-FFF2-40B4-BE49-F238E27FC236}">
                <a16:creationId xmlns:a16="http://schemas.microsoft.com/office/drawing/2014/main" id="{F03E5FE7-7694-4D6B-9C00-A262E9663D8C}"/>
              </a:ext>
            </a:extLst>
          </p:cNvPr>
          <p:cNvSpPr txBox="1"/>
          <p:nvPr/>
        </p:nvSpPr>
        <p:spPr>
          <a:xfrm>
            <a:off x="4873456" y="4798238"/>
            <a:ext cx="2302044" cy="276999"/>
          </a:xfrm>
          <a:prstGeom prst="rect">
            <a:avLst/>
          </a:prstGeom>
          <a:noFill/>
        </p:spPr>
        <p:txBody>
          <a:bodyPr wrap="square" rtlCol="0">
            <a:spAutoFit/>
          </a:bodyPr>
          <a:lstStyle/>
          <a:p>
            <a:r>
              <a:rPr lang="es-ES" sz="1200" b="1" dirty="0">
                <a:solidFill>
                  <a:srgbClr val="FF0000"/>
                </a:solidFill>
              </a:rPr>
              <a:t>1      0     1      0      0      0      0      0</a:t>
            </a:r>
            <a:endParaRPr lang="es-AR" sz="1200" b="1" dirty="0">
              <a:solidFill>
                <a:srgbClr val="FF0000"/>
              </a:solidFill>
            </a:endParaRPr>
          </a:p>
        </p:txBody>
      </p:sp>
      <p:sp>
        <p:nvSpPr>
          <p:cNvPr id="14" name="CuadroTexto 13">
            <a:extLst>
              <a:ext uri="{FF2B5EF4-FFF2-40B4-BE49-F238E27FC236}">
                <a16:creationId xmlns:a16="http://schemas.microsoft.com/office/drawing/2014/main" id="{36C52E15-B506-8520-44CC-7B4DF7AB234A}"/>
              </a:ext>
            </a:extLst>
          </p:cNvPr>
          <p:cNvSpPr txBox="1"/>
          <p:nvPr/>
        </p:nvSpPr>
        <p:spPr>
          <a:xfrm>
            <a:off x="4859169" y="3641337"/>
            <a:ext cx="2302044" cy="276999"/>
          </a:xfrm>
          <a:prstGeom prst="rect">
            <a:avLst/>
          </a:prstGeom>
          <a:noFill/>
        </p:spPr>
        <p:txBody>
          <a:bodyPr wrap="square" rtlCol="0">
            <a:spAutoFit/>
          </a:bodyPr>
          <a:lstStyle/>
          <a:p>
            <a:r>
              <a:rPr lang="es-ES" sz="1200" b="1" dirty="0">
                <a:solidFill>
                  <a:srgbClr val="FF0000"/>
                </a:solidFill>
              </a:rPr>
              <a:t>1      1      0      0      1      1     1       0</a:t>
            </a:r>
            <a:endParaRPr lang="es-AR" sz="1200" b="1" dirty="0">
              <a:solidFill>
                <a:srgbClr val="FF0000"/>
              </a:solidFill>
            </a:endParaRPr>
          </a:p>
        </p:txBody>
      </p:sp>
    </p:spTree>
    <p:extLst>
      <p:ext uri="{BB962C8B-B14F-4D97-AF65-F5344CB8AC3E}">
        <p14:creationId xmlns:p14="http://schemas.microsoft.com/office/powerpoint/2010/main" val="4497695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253FC-42DF-FB50-2BEB-FE882A74995F}"/>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57189328-F2BC-1D74-50AC-505B9E7DE56B}"/>
              </a:ext>
            </a:extLst>
          </p:cNvPr>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457200" indent="-457200" eaLnBrk="1" hangingPunct="1">
              <a:lnSpc>
                <a:spcPct val="150000"/>
              </a:lnSpc>
              <a:spcAft>
                <a:spcPts val="1200"/>
              </a:spcAft>
              <a:buClr>
                <a:srgbClr val="D24726"/>
              </a:buClr>
              <a:buSzPct val="100000"/>
              <a:buFont typeface="+mj-lt"/>
              <a:buAutoNum type="arabicPeriod"/>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eaLnBrk="1" hangingPunct="1">
              <a:lnSpc>
                <a:spcPct val="150000"/>
              </a:lnSpc>
              <a:spcAft>
                <a:spcPts val="1200"/>
              </a:spcAft>
              <a:buClr>
                <a:srgbClr val="D24726"/>
              </a:buClr>
              <a:buSzPct val="150000"/>
            </a:pPr>
            <a:endParaRPr lang="es-AR" altLang="es-AR" sz="2000" dirty="0"/>
          </a:p>
        </p:txBody>
      </p:sp>
      <p:sp>
        <p:nvSpPr>
          <p:cNvPr id="5" name="Título 1">
            <a:extLst>
              <a:ext uri="{FF2B5EF4-FFF2-40B4-BE49-F238E27FC236}">
                <a16:creationId xmlns:a16="http://schemas.microsoft.com/office/drawing/2014/main" id="{122A904F-DF04-5067-A544-4D7A5DA64BAB}"/>
              </a:ext>
            </a:extLst>
          </p:cNvPr>
          <p:cNvSpPr>
            <a:spLocks noGrp="1"/>
          </p:cNvSpPr>
          <p:nvPr>
            <p:ph type="title"/>
          </p:nvPr>
        </p:nvSpPr>
        <p:spPr>
          <a:xfrm>
            <a:off x="1403510" y="0"/>
            <a:ext cx="9140907" cy="1331693"/>
          </a:xfrm>
        </p:spPr>
        <p:txBody>
          <a:bodyPr>
            <a:normAutofit/>
          </a:bodyPr>
          <a:lstStyle/>
          <a:p>
            <a:pPr eaLnBrk="1" hangingPunct="1"/>
            <a:r>
              <a:rPr lang="es-AR" altLang="es-AR" dirty="0">
                <a:solidFill>
                  <a:schemeClr val="tx2">
                    <a:lumMod val="60000"/>
                    <a:lumOff val="40000"/>
                  </a:schemeClr>
                </a:solidFill>
              </a:rPr>
              <a:t>Timer 0 como Contador de Eventos</a:t>
            </a:r>
          </a:p>
        </p:txBody>
      </p:sp>
      <p:pic>
        <p:nvPicPr>
          <p:cNvPr id="2" name="Imagen 1" descr="Imagen que contiene Calendario&#10;&#10;El contenido generado por IA puede ser incorrecto.">
            <a:extLst>
              <a:ext uri="{FF2B5EF4-FFF2-40B4-BE49-F238E27FC236}">
                <a16:creationId xmlns:a16="http://schemas.microsoft.com/office/drawing/2014/main" id="{A0773586-8C16-8D0F-9904-E1D193815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
        <p:nvSpPr>
          <p:cNvPr id="3" name="Marcador de contenido 2">
            <a:extLst>
              <a:ext uri="{FF2B5EF4-FFF2-40B4-BE49-F238E27FC236}">
                <a16:creationId xmlns:a16="http://schemas.microsoft.com/office/drawing/2014/main" id="{14193E00-92AD-91E8-6368-08E15101831A}"/>
              </a:ext>
            </a:extLst>
          </p:cNvPr>
          <p:cNvSpPr txBox="1">
            <a:spLocks/>
          </p:cNvSpPr>
          <p:nvPr/>
        </p:nvSpPr>
        <p:spPr bwMode="auto">
          <a:xfrm>
            <a:off x="864662" y="1737161"/>
            <a:ext cx="9419872" cy="521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nSpc>
                <a:spcPct val="90000"/>
              </a:lnSpc>
              <a:spcBef>
                <a:spcPct val="30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ct val="300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ct val="300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ct val="30000"/>
              </a:spcBef>
              <a:buFont typeface="Arial" panose="020B0604020202020204" pitchFamily="34" charset="0"/>
              <a:buChar char="•"/>
              <a:defRPr>
                <a:solidFill>
                  <a:schemeClr val="tx1"/>
                </a:solidFill>
                <a:latin typeface="Segoe UI" panose="020B0502040204020203" pitchFamily="34" charset="0"/>
              </a:defRPr>
            </a:lvl5pPr>
            <a:lvl6pPr marL="25146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eaLnBrk="0" fontAlgn="base" hangingPunct="0">
              <a:lnSpc>
                <a:spcPct val="90000"/>
              </a:lnSpc>
              <a:spcBef>
                <a:spcPct val="300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marL="457200" indent="-457200" algn="ctr" eaLnBrk="1" hangingPunct="1">
              <a:lnSpc>
                <a:spcPct val="150000"/>
              </a:lnSpc>
              <a:spcAft>
                <a:spcPts val="1200"/>
              </a:spcAft>
              <a:buClr>
                <a:srgbClr val="D24726"/>
              </a:buClr>
              <a:buSzPct val="100000"/>
              <a:buFont typeface="+mj-lt"/>
              <a:buAutoNum type="arabicPeriod"/>
            </a:pPr>
            <a:r>
              <a:rPr lang="es-AR" altLang="es-AR" sz="2000" b="1" dirty="0"/>
              <a:t>Calcular 800 eventos.</a:t>
            </a:r>
          </a:p>
          <a:p>
            <a:pPr marL="0" indent="0" eaLnBrk="1" hangingPunct="1">
              <a:lnSpc>
                <a:spcPct val="150000"/>
              </a:lnSpc>
              <a:spcAft>
                <a:spcPts val="1200"/>
              </a:spcAft>
              <a:buClr>
                <a:srgbClr val="D24726"/>
              </a:buClr>
              <a:buSzPct val="100000"/>
              <a:buNone/>
            </a:pPr>
            <a:r>
              <a:rPr lang="es-AR" altLang="es-AR" sz="2000" dirty="0"/>
              <a:t>Como la cantidad de eventos se encuentra fuera </a:t>
            </a:r>
            <a:r>
              <a:rPr lang="es-AR" altLang="es-AR" sz="2000" dirty="0" err="1"/>
              <a:t>delrango</a:t>
            </a:r>
            <a:r>
              <a:rPr lang="es-AR" altLang="es-AR" sz="2000" dirty="0"/>
              <a:t> de TMR0 se utiliza el </a:t>
            </a:r>
            <a:r>
              <a:rPr lang="es-AR" altLang="es-AR" sz="2000" dirty="0" err="1"/>
              <a:t>Preescaler</a:t>
            </a:r>
            <a:r>
              <a:rPr lang="es-AR" altLang="es-AR" sz="2000" dirty="0"/>
              <a:t>.</a:t>
            </a:r>
          </a:p>
          <a:p>
            <a:pPr marL="0" indent="0">
              <a:lnSpc>
                <a:spcPct val="100000"/>
              </a:lnSpc>
              <a:spcBef>
                <a:spcPts val="600"/>
              </a:spcBef>
              <a:spcAft>
                <a:spcPts val="1200"/>
              </a:spcAft>
              <a:buClr>
                <a:srgbClr val="D24726"/>
              </a:buClr>
              <a:buSzPct val="100000"/>
              <a:buNone/>
            </a:pPr>
            <a:r>
              <a:rPr lang="es-MX" sz="2000" dirty="0">
                <a:solidFill>
                  <a:srgbClr val="FF0000"/>
                </a:solidFill>
              </a:rPr>
              <a:t>1.- Calculamos </a:t>
            </a:r>
            <a:r>
              <a:rPr lang="es-MX" sz="2000" dirty="0" err="1">
                <a:solidFill>
                  <a:srgbClr val="FF0000"/>
                </a:solidFill>
              </a:rPr>
              <a:t>Preescaler</a:t>
            </a:r>
            <a:endParaRPr lang="es-MX" sz="2000" dirty="0">
              <a:solidFill>
                <a:srgbClr val="FF0000"/>
              </a:solidFill>
            </a:endParaRPr>
          </a:p>
          <a:p>
            <a:pPr marL="0" indent="0">
              <a:lnSpc>
                <a:spcPct val="100000"/>
              </a:lnSpc>
              <a:spcBef>
                <a:spcPts val="600"/>
              </a:spcBef>
              <a:spcAft>
                <a:spcPts val="1200"/>
              </a:spcAft>
              <a:buClr>
                <a:srgbClr val="D24726"/>
              </a:buClr>
              <a:buSzPct val="100000"/>
              <a:buNone/>
            </a:pPr>
            <a:r>
              <a:rPr lang="es-MX" sz="2000" dirty="0">
                <a:solidFill>
                  <a:srgbClr val="00B050"/>
                </a:solidFill>
              </a:rPr>
              <a:t> </a:t>
            </a:r>
            <a:r>
              <a:rPr lang="es-MX" sz="2000" dirty="0" err="1">
                <a:solidFill>
                  <a:schemeClr val="tx2">
                    <a:lumMod val="75000"/>
                  </a:schemeClr>
                </a:solidFill>
              </a:rPr>
              <a:t>PreEsc</a:t>
            </a:r>
            <a:r>
              <a:rPr lang="es-MX" sz="2000" dirty="0">
                <a:solidFill>
                  <a:schemeClr val="tx2">
                    <a:lumMod val="75000"/>
                  </a:schemeClr>
                </a:solidFill>
              </a:rPr>
              <a:t> = ( E / 256)</a:t>
            </a:r>
          </a:p>
          <a:p>
            <a:pPr marL="0" indent="0">
              <a:lnSpc>
                <a:spcPct val="100000"/>
              </a:lnSpc>
              <a:spcBef>
                <a:spcPts val="600"/>
              </a:spcBef>
              <a:spcAft>
                <a:spcPts val="1200"/>
              </a:spcAft>
              <a:buClr>
                <a:srgbClr val="D24726"/>
              </a:buClr>
              <a:buSzPct val="100000"/>
              <a:buNone/>
            </a:pPr>
            <a:r>
              <a:rPr lang="es-MX" sz="2000" dirty="0">
                <a:solidFill>
                  <a:schemeClr val="tx2">
                    <a:lumMod val="75000"/>
                  </a:schemeClr>
                </a:solidFill>
              </a:rPr>
              <a:t> </a:t>
            </a:r>
            <a:r>
              <a:rPr lang="es-MX" sz="2000" dirty="0" err="1">
                <a:solidFill>
                  <a:schemeClr val="tx2">
                    <a:lumMod val="75000"/>
                  </a:schemeClr>
                </a:solidFill>
              </a:rPr>
              <a:t>PreEsc</a:t>
            </a:r>
            <a:r>
              <a:rPr lang="es-MX" sz="2000" dirty="0">
                <a:solidFill>
                  <a:schemeClr val="tx2">
                    <a:lumMod val="75000"/>
                  </a:schemeClr>
                </a:solidFill>
              </a:rPr>
              <a:t> = (800 / 256) = 3,125 </a:t>
            </a:r>
            <a:r>
              <a:rPr lang="es-MX" sz="2000" b="1" dirty="0">
                <a:solidFill>
                  <a:schemeClr val="tx2">
                    <a:lumMod val="75000"/>
                  </a:schemeClr>
                </a:solidFill>
              </a:rPr>
              <a:t>(4)</a:t>
            </a:r>
          </a:p>
          <a:p>
            <a:pPr marL="0" indent="0">
              <a:lnSpc>
                <a:spcPct val="150000"/>
              </a:lnSpc>
              <a:spcAft>
                <a:spcPts val="1200"/>
              </a:spcAft>
              <a:buClr>
                <a:srgbClr val="D24726"/>
              </a:buClr>
              <a:buSzPct val="100000"/>
              <a:buNone/>
            </a:pPr>
            <a:r>
              <a:rPr lang="es-MX" sz="2000" dirty="0">
                <a:solidFill>
                  <a:srgbClr val="FF0000"/>
                </a:solidFill>
              </a:rPr>
              <a:t>2.- Calculamos TMRO</a:t>
            </a:r>
          </a:p>
          <a:p>
            <a:pPr marL="0" indent="0">
              <a:lnSpc>
                <a:spcPct val="100000"/>
              </a:lnSpc>
              <a:spcBef>
                <a:spcPts val="600"/>
              </a:spcBef>
              <a:spcAft>
                <a:spcPts val="1200"/>
              </a:spcAft>
              <a:buClr>
                <a:srgbClr val="D24726"/>
              </a:buClr>
              <a:buSzPct val="100000"/>
              <a:buNone/>
            </a:pPr>
            <a:r>
              <a:rPr lang="es-MX" sz="2000" dirty="0">
                <a:solidFill>
                  <a:schemeClr val="tx2">
                    <a:lumMod val="75000"/>
                  </a:schemeClr>
                </a:solidFill>
              </a:rPr>
              <a:t>TMR0= 256 – ( E / </a:t>
            </a:r>
            <a:r>
              <a:rPr lang="es-MX" sz="2000" dirty="0" err="1">
                <a:solidFill>
                  <a:schemeClr val="tx2">
                    <a:lumMod val="75000"/>
                  </a:schemeClr>
                </a:solidFill>
              </a:rPr>
              <a:t>Preesc</a:t>
            </a:r>
            <a:r>
              <a:rPr lang="es-MX" sz="2000" dirty="0">
                <a:solidFill>
                  <a:schemeClr val="tx2">
                    <a:lumMod val="75000"/>
                  </a:schemeClr>
                </a:solidFill>
              </a:rPr>
              <a:t>)</a:t>
            </a:r>
          </a:p>
          <a:p>
            <a:pPr marL="0" indent="0">
              <a:lnSpc>
                <a:spcPct val="100000"/>
              </a:lnSpc>
              <a:spcBef>
                <a:spcPts val="600"/>
              </a:spcBef>
              <a:spcAft>
                <a:spcPts val="1200"/>
              </a:spcAft>
              <a:buClr>
                <a:srgbClr val="D24726"/>
              </a:buClr>
              <a:buSzPct val="100000"/>
              <a:buNone/>
            </a:pPr>
            <a:r>
              <a:rPr lang="es-AR" altLang="es-AR" sz="2000" dirty="0">
                <a:solidFill>
                  <a:schemeClr val="tx2">
                    <a:lumMod val="75000"/>
                  </a:schemeClr>
                </a:solidFill>
              </a:rPr>
              <a:t>TMR0 = (256 – (800 / 4) = 56</a:t>
            </a:r>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00000"/>
              <a:buNone/>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a:p>
            <a:pPr marL="0" indent="0" eaLnBrk="1" hangingPunct="1">
              <a:lnSpc>
                <a:spcPct val="150000"/>
              </a:lnSpc>
              <a:spcAft>
                <a:spcPts val="1200"/>
              </a:spcAft>
              <a:buClr>
                <a:srgbClr val="D24726"/>
              </a:buClr>
              <a:buSzPct val="150000"/>
              <a:buNone/>
            </a:pPr>
            <a:endParaRPr lang="es-AR" altLang="es-AR" sz="2000" dirty="0"/>
          </a:p>
        </p:txBody>
      </p:sp>
      <p:pic>
        <p:nvPicPr>
          <p:cNvPr id="6" name="Imagen 5">
            <a:extLst>
              <a:ext uri="{FF2B5EF4-FFF2-40B4-BE49-F238E27FC236}">
                <a16:creationId xmlns:a16="http://schemas.microsoft.com/office/drawing/2014/main" id="{F755159B-2669-F95E-E65A-500D0C8E4CD3}"/>
              </a:ext>
            </a:extLst>
          </p:cNvPr>
          <p:cNvPicPr>
            <a:picLocks noChangeAspect="1"/>
          </p:cNvPicPr>
          <p:nvPr/>
        </p:nvPicPr>
        <p:blipFill>
          <a:blip r:embed="rId3"/>
          <a:stretch>
            <a:fillRect/>
          </a:stretch>
        </p:blipFill>
        <p:spPr>
          <a:xfrm>
            <a:off x="6565900" y="5294312"/>
            <a:ext cx="2333625" cy="1762125"/>
          </a:xfrm>
          <a:prstGeom prst="rect">
            <a:avLst/>
          </a:prstGeom>
        </p:spPr>
      </p:pic>
      <p:sp>
        <p:nvSpPr>
          <p:cNvPr id="7" name="CuadroTexto 6">
            <a:extLst>
              <a:ext uri="{FF2B5EF4-FFF2-40B4-BE49-F238E27FC236}">
                <a16:creationId xmlns:a16="http://schemas.microsoft.com/office/drawing/2014/main" id="{57E4EC22-6363-C3D5-12C1-CC9FC9ADD81C}"/>
              </a:ext>
            </a:extLst>
          </p:cNvPr>
          <p:cNvSpPr txBox="1"/>
          <p:nvPr/>
        </p:nvSpPr>
        <p:spPr>
          <a:xfrm>
            <a:off x="6597481" y="6067863"/>
            <a:ext cx="2302044" cy="276999"/>
          </a:xfrm>
          <a:prstGeom prst="rect">
            <a:avLst/>
          </a:prstGeom>
          <a:noFill/>
        </p:spPr>
        <p:txBody>
          <a:bodyPr wrap="square" rtlCol="0">
            <a:spAutoFit/>
          </a:bodyPr>
          <a:lstStyle/>
          <a:p>
            <a:r>
              <a:rPr lang="es-ES" sz="1200" b="1" dirty="0">
                <a:solidFill>
                  <a:srgbClr val="FF0000"/>
                </a:solidFill>
              </a:rPr>
              <a:t>0       0     1      0      1      0      0      1</a:t>
            </a:r>
            <a:endParaRPr lang="es-AR" sz="1200" b="1" dirty="0">
              <a:solidFill>
                <a:srgbClr val="FF0000"/>
              </a:solidFill>
            </a:endParaRPr>
          </a:p>
        </p:txBody>
      </p:sp>
      <p:sp>
        <p:nvSpPr>
          <p:cNvPr id="8" name="CuadroTexto 7">
            <a:extLst>
              <a:ext uri="{FF2B5EF4-FFF2-40B4-BE49-F238E27FC236}">
                <a16:creationId xmlns:a16="http://schemas.microsoft.com/office/drawing/2014/main" id="{6A66EAA4-4808-CE3D-10DA-4CC092A8E86A}"/>
              </a:ext>
            </a:extLst>
          </p:cNvPr>
          <p:cNvSpPr txBox="1"/>
          <p:nvPr/>
        </p:nvSpPr>
        <p:spPr>
          <a:xfrm>
            <a:off x="6626056" y="6629064"/>
            <a:ext cx="2302044" cy="276999"/>
          </a:xfrm>
          <a:prstGeom prst="rect">
            <a:avLst/>
          </a:prstGeom>
          <a:noFill/>
        </p:spPr>
        <p:txBody>
          <a:bodyPr wrap="square" rtlCol="0">
            <a:spAutoFit/>
          </a:bodyPr>
          <a:lstStyle/>
          <a:p>
            <a:r>
              <a:rPr lang="es-ES" sz="1200" b="1" dirty="0">
                <a:solidFill>
                  <a:srgbClr val="FF0000"/>
                </a:solidFill>
              </a:rPr>
              <a:t>1      0     1      0      0      0      0      0</a:t>
            </a:r>
            <a:endParaRPr lang="es-AR" sz="1200" b="1" dirty="0">
              <a:solidFill>
                <a:srgbClr val="FF0000"/>
              </a:solidFill>
            </a:endParaRPr>
          </a:p>
        </p:txBody>
      </p:sp>
      <p:sp>
        <p:nvSpPr>
          <p:cNvPr id="9" name="CuadroTexto 8">
            <a:extLst>
              <a:ext uri="{FF2B5EF4-FFF2-40B4-BE49-F238E27FC236}">
                <a16:creationId xmlns:a16="http://schemas.microsoft.com/office/drawing/2014/main" id="{CE4E7DDA-4A75-02FD-8B77-1B9226E11B9A}"/>
              </a:ext>
            </a:extLst>
          </p:cNvPr>
          <p:cNvSpPr txBox="1"/>
          <p:nvPr/>
        </p:nvSpPr>
        <p:spPr>
          <a:xfrm>
            <a:off x="6611769" y="5472163"/>
            <a:ext cx="2302044" cy="276999"/>
          </a:xfrm>
          <a:prstGeom prst="rect">
            <a:avLst/>
          </a:prstGeom>
          <a:noFill/>
        </p:spPr>
        <p:txBody>
          <a:bodyPr wrap="square" rtlCol="0">
            <a:spAutoFit/>
          </a:bodyPr>
          <a:lstStyle/>
          <a:p>
            <a:r>
              <a:rPr lang="es-ES" sz="1200" b="1" dirty="0">
                <a:solidFill>
                  <a:srgbClr val="FF0000"/>
                </a:solidFill>
              </a:rPr>
              <a:t>0      0      1     1       1      0      0     0</a:t>
            </a:r>
            <a:endParaRPr lang="es-AR" sz="1200" b="1" dirty="0">
              <a:solidFill>
                <a:srgbClr val="FF0000"/>
              </a:solidFill>
            </a:endParaRPr>
          </a:p>
        </p:txBody>
      </p:sp>
      <p:pic>
        <p:nvPicPr>
          <p:cNvPr id="10" name="Imagen 9">
            <a:extLst>
              <a:ext uri="{FF2B5EF4-FFF2-40B4-BE49-F238E27FC236}">
                <a16:creationId xmlns:a16="http://schemas.microsoft.com/office/drawing/2014/main" id="{1C32821F-4844-CCC1-5CD9-04580AB38EAA}"/>
              </a:ext>
            </a:extLst>
          </p:cNvPr>
          <p:cNvPicPr>
            <a:picLocks noChangeAspect="1"/>
          </p:cNvPicPr>
          <p:nvPr/>
        </p:nvPicPr>
        <p:blipFill>
          <a:blip r:embed="rId4"/>
          <a:stretch>
            <a:fillRect/>
          </a:stretch>
        </p:blipFill>
        <p:spPr>
          <a:xfrm>
            <a:off x="6565900" y="3264884"/>
            <a:ext cx="1994293" cy="1810353"/>
          </a:xfrm>
          <a:prstGeom prst="rect">
            <a:avLst/>
          </a:prstGeom>
        </p:spPr>
      </p:pic>
      <p:sp>
        <p:nvSpPr>
          <p:cNvPr id="11" name="Flecha: a la derecha 10">
            <a:extLst>
              <a:ext uri="{FF2B5EF4-FFF2-40B4-BE49-F238E27FC236}">
                <a16:creationId xmlns:a16="http://schemas.microsoft.com/office/drawing/2014/main" id="{A5C9A8AC-D78F-D679-697A-261B96DF0536}"/>
              </a:ext>
            </a:extLst>
          </p:cNvPr>
          <p:cNvSpPr/>
          <p:nvPr/>
        </p:nvSpPr>
        <p:spPr>
          <a:xfrm>
            <a:off x="6261100" y="3734118"/>
            <a:ext cx="304800"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cxnSp>
        <p:nvCxnSpPr>
          <p:cNvPr id="13" name="Conector: angular 12">
            <a:extLst>
              <a:ext uri="{FF2B5EF4-FFF2-40B4-BE49-F238E27FC236}">
                <a16:creationId xmlns:a16="http://schemas.microsoft.com/office/drawing/2014/main" id="{7C9D752D-5DB1-B2B5-A355-8F796BCB1FA8}"/>
              </a:ext>
            </a:extLst>
          </p:cNvPr>
          <p:cNvCxnSpPr/>
          <p:nvPr/>
        </p:nvCxnSpPr>
        <p:spPr>
          <a:xfrm flipV="1">
            <a:off x="4813300" y="3779837"/>
            <a:ext cx="1295400" cy="10668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2325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Cuestionario</a:t>
            </a:r>
            <a:br>
              <a:rPr lang="es-ES" dirty="0"/>
            </a:br>
            <a:r>
              <a:rPr lang="es-ES" sz="1200" b="1" dirty="0">
                <a:solidFill>
                  <a:srgbClr val="FF0000"/>
                </a:solidFill>
                <a:effectLst>
                  <a:outerShdw blurRad="38100" dist="38100" dir="2700000" algn="tl">
                    <a:srgbClr val="000000">
                      <a:alpha val="43137"/>
                    </a:srgbClr>
                  </a:outerShdw>
                </a:effectLst>
              </a:rPr>
              <a:t>(20 minutos)</a:t>
            </a:r>
            <a:endParaRPr lang="es-ES" dirty="0"/>
          </a:p>
        </p:txBody>
      </p:sp>
      <p:sp>
        <p:nvSpPr>
          <p:cNvPr id="3" name="Marcador de contenido 2"/>
          <p:cNvSpPr>
            <a:spLocks noGrp="1"/>
          </p:cNvSpPr>
          <p:nvPr>
            <p:ph idx="1"/>
          </p:nvPr>
        </p:nvSpPr>
        <p:spPr>
          <a:xfrm>
            <a:off x="457200" y="1600200"/>
            <a:ext cx="9994900" cy="4525963"/>
          </a:xfrm>
        </p:spPr>
        <p:txBody>
          <a:bodyPr/>
          <a:lstStyle/>
          <a:p>
            <a:r>
              <a:rPr lang="es-ES" i="1" dirty="0">
                <a:effectLst>
                  <a:outerShdw blurRad="38100" dist="38100" dir="2700000" algn="tl">
                    <a:srgbClr val="000000">
                      <a:alpha val="43137"/>
                    </a:srgbClr>
                  </a:outerShdw>
                </a:effectLst>
              </a:rPr>
              <a:t>Describa el uso del </a:t>
            </a:r>
            <a:r>
              <a:rPr lang="es-ES" i="1" dirty="0" err="1">
                <a:effectLst>
                  <a:outerShdw blurRad="38100" dist="38100" dir="2700000" algn="tl">
                    <a:srgbClr val="000000">
                      <a:alpha val="43137"/>
                    </a:srgbClr>
                  </a:outerShdw>
                </a:effectLst>
              </a:rPr>
              <a:t>Timer</a:t>
            </a:r>
            <a:r>
              <a:rPr lang="es-ES" i="1" dirty="0">
                <a:effectLst>
                  <a:outerShdw blurRad="38100" dist="38100" dir="2700000" algn="tl">
                    <a:srgbClr val="000000">
                      <a:alpha val="43137"/>
                    </a:srgbClr>
                  </a:outerShdw>
                </a:effectLst>
              </a:rPr>
              <a:t> 0</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Mencione  los registros trabajo que se utilizan para programar el </a:t>
            </a:r>
            <a:r>
              <a:rPr lang="es-ES" i="1" dirty="0" err="1">
                <a:effectLst>
                  <a:outerShdw blurRad="38100" dist="38100" dir="2700000" algn="tl">
                    <a:srgbClr val="000000">
                      <a:alpha val="43137"/>
                    </a:srgbClr>
                  </a:outerShdw>
                </a:effectLst>
              </a:rPr>
              <a:t>Timer</a:t>
            </a:r>
            <a:r>
              <a:rPr lang="es-ES" i="1" dirty="0">
                <a:effectLst>
                  <a:outerShdw blurRad="38100" dist="38100" dir="2700000" algn="tl">
                    <a:srgbClr val="000000">
                      <a:alpha val="43137"/>
                    </a:srgbClr>
                  </a:outerShdw>
                </a:effectLst>
              </a:rPr>
              <a:t> 0.</a:t>
            </a:r>
          </a:p>
          <a:p>
            <a:endParaRPr lang="es-ES" i="1" dirty="0">
              <a:effectLst>
                <a:outerShdw blurRad="38100" dist="38100" dir="2700000" algn="tl">
                  <a:srgbClr val="000000">
                    <a:alpha val="43137"/>
                  </a:srgbClr>
                </a:outerShdw>
              </a:effectLst>
            </a:endParaRPr>
          </a:p>
          <a:p>
            <a:r>
              <a:rPr lang="es-ES" i="1" dirty="0">
                <a:effectLst>
                  <a:outerShdw blurRad="38100" dist="38100" dir="2700000" algn="tl">
                    <a:srgbClr val="000000">
                      <a:alpha val="43137"/>
                    </a:srgbClr>
                  </a:outerShdw>
                </a:effectLst>
              </a:rPr>
              <a:t>Genere un tiempo de 35 </a:t>
            </a:r>
            <a:r>
              <a:rPr lang="es-ES" i="1" dirty="0" err="1">
                <a:effectLst>
                  <a:outerShdw blurRad="38100" dist="38100" dir="2700000" algn="tl">
                    <a:srgbClr val="000000">
                      <a:alpha val="43137"/>
                    </a:srgbClr>
                  </a:outerShdw>
                </a:effectLst>
              </a:rPr>
              <a:t>miliseg</a:t>
            </a:r>
            <a:r>
              <a:rPr lang="es-ES" i="1" dirty="0">
                <a:effectLst>
                  <a:outerShdw blurRad="38100" dist="38100" dir="2700000" algn="tl">
                    <a:srgbClr val="000000">
                      <a:alpha val="43137"/>
                    </a:srgbClr>
                  </a:outerShdw>
                </a:effectLst>
              </a:rPr>
              <a:t>. </a:t>
            </a:r>
            <a:r>
              <a:rPr lang="es-ES" sz="2000" i="1" dirty="0">
                <a:effectLst>
                  <a:outerShdw blurRad="38100" dist="38100" dir="2700000" algn="tl">
                    <a:srgbClr val="000000">
                      <a:alpha val="43137"/>
                    </a:srgbClr>
                  </a:outerShdw>
                </a:effectLst>
              </a:rPr>
              <a:t>(Registros </a:t>
            </a:r>
            <a:r>
              <a:rPr lang="es-ES" sz="2000" b="1" i="1" dirty="0" err="1">
                <a:effectLst>
                  <a:outerShdw blurRad="38100" dist="38100" dir="2700000" algn="tl">
                    <a:srgbClr val="000000">
                      <a:alpha val="43137"/>
                    </a:srgbClr>
                  </a:outerShdw>
                </a:effectLst>
              </a:rPr>
              <a:t>Option</a:t>
            </a:r>
            <a:r>
              <a:rPr lang="es-ES" sz="2000" b="1" i="1" dirty="0">
                <a:effectLst>
                  <a:outerShdw blurRad="38100" dist="38100" dir="2700000" algn="tl">
                    <a:srgbClr val="000000">
                      <a:alpha val="43137"/>
                    </a:srgbClr>
                  </a:outerShdw>
                </a:effectLst>
              </a:rPr>
              <a:t> </a:t>
            </a:r>
            <a:r>
              <a:rPr lang="es-ES" sz="2000" i="1" dirty="0">
                <a:effectLst>
                  <a:outerShdw blurRad="38100" dist="38100" dir="2700000" algn="tl">
                    <a:srgbClr val="000000">
                      <a:alpha val="43137"/>
                    </a:srgbClr>
                  </a:outerShdw>
                </a:effectLst>
              </a:rPr>
              <a:t>TMR0 y INTCON)</a:t>
            </a:r>
            <a:r>
              <a:rPr lang="es-ES" i="1" dirty="0">
                <a:effectLst>
                  <a:outerShdw blurRad="38100" dist="38100" dir="2700000" algn="tl">
                    <a:srgbClr val="000000">
                      <a:alpha val="43137"/>
                    </a:srgbClr>
                  </a:outerShdw>
                </a:effectLst>
              </a:rPr>
              <a:t> </a:t>
            </a:r>
          </a:p>
        </p:txBody>
      </p:sp>
      <p:pic>
        <p:nvPicPr>
          <p:cNvPr id="4" name="Imagen 3" descr="Imagen que contiene Calendario&#10;&#10;El contenido generado por IA puede ser incorrecto.">
            <a:extLst>
              <a:ext uri="{FF2B5EF4-FFF2-40B4-BE49-F238E27FC236}">
                <a16:creationId xmlns:a16="http://schemas.microsoft.com/office/drawing/2014/main" id="{44B5D70B-038A-7CED-CCAA-F1C8D042F7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844338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693132" cy="7559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7" y="0"/>
            <a:ext cx="10693133" cy="75596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12935" y="4391"/>
            <a:ext cx="8224088" cy="7559675"/>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191" y="4392"/>
            <a:ext cx="8571529" cy="7559675"/>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ítulo 1">
            <a:extLst>
              <a:ext uri="{FF2B5EF4-FFF2-40B4-BE49-F238E27FC236}">
                <a16:creationId xmlns:a16="http://schemas.microsoft.com/office/drawing/2014/main" id="{7EB96641-3618-5FE3-F30D-8CFCCDEED083}"/>
              </a:ext>
            </a:extLst>
          </p:cNvPr>
          <p:cNvSpPr>
            <a:spLocks noGrp="1"/>
          </p:cNvSpPr>
          <p:nvPr>
            <p:ph type="title"/>
          </p:nvPr>
        </p:nvSpPr>
        <p:spPr>
          <a:xfrm>
            <a:off x="1135238" y="1700212"/>
            <a:ext cx="8189430" cy="2632237"/>
          </a:xfrm>
        </p:spPr>
        <p:txBody>
          <a:bodyPr vert="horz" lIns="91440" tIns="45720" rIns="91440" bIns="45720" rtlCol="0" anchor="b">
            <a:normAutofit/>
          </a:bodyPr>
          <a:lstStyle/>
          <a:p>
            <a:pPr algn="ctr">
              <a:lnSpc>
                <a:spcPct val="90000"/>
              </a:lnSpc>
            </a:pPr>
            <a:r>
              <a:rPr lang="en-US" sz="5100" kern="1200" dirty="0">
                <a:solidFill>
                  <a:schemeClr val="tx2"/>
                </a:solidFill>
                <a:latin typeface="+mj-lt"/>
                <a:ea typeface="+mj-ea"/>
                <a:cs typeface="+mj-cs"/>
              </a:rPr>
              <a:t>Proxima Clase </a:t>
            </a:r>
            <a:br>
              <a:rPr lang="en-US" sz="5100" kern="1200" dirty="0">
                <a:solidFill>
                  <a:schemeClr val="tx2"/>
                </a:solidFill>
                <a:latin typeface="+mj-lt"/>
                <a:ea typeface="+mj-ea"/>
                <a:cs typeface="+mj-cs"/>
              </a:rPr>
            </a:br>
            <a:r>
              <a:rPr lang="en-US" sz="5100" kern="1200" dirty="0">
                <a:solidFill>
                  <a:schemeClr val="tx2"/>
                </a:solidFill>
                <a:latin typeface="+mj-lt"/>
                <a:ea typeface="+mj-ea"/>
                <a:cs typeface="+mj-cs"/>
              </a:rPr>
              <a:t>1er </a:t>
            </a:r>
            <a:r>
              <a:rPr lang="en-US" sz="5100" kern="1200" dirty="0" err="1">
                <a:solidFill>
                  <a:schemeClr val="tx2"/>
                </a:solidFill>
                <a:latin typeface="+mj-lt"/>
                <a:ea typeface="+mj-ea"/>
                <a:cs typeface="+mj-cs"/>
              </a:rPr>
              <a:t>Parcial</a:t>
            </a:r>
            <a:endParaRPr lang="en-US" sz="5100" kern="1200" dirty="0">
              <a:solidFill>
                <a:schemeClr val="tx2"/>
              </a:solidFill>
              <a:latin typeface="+mj-lt"/>
              <a:ea typeface="+mj-ea"/>
              <a:cs typeface="+mj-cs"/>
            </a:endParaRPr>
          </a:p>
        </p:txBody>
      </p:sp>
      <p:sp>
        <p:nvSpPr>
          <p:cNvPr id="3" name="Marcador de texto 2">
            <a:extLst>
              <a:ext uri="{FF2B5EF4-FFF2-40B4-BE49-F238E27FC236}">
                <a16:creationId xmlns:a16="http://schemas.microsoft.com/office/drawing/2014/main" id="{91CCB688-31C3-5C6F-18D9-776CE7D3B618}"/>
              </a:ext>
            </a:extLst>
          </p:cNvPr>
          <p:cNvSpPr>
            <a:spLocks noGrp="1"/>
          </p:cNvSpPr>
          <p:nvPr>
            <p:ph type="body" idx="1"/>
          </p:nvPr>
        </p:nvSpPr>
        <p:spPr>
          <a:xfrm>
            <a:off x="3071664" y="4411008"/>
            <a:ext cx="4550338" cy="751866"/>
          </a:xfrm>
        </p:spPr>
        <p:txBody>
          <a:bodyPr vert="horz" lIns="91440" tIns="45720" rIns="91440" bIns="45720" rtlCol="0">
            <a:normAutofit/>
          </a:bodyPr>
          <a:lstStyle/>
          <a:p>
            <a:pPr algn="ctr">
              <a:lnSpc>
                <a:spcPct val="90000"/>
              </a:lnSpc>
              <a:spcBef>
                <a:spcPts val="1000"/>
              </a:spcBef>
            </a:pPr>
            <a:endParaRPr lang="en-US" sz="2400" kern="1200">
              <a:solidFill>
                <a:schemeClr val="tx2"/>
              </a:solidFill>
              <a:latin typeface="+mn-lt"/>
              <a:ea typeface="+mn-ea"/>
              <a:cs typeface="+mn-cs"/>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7" y="-4580"/>
            <a:ext cx="2205818" cy="2396799"/>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495189" y="5162874"/>
            <a:ext cx="2205819" cy="2396799"/>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Imagen 3" descr="Imagen que contiene Calendario&#10;&#10;El contenido generado por IA puede ser incorrecto.">
            <a:extLst>
              <a:ext uri="{FF2B5EF4-FFF2-40B4-BE49-F238E27FC236}">
                <a16:creationId xmlns:a16="http://schemas.microsoft.com/office/drawing/2014/main" id="{F6A13CB2-8028-4A95-A39C-0F5E5C85C59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33819479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4</a:t>
            </a:r>
            <a:br>
              <a:rPr lang="es-ES" dirty="0"/>
            </a:br>
            <a:r>
              <a:rPr lang="es-ES" dirty="0"/>
              <a:t>IDE MP LAB</a:t>
            </a:r>
            <a:endParaRPr lang="es-AR" dirty="0"/>
          </a:p>
        </p:txBody>
      </p:sp>
      <p:pic>
        <p:nvPicPr>
          <p:cNvPr id="2" name="Imagen 1" descr="Imagen que contiene Calendario&#10;&#10;El contenido generado por IA puede ser incorrecto.">
            <a:extLst>
              <a:ext uri="{FF2B5EF4-FFF2-40B4-BE49-F238E27FC236}">
                <a16:creationId xmlns:a16="http://schemas.microsoft.com/office/drawing/2014/main" id="{00D1900D-0164-E175-22B2-273B4532AB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0163"/>
            <a:ext cx="1403510" cy="1368519"/>
          </a:xfrm>
          <a:prstGeom prst="rect">
            <a:avLst/>
          </a:prstGeom>
        </p:spPr>
      </p:pic>
    </p:spTree>
    <p:extLst>
      <p:ext uri="{BB962C8B-B14F-4D97-AF65-F5344CB8AC3E}">
        <p14:creationId xmlns:p14="http://schemas.microsoft.com/office/powerpoint/2010/main" val="298053716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0" y="2713037"/>
            <a:ext cx="10693400" cy="1470025"/>
          </a:xfrm>
        </p:spPr>
        <p:txBody>
          <a:bodyPr/>
          <a:lstStyle/>
          <a:p>
            <a:r>
              <a:rPr lang="es-ES" sz="4409" b="1" i="1" u="sng" dirty="0">
                <a:solidFill>
                  <a:srgbClr val="FF0000"/>
                </a:solidFill>
                <a:latin typeface="Arial" pitchFamily="34" charset="0"/>
                <a:ea typeface="+mn-ea"/>
                <a:cs typeface="Arial" pitchFamily="34" charset="0"/>
              </a:rPr>
              <a:t>Configuración</a:t>
            </a:r>
            <a:r>
              <a:rPr lang="es-ES" b="1" i="1" u="sng" dirty="0">
                <a:solidFill>
                  <a:srgbClr val="FF0000"/>
                </a:solidFill>
              </a:rPr>
              <a:t> Básica MP LAB</a:t>
            </a:r>
            <a:br>
              <a:rPr lang="es-ES" b="1" i="1" u="sng" dirty="0">
                <a:solidFill>
                  <a:srgbClr val="FF0000"/>
                </a:solidFill>
              </a:rPr>
            </a:br>
            <a:r>
              <a:rPr lang="es-ES" sz="2000" b="1" i="1" u="sng" dirty="0">
                <a:solidFill>
                  <a:srgbClr val="FF0000"/>
                </a:solidFill>
              </a:rPr>
              <a:t>Apuntes Lectura Obligatoria</a:t>
            </a:r>
          </a:p>
        </p:txBody>
      </p:sp>
      <p:sp>
        <p:nvSpPr>
          <p:cNvPr id="3" name="CuadroTexto 2">
            <a:extLst>
              <a:ext uri="{FF2B5EF4-FFF2-40B4-BE49-F238E27FC236}">
                <a16:creationId xmlns:a16="http://schemas.microsoft.com/office/drawing/2014/main" id="{801D5686-6523-417E-A74E-39FED8563DA7}"/>
              </a:ext>
            </a:extLst>
          </p:cNvPr>
          <p:cNvSpPr txBox="1"/>
          <p:nvPr/>
        </p:nvSpPr>
        <p:spPr>
          <a:xfrm>
            <a:off x="0" y="4008437"/>
            <a:ext cx="10693400" cy="1477328"/>
          </a:xfrm>
          <a:prstGeom prst="rect">
            <a:avLst/>
          </a:prstGeom>
          <a:noFill/>
        </p:spPr>
        <p:txBody>
          <a:bodyPr wrap="square" rtlCol="0">
            <a:spAutoFit/>
          </a:bodyPr>
          <a:lstStyle/>
          <a:p>
            <a:pPr algn="ctr"/>
            <a:r>
              <a:rPr lang="es-ES" i="1" dirty="0">
                <a:effectLst>
                  <a:outerShdw blurRad="38100" dist="38100" dir="2700000" algn="tl">
                    <a:srgbClr val="000000">
                      <a:alpha val="43137"/>
                    </a:srgbClr>
                  </a:outerShdw>
                </a:effectLst>
              </a:rPr>
              <a:t>mplab_capitulo1.PDF</a:t>
            </a:r>
          </a:p>
          <a:p>
            <a:pPr algn="ctr"/>
            <a:r>
              <a:rPr lang="es-ES" i="1" dirty="0">
                <a:effectLst>
                  <a:outerShdw blurRad="38100" dist="38100" dir="2700000" algn="tl">
                    <a:srgbClr val="000000">
                      <a:alpha val="43137"/>
                    </a:srgbClr>
                  </a:outerShdw>
                </a:effectLst>
              </a:rPr>
              <a:t>mplab_capitulo2.PDF</a:t>
            </a:r>
          </a:p>
          <a:p>
            <a:pPr algn="ctr"/>
            <a:r>
              <a:rPr lang="es-ES" i="1" dirty="0">
                <a:effectLst>
                  <a:outerShdw blurRad="38100" dist="38100" dir="2700000" algn="tl">
                    <a:srgbClr val="000000">
                      <a:alpha val="43137"/>
                    </a:srgbClr>
                  </a:outerShdw>
                </a:effectLst>
              </a:rPr>
              <a:t>mplab_capitulo3.PDF</a:t>
            </a:r>
          </a:p>
          <a:p>
            <a:pPr algn="ctr"/>
            <a:r>
              <a:rPr lang="es-ES" i="1" dirty="0">
                <a:effectLst>
                  <a:outerShdw blurRad="38100" dist="38100" dir="2700000" algn="tl">
                    <a:srgbClr val="000000">
                      <a:alpha val="43137"/>
                    </a:srgbClr>
                  </a:outerShdw>
                </a:effectLst>
              </a:rPr>
              <a:t>mplab_capitulo4.PDF</a:t>
            </a:r>
          </a:p>
          <a:p>
            <a:pPr algn="ctr"/>
            <a:r>
              <a:rPr lang="es-ES" i="1" dirty="0">
                <a:effectLst>
                  <a:outerShdw blurRad="38100" dist="38100" dir="2700000" algn="tl">
                    <a:srgbClr val="000000">
                      <a:alpha val="43137"/>
                    </a:srgbClr>
                  </a:outerShdw>
                </a:effectLst>
              </a:rPr>
              <a:t>mplab_capitulo5.PDF</a:t>
            </a:r>
          </a:p>
        </p:txBody>
      </p:sp>
      <p:sp>
        <p:nvSpPr>
          <p:cNvPr id="4" name="CuadroTexto 3">
            <a:extLst>
              <a:ext uri="{FF2B5EF4-FFF2-40B4-BE49-F238E27FC236}">
                <a16:creationId xmlns:a16="http://schemas.microsoft.com/office/drawing/2014/main" id="{41DBA932-94E4-8A67-A2C8-BD770745BB63}"/>
              </a:ext>
            </a:extLst>
          </p:cNvPr>
          <p:cNvSpPr txBox="1"/>
          <p:nvPr/>
        </p:nvSpPr>
        <p:spPr>
          <a:xfrm>
            <a:off x="4020729" y="5532437"/>
            <a:ext cx="2392771" cy="400110"/>
          </a:xfrm>
          <a:prstGeom prst="rect">
            <a:avLst/>
          </a:prstGeom>
          <a:noFill/>
        </p:spPr>
        <p:txBody>
          <a:bodyPr wrap="none" rtlCol="0">
            <a:spAutoFit/>
          </a:bodyPr>
          <a:lstStyle/>
          <a:p>
            <a:r>
              <a:rPr lang="es-ES" sz="2000" b="1" dirty="0">
                <a:solidFill>
                  <a:srgbClr val="FF0000"/>
                </a:solidFill>
              </a:rPr>
              <a:t>VIDEO OBLIGATORIO</a:t>
            </a:r>
          </a:p>
        </p:txBody>
      </p:sp>
      <p:sp>
        <p:nvSpPr>
          <p:cNvPr id="6" name="CuadroTexto 5">
            <a:extLst>
              <a:ext uri="{FF2B5EF4-FFF2-40B4-BE49-F238E27FC236}">
                <a16:creationId xmlns:a16="http://schemas.microsoft.com/office/drawing/2014/main" id="{192AEEA7-B2FD-44F9-3206-368580F61269}"/>
              </a:ext>
            </a:extLst>
          </p:cNvPr>
          <p:cNvSpPr txBox="1"/>
          <p:nvPr/>
        </p:nvSpPr>
        <p:spPr>
          <a:xfrm>
            <a:off x="2330335" y="5989637"/>
            <a:ext cx="5978431" cy="369332"/>
          </a:xfrm>
          <a:prstGeom prst="rect">
            <a:avLst/>
          </a:prstGeom>
          <a:noFill/>
        </p:spPr>
        <p:txBody>
          <a:bodyPr wrap="none" rtlCol="0">
            <a:spAutoFit/>
          </a:bodyPr>
          <a:lstStyle/>
          <a:p>
            <a:r>
              <a:rPr lang="es-AR" b="1" dirty="0"/>
              <a:t>https://campus.unla.edu.ar/aulas/course/view.php?id=2135</a:t>
            </a:r>
          </a:p>
        </p:txBody>
      </p:sp>
    </p:spTree>
    <p:extLst>
      <p:ext uri="{BB962C8B-B14F-4D97-AF65-F5344CB8AC3E}">
        <p14:creationId xmlns:p14="http://schemas.microsoft.com/office/powerpoint/2010/main" val="38431395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err="1"/>
              <a:t>MPLab</a:t>
            </a:r>
            <a:r>
              <a:rPr lang="es-ES" dirty="0"/>
              <a:t> Pantalla Inicial</a:t>
            </a:r>
          </a:p>
        </p:txBody>
      </p:sp>
      <p:pic>
        <p:nvPicPr>
          <p:cNvPr id="6" name="Marcador de contenido 5"/>
          <p:cNvPicPr>
            <a:picLocks noGrp="1" noChangeAspect="1"/>
          </p:cNvPicPr>
          <p:nvPr>
            <p:ph idx="1"/>
          </p:nvPr>
        </p:nvPicPr>
        <p:blipFill>
          <a:blip r:embed="rId2"/>
          <a:stretch>
            <a:fillRect/>
          </a:stretch>
        </p:blipFill>
        <p:spPr>
          <a:xfrm>
            <a:off x="806749" y="1182794"/>
            <a:ext cx="8959551" cy="6330843"/>
          </a:xfrm>
          <a:prstGeom prst="rect">
            <a:avLst/>
          </a:prstGeom>
        </p:spPr>
      </p:pic>
    </p:spTree>
    <p:extLst>
      <p:ext uri="{BB962C8B-B14F-4D97-AF65-F5344CB8AC3E}">
        <p14:creationId xmlns:p14="http://schemas.microsoft.com/office/powerpoint/2010/main" val="14226482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a:t>
            </a:r>
            <a:r>
              <a:rPr lang="es-ES" dirty="0" err="1"/>
              <a:t>Proyect</a:t>
            </a:r>
            <a:r>
              <a:rPr lang="es-ES" dirty="0"/>
              <a:t> </a:t>
            </a:r>
            <a:r>
              <a:rPr lang="es-ES" dirty="0" err="1"/>
              <a:t>Wizard</a:t>
            </a:r>
            <a:endParaRPr lang="es-ES" dirty="0"/>
          </a:p>
        </p:txBody>
      </p:sp>
      <p:pic>
        <p:nvPicPr>
          <p:cNvPr id="4" name="Marcador de contenido 3"/>
          <p:cNvPicPr>
            <a:picLocks noGrp="1" noChangeAspect="1"/>
          </p:cNvPicPr>
          <p:nvPr>
            <p:ph idx="1"/>
          </p:nvPr>
        </p:nvPicPr>
        <p:blipFill>
          <a:blip r:embed="rId2"/>
          <a:stretch>
            <a:fillRect/>
          </a:stretch>
        </p:blipFill>
        <p:spPr>
          <a:xfrm>
            <a:off x="1537171" y="2074442"/>
            <a:ext cx="7630357" cy="5391631"/>
          </a:xfrm>
          <a:prstGeom prst="rect">
            <a:avLst/>
          </a:prstGeom>
        </p:spPr>
      </p:pic>
    </p:spTree>
    <p:extLst>
      <p:ext uri="{BB962C8B-B14F-4D97-AF65-F5344CB8AC3E}">
        <p14:creationId xmlns:p14="http://schemas.microsoft.com/office/powerpoint/2010/main" val="35025315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err="1"/>
              <a:t>MPLab</a:t>
            </a:r>
            <a:r>
              <a:rPr lang="es-ES" dirty="0"/>
              <a:t> – Seleccionar Microcontrolador</a:t>
            </a:r>
          </a:p>
        </p:txBody>
      </p:sp>
      <p:pic>
        <p:nvPicPr>
          <p:cNvPr id="4" name="Marcador de contenido 3"/>
          <p:cNvPicPr>
            <a:picLocks noGrp="1" noChangeAspect="1"/>
          </p:cNvPicPr>
          <p:nvPr>
            <p:ph idx="1"/>
          </p:nvPr>
        </p:nvPicPr>
        <p:blipFill>
          <a:blip r:embed="rId2"/>
          <a:stretch>
            <a:fillRect/>
          </a:stretch>
        </p:blipFill>
        <p:spPr>
          <a:xfrm>
            <a:off x="1459074" y="2012413"/>
            <a:ext cx="7757815" cy="5481694"/>
          </a:xfrm>
          <a:prstGeom prst="rect">
            <a:avLst/>
          </a:prstGeom>
        </p:spPr>
      </p:pic>
    </p:spTree>
    <p:extLst>
      <p:ext uri="{BB962C8B-B14F-4D97-AF65-F5344CB8AC3E}">
        <p14:creationId xmlns:p14="http://schemas.microsoft.com/office/powerpoint/2010/main" val="9134312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sz="4000" dirty="0" err="1"/>
              <a:t>MPLab</a:t>
            </a:r>
            <a:r>
              <a:rPr lang="es-ES" sz="4000" dirty="0"/>
              <a:t> – Seleccionar Lenguaje de Programación</a:t>
            </a:r>
          </a:p>
        </p:txBody>
      </p:sp>
      <p:pic>
        <p:nvPicPr>
          <p:cNvPr id="4" name="Marcador de contenido 3"/>
          <p:cNvPicPr>
            <a:picLocks noGrp="1" noChangeAspect="1"/>
          </p:cNvPicPr>
          <p:nvPr>
            <p:ph idx="1"/>
          </p:nvPr>
        </p:nvPicPr>
        <p:blipFill>
          <a:blip r:embed="rId2"/>
          <a:stretch>
            <a:fillRect/>
          </a:stretch>
        </p:blipFill>
        <p:spPr>
          <a:xfrm>
            <a:off x="-62857" y="960437"/>
            <a:ext cx="10286357" cy="6599238"/>
          </a:xfrm>
          <a:prstGeom prst="rect">
            <a:avLst/>
          </a:prstGeom>
        </p:spPr>
      </p:pic>
    </p:spTree>
    <p:extLst>
      <p:ext uri="{BB962C8B-B14F-4D97-AF65-F5344CB8AC3E}">
        <p14:creationId xmlns:p14="http://schemas.microsoft.com/office/powerpoint/2010/main" val="10299221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Identificar Proyecto</a:t>
            </a:r>
          </a:p>
        </p:txBody>
      </p:sp>
      <p:pic>
        <p:nvPicPr>
          <p:cNvPr id="4" name="Marcador de contenido 3"/>
          <p:cNvPicPr>
            <a:picLocks noGrp="1" noChangeAspect="1"/>
          </p:cNvPicPr>
          <p:nvPr>
            <p:ph idx="1"/>
          </p:nvPr>
        </p:nvPicPr>
        <p:blipFill>
          <a:blip r:embed="rId2"/>
          <a:stretch>
            <a:fillRect/>
          </a:stretch>
        </p:blipFill>
        <p:spPr>
          <a:xfrm>
            <a:off x="1437893" y="2012413"/>
            <a:ext cx="7850609" cy="5547262"/>
          </a:xfrm>
          <a:prstGeom prst="rect">
            <a:avLst/>
          </a:prstGeom>
        </p:spPr>
      </p:pic>
    </p:spTree>
    <p:extLst>
      <p:ext uri="{BB962C8B-B14F-4D97-AF65-F5344CB8AC3E}">
        <p14:creationId xmlns:p14="http://schemas.microsoft.com/office/powerpoint/2010/main" val="371148720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460500" y="1189037"/>
            <a:ext cx="7648346" cy="5404342"/>
          </a:xfrm>
          <a:prstGeom prst="rect">
            <a:avLst/>
          </a:prstGeom>
        </p:spPr>
      </p:pic>
    </p:spTree>
    <p:extLst>
      <p:ext uri="{BB962C8B-B14F-4D97-AF65-F5344CB8AC3E}">
        <p14:creationId xmlns:p14="http://schemas.microsoft.com/office/powerpoint/2010/main" val="6057653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1425921" y="1341437"/>
            <a:ext cx="7850609" cy="5547262"/>
          </a:xfrm>
          <a:prstGeom prst="rect">
            <a:avLst/>
          </a:prstGeom>
        </p:spPr>
      </p:pic>
      <p:sp>
        <p:nvSpPr>
          <p:cNvPr id="5" name="Título 1"/>
          <p:cNvSpPr>
            <a:spLocks noGrp="1"/>
          </p:cNvSpPr>
          <p:nvPr>
            <p:ph type="title"/>
          </p:nvPr>
        </p:nvSpPr>
        <p:spPr>
          <a:xfrm>
            <a:off x="457200" y="274638"/>
            <a:ext cx="8229600" cy="1143000"/>
          </a:xfrm>
        </p:spPr>
        <p:txBody>
          <a:bodyPr>
            <a:normAutofit/>
          </a:bodyPr>
          <a:lstStyle/>
          <a:p>
            <a:r>
              <a:rPr lang="es-ES" dirty="0" err="1"/>
              <a:t>MPLab</a:t>
            </a:r>
            <a:r>
              <a:rPr lang="es-ES" dirty="0"/>
              <a:t> – Estructura de un Proyecto</a:t>
            </a:r>
          </a:p>
        </p:txBody>
      </p:sp>
    </p:spTree>
    <p:extLst>
      <p:ext uri="{BB962C8B-B14F-4D97-AF65-F5344CB8AC3E}">
        <p14:creationId xmlns:p14="http://schemas.microsoft.com/office/powerpoint/2010/main" val="10167122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Menú Project, </a:t>
            </a:r>
            <a:r>
              <a:rPr lang="es-ES" dirty="0" err="1"/>
              <a:t>Build</a:t>
            </a:r>
            <a:r>
              <a:rPr lang="es-ES" dirty="0"/>
              <a:t> </a:t>
            </a:r>
            <a:r>
              <a:rPr lang="es-ES" dirty="0" err="1"/>
              <a:t>options</a:t>
            </a:r>
            <a:endParaRPr lang="es-ES" dirty="0"/>
          </a:p>
        </p:txBody>
      </p:sp>
      <p:pic>
        <p:nvPicPr>
          <p:cNvPr id="4" name="Marcador de contenido 3"/>
          <p:cNvPicPr>
            <a:picLocks noGrp="1" noChangeAspect="1"/>
          </p:cNvPicPr>
          <p:nvPr>
            <p:ph idx="1"/>
          </p:nvPr>
        </p:nvPicPr>
        <p:blipFill>
          <a:blip r:embed="rId2"/>
          <a:stretch>
            <a:fillRect/>
          </a:stretch>
        </p:blipFill>
        <p:spPr>
          <a:xfrm>
            <a:off x="6095465" y="1485240"/>
            <a:ext cx="3862764" cy="5982460"/>
          </a:xfrm>
          <a:prstGeom prst="rect">
            <a:avLst/>
          </a:prstGeom>
        </p:spPr>
      </p:pic>
      <p:sp>
        <p:nvSpPr>
          <p:cNvPr id="5" name="CuadroTexto 4"/>
          <p:cNvSpPr txBox="1"/>
          <p:nvPr/>
        </p:nvSpPr>
        <p:spPr>
          <a:xfrm>
            <a:off x="550630" y="2392017"/>
            <a:ext cx="4796070" cy="3416320"/>
          </a:xfrm>
          <a:prstGeom prst="rect">
            <a:avLst/>
          </a:prstGeom>
          <a:noFill/>
        </p:spPr>
        <p:txBody>
          <a:bodyPr wrap="square" rtlCol="0">
            <a:spAutoFit/>
          </a:bodyPr>
          <a:lstStyle/>
          <a:p>
            <a:pPr marL="342900" indent="-342900">
              <a:buFont typeface="+mj-lt"/>
              <a:buAutoNum type="arabicPeriod"/>
            </a:pPr>
            <a:r>
              <a:rPr lang="es-ES" b="1" dirty="0">
                <a:effectLst>
                  <a:outerShdw blurRad="38100" dist="38100" dir="2700000" algn="tl">
                    <a:srgbClr val="000000">
                      <a:alpha val="43137"/>
                    </a:srgbClr>
                  </a:outerShdw>
                </a:effectLst>
              </a:rPr>
              <a:t>Ir al menú Project, </a:t>
            </a:r>
            <a:r>
              <a:rPr lang="es-ES" b="1" dirty="0" err="1">
                <a:effectLst>
                  <a:outerShdw blurRad="38100" dist="38100" dir="2700000" algn="tl">
                    <a:srgbClr val="000000">
                      <a:alpha val="43137"/>
                    </a:srgbClr>
                  </a:outerShdw>
                </a:effectLst>
              </a:rPr>
              <a:t>Build</a:t>
            </a:r>
            <a:r>
              <a:rPr lang="es-ES" b="1" dirty="0">
                <a:effectLst>
                  <a:outerShdw blurRad="38100" dist="38100" dir="2700000" algn="tl">
                    <a:srgbClr val="000000">
                      <a:alpha val="43137"/>
                    </a:srgbClr>
                  </a:outerShdw>
                </a:effectLst>
              </a:rPr>
              <a:t> </a:t>
            </a:r>
            <a:r>
              <a:rPr lang="es-ES" b="1" dirty="0" err="1">
                <a:effectLst>
                  <a:outerShdw blurRad="38100" dist="38100" dir="2700000" algn="tl">
                    <a:srgbClr val="000000">
                      <a:alpha val="43137"/>
                    </a:srgbClr>
                  </a:outerShdw>
                </a:effectLst>
              </a:rPr>
              <a:t>options</a:t>
            </a:r>
            <a:r>
              <a:rPr lang="es-ES" b="1" dirty="0">
                <a:effectLst>
                  <a:outerShdw blurRad="38100" dist="38100" dir="2700000" algn="tl">
                    <a:srgbClr val="000000">
                      <a:alpha val="43137"/>
                    </a:srgbClr>
                  </a:outerShdw>
                </a:effectLst>
              </a:rPr>
              <a:t> y elegir la solapa para configurar el MPASM </a:t>
            </a:r>
            <a:r>
              <a:rPr lang="es-ES" b="1" dirty="0" err="1">
                <a:effectLst>
                  <a:outerShdw blurRad="38100" dist="38100" dir="2700000" algn="tl">
                    <a:srgbClr val="000000">
                      <a:alpha val="43137"/>
                    </a:srgbClr>
                  </a:outerShdw>
                </a:effectLst>
              </a:rPr>
              <a:t>Assembler</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Tildar la opción para deshabilitar la distinción entre mayúsculas y minúsculas, de forma que si editamos el programa con minúsculas, el ensamblador reconozca el archivo de encabezado que habitualmente está escrito en mayúsculas. </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Verificar la opción de que trabaje en hexadecimal por defecto.</a:t>
            </a:r>
          </a:p>
        </p:txBody>
      </p:sp>
      <p:sp>
        <p:nvSpPr>
          <p:cNvPr id="3" name="2 Elipse"/>
          <p:cNvSpPr/>
          <p:nvPr/>
        </p:nvSpPr>
        <p:spPr>
          <a:xfrm>
            <a:off x="6489700" y="3094037"/>
            <a:ext cx="17526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040946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Simulador - </a:t>
            </a:r>
            <a:r>
              <a:rPr lang="es-ES" dirty="0" err="1"/>
              <a:t>Seteo</a:t>
            </a:r>
            <a:endParaRPr lang="es-ES" dirty="0"/>
          </a:p>
        </p:txBody>
      </p:sp>
      <p:sp>
        <p:nvSpPr>
          <p:cNvPr id="4" name="CuadroTexto 3"/>
          <p:cNvSpPr txBox="1"/>
          <p:nvPr/>
        </p:nvSpPr>
        <p:spPr>
          <a:xfrm>
            <a:off x="735172" y="2354918"/>
            <a:ext cx="4495816" cy="3693319"/>
          </a:xfrm>
          <a:prstGeom prst="rect">
            <a:avLst/>
          </a:prstGeom>
          <a:noFill/>
        </p:spPr>
        <p:txBody>
          <a:bodyPr wrap="square" rtlCol="0">
            <a:spAutoFit/>
          </a:bodyPr>
          <a:lstStyle/>
          <a:p>
            <a:r>
              <a:rPr lang="es-ES" b="1" dirty="0">
                <a:effectLst>
                  <a:outerShdw blurRad="38100" dist="38100" dir="2700000" algn="tl">
                    <a:srgbClr val="000000">
                      <a:alpha val="43137"/>
                    </a:srgbClr>
                  </a:outerShdw>
                </a:effectLst>
              </a:rPr>
              <a:t>Lo siguiente es elegir la herramienta para depuración (</a:t>
            </a:r>
            <a:r>
              <a:rPr lang="es-ES" b="1" dirty="0" err="1">
                <a:effectLst>
                  <a:outerShdw blurRad="38100" dist="38100" dir="2700000" algn="tl">
                    <a:srgbClr val="000000">
                      <a:alpha val="43137"/>
                    </a:srgbClr>
                  </a:outerShdw>
                </a:effectLst>
              </a:rPr>
              <a:t>debugger</a:t>
            </a:r>
            <a:r>
              <a:rPr lang="es-ES" b="1" dirty="0">
                <a:effectLst>
                  <a:outerShdw blurRad="38100" dist="38100" dir="2700000" algn="tl">
                    <a:srgbClr val="000000">
                      <a:alpha val="43137"/>
                    </a:srgbClr>
                  </a:outerShdw>
                </a:effectLst>
              </a:rPr>
              <a:t>)</a:t>
            </a:r>
          </a:p>
          <a:p>
            <a:pPr marL="342900" indent="-342900">
              <a:buFont typeface="+mj-lt"/>
              <a:buAutoNum type="arabicPeriod"/>
            </a:pPr>
            <a:r>
              <a:rPr lang="es-ES" b="1" dirty="0">
                <a:effectLst>
                  <a:outerShdw blurRad="38100" dist="38100" dir="2700000" algn="tl">
                    <a:srgbClr val="000000">
                      <a:alpha val="43137"/>
                    </a:srgbClr>
                  </a:outerShdw>
                </a:effectLst>
              </a:rPr>
              <a:t>Tildamos </a:t>
            </a:r>
            <a:r>
              <a:rPr lang="es-ES" b="1" dirty="0" err="1">
                <a:effectLst>
                  <a:outerShdw blurRad="38100" dist="38100" dir="2700000" algn="tl">
                    <a:srgbClr val="000000">
                      <a:alpha val="43137"/>
                    </a:srgbClr>
                  </a:outerShdw>
                </a:effectLst>
              </a:rPr>
              <a:t>MPLabSim</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Después de esta elección debería aparecer una barra de herramientas que nos permitirá compilar y correr la compilación, ejecutar instrucción por instrucción, colocar puntos de detención, etc.; es decir serán las herramientas de depuración de nuestro programa (subrutina, función).</a:t>
            </a:r>
          </a:p>
          <a:p>
            <a:endParaRPr lang="es-ES" dirty="0"/>
          </a:p>
        </p:txBody>
      </p:sp>
      <p:pic>
        <p:nvPicPr>
          <p:cNvPr id="5" name="Imagen 4"/>
          <p:cNvPicPr>
            <a:picLocks noChangeAspect="1"/>
          </p:cNvPicPr>
          <p:nvPr/>
        </p:nvPicPr>
        <p:blipFill>
          <a:blip r:embed="rId2"/>
          <a:stretch>
            <a:fillRect/>
          </a:stretch>
        </p:blipFill>
        <p:spPr>
          <a:xfrm>
            <a:off x="5892280" y="1189037"/>
            <a:ext cx="4102620" cy="5562599"/>
          </a:xfrm>
          <a:prstGeom prst="rect">
            <a:avLst/>
          </a:prstGeom>
        </p:spPr>
      </p:pic>
      <p:sp>
        <p:nvSpPr>
          <p:cNvPr id="6" name="5 Elipse"/>
          <p:cNvSpPr/>
          <p:nvPr/>
        </p:nvSpPr>
        <p:spPr>
          <a:xfrm>
            <a:off x="6032500" y="41608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6032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5632085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2" y="1722437"/>
            <a:ext cx="4328233" cy="4796544"/>
          </a:xfrm>
        </p:spPr>
        <p:txBody>
          <a:bodyPr>
            <a:normAutofit fontScale="92500" lnSpcReduction="20000"/>
          </a:bodyPr>
          <a:lstStyle/>
          <a:p>
            <a:r>
              <a:rPr lang="es-ES" dirty="0"/>
              <a:t>Lo que deberemos elegir a continuación es la frecuencia del reloj para la simulación: menú </a:t>
            </a:r>
            <a:r>
              <a:rPr lang="es-ES" dirty="0" err="1"/>
              <a:t>Debugger</a:t>
            </a:r>
            <a:r>
              <a:rPr lang="es-ES" dirty="0"/>
              <a:t> (depuración), </a:t>
            </a:r>
            <a:r>
              <a:rPr lang="es-ES" dirty="0" err="1"/>
              <a:t>Settings</a:t>
            </a:r>
            <a:r>
              <a:rPr lang="es-ES" dirty="0"/>
              <a:t> (configuración), solapa </a:t>
            </a:r>
            <a:r>
              <a:rPr lang="es-ES" dirty="0" err="1"/>
              <a:t>Osc</a:t>
            </a:r>
            <a:r>
              <a:rPr lang="es-ES" dirty="0"/>
              <a:t>/Trace: elegir la frecuencia en el valor que usaremos comúnmente: 4 MHz. </a:t>
            </a:r>
          </a:p>
          <a:p>
            <a:r>
              <a:rPr lang="es-ES" dirty="0"/>
              <a:t>Se podría elegir la otra</a:t>
            </a:r>
          </a:p>
        </p:txBody>
      </p:sp>
      <p:pic>
        <p:nvPicPr>
          <p:cNvPr id="4" name="Imagen 3"/>
          <p:cNvPicPr>
            <a:picLocks noChangeAspect="1"/>
          </p:cNvPicPr>
          <p:nvPr/>
        </p:nvPicPr>
        <p:blipFill>
          <a:blip r:embed="rId2"/>
          <a:stretch>
            <a:fillRect/>
          </a:stretch>
        </p:blipFill>
        <p:spPr>
          <a:xfrm>
            <a:off x="5473322" y="2218853"/>
            <a:ext cx="4942556" cy="4927109"/>
          </a:xfrm>
          <a:prstGeom prst="rect">
            <a:avLst/>
          </a:prstGeom>
        </p:spPr>
      </p:pic>
      <p:sp>
        <p:nvSpPr>
          <p:cNvPr id="5" name="4 Elipse"/>
          <p:cNvSpPr/>
          <p:nvPr/>
        </p:nvSpPr>
        <p:spPr>
          <a:xfrm>
            <a:off x="5727700" y="3627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470900" y="35512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5727700" y="48466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36619869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1" y="1341437"/>
            <a:ext cx="4611529" cy="5562600"/>
          </a:xfrm>
        </p:spPr>
        <p:txBody>
          <a:bodyPr>
            <a:noAutofit/>
          </a:bodyPr>
          <a:lstStyle/>
          <a:p>
            <a:pPr marL="0" indent="0">
              <a:buNone/>
            </a:pPr>
            <a:r>
              <a:rPr lang="es-ES" sz="1400" b="1" dirty="0">
                <a:effectLst>
                  <a:outerShdw blurRad="38100" dist="38100" dir="2700000" algn="tl">
                    <a:srgbClr val="000000">
                      <a:alpha val="43137"/>
                    </a:srgbClr>
                  </a:outerShdw>
                </a:effectLst>
              </a:rPr>
              <a:t>Ahora sigue configurar al PIC, a través de la “palabra de configuración”. Esta palabra puede estar definida en el programa o aquí.</a:t>
            </a:r>
          </a:p>
          <a:p>
            <a:pPr marL="0" indent="0">
              <a:buNone/>
            </a:pPr>
            <a:r>
              <a:rPr lang="es-ES" sz="1400" b="1" dirty="0">
                <a:effectLst>
                  <a:outerShdw blurRad="38100" dist="38100" dir="2700000" algn="tl">
                    <a:srgbClr val="000000">
                      <a:alpha val="43137"/>
                    </a:srgbClr>
                  </a:outerShdw>
                </a:effectLst>
              </a:rPr>
              <a:t>Esta palabra establece los siguientes parámetros para el funcionamiento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tipo de reloj (oscilador) que va a usar (interno, externo, por cristal, etc.) Nosotros usaremos el RC interno porque no necesitamos una precisión extrema y no inutilizamos dos de las patas de E/S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denominado ”perro guardián” lo usaremos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 encendido también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Habilitaremos el borrado total en un </a:t>
            </a:r>
            <a:r>
              <a:rPr lang="es-ES" sz="1400" b="1" dirty="0" err="1">
                <a:effectLst>
                  <a:outerShdw blurRad="38100" dist="38100" dir="2700000" algn="tl">
                    <a:srgbClr val="000000">
                      <a:alpha val="43137"/>
                    </a:srgbClr>
                  </a:outerShdw>
                </a:effectLst>
              </a:rPr>
              <a:t>reset</a:t>
            </a:r>
            <a:r>
              <a:rPr lang="es-ES" sz="1400" b="1" dirty="0">
                <a:effectLst>
                  <a:outerShdw blurRad="38100" dist="38100" dir="2700000" algn="tl">
                    <a:srgbClr val="000000">
                      <a:alpha val="43137"/>
                    </a:srgbClr>
                  </a:outerShdw>
                </a:effectLst>
              </a:rPr>
              <a:t>.</a:t>
            </a:r>
          </a:p>
          <a:p>
            <a:pPr marL="514350" lvl="0" indent="-514350">
              <a:buFont typeface="+mj-lt"/>
              <a:buAutoNum type="arabicPeriod"/>
            </a:pPr>
            <a:r>
              <a:rPr lang="es-ES" sz="1400" b="1" dirty="0">
                <a:effectLst>
                  <a:outerShdw blurRad="38100" dist="38100" dir="2700000" algn="tl">
                    <a:srgbClr val="000000">
                      <a:alpha val="43137"/>
                    </a:srgbClr>
                  </a:outerShdw>
                </a:effectLst>
              </a:rPr>
              <a:t>No interesa el siguiente que es la detección de apagado</a:t>
            </a:r>
          </a:p>
          <a:p>
            <a:pPr marL="514350" lvl="0" indent="-514350">
              <a:buFont typeface="+mj-lt"/>
              <a:buAutoNum type="arabicPeriod"/>
            </a:pPr>
            <a:r>
              <a:rPr lang="es-ES" sz="1400" b="1" dirty="0">
                <a:effectLst>
                  <a:outerShdw blurRad="38100" dist="38100" dir="2700000" algn="tl">
                    <a:srgbClr val="000000">
                      <a:alpha val="43137"/>
                    </a:srgbClr>
                  </a:outerShdw>
                </a:effectLst>
              </a:rPr>
              <a:t>La siguiente opción debe habilitarse para poder luego programar el PIC con tensiones normales (de lo contrario hace falta mayor tensión para programarlo)</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 lectura de la EEPROM</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del código del programa</a:t>
            </a:r>
          </a:p>
        </p:txBody>
      </p:sp>
      <p:pic>
        <p:nvPicPr>
          <p:cNvPr id="4" name="Imagen 3"/>
          <p:cNvPicPr>
            <a:picLocks noChangeAspect="1"/>
          </p:cNvPicPr>
          <p:nvPr/>
        </p:nvPicPr>
        <p:blipFill>
          <a:blip r:embed="rId2"/>
          <a:stretch>
            <a:fillRect/>
          </a:stretch>
        </p:blipFill>
        <p:spPr>
          <a:xfrm>
            <a:off x="5346700" y="2255837"/>
            <a:ext cx="5187097" cy="3017054"/>
          </a:xfrm>
          <a:prstGeom prst="rect">
            <a:avLst/>
          </a:prstGeom>
        </p:spPr>
      </p:pic>
      <p:sp>
        <p:nvSpPr>
          <p:cNvPr id="5" name="Elipse 4"/>
          <p:cNvSpPr/>
          <p:nvPr/>
        </p:nvSpPr>
        <p:spPr>
          <a:xfrm>
            <a:off x="6164666" y="3144224"/>
            <a:ext cx="251375" cy="3309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41557874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5</a:t>
            </a:r>
            <a:endParaRPr lang="es-AR" dirty="0"/>
          </a:p>
        </p:txBody>
      </p:sp>
    </p:spTree>
    <p:extLst>
      <p:ext uri="{BB962C8B-B14F-4D97-AF65-F5344CB8AC3E}">
        <p14:creationId xmlns:p14="http://schemas.microsoft.com/office/powerpoint/2010/main" val="38172606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txBox="1">
            <a:spLocks/>
          </p:cNvSpPr>
          <p:nvPr/>
        </p:nvSpPr>
        <p:spPr>
          <a:xfrm>
            <a:off x="457200" y="3246437"/>
            <a:ext cx="96901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ts val="6100"/>
              </a:lnSpc>
            </a:pPr>
            <a:r>
              <a:rPr lang="es-AR"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rPr>
              <a:t>PROGRAMACIÓN</a:t>
            </a:r>
            <a:endParaRPr lang="es-ES" sz="4397" b="1" i="1" dirty="0">
              <a:solidFill>
                <a:srgbClr val="FF0000"/>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75769867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520700"/>
            <a:ext cx="9431921" cy="5919569"/>
          </a:xfrm>
          <a:prstGeom prst="rect">
            <a:avLst/>
          </a:prstGeom>
          <a:noFill/>
        </p:spPr>
        <p:txBody>
          <a:bodyPr wrap="square" lIns="0" tIns="0" rIns="0" rtlCol="0">
            <a:spAutoFit/>
          </a:bodyPr>
          <a:lstStyle/>
          <a:p>
            <a:pPr algn="ctr">
              <a:lnSpc>
                <a:spcPts val="3200"/>
              </a:lnSpc>
              <a:spcBef>
                <a:spcPct val="0"/>
              </a:spcBef>
              <a:tabLst>
                <a:tab pos="2590800" algn="l"/>
              </a:tabLst>
            </a:pPr>
            <a:r>
              <a:rPr lang="en-US" altLang="zh-CN" sz="3600" b="1" i="1" dirty="0" err="1">
                <a:solidFill>
                  <a:srgbClr val="FF0000"/>
                </a:solidFill>
                <a:effectLst>
                  <a:outerShdw blurRad="38100" dist="38100" dir="2700000" algn="tl">
                    <a:srgbClr val="000000">
                      <a:alpha val="43137"/>
                    </a:srgbClr>
                  </a:outerShdw>
                </a:effectLst>
                <a:latin typeface="Calibri" panose="020F0502020204030204" pitchFamily="34" charset="0"/>
              </a:rPr>
              <a:t>Programa</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 Ensamblador</a:t>
            </a:r>
          </a:p>
          <a:p>
            <a:pPr>
              <a:lnSpc>
                <a:spcPts val="1000"/>
              </a:lnSpc>
            </a:pPr>
            <a:endParaRPr lang="en-US" altLang="zh-CN" sz="3600" dirty="0"/>
          </a:p>
          <a:p>
            <a:pPr>
              <a:lnSpc>
                <a:spcPts val="1000"/>
              </a:lnSpc>
            </a:pPr>
            <a:endParaRPr lang="en-US" altLang="zh-CN" dirty="0"/>
          </a:p>
          <a:p>
            <a:pPr>
              <a:lnSpc>
                <a:spcPts val="1000"/>
              </a:lnSpc>
            </a:pPr>
            <a:endParaRPr lang="en-US" altLang="zh-CN" dirty="0"/>
          </a:p>
          <a:p>
            <a:pPr>
              <a:lnSpc>
                <a:spcPts val="40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software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encarga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traducir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nemonicos</a:t>
            </a:r>
            <a:r>
              <a:rPr lang="en-US" altLang="zh-CN" sz="3200" b="1" dirty="0">
                <a:solidFill>
                  <a:srgbClr val="000000"/>
                </a:solidFill>
                <a:latin typeface="Times New Roman" pitchFamily="18" charset="0"/>
                <a:cs typeface="Times New Roman" pitchFamily="18" charset="0"/>
              </a:rPr>
              <a:t> y</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símbolos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alfanuméricos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programa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escrito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usuario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 </a:t>
            </a:r>
            <a:r>
              <a:rPr lang="en-US" altLang="zh-CN" sz="3200" b="1" dirty="0" err="1">
                <a:solidFill>
                  <a:srgbClr val="000000"/>
                </a:solidFill>
                <a:latin typeface="Times New Roman" pitchFamily="18" charset="0"/>
                <a:cs typeface="Times New Roman" pitchFamily="18" charset="0"/>
              </a:rPr>
              <a:t>código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maquina.</a:t>
            </a:r>
          </a:p>
          <a:p>
            <a:pPr>
              <a:lnSpc>
                <a:spcPts val="1000"/>
              </a:lnSpc>
            </a:pPr>
            <a:endParaRPr lang="en-US" altLang="zh-CN" sz="3200" dirty="0"/>
          </a:p>
          <a:p>
            <a:pPr>
              <a:lnSpc>
                <a:spcPts val="3600"/>
              </a:lnSpc>
              <a:tabLst>
                <a:tab pos="2590800" algn="l"/>
              </a:tabLst>
            </a:pPr>
            <a:endParaRPr lang="en-US" altLang="zh-CN" sz="3200" b="1" dirty="0">
              <a:solidFill>
                <a:srgbClr val="000000"/>
              </a:solidFill>
              <a:latin typeface="Times New Roman" pitchFamily="18" charset="0"/>
              <a:cs typeface="Times New Roman" pitchFamily="18" charset="0"/>
            </a:endParaRPr>
          </a:p>
          <a:p>
            <a:pPr>
              <a:lnSpc>
                <a:spcPts val="36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escrito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lenguaje</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recibe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nombre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u="sng"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fuente</a:t>
            </a:r>
            <a:r>
              <a:rPr lang="en-US" altLang="zh-CN" sz="3200" b="1" dirty="0">
                <a:solidFill>
                  <a:srgbClr val="000000"/>
                </a:solidFill>
                <a:latin typeface="Times New Roman" pitchFamily="18" charset="0"/>
                <a:cs typeface="Times New Roman" pitchFamily="18" charset="0"/>
              </a:rPr>
              <a:t>.</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Suele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tener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extensión</a:t>
            </a:r>
            <a:r>
              <a:rPr lang="en-US" altLang="zh-CN" sz="3200" dirty="0">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*.asm.</a:t>
            </a:r>
          </a:p>
          <a:p>
            <a:pPr>
              <a:lnSpc>
                <a:spcPts val="1000"/>
              </a:lnSpc>
            </a:pPr>
            <a:endParaRPr lang="en-US" altLang="zh-CN" sz="3200" dirty="0"/>
          </a:p>
          <a:p>
            <a:pPr>
              <a:lnSpc>
                <a:spcPts val="36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proporciona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 </a:t>
            </a:r>
            <a:r>
              <a:rPr lang="en-US" altLang="zh-CN" sz="3200" b="1" dirty="0" err="1">
                <a:solidFill>
                  <a:srgbClr val="000000"/>
                </a:solidFill>
                <a:latin typeface="Times New Roman" pitchFamily="18" charset="0"/>
                <a:cs typeface="Times New Roman" pitchFamily="18" charset="0"/>
              </a:rPr>
              <a:t>archivo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lenguaje</a:t>
            </a:r>
            <a:r>
              <a:rPr lang="en-US" altLang="zh-CN" sz="3200" u="sng"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u="sng"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maquina</a:t>
            </a:r>
            <a:r>
              <a:rPr lang="en-US" altLang="zh-CN" sz="3200" u="sng"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suele</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tener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extensión</a:t>
            </a:r>
            <a:r>
              <a:rPr lang="en-US" altLang="zh-CN" sz="3200" dirty="0">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*.hex.</a:t>
            </a:r>
          </a:p>
        </p:txBody>
      </p:sp>
    </p:spTree>
    <p:extLst>
      <p:ext uri="{BB962C8B-B14F-4D97-AF65-F5344CB8AC3E}">
        <p14:creationId xmlns:p14="http://schemas.microsoft.com/office/powerpoint/2010/main" val="29391379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06400"/>
            <a:ext cx="9431921" cy="2277547"/>
          </a:xfrm>
          <a:prstGeom prst="rect">
            <a:avLst/>
          </a:prstGeom>
          <a:noFill/>
        </p:spPr>
        <p:txBody>
          <a:bodyPr wrap="square" lIns="0" tIns="0" rIns="0" rtlCol="0">
            <a:spAutoFit/>
          </a:bodyPr>
          <a:lstStyle/>
          <a:p>
            <a:pPr>
              <a:lnSpc>
                <a:spcPts val="3200"/>
              </a:lnSpc>
              <a:tabLst>
                <a:tab pos="25908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Programa Ensamblador</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25908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ensamblador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utilizado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para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 PIC’s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MPASM</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trabaja</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dentro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 </a:t>
            </a:r>
            <a:r>
              <a:rPr lang="en-US" altLang="zh-CN" sz="3200" b="1" dirty="0" err="1">
                <a:solidFill>
                  <a:srgbClr val="000000"/>
                </a:solidFill>
                <a:latin typeface="Times New Roman" pitchFamily="18" charset="0"/>
                <a:cs typeface="Times New Roman" pitchFamily="18" charset="0"/>
              </a:rPr>
              <a:t>entorno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software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llamado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MPLAB</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b="1" dirty="0">
                <a:solidFill>
                  <a:srgbClr val="000000"/>
                </a:solidFill>
                <a:latin typeface="Times New Roman" pitchFamily="18" charset="0"/>
                <a:cs typeface="Times New Roman" pitchFamily="18" charset="0"/>
              </a:rPr>
              <a:t> 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describirá</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adelante.</a:t>
            </a:r>
          </a:p>
        </p:txBody>
      </p:sp>
      <p:sp>
        <p:nvSpPr>
          <p:cNvPr id="15" name="TextBox 1"/>
          <p:cNvSpPr txBox="1"/>
          <p:nvPr/>
        </p:nvSpPr>
        <p:spPr>
          <a:xfrm>
            <a:off x="1079500" y="3454400"/>
            <a:ext cx="139700" cy="406400"/>
          </a:xfrm>
          <a:prstGeom prst="rect">
            <a:avLst/>
          </a:prstGeom>
          <a:noFill/>
        </p:spPr>
        <p:txBody>
          <a:bodyPr wrap="none" lIns="0" tIns="0" rIns="0" rtlCol="0">
            <a:spAutoFit/>
          </a:bodyPr>
          <a:lstStyle/>
          <a:p>
            <a:pPr>
              <a:lnSpc>
                <a:spcPts val="3200"/>
              </a:lnSpc>
              <a:tabLst/>
            </a:pPr>
            <a:r>
              <a:rPr lang="en-US" altLang="zh-CN" sz="2315" dirty="0">
                <a:solidFill>
                  <a:srgbClr val="FC0128"/>
                </a:solidFill>
                <a:latin typeface="Arial Black" pitchFamily="18" charset="0"/>
                <a:cs typeface="Arial Black" pitchFamily="18" charset="0"/>
              </a:rPr>
              <a:t>–</a:t>
            </a:r>
          </a:p>
        </p:txBody>
      </p:sp>
      <p:sp>
        <p:nvSpPr>
          <p:cNvPr id="16" name="TextBox 1"/>
          <p:cNvSpPr txBox="1"/>
          <p:nvPr/>
        </p:nvSpPr>
        <p:spPr>
          <a:xfrm>
            <a:off x="1384300" y="3492500"/>
            <a:ext cx="6477000" cy="35560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Disponible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www.microchip.com</a:t>
            </a:r>
          </a:p>
        </p:txBody>
      </p:sp>
    </p:spTree>
    <p:extLst>
      <p:ext uri="{BB962C8B-B14F-4D97-AF65-F5344CB8AC3E}">
        <p14:creationId xmlns:p14="http://schemas.microsoft.com/office/powerpoint/2010/main" val="3616308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81000"/>
            <a:ext cx="8593250" cy="1700466"/>
          </a:xfrm>
          <a:prstGeom prst="rect">
            <a:avLst/>
          </a:prstGeom>
          <a:noFill/>
        </p:spPr>
        <p:txBody>
          <a:bodyPr wrap="none" lIns="0" tIns="0" rIns="0" rtlCol="0">
            <a:spAutoFit/>
          </a:bodyPr>
          <a:lstStyle/>
          <a:p>
            <a:pPr>
              <a:lnSpc>
                <a:spcPts val="2800"/>
              </a:lnSpc>
              <a:tabLst>
                <a:tab pos="16637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800"/>
              </a:lnSpc>
              <a:tabLst>
                <a:tab pos="1663700" algn="l"/>
              </a:tabLst>
            </a:pPr>
            <a:r>
              <a:rPr lang="en-US" altLang="zh-CN" sz="3084" b="1" dirty="0">
                <a:solidFill>
                  <a:srgbClr val="000000"/>
                </a:solidFill>
                <a:latin typeface="Times New Roman" pitchFamily="18" charset="0"/>
                <a:cs typeface="Times New Roman" pitchFamily="18" charset="0"/>
              </a:rPr>
              <a:t>Tras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ensamblado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archivo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*.asm</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se</a:t>
            </a:r>
          </a:p>
          <a:p>
            <a:pPr>
              <a:lnSpc>
                <a:spcPts val="3300"/>
              </a:lnSpc>
              <a:tabLst>
                <a:tab pos="1663700" algn="l"/>
              </a:tabLst>
            </a:pPr>
            <a:r>
              <a:rPr lang="en-US" altLang="zh-CN" sz="3084" b="1" dirty="0">
                <a:solidFill>
                  <a:srgbClr val="000000"/>
                </a:solidFill>
                <a:latin typeface="Times New Roman" pitchFamily="18" charset="0"/>
                <a:cs typeface="Times New Roman" pitchFamily="18" charset="0"/>
              </a:rPr>
              <a:t>producen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varios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archivos.</a:t>
            </a:r>
          </a:p>
        </p:txBody>
      </p:sp>
      <p:sp>
        <p:nvSpPr>
          <p:cNvPr id="16" name="TextBox 1"/>
          <p:cNvSpPr txBox="1"/>
          <p:nvPr/>
        </p:nvSpPr>
        <p:spPr>
          <a:xfrm>
            <a:off x="1384300" y="2247900"/>
            <a:ext cx="9000121" cy="3893374"/>
          </a:xfrm>
          <a:prstGeom prst="rect">
            <a:avLst/>
          </a:prstGeom>
          <a:noFill/>
        </p:spPr>
        <p:txBody>
          <a:bodyPr wrap="square" lIns="0" tIns="0" rIns="0" rtlCol="0">
            <a:spAutoFit/>
          </a:bodyPr>
          <a:lstStyle/>
          <a:p>
            <a:pPr>
              <a:lnSpc>
                <a:spcPts val="2400"/>
              </a:lnSpc>
              <a:tabLst/>
            </a:pP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ejecutable</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hexadecimal.</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 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*.hex</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códigos</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maquina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 </a:t>
            </a:r>
            <a:r>
              <a:rPr lang="en-US" altLang="zh-CN" sz="2645" b="1" dirty="0" err="1">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que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servirán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para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grabar</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memoria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 </a:t>
            </a:r>
            <a:r>
              <a:rPr lang="en-US" altLang="zh-CN" sz="2645" b="1" dirty="0" err="1">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microcontrolador</a:t>
            </a:r>
          </a:p>
          <a:p>
            <a:pPr>
              <a:lnSpc>
                <a:spcPts val="1000"/>
              </a:lnSpc>
            </a:pPr>
            <a:endParaRPr lang="en-US" altLang="zh-CN" dirty="0"/>
          </a:p>
          <a:p>
            <a:pPr>
              <a:lnSpc>
                <a:spcPts val="2400"/>
              </a:lnSpc>
              <a:tabLst/>
            </a:pP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errores.</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extension *.err</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errores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producidos</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durante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el </a:t>
            </a:r>
            <a:r>
              <a:rPr lang="en-US" altLang="zh-CN" sz="2645" b="1" dirty="0" err="1">
                <a:solidFill>
                  <a:srgbClr val="000000"/>
                </a:solidFill>
                <a:latin typeface="Times New Roman" pitchFamily="18" charset="0"/>
                <a:cs typeface="Times New Roman" pitchFamily="18" charset="0"/>
              </a:rPr>
              <a:t>proceso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ensamblado.</a:t>
            </a:r>
          </a:p>
          <a:p>
            <a:pPr>
              <a:lnSpc>
                <a:spcPts val="1000"/>
              </a:lnSpc>
            </a:pPr>
            <a:endParaRPr lang="en-US" altLang="zh-CN" dirty="0"/>
          </a:p>
          <a:p>
            <a:pPr>
              <a:lnSpc>
                <a:spcPts val="2400"/>
              </a:lnSpc>
              <a:tabLst/>
            </a:pPr>
            <a:r>
              <a:rPr lang="en-US" altLang="zh-CN" sz="2645" b="1" i="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de </a:t>
            </a:r>
            <a:r>
              <a:rPr lang="en-US" altLang="zh-CN" sz="2645" b="1" i="1" u="sng" dirty="0" err="1">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reporte</a:t>
            </a:r>
            <a:r>
              <a:rPr lang="en-US" altLang="zh-CN" sz="2645" b="1"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2645" i="1" u="sng"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un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archivo</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con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extensión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r>
              <a:rPr lang="en-US" altLang="zh-CN" sz="2645" b="1" dirty="0" err="1">
                <a:solidFill>
                  <a:srgbClr val="000000"/>
                </a:solidFill>
                <a:latin typeface="Times New Roman" pitchFamily="18" charset="0"/>
                <a:cs typeface="Times New Roman" pitchFamily="18" charset="0"/>
              </a:rPr>
              <a:t>lst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a:t>
            </a:r>
          </a:p>
          <a:p>
            <a:pPr>
              <a:lnSpc>
                <a:spcPts val="2800"/>
              </a:lnSpc>
              <a:tabLst/>
            </a:pPr>
            <a:r>
              <a:rPr lang="en-US" altLang="zh-CN" sz="2645" b="1" dirty="0">
                <a:solidFill>
                  <a:srgbClr val="000000"/>
                </a:solidFill>
                <a:latin typeface="Times New Roman" pitchFamily="18" charset="0"/>
                <a:cs typeface="Times New Roman" pitchFamily="18" charset="0"/>
              </a:rPr>
              <a:t>Contiene</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toda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la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información</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del</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programa:</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codigo</a:t>
            </a:r>
            <a:r>
              <a:rPr lang="en-US" altLang="zh-CN" sz="2645" b="1" dirty="0">
                <a:solidFill>
                  <a:srgbClr val="000000"/>
                </a:solidFill>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fuente</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códigos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maquina,</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direcciones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de</a:t>
            </a:r>
            <a:r>
              <a:rPr lang="en-US" altLang="zh-CN" sz="2645" dirty="0">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cada</a:t>
            </a:r>
            <a:r>
              <a:rPr lang="en-US" altLang="zh-CN" sz="2645" b="1" dirty="0">
                <a:solidFill>
                  <a:srgbClr val="000000"/>
                </a:solidFill>
                <a:latin typeface="Times New Roman" pitchFamily="18" charset="0"/>
                <a:cs typeface="Times New Roman" pitchFamily="18" charset="0"/>
              </a:rPr>
              <a:t> </a:t>
            </a:r>
            <a:r>
              <a:rPr lang="en-US" altLang="zh-CN" sz="2645" b="1" dirty="0" err="1">
                <a:solidFill>
                  <a:srgbClr val="000000"/>
                </a:solidFill>
                <a:latin typeface="Times New Roman" pitchFamily="18" charset="0"/>
                <a:cs typeface="Times New Roman" pitchFamily="18" charset="0"/>
              </a:rPr>
              <a:t>instrucción</a:t>
            </a:r>
            <a:r>
              <a:rPr lang="en-US" altLang="zh-CN" sz="2645" b="1" dirty="0">
                <a:solidFill>
                  <a:srgbClr val="000000"/>
                </a:solidFill>
                <a:latin typeface="Times New Roman" pitchFamily="18" charset="0"/>
                <a:cs typeface="Times New Roman" pitchFamily="18" charset="0"/>
              </a:rPr>
              <a:t>,</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errores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producidos,</a:t>
            </a:r>
            <a:r>
              <a:rPr lang="en-US" altLang="zh-CN" sz="2645" dirty="0">
                <a:latin typeface="Times New Roman" pitchFamily="18" charset="0"/>
                <a:cs typeface="Times New Roman" pitchFamily="18" charset="0"/>
              </a:rPr>
              <a:t> </a:t>
            </a:r>
            <a:r>
              <a:rPr lang="en-US" altLang="zh-CN" sz="2645" b="1" dirty="0">
                <a:solidFill>
                  <a:srgbClr val="000000"/>
                </a:solidFill>
                <a:latin typeface="Times New Roman" pitchFamily="18" charset="0"/>
                <a:cs typeface="Times New Roman" pitchFamily="18" charset="0"/>
              </a:rPr>
              <a:t>etc.</a:t>
            </a:r>
          </a:p>
        </p:txBody>
      </p:sp>
    </p:spTree>
    <p:extLst>
      <p:ext uri="{BB962C8B-B14F-4D97-AF65-F5344CB8AC3E}">
        <p14:creationId xmlns:p14="http://schemas.microsoft.com/office/powerpoint/2010/main" val="267551611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34931" y="1767077"/>
            <a:ext cx="7150607" cy="749807"/>
          </a:xfrm>
          <a:custGeom>
            <a:avLst/>
            <a:gdLst>
              <a:gd name="connsiteX0" fmla="*/ 0 w 7150607"/>
              <a:gd name="connsiteY0" fmla="*/ 0 h 749807"/>
              <a:gd name="connsiteX1" fmla="*/ 0 w 7150607"/>
              <a:gd name="connsiteY1" fmla="*/ 749807 h 749807"/>
              <a:gd name="connsiteX2" fmla="*/ 7150607 w 7150607"/>
              <a:gd name="connsiteY2" fmla="*/ 749807 h 749807"/>
              <a:gd name="connsiteX3" fmla="*/ 7150607 w 7150607"/>
              <a:gd name="connsiteY3" fmla="*/ 0 h 749807"/>
              <a:gd name="connsiteX4" fmla="*/ 0 w 7150607"/>
              <a:gd name="connsiteY4" fmla="*/ 0 h 74980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749807">
                <a:moveTo>
                  <a:pt x="0" y="0"/>
                </a:moveTo>
                <a:lnTo>
                  <a:pt x="0" y="749807"/>
                </a:lnTo>
                <a:lnTo>
                  <a:pt x="7150607" y="749807"/>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217049"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7200010" y="1915667"/>
            <a:ext cx="2707385" cy="601217"/>
          </a:xfrm>
          <a:custGeom>
            <a:avLst/>
            <a:gdLst>
              <a:gd name="connsiteX0" fmla="*/ 0 w 2707385"/>
              <a:gd name="connsiteY0" fmla="*/ 0 h 601217"/>
              <a:gd name="connsiteX1" fmla="*/ 0 w 2707385"/>
              <a:gd name="connsiteY1" fmla="*/ 601217 h 601217"/>
              <a:gd name="connsiteX2" fmla="*/ 2707385 w 2707385"/>
              <a:gd name="connsiteY2" fmla="*/ 601217 h 601217"/>
              <a:gd name="connsiteX3" fmla="*/ 2707385 w 2707385"/>
              <a:gd name="connsiteY3" fmla="*/ 0 h 601217"/>
              <a:gd name="connsiteX4" fmla="*/ 0 w 2707385"/>
              <a:gd name="connsiteY4" fmla="*/ 0 h 601217"/>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601217">
                <a:moveTo>
                  <a:pt x="0" y="0"/>
                </a:moveTo>
                <a:lnTo>
                  <a:pt x="0" y="601217"/>
                </a:lnTo>
                <a:lnTo>
                  <a:pt x="2707385" y="601217"/>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34931" y="2516885"/>
            <a:ext cx="7150607" cy="505968"/>
          </a:xfrm>
          <a:custGeom>
            <a:avLst/>
            <a:gdLst>
              <a:gd name="connsiteX0" fmla="*/ 0 w 7150607"/>
              <a:gd name="connsiteY0" fmla="*/ 0 h 505968"/>
              <a:gd name="connsiteX1" fmla="*/ 0 w 7150607"/>
              <a:gd name="connsiteY1" fmla="*/ 505968 h 505968"/>
              <a:gd name="connsiteX2" fmla="*/ 7150607 w 7150607"/>
              <a:gd name="connsiteY2" fmla="*/ 505968 h 505968"/>
              <a:gd name="connsiteX3" fmla="*/ 7150607 w 7150607"/>
              <a:gd name="connsiteY3" fmla="*/ 0 h 505968"/>
              <a:gd name="connsiteX4" fmla="*/ 0 w 7150607"/>
              <a:gd name="connsiteY4" fmla="*/ 0 h 50596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7150607" h="505968">
                <a:moveTo>
                  <a:pt x="0" y="0"/>
                </a:moveTo>
                <a:lnTo>
                  <a:pt x="0" y="505968"/>
                </a:lnTo>
                <a:lnTo>
                  <a:pt x="7150607" y="505968"/>
                </a:lnTo>
                <a:lnTo>
                  <a:pt x="7150607" y="0"/>
                </a:lnTo>
                <a:lnTo>
                  <a:pt x="0" y="0"/>
                </a:lnTo>
              </a:path>
            </a:pathLst>
          </a:custGeom>
          <a:solidFill>
            <a:srgbClr val="C0C0C0">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217049"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3"/>
          <p:cNvSpPr/>
          <p:nvPr/>
        </p:nvSpPr>
        <p:spPr>
          <a:xfrm>
            <a:off x="7200010" y="2516885"/>
            <a:ext cx="2707385" cy="257556"/>
          </a:xfrm>
          <a:custGeom>
            <a:avLst/>
            <a:gdLst>
              <a:gd name="connsiteX0" fmla="*/ 0 w 2707385"/>
              <a:gd name="connsiteY0" fmla="*/ 0 h 257556"/>
              <a:gd name="connsiteX1" fmla="*/ 0 w 2707385"/>
              <a:gd name="connsiteY1" fmla="*/ 257556 h 257556"/>
              <a:gd name="connsiteX2" fmla="*/ 2707385 w 2707385"/>
              <a:gd name="connsiteY2" fmla="*/ 257556 h 257556"/>
              <a:gd name="connsiteX3" fmla="*/ 2707385 w 2707385"/>
              <a:gd name="connsiteY3" fmla="*/ 0 h 257556"/>
              <a:gd name="connsiteX4" fmla="*/ 0 w 2707385"/>
              <a:gd name="connsiteY4" fmla="*/ 0 h 257556"/>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2707385" h="257556">
                <a:moveTo>
                  <a:pt x="0" y="0"/>
                </a:moveTo>
                <a:lnTo>
                  <a:pt x="0" y="257556"/>
                </a:lnTo>
                <a:lnTo>
                  <a:pt x="2707385" y="257556"/>
                </a:lnTo>
                <a:lnTo>
                  <a:pt x="2707385"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1880501" y="4174235"/>
            <a:ext cx="7234428" cy="13716"/>
          </a:xfrm>
          <a:custGeom>
            <a:avLst/>
            <a:gdLst>
              <a:gd name="connsiteX0" fmla="*/ 0 w 7234428"/>
              <a:gd name="connsiteY0" fmla="*/ 6858 h 13716"/>
              <a:gd name="connsiteX1" fmla="*/ 7234427 w 7234428"/>
              <a:gd name="connsiteY1" fmla="*/ 6858 h 13716"/>
            </a:gdLst>
            <a:ahLst/>
            <a:cxnLst>
              <a:cxn ang="0">
                <a:pos x="connsiteX0" y="connsiteY0"/>
              </a:cxn>
              <a:cxn ang="1">
                <a:pos x="connsiteX1" y="connsiteY1"/>
              </a:cxn>
            </a:cxnLst>
            <a:rect l="l" t="t" r="r" b="b"/>
            <a:pathLst>
              <a:path w="7234428" h="13716">
                <a:moveTo>
                  <a:pt x="0" y="6858"/>
                </a:moveTo>
                <a:lnTo>
                  <a:pt x="7234427" y="6858"/>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Picture 3"/>
          <p:cNvPicPr>
            <a:picLocks noChangeAspect="1" noChangeArrowheads="1"/>
          </p:cNvPicPr>
          <p:nvPr/>
        </p:nvPicPr>
        <p:blipFill>
          <a:blip r:embed="rId2"/>
          <a:srcRect/>
          <a:stretch>
            <a:fillRect/>
          </a:stretch>
        </p:blipFill>
        <p:spPr bwMode="auto">
          <a:xfrm>
            <a:off x="3009900" y="1752600"/>
            <a:ext cx="7200900" cy="2413000"/>
          </a:xfrm>
          <a:prstGeom prst="rect">
            <a:avLst/>
          </a:prstGeom>
          <a:noFill/>
        </p:spPr>
      </p:pic>
      <p:pic>
        <p:nvPicPr>
          <p:cNvPr id="23" name="Picture 3"/>
          <p:cNvPicPr>
            <a:picLocks noChangeAspect="1" noChangeArrowheads="1"/>
          </p:cNvPicPr>
          <p:nvPr/>
        </p:nvPicPr>
        <p:blipFill>
          <a:blip r:embed="rId3"/>
          <a:srcRect/>
          <a:stretch>
            <a:fillRect/>
          </a:stretch>
        </p:blipFill>
        <p:spPr bwMode="auto">
          <a:xfrm>
            <a:off x="774700" y="4178300"/>
            <a:ext cx="2286000" cy="2006600"/>
          </a:xfrm>
          <a:prstGeom prst="rect">
            <a:avLst/>
          </a:prstGeom>
          <a:noFill/>
        </p:spPr>
      </p:pic>
      <p:pic>
        <p:nvPicPr>
          <p:cNvPr id="24" name="Picture 3"/>
          <p:cNvPicPr>
            <a:picLocks noChangeAspect="1" noChangeArrowheads="1"/>
          </p:cNvPicPr>
          <p:nvPr/>
        </p:nvPicPr>
        <p:blipFill>
          <a:blip r:embed="rId4"/>
          <a:srcRect/>
          <a:stretch>
            <a:fillRect/>
          </a:stretch>
        </p:blipFill>
        <p:spPr bwMode="auto">
          <a:xfrm>
            <a:off x="3162300" y="4216400"/>
            <a:ext cx="2286000" cy="1955800"/>
          </a:xfrm>
          <a:prstGeom prst="rect">
            <a:avLst/>
          </a:prstGeom>
          <a:noFill/>
        </p:spPr>
      </p:pic>
      <p:pic>
        <p:nvPicPr>
          <p:cNvPr id="25" name="Picture 3"/>
          <p:cNvPicPr>
            <a:picLocks noChangeAspect="1" noChangeArrowheads="1"/>
          </p:cNvPicPr>
          <p:nvPr/>
        </p:nvPicPr>
        <p:blipFill>
          <a:blip r:embed="rId5"/>
          <a:srcRect/>
          <a:stretch>
            <a:fillRect/>
          </a:stretch>
        </p:blipFill>
        <p:spPr bwMode="auto">
          <a:xfrm>
            <a:off x="5600700" y="4203700"/>
            <a:ext cx="2286000" cy="1955800"/>
          </a:xfrm>
          <a:prstGeom prst="rect">
            <a:avLst/>
          </a:prstGeom>
          <a:noFill/>
        </p:spPr>
      </p:pic>
      <p:pic>
        <p:nvPicPr>
          <p:cNvPr id="26" name="Picture 3"/>
          <p:cNvPicPr>
            <a:picLocks noChangeAspect="1" noChangeArrowheads="1"/>
          </p:cNvPicPr>
          <p:nvPr/>
        </p:nvPicPr>
        <p:blipFill>
          <a:blip r:embed="rId6"/>
          <a:srcRect/>
          <a:stretch>
            <a:fillRect/>
          </a:stretch>
        </p:blipFill>
        <p:spPr bwMode="auto">
          <a:xfrm>
            <a:off x="7975600" y="4165600"/>
            <a:ext cx="2286000" cy="1981200"/>
          </a:xfrm>
          <a:prstGeom prst="rect">
            <a:avLst/>
          </a:prstGeom>
          <a:noFill/>
        </p:spPr>
      </p:pic>
      <p:sp>
        <p:nvSpPr>
          <p:cNvPr id="2" name="TextBox 1"/>
          <p:cNvSpPr txBox="1"/>
          <p:nvPr/>
        </p:nvSpPr>
        <p:spPr>
          <a:xfrm>
            <a:off x="2616200" y="330200"/>
            <a:ext cx="6913303" cy="437364"/>
          </a:xfrm>
          <a:prstGeom prst="rect">
            <a:avLst/>
          </a:prstGeom>
          <a:noFill/>
        </p:spPr>
        <p:txBody>
          <a:bodyPr wrap="none" lIns="0" tIns="0" rIns="0" rtlCol="0">
            <a:spAutoFit/>
          </a:bodyPr>
          <a:lstStyle/>
          <a:p>
            <a:pPr>
              <a:lnSpc>
                <a:spcPts val="28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Archivos Resultante del Ensamblado</a:t>
            </a:r>
          </a:p>
        </p:txBody>
      </p:sp>
      <p:sp>
        <p:nvSpPr>
          <p:cNvPr id="27" name="TextBox 1"/>
          <p:cNvSpPr txBox="1"/>
          <p:nvPr/>
        </p:nvSpPr>
        <p:spPr>
          <a:xfrm>
            <a:off x="3708400" y="2146300"/>
            <a:ext cx="17018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MPASM.exe</a:t>
            </a:r>
          </a:p>
        </p:txBody>
      </p:sp>
      <p:sp>
        <p:nvSpPr>
          <p:cNvPr id="28" name="TextBox 1"/>
          <p:cNvSpPr txBox="1"/>
          <p:nvPr/>
        </p:nvSpPr>
        <p:spPr>
          <a:xfrm>
            <a:off x="7721600" y="2146300"/>
            <a:ext cx="16510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fuente.asm</a:t>
            </a:r>
          </a:p>
        </p:txBody>
      </p:sp>
      <p:sp>
        <p:nvSpPr>
          <p:cNvPr id="29" name="TextBox 1"/>
          <p:cNvSpPr txBox="1"/>
          <p:nvPr/>
        </p:nvSpPr>
        <p:spPr>
          <a:xfrm>
            <a:off x="1117600" y="5334000"/>
            <a:ext cx="15748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fuente.hex</a:t>
            </a:r>
          </a:p>
        </p:txBody>
      </p:sp>
      <p:sp>
        <p:nvSpPr>
          <p:cNvPr id="30" name="TextBox 1"/>
          <p:cNvSpPr txBox="1"/>
          <p:nvPr/>
        </p:nvSpPr>
        <p:spPr>
          <a:xfrm>
            <a:off x="3556000" y="5321300"/>
            <a:ext cx="14605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fuente.err</a:t>
            </a:r>
          </a:p>
        </p:txBody>
      </p:sp>
      <p:sp>
        <p:nvSpPr>
          <p:cNvPr id="31" name="TextBox 1"/>
          <p:cNvSpPr txBox="1"/>
          <p:nvPr/>
        </p:nvSpPr>
        <p:spPr>
          <a:xfrm>
            <a:off x="6045200" y="5308600"/>
            <a:ext cx="13843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fuente.lst</a:t>
            </a:r>
          </a:p>
        </p:txBody>
      </p:sp>
      <p:sp>
        <p:nvSpPr>
          <p:cNvPr id="1024" name="TextBox 1"/>
          <p:cNvSpPr txBox="1"/>
          <p:nvPr/>
        </p:nvSpPr>
        <p:spPr>
          <a:xfrm>
            <a:off x="8737600" y="5295900"/>
            <a:ext cx="736600" cy="393700"/>
          </a:xfrm>
          <a:prstGeom prst="rect">
            <a:avLst/>
          </a:prstGeom>
          <a:noFill/>
        </p:spPr>
        <p:txBody>
          <a:bodyPr wrap="none" lIns="0" tIns="0" rIns="0" rtlCol="0">
            <a:spAutoFit/>
          </a:bodyPr>
          <a:lstStyle/>
          <a:p>
            <a:pPr>
              <a:lnSpc>
                <a:spcPts val="3100"/>
              </a:lnSpc>
              <a:tabLst/>
            </a:pPr>
            <a:r>
              <a:rPr lang="en-US" altLang="zh-CN" sz="2645" dirty="0">
                <a:solidFill>
                  <a:srgbClr val="000000"/>
                </a:solidFill>
                <a:latin typeface="Tahoma" pitchFamily="18" charset="0"/>
                <a:cs typeface="Tahoma" pitchFamily="18" charset="0"/>
              </a:rPr>
              <a:t>otros</a:t>
            </a:r>
          </a:p>
        </p:txBody>
      </p:sp>
    </p:spTree>
    <p:extLst>
      <p:ext uri="{BB962C8B-B14F-4D97-AF65-F5344CB8AC3E}">
        <p14:creationId xmlns:p14="http://schemas.microsoft.com/office/powerpoint/2010/main" val="33346313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499" y="419100"/>
            <a:ext cx="9431921" cy="3149580"/>
          </a:xfrm>
          <a:prstGeom prst="rect">
            <a:avLst/>
          </a:prstGeom>
          <a:noFill/>
        </p:spPr>
        <p:txBody>
          <a:bodyPr wrap="square" lIns="0" tIns="0" rIns="0" rtlCol="0">
            <a:spAutoFit/>
          </a:bodyPr>
          <a:lstStyle/>
          <a:p>
            <a:pPr>
              <a:lnSpc>
                <a:spcPts val="3200"/>
              </a:lnSpc>
              <a:tabLst>
                <a:tab pos="3543300" algn="l"/>
              </a:tabLst>
            </a:pPr>
            <a:r>
              <a:rPr lang="en-US" altLang="zh-CN" sz="3200"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a:t>
            </a:r>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3400"/>
              </a:lnSpc>
              <a:tabLst>
                <a:tab pos="3543300" algn="l"/>
              </a:tabLst>
            </a:pPr>
            <a:r>
              <a:rPr lang="en-US" altLang="zh-CN" sz="3200" b="1" dirty="0">
                <a:solidFill>
                  <a:srgbClr val="000000"/>
                </a:solidFill>
                <a:latin typeface="Times New Roman" pitchFamily="18" charset="0"/>
                <a:cs typeface="Times New Roman" pitchFamily="18" charset="0"/>
              </a:rPr>
              <a:t>El</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código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fuente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esta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compuesto</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por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una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sucesión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líneas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programa.</a:t>
            </a:r>
            <a:r>
              <a:rPr lang="en-US" altLang="zh-CN" sz="3200" dirty="0">
                <a:latin typeface="Times New Roman" pitchFamily="18" charset="0"/>
                <a:cs typeface="Times New Roman" pitchFamily="18" charset="0"/>
              </a:rPr>
              <a:t> </a:t>
            </a:r>
          </a:p>
          <a:p>
            <a:pPr>
              <a:lnSpc>
                <a:spcPts val="3400"/>
              </a:lnSpc>
              <a:tabLst>
                <a:tab pos="3543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3543300" algn="l"/>
              </a:tabLst>
            </a:pPr>
            <a:r>
              <a:rPr lang="en-US" altLang="zh-CN" sz="3200" b="1" dirty="0" err="1">
                <a:solidFill>
                  <a:srgbClr val="000000"/>
                </a:solidFill>
                <a:latin typeface="Times New Roman" pitchFamily="18" charset="0"/>
                <a:cs typeface="Times New Roman" pitchFamily="18" charset="0"/>
              </a:rPr>
              <a:t>Todos</a:t>
            </a:r>
            <a:r>
              <a:rPr lang="en-US" altLang="zh-CN" sz="3200" b="1" dirty="0">
                <a:solidFill>
                  <a:srgbClr val="000000"/>
                </a:solidFill>
                <a:latin typeface="Times New Roman" pitchFamily="18" charset="0"/>
                <a:cs typeface="Times New Roman" pitchFamily="18" charset="0"/>
              </a:rPr>
              <a:t> 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archivos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fuentes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poseen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una</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estructura</a:t>
            </a:r>
            <a:r>
              <a:rPr lang="en-US" altLang="zh-CN" sz="3200" b="1" dirty="0">
                <a:solidFill>
                  <a:srgbClr val="000000"/>
                </a:solidFill>
                <a:latin typeface="Times New Roman" pitchFamily="18" charset="0"/>
                <a:cs typeface="Times New Roman" pitchFamily="18" charset="0"/>
              </a:rPr>
              <a:t> similar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independientemente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del </a:t>
            </a:r>
            <a:r>
              <a:rPr lang="en-US" altLang="zh-CN" sz="3200" b="1" dirty="0" err="1">
                <a:solidFill>
                  <a:srgbClr val="000000"/>
                </a:solidFill>
                <a:latin typeface="Times New Roman" pitchFamily="18" charset="0"/>
                <a:cs typeface="Times New Roman" pitchFamily="18" charset="0"/>
              </a:rPr>
              <a:t>procesador</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utilizado.</a:t>
            </a:r>
          </a:p>
        </p:txBody>
      </p:sp>
      <p:sp>
        <p:nvSpPr>
          <p:cNvPr id="15" name="TextBox 1"/>
          <p:cNvSpPr txBox="1"/>
          <p:nvPr/>
        </p:nvSpPr>
        <p:spPr>
          <a:xfrm>
            <a:off x="1079500" y="4051300"/>
            <a:ext cx="139700" cy="2095500"/>
          </a:xfrm>
          <a:prstGeom prst="rect">
            <a:avLst/>
          </a:prstGeom>
          <a:noFill/>
        </p:spPr>
        <p:txBody>
          <a:bodyPr wrap="none" lIns="0" tIns="0" rIns="0" rtlCol="0">
            <a:spAutoFit/>
          </a:bodyPr>
          <a:lstStyle/>
          <a:p>
            <a:pPr>
              <a:lnSpc>
                <a:spcPts val="32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a:p>
            <a:pPr>
              <a:lnSpc>
                <a:spcPts val="1000"/>
              </a:lnSpc>
            </a:pPr>
            <a:endParaRPr lang="en-US" altLang="zh-CN" dirty="0"/>
          </a:p>
          <a:p>
            <a:pPr>
              <a:lnSpc>
                <a:spcPts val="3400"/>
              </a:lnSpc>
              <a:tabLst/>
            </a:pPr>
            <a:r>
              <a:rPr lang="en-US" altLang="zh-CN" sz="2315" dirty="0">
                <a:solidFill>
                  <a:srgbClr val="FC0128"/>
                </a:solidFill>
                <a:latin typeface="Arial Black" pitchFamily="18" charset="0"/>
                <a:cs typeface="Arial Black" pitchFamily="18" charset="0"/>
              </a:rPr>
              <a:t>–</a:t>
            </a:r>
          </a:p>
        </p:txBody>
      </p:sp>
      <p:sp>
        <p:nvSpPr>
          <p:cNvPr id="16" name="TextBox 1"/>
          <p:cNvSpPr txBox="1"/>
          <p:nvPr/>
        </p:nvSpPr>
        <p:spPr>
          <a:xfrm>
            <a:off x="1384300" y="4089400"/>
            <a:ext cx="5341206" cy="209801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etiquetas</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códigos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operación</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err="1">
                <a:solidFill>
                  <a:srgbClr val="000000"/>
                </a:solidFill>
                <a:latin typeface="Times New Roman" pitchFamily="18" charset="0"/>
                <a:cs typeface="Times New Roman" pitchFamily="18" charset="0"/>
              </a:rPr>
              <a:t>operándos</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y</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datos</a:t>
            </a:r>
          </a:p>
          <a:p>
            <a:pPr>
              <a:lnSpc>
                <a:spcPts val="1000"/>
              </a:lnSpc>
            </a:pPr>
            <a:endParaRPr lang="en-US" altLang="zh-CN" dirty="0"/>
          </a:p>
          <a:p>
            <a:pPr>
              <a:lnSpc>
                <a:spcPts val="3400"/>
              </a:lnSpc>
              <a:tabLst/>
            </a:pPr>
            <a:r>
              <a:rPr lang="en-US" altLang="zh-CN" sz="3084" b="1" dirty="0">
                <a:solidFill>
                  <a:srgbClr val="000000"/>
                </a:solidFill>
                <a:latin typeface="Times New Roman" pitchFamily="18" charset="0"/>
                <a:cs typeface="Times New Roman" pitchFamily="18" charset="0"/>
              </a:rPr>
              <a:t>Campo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comentarios</a:t>
            </a:r>
          </a:p>
        </p:txBody>
      </p:sp>
    </p:spTree>
    <p:extLst>
      <p:ext uri="{BB962C8B-B14F-4D97-AF65-F5344CB8AC3E}">
        <p14:creationId xmlns:p14="http://schemas.microsoft.com/office/powerpoint/2010/main" val="1182028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2340749"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 name="Freeform 3"/>
          <p:cNvSpPr/>
          <p:nvPr/>
        </p:nvSpPr>
        <p:spPr>
          <a:xfrm>
            <a:off x="2922917"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Freeform 3"/>
          <p:cNvSpPr/>
          <p:nvPr/>
        </p:nvSpPr>
        <p:spPr>
          <a:xfrm>
            <a:off x="4098683" y="1460753"/>
            <a:ext cx="13716" cy="217169"/>
          </a:xfrm>
          <a:custGeom>
            <a:avLst/>
            <a:gdLst>
              <a:gd name="connsiteX0" fmla="*/ 6858 w 13716"/>
              <a:gd name="connsiteY0" fmla="*/ 0 h 217169"/>
              <a:gd name="connsiteX1" fmla="*/ 6858 w 13716"/>
              <a:gd name="connsiteY1" fmla="*/ 217169 h 217169"/>
            </a:gdLst>
            <a:ahLst/>
            <a:cxnLst>
              <a:cxn ang="0">
                <a:pos x="connsiteX0" y="connsiteY0"/>
              </a:cxn>
              <a:cxn ang="1">
                <a:pos x="connsiteX1" y="connsiteY1"/>
              </a:cxn>
            </a:cxnLst>
            <a:rect l="l" t="t" r="r" b="b"/>
            <a:pathLst>
              <a:path w="13716" h="217169">
                <a:moveTo>
                  <a:pt x="6858" y="0"/>
                </a:moveTo>
                <a:lnTo>
                  <a:pt x="6858" y="217169"/>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2340749"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Freeform 3"/>
          <p:cNvSpPr/>
          <p:nvPr/>
        </p:nvSpPr>
        <p:spPr>
          <a:xfrm>
            <a:off x="2922917"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098683" y="1677923"/>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3"/>
          <p:cNvSpPr/>
          <p:nvPr/>
        </p:nvSpPr>
        <p:spPr>
          <a:xfrm>
            <a:off x="2340749"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Freeform 3"/>
          <p:cNvSpPr/>
          <p:nvPr/>
        </p:nvSpPr>
        <p:spPr>
          <a:xfrm>
            <a:off x="2922917"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098683"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
          <p:cNvSpPr/>
          <p:nvPr/>
        </p:nvSpPr>
        <p:spPr>
          <a:xfrm>
            <a:off x="2340749"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Freeform 3"/>
          <p:cNvSpPr/>
          <p:nvPr/>
        </p:nvSpPr>
        <p:spPr>
          <a:xfrm>
            <a:off x="2922917"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098683"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Freeform 3"/>
          <p:cNvSpPr/>
          <p:nvPr/>
        </p:nvSpPr>
        <p:spPr>
          <a:xfrm>
            <a:off x="2340749"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Freeform 3"/>
          <p:cNvSpPr/>
          <p:nvPr/>
        </p:nvSpPr>
        <p:spPr>
          <a:xfrm>
            <a:off x="2922917"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Freeform 3"/>
          <p:cNvSpPr/>
          <p:nvPr/>
        </p:nvSpPr>
        <p:spPr>
          <a:xfrm>
            <a:off x="4098683"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Freeform 3"/>
          <p:cNvSpPr/>
          <p:nvPr/>
        </p:nvSpPr>
        <p:spPr>
          <a:xfrm>
            <a:off x="2340749"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Freeform 3"/>
          <p:cNvSpPr/>
          <p:nvPr/>
        </p:nvSpPr>
        <p:spPr>
          <a:xfrm>
            <a:off x="2922917"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Freeform 3"/>
          <p:cNvSpPr/>
          <p:nvPr/>
        </p:nvSpPr>
        <p:spPr>
          <a:xfrm>
            <a:off x="4098683" y="5033771"/>
            <a:ext cx="13716" cy="838962"/>
          </a:xfrm>
          <a:custGeom>
            <a:avLst/>
            <a:gdLst>
              <a:gd name="connsiteX0" fmla="*/ 6858 w 13716"/>
              <a:gd name="connsiteY0" fmla="*/ 0 h 838962"/>
              <a:gd name="connsiteX1" fmla="*/ 6858 w 13716"/>
              <a:gd name="connsiteY1" fmla="*/ 838962 h 838962"/>
            </a:gdLst>
            <a:ahLst/>
            <a:cxnLst>
              <a:cxn ang="0">
                <a:pos x="connsiteX0" y="connsiteY0"/>
              </a:cxn>
              <a:cxn ang="1">
                <a:pos x="connsiteX1" y="connsiteY1"/>
              </a:cxn>
            </a:cxnLst>
            <a:rect l="l" t="t" r="r" b="b"/>
            <a:pathLst>
              <a:path w="13716" h="838962">
                <a:moveTo>
                  <a:pt x="6858" y="0"/>
                </a:moveTo>
                <a:lnTo>
                  <a:pt x="6858" y="83896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3"/>
          <p:cNvSpPr/>
          <p:nvPr/>
        </p:nvSpPr>
        <p:spPr>
          <a:xfrm>
            <a:off x="2340749"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4" name="Freeform 3"/>
          <p:cNvSpPr/>
          <p:nvPr/>
        </p:nvSpPr>
        <p:spPr>
          <a:xfrm>
            <a:off x="2922917" y="5885434"/>
            <a:ext cx="13716" cy="825500"/>
          </a:xfrm>
          <a:custGeom>
            <a:avLst/>
            <a:gdLst>
              <a:gd name="connsiteX0" fmla="*/ 6857 w 13716"/>
              <a:gd name="connsiteY0" fmla="*/ 0 h 825500"/>
              <a:gd name="connsiteX1" fmla="*/ 6857 w 13716"/>
              <a:gd name="connsiteY1" fmla="*/ 825500 h 825500"/>
            </a:gdLst>
            <a:ahLst/>
            <a:cxnLst>
              <a:cxn ang="0">
                <a:pos x="connsiteX0" y="connsiteY0"/>
              </a:cxn>
              <a:cxn ang="1">
                <a:pos x="connsiteX1" y="connsiteY1"/>
              </a:cxn>
            </a:cxnLst>
            <a:rect l="l" t="t" r="r" b="b"/>
            <a:pathLst>
              <a:path w="13716" h="825500">
                <a:moveTo>
                  <a:pt x="6857" y="0"/>
                </a:moveTo>
                <a:lnTo>
                  <a:pt x="6857"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5" name="Freeform 3"/>
          <p:cNvSpPr/>
          <p:nvPr/>
        </p:nvSpPr>
        <p:spPr>
          <a:xfrm>
            <a:off x="4098683" y="5885434"/>
            <a:ext cx="13716" cy="825500"/>
          </a:xfrm>
          <a:custGeom>
            <a:avLst/>
            <a:gdLst>
              <a:gd name="connsiteX0" fmla="*/ 6858 w 13716"/>
              <a:gd name="connsiteY0" fmla="*/ 0 h 825500"/>
              <a:gd name="connsiteX1" fmla="*/ 6858 w 13716"/>
              <a:gd name="connsiteY1" fmla="*/ 825500 h 825500"/>
            </a:gdLst>
            <a:ahLst/>
            <a:cxnLst>
              <a:cxn ang="0">
                <a:pos x="connsiteX0" y="connsiteY0"/>
              </a:cxn>
              <a:cxn ang="1">
                <a:pos x="connsiteX1" y="connsiteY1"/>
              </a:cxn>
            </a:cxnLst>
            <a:rect l="l" t="t" r="r" b="b"/>
            <a:pathLst>
              <a:path w="13716" h="825500">
                <a:moveTo>
                  <a:pt x="6858" y="0"/>
                </a:moveTo>
                <a:lnTo>
                  <a:pt x="6858" y="825500"/>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26"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9" name="Freeform 3"/>
          <p:cNvSpPr/>
          <p:nvPr/>
        </p:nvSpPr>
        <p:spPr>
          <a:xfrm>
            <a:off x="2340749" y="6711695"/>
            <a:ext cx="13716" cy="509016"/>
          </a:xfrm>
          <a:custGeom>
            <a:avLst/>
            <a:gdLst>
              <a:gd name="connsiteX0" fmla="*/ 6858 w 13716"/>
              <a:gd name="connsiteY0" fmla="*/ 0 h 509016"/>
              <a:gd name="connsiteX1" fmla="*/ 6858 w 13716"/>
              <a:gd name="connsiteY1" fmla="*/ 509016 h 509016"/>
            </a:gdLst>
            <a:ahLst/>
            <a:cxnLst>
              <a:cxn ang="0">
                <a:pos x="connsiteX0" y="connsiteY0"/>
              </a:cxn>
              <a:cxn ang="1">
                <a:pos x="connsiteX1" y="connsiteY1"/>
              </a:cxn>
            </a:cxnLst>
            <a:rect l="l" t="t" r="r" b="b"/>
            <a:pathLst>
              <a:path w="13716" h="509016">
                <a:moveTo>
                  <a:pt x="6858" y="0"/>
                </a:moveTo>
                <a:lnTo>
                  <a:pt x="6858" y="509016"/>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0" name="Freeform 3"/>
          <p:cNvSpPr/>
          <p:nvPr/>
        </p:nvSpPr>
        <p:spPr>
          <a:xfrm>
            <a:off x="2922917"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31" name="Freeform 3"/>
          <p:cNvSpPr/>
          <p:nvPr/>
        </p:nvSpPr>
        <p:spPr>
          <a:xfrm>
            <a:off x="4098683" y="6711695"/>
            <a:ext cx="13716" cy="526542"/>
          </a:xfrm>
          <a:custGeom>
            <a:avLst/>
            <a:gdLst>
              <a:gd name="connsiteX0" fmla="*/ 6858 w 13716"/>
              <a:gd name="connsiteY0" fmla="*/ 0 h 526542"/>
              <a:gd name="connsiteX1" fmla="*/ 6858 w 13716"/>
              <a:gd name="connsiteY1" fmla="*/ 526542 h 526542"/>
            </a:gdLst>
            <a:ahLst/>
            <a:cxnLst>
              <a:cxn ang="0">
                <a:pos x="connsiteX0" y="connsiteY0"/>
              </a:cxn>
              <a:cxn ang="1">
                <a:pos x="connsiteX1" y="connsiteY1"/>
              </a:cxn>
            </a:cxnLst>
            <a:rect l="l" t="t" r="r" b="b"/>
            <a:pathLst>
              <a:path w="13716" h="526542">
                <a:moveTo>
                  <a:pt x="6858" y="0"/>
                </a:moveTo>
                <a:lnTo>
                  <a:pt x="6858" y="526542"/>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032" name="Picture 3"/>
          <p:cNvPicPr>
            <a:picLocks noChangeAspect="1" noChangeArrowheads="1"/>
          </p:cNvPicPr>
          <p:nvPr/>
        </p:nvPicPr>
        <p:blipFill>
          <a:blip r:embed="rId2"/>
          <a:srcRect/>
          <a:stretch>
            <a:fillRect/>
          </a:stretch>
        </p:blipFill>
        <p:spPr bwMode="auto">
          <a:xfrm>
            <a:off x="1028700" y="1752600"/>
            <a:ext cx="8928100" cy="5245100"/>
          </a:xfrm>
          <a:prstGeom prst="rect">
            <a:avLst/>
          </a:prstGeom>
          <a:noFill/>
        </p:spPr>
      </p:pic>
      <p:sp>
        <p:nvSpPr>
          <p:cNvPr id="2" name="TextBox 1"/>
          <p:cNvSpPr txBox="1"/>
          <p:nvPr/>
        </p:nvSpPr>
        <p:spPr>
          <a:xfrm>
            <a:off x="3429000" y="317500"/>
            <a:ext cx="5257800" cy="406400"/>
          </a:xfrm>
          <a:prstGeom prst="rect">
            <a:avLst/>
          </a:prstGeom>
          <a:noFill/>
        </p:spPr>
        <p:txBody>
          <a:bodyPr wrap="none" lIns="0" tIns="0" rIns="0" rtlCol="0">
            <a:spAutoFit/>
          </a:bodyPr>
          <a:lstStyle/>
          <a:p>
            <a:pPr>
              <a:lnSpc>
                <a:spcPts val="3200"/>
              </a:lnSpc>
              <a:tabLst/>
            </a:pPr>
            <a:r>
              <a:rPr lang="en-US" altLang="zh-CN" sz="3527" b="1" dirty="0">
                <a:solidFill>
                  <a:srgbClr val="000000"/>
                </a:solidFill>
                <a:latin typeface="Times New Roman" pitchFamily="18" charset="0"/>
                <a:cs typeface="Times New Roman" pitchFamily="18" charset="0"/>
              </a:rPr>
              <a:t>Código</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Fuente</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Ejemplo</a:t>
            </a:r>
          </a:p>
        </p:txBody>
      </p:sp>
    </p:spTree>
    <p:extLst>
      <p:ext uri="{BB962C8B-B14F-4D97-AF65-F5344CB8AC3E}">
        <p14:creationId xmlns:p14="http://schemas.microsoft.com/office/powerpoint/2010/main" val="8392473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517277" y="1895094"/>
            <a:ext cx="14478" cy="621791"/>
          </a:xfrm>
          <a:custGeom>
            <a:avLst/>
            <a:gdLst>
              <a:gd name="connsiteX0" fmla="*/ 7239 w 14478"/>
              <a:gd name="connsiteY0" fmla="*/ 0 h 621791"/>
              <a:gd name="connsiteX1" fmla="*/ 7239 w 14478"/>
              <a:gd name="connsiteY1" fmla="*/ 621791 h 621791"/>
            </a:gdLst>
            <a:ahLst/>
            <a:cxnLst>
              <a:cxn ang="0">
                <a:pos x="connsiteX0" y="connsiteY0"/>
              </a:cxn>
              <a:cxn ang="1">
                <a:pos x="connsiteX1" y="connsiteY1"/>
              </a:cxn>
            </a:cxnLst>
            <a:rect l="l" t="t" r="r" b="b"/>
            <a:pathLst>
              <a:path w="14478" h="621791">
                <a:moveTo>
                  <a:pt x="7239" y="0"/>
                </a:moveTo>
                <a:lnTo>
                  <a:pt x="7239"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Freeform 3"/>
          <p:cNvSpPr/>
          <p:nvPr/>
        </p:nvSpPr>
        <p:spPr>
          <a:xfrm>
            <a:off x="4740287" y="1895094"/>
            <a:ext cx="13715" cy="621791"/>
          </a:xfrm>
          <a:custGeom>
            <a:avLst/>
            <a:gdLst>
              <a:gd name="connsiteX0" fmla="*/ 6858 w 13715"/>
              <a:gd name="connsiteY0" fmla="*/ 0 h 621791"/>
              <a:gd name="connsiteX1" fmla="*/ 6858 w 13715"/>
              <a:gd name="connsiteY1" fmla="*/ 621791 h 621791"/>
            </a:gdLst>
            <a:ahLst/>
            <a:cxnLst>
              <a:cxn ang="0">
                <a:pos x="connsiteX0" y="connsiteY0"/>
              </a:cxn>
              <a:cxn ang="1">
                <a:pos x="connsiteX1" y="connsiteY1"/>
              </a:cxn>
            </a:cxnLst>
            <a:rect l="l" t="t" r="r" b="b"/>
            <a:pathLst>
              <a:path w="13715"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Freeform 3"/>
          <p:cNvSpPr/>
          <p:nvPr/>
        </p:nvSpPr>
        <p:spPr>
          <a:xfrm>
            <a:off x="7087996" y="1895094"/>
            <a:ext cx="13716" cy="621791"/>
          </a:xfrm>
          <a:custGeom>
            <a:avLst/>
            <a:gdLst>
              <a:gd name="connsiteX0" fmla="*/ 6858 w 13716"/>
              <a:gd name="connsiteY0" fmla="*/ 0 h 621791"/>
              <a:gd name="connsiteX1" fmla="*/ 6858 w 13716"/>
              <a:gd name="connsiteY1" fmla="*/ 621791 h 621791"/>
            </a:gdLst>
            <a:ahLst/>
            <a:cxnLst>
              <a:cxn ang="0">
                <a:pos x="connsiteX0" y="connsiteY0"/>
              </a:cxn>
              <a:cxn ang="1">
                <a:pos x="connsiteX1" y="connsiteY1"/>
              </a:cxn>
            </a:cxnLst>
            <a:rect l="l" t="t" r="r" b="b"/>
            <a:pathLst>
              <a:path w="13716" h="621791">
                <a:moveTo>
                  <a:pt x="6858" y="0"/>
                </a:moveTo>
                <a:lnTo>
                  <a:pt x="6858" y="62179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517277" y="2516885"/>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 name="Freeform 3"/>
          <p:cNvSpPr/>
          <p:nvPr/>
        </p:nvSpPr>
        <p:spPr>
          <a:xfrm>
            <a:off x="4740287" y="2516885"/>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Freeform 3"/>
          <p:cNvSpPr/>
          <p:nvPr/>
        </p:nvSpPr>
        <p:spPr>
          <a:xfrm>
            <a:off x="7087996" y="2516885"/>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Freeform 3"/>
          <p:cNvSpPr/>
          <p:nvPr/>
        </p:nvSpPr>
        <p:spPr>
          <a:xfrm>
            <a:off x="3517277" y="3355847"/>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Freeform 3"/>
          <p:cNvSpPr/>
          <p:nvPr/>
        </p:nvSpPr>
        <p:spPr>
          <a:xfrm>
            <a:off x="4740287" y="3355847"/>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Freeform 3"/>
          <p:cNvSpPr/>
          <p:nvPr/>
        </p:nvSpPr>
        <p:spPr>
          <a:xfrm>
            <a:off x="7087996" y="3355847"/>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Freeform 3"/>
          <p:cNvSpPr/>
          <p:nvPr/>
        </p:nvSpPr>
        <p:spPr>
          <a:xfrm>
            <a:off x="3517277" y="4194809"/>
            <a:ext cx="14478" cy="838961"/>
          </a:xfrm>
          <a:custGeom>
            <a:avLst/>
            <a:gdLst>
              <a:gd name="connsiteX0" fmla="*/ 7239 w 14478"/>
              <a:gd name="connsiteY0" fmla="*/ 0 h 838961"/>
              <a:gd name="connsiteX1" fmla="*/ 7239 w 14478"/>
              <a:gd name="connsiteY1" fmla="*/ 838961 h 838961"/>
            </a:gdLst>
            <a:ahLst/>
            <a:cxnLst>
              <a:cxn ang="0">
                <a:pos x="connsiteX0" y="connsiteY0"/>
              </a:cxn>
              <a:cxn ang="1">
                <a:pos x="connsiteX1" y="connsiteY1"/>
              </a:cxn>
            </a:cxnLst>
            <a:rect l="l" t="t" r="r" b="b"/>
            <a:pathLst>
              <a:path w="14478" h="838961">
                <a:moveTo>
                  <a:pt x="7239" y="0"/>
                </a:moveTo>
                <a:lnTo>
                  <a:pt x="7239"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Freeform 3"/>
          <p:cNvSpPr/>
          <p:nvPr/>
        </p:nvSpPr>
        <p:spPr>
          <a:xfrm>
            <a:off x="4740287" y="4194809"/>
            <a:ext cx="13715" cy="838961"/>
          </a:xfrm>
          <a:custGeom>
            <a:avLst/>
            <a:gdLst>
              <a:gd name="connsiteX0" fmla="*/ 6858 w 13715"/>
              <a:gd name="connsiteY0" fmla="*/ 0 h 838961"/>
              <a:gd name="connsiteX1" fmla="*/ 6858 w 13715"/>
              <a:gd name="connsiteY1" fmla="*/ 838961 h 838961"/>
            </a:gdLst>
            <a:ahLst/>
            <a:cxnLst>
              <a:cxn ang="0">
                <a:pos x="connsiteX0" y="connsiteY0"/>
              </a:cxn>
              <a:cxn ang="1">
                <a:pos x="connsiteX1" y="connsiteY1"/>
              </a:cxn>
            </a:cxnLst>
            <a:rect l="l" t="t" r="r" b="b"/>
            <a:pathLst>
              <a:path w="13715"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Freeform 3"/>
          <p:cNvSpPr/>
          <p:nvPr/>
        </p:nvSpPr>
        <p:spPr>
          <a:xfrm>
            <a:off x="7087996" y="4194809"/>
            <a:ext cx="13716" cy="838961"/>
          </a:xfrm>
          <a:custGeom>
            <a:avLst/>
            <a:gdLst>
              <a:gd name="connsiteX0" fmla="*/ 6858 w 13716"/>
              <a:gd name="connsiteY0" fmla="*/ 0 h 838961"/>
              <a:gd name="connsiteX1" fmla="*/ 6858 w 13716"/>
              <a:gd name="connsiteY1" fmla="*/ 838961 h 838961"/>
            </a:gdLst>
            <a:ahLst/>
            <a:cxnLst>
              <a:cxn ang="0">
                <a:pos x="connsiteX0" y="connsiteY0"/>
              </a:cxn>
              <a:cxn ang="1">
                <a:pos x="connsiteX1" y="connsiteY1"/>
              </a:cxn>
            </a:cxnLst>
            <a:rect l="l" t="t" r="r" b="b"/>
            <a:pathLst>
              <a:path w="13716" h="838961">
                <a:moveTo>
                  <a:pt x="6858" y="0"/>
                </a:moveTo>
                <a:lnTo>
                  <a:pt x="6858" y="838961"/>
                </a:lnTo>
              </a:path>
            </a:pathLst>
          </a:custGeom>
          <a:ln w="12700">
            <a:solidFill>
              <a:srgbClr val="000000">
                <a:alpha val="100000"/>
              </a:srgb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5" name="Picture 3"/>
          <p:cNvPicPr>
            <a:picLocks noChangeAspect="1" noChangeArrowheads="1"/>
          </p:cNvPicPr>
          <p:nvPr/>
        </p:nvPicPr>
        <p:blipFill>
          <a:blip r:embed="rId2"/>
          <a:srcRect/>
          <a:stretch>
            <a:fillRect/>
          </a:stretch>
        </p:blipFill>
        <p:spPr bwMode="auto">
          <a:xfrm>
            <a:off x="936297" y="951870"/>
            <a:ext cx="8737600" cy="4114800"/>
          </a:xfrm>
          <a:prstGeom prst="rect">
            <a:avLst/>
          </a:prstGeom>
          <a:noFill/>
        </p:spPr>
      </p:pic>
      <p:sp>
        <p:nvSpPr>
          <p:cNvPr id="2" name="TextBox 1"/>
          <p:cNvSpPr txBox="1"/>
          <p:nvPr/>
        </p:nvSpPr>
        <p:spPr>
          <a:xfrm>
            <a:off x="3429000" y="317500"/>
            <a:ext cx="4619854"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Código Fuente - Ejemplo</a:t>
            </a:r>
          </a:p>
        </p:txBody>
      </p:sp>
      <p:sp>
        <p:nvSpPr>
          <p:cNvPr id="1024" name="1023 Rectángulo"/>
          <p:cNvSpPr/>
          <p:nvPr/>
        </p:nvSpPr>
        <p:spPr>
          <a:xfrm>
            <a:off x="2673350" y="5227637"/>
            <a:ext cx="5346700" cy="2144177"/>
          </a:xfrm>
          <a:prstGeom prst="rect">
            <a:avLst/>
          </a:prstGeom>
        </p:spPr>
        <p:txBody>
          <a:bodyPr>
            <a:spAutoFit/>
          </a:bodyPr>
          <a:lstStyle/>
          <a:p>
            <a:pPr>
              <a:lnSpc>
                <a:spcPts val="28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etiquetas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códigos</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operación</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operándos</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y</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datos</a:t>
            </a:r>
            <a:endParaRPr lang="en-US" altLang="zh-CN" b="1" dirty="0">
              <a:solidFill>
                <a:srgbClr val="000000"/>
              </a:solidFill>
              <a:latin typeface="Times New Roman" pitchFamily="18" charset="0"/>
              <a:cs typeface="Times New Roman" pitchFamily="18" charset="0"/>
            </a:endParaRPr>
          </a:p>
          <a:p>
            <a:pPr>
              <a:lnSpc>
                <a:spcPts val="1000"/>
              </a:lnSpc>
            </a:pPr>
            <a:endParaRPr lang="en-US" altLang="zh-CN" dirty="0"/>
          </a:p>
          <a:p>
            <a:pPr>
              <a:lnSpc>
                <a:spcPts val="3400"/>
              </a:lnSpc>
              <a:tabLst/>
            </a:pPr>
            <a:r>
              <a:rPr lang="en-US" altLang="zh-CN" b="1" dirty="0">
                <a:solidFill>
                  <a:srgbClr val="000000"/>
                </a:solidFill>
                <a:latin typeface="Times New Roman" pitchFamily="18" charset="0"/>
                <a:cs typeface="Times New Roman" pitchFamily="18" charset="0"/>
              </a:rPr>
              <a:t>Campo</a:t>
            </a:r>
            <a:r>
              <a:rPr lang="en-US" altLang="zh-CN" dirty="0">
                <a:latin typeface="Times New Roman" pitchFamily="18" charset="0"/>
                <a:cs typeface="Times New Roman" pitchFamily="18" charset="0"/>
              </a:rPr>
              <a:t> </a:t>
            </a:r>
            <a:r>
              <a:rPr lang="en-US" altLang="zh-CN" b="1" dirty="0">
                <a:solidFill>
                  <a:srgbClr val="000000"/>
                </a:solidFill>
                <a:latin typeface="Times New Roman" pitchFamily="18" charset="0"/>
                <a:cs typeface="Times New Roman" pitchFamily="18" charset="0"/>
              </a:rPr>
              <a:t>de</a:t>
            </a:r>
            <a:r>
              <a:rPr lang="en-US" altLang="zh-CN" dirty="0">
                <a:latin typeface="Times New Roman" pitchFamily="18" charset="0"/>
                <a:cs typeface="Times New Roman" pitchFamily="18" charset="0"/>
              </a:rPr>
              <a:t> </a:t>
            </a:r>
            <a:r>
              <a:rPr lang="en-US" altLang="zh-CN" b="1" dirty="0" err="1">
                <a:solidFill>
                  <a:srgbClr val="000000"/>
                </a:solidFill>
                <a:latin typeface="Times New Roman" pitchFamily="18" charset="0"/>
                <a:cs typeface="Times New Roman" pitchFamily="18" charset="0"/>
              </a:rPr>
              <a:t>comentarios</a:t>
            </a:r>
            <a:endParaRPr lang="en-US" altLang="zh-CN" b="1" dirty="0">
              <a:solidFill>
                <a:srgbClr val="000000"/>
              </a:solidFill>
              <a:latin typeface="Times New Roman" pitchFamily="18" charset="0"/>
              <a:cs typeface="Times New Roman" pitchFamily="18" charset="0"/>
            </a:endParaRPr>
          </a:p>
        </p:txBody>
      </p:sp>
      <p:cxnSp>
        <p:nvCxnSpPr>
          <p:cNvPr id="1027" name="1026 Conector angular"/>
          <p:cNvCxnSpPr/>
          <p:nvPr/>
        </p:nvCxnSpPr>
        <p:spPr>
          <a:xfrm rot="16200000" flipV="1">
            <a:off x="2179351" y="4962238"/>
            <a:ext cx="841948" cy="146050"/>
          </a:xfrm>
          <a:prstGeom prst="bentConnector3">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29" name="1028 Conector angular"/>
          <p:cNvCxnSpPr/>
          <p:nvPr/>
        </p:nvCxnSpPr>
        <p:spPr>
          <a:xfrm rot="10800000">
            <a:off x="3975100" y="4846637"/>
            <a:ext cx="1981200" cy="1219200"/>
          </a:xfrm>
          <a:prstGeom prst="bentConnector3">
            <a:avLst>
              <a:gd name="adj1" fmla="val -252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32" name="1031 Conector angular"/>
          <p:cNvCxnSpPr/>
          <p:nvPr/>
        </p:nvCxnSpPr>
        <p:spPr>
          <a:xfrm rot="5400000" flipH="1" flipV="1">
            <a:off x="5214271" y="5207666"/>
            <a:ext cx="2246058" cy="762000"/>
          </a:xfrm>
          <a:prstGeom prst="bentConnector3">
            <a:avLst>
              <a:gd name="adj1" fmla="val -1942"/>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1041" name="1040 Conector angular"/>
          <p:cNvCxnSpPr/>
          <p:nvPr/>
        </p:nvCxnSpPr>
        <p:spPr>
          <a:xfrm rot="5400000" flipH="1" flipV="1">
            <a:off x="5075010" y="3585933"/>
            <a:ext cx="3778378" cy="3318206"/>
          </a:xfrm>
          <a:prstGeom prst="bentConnector3">
            <a:avLst>
              <a:gd name="adj1" fmla="val -1740"/>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78988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673100" y="393700"/>
            <a:ext cx="2451100" cy="406400"/>
          </a:xfrm>
          <a:prstGeom prst="rect">
            <a:avLst/>
          </a:prstGeom>
          <a:noFill/>
        </p:spPr>
        <p:txBody>
          <a:bodyPr wrap="none" lIns="0" tIns="0" rIns="0" rtlCol="0">
            <a:spAutoFit/>
          </a:bodyPr>
          <a:lstStyle/>
          <a:p>
            <a:pPr>
              <a:lnSpc>
                <a:spcPts val="1400"/>
              </a:lnSpc>
              <a:tabLst/>
            </a:pPr>
            <a:r>
              <a:rPr lang="en-US" altLang="zh-CN" sz="1542" dirty="0">
                <a:solidFill>
                  <a:srgbClr val="FFFFFF"/>
                </a:solidFill>
                <a:latin typeface="Times New Roman" pitchFamily="18" charset="0"/>
                <a:cs typeface="Times New Roman" pitchFamily="18" charset="0"/>
              </a:rPr>
              <a:t>Programación</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Assembler</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de</a:t>
            </a:r>
          </a:p>
          <a:p>
            <a:pPr>
              <a:lnSpc>
                <a:spcPts val="1800"/>
              </a:lnSpc>
              <a:tabLst/>
            </a:pPr>
            <a:r>
              <a:rPr lang="en-US" altLang="zh-CN" sz="1542" dirty="0">
                <a:solidFill>
                  <a:srgbClr val="FFFFFF"/>
                </a:solidFill>
                <a:latin typeface="Times New Roman" pitchFamily="18" charset="0"/>
                <a:cs typeface="Times New Roman" pitchFamily="18" charset="0"/>
              </a:rPr>
              <a:t>PIC</a:t>
            </a:r>
            <a:r>
              <a:rPr lang="en-US" altLang="zh-CN" sz="1026" dirty="0">
                <a:solidFill>
                  <a:srgbClr val="FFFFFF"/>
                </a:solidFill>
                <a:latin typeface="Symbol" pitchFamily="18" charset="0"/>
                <a:cs typeface="Symbol" pitchFamily="18" charset="0"/>
              </a:rPr>
              <a:t>®</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Línea</a:t>
            </a:r>
            <a:r>
              <a:rPr lang="en-US" altLang="zh-CN" sz="1542" dirty="0">
                <a:latin typeface="Times New Roman" pitchFamily="18" charset="0"/>
                <a:cs typeface="Times New Roman" pitchFamily="18" charset="0"/>
              </a:rPr>
              <a:t> </a:t>
            </a:r>
            <a:r>
              <a:rPr lang="en-US" altLang="zh-CN" sz="1542" dirty="0">
                <a:solidFill>
                  <a:srgbClr val="FFFFFF"/>
                </a:solidFill>
                <a:latin typeface="Times New Roman" pitchFamily="18" charset="0"/>
                <a:cs typeface="Times New Roman" pitchFamily="18" charset="0"/>
              </a:rPr>
              <a:t>Base</a:t>
            </a:r>
          </a:p>
        </p:txBody>
      </p:sp>
      <p:sp>
        <p:nvSpPr>
          <p:cNvPr id="5" name="TextBox 1"/>
          <p:cNvSpPr txBox="1"/>
          <p:nvPr/>
        </p:nvSpPr>
        <p:spPr>
          <a:xfrm>
            <a:off x="673100" y="3378200"/>
            <a:ext cx="9474200" cy="559127"/>
          </a:xfrm>
          <a:prstGeom prst="rect">
            <a:avLst/>
          </a:prstGeom>
          <a:noFill/>
        </p:spPr>
        <p:txBody>
          <a:bodyPr wrap="square" lIns="0" tIns="0" rIns="0" rtlCol="0">
            <a:spAutoFit/>
          </a:bodyPr>
          <a:lstStyle/>
          <a:p>
            <a:pPr algn="ctr">
              <a:lnSpc>
                <a:spcPts val="4000"/>
              </a:lnSpc>
              <a:tabLst/>
            </a:pPr>
            <a:r>
              <a:rPr lang="en-US" altLang="zh-CN" sz="4409" b="1" i="1" u="sng" dirty="0" err="1">
                <a:solidFill>
                  <a:srgbClr val="FF0000"/>
                </a:solidFill>
                <a:effectLst>
                  <a:outerShdw blurRad="38100" dist="38100" dir="2700000" algn="tl">
                    <a:srgbClr val="000000">
                      <a:alpha val="43137"/>
                    </a:srgbClr>
                  </a:outerShdw>
                </a:effectLst>
                <a:latin typeface="Arial" pitchFamily="34" charset="0"/>
                <a:cs typeface="Arial" pitchFamily="34" charset="0"/>
              </a:rPr>
              <a:t>Directivas</a:t>
            </a:r>
            <a:r>
              <a:rPr lang="en-US" altLang="zh-CN" sz="4409" b="1" i="1" u="sng" dirty="0">
                <a:solidFill>
                  <a:srgbClr val="FF0000"/>
                </a:solidFill>
                <a:effectLst>
                  <a:outerShdw blurRad="38100" dist="38100" dir="2700000" algn="tl">
                    <a:srgbClr val="000000">
                      <a:alpha val="43137"/>
                    </a:srgbClr>
                  </a:outerShdw>
                </a:effectLst>
                <a:latin typeface="Arial" pitchFamily="34" charset="0"/>
                <a:cs typeface="Arial" pitchFamily="34" charset="0"/>
              </a:rPr>
              <a:t> del </a:t>
            </a:r>
            <a:r>
              <a:rPr lang="en-US" altLang="zh-CN" sz="4409" b="1" i="1" u="sng" dirty="0" err="1">
                <a:solidFill>
                  <a:srgbClr val="FF0000"/>
                </a:solidFill>
                <a:effectLst>
                  <a:outerShdw blurRad="38100" dist="38100" dir="2700000" algn="tl">
                    <a:srgbClr val="000000">
                      <a:alpha val="43137"/>
                    </a:srgbClr>
                  </a:outerShdw>
                </a:effectLst>
                <a:latin typeface="Arial" pitchFamily="34" charset="0"/>
                <a:cs typeface="Arial" pitchFamily="34" charset="0"/>
              </a:rPr>
              <a:t>Ensamblador</a:t>
            </a:r>
            <a:endParaRPr lang="en-US" altLang="zh-CN" sz="4409" b="1" i="1" u="sng" dirty="0">
              <a:solidFill>
                <a:srgbClr val="FF0000"/>
              </a:solidFill>
              <a:effectLst>
                <a:outerShdw blurRad="38100" dist="38100" dir="2700000" algn="tl">
                  <a:srgbClr val="000000">
                    <a:alpha val="43137"/>
                  </a:srgbClr>
                </a:outerShdw>
              </a:effectLst>
              <a:latin typeface="Arial" pitchFamily="34" charset="0"/>
              <a:cs typeface="Arial" pitchFamily="34" charset="0"/>
            </a:endParaRPr>
          </a:p>
        </p:txBody>
      </p:sp>
    </p:spTree>
    <p:extLst>
      <p:ext uri="{BB962C8B-B14F-4D97-AF65-F5344CB8AC3E}">
        <p14:creationId xmlns:p14="http://schemas.microsoft.com/office/powerpoint/2010/main" val="369071115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42900"/>
            <a:ext cx="6644319" cy="1405513"/>
          </a:xfrm>
          <a:prstGeom prst="rect">
            <a:avLst/>
          </a:prstGeom>
          <a:noFill/>
        </p:spPr>
        <p:txBody>
          <a:bodyPr wrap="none" lIns="0" tIns="0" rIns="0" rtlCol="0">
            <a:spAutoFit/>
          </a:bodyPr>
          <a:lstStyle/>
          <a:p>
            <a:pPr>
              <a:lnSpc>
                <a:spcPts val="3200"/>
              </a:lnSpc>
              <a:tabLst>
                <a:tab pos="3479800" algn="l"/>
              </a:tabLst>
            </a:pPr>
            <a:r>
              <a:rPr lang="en-US" altLang="zh-CN" dirty="0"/>
              <a:t>	</a:t>
            </a:r>
            <a:r>
              <a:rPr lang="en-US" altLang="zh-CN" sz="3527" b="1" dirty="0">
                <a:solidFill>
                  <a:srgbClr val="FF0000"/>
                </a:solidFill>
                <a:latin typeface="Times New Roman" pitchFamily="18" charset="0"/>
                <a:cs typeface="Times New Roman" pitchFamily="18" charset="0"/>
              </a:rPr>
              <a:t>Directiva</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EQU</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479800" algn="l"/>
              </a:tabLst>
            </a:pP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Define</a:t>
            </a:r>
            <a:r>
              <a:rPr lang="en-US" altLang="zh-CN" sz="3527" b="1"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effectLst>
                  <a:outerShdw blurRad="38100" dist="38100" dir="2700000" algn="tl">
                    <a:srgbClr val="000000">
                      <a:alpha val="43137"/>
                    </a:srgbClr>
                  </a:outerShdw>
                </a:effectLst>
                <a:latin typeface="Times New Roman" pitchFamily="18" charset="0"/>
                <a:cs typeface="Times New Roman" pitchFamily="18" charset="0"/>
              </a:rPr>
              <a:t>constantes</a:t>
            </a:r>
            <a:r>
              <a:rPr lang="en-US" altLang="zh-CN" sz="3527" b="1" i="1" dirty="0">
                <a:effectLst>
                  <a:outerShdw blurRad="38100" dist="38100" dir="2700000" algn="tl">
                    <a:srgbClr val="000000">
                      <a:alpha val="43137"/>
                    </a:srgbClr>
                  </a:outerShdw>
                </a:effectLst>
                <a:latin typeface="Times New Roman" pitchFamily="18" charset="0"/>
                <a:cs typeface="Times New Roman" pitchFamily="18" charset="0"/>
              </a:rPr>
              <a:t> en assembler</a:t>
            </a:r>
            <a:endPar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16" name="TextBox 1"/>
          <p:cNvSpPr txBox="1"/>
          <p:nvPr/>
        </p:nvSpPr>
        <p:spPr>
          <a:xfrm>
            <a:off x="1384300" y="1874837"/>
            <a:ext cx="8763000" cy="2816156"/>
          </a:xfrm>
          <a:prstGeom prst="rect">
            <a:avLst/>
          </a:prstGeom>
          <a:noFill/>
        </p:spPr>
        <p:txBody>
          <a:bodyPr wrap="square" lIns="0" tIns="0" rIns="0" rtlCol="0">
            <a:spAutoFit/>
          </a:bodyPr>
          <a:lstStyle/>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asignación</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p>
          <a:p>
            <a:pPr>
              <a:lnSpc>
                <a:spcPts val="2800"/>
              </a:lnSpc>
              <a:tabLst/>
            </a:pPr>
            <a:endPar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 &lt;expr&gt;</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asignado</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&lt;label&gt;</a:t>
            </a:r>
          </a:p>
          <a:p>
            <a:pPr>
              <a:lnSpc>
                <a:spcPts val="2800"/>
              </a:lnSpc>
              <a:tabLst/>
            </a:pPr>
            <a:endParaRPr lang="es-AR" sz="3200" i="1" dirty="0">
              <a:solidFill>
                <a:srgbClr val="002060"/>
              </a:solidFill>
              <a:effectLst>
                <a:outerShdw blurRad="38100" dist="38100" dir="2700000" algn="tl">
                  <a:srgbClr val="000000">
                    <a:alpha val="43137"/>
                  </a:srgbClr>
                </a:outerShdw>
              </a:effectLst>
            </a:endParaRPr>
          </a:p>
          <a:p>
            <a:pPr>
              <a:lnSpc>
                <a:spcPts val="2800"/>
              </a:lnSpc>
              <a:tabLst/>
            </a:pPr>
            <a:r>
              <a:rPr lang="es-AR" sz="3200" i="1" dirty="0">
                <a:solidFill>
                  <a:srgbClr val="002060"/>
                </a:solidFill>
                <a:effectLst>
                  <a:outerShdw blurRad="38100" dist="38100" dir="2700000" algn="tl">
                    <a:srgbClr val="000000">
                      <a:alpha val="43137"/>
                    </a:srgbClr>
                  </a:outerShdw>
                </a:effectLst>
              </a:rPr>
              <a:t>La directiva EQU permite al programador "igualar" nombres personalizados a datos o direcciones.</a:t>
            </a:r>
            <a:endParaRPr lang="en-US" altLang="zh-CN" sz="3084" b="1" i="1" dirty="0">
              <a:solidFill>
                <a:srgbClr val="00206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1000"/>
              </a:lnSpc>
            </a:pPr>
            <a:endParaRPr lang="en-US" altLang="zh-CN" i="1" dirty="0">
              <a:effectLst>
                <a:outerShdw blurRad="38100" dist="38100" dir="2700000" algn="tl">
                  <a:srgbClr val="000000">
                    <a:alpha val="43137"/>
                  </a:srgbClr>
                </a:outerShdw>
              </a:effectLst>
            </a:endParaRPr>
          </a:p>
          <a:p>
            <a:pPr>
              <a:lnSpc>
                <a:spcPts val="1000"/>
              </a:lnSpc>
            </a:pPr>
            <a:endParaRPr lang="en-US" altLang="zh-CN" i="1" dirty="0">
              <a:effectLst>
                <a:outerShdw blurRad="38100" dist="38100" dir="2700000" algn="tl">
                  <a:srgbClr val="000000">
                    <a:alpha val="43137"/>
                  </a:srgbClr>
                </a:outerShdw>
              </a:effectLst>
            </a:endParaRPr>
          </a:p>
          <a:p>
            <a:pPr>
              <a:lnSpc>
                <a:spcPts val="2800"/>
              </a:lnSpc>
              <a:tabLst/>
            </a:pPr>
            <a:r>
              <a:rPr lang="en-US" altLang="zh-CN" sz="3084" b="1" dirty="0">
                <a:solidFill>
                  <a:srgbClr val="FF0000"/>
                </a:solidFill>
                <a:latin typeface="Times New Roman" pitchFamily="18" charset="0"/>
                <a:cs typeface="Times New Roman" pitchFamily="18" charset="0"/>
              </a:rPr>
              <a:t>&lt;label&gt;</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EQU</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&lt;expr&gt;</a:t>
            </a:r>
          </a:p>
        </p:txBody>
      </p:sp>
      <p:cxnSp>
        <p:nvCxnSpPr>
          <p:cNvPr id="17" name="16 Conector recto"/>
          <p:cNvCxnSpPr/>
          <p:nvPr/>
        </p:nvCxnSpPr>
        <p:spPr>
          <a:xfrm>
            <a:off x="309257" y="69040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17500" y="6980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3" name="12 Rectángulo"/>
          <p:cNvSpPr/>
          <p:nvPr/>
        </p:nvSpPr>
        <p:spPr>
          <a:xfrm>
            <a:off x="2673350" y="4541837"/>
            <a:ext cx="5346700" cy="2308324"/>
          </a:xfrm>
          <a:prstGeom prst="rect">
            <a:avLst/>
          </a:prstGeom>
        </p:spPr>
        <p:txBody>
          <a:bodyPr>
            <a:spAutoFit/>
          </a:bodyPr>
          <a:lstStyle/>
          <a:p>
            <a:r>
              <a:rPr lang="es-AR" b="1" dirty="0">
                <a:effectLst>
                  <a:outerShdw blurRad="38100" dist="38100" dir="2700000" algn="tl">
                    <a:srgbClr val="000000">
                      <a:alpha val="43137"/>
                    </a:srgbClr>
                  </a:outerShdw>
                </a:effectLst>
              </a:rPr>
              <a:t>    Ejemplos:</a:t>
            </a:r>
          </a:p>
          <a:p>
            <a:r>
              <a:rPr lang="es-AR" b="1" dirty="0" err="1">
                <a:effectLst>
                  <a:outerShdw blurRad="38100" dist="38100" dir="2700000" algn="tl">
                    <a:srgbClr val="000000">
                      <a:alpha val="43137"/>
                    </a:srgbClr>
                  </a:outerShdw>
                </a:effectLst>
              </a:rPr>
              <a:t>Temp</a:t>
            </a:r>
            <a:r>
              <a:rPr lang="es-AR" b="1" dirty="0">
                <a:effectLst>
                  <a:outerShdw blurRad="38100" dist="38100" dir="2700000" algn="tl">
                    <a:srgbClr val="000000">
                      <a:alpha val="43137"/>
                    </a:srgbClr>
                  </a:outerShdw>
                </a:effectLst>
              </a:rPr>
              <a:t>	EQU    12</a:t>
            </a:r>
          </a:p>
          <a:p>
            <a:r>
              <a:rPr lang="es-AR" b="1" dirty="0">
                <a:effectLst>
                  <a:outerShdw blurRad="38100" dist="38100" dir="2700000" algn="tl">
                    <a:srgbClr val="000000">
                      <a:alpha val="43137"/>
                    </a:srgbClr>
                  </a:outerShdw>
                </a:effectLst>
              </a:rPr>
              <a:t>DATO	EQU    22</a:t>
            </a:r>
          </a:p>
          <a:p>
            <a:r>
              <a:rPr lang="en-US" b="1" dirty="0">
                <a:effectLst>
                  <a:outerShdw blurRad="38100" dist="38100" dir="2700000" algn="tl">
                    <a:srgbClr val="000000">
                      <a:alpha val="43137"/>
                    </a:srgbClr>
                  </a:outerShdw>
                </a:effectLst>
              </a:rPr>
              <a:t>PORT_A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START	EQU    0</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CARRY	EQU    3</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TIEMPO	EQU    5</a:t>
            </a:r>
            <a:endParaRPr lang="es-AR" b="1" dirty="0">
              <a:effectLst>
                <a:outerShdw blurRad="38100" dist="38100" dir="2700000" algn="tl">
                  <a:srgbClr val="000000">
                    <a:alpha val="43137"/>
                  </a:srgbClr>
                </a:outerShdw>
              </a:effectLst>
            </a:endParaRPr>
          </a:p>
          <a:p>
            <a:r>
              <a:rPr lang="en-US" b="1" dirty="0">
                <a:effectLst>
                  <a:outerShdw blurRad="38100" dist="38100" dir="2700000" algn="tl">
                    <a:srgbClr val="000000">
                      <a:alpha val="43137"/>
                    </a:srgbClr>
                  </a:outerShdw>
                </a:effectLst>
              </a:rPr>
              <a:t>Bank_1	EQU    BSF STATUS,RP0</a:t>
            </a:r>
            <a:endParaRPr lang="es-AR"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404822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952500" y="427037"/>
            <a:ext cx="6668364" cy="1405513"/>
          </a:xfrm>
          <a:prstGeom prst="rect">
            <a:avLst/>
          </a:prstGeom>
          <a:noFill/>
        </p:spPr>
        <p:txBody>
          <a:bodyPr wrap="none" lIns="0" tIns="0" rIns="0" rtlCol="0">
            <a:spAutoFit/>
          </a:bodyPr>
          <a:lstStyle/>
          <a:p>
            <a:pPr>
              <a:lnSpc>
                <a:spcPts val="3200"/>
              </a:lnSpc>
              <a:tabLst>
                <a:tab pos="3454400" algn="l"/>
              </a:tabLst>
            </a:pPr>
            <a:r>
              <a:rPr lang="en-US" altLang="zh-CN" dirty="0"/>
              <a:t>	</a:t>
            </a:r>
            <a:r>
              <a:rPr lang="en-US" altLang="zh-CN" sz="3527" b="1" dirty="0">
                <a:solidFill>
                  <a:srgbClr val="FF0000"/>
                </a:solidFill>
                <a:latin typeface="Times New Roman" pitchFamily="18" charset="0"/>
                <a:cs typeface="Times New Roman" pitchFamily="18" charset="0"/>
              </a:rPr>
              <a:t>Directiva</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a:t>
            </a:r>
            <a:r>
              <a:rPr lang="en-US" altLang="zh-CN" sz="3527" dirty="0">
                <a:solidFill>
                  <a:srgbClr val="FF0000"/>
                </a:solidFill>
                <a:latin typeface="Times New Roman" pitchFamily="18" charset="0"/>
                <a:cs typeface="Times New Roman" pitchFamily="18" charset="0"/>
              </a:rPr>
              <a:t> </a:t>
            </a:r>
            <a:r>
              <a:rPr lang="en-US" altLang="zh-CN" sz="3527" b="1" dirty="0">
                <a:solidFill>
                  <a:srgbClr val="FF0000"/>
                </a:solidFill>
                <a:latin typeface="Times New Roman" pitchFamily="18" charset="0"/>
                <a:cs typeface="Times New Roman" pitchFamily="18" charset="0"/>
              </a:rPr>
              <a:t>ORG</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454400" algn="l"/>
              </a:tabLst>
            </a:pPr>
            <a:r>
              <a:rPr lang="en-US" altLang="zh-CN" sz="3527" b="1" dirty="0">
                <a:solidFill>
                  <a:srgbClr val="000000"/>
                </a:solidFill>
                <a:latin typeface="Times New Roman" pitchFamily="18" charset="0"/>
                <a:cs typeface="Times New Roman" pitchFamily="18" charset="0"/>
              </a:rPr>
              <a:t>Set</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program</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origin</a:t>
            </a:r>
          </a:p>
        </p:txBody>
      </p:sp>
      <p:sp>
        <p:nvSpPr>
          <p:cNvPr id="5" name="TextBox 1"/>
          <p:cNvSpPr txBox="1"/>
          <p:nvPr/>
        </p:nvSpPr>
        <p:spPr>
          <a:xfrm>
            <a:off x="1384300" y="2014537"/>
            <a:ext cx="8372485" cy="1379865"/>
          </a:xfrm>
          <a:prstGeom prst="rect">
            <a:avLst/>
          </a:prstGeom>
          <a:noFill/>
        </p:spPr>
        <p:txBody>
          <a:bodyPr wrap="none" lIns="0" tIns="0" rIns="0" rtlCol="0">
            <a:spAutoFit/>
          </a:bodyPr>
          <a:lstStyle/>
          <a:p>
            <a:pPr>
              <a:lnSpc>
                <a:spcPts val="2800"/>
              </a:lnSpc>
              <a:tabLst/>
            </a:pP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ensamblador</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dirección</a:t>
            </a:r>
            <a:endPar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2800"/>
              </a:lnSpc>
              <a:tabLst/>
            </a:pPr>
            <a:r>
              <a:rPr lang="en-US" altLang="zh-CN" sz="3084"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inicia</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084"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084"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programa.</a:t>
            </a:r>
          </a:p>
          <a:p>
            <a:pPr>
              <a:lnSpc>
                <a:spcPts val="1000"/>
              </a:lnSpc>
            </a:pPr>
            <a:endParaRPr lang="en-US" altLang="zh-CN" dirty="0"/>
          </a:p>
          <a:p>
            <a:pPr>
              <a:lnSpc>
                <a:spcPts val="1000"/>
              </a:lnSpc>
            </a:pPr>
            <a:endParaRPr lang="en-US" altLang="zh-CN" dirty="0"/>
          </a:p>
          <a:p>
            <a:pPr>
              <a:lnSpc>
                <a:spcPts val="2800"/>
              </a:lnSpc>
              <a:tabLst/>
            </a:pPr>
            <a:r>
              <a:rPr lang="en-US" altLang="zh-CN" sz="3084" b="1" dirty="0">
                <a:solidFill>
                  <a:srgbClr val="FF0000"/>
                </a:solidFill>
                <a:latin typeface="Times New Roman" pitchFamily="18" charset="0"/>
                <a:cs typeface="Times New Roman" pitchFamily="18" charset="0"/>
              </a:rPr>
              <a:t>ORG</a:t>
            </a:r>
            <a:r>
              <a:rPr lang="en-US" altLang="zh-CN" sz="3084" dirty="0">
                <a:solidFill>
                  <a:srgbClr val="FF0000"/>
                </a:solidFill>
                <a:latin typeface="Times New Roman" pitchFamily="18" charset="0"/>
                <a:cs typeface="Times New Roman" pitchFamily="18" charset="0"/>
              </a:rPr>
              <a:t> </a:t>
            </a:r>
            <a:r>
              <a:rPr lang="en-US" altLang="zh-CN" sz="3084" b="1" dirty="0">
                <a:solidFill>
                  <a:srgbClr val="FF0000"/>
                </a:solidFill>
                <a:latin typeface="Times New Roman" pitchFamily="18" charset="0"/>
                <a:cs typeface="Times New Roman" pitchFamily="18" charset="0"/>
              </a:rPr>
              <a:t>0</a:t>
            </a:r>
          </a:p>
        </p:txBody>
      </p:sp>
      <p:sp>
        <p:nvSpPr>
          <p:cNvPr id="6" name="5 Rectángulo"/>
          <p:cNvSpPr/>
          <p:nvPr/>
        </p:nvSpPr>
        <p:spPr>
          <a:xfrm>
            <a:off x="1308100" y="3551237"/>
            <a:ext cx="8229600" cy="1938992"/>
          </a:xfrm>
          <a:prstGeom prst="rect">
            <a:avLst/>
          </a:prstGeom>
        </p:spPr>
        <p:txBody>
          <a:bodyPr wrap="square">
            <a:spAutoFit/>
          </a:bodyPr>
          <a:lstStyle/>
          <a:p>
            <a:r>
              <a:rPr lang="es-AR" sz="2400" b="1" i="1" dirty="0">
                <a:effectLst>
                  <a:outerShdw blurRad="38100" dist="38100" dir="2700000" algn="tl">
                    <a:srgbClr val="000000">
                      <a:alpha val="43137"/>
                    </a:srgbClr>
                  </a:outerShdw>
                </a:effectLst>
              </a:rPr>
              <a:t>Esta directiva dice al ensamblador a partir de que posición de memoria de programa se situarán las siguientes instrucciones. Rutinas de comienzo, subrutinas de interrupción y otros programas deben comenzar en locaciones de memoria fijados por la estructura del </a:t>
            </a:r>
            <a:r>
              <a:rPr lang="es-AR" sz="2400" b="1" i="1" dirty="0" err="1">
                <a:effectLst>
                  <a:outerShdw blurRad="38100" dist="38100" dir="2700000" algn="tl">
                    <a:srgbClr val="000000">
                      <a:alpha val="43137"/>
                    </a:srgbClr>
                  </a:outerShdw>
                </a:effectLst>
              </a:rPr>
              <a:t>microcontrolador</a:t>
            </a:r>
            <a:r>
              <a:rPr lang="es-AR" sz="2400" b="1" i="1" dirty="0">
                <a:effectLst>
                  <a:outerShdw blurRad="38100" dist="38100" dir="2700000" algn="tl">
                    <a:srgbClr val="000000">
                      <a:alpha val="43137"/>
                    </a:srgbClr>
                  </a:outerShdw>
                </a:effectLst>
              </a:rPr>
              <a:t>.</a:t>
            </a:r>
          </a:p>
        </p:txBody>
      </p:sp>
    </p:spTree>
    <p:extLst>
      <p:ext uri="{BB962C8B-B14F-4D97-AF65-F5344CB8AC3E}">
        <p14:creationId xmlns:p14="http://schemas.microsoft.com/office/powerpoint/2010/main" val="6291999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368300"/>
            <a:ext cx="9271000" cy="2905924"/>
          </a:xfrm>
          <a:prstGeom prst="rect">
            <a:avLst/>
          </a:prstGeom>
          <a:noFill/>
        </p:spPr>
        <p:txBody>
          <a:bodyPr wrap="squar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a:t>
            </a:r>
            <a:r>
              <a:rPr lang="en-US" altLang="zh-CN" sz="3200" dirty="0">
                <a:solidFill>
                  <a:srgbClr val="FF0000"/>
                </a:solidFill>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a:t>
            </a:r>
            <a:r>
              <a:rPr lang="en-US" altLang="zh-CN" sz="3200" dirty="0">
                <a:solidFill>
                  <a:srgbClr val="FF0000"/>
                </a:solidFill>
                <a:latin typeface="Times New Roman" pitchFamily="18" charset="0"/>
                <a:cs typeface="Times New Roman" pitchFamily="18" charset="0"/>
              </a:rPr>
              <a:t> </a:t>
            </a:r>
            <a:r>
              <a:rPr lang="en-US" altLang="zh-CN" sz="3200" b="1" dirty="0">
                <a:solidFill>
                  <a:srgbClr val="FF0000"/>
                </a:solidFill>
                <a:latin typeface="Times New Roman" pitchFamily="18" charset="0"/>
                <a:cs typeface="Times New Roman" pitchFamily="18" charset="0"/>
              </a:rPr>
              <a:t>__CONFIG</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900"/>
              </a:lnSpc>
              <a:tabLst>
                <a:tab pos="4419600" algn="l"/>
              </a:tabLst>
            </a:pP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Esta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directiva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sirve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MPLAB</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durante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a:t>
            </a:r>
          </a:p>
          <a:p>
            <a:pPr>
              <a:lnSpc>
                <a:spcPts val="4200"/>
              </a:lnSpc>
              <a:tabLst>
                <a:tab pos="381000" algn="l"/>
                <a:tab pos="4419600" algn="l"/>
              </a:tabLst>
            </a:pP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grabación</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del</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microcontrolador</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t>
            </a:r>
          </a:p>
          <a:p>
            <a:pPr>
              <a:lnSpc>
                <a:spcPts val="4200"/>
              </a:lnSpc>
              <a:tabLst>
                <a:tab pos="381000" algn="l"/>
                <a:tab pos="4419600" algn="l"/>
              </a:tabLst>
            </a:pPr>
            <a:endPar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endParaRPr>
          </a:p>
          <a:p>
            <a:pPr>
              <a:lnSpc>
                <a:spcPts val="3800"/>
              </a:lnSpc>
              <a:tabLst>
                <a:tab pos="2844800" algn="l"/>
              </a:tabLst>
            </a:pPr>
            <a:endParaRPr lang="en-US" altLang="zh-CN" sz="3527" b="1" dirty="0">
              <a:solidFill>
                <a:srgbClr val="000000"/>
              </a:solidFill>
              <a:latin typeface="Times New Roman" pitchFamily="18" charset="0"/>
              <a:cs typeface="Times New Roman" pitchFamily="18" charset="0"/>
            </a:endParaRPr>
          </a:p>
        </p:txBody>
      </p:sp>
      <p:sp>
        <p:nvSpPr>
          <p:cNvPr id="16" name="TextBox 1"/>
          <p:cNvSpPr txBox="1"/>
          <p:nvPr/>
        </p:nvSpPr>
        <p:spPr>
          <a:xfrm>
            <a:off x="1384300" y="2472252"/>
            <a:ext cx="8143255" cy="393185"/>
          </a:xfrm>
          <a:prstGeom prst="rect">
            <a:avLst/>
          </a:prstGeom>
          <a:noFill/>
        </p:spPr>
        <p:txBody>
          <a:bodyPr wrap="none" lIns="0" tIns="0" rIns="0" rtlCol="0">
            <a:spAutoFit/>
          </a:bodyPr>
          <a:lstStyle/>
          <a:p>
            <a:pPr>
              <a:lnSpc>
                <a:spcPts val="2900"/>
              </a:lnSpc>
              <a:tabLst/>
            </a:pP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__CONFIG</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_CP_OFF</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_WDT_OFF</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_PWRTE_ON</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000000"/>
                </a:solidFill>
                <a:effectLst>
                  <a:outerShdw blurRad="38100" dist="38100" dir="2700000" algn="tl">
                    <a:srgbClr val="000000">
                      <a:alpha val="43137"/>
                    </a:srgbClr>
                  </a:outerShdw>
                </a:effectLst>
                <a:latin typeface="Arial Unicode MS" pitchFamily="18" charset="0"/>
                <a:cs typeface="Arial Unicode MS" pitchFamily="18" charset="0"/>
              </a:rPr>
              <a:t>&amp;</a:t>
            </a:r>
            <a:r>
              <a:rPr lang="en-US" altLang="zh-CN" sz="2202" b="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2202" b="1" dirty="0">
                <a:solidFill>
                  <a:srgbClr val="FF0000"/>
                </a:solidFill>
                <a:effectLst>
                  <a:outerShdw blurRad="38100" dist="38100" dir="2700000" algn="tl">
                    <a:srgbClr val="000000">
                      <a:alpha val="43137"/>
                    </a:srgbClr>
                  </a:outerShdw>
                </a:effectLst>
                <a:latin typeface="Arial Unicode MS" pitchFamily="18" charset="0"/>
                <a:cs typeface="Arial Unicode MS" pitchFamily="18" charset="0"/>
              </a:rPr>
              <a:t>_XT_OSC</a:t>
            </a:r>
          </a:p>
        </p:txBody>
      </p:sp>
      <p:sp>
        <p:nvSpPr>
          <p:cNvPr id="17" name="TextBox 1"/>
          <p:cNvSpPr txBox="1"/>
          <p:nvPr/>
        </p:nvSpPr>
        <p:spPr>
          <a:xfrm>
            <a:off x="952500" y="3168893"/>
            <a:ext cx="1854200" cy="406400"/>
          </a:xfrm>
          <a:prstGeom prst="rect">
            <a:avLst/>
          </a:prstGeom>
          <a:noFill/>
        </p:spPr>
        <p:txBody>
          <a:bodyPr wrap="none" lIns="0" tIns="0" rIns="0" rtlCol="0">
            <a:spAutoFit/>
          </a:bodyPr>
          <a:lstStyle/>
          <a:p>
            <a:pPr>
              <a:lnSpc>
                <a:spcPts val="3200"/>
              </a:lnSpc>
              <a:tabLst/>
            </a:pPr>
            <a:r>
              <a:rPr lang="en-US" altLang="zh-CN" sz="3527" b="1" dirty="0">
                <a:solidFill>
                  <a:srgbClr val="000000"/>
                </a:solidFill>
                <a:latin typeface="Times New Roman" pitchFamily="18" charset="0"/>
                <a:cs typeface="Times New Roman" pitchFamily="18" charset="0"/>
              </a:rPr>
              <a:t>Significa</a:t>
            </a:r>
          </a:p>
        </p:txBody>
      </p:sp>
      <p:sp>
        <p:nvSpPr>
          <p:cNvPr id="19" name="TextBox 1"/>
          <p:cNvSpPr txBox="1"/>
          <p:nvPr/>
        </p:nvSpPr>
        <p:spPr>
          <a:xfrm>
            <a:off x="1384300" y="3841993"/>
            <a:ext cx="7676973" cy="3290644"/>
          </a:xfrm>
          <a:prstGeom prst="rect">
            <a:avLst/>
          </a:prstGeom>
          <a:noFill/>
        </p:spPr>
        <p:txBody>
          <a:bodyPr wrap="none" lIns="0" tIns="0" rIns="0" rtlCol="0">
            <a:spAutoFit/>
          </a:bodyPr>
          <a:lstStyle/>
          <a:p>
            <a:pPr>
              <a:lnSpc>
                <a:spcPts val="2800"/>
              </a:lnSpc>
              <a:tabLst>
                <a:tab pos="444500" algn="l"/>
              </a:tabLst>
            </a:pPr>
            <a:r>
              <a:rPr lang="en-US" altLang="zh-CN" sz="3084" b="1" dirty="0">
                <a:solidFill>
                  <a:srgbClr val="000000"/>
                </a:solidFill>
                <a:latin typeface="Times New Roman" pitchFamily="18" charset="0"/>
                <a:cs typeface="Times New Roman" pitchFamily="18" charset="0"/>
              </a:rPr>
              <a:t>No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hay</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protección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código</a:t>
            </a:r>
          </a:p>
          <a:p>
            <a:pPr>
              <a:lnSpc>
                <a:spcPts val="2700"/>
              </a:lnSpc>
              <a:tabLst>
                <a:tab pos="444500" algn="l"/>
              </a:tabLst>
            </a:pP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cs typeface="Arial Unicode MS" pitchFamily="18" charset="0"/>
              </a:rPr>
              <a:t>_CP_OFF</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No</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habilita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Watchdog</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_WDT_OFF</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habilita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reset</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mediante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Power</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Up</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Timer</a:t>
            </a:r>
          </a:p>
          <a:p>
            <a:pPr>
              <a:lnSpc>
                <a:spcPts val="2700"/>
              </a:lnSpc>
              <a:tabLst>
                <a:tab pos="444500" algn="l"/>
              </a:tabLst>
            </a:pPr>
            <a:r>
              <a:rPr lang="en-US" altLang="zh-CN" sz="2400" b="1" dirty="0">
                <a:solidFill>
                  <a:srgbClr val="FF0000"/>
                </a:solidFill>
                <a:effectLst>
                  <a:outerShdw blurRad="38100" dist="38100" dir="2700000" algn="tl">
                    <a:srgbClr val="000000">
                      <a:alpha val="43137"/>
                    </a:srgbClr>
                  </a:outerShdw>
                </a:effectLst>
              </a:rPr>
              <a:t>	_PWRTE_ON</a:t>
            </a:r>
          </a:p>
          <a:p>
            <a:pPr>
              <a:lnSpc>
                <a:spcPts val="1000"/>
              </a:lnSpc>
            </a:pPr>
            <a:endParaRPr lang="en-US" altLang="zh-CN" dirty="0"/>
          </a:p>
          <a:p>
            <a:pPr>
              <a:lnSpc>
                <a:spcPts val="2900"/>
              </a:lnSpc>
              <a:tabLst>
                <a:tab pos="444500" algn="l"/>
              </a:tabLst>
            </a:pPr>
            <a:r>
              <a:rPr lang="en-US" altLang="zh-CN" sz="3084" b="1" dirty="0">
                <a:solidFill>
                  <a:srgbClr val="000000"/>
                </a:solidFill>
                <a:latin typeface="Times New Roman" pitchFamily="18" charset="0"/>
                <a:cs typeface="Times New Roman" pitchFamily="18" charset="0"/>
              </a:rPr>
              <a:t>Se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utiliza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oscilador</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cristal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cuarzo</a:t>
            </a:r>
          </a:p>
          <a:p>
            <a:pPr>
              <a:lnSpc>
                <a:spcPts val="2700"/>
              </a:lnSpc>
              <a:tabLst>
                <a:tab pos="444500" algn="l"/>
              </a:tabLst>
            </a:pPr>
            <a:r>
              <a:rPr lang="en-US" altLang="zh-CN" sz="2400" b="1" dirty="0">
                <a:effectLst>
                  <a:outerShdw blurRad="38100" dist="38100" dir="2700000" algn="tl">
                    <a:srgbClr val="000000">
                      <a:alpha val="43137"/>
                    </a:srgbClr>
                  </a:outerShdw>
                </a:effectLst>
              </a:rPr>
              <a:t>	</a:t>
            </a:r>
            <a:r>
              <a:rPr lang="en-US" altLang="zh-CN" sz="2400" b="1" dirty="0">
                <a:solidFill>
                  <a:srgbClr val="FF0000"/>
                </a:solidFill>
                <a:effectLst>
                  <a:outerShdw blurRad="38100" dist="38100" dir="2700000" algn="tl">
                    <a:srgbClr val="000000">
                      <a:alpha val="43137"/>
                    </a:srgbClr>
                  </a:outerShdw>
                </a:effectLst>
              </a:rPr>
              <a:t>_XT_OSC</a:t>
            </a:r>
          </a:p>
        </p:txBody>
      </p:sp>
      <p:sp>
        <p:nvSpPr>
          <p:cNvPr id="14" name="CuadroTexto 13">
            <a:extLst>
              <a:ext uri="{FF2B5EF4-FFF2-40B4-BE49-F238E27FC236}">
                <a16:creationId xmlns:a16="http://schemas.microsoft.com/office/drawing/2014/main" id="{67CD04C6-E5E6-1447-E849-75E1516418F7}"/>
              </a:ext>
            </a:extLst>
          </p:cNvPr>
          <p:cNvSpPr txBox="1"/>
          <p:nvPr/>
        </p:nvSpPr>
        <p:spPr>
          <a:xfrm>
            <a:off x="4660900" y="7057998"/>
            <a:ext cx="6200155" cy="461665"/>
          </a:xfrm>
          <a:prstGeom prst="rect">
            <a:avLst/>
          </a:prstGeom>
          <a:noFill/>
        </p:spPr>
        <p:txBody>
          <a:bodyPr wrap="square" rtlCol="0">
            <a:spAutoFit/>
          </a:bodyPr>
          <a:lstStyle/>
          <a:p>
            <a:r>
              <a:rPr lang="es-AR" sz="2400" b="1" dirty="0">
                <a:effectLst>
                  <a:outerShdw blurRad="38100" dist="38100" dir="2700000" algn="tl">
                    <a:srgbClr val="000000">
                      <a:alpha val="43137"/>
                    </a:srgbClr>
                  </a:outerShdw>
                </a:effectLst>
                <a:latin typeface="Arial Unicode MS"/>
              </a:rPr>
              <a:t>Forma abreviada: __CONFIG 3F10</a:t>
            </a:r>
          </a:p>
        </p:txBody>
      </p:sp>
    </p:spTree>
    <p:extLst>
      <p:ext uri="{BB962C8B-B14F-4D97-AF65-F5344CB8AC3E}">
        <p14:creationId xmlns:p14="http://schemas.microsoft.com/office/powerpoint/2010/main" val="345239272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19099"/>
            <a:ext cx="9431921" cy="2392963"/>
          </a:xfrm>
          <a:prstGeom prst="rect">
            <a:avLst/>
          </a:prstGeom>
          <a:noFill/>
        </p:spPr>
        <p:txBody>
          <a:bodyPr wrap="square" lIns="0" tIns="0" rIns="0" rtlCol="0">
            <a:spAutoFit/>
          </a:bodyPr>
          <a:lstStyle/>
          <a:p>
            <a:pPr>
              <a:lnSpc>
                <a:spcPts val="3200"/>
              </a:lnSpc>
              <a:tabLst>
                <a:tab pos="2844800" algn="l"/>
              </a:tabLst>
            </a:pPr>
            <a:r>
              <a:rPr lang="en-US" altLang="zh-CN" sz="3200" dirty="0"/>
              <a:t>	</a:t>
            </a:r>
            <a:r>
              <a:rPr lang="en-US" altLang="zh-CN" sz="3200" b="1" dirty="0">
                <a:solidFill>
                  <a:srgbClr val="FF0000"/>
                </a:solidFill>
                <a:latin typeface="Times New Roman" pitchFamily="18" charset="0"/>
                <a:cs typeface="Times New Roman" pitchFamily="18" charset="0"/>
              </a:rPr>
              <a:t>Directiva : Include &lt;P16F684A.INC&gt;</a:t>
            </a:r>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1000"/>
              </a:lnSpc>
            </a:pPr>
            <a:endParaRPr lang="en-US" altLang="zh-CN" sz="3200" dirty="0"/>
          </a:p>
          <a:p>
            <a:pPr>
              <a:lnSpc>
                <a:spcPts val="3700"/>
              </a:lnSpc>
              <a:tabLst>
                <a:tab pos="1917700" algn="l"/>
              </a:tabLst>
            </a:pP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archivo</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donde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se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localizan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las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etiquetas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nombran</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los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diferentes</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registros</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y</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valor</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que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le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corresponde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a </a:t>
            </a:r>
            <a:r>
              <a:rPr lang="en-US" altLang="zh-CN" sz="3200" b="1" i="1" dirty="0" err="1">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cada</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uno</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200"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200"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ellos.</a:t>
            </a:r>
          </a:p>
        </p:txBody>
      </p:sp>
      <p:sp>
        <p:nvSpPr>
          <p:cNvPr id="14" name="TextBox 1"/>
          <p:cNvSpPr txBox="1"/>
          <p:nvPr/>
        </p:nvSpPr>
        <p:spPr>
          <a:xfrm>
            <a:off x="954763" y="3322637"/>
            <a:ext cx="7973337" cy="1405513"/>
          </a:xfrm>
          <a:prstGeom prst="rect">
            <a:avLst/>
          </a:prstGeom>
          <a:noFill/>
        </p:spPr>
        <p:txBody>
          <a:bodyPr wrap="non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 : LIST P=16F628A</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2349500" algn="l"/>
              </a:tabLst>
            </a:pP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Indica</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el</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tipo</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de</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microprocesador</a:t>
            </a:r>
            <a:r>
              <a:rPr lang="en-US" altLang="zh-CN" sz="3527" i="1" dirty="0">
                <a:effectLst>
                  <a:outerShdw blurRad="38100" dist="38100" dir="2700000" algn="tl">
                    <a:srgbClr val="000000">
                      <a:alpha val="43137"/>
                    </a:srgbClr>
                  </a:outerShdw>
                </a:effectLst>
                <a:latin typeface="Times New Roman" pitchFamily="18" charset="0"/>
                <a:cs typeface="Times New Roman" pitchFamily="18" charset="0"/>
              </a:rPr>
              <a:t> </a:t>
            </a:r>
            <a:r>
              <a:rPr lang="en-US" altLang="zh-CN" sz="3527" b="1" i="1" dirty="0">
                <a:solidFill>
                  <a:srgbClr val="000000"/>
                </a:solidFill>
                <a:effectLst>
                  <a:outerShdw blurRad="38100" dist="38100" dir="2700000" algn="tl">
                    <a:srgbClr val="000000">
                      <a:alpha val="43137"/>
                    </a:srgbClr>
                  </a:outerShdw>
                </a:effectLst>
                <a:latin typeface="Times New Roman" pitchFamily="18" charset="0"/>
                <a:cs typeface="Times New Roman" pitchFamily="18" charset="0"/>
              </a:rPr>
              <a:t>utilizado</a:t>
            </a:r>
          </a:p>
        </p:txBody>
      </p:sp>
      <p:cxnSp>
        <p:nvCxnSpPr>
          <p:cNvPr id="15" name="14 Conector recto"/>
          <p:cNvCxnSpPr/>
          <p:nvPr/>
        </p:nvCxnSpPr>
        <p:spPr>
          <a:xfrm>
            <a:off x="309257" y="29416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p:nvPr/>
        </p:nvCxnSpPr>
        <p:spPr>
          <a:xfrm>
            <a:off x="317500" y="30314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317500" y="4694237"/>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325743" y="4784099"/>
            <a:ext cx="10075164" cy="0"/>
          </a:xfrm>
          <a:prstGeom prst="line">
            <a:avLst/>
          </a:prstGeom>
          <a:ln w="34925">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9" name="TextBox 1"/>
          <p:cNvSpPr txBox="1"/>
          <p:nvPr/>
        </p:nvSpPr>
        <p:spPr>
          <a:xfrm>
            <a:off x="927100" y="4999037"/>
            <a:ext cx="5590248" cy="1405513"/>
          </a:xfrm>
          <a:prstGeom prst="rect">
            <a:avLst/>
          </a:prstGeom>
          <a:noFill/>
        </p:spPr>
        <p:txBody>
          <a:bodyPr wrap="none" lIns="0" tIns="0" rIns="0" rtlCol="0">
            <a:spAutoFit/>
          </a:bodyPr>
          <a:lstStyle/>
          <a:p>
            <a:pPr>
              <a:lnSpc>
                <a:spcPts val="3200"/>
              </a:lnSpc>
              <a:tabLst>
                <a:tab pos="2844800" algn="l"/>
              </a:tabLst>
            </a:pPr>
            <a:r>
              <a:rPr lang="en-US" altLang="zh-CN" dirty="0"/>
              <a:t>	</a:t>
            </a:r>
            <a:r>
              <a:rPr lang="en-US" altLang="zh-CN" sz="3200" b="1" dirty="0">
                <a:solidFill>
                  <a:srgbClr val="FF0000"/>
                </a:solidFill>
                <a:latin typeface="Times New Roman" pitchFamily="18" charset="0"/>
                <a:cs typeface="Times New Roman" pitchFamily="18" charset="0"/>
              </a:rPr>
              <a:t>Directiva: END</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3400"/>
              </a:lnSpc>
              <a:tabLst>
                <a:tab pos="3556000" algn="l"/>
              </a:tabLst>
            </a:pPr>
            <a:r>
              <a:rPr lang="en-US" altLang="zh-CN" sz="3527" b="1" dirty="0">
                <a:solidFill>
                  <a:srgbClr val="000000"/>
                </a:solidFill>
                <a:latin typeface="Times New Roman" pitchFamily="18" charset="0"/>
                <a:cs typeface="Times New Roman" pitchFamily="18" charset="0"/>
              </a:rPr>
              <a:t>End</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program</a:t>
            </a:r>
            <a:r>
              <a:rPr lang="en-US" altLang="zh-CN" sz="3527" dirty="0">
                <a:latin typeface="Times New Roman" pitchFamily="18" charset="0"/>
                <a:cs typeface="Times New Roman" pitchFamily="18" charset="0"/>
              </a:rPr>
              <a:t> </a:t>
            </a:r>
            <a:r>
              <a:rPr lang="en-US" altLang="zh-CN" sz="3527" b="1" dirty="0">
                <a:solidFill>
                  <a:srgbClr val="000000"/>
                </a:solidFill>
                <a:latin typeface="Times New Roman" pitchFamily="18" charset="0"/>
                <a:cs typeface="Times New Roman" pitchFamily="18" charset="0"/>
              </a:rPr>
              <a:t>block</a:t>
            </a:r>
          </a:p>
        </p:txBody>
      </p:sp>
      <p:sp>
        <p:nvSpPr>
          <p:cNvPr id="20" name="TextBox 1"/>
          <p:cNvSpPr txBox="1"/>
          <p:nvPr/>
        </p:nvSpPr>
        <p:spPr>
          <a:xfrm>
            <a:off x="1358900" y="6535737"/>
            <a:ext cx="4737100" cy="355600"/>
          </a:xfrm>
          <a:prstGeom prst="rect">
            <a:avLst/>
          </a:prstGeom>
          <a:noFill/>
        </p:spPr>
        <p:txBody>
          <a:bodyPr wrap="none" lIns="0" tIns="0" rIns="0" rtlCol="0">
            <a:spAutoFit/>
          </a:bodyPr>
          <a:lstStyle/>
          <a:p>
            <a:pPr>
              <a:lnSpc>
                <a:spcPts val="2800"/>
              </a:lnSpc>
              <a:tabLst/>
            </a:pPr>
            <a:r>
              <a:rPr lang="en-US" altLang="zh-CN" sz="3084" b="1" dirty="0">
                <a:solidFill>
                  <a:srgbClr val="000000"/>
                </a:solidFill>
                <a:latin typeface="Times New Roman" pitchFamily="18" charset="0"/>
                <a:cs typeface="Times New Roman" pitchFamily="18" charset="0"/>
              </a:rPr>
              <a:t>Indica</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fin</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del</a:t>
            </a:r>
            <a:r>
              <a:rPr lang="en-US" altLang="zh-CN" sz="3084" dirty="0">
                <a:latin typeface="Times New Roman" pitchFamily="18" charset="0"/>
                <a:cs typeface="Times New Roman" pitchFamily="18" charset="0"/>
              </a:rPr>
              <a:t> </a:t>
            </a:r>
            <a:r>
              <a:rPr lang="en-US" altLang="zh-CN" sz="3084" b="1" dirty="0">
                <a:solidFill>
                  <a:srgbClr val="000000"/>
                </a:solidFill>
                <a:latin typeface="Times New Roman" pitchFamily="18" charset="0"/>
                <a:cs typeface="Times New Roman" pitchFamily="18" charset="0"/>
              </a:rPr>
              <a:t>programa</a:t>
            </a:r>
          </a:p>
        </p:txBody>
      </p:sp>
    </p:spTree>
    <p:extLst>
      <p:ext uri="{BB962C8B-B14F-4D97-AF65-F5344CB8AC3E}">
        <p14:creationId xmlns:p14="http://schemas.microsoft.com/office/powerpoint/2010/main" val="309688175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Guía de Lectura</a:t>
            </a:r>
          </a:p>
        </p:txBody>
      </p:sp>
      <p:sp>
        <p:nvSpPr>
          <p:cNvPr id="3" name="Marcador de contenido 2"/>
          <p:cNvSpPr>
            <a:spLocks noGrp="1"/>
          </p:cNvSpPr>
          <p:nvPr>
            <p:ph idx="1"/>
          </p:nvPr>
        </p:nvSpPr>
        <p:spPr>
          <a:xfrm>
            <a:off x="457200" y="1189037"/>
            <a:ext cx="9766300" cy="6172199"/>
          </a:xfrm>
        </p:spPr>
        <p:txBody>
          <a:bodyPr>
            <a:normAutofit/>
          </a:bodyPr>
          <a:lstStyle/>
          <a:p>
            <a:pPr marL="0" indent="0">
              <a:buNone/>
            </a:pPr>
            <a:r>
              <a:rPr lang="es-ES" sz="4000" dirty="0"/>
              <a:t>1.- 03 Directivas del ensamblador.PDF</a:t>
            </a:r>
          </a:p>
          <a:p>
            <a:pPr marL="0" indent="0">
              <a:buNone/>
            </a:pPr>
            <a:endParaRPr lang="es-ES" sz="4000" dirty="0"/>
          </a:p>
          <a:p>
            <a:pPr marL="0" indent="0">
              <a:buNone/>
            </a:pPr>
            <a:endParaRPr lang="es-ES" sz="4000" dirty="0"/>
          </a:p>
          <a:p>
            <a:pPr marL="0" indent="0">
              <a:buNone/>
            </a:pPr>
            <a:r>
              <a:rPr lang="es-ES" sz="4000" dirty="0"/>
              <a:t>2.- 05 Técnicas de Programación.PDF</a:t>
            </a:r>
          </a:p>
          <a:p>
            <a:pPr marL="0" indent="0">
              <a:buNone/>
            </a:pPr>
            <a:endParaRPr lang="es-ES" sz="2200" dirty="0"/>
          </a:p>
          <a:p>
            <a:pPr marL="0" indent="0">
              <a:buNone/>
            </a:pPr>
            <a:endParaRPr lang="es-ES" sz="2200" dirty="0"/>
          </a:p>
        </p:txBody>
      </p:sp>
    </p:spTree>
    <p:extLst>
      <p:ext uri="{BB962C8B-B14F-4D97-AF65-F5344CB8AC3E}">
        <p14:creationId xmlns:p14="http://schemas.microsoft.com/office/powerpoint/2010/main" val="37274482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nvGraphicFramePr>
        <p:xfrm>
          <a:off x="897140" y="1671065"/>
          <a:ext cx="9279635" cy="5308472"/>
        </p:xfrm>
        <a:graphic>
          <a:graphicData uri="http://schemas.openxmlformats.org/drawingml/2006/table">
            <a:tbl>
              <a:tblPr/>
              <a:tblGrid>
                <a:gridCol w="3092576">
                  <a:extLst>
                    <a:ext uri="{9D8B030D-6E8A-4147-A177-3AD203B41FA5}">
                      <a16:colId xmlns:a16="http://schemas.microsoft.com/office/drawing/2014/main" val="20000"/>
                    </a:ext>
                  </a:extLst>
                </a:gridCol>
                <a:gridCol w="3094482">
                  <a:extLst>
                    <a:ext uri="{9D8B030D-6E8A-4147-A177-3AD203B41FA5}">
                      <a16:colId xmlns:a16="http://schemas.microsoft.com/office/drawing/2014/main" val="20001"/>
                    </a:ext>
                  </a:extLst>
                </a:gridCol>
                <a:gridCol w="3092577">
                  <a:extLst>
                    <a:ext uri="{9D8B030D-6E8A-4147-A177-3AD203B41FA5}">
                      <a16:colId xmlns:a16="http://schemas.microsoft.com/office/drawing/2014/main" val="20002"/>
                    </a:ext>
                  </a:extLst>
                </a:gridCol>
              </a:tblGrid>
              <a:tr h="632841">
                <a:tc>
                  <a:txBody>
                    <a:bodyPr/>
                    <a:lstStyle/>
                    <a:p>
                      <a:pPr algn="ctr"/>
                      <a:r>
                        <a:rPr lang="en-US" altLang="zh-CN" sz="3084" b="1">
                          <a:solidFill>
                            <a:srgbClr val="000000"/>
                          </a:solidFill>
                          <a:latin typeface="Times New Roman" pitchFamily="18" charset="0"/>
                          <a:cs typeface="Times New Roman" pitchFamily="18" charset="0"/>
                        </a:rPr>
                        <a:t>TIPO</a:t>
                      </a:r>
                      <a:endParaRPr lang="zh-CN" altLang="en-US" sz="3084" b="1" dirty="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a:solidFill>
                            <a:srgbClr val="000000"/>
                          </a:solidFill>
                          <a:latin typeface="Times New Roman" pitchFamily="18" charset="0"/>
                          <a:cs typeface="Times New Roman" pitchFamily="18" charset="0"/>
                        </a:rPr>
                        <a:t>SINTAXIS</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a:solidFill>
                            <a:srgbClr val="000000"/>
                          </a:solidFill>
                          <a:latin typeface="Times New Roman" pitchFamily="18" charset="0"/>
                          <a:cs typeface="Times New Roman" pitchFamily="18" charset="0"/>
                        </a:rPr>
                        <a:t>Ejemplo</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315592">
                <a:tc>
                  <a:txBody>
                    <a:bodyPr/>
                    <a:lstStyle/>
                    <a:p>
                      <a:pPr algn="l"/>
                      <a:r>
                        <a:rPr lang="en-US" altLang="zh-CN" sz="3084" b="1">
                          <a:solidFill>
                            <a:srgbClr val="FF0000"/>
                          </a:solidFill>
                          <a:latin typeface="Times New Roman" pitchFamily="18" charset="0"/>
                          <a:cs typeface="Times New Roman" pitchFamily="18" charset="0"/>
                        </a:rPr>
                        <a:t>Decimal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D’&lt;</a:t>
                      </a:r>
                      <a:r>
                        <a:rPr lang="en-US" altLang="zh-CN" sz="2202" b="1" dirty="0" err="1">
                          <a:solidFill>
                            <a:srgbClr val="000000"/>
                          </a:solidFill>
                          <a:latin typeface="Times New Roman" pitchFamily="18" charset="0"/>
                          <a:cs typeface="Times New Roman" pitchFamily="18" charset="0"/>
                        </a:rPr>
                        <a:t>cantidad</a:t>
                      </a:r>
                      <a:r>
                        <a:rPr lang="en-US" altLang="zh-CN" sz="2202" b="1" dirty="0">
                          <a:solidFill>
                            <a:srgbClr val="000000"/>
                          </a:solidFill>
                          <a:latin typeface="Times New Roman" pitchFamily="18" charset="0"/>
                          <a:cs typeface="Times New Roman" pitchFamily="18" charset="0"/>
                        </a:rPr>
                        <a:t>&gt;’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d’&lt;</a:t>
                      </a:r>
                      <a:r>
                        <a:rPr lang="en-US" altLang="zh-CN" sz="2202" b="1" dirty="0" err="1">
                          <a:solidFill>
                            <a:srgbClr val="000000"/>
                          </a:solidFill>
                          <a:latin typeface="Times New Roman" pitchFamily="18" charset="0"/>
                          <a:cs typeface="Times New Roman" pitchFamily="18" charset="0"/>
                        </a:rPr>
                        <a:t>cantidad</a:t>
                      </a:r>
                      <a:r>
                        <a:rPr lang="en-US" altLang="zh-CN" sz="2202" b="1" dirty="0">
                          <a:solidFill>
                            <a:srgbClr val="000000"/>
                          </a:solidFill>
                          <a:latin typeface="Times New Roman" pitchFamily="18" charset="0"/>
                          <a:cs typeface="Times New Roman" pitchFamily="18" charset="0"/>
                        </a:rPr>
                        <a:t>&gt;’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a:t>
                      </a:r>
                      <a:r>
                        <a:rPr lang="en-US" altLang="zh-CN" sz="2202" b="1" dirty="0" err="1">
                          <a:solidFill>
                            <a:srgbClr val="000000"/>
                          </a:solidFill>
                          <a:latin typeface="Times New Roman" pitchFamily="18" charset="0"/>
                          <a:cs typeface="Times New Roman" pitchFamily="18" charset="0"/>
                        </a:rPr>
                        <a:t>cantidad</a:t>
                      </a:r>
                      <a:r>
                        <a:rPr lang="en-US" altLang="zh-CN" sz="2202" b="1" dirty="0">
                          <a:solidFill>
                            <a:srgbClr val="000000"/>
                          </a:solidFill>
                          <a:latin typeface="Times New Roman" pitchFamily="18" charset="0"/>
                          <a:cs typeface="Times New Roman" pitchFamily="18" charset="0"/>
                        </a:rPr>
                        <a:t>&gt;&lt;</a:t>
                      </a:r>
                      <a:r>
                        <a:rPr lang="en-US" altLang="zh-CN" sz="2202" b="1" dirty="0" err="1">
                          <a:solidFill>
                            <a:srgbClr val="000000"/>
                          </a:solidFill>
                          <a:latin typeface="Times New Roman" pitchFamily="18" charset="0"/>
                          <a:cs typeface="Times New Roman" pitchFamily="18" charset="0"/>
                        </a:rPr>
                        <a:t>cantidad</a:t>
                      </a:r>
                      <a:r>
                        <a:rPr lang="en-US" altLang="zh-CN" sz="2202" b="1" dirty="0">
                          <a:solidFill>
                            <a:srgbClr val="000000"/>
                          </a:solidFill>
                          <a:latin typeface="Times New Roman" pitchFamily="18" charset="0"/>
                          <a:cs typeface="Times New Roman" pitchFamily="18" charset="0"/>
                        </a:rPr>
                        <a:t>&gt;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movlwl</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D</a:t>
                      </a:r>
                      <a:r>
                        <a:rPr lang="en-US" altLang="zh-CN" sz="2202" b="1" dirty="0">
                          <a:solidFill>
                            <a:srgbClr val="000000"/>
                          </a:solidFill>
                          <a:latin typeface="Times New Roman" pitchFamily="18" charset="0"/>
                          <a:cs typeface="Times New Roman" pitchFamily="18" charset="0"/>
                        </a:rPr>
                        <a:t>’109’</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d</a:t>
                      </a:r>
                      <a:r>
                        <a:rPr lang="en-US" altLang="zh-CN" sz="2202" b="1" dirty="0">
                          <a:solidFill>
                            <a:srgbClr val="000000"/>
                          </a:solidFill>
                          <a:latin typeface="Times New Roman" pitchFamily="18" charset="0"/>
                          <a:cs typeface="Times New Roman" pitchFamily="18" charset="0"/>
                        </a:rPr>
                        <a:t>’109’</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a:t>
                      </a:r>
                      <a:r>
                        <a:rPr lang="en-US" altLang="zh-CN" sz="2202" b="1" dirty="0">
                          <a:solidFill>
                            <a:srgbClr val="000000"/>
                          </a:solidFill>
                          <a:latin typeface="Times New Roman" pitchFamily="18" charset="0"/>
                          <a:cs typeface="Times New Roman" pitchFamily="18" charset="0"/>
                        </a:rPr>
                        <a:t>109 109</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44827">
                <a:tc>
                  <a:txBody>
                    <a:bodyPr/>
                    <a:lstStyle/>
                    <a:p>
                      <a:pPr algn="l"/>
                      <a:r>
                        <a:rPr lang="en-US" altLang="zh-CN" sz="3084" b="1" dirty="0">
                          <a:solidFill>
                            <a:srgbClr val="FF0000"/>
                          </a:solidFill>
                          <a:latin typeface="Times New Roman" pitchFamily="18" charset="0"/>
                          <a:cs typeface="Times New Roman" pitchFamily="18" charset="0"/>
                        </a:rPr>
                        <a:t>Hexadecimal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a:solidFill>
                            <a:srgbClr val="000000"/>
                          </a:solidFill>
                          <a:latin typeface="Times New Roman" pitchFamily="18" charset="0"/>
                          <a:cs typeface="Times New Roman" pitchFamily="18" charset="0"/>
                        </a:rPr>
                        <a:t>H’&lt;cantidad&gt;’</a:t>
                      </a:r>
                      <a:endParaRPr lang="zh-CN" altLang="en-US" sz="2202" b="1">
                        <a:solidFill>
                          <a:srgbClr val="000000"/>
                        </a:solidFill>
                        <a:latin typeface="Times New Roman" pitchFamily="18" charset="0"/>
                        <a:cs typeface="Times New Roman" pitchFamily="18" charset="0"/>
                      </a:endParaRPr>
                    </a:p>
                    <a:p>
                      <a:pPr algn="l"/>
                      <a:r>
                        <a:rPr lang="en-US" altLang="zh-CN" sz="2202" b="1">
                          <a:solidFill>
                            <a:srgbClr val="000000"/>
                          </a:solidFill>
                          <a:latin typeface="Times New Roman" pitchFamily="18" charset="0"/>
                          <a:cs typeface="Times New Roman" pitchFamily="18" charset="0"/>
                        </a:rPr>
                        <a:t>h’&lt;cantidad&gt;’</a:t>
                      </a:r>
                      <a:endParaRPr lang="zh-CN" altLang="en-US" sz="2202" b="1">
                        <a:solidFill>
                          <a:srgbClr val="000000"/>
                        </a:solidFill>
                        <a:latin typeface="Times New Roman" pitchFamily="18" charset="0"/>
                        <a:cs typeface="Times New Roman" pitchFamily="18" charset="0"/>
                      </a:endParaRPr>
                    </a:p>
                    <a:p>
                      <a:pPr algn="l"/>
                      <a:r>
                        <a:rPr lang="en-US" altLang="zh-CN" sz="2202" b="1">
                          <a:solidFill>
                            <a:srgbClr val="000000"/>
                          </a:solidFill>
                          <a:latin typeface="Times New Roman" pitchFamily="18" charset="0"/>
                          <a:cs typeface="Times New Roman" pitchFamily="18" charset="0"/>
                        </a:rPr>
                        <a:t>0x&lt;cantidad&gt;</a:t>
                      </a:r>
                      <a:endParaRPr lang="zh-CN" altLang="en-US" sz="2202" b="1">
                        <a:solidFill>
                          <a:srgbClr val="000000"/>
                        </a:solidFill>
                        <a:latin typeface="Times New Roman" pitchFamily="18" charset="0"/>
                        <a:cs typeface="Times New Roman" pitchFamily="18" charset="0"/>
                      </a:endParaRPr>
                    </a:p>
                    <a:p>
                      <a:pPr algn="l"/>
                      <a:r>
                        <a:rPr lang="en-US" altLang="zh-CN" sz="2202" b="1">
                          <a:solidFill>
                            <a:srgbClr val="000000"/>
                          </a:solidFill>
                          <a:latin typeface="Times New Roman" pitchFamily="18" charset="0"/>
                          <a:cs typeface="Times New Roman" pitchFamily="18" charset="0"/>
                        </a:rPr>
                        <a:t>&lt;cantidad&gt;H</a:t>
                      </a:r>
                      <a:endParaRPr lang="zh-CN" altLang="en-US" sz="2202" b="1">
                        <a:solidFill>
                          <a:srgbClr val="000000"/>
                        </a:solidFill>
                        <a:latin typeface="Times New Roman" pitchFamily="18" charset="0"/>
                        <a:cs typeface="Times New Roman" pitchFamily="18" charset="0"/>
                      </a:endParaRPr>
                    </a:p>
                    <a:p>
                      <a:pPr algn="l"/>
                      <a:r>
                        <a:rPr lang="en-US" altLang="zh-CN" sz="2202" b="1">
                          <a:solidFill>
                            <a:srgbClr val="000000"/>
                          </a:solidFill>
                          <a:latin typeface="Times New Roman" pitchFamily="18" charset="0"/>
                          <a:cs typeface="Times New Roman" pitchFamily="18" charset="0"/>
                        </a:rPr>
                        <a:t>&lt;cantidad&gt;h</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H</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h</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0</a:t>
                      </a:r>
                      <a:r>
                        <a:rPr lang="en-US" altLang="zh-CN" sz="2202" b="1" dirty="0">
                          <a:solidFill>
                            <a:srgbClr val="FF0000"/>
                          </a:solidFill>
                          <a:latin typeface="Times New Roman" pitchFamily="18" charset="0"/>
                          <a:cs typeface="Times New Roman" pitchFamily="18" charset="0"/>
                        </a:rPr>
                        <a:t>x</a:t>
                      </a:r>
                      <a:r>
                        <a:rPr lang="en-US" altLang="zh-CN" sz="2202" b="1" dirty="0">
                          <a:solidFill>
                            <a:srgbClr val="000000"/>
                          </a:solidFill>
                          <a:latin typeface="Times New Roman" pitchFamily="18" charset="0"/>
                          <a:cs typeface="Times New Roman" pitchFamily="18" charset="0"/>
                        </a:rPr>
                        <a:t>6D</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6D</a:t>
                      </a:r>
                      <a:r>
                        <a:rPr lang="en-US" altLang="zh-CN" sz="2202" b="1" dirty="0">
                          <a:solidFill>
                            <a:srgbClr val="FF0000"/>
                          </a:solidFill>
                          <a:latin typeface="Times New Roman" pitchFamily="18" charset="0"/>
                          <a:cs typeface="Times New Roman" pitchFamily="18" charset="0"/>
                        </a:rPr>
                        <a:t>H</a:t>
                      </a:r>
                      <a:endParaRPr lang="zh-CN" altLang="en-US" sz="2202" b="1" dirty="0">
                        <a:solidFill>
                          <a:srgbClr val="FF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6D</a:t>
                      </a:r>
                      <a:r>
                        <a:rPr lang="en-US" altLang="zh-CN" sz="2202" b="1" dirty="0">
                          <a:solidFill>
                            <a:srgbClr val="FF0000"/>
                          </a:solidFill>
                          <a:latin typeface="Times New Roman" pitchFamily="18" charset="0"/>
                          <a:cs typeface="Times New Roman" pitchFamily="18" charset="0"/>
                        </a:rPr>
                        <a:t>h</a:t>
                      </a:r>
                      <a:endParaRPr lang="zh-CN" altLang="en-US" sz="2202" b="1" dirty="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315212">
                <a:tc>
                  <a:txBody>
                    <a:bodyPr/>
                    <a:lstStyle/>
                    <a:p>
                      <a:pPr algn="l"/>
                      <a:r>
                        <a:rPr lang="en-US" altLang="zh-CN" sz="3084" b="1">
                          <a:solidFill>
                            <a:srgbClr val="FF0000"/>
                          </a:solidFill>
                          <a:latin typeface="Times New Roman" pitchFamily="18" charset="0"/>
                          <a:cs typeface="Times New Roman" pitchFamily="18" charset="0"/>
                        </a:rPr>
                        <a:t>Octal</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a:solidFill>
                            <a:srgbClr val="000000"/>
                          </a:solidFill>
                          <a:latin typeface="Times New Roman" pitchFamily="18" charset="0"/>
                          <a:cs typeface="Times New Roman" pitchFamily="18" charset="0"/>
                        </a:rPr>
                        <a:t>O’&lt;cantidad&gt;’</a:t>
                      </a:r>
                      <a:endParaRPr lang="zh-CN" altLang="en-US" sz="2202" b="1">
                        <a:solidFill>
                          <a:srgbClr val="000000"/>
                        </a:solidFill>
                        <a:latin typeface="Times New Roman" pitchFamily="18" charset="0"/>
                        <a:cs typeface="Times New Roman" pitchFamily="18" charset="0"/>
                      </a:endParaRPr>
                    </a:p>
                    <a:p>
                      <a:pPr algn="l"/>
                      <a:r>
                        <a:rPr lang="en-US" altLang="zh-CN" sz="2202" b="1">
                          <a:solidFill>
                            <a:srgbClr val="000000"/>
                          </a:solidFill>
                          <a:latin typeface="Times New Roman" pitchFamily="18" charset="0"/>
                          <a:cs typeface="Times New Roman" pitchFamily="18" charset="0"/>
                        </a:rPr>
                        <a:t>o’&lt;cantidad&gt;’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O</a:t>
                      </a:r>
                      <a:r>
                        <a:rPr lang="en-US" altLang="zh-CN" sz="2202" b="1" dirty="0">
                          <a:solidFill>
                            <a:srgbClr val="000000"/>
                          </a:solidFill>
                          <a:latin typeface="Times New Roman" pitchFamily="18" charset="0"/>
                          <a:cs typeface="Times New Roman" pitchFamily="18" charset="0"/>
                        </a:rPr>
                        <a:t>’155’</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o</a:t>
                      </a:r>
                      <a:r>
                        <a:rPr lang="en-US" altLang="zh-CN" sz="2202" b="1" dirty="0">
                          <a:solidFill>
                            <a:srgbClr val="000000"/>
                          </a:solidFill>
                          <a:latin typeface="Times New Roman" pitchFamily="18" charset="0"/>
                          <a:cs typeface="Times New Roman" pitchFamily="18" charset="0"/>
                        </a:rPr>
                        <a:t>’155’</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47008583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表格 4"/>
          <p:cNvGraphicFramePr>
            <a:graphicFrameLocks noGrp="1"/>
          </p:cNvGraphicFramePr>
          <p:nvPr/>
        </p:nvGraphicFramePr>
        <p:xfrm>
          <a:off x="897140" y="1671065"/>
          <a:ext cx="9279635" cy="5112638"/>
        </p:xfrm>
        <a:graphic>
          <a:graphicData uri="http://schemas.openxmlformats.org/drawingml/2006/table">
            <a:tbl>
              <a:tblPr/>
              <a:tblGrid>
                <a:gridCol w="3092576">
                  <a:extLst>
                    <a:ext uri="{9D8B030D-6E8A-4147-A177-3AD203B41FA5}">
                      <a16:colId xmlns:a16="http://schemas.microsoft.com/office/drawing/2014/main" val="20000"/>
                    </a:ext>
                  </a:extLst>
                </a:gridCol>
                <a:gridCol w="3094482">
                  <a:extLst>
                    <a:ext uri="{9D8B030D-6E8A-4147-A177-3AD203B41FA5}">
                      <a16:colId xmlns:a16="http://schemas.microsoft.com/office/drawing/2014/main" val="20001"/>
                    </a:ext>
                  </a:extLst>
                </a:gridCol>
                <a:gridCol w="3092577">
                  <a:extLst>
                    <a:ext uri="{9D8B030D-6E8A-4147-A177-3AD203B41FA5}">
                      <a16:colId xmlns:a16="http://schemas.microsoft.com/office/drawing/2014/main" val="20002"/>
                    </a:ext>
                  </a:extLst>
                </a:gridCol>
              </a:tblGrid>
              <a:tr h="683133">
                <a:tc>
                  <a:txBody>
                    <a:bodyPr/>
                    <a:lstStyle/>
                    <a:p>
                      <a:pPr algn="ctr"/>
                      <a:r>
                        <a:rPr lang="en-US" altLang="zh-CN" sz="3084" b="1" dirty="0">
                          <a:solidFill>
                            <a:srgbClr val="000000"/>
                          </a:solidFill>
                          <a:latin typeface="Times New Roman" pitchFamily="18" charset="0"/>
                          <a:cs typeface="Times New Roman" pitchFamily="18" charset="0"/>
                        </a:rPr>
                        <a:t>TIPO</a:t>
                      </a:r>
                      <a:endParaRPr lang="zh-CN" altLang="en-US" sz="3084" b="1" dirty="0">
                        <a:solidFill>
                          <a:srgbClr val="000000"/>
                        </a:solidFill>
                        <a:latin typeface="Times New Roman" pitchFamily="18" charset="0"/>
                        <a:cs typeface="Times New Roman" pitchFamily="18" charset="0"/>
                      </a:endParaRPr>
                    </a:p>
                  </a:txBody>
                  <a:tcPr>
                    <a:lnL w="0" cmpd="sng">
                      <a:solidFill>
                        <a:srgbClr val="000000"/>
                      </a:solidFill>
                      <a:prstDash val="solid"/>
                    </a:lnL>
                    <a:lnR w="1" cap="flat" cmpd="sng" algn="ctr">
                      <a:solidFill>
                        <a:srgbClr val="000000"/>
                      </a:solidFill>
                      <a:prstDash val="solid"/>
                      <a:round/>
                      <a:headEnd type="none" w="med" len="med"/>
                      <a:tailEnd type="none" w="med" len="med"/>
                    </a:lnR>
                    <a:lnT w="1" cmpd="sng">
                      <a:solidFill>
                        <a:srgbClr val="000000"/>
                      </a:solidFill>
                      <a:prstDash val="soli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SINTAXIS</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ctr"/>
                      <a:r>
                        <a:rPr lang="en-US" altLang="zh-CN" sz="3084" b="1" dirty="0">
                          <a:solidFill>
                            <a:srgbClr val="000000"/>
                          </a:solidFill>
                          <a:latin typeface="Times New Roman" pitchFamily="18" charset="0"/>
                          <a:cs typeface="Times New Roman" pitchFamily="18" charset="0"/>
                        </a:rPr>
                        <a:t>Ejemplo</a:t>
                      </a:r>
                      <a:endParaRPr lang="zh-CN" altLang="en-US" sz="3084" b="1" dirty="0">
                        <a:solidFill>
                          <a:srgbClr val="000000"/>
                        </a:solidFill>
                        <a:latin typeface="Times New Roman" pitchFamily="18" charset="0"/>
                        <a:cs typeface="Times New Roman" pitchFamily="18" charset="0"/>
                      </a:endParaRPr>
                    </a:p>
                  </a:txBody>
                  <a:tcPr>
                    <a:lnL w="1" cap="flat" cmpd="sng" algn="ctr">
                      <a:solidFill>
                        <a:srgbClr val="000000"/>
                      </a:solidFill>
                      <a:prstDash val="solid"/>
                      <a:round/>
                      <a:headEnd type="none" w="med" len="med"/>
                      <a:tailEnd type="none" w="med" len="med"/>
                    </a:lnL>
                    <a:lnR w="2" cmpd="sng">
                      <a:solidFill>
                        <a:srgbClr val="000000"/>
                      </a:solidFill>
                      <a:prstDash val="soli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421130">
                <a:tc>
                  <a:txBody>
                    <a:bodyPr/>
                    <a:lstStyle/>
                    <a:p>
                      <a:pPr algn="l"/>
                      <a:r>
                        <a:rPr lang="en-US" altLang="zh-CN" sz="3084" b="1" dirty="0">
                          <a:solidFill>
                            <a:srgbClr val="FF0000"/>
                          </a:solidFill>
                          <a:latin typeface="Times New Roman" pitchFamily="18" charset="0"/>
                          <a:cs typeface="Times New Roman" pitchFamily="18" charset="0"/>
                        </a:rPr>
                        <a:t>Binario</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B’&lt;cantidad&gt;’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b’&lt;cantidad&gt;’cantidad</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B</a:t>
                      </a:r>
                      <a:r>
                        <a:rPr lang="en-US" altLang="zh-CN" sz="2202" b="1" dirty="0">
                          <a:solidFill>
                            <a:srgbClr val="000000"/>
                          </a:solidFill>
                          <a:latin typeface="Times New Roman" pitchFamily="18" charset="0"/>
                          <a:cs typeface="Times New Roman" pitchFamily="18" charset="0"/>
                        </a:rPr>
                        <a:t>’01101101’</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b</a:t>
                      </a:r>
                      <a:r>
                        <a:rPr lang="en-US" altLang="zh-CN" sz="2202" b="1" dirty="0">
                          <a:solidFill>
                            <a:srgbClr val="000000"/>
                          </a:solidFill>
                          <a:latin typeface="Times New Roman" pitchFamily="18" charset="0"/>
                          <a:cs typeface="Times New Roman" pitchFamily="18" charset="0"/>
                        </a:rPr>
                        <a:t>’01101101’</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587245">
                <a:tc>
                  <a:txBody>
                    <a:bodyPr/>
                    <a:lstStyle/>
                    <a:p>
                      <a:pPr algn="l"/>
                      <a:r>
                        <a:rPr lang="en-US" altLang="zh-CN" sz="3084" b="1" dirty="0">
                          <a:solidFill>
                            <a:srgbClr val="FF0000"/>
                          </a:solidFill>
                          <a:latin typeface="Times New Roman" pitchFamily="18" charset="0"/>
                          <a:cs typeface="Times New Roman" pitchFamily="18" charset="0"/>
                        </a:rPr>
                        <a:t>ASCII</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A’&lt;carácter&gt;’&lt;carácter&gt;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a’&lt;carácter&gt;’</a:t>
                      </a:r>
                      <a:endParaRPr lang="zh-CN" altLang="en-US" sz="2202" b="1" dirty="0">
                        <a:solidFill>
                          <a:srgbClr val="000000"/>
                        </a:solidFill>
                        <a:latin typeface="Times New Roman" pitchFamily="18" charset="0"/>
                        <a:cs typeface="Times New Roman" pitchFamily="18" charset="0"/>
                      </a:endParaRPr>
                    </a:p>
                    <a:p>
                      <a:pPr algn="l"/>
                      <a:r>
                        <a:rPr lang="en-US" altLang="zh-CN" sz="2202" b="1" dirty="0">
                          <a:solidFill>
                            <a:srgbClr val="000000"/>
                          </a:solidFill>
                          <a:latin typeface="Times New Roman" pitchFamily="18" charset="0"/>
                          <a:cs typeface="Times New Roman" pitchFamily="18" charset="0"/>
                        </a:rPr>
                        <a:t>’&lt;carácter&gt;’&lt;carácter&gt;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a:solidFill>
                            <a:srgbClr val="FF0000"/>
                          </a:solidFill>
                          <a:latin typeface="Times New Roman" pitchFamily="18" charset="0"/>
                          <a:cs typeface="Times New Roman" pitchFamily="18" charset="0"/>
                        </a:rPr>
                        <a:t>A</a:t>
                      </a:r>
                      <a:r>
                        <a:rPr lang="en-US" altLang="zh-CN" sz="2202" b="1" dirty="0">
                          <a:solidFill>
                            <a:srgbClr val="000000"/>
                          </a:solidFill>
                          <a:latin typeface="Times New Roman" pitchFamily="18" charset="0"/>
                          <a:cs typeface="Times New Roman" pitchFamily="18" charset="0"/>
                        </a:rPr>
                        <a:t>’M’M</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a:t>
                      </a:r>
                      <a:r>
                        <a:rPr lang="en-US" altLang="zh-CN" sz="2202" b="1" dirty="0" err="1">
                          <a:solidFill>
                            <a:srgbClr val="FF0000"/>
                          </a:solidFill>
                          <a:latin typeface="Times New Roman" pitchFamily="18" charset="0"/>
                          <a:cs typeface="Times New Roman" pitchFamily="18" charset="0"/>
                        </a:rPr>
                        <a:t>a</a:t>
                      </a:r>
                      <a:r>
                        <a:rPr lang="en-US" altLang="zh-CN" sz="2202" b="1" dirty="0" err="1">
                          <a:solidFill>
                            <a:srgbClr val="000000"/>
                          </a:solidFill>
                          <a:latin typeface="Times New Roman" pitchFamily="18" charset="0"/>
                          <a:cs typeface="Times New Roman" pitchFamily="18" charset="0"/>
                        </a:rPr>
                        <a:t>’M</a:t>
                      </a:r>
                      <a:r>
                        <a:rPr lang="en-US" altLang="zh-CN" sz="2202" b="1" dirty="0">
                          <a:solidFill>
                            <a:srgbClr val="000000"/>
                          </a:solidFill>
                          <a:latin typeface="Times New Roman" pitchFamily="18" charset="0"/>
                          <a:cs typeface="Times New Roman" pitchFamily="18" charset="0"/>
                        </a:rPr>
                        <a:t>’</a:t>
                      </a:r>
                      <a:endParaRPr lang="zh-CN" altLang="en-US" sz="2202" b="1" dirty="0">
                        <a:solidFill>
                          <a:srgbClr val="000000"/>
                        </a:solidFill>
                        <a:latin typeface="Times New Roman" pitchFamily="18" charset="0"/>
                        <a:cs typeface="Times New Roman" pitchFamily="18" charset="0"/>
                      </a:endParaRPr>
                    </a:p>
                    <a:p>
                      <a:pPr algn="l"/>
                      <a:r>
                        <a:rPr lang="en-US" altLang="zh-CN" sz="2202" b="1" dirty="0" err="1">
                          <a:solidFill>
                            <a:srgbClr val="000000"/>
                          </a:solidFill>
                          <a:latin typeface="Times New Roman" pitchFamily="18" charset="0"/>
                          <a:cs typeface="Times New Roman" pitchFamily="18" charset="0"/>
                        </a:rPr>
                        <a:t>movlw</a:t>
                      </a:r>
                      <a:r>
                        <a:rPr lang="en-US" altLang="zh-CN" sz="2202" b="1" dirty="0">
                          <a:solidFill>
                            <a:srgbClr val="000000"/>
                          </a:solidFill>
                          <a:latin typeface="Times New Roman" pitchFamily="18" charset="0"/>
                          <a:cs typeface="Times New Roman" pitchFamily="18" charset="0"/>
                        </a:rPr>
                        <a:t> ‘M’</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1"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421130">
                <a:tc>
                  <a:txBody>
                    <a:bodyPr/>
                    <a:lstStyle/>
                    <a:p>
                      <a:pPr algn="l"/>
                      <a:r>
                        <a:rPr lang="en-US" altLang="zh-CN" sz="3084" b="1" dirty="0">
                          <a:solidFill>
                            <a:srgbClr val="FF0000"/>
                          </a:solidFill>
                          <a:latin typeface="Times New Roman" pitchFamily="18" charset="0"/>
                          <a:cs typeface="Times New Roman" pitchFamily="18" charset="0"/>
                        </a:rPr>
                        <a:t>String</a:t>
                      </a:r>
                      <a:endParaRPr lang="zh-CN" altLang="en-US" sz="3084" b="1" dirty="0">
                        <a:solidFill>
                          <a:srgbClr val="FF0000"/>
                        </a:solidFill>
                        <a:latin typeface="Times New Roman" pitchFamily="18" charset="0"/>
                        <a:cs typeface="Times New Roman" pitchFamily="18" charset="0"/>
                      </a:endParaRPr>
                    </a:p>
                  </a:txBody>
                  <a:tcPr anchor="ctr">
                    <a:lnL w="0"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mpd="sng">
                      <a:solidFill>
                        <a:srgbClr val="000000"/>
                      </a:solidFill>
                      <a:prstDash val="soli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“&lt;string&gt;”</a:t>
                      </a:r>
                      <a:endParaRPr lang="zh-CN" altLang="en-US" sz="2202" b="1" dirty="0">
                        <a:solidFill>
                          <a:srgbClr val="00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1"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tc>
                  <a:txBody>
                    <a:bodyPr/>
                    <a:lstStyle/>
                    <a:p>
                      <a:pPr algn="l"/>
                      <a:r>
                        <a:rPr lang="en-US" altLang="zh-CN" sz="2202" b="1" dirty="0">
                          <a:solidFill>
                            <a:srgbClr val="000000"/>
                          </a:solidFill>
                          <a:latin typeface="Times New Roman" pitchFamily="18" charset="0"/>
                          <a:cs typeface="Times New Roman" pitchFamily="18" charset="0"/>
                        </a:rPr>
                        <a:t>DT </a:t>
                      </a:r>
                      <a:r>
                        <a:rPr lang="en-US" altLang="zh-CN" sz="2202" b="1" dirty="0">
                          <a:solidFill>
                            <a:srgbClr val="FF0000"/>
                          </a:solidFill>
                          <a:latin typeface="Times New Roman" pitchFamily="18" charset="0"/>
                          <a:cs typeface="Times New Roman" pitchFamily="18" charset="0"/>
                        </a:rPr>
                        <a:t>“</a:t>
                      </a:r>
                      <a:r>
                        <a:rPr lang="en-US" altLang="zh-CN" sz="2202" b="1" dirty="0">
                          <a:solidFill>
                            <a:srgbClr val="000000"/>
                          </a:solidFill>
                          <a:latin typeface="Times New Roman" pitchFamily="18" charset="0"/>
                          <a:cs typeface="Times New Roman" pitchFamily="18" charset="0"/>
                        </a:rPr>
                        <a:t>EstudiaDPE</a:t>
                      </a:r>
                      <a:r>
                        <a:rPr lang="en-US" altLang="zh-CN" sz="2202" b="1" dirty="0">
                          <a:solidFill>
                            <a:srgbClr val="FF0000"/>
                          </a:solidFill>
                          <a:latin typeface="Times New Roman" pitchFamily="18" charset="0"/>
                          <a:cs typeface="Times New Roman" pitchFamily="18" charset="0"/>
                        </a:rPr>
                        <a:t>”</a:t>
                      </a:r>
                      <a:endParaRPr lang="zh-CN" altLang="en-US" sz="2202" b="1" dirty="0">
                        <a:solidFill>
                          <a:srgbClr val="FF0000"/>
                        </a:solidFill>
                        <a:latin typeface="Times New Roman" pitchFamily="18" charset="0"/>
                        <a:cs typeface="Times New Roman" pitchFamily="18" charset="0"/>
                      </a:endParaRPr>
                    </a:p>
                  </a:txBody>
                  <a:tcPr anchor="ctr">
                    <a:lnL w="1" cap="flat" cmpd="sng" algn="ctr">
                      <a:solidFill>
                        <a:srgbClr val="000000"/>
                      </a:solidFill>
                      <a:prstDash val="solid"/>
                      <a:round/>
                      <a:headEnd type="none" w="med" len="med"/>
                      <a:tailEnd type="none" w="med" len="med"/>
                    </a:lnL>
                    <a:lnR w="2" cap="flat" cmpd="sng" algn="ctr">
                      <a:solidFill>
                        <a:srgbClr val="000000"/>
                      </a:solidFill>
                      <a:prstDash val="solid"/>
                      <a:round/>
                      <a:headEnd type="none" w="med" len="med"/>
                      <a:tailEnd type="none" w="med" len="med"/>
                    </a:lnR>
                    <a:lnT w="1" cap="flat" cmpd="sng" algn="ctr">
                      <a:solidFill>
                        <a:srgbClr val="000000"/>
                      </a:solidFill>
                      <a:prstDash val="solid"/>
                      <a:round/>
                      <a:headEnd type="none" w="med" len="med"/>
                      <a:tailEnd type="none" w="med" len="med"/>
                    </a:lnT>
                    <a:lnB w="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 name="TextBox 1"/>
          <p:cNvSpPr txBox="1"/>
          <p:nvPr/>
        </p:nvSpPr>
        <p:spPr>
          <a:xfrm>
            <a:off x="2997200" y="355600"/>
            <a:ext cx="7233519" cy="398892"/>
          </a:xfrm>
          <a:prstGeom prst="rect">
            <a:avLst/>
          </a:prstGeom>
          <a:noFill/>
        </p:spPr>
        <p:txBody>
          <a:bodyPr wrap="none" lIns="0" tIns="0" rIns="0" rtlCol="0">
            <a:spAutoFit/>
          </a:bodyPr>
          <a:lstStyle/>
          <a:p>
            <a:pPr>
              <a:lnSpc>
                <a:spcPts val="24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Constante Numéricas y Alfanuméricas</a:t>
            </a:r>
          </a:p>
        </p:txBody>
      </p:sp>
    </p:spTree>
    <p:extLst>
      <p:ext uri="{BB962C8B-B14F-4D97-AF65-F5344CB8AC3E}">
        <p14:creationId xmlns:p14="http://schemas.microsoft.com/office/powerpoint/2010/main" val="59846120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3"/>
          <p:cNvSpPr/>
          <p:nvPr/>
        </p:nvSpPr>
        <p:spPr>
          <a:xfrm>
            <a:off x="309257" y="6711695"/>
            <a:ext cx="10075164" cy="845058"/>
          </a:xfrm>
          <a:custGeom>
            <a:avLst/>
            <a:gdLst>
              <a:gd name="connsiteX0" fmla="*/ 0 w 10075164"/>
              <a:gd name="connsiteY0" fmla="*/ 0 h 845058"/>
              <a:gd name="connsiteX1" fmla="*/ 0 w 10075164"/>
              <a:gd name="connsiteY1" fmla="*/ 845058 h 845058"/>
              <a:gd name="connsiteX2" fmla="*/ 10075164 w 10075164"/>
              <a:gd name="connsiteY2" fmla="*/ 845058 h 845058"/>
              <a:gd name="connsiteX3" fmla="*/ 10075164 w 10075164"/>
              <a:gd name="connsiteY3" fmla="*/ 0 h 845058"/>
              <a:gd name="connsiteX4" fmla="*/ 0 w 10075164"/>
              <a:gd name="connsiteY4" fmla="*/ 0 h 845058"/>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45058">
                <a:moveTo>
                  <a:pt x="0" y="0"/>
                </a:moveTo>
                <a:lnTo>
                  <a:pt x="0" y="845058"/>
                </a:lnTo>
                <a:lnTo>
                  <a:pt x="10075164" y="845058"/>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508000"/>
            <a:ext cx="9194800" cy="6471002"/>
          </a:xfrm>
          <a:prstGeom prst="rect">
            <a:avLst/>
          </a:prstGeom>
          <a:noFill/>
        </p:spPr>
        <p:txBody>
          <a:bodyPr wrap="square" lIns="0" tIns="0" rIns="0" rtlCol="0">
            <a:spAutoFit/>
          </a:bodyPr>
          <a:lstStyle/>
          <a:p>
            <a:pPr>
              <a:lnSpc>
                <a:spcPts val="3200"/>
              </a:lnSpc>
              <a:tabLst>
                <a:tab pos="21463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1000"/>
              </a:lnSpc>
            </a:pPr>
            <a:endParaRPr lang="en-US" altLang="zh-CN" dirty="0"/>
          </a:p>
          <a:p>
            <a:pPr>
              <a:lnSpc>
                <a:spcPts val="2900"/>
              </a:lnSpc>
              <a:tabLst>
                <a:tab pos="2146300" algn="l"/>
              </a:tabLst>
            </a:pPr>
            <a:r>
              <a:rPr lang="en-US" altLang="zh-CN" sz="3200" b="1" dirty="0">
                <a:solidFill>
                  <a:srgbClr val="000000"/>
                </a:solidFill>
                <a:latin typeface="Times New Roman" pitchFamily="18" charset="0"/>
                <a:cs typeface="Times New Roman" pitchFamily="18" charset="0"/>
              </a:rPr>
              <a:t>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un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juego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reducido</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33</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instrucciones</a:t>
            </a:r>
            <a:r>
              <a:rPr lang="en-US" altLang="zh-CN" sz="3200" b="1" dirty="0">
                <a:solidFill>
                  <a:srgbClr val="000000"/>
                </a:solidFill>
                <a:latin typeface="Times New Roman" pitchFamily="18" charset="0"/>
                <a:cs typeface="Times New Roman" pitchFamily="18" charset="0"/>
              </a:rPr>
              <a:t> simples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y</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rápidas</a:t>
            </a:r>
            <a:endParaRPr lang="en-US" altLang="zh-CN" sz="3200" b="1" dirty="0">
              <a:solidFill>
                <a:srgbClr val="000000"/>
              </a:solidFill>
              <a:latin typeface="Times New Roman" pitchFamily="18" charset="0"/>
              <a:cs typeface="Times New Roman" pitchFamily="18" charset="0"/>
            </a:endParaRPr>
          </a:p>
          <a:p>
            <a:pPr>
              <a:lnSpc>
                <a:spcPts val="29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1000"/>
              </a:lnSpc>
            </a:pPr>
            <a:endParaRPr lang="en-US" altLang="zh-CN" sz="3200" dirty="0"/>
          </a:p>
          <a:p>
            <a:pPr>
              <a:lnSpc>
                <a:spcPts val="3400"/>
              </a:lnSpc>
              <a:tabLst>
                <a:tab pos="2146300" algn="l"/>
              </a:tabLst>
            </a:pP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mayoría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ejecutan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en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4</a:t>
            </a:r>
          </a:p>
          <a:p>
            <a:pPr>
              <a:lnSpc>
                <a:spcPts val="3700"/>
              </a:lnSpc>
              <a:tabLst>
                <a:tab pos="2146300" algn="l"/>
              </a:tabLst>
            </a:pPr>
            <a:r>
              <a:rPr lang="en-US" altLang="zh-CN" sz="3200" b="1" dirty="0">
                <a:solidFill>
                  <a:srgbClr val="000000"/>
                </a:solidFill>
                <a:latin typeface="Times New Roman" pitchFamily="18" charset="0"/>
                <a:cs typeface="Times New Roman" pitchFamily="18" charset="0"/>
              </a:rPr>
              <a:t>ciclos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reloj,</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menos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salto</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que</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requieren</a:t>
            </a:r>
            <a:r>
              <a:rPr lang="en-US" altLang="zh-CN" sz="3200" b="1" dirty="0">
                <a:solidFill>
                  <a:srgbClr val="000000"/>
                </a:solidFill>
                <a:latin typeface="Times New Roman" pitchFamily="18" charset="0"/>
                <a:cs typeface="Times New Roman" pitchFamily="18" charset="0"/>
              </a:rPr>
              <a:t> 8</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ciclos.</a:t>
            </a:r>
          </a:p>
          <a:p>
            <a:pPr>
              <a:lnSpc>
                <a:spcPts val="1000"/>
              </a:lnSpc>
            </a:pPr>
            <a:endParaRPr lang="en-US" altLang="zh-CN" sz="3200" dirty="0"/>
          </a:p>
          <a:p>
            <a:pPr>
              <a:lnSpc>
                <a:spcPts val="34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ortogonales.</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Casi</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todas</a:t>
            </a:r>
            <a:r>
              <a:rPr lang="en-US" altLang="zh-CN" sz="3200" b="1" dirty="0">
                <a:solidFill>
                  <a:srgbClr val="000000"/>
                </a:solidFill>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pueden</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usar</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cualquier</a:t>
            </a:r>
            <a:r>
              <a:rPr lang="en-US" altLang="zh-CN" sz="3200" b="1" dirty="0">
                <a:solidFill>
                  <a:srgbClr val="000000"/>
                </a:solidFill>
                <a:latin typeface="Times New Roman" pitchFamily="18" charset="0"/>
                <a:cs typeface="Times New Roman" pitchFamily="18" charset="0"/>
              </a:rPr>
              <a:t> operando.</a:t>
            </a:r>
          </a:p>
          <a:p>
            <a:pPr>
              <a:lnSpc>
                <a:spcPts val="1000"/>
              </a:lnSpc>
            </a:pPr>
            <a:endParaRPr lang="en-US" altLang="zh-CN" sz="3200" dirty="0"/>
          </a:p>
          <a:p>
            <a:pPr>
              <a:lnSpc>
                <a:spcPts val="3400"/>
              </a:lnSpc>
              <a:tabLst>
                <a:tab pos="2146300" algn="l"/>
              </a:tabLst>
            </a:pPr>
            <a:endParaRPr lang="en-US" altLang="zh-CN" sz="3200" b="1" dirty="0">
              <a:solidFill>
                <a:srgbClr val="00000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0000"/>
                </a:solidFill>
                <a:latin typeface="Times New Roman" pitchFamily="18" charset="0"/>
                <a:cs typeface="Times New Roman" pitchFamily="18" charset="0"/>
              </a:rPr>
              <a:t>Todas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instrucciones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tiene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la</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misma</a:t>
            </a:r>
            <a:r>
              <a:rPr lang="en-US" altLang="zh-CN" sz="3200" dirty="0">
                <a:latin typeface="Times New Roman" pitchFamily="18" charset="0"/>
                <a:cs typeface="Times New Roman" pitchFamily="18" charset="0"/>
              </a:rPr>
              <a:t> </a:t>
            </a:r>
            <a:r>
              <a:rPr lang="en-US" altLang="zh-CN" sz="3200" b="1" dirty="0" err="1">
                <a:solidFill>
                  <a:srgbClr val="000000"/>
                </a:solidFill>
                <a:latin typeface="Times New Roman" pitchFamily="18" charset="0"/>
                <a:cs typeface="Times New Roman" pitchFamily="18" charset="0"/>
              </a:rPr>
              <a:t>longitud</a:t>
            </a:r>
            <a:r>
              <a:rPr lang="en-US" altLang="zh-CN" sz="3200" b="1" dirty="0">
                <a:solidFill>
                  <a:srgbClr val="000000"/>
                </a:solidFill>
                <a:latin typeface="Times New Roman" pitchFamily="18" charset="0"/>
                <a:cs typeface="Times New Roman" pitchFamily="18" charset="0"/>
              </a:rPr>
              <a:t>, 12</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bits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y</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todos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los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datos</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son</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de</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8</a:t>
            </a:r>
            <a:r>
              <a:rPr lang="en-US" altLang="zh-CN" sz="3200" dirty="0">
                <a:latin typeface="Times New Roman" pitchFamily="18" charset="0"/>
                <a:cs typeface="Times New Roman" pitchFamily="18" charset="0"/>
              </a:rPr>
              <a:t> </a:t>
            </a:r>
            <a:r>
              <a:rPr lang="en-US" altLang="zh-CN" sz="3200" b="1" dirty="0">
                <a:solidFill>
                  <a:srgbClr val="000000"/>
                </a:solidFill>
                <a:latin typeface="Times New Roman" pitchFamily="18" charset="0"/>
                <a:cs typeface="Times New Roman" pitchFamily="18" charset="0"/>
              </a:rPr>
              <a:t>bits.</a:t>
            </a:r>
          </a:p>
        </p:txBody>
      </p:sp>
    </p:spTree>
    <p:extLst>
      <p:ext uri="{BB962C8B-B14F-4D97-AF65-F5344CB8AC3E}">
        <p14:creationId xmlns:p14="http://schemas.microsoft.com/office/powerpoint/2010/main" val="29298102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3"/>
          <p:cNvSpPr/>
          <p:nvPr/>
        </p:nvSpPr>
        <p:spPr>
          <a:xfrm>
            <a:off x="309257" y="0"/>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Freeform 3"/>
          <p:cNvSpPr/>
          <p:nvPr/>
        </p:nvSpPr>
        <p:spPr>
          <a:xfrm>
            <a:off x="309257" y="0"/>
            <a:ext cx="1779270" cy="838961"/>
          </a:xfrm>
          <a:custGeom>
            <a:avLst/>
            <a:gdLst>
              <a:gd name="connsiteX0" fmla="*/ 0 w 1779270"/>
              <a:gd name="connsiteY0" fmla="*/ 0 h 838961"/>
              <a:gd name="connsiteX1" fmla="*/ 0 w 1779270"/>
              <a:gd name="connsiteY1" fmla="*/ 838961 h 838961"/>
              <a:gd name="connsiteX2" fmla="*/ 1779270 w 1779270"/>
              <a:gd name="connsiteY2" fmla="*/ 838961 h 838961"/>
              <a:gd name="connsiteX3" fmla="*/ 1779270 w 1779270"/>
              <a:gd name="connsiteY3" fmla="*/ 0 h 838961"/>
              <a:gd name="connsiteX4" fmla="*/ 0 w 1779270"/>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838961">
                <a:moveTo>
                  <a:pt x="0" y="0"/>
                </a:moveTo>
                <a:lnTo>
                  <a:pt x="0" y="838961"/>
                </a:lnTo>
                <a:lnTo>
                  <a:pt x="1779270" y="838961"/>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3"/>
          <p:cNvSpPr/>
          <p:nvPr/>
        </p:nvSpPr>
        <p:spPr>
          <a:xfrm>
            <a:off x="309257" y="838961"/>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Freeform 3"/>
          <p:cNvSpPr/>
          <p:nvPr/>
        </p:nvSpPr>
        <p:spPr>
          <a:xfrm>
            <a:off x="309257" y="838961"/>
            <a:ext cx="1779270" cy="54863"/>
          </a:xfrm>
          <a:custGeom>
            <a:avLst/>
            <a:gdLst>
              <a:gd name="connsiteX0" fmla="*/ 0 w 1779270"/>
              <a:gd name="connsiteY0" fmla="*/ 0 h 54863"/>
              <a:gd name="connsiteX1" fmla="*/ 0 w 1779270"/>
              <a:gd name="connsiteY1" fmla="*/ 54863 h 54863"/>
              <a:gd name="connsiteX2" fmla="*/ 1779270 w 1779270"/>
              <a:gd name="connsiteY2" fmla="*/ 54863 h 54863"/>
              <a:gd name="connsiteX3" fmla="*/ 1779270 w 1779270"/>
              <a:gd name="connsiteY3" fmla="*/ 0 h 54863"/>
              <a:gd name="connsiteX4" fmla="*/ 0 w 1779270"/>
              <a:gd name="connsiteY4" fmla="*/ 0 h 54863"/>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779270" h="54863">
                <a:moveTo>
                  <a:pt x="0" y="0"/>
                </a:moveTo>
                <a:lnTo>
                  <a:pt x="0" y="54863"/>
                </a:lnTo>
                <a:lnTo>
                  <a:pt x="1779270" y="54863"/>
                </a:lnTo>
                <a:lnTo>
                  <a:pt x="1779270"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3"/>
          <p:cNvSpPr/>
          <p:nvPr/>
        </p:nvSpPr>
        <p:spPr>
          <a:xfrm>
            <a:off x="309257" y="1677923"/>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
          <p:cNvSpPr/>
          <p:nvPr/>
        </p:nvSpPr>
        <p:spPr>
          <a:xfrm>
            <a:off x="309257" y="2516885"/>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3"/>
          <p:cNvSpPr/>
          <p:nvPr/>
        </p:nvSpPr>
        <p:spPr>
          <a:xfrm>
            <a:off x="309257" y="3355847"/>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Freeform 3"/>
          <p:cNvSpPr/>
          <p:nvPr/>
        </p:nvSpPr>
        <p:spPr>
          <a:xfrm>
            <a:off x="309257" y="4194809"/>
            <a:ext cx="10075164" cy="838961"/>
          </a:xfrm>
          <a:custGeom>
            <a:avLst/>
            <a:gdLst>
              <a:gd name="connsiteX0" fmla="*/ 0 w 10075164"/>
              <a:gd name="connsiteY0" fmla="*/ 0 h 838961"/>
              <a:gd name="connsiteX1" fmla="*/ 0 w 10075164"/>
              <a:gd name="connsiteY1" fmla="*/ 838961 h 838961"/>
              <a:gd name="connsiteX2" fmla="*/ 10075164 w 10075164"/>
              <a:gd name="connsiteY2" fmla="*/ 838961 h 838961"/>
              <a:gd name="connsiteX3" fmla="*/ 10075164 w 10075164"/>
              <a:gd name="connsiteY3" fmla="*/ 0 h 838961"/>
              <a:gd name="connsiteX4" fmla="*/ 0 w 10075164"/>
              <a:gd name="connsiteY4" fmla="*/ 0 h 838961"/>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1">
                <a:moveTo>
                  <a:pt x="0" y="0"/>
                </a:moveTo>
                <a:lnTo>
                  <a:pt x="0" y="838961"/>
                </a:lnTo>
                <a:lnTo>
                  <a:pt x="10075164" y="838961"/>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Freeform 3"/>
          <p:cNvSpPr/>
          <p:nvPr/>
        </p:nvSpPr>
        <p:spPr>
          <a:xfrm>
            <a:off x="309257" y="5033771"/>
            <a:ext cx="10075164" cy="838962"/>
          </a:xfrm>
          <a:custGeom>
            <a:avLst/>
            <a:gdLst>
              <a:gd name="connsiteX0" fmla="*/ 0 w 10075164"/>
              <a:gd name="connsiteY0" fmla="*/ 0 h 838962"/>
              <a:gd name="connsiteX1" fmla="*/ 0 w 10075164"/>
              <a:gd name="connsiteY1" fmla="*/ 838962 h 838962"/>
              <a:gd name="connsiteX2" fmla="*/ 10075164 w 10075164"/>
              <a:gd name="connsiteY2" fmla="*/ 838962 h 838962"/>
              <a:gd name="connsiteX3" fmla="*/ 10075164 w 10075164"/>
              <a:gd name="connsiteY3" fmla="*/ 0 h 838962"/>
              <a:gd name="connsiteX4" fmla="*/ 0 w 10075164"/>
              <a:gd name="connsiteY4" fmla="*/ 0 h 838962"/>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38962">
                <a:moveTo>
                  <a:pt x="0" y="0"/>
                </a:moveTo>
                <a:lnTo>
                  <a:pt x="0" y="838962"/>
                </a:lnTo>
                <a:lnTo>
                  <a:pt x="10075164" y="838962"/>
                </a:lnTo>
                <a:lnTo>
                  <a:pt x="10075164" y="0"/>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3"/>
          <p:cNvSpPr/>
          <p:nvPr/>
        </p:nvSpPr>
        <p:spPr>
          <a:xfrm>
            <a:off x="309257" y="5885434"/>
            <a:ext cx="10075164" cy="825500"/>
          </a:xfrm>
          <a:custGeom>
            <a:avLst/>
            <a:gdLst>
              <a:gd name="connsiteX0" fmla="*/ 0 w 10075164"/>
              <a:gd name="connsiteY0" fmla="*/ 0 h 825500"/>
              <a:gd name="connsiteX1" fmla="*/ 10075164 w 10075164"/>
              <a:gd name="connsiteY1" fmla="*/ 0 h 825500"/>
              <a:gd name="connsiteX2" fmla="*/ 10075164 w 10075164"/>
              <a:gd name="connsiteY2" fmla="*/ 825499 h 825500"/>
              <a:gd name="connsiteX3" fmla="*/ 0 w 10075164"/>
              <a:gd name="connsiteY3" fmla="*/ 825499 h 825500"/>
              <a:gd name="connsiteX4" fmla="*/ 0 w 10075164"/>
              <a:gd name="connsiteY4" fmla="*/ 0 h 825500"/>
            </a:gdLst>
            <a:ahLst/>
            <a:cxnLst>
              <a:cxn ang="0">
                <a:pos x="connsiteX0" y="connsiteY0"/>
              </a:cxn>
              <a:cxn ang="1">
                <a:pos x="connsiteX1" y="connsiteY1"/>
              </a:cxn>
              <a:cxn ang="2">
                <a:pos x="connsiteX2" y="connsiteY2"/>
              </a:cxn>
              <a:cxn ang="3">
                <a:pos x="connsiteX3" y="connsiteY3"/>
              </a:cxn>
              <a:cxn ang="4">
                <a:pos x="connsiteX4" y="connsiteY4"/>
              </a:cxn>
            </a:cxnLst>
            <a:rect l="l" t="t" r="r" b="b"/>
            <a:pathLst>
              <a:path w="10075164" h="825500">
                <a:moveTo>
                  <a:pt x="0" y="0"/>
                </a:moveTo>
                <a:lnTo>
                  <a:pt x="10075164" y="0"/>
                </a:lnTo>
                <a:lnTo>
                  <a:pt x="10075164" y="825499"/>
                </a:lnTo>
                <a:lnTo>
                  <a:pt x="0" y="825499"/>
                </a:lnTo>
                <a:lnTo>
                  <a:pt x="0" y="0"/>
                </a:lnTo>
              </a:path>
            </a:pathLst>
          </a:custGeom>
          <a:solidFill>
            <a:srgbClr val="FFFFFF">
              <a:alpha val="100000"/>
            </a:srgbClr>
          </a:solidFill>
          <a:ln w="12700">
            <a:solidFill>
              <a:srgbClr val="000000">
                <a:alpha val="0"/>
              </a:srgb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952500" y="427037"/>
            <a:ext cx="9042400" cy="6381234"/>
          </a:xfrm>
          <a:prstGeom prst="rect">
            <a:avLst/>
          </a:prstGeom>
          <a:noFill/>
        </p:spPr>
        <p:txBody>
          <a:bodyPr wrap="square" lIns="0" tIns="0" rIns="0" rtlCol="0">
            <a:spAutoFit/>
          </a:bodyPr>
          <a:lstStyle/>
          <a:p>
            <a:pPr>
              <a:lnSpc>
                <a:spcPts val="3200"/>
              </a:lnSpc>
              <a:tabLst>
                <a:tab pos="2146300" algn="l"/>
              </a:tabLst>
            </a:pPr>
            <a:r>
              <a:rPr lang="en-US" altLang="zh-CN" dirty="0"/>
              <a:t>	</a:t>
            </a: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Repertorio de Instrucciones</a:t>
            </a:r>
          </a:p>
          <a:p>
            <a:pPr>
              <a:lnSpc>
                <a:spcPts val="1000"/>
              </a:lnSpc>
            </a:pPr>
            <a:endParaRPr lang="en-US" altLang="zh-CN" dirty="0"/>
          </a:p>
          <a:p>
            <a:pPr>
              <a:lnSpc>
                <a:spcPts val="1000"/>
              </a:lnSpc>
            </a:pPr>
            <a:endParaRPr lang="en-US" altLang="zh-CN" dirty="0"/>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Carga</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Aritméticas</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Lógicas</a:t>
            </a:r>
            <a:r>
              <a:rPr lang="en-US" altLang="zh-CN" sz="3200" b="1" dirty="0">
                <a:solidFill>
                  <a:srgbClr val="002060"/>
                </a:solidFill>
                <a:latin typeface="Times New Roman" pitchFamily="18" charset="0"/>
                <a:cs typeface="Times New Roman" pitchFamily="18" charset="0"/>
              </a:rPr>
              <a:t> </a:t>
            </a: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bit</a:t>
            </a: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salto</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para</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manejo</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de</a:t>
            </a:r>
            <a:r>
              <a:rPr lang="en-US" altLang="zh-CN" sz="3200" dirty="0">
                <a:solidFill>
                  <a:srgbClr val="002060"/>
                </a:solidFill>
                <a:latin typeface="Times New Roman" pitchFamily="18" charset="0"/>
                <a:cs typeface="Times New Roman" pitchFamily="18" charset="0"/>
              </a:rPr>
              <a:t> </a:t>
            </a:r>
            <a:r>
              <a:rPr lang="en-US" altLang="zh-CN" sz="3200" b="1" dirty="0" err="1">
                <a:solidFill>
                  <a:srgbClr val="002060"/>
                </a:solidFill>
                <a:latin typeface="Times New Roman" pitchFamily="18" charset="0"/>
                <a:cs typeface="Times New Roman" pitchFamily="18" charset="0"/>
              </a:rPr>
              <a:t>subrutinas</a:t>
            </a: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endParaRPr lang="en-US" altLang="zh-CN" sz="3200" b="1" dirty="0">
              <a:solidFill>
                <a:srgbClr val="002060"/>
              </a:solidFill>
              <a:latin typeface="Times New Roman" pitchFamily="18" charset="0"/>
              <a:cs typeface="Times New Roman" pitchFamily="18" charset="0"/>
            </a:endParaRPr>
          </a:p>
          <a:p>
            <a:pPr>
              <a:lnSpc>
                <a:spcPts val="3400"/>
              </a:lnSpc>
              <a:tabLst>
                <a:tab pos="2146300" algn="l"/>
              </a:tabLst>
            </a:pPr>
            <a:r>
              <a:rPr lang="en-US" altLang="zh-CN" sz="3200" b="1" dirty="0" err="1">
                <a:solidFill>
                  <a:srgbClr val="002060"/>
                </a:solidFill>
                <a:latin typeface="Times New Roman" pitchFamily="18" charset="0"/>
                <a:cs typeface="Times New Roman" pitchFamily="18" charset="0"/>
              </a:rPr>
              <a:t>Instrucciones</a:t>
            </a:r>
            <a:r>
              <a:rPr lang="en-US" altLang="zh-CN" sz="3200" dirty="0">
                <a:solidFill>
                  <a:srgbClr val="002060"/>
                </a:solidFill>
                <a:latin typeface="Times New Roman" pitchFamily="18" charset="0"/>
                <a:cs typeface="Times New Roman" pitchFamily="18" charset="0"/>
              </a:rPr>
              <a:t> </a:t>
            </a:r>
            <a:r>
              <a:rPr lang="en-US" altLang="zh-CN" sz="3200" b="1" dirty="0">
                <a:solidFill>
                  <a:srgbClr val="002060"/>
                </a:solidFill>
                <a:latin typeface="Times New Roman" pitchFamily="18" charset="0"/>
                <a:cs typeface="Times New Roman" pitchFamily="18" charset="0"/>
              </a:rPr>
              <a:t>especiales</a:t>
            </a:r>
          </a:p>
        </p:txBody>
      </p:sp>
    </p:spTree>
    <p:extLst>
      <p:ext uri="{BB962C8B-B14F-4D97-AF65-F5344CB8AC3E}">
        <p14:creationId xmlns:p14="http://schemas.microsoft.com/office/powerpoint/2010/main" val="109674822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546100" y="330200"/>
            <a:ext cx="9601200" cy="716991"/>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288268336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622300" y="342900"/>
            <a:ext cx="9448799"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
        <p:nvSpPr>
          <p:cNvPr id="3" name="TextBox 1"/>
          <p:cNvSpPr txBox="1"/>
          <p:nvPr/>
        </p:nvSpPr>
        <p:spPr>
          <a:xfrm>
            <a:off x="81026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0</a:t>
            </a:r>
          </a:p>
        </p:txBody>
      </p:sp>
      <p:sp>
        <p:nvSpPr>
          <p:cNvPr id="4" name="TextBox 1"/>
          <p:cNvSpPr txBox="1"/>
          <p:nvPr/>
        </p:nvSpPr>
        <p:spPr>
          <a:xfrm>
            <a:off x="50419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7</a:t>
            </a:r>
          </a:p>
        </p:txBody>
      </p:sp>
      <p:sp>
        <p:nvSpPr>
          <p:cNvPr id="5" name="TextBox 1"/>
          <p:cNvSpPr txBox="1"/>
          <p:nvPr/>
        </p:nvSpPr>
        <p:spPr>
          <a:xfrm>
            <a:off x="54737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6</a:t>
            </a:r>
          </a:p>
        </p:txBody>
      </p:sp>
      <p:sp>
        <p:nvSpPr>
          <p:cNvPr id="6" name="TextBox 1"/>
          <p:cNvSpPr txBox="1"/>
          <p:nvPr/>
        </p:nvSpPr>
        <p:spPr>
          <a:xfrm>
            <a:off x="4165600" y="3187700"/>
            <a:ext cx="1016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9</a:t>
            </a:r>
          </a:p>
        </p:txBody>
      </p:sp>
      <p:sp>
        <p:nvSpPr>
          <p:cNvPr id="7" name="TextBox 1"/>
          <p:cNvSpPr txBox="1"/>
          <p:nvPr/>
        </p:nvSpPr>
        <p:spPr>
          <a:xfrm>
            <a:off x="2349500" y="3187700"/>
            <a:ext cx="215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13</a:t>
            </a:r>
          </a:p>
        </p:txBody>
      </p:sp>
      <p:sp>
        <p:nvSpPr>
          <p:cNvPr id="8" name="TextBox 1"/>
          <p:cNvSpPr txBox="1"/>
          <p:nvPr/>
        </p:nvSpPr>
        <p:spPr>
          <a:xfrm>
            <a:off x="3670300" y="3187700"/>
            <a:ext cx="215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10</a:t>
            </a:r>
          </a:p>
        </p:txBody>
      </p:sp>
      <p:sp>
        <p:nvSpPr>
          <p:cNvPr id="9" name="TextBox 1"/>
          <p:cNvSpPr txBox="1"/>
          <p:nvPr/>
        </p:nvSpPr>
        <p:spPr>
          <a:xfrm>
            <a:off x="3873500" y="4076700"/>
            <a:ext cx="3962400" cy="698500"/>
          </a:xfrm>
          <a:prstGeom prst="rect">
            <a:avLst/>
          </a:prstGeom>
          <a:noFill/>
        </p:spPr>
        <p:txBody>
          <a:bodyPr wrap="none" lIns="0" tIns="0" rIns="0" rtlCol="0">
            <a:spAutoFit/>
          </a:bodyPr>
          <a:lstStyle/>
          <a:p>
            <a:pPr>
              <a:lnSpc>
                <a:spcPts val="2100"/>
              </a:lnSpc>
              <a:tabLst>
                <a:tab pos="1968500" algn="l"/>
              </a:tabLst>
            </a:pPr>
            <a:r>
              <a:rPr lang="en-US" altLang="zh-CN" dirty="0"/>
              <a:t>	</a:t>
            </a:r>
            <a:r>
              <a:rPr lang="en-US" altLang="zh-CN" sz="1535" b="1" dirty="0">
                <a:solidFill>
                  <a:srgbClr val="000000"/>
                </a:solidFill>
                <a:latin typeface="Times New Roman" pitchFamily="18" charset="0"/>
                <a:cs typeface="Times New Roman" pitchFamily="18" charset="0"/>
              </a:rPr>
              <a:t>File</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Register</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2400"/>
              </a:lnSpc>
              <a:tabLst>
                <a:tab pos="1968500" algn="l"/>
              </a:tabLst>
            </a:pPr>
            <a:r>
              <a:rPr lang="en-US" altLang="zh-CN" sz="1535" b="1" dirty="0">
                <a:solidFill>
                  <a:srgbClr val="000000"/>
                </a:solidFill>
                <a:latin typeface="Times New Roman" pitchFamily="18" charset="0"/>
                <a:cs typeface="Times New Roman" pitchFamily="18" charset="0"/>
              </a:rPr>
              <a:t>Bit</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Position</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(0-7)</a:t>
            </a:r>
          </a:p>
        </p:txBody>
      </p:sp>
      <p:sp>
        <p:nvSpPr>
          <p:cNvPr id="10" name="TextBox 1"/>
          <p:cNvSpPr txBox="1"/>
          <p:nvPr/>
        </p:nvSpPr>
        <p:spPr>
          <a:xfrm>
            <a:off x="3517900" y="5041900"/>
            <a:ext cx="787400" cy="342900"/>
          </a:xfrm>
          <a:prstGeom prst="rect">
            <a:avLst/>
          </a:prstGeom>
          <a:noFill/>
        </p:spPr>
        <p:txBody>
          <a:bodyPr wrap="none" lIns="0" tIns="0" rIns="0" rtlCol="0">
            <a:spAutoFit/>
          </a:bodyPr>
          <a:lstStyle/>
          <a:p>
            <a:pPr>
              <a:lnSpc>
                <a:spcPts val="2700"/>
              </a:lnSpc>
              <a:tabLst/>
            </a:pPr>
            <a:r>
              <a:rPr lang="en-US" altLang="zh-CN" sz="3450" b="1" dirty="0">
                <a:solidFill>
                  <a:srgbClr val="000000"/>
                </a:solidFill>
                <a:latin typeface="Courier New" pitchFamily="18" charset="0"/>
                <a:cs typeface="Courier New" pitchFamily="18" charset="0"/>
              </a:rPr>
              <a:t>BSF</a:t>
            </a:r>
          </a:p>
        </p:txBody>
      </p:sp>
      <p:sp>
        <p:nvSpPr>
          <p:cNvPr id="11" name="TextBox 1"/>
          <p:cNvSpPr txBox="1"/>
          <p:nvPr/>
        </p:nvSpPr>
        <p:spPr>
          <a:xfrm>
            <a:off x="5270500" y="5041900"/>
            <a:ext cx="1828800" cy="342900"/>
          </a:xfrm>
          <a:prstGeom prst="rect">
            <a:avLst/>
          </a:prstGeom>
          <a:noFill/>
        </p:spPr>
        <p:txBody>
          <a:bodyPr wrap="none" lIns="0" tIns="0" rIns="0" rtlCol="0">
            <a:spAutoFit/>
          </a:bodyPr>
          <a:lstStyle/>
          <a:p>
            <a:pPr>
              <a:lnSpc>
                <a:spcPts val="2700"/>
              </a:lnSpc>
              <a:tabLst/>
            </a:pPr>
            <a:r>
              <a:rPr lang="en-US" altLang="zh-CN" sz="3450" b="1" dirty="0">
                <a:solidFill>
                  <a:srgbClr val="00009A"/>
                </a:solidFill>
                <a:latin typeface="Courier New" pitchFamily="18" charset="0"/>
                <a:cs typeface="Courier New" pitchFamily="18" charset="0"/>
              </a:rPr>
              <a:t>0x25</a:t>
            </a:r>
            <a:r>
              <a:rPr lang="en-US" altLang="zh-CN" sz="3450" b="1" dirty="0">
                <a:solidFill>
                  <a:srgbClr val="CC0000"/>
                </a:solidFill>
                <a:latin typeface="Courier New" pitchFamily="18" charset="0"/>
                <a:cs typeface="Courier New" pitchFamily="18" charset="0"/>
              </a:rPr>
              <a:t>,</a:t>
            </a:r>
            <a:r>
              <a:rPr lang="en-US" altLang="zh-CN" sz="3450" dirty="0">
                <a:latin typeface="Times New Roman" pitchFamily="18" charset="0"/>
                <a:cs typeface="Times New Roman" pitchFamily="18" charset="0"/>
              </a:rPr>
              <a:t>  </a:t>
            </a:r>
            <a:r>
              <a:rPr lang="en-US" altLang="zh-CN" sz="3450" b="1" dirty="0">
                <a:solidFill>
                  <a:srgbClr val="CC0000"/>
                </a:solidFill>
                <a:latin typeface="Courier New" pitchFamily="18" charset="0"/>
                <a:cs typeface="Courier New" pitchFamily="18" charset="0"/>
              </a:rPr>
              <a:t>3</a:t>
            </a:r>
          </a:p>
        </p:txBody>
      </p:sp>
      <p:sp>
        <p:nvSpPr>
          <p:cNvPr id="12" name="TextBox 1"/>
          <p:cNvSpPr txBox="1"/>
          <p:nvPr/>
        </p:nvSpPr>
        <p:spPr>
          <a:xfrm>
            <a:off x="6743700" y="6032500"/>
            <a:ext cx="10795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Bit</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Position</a:t>
            </a:r>
          </a:p>
        </p:txBody>
      </p:sp>
      <p:sp>
        <p:nvSpPr>
          <p:cNvPr id="13" name="TextBox 1"/>
          <p:cNvSpPr txBox="1"/>
          <p:nvPr/>
        </p:nvSpPr>
        <p:spPr>
          <a:xfrm>
            <a:off x="4089400" y="6032500"/>
            <a:ext cx="1993900" cy="266700"/>
          </a:xfrm>
          <a:prstGeom prst="rect">
            <a:avLst/>
          </a:prstGeom>
          <a:noFill/>
        </p:spPr>
        <p:txBody>
          <a:bodyPr wrap="none" lIns="0" tIns="0" rIns="0" rtlCol="0">
            <a:spAutoFit/>
          </a:bodyPr>
          <a:lstStyle/>
          <a:p>
            <a:pPr>
              <a:lnSpc>
                <a:spcPts val="2100"/>
              </a:lnSpc>
              <a:tabLst/>
            </a:pPr>
            <a:r>
              <a:rPr lang="en-US" altLang="zh-CN" sz="1535" b="1" dirty="0">
                <a:solidFill>
                  <a:srgbClr val="000000"/>
                </a:solidFill>
                <a:latin typeface="Times New Roman" pitchFamily="18" charset="0"/>
                <a:cs typeface="Times New Roman" pitchFamily="18" charset="0"/>
              </a:rPr>
              <a:t>File</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Register</a:t>
            </a:r>
            <a:r>
              <a:rPr lang="en-US" altLang="zh-CN" sz="1535" dirty="0">
                <a:latin typeface="Times New Roman" pitchFamily="18" charset="0"/>
                <a:cs typeface="Times New Roman" pitchFamily="18" charset="0"/>
              </a:rPr>
              <a:t> </a:t>
            </a:r>
            <a:r>
              <a:rPr lang="en-US" altLang="zh-CN" sz="1535" b="1" dirty="0">
                <a:solidFill>
                  <a:srgbClr val="000000"/>
                </a:solidFill>
                <a:latin typeface="Times New Roman" pitchFamily="18" charset="0"/>
                <a:cs typeface="Times New Roman" pitchFamily="18" charset="0"/>
              </a:rPr>
              <a:t>Address</a:t>
            </a:r>
          </a:p>
        </p:txBody>
      </p:sp>
    </p:spTree>
    <p:extLst>
      <p:ext uri="{BB962C8B-B14F-4D97-AF65-F5344CB8AC3E}">
        <p14:creationId xmlns:p14="http://schemas.microsoft.com/office/powerpoint/2010/main" val="10565726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srcRect/>
          <a:stretch>
            <a:fillRect/>
          </a:stretch>
        </p:blipFill>
        <p:spPr bwMode="auto">
          <a:xfrm>
            <a:off x="762000" y="342900"/>
            <a:ext cx="9169400" cy="6870700"/>
          </a:xfrm>
          <a:prstGeom prst="rect">
            <a:avLst/>
          </a:prstGeom>
          <a:noFill/>
        </p:spPr>
      </p:pic>
      <p:sp>
        <p:nvSpPr>
          <p:cNvPr id="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6830308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142" y="2070161"/>
            <a:ext cx="8877368" cy="1312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CuadroTexto"/>
          <p:cNvSpPr txBox="1"/>
          <p:nvPr/>
        </p:nvSpPr>
        <p:spPr>
          <a:xfrm>
            <a:off x="901891" y="1636180"/>
            <a:ext cx="538320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Basadas en Bytes (Registros)</a:t>
            </a:r>
          </a:p>
        </p:txBody>
      </p:sp>
      <p:pic>
        <p:nvPicPr>
          <p:cNvPr id="2970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1891" y="397058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CuadroTexto"/>
          <p:cNvSpPr txBox="1"/>
          <p:nvPr/>
        </p:nvSpPr>
        <p:spPr>
          <a:xfrm>
            <a:off x="901892" y="3541848"/>
            <a:ext cx="3855543"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bits</a:t>
            </a:r>
          </a:p>
        </p:txBody>
      </p:sp>
      <p:pic>
        <p:nvPicPr>
          <p:cNvPr id="29702"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142" y="5241025"/>
            <a:ext cx="887736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CuadroTexto"/>
          <p:cNvSpPr txBox="1"/>
          <p:nvPr/>
        </p:nvSpPr>
        <p:spPr>
          <a:xfrm>
            <a:off x="901891" y="4812293"/>
            <a:ext cx="4448654"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Operaciones Orientadas a Literales</a:t>
            </a:r>
          </a:p>
        </p:txBody>
      </p:sp>
      <p:pic>
        <p:nvPicPr>
          <p:cNvPr id="2970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1891" y="6509720"/>
            <a:ext cx="8889618" cy="6824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CuadroTexto"/>
          <p:cNvSpPr txBox="1"/>
          <p:nvPr/>
        </p:nvSpPr>
        <p:spPr>
          <a:xfrm>
            <a:off x="901892" y="6080989"/>
            <a:ext cx="4054315" cy="397673"/>
          </a:xfrm>
          <a:prstGeom prst="rect">
            <a:avLst/>
          </a:prstGeom>
          <a:solidFill>
            <a:schemeClr val="accent2">
              <a:lumMod val="20000"/>
              <a:lumOff val="80000"/>
            </a:schemeClr>
          </a:solidFill>
        </p:spPr>
        <p:txBody>
          <a:bodyPr wrap="none">
            <a:spAutoFit/>
          </a:bodyPr>
          <a:lstStyle/>
          <a:p>
            <a:pPr>
              <a:defRPr/>
            </a:pPr>
            <a:r>
              <a:rPr lang="es-AR" sz="1984" b="1" dirty="0">
                <a:solidFill>
                  <a:srgbClr val="FF0000"/>
                </a:solidFill>
                <a:latin typeface="Arial" charset="0"/>
              </a:rPr>
              <a:t>Para las operaciones </a:t>
            </a:r>
            <a:r>
              <a:rPr lang="es-AR" sz="1984" b="1" dirty="0" err="1">
                <a:solidFill>
                  <a:srgbClr val="FF0000"/>
                </a:solidFill>
                <a:latin typeface="Arial" charset="0"/>
              </a:rPr>
              <a:t>call</a:t>
            </a:r>
            <a:r>
              <a:rPr lang="es-AR" sz="1984" b="1" dirty="0">
                <a:solidFill>
                  <a:srgbClr val="FF0000"/>
                </a:solidFill>
                <a:latin typeface="Arial" charset="0"/>
              </a:rPr>
              <a:t> y </a:t>
            </a:r>
            <a:r>
              <a:rPr lang="es-AR" sz="1984" b="1" dirty="0" err="1">
                <a:solidFill>
                  <a:srgbClr val="FF0000"/>
                </a:solidFill>
                <a:latin typeface="Arial" charset="0"/>
              </a:rPr>
              <a:t>goto</a:t>
            </a:r>
            <a:endParaRPr lang="es-AR" sz="1984" b="1" dirty="0">
              <a:solidFill>
                <a:srgbClr val="FF0000"/>
              </a:solidFill>
              <a:latin typeface="Arial" charset="0"/>
            </a:endParaRPr>
          </a:p>
        </p:txBody>
      </p:sp>
      <p:sp>
        <p:nvSpPr>
          <p:cNvPr id="12" name="TextBox 1"/>
          <p:cNvSpPr txBox="1"/>
          <p:nvPr/>
        </p:nvSpPr>
        <p:spPr>
          <a:xfrm>
            <a:off x="762000" y="330200"/>
            <a:ext cx="9169400" cy="828432"/>
          </a:xfrm>
          <a:prstGeom prst="rect">
            <a:avLst/>
          </a:prstGeom>
          <a:noFill/>
        </p:spPr>
        <p:txBody>
          <a:bodyPr wrap="square" lIns="0" tIns="0" rIns="0" rtlCol="0">
            <a:spAutoFit/>
          </a:bodyPr>
          <a:lstStyle>
            <a:defPPr>
              <a:defRPr lang="en-US"/>
            </a:defPPr>
            <a:lvl1pPr algn="ctr">
              <a:lnSpc>
                <a:spcPts val="6100"/>
              </a:lnSpc>
              <a:tabLst/>
              <a:defRPr sz="2800" b="1" i="1">
                <a:solidFill>
                  <a:srgbClr val="FF0000"/>
                </a:solidFill>
                <a:effectLst>
                  <a:outerShdw blurRad="38100" dist="38100" dir="2700000" algn="tl">
                    <a:srgbClr val="000000">
                      <a:alpha val="43137"/>
                    </a:srgbClr>
                  </a:outerShdw>
                </a:effectLst>
                <a:latin typeface="Times New Roman" pitchFamily="18" charset="0"/>
                <a:cs typeface="Times New Roman" pitchFamily="18" charset="0"/>
              </a:defRPr>
            </a:lvl1pPr>
          </a:lstStyle>
          <a:p>
            <a:r>
              <a:rPr lang="en-US" altLang="zh-CN" dirty="0" err="1"/>
              <a:t>Introducción</a:t>
            </a:r>
            <a:r>
              <a:rPr lang="en-US" altLang="zh-CN" dirty="0"/>
              <a:t> al Set de </a:t>
            </a:r>
            <a:r>
              <a:rPr lang="en-US" altLang="zh-CN" dirty="0" err="1"/>
              <a:t>Instrucciones</a:t>
            </a:r>
            <a:endParaRPr lang="en-US" altLang="zh-CN" dirty="0"/>
          </a:p>
        </p:txBody>
      </p:sp>
    </p:spTree>
    <p:extLst>
      <p:ext uri="{BB962C8B-B14F-4D97-AF65-F5344CB8AC3E}">
        <p14:creationId xmlns:p14="http://schemas.microsoft.com/office/powerpoint/2010/main" val="139944323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a:srcRect/>
          <a:stretch>
            <a:fillRect/>
          </a:stretch>
        </p:blipFill>
        <p:spPr bwMode="auto">
          <a:xfrm>
            <a:off x="241300" y="30544"/>
            <a:ext cx="10109200" cy="7559293"/>
          </a:xfrm>
          <a:prstGeom prst="rect">
            <a:avLst/>
          </a:prstGeom>
          <a:noFill/>
        </p:spPr>
      </p:pic>
      <p:sp>
        <p:nvSpPr>
          <p:cNvPr id="2" name="TextBox 1"/>
          <p:cNvSpPr txBox="1"/>
          <p:nvPr/>
        </p:nvSpPr>
        <p:spPr>
          <a:xfrm>
            <a:off x="2070100" y="317500"/>
            <a:ext cx="6935297" cy="475836"/>
          </a:xfrm>
          <a:prstGeom prst="rect">
            <a:avLst/>
          </a:prstGeom>
          <a:noFill/>
        </p:spPr>
        <p:txBody>
          <a:bodyPr wrap="none" lIns="0" tIns="0" rIns="0" rtlCol="0">
            <a:spAutoFit/>
          </a:bodyPr>
          <a:lstStyle/>
          <a:p>
            <a:pPr>
              <a:lnSpc>
                <a:spcPts val="3200"/>
              </a:lnSpc>
              <a:tabLst/>
            </a:pPr>
            <a:r>
              <a:rPr lang="en-US" altLang="zh-CN" sz="3600" b="1" i="1" dirty="0">
                <a:solidFill>
                  <a:srgbClr val="FF0000"/>
                </a:solidFill>
                <a:effectLst>
                  <a:outerShdw blurRad="38100" dist="38100" dir="2700000" algn="tl">
                    <a:srgbClr val="000000">
                      <a:alpha val="43137"/>
                    </a:srgbClr>
                  </a:outerShdw>
                </a:effectLst>
                <a:latin typeface="Calibri" panose="020F0502020204030204" pitchFamily="34" charset="0"/>
              </a:rPr>
              <a:t>Set de instrucciones de la Linea Base</a:t>
            </a:r>
          </a:p>
        </p:txBody>
      </p:sp>
      <p:sp>
        <p:nvSpPr>
          <p:cNvPr id="3" name="TextBox 1"/>
          <p:cNvSpPr txBox="1"/>
          <p:nvPr/>
        </p:nvSpPr>
        <p:spPr>
          <a:xfrm>
            <a:off x="1079500" y="1333500"/>
            <a:ext cx="36830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orientadas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a</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Byte</a:t>
            </a:r>
          </a:p>
        </p:txBody>
      </p:sp>
      <p:sp>
        <p:nvSpPr>
          <p:cNvPr id="4" name="TextBox 1"/>
          <p:cNvSpPr txBox="1"/>
          <p:nvPr/>
        </p:nvSpPr>
        <p:spPr>
          <a:xfrm>
            <a:off x="5994400" y="1333500"/>
            <a:ext cx="35179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Orientadas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a</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Bit</a:t>
            </a:r>
          </a:p>
        </p:txBody>
      </p:sp>
      <p:sp>
        <p:nvSpPr>
          <p:cNvPr id="5" name="TextBox 1"/>
          <p:cNvSpPr txBox="1"/>
          <p:nvPr/>
        </p:nvSpPr>
        <p:spPr>
          <a:xfrm>
            <a:off x="876300" y="1701800"/>
            <a:ext cx="5588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addwf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andwf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clrf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clrw</a:t>
            </a:r>
          </a:p>
        </p:txBody>
      </p:sp>
      <p:sp>
        <p:nvSpPr>
          <p:cNvPr id="6" name="TextBox 1"/>
          <p:cNvSpPr txBox="1"/>
          <p:nvPr/>
        </p:nvSpPr>
        <p:spPr>
          <a:xfrm>
            <a:off x="1879600" y="1701800"/>
            <a:ext cx="2286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t>
            </a:r>
          </a:p>
        </p:txBody>
      </p:sp>
      <p:sp>
        <p:nvSpPr>
          <p:cNvPr id="7" name="TextBox 1"/>
          <p:cNvSpPr txBox="1"/>
          <p:nvPr/>
        </p:nvSpPr>
        <p:spPr>
          <a:xfrm>
            <a:off x="876300" y="2933700"/>
            <a:ext cx="4572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comf</a:t>
            </a:r>
          </a:p>
        </p:txBody>
      </p:sp>
      <p:sp>
        <p:nvSpPr>
          <p:cNvPr id="8" name="TextBox 1"/>
          <p:cNvSpPr txBox="1"/>
          <p:nvPr/>
        </p:nvSpPr>
        <p:spPr>
          <a:xfrm>
            <a:off x="1879600" y="2933700"/>
            <a:ext cx="2286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p:txBody>
      </p:sp>
      <p:sp>
        <p:nvSpPr>
          <p:cNvPr id="9" name="TextBox 1"/>
          <p:cNvSpPr txBox="1"/>
          <p:nvPr/>
        </p:nvSpPr>
        <p:spPr>
          <a:xfrm>
            <a:off x="2324100" y="1701800"/>
            <a:ext cx="12192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Add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p:txBody>
      </p:sp>
      <p:sp>
        <p:nvSpPr>
          <p:cNvPr id="10" name="TextBox 1"/>
          <p:cNvSpPr txBox="1"/>
          <p:nvPr/>
        </p:nvSpPr>
        <p:spPr>
          <a:xfrm>
            <a:off x="2324100" y="2933700"/>
            <a:ext cx="1295400" cy="177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Complement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
        <p:nvSpPr>
          <p:cNvPr id="11" name="TextBox 1"/>
          <p:cNvSpPr txBox="1"/>
          <p:nvPr/>
        </p:nvSpPr>
        <p:spPr>
          <a:xfrm>
            <a:off x="5689600" y="1701800"/>
            <a:ext cx="4572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bcf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bsf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btfsc</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btfss</a:t>
            </a:r>
          </a:p>
        </p:txBody>
      </p:sp>
      <p:sp>
        <p:nvSpPr>
          <p:cNvPr id="12" name="TextBox 1"/>
          <p:cNvSpPr txBox="1"/>
          <p:nvPr/>
        </p:nvSpPr>
        <p:spPr>
          <a:xfrm>
            <a:off x="6705600" y="1701800"/>
            <a:ext cx="2286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f,b</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f,b</a:t>
            </a:r>
          </a:p>
        </p:txBody>
      </p:sp>
      <p:sp>
        <p:nvSpPr>
          <p:cNvPr id="13" name="TextBox 1"/>
          <p:cNvSpPr txBox="1"/>
          <p:nvPr/>
        </p:nvSpPr>
        <p:spPr>
          <a:xfrm>
            <a:off x="7150100" y="1701800"/>
            <a:ext cx="2057400" cy="1130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Set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Test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Clear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Bit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Test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Set</a:t>
            </a:r>
          </a:p>
        </p:txBody>
      </p:sp>
      <p:sp>
        <p:nvSpPr>
          <p:cNvPr id="14" name="TextBox 1"/>
          <p:cNvSpPr txBox="1"/>
          <p:nvPr/>
        </p:nvSpPr>
        <p:spPr>
          <a:xfrm>
            <a:off x="5613400" y="2921000"/>
            <a:ext cx="4279900" cy="228600"/>
          </a:xfrm>
          <a:prstGeom prst="rect">
            <a:avLst/>
          </a:prstGeom>
          <a:noFill/>
        </p:spPr>
        <p:txBody>
          <a:bodyPr wrap="none" lIns="0" tIns="0" rIns="0" rtlCol="0">
            <a:spAutoFit/>
          </a:bodyPr>
          <a:lstStyle/>
          <a:p>
            <a:pPr>
              <a:lnSpc>
                <a:spcPts val="1800"/>
              </a:lnSpc>
              <a:tabLst/>
            </a:pPr>
            <a:r>
              <a:rPr lang="en-US" altLang="zh-CN" sz="1986" b="1" dirty="0">
                <a:solidFill>
                  <a:srgbClr val="FFFFFF"/>
                </a:solidFill>
                <a:latin typeface="Times New Roman" pitchFamily="18" charset="0"/>
                <a:cs typeface="Times New Roman" pitchFamily="18" charset="0"/>
              </a:rPr>
              <a:t>Operaciones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con</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Literales</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y</a:t>
            </a:r>
            <a:r>
              <a:rPr lang="en-US" altLang="zh-CN" sz="1986" dirty="0">
                <a:latin typeface="Times New Roman" pitchFamily="18" charset="0"/>
                <a:cs typeface="Times New Roman" pitchFamily="18" charset="0"/>
              </a:rPr>
              <a:t> </a:t>
            </a:r>
            <a:r>
              <a:rPr lang="en-US" altLang="zh-CN" sz="1986" b="1" dirty="0">
                <a:solidFill>
                  <a:srgbClr val="FFFFFF"/>
                </a:solidFill>
                <a:latin typeface="Times New Roman" pitchFamily="18" charset="0"/>
                <a:cs typeface="Times New Roman" pitchFamily="18" charset="0"/>
              </a:rPr>
              <a:t>control</a:t>
            </a:r>
          </a:p>
        </p:txBody>
      </p:sp>
      <p:sp>
        <p:nvSpPr>
          <p:cNvPr id="15" name="TextBox 1"/>
          <p:cNvSpPr txBox="1"/>
          <p:nvPr/>
        </p:nvSpPr>
        <p:spPr>
          <a:xfrm>
            <a:off x="876300" y="3365500"/>
            <a:ext cx="6096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decf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decfsz</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incfsz</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iorwf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movwf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nop</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rlf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rrf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subwf</a:t>
            </a:r>
          </a:p>
        </p:txBody>
      </p:sp>
      <p:sp>
        <p:nvSpPr>
          <p:cNvPr id="16" name="TextBox 1"/>
          <p:cNvSpPr txBox="1"/>
          <p:nvPr/>
        </p:nvSpPr>
        <p:spPr>
          <a:xfrm>
            <a:off x="1879600" y="3365500"/>
            <a:ext cx="2286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p:txBody>
      </p:sp>
      <p:sp>
        <p:nvSpPr>
          <p:cNvPr id="17" name="TextBox 1"/>
          <p:cNvSpPr txBox="1"/>
          <p:nvPr/>
        </p:nvSpPr>
        <p:spPr>
          <a:xfrm>
            <a:off x="2324100" y="3365500"/>
            <a:ext cx="2628900" cy="33528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Decrement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Decrement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0</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Increment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Skip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0</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No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Operation</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Rotate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Left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through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Carry</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Rotate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Right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through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Carry</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Subtract</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from</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
        <p:nvSpPr>
          <p:cNvPr id="18" name="TextBox 1"/>
          <p:cNvSpPr txBox="1"/>
          <p:nvPr/>
        </p:nvSpPr>
        <p:spPr>
          <a:xfrm>
            <a:off x="5689600" y="3365500"/>
            <a:ext cx="5969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andlw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call</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clrwdt</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goto</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iorlw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option</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retlw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sleep</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tris</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xorlw</a:t>
            </a:r>
          </a:p>
        </p:txBody>
      </p:sp>
      <p:sp>
        <p:nvSpPr>
          <p:cNvPr id="19" name="TextBox 1"/>
          <p:cNvSpPr txBox="1"/>
          <p:nvPr/>
        </p:nvSpPr>
        <p:spPr>
          <a:xfrm>
            <a:off x="6705600" y="3365500"/>
            <a:ext cx="1016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k</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k</a:t>
            </a:r>
          </a:p>
        </p:txBody>
      </p:sp>
      <p:sp>
        <p:nvSpPr>
          <p:cNvPr id="20" name="TextBox 1"/>
          <p:cNvSpPr txBox="1"/>
          <p:nvPr/>
        </p:nvSpPr>
        <p:spPr>
          <a:xfrm>
            <a:off x="7150100" y="3365500"/>
            <a:ext cx="2501900" cy="33401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AND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Call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subroutine</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Clear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Watchdog</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Timer</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address</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Inclusive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Move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Load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OPTION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Register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Return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Go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into</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standby</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mode</a:t>
            </a:r>
          </a:p>
          <a:p>
            <a:pPr>
              <a:lnSpc>
                <a:spcPts val="1000"/>
              </a:lnSpc>
            </a:pPr>
            <a:endParaRPr lang="en-US" altLang="zh-CN" dirty="0"/>
          </a:p>
          <a:p>
            <a:pPr>
              <a:lnSpc>
                <a:spcPts val="1400"/>
              </a:lnSpc>
              <a:tabLst/>
            </a:pPr>
            <a:r>
              <a:rPr lang="en-US" altLang="zh-CN" sz="1542" b="1" dirty="0">
                <a:solidFill>
                  <a:srgbClr val="000000"/>
                </a:solidFill>
                <a:latin typeface="Times New Roman" pitchFamily="18" charset="0"/>
                <a:cs typeface="Times New Roman" pitchFamily="18" charset="0"/>
              </a:rPr>
              <a:t>Load</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TRIS</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Register</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Exclusive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literal</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p>
        </p:txBody>
      </p:sp>
      <p:sp>
        <p:nvSpPr>
          <p:cNvPr id="24" name="TextBox 1"/>
          <p:cNvSpPr txBox="1"/>
          <p:nvPr/>
        </p:nvSpPr>
        <p:spPr>
          <a:xfrm>
            <a:off x="876300" y="6756400"/>
            <a:ext cx="5461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swapf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xorwf</a:t>
            </a:r>
          </a:p>
        </p:txBody>
      </p:sp>
      <p:sp>
        <p:nvSpPr>
          <p:cNvPr id="25" name="TextBox 1"/>
          <p:cNvSpPr txBox="1"/>
          <p:nvPr/>
        </p:nvSpPr>
        <p:spPr>
          <a:xfrm>
            <a:off x="1879600" y="6756400"/>
            <a:ext cx="2286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f,d</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f,d</a:t>
            </a:r>
          </a:p>
        </p:txBody>
      </p:sp>
      <p:sp>
        <p:nvSpPr>
          <p:cNvPr id="26" name="TextBox 1"/>
          <p:cNvSpPr txBox="1"/>
          <p:nvPr/>
        </p:nvSpPr>
        <p:spPr>
          <a:xfrm>
            <a:off x="2324100" y="6756400"/>
            <a:ext cx="2044700" cy="495300"/>
          </a:xfrm>
          <a:prstGeom prst="rect">
            <a:avLst/>
          </a:prstGeom>
          <a:noFill/>
        </p:spPr>
        <p:txBody>
          <a:bodyPr wrap="none" lIns="0" tIns="0" rIns="0" rtlCol="0">
            <a:spAutoFit/>
          </a:bodyPr>
          <a:lstStyle/>
          <a:p>
            <a:pPr>
              <a:lnSpc>
                <a:spcPts val="1400"/>
              </a:lnSpc>
              <a:tabLst/>
            </a:pPr>
            <a:r>
              <a:rPr lang="en-US" altLang="zh-CN" sz="1542" b="1" dirty="0">
                <a:solidFill>
                  <a:srgbClr val="000000"/>
                </a:solidFill>
                <a:latin typeface="Times New Roman" pitchFamily="18" charset="0"/>
                <a:cs typeface="Times New Roman" pitchFamily="18" charset="0"/>
              </a:rPr>
              <a:t>Swap</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nibbles</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in</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a:p>
            <a:pPr>
              <a:lnSpc>
                <a:spcPts val="1000"/>
              </a:lnSpc>
            </a:pPr>
            <a:endParaRPr lang="en-US" altLang="zh-CN" dirty="0"/>
          </a:p>
          <a:p>
            <a:pPr>
              <a:lnSpc>
                <a:spcPts val="1500"/>
              </a:lnSpc>
              <a:tabLst/>
            </a:pPr>
            <a:r>
              <a:rPr lang="en-US" altLang="zh-CN" sz="1542" b="1" dirty="0">
                <a:solidFill>
                  <a:srgbClr val="000000"/>
                </a:solidFill>
                <a:latin typeface="Times New Roman" pitchFamily="18" charset="0"/>
                <a:cs typeface="Times New Roman" pitchFamily="18" charset="0"/>
              </a:rPr>
              <a:t>Exclusive</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OR</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with</a:t>
            </a:r>
            <a:r>
              <a:rPr lang="en-US" altLang="zh-CN" sz="1542" dirty="0">
                <a:latin typeface="Times New Roman" pitchFamily="18" charset="0"/>
                <a:cs typeface="Times New Roman" pitchFamily="18" charset="0"/>
              </a:rPr>
              <a:t> </a:t>
            </a:r>
            <a:r>
              <a:rPr lang="en-US" altLang="zh-CN" sz="1542" b="1" dirty="0">
                <a:solidFill>
                  <a:srgbClr val="000000"/>
                </a:solidFill>
                <a:latin typeface="Times New Roman" pitchFamily="18" charset="0"/>
                <a:cs typeface="Times New Roman" pitchFamily="18" charset="0"/>
              </a:rPr>
              <a:t>f</a:t>
            </a:r>
          </a:p>
        </p:txBody>
      </p:sp>
    </p:spTree>
    <p:extLst>
      <p:ext uri="{BB962C8B-B14F-4D97-AF65-F5344CB8AC3E}">
        <p14:creationId xmlns:p14="http://schemas.microsoft.com/office/powerpoint/2010/main" val="16464352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155700" y="1171583"/>
            <a:ext cx="8462313" cy="6189654"/>
          </a:xfrm>
          <a:prstGeom prst="rect">
            <a:avLst/>
          </a:prstGeom>
        </p:spPr>
      </p:pic>
      <p:sp>
        <p:nvSpPr>
          <p:cNvPr id="5" name="CuadroTexto 4"/>
          <p:cNvSpPr txBox="1"/>
          <p:nvPr/>
        </p:nvSpPr>
        <p:spPr>
          <a:xfrm>
            <a:off x="981293" y="427037"/>
            <a:ext cx="8480207" cy="584775"/>
          </a:xfrm>
          <a:prstGeom prst="rect">
            <a:avLst/>
          </a:prstGeom>
          <a:noFill/>
        </p:spPr>
        <p:txBody>
          <a:bodyPr wrap="none" rtlCol="0">
            <a:spAutoFit/>
          </a:bodyPr>
          <a:lstStyle/>
          <a:p>
            <a:r>
              <a:rPr lang="es-ES" sz="3200" i="1" u="sng" dirty="0">
                <a:solidFill>
                  <a:srgbClr val="FF0000"/>
                </a:solidFill>
                <a:effectLst>
                  <a:outerShdw blurRad="38100" dist="38100" dir="2700000" algn="tl">
                    <a:srgbClr val="000000">
                      <a:alpha val="43137"/>
                    </a:srgbClr>
                  </a:outerShdw>
                </a:effectLst>
              </a:rPr>
              <a:t>01 El lenguaje ensamblador del PIC16F84A V1.pdf</a:t>
            </a:r>
          </a:p>
        </p:txBody>
      </p:sp>
    </p:spTree>
    <p:extLst>
      <p:ext uri="{BB962C8B-B14F-4D97-AF65-F5344CB8AC3E}">
        <p14:creationId xmlns:p14="http://schemas.microsoft.com/office/powerpoint/2010/main" val="366119809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36700" y="2130425"/>
            <a:ext cx="7772400" cy="1470025"/>
          </a:xfrm>
        </p:spPr>
        <p:txBody>
          <a:bodyPr/>
          <a:lstStyle/>
          <a:p>
            <a:r>
              <a:rPr lang="es-ES" sz="4409" b="1" i="1" u="sng" dirty="0">
                <a:solidFill>
                  <a:srgbClr val="FF0000"/>
                </a:solidFill>
                <a:latin typeface="Arial" pitchFamily="34" charset="0"/>
                <a:ea typeface="+mn-ea"/>
                <a:cs typeface="Arial" pitchFamily="34" charset="0"/>
              </a:rPr>
              <a:t>Configuración</a:t>
            </a:r>
            <a:r>
              <a:rPr lang="es-ES" b="1" i="1" u="sng" dirty="0">
                <a:solidFill>
                  <a:srgbClr val="FF0000"/>
                </a:solidFill>
              </a:rPr>
              <a:t> Básica MP LAB</a:t>
            </a:r>
          </a:p>
        </p:txBody>
      </p:sp>
      <p:sp>
        <p:nvSpPr>
          <p:cNvPr id="4" name="3 Subtítulo"/>
          <p:cNvSpPr>
            <a:spLocks noGrp="1"/>
          </p:cNvSpPr>
          <p:nvPr>
            <p:ph type="subTitle" idx="1"/>
          </p:nvPr>
        </p:nvSpPr>
        <p:spPr/>
        <p:txBody>
          <a:bodyPr/>
          <a:lstStyle/>
          <a:p>
            <a:endParaRPr lang="es-AR"/>
          </a:p>
        </p:txBody>
      </p:sp>
    </p:spTree>
    <p:extLst>
      <p:ext uri="{BB962C8B-B14F-4D97-AF65-F5344CB8AC3E}">
        <p14:creationId xmlns:p14="http://schemas.microsoft.com/office/powerpoint/2010/main" val="96341066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algn="ctr"/>
            <a:r>
              <a:rPr lang="es-ES" dirty="0" err="1"/>
              <a:t>MPLab</a:t>
            </a:r>
            <a:r>
              <a:rPr lang="es-ES" dirty="0"/>
              <a:t> Pantalla Inicial</a:t>
            </a:r>
          </a:p>
        </p:txBody>
      </p:sp>
      <p:pic>
        <p:nvPicPr>
          <p:cNvPr id="6" name="Marcador de contenido 5"/>
          <p:cNvPicPr>
            <a:picLocks noGrp="1" noChangeAspect="1"/>
          </p:cNvPicPr>
          <p:nvPr>
            <p:ph idx="1"/>
          </p:nvPr>
        </p:nvPicPr>
        <p:blipFill>
          <a:blip r:embed="rId2"/>
          <a:stretch>
            <a:fillRect/>
          </a:stretch>
        </p:blipFill>
        <p:spPr>
          <a:xfrm>
            <a:off x="1496088" y="2012413"/>
            <a:ext cx="7659110" cy="5411948"/>
          </a:xfrm>
          <a:prstGeom prst="rect">
            <a:avLst/>
          </a:prstGeom>
        </p:spPr>
      </p:pic>
    </p:spTree>
    <p:extLst>
      <p:ext uri="{BB962C8B-B14F-4D97-AF65-F5344CB8AC3E}">
        <p14:creationId xmlns:p14="http://schemas.microsoft.com/office/powerpoint/2010/main" val="307117031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a:t>
            </a:r>
            <a:r>
              <a:rPr lang="es-ES" dirty="0" err="1"/>
              <a:t>Proyect</a:t>
            </a:r>
            <a:r>
              <a:rPr lang="es-ES" dirty="0"/>
              <a:t> </a:t>
            </a:r>
            <a:r>
              <a:rPr lang="es-ES" dirty="0" err="1"/>
              <a:t>Wizard</a:t>
            </a:r>
            <a:endParaRPr lang="es-ES" dirty="0"/>
          </a:p>
        </p:txBody>
      </p:sp>
      <p:pic>
        <p:nvPicPr>
          <p:cNvPr id="4" name="Marcador de contenido 3"/>
          <p:cNvPicPr>
            <a:picLocks noGrp="1" noChangeAspect="1"/>
          </p:cNvPicPr>
          <p:nvPr>
            <p:ph idx="1"/>
          </p:nvPr>
        </p:nvPicPr>
        <p:blipFill>
          <a:blip r:embed="rId2"/>
          <a:stretch>
            <a:fillRect/>
          </a:stretch>
        </p:blipFill>
        <p:spPr>
          <a:xfrm>
            <a:off x="1537171" y="2074442"/>
            <a:ext cx="7630357" cy="5391631"/>
          </a:xfrm>
          <a:prstGeom prst="rect">
            <a:avLst/>
          </a:prstGeom>
        </p:spPr>
      </p:pic>
    </p:spTree>
    <p:extLst>
      <p:ext uri="{BB962C8B-B14F-4D97-AF65-F5344CB8AC3E}">
        <p14:creationId xmlns:p14="http://schemas.microsoft.com/office/powerpoint/2010/main" val="396413411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dirty="0" err="1"/>
              <a:t>MPLab</a:t>
            </a:r>
            <a:r>
              <a:rPr lang="es-ES" dirty="0"/>
              <a:t> – Seleccionar Microcontrolador</a:t>
            </a:r>
          </a:p>
        </p:txBody>
      </p:sp>
      <p:pic>
        <p:nvPicPr>
          <p:cNvPr id="4" name="Marcador de contenido 3"/>
          <p:cNvPicPr>
            <a:picLocks noGrp="1" noChangeAspect="1"/>
          </p:cNvPicPr>
          <p:nvPr>
            <p:ph idx="1"/>
          </p:nvPr>
        </p:nvPicPr>
        <p:blipFill>
          <a:blip r:embed="rId2"/>
          <a:stretch>
            <a:fillRect/>
          </a:stretch>
        </p:blipFill>
        <p:spPr>
          <a:xfrm>
            <a:off x="1459074" y="2012413"/>
            <a:ext cx="7757815" cy="5481694"/>
          </a:xfrm>
          <a:prstGeom prst="rect">
            <a:avLst/>
          </a:prstGeom>
        </p:spPr>
      </p:pic>
    </p:spTree>
    <p:extLst>
      <p:ext uri="{BB962C8B-B14F-4D97-AF65-F5344CB8AC3E}">
        <p14:creationId xmlns:p14="http://schemas.microsoft.com/office/powerpoint/2010/main" val="250023144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 sz="4000" dirty="0" err="1"/>
              <a:t>MPLab</a:t>
            </a:r>
            <a:r>
              <a:rPr lang="es-ES" sz="4000" dirty="0"/>
              <a:t> – Seleccionar Lenguaje de Programación</a:t>
            </a:r>
          </a:p>
        </p:txBody>
      </p:sp>
      <p:pic>
        <p:nvPicPr>
          <p:cNvPr id="4" name="Marcador de contenido 3"/>
          <p:cNvPicPr>
            <a:picLocks noGrp="1" noChangeAspect="1"/>
          </p:cNvPicPr>
          <p:nvPr>
            <p:ph idx="1"/>
          </p:nvPr>
        </p:nvPicPr>
        <p:blipFill>
          <a:blip r:embed="rId2"/>
          <a:stretch>
            <a:fillRect/>
          </a:stretch>
        </p:blipFill>
        <p:spPr>
          <a:xfrm>
            <a:off x="-62857" y="960437"/>
            <a:ext cx="10286357" cy="6599238"/>
          </a:xfrm>
          <a:prstGeom prst="rect">
            <a:avLst/>
          </a:prstGeom>
        </p:spPr>
      </p:pic>
    </p:spTree>
    <p:extLst>
      <p:ext uri="{BB962C8B-B14F-4D97-AF65-F5344CB8AC3E}">
        <p14:creationId xmlns:p14="http://schemas.microsoft.com/office/powerpoint/2010/main" val="31516378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MPLab</a:t>
            </a:r>
            <a:r>
              <a:rPr lang="es-ES" dirty="0"/>
              <a:t> – Identificar Proyecto</a:t>
            </a:r>
          </a:p>
        </p:txBody>
      </p:sp>
      <p:pic>
        <p:nvPicPr>
          <p:cNvPr id="4" name="Marcador de contenido 3"/>
          <p:cNvPicPr>
            <a:picLocks noGrp="1" noChangeAspect="1"/>
          </p:cNvPicPr>
          <p:nvPr>
            <p:ph idx="1"/>
          </p:nvPr>
        </p:nvPicPr>
        <p:blipFill>
          <a:blip r:embed="rId2"/>
          <a:stretch>
            <a:fillRect/>
          </a:stretch>
        </p:blipFill>
        <p:spPr>
          <a:xfrm>
            <a:off x="1437893" y="2012413"/>
            <a:ext cx="7850609" cy="5547262"/>
          </a:xfrm>
          <a:prstGeom prst="rect">
            <a:avLst/>
          </a:prstGeom>
        </p:spPr>
      </p:pic>
    </p:spTree>
    <p:extLst>
      <p:ext uri="{BB962C8B-B14F-4D97-AF65-F5344CB8AC3E}">
        <p14:creationId xmlns:p14="http://schemas.microsoft.com/office/powerpoint/2010/main" val="204877129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stretch>
            <a:fillRect/>
          </a:stretch>
        </p:blipFill>
        <p:spPr>
          <a:xfrm>
            <a:off x="1460500" y="1189037"/>
            <a:ext cx="7648346" cy="5404342"/>
          </a:xfrm>
          <a:prstGeom prst="rect">
            <a:avLst/>
          </a:prstGeom>
        </p:spPr>
      </p:pic>
    </p:spTree>
    <p:extLst>
      <p:ext uri="{BB962C8B-B14F-4D97-AF65-F5344CB8AC3E}">
        <p14:creationId xmlns:p14="http://schemas.microsoft.com/office/powerpoint/2010/main" val="26495169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contenido 6"/>
          <p:cNvPicPr>
            <a:picLocks noGrp="1" noChangeAspect="1"/>
          </p:cNvPicPr>
          <p:nvPr>
            <p:ph idx="1"/>
          </p:nvPr>
        </p:nvPicPr>
        <p:blipFill>
          <a:blip r:embed="rId2"/>
          <a:stretch>
            <a:fillRect/>
          </a:stretch>
        </p:blipFill>
        <p:spPr>
          <a:xfrm>
            <a:off x="1425921" y="1341437"/>
            <a:ext cx="7850609" cy="5547262"/>
          </a:xfrm>
          <a:prstGeom prst="rect">
            <a:avLst/>
          </a:prstGeom>
        </p:spPr>
      </p:pic>
      <p:sp>
        <p:nvSpPr>
          <p:cNvPr id="5" name="Título 1"/>
          <p:cNvSpPr>
            <a:spLocks noGrp="1"/>
          </p:cNvSpPr>
          <p:nvPr>
            <p:ph type="title"/>
          </p:nvPr>
        </p:nvSpPr>
        <p:spPr>
          <a:xfrm>
            <a:off x="457200" y="274638"/>
            <a:ext cx="8229600" cy="1143000"/>
          </a:xfrm>
        </p:spPr>
        <p:txBody>
          <a:bodyPr>
            <a:normAutofit/>
          </a:bodyPr>
          <a:lstStyle/>
          <a:p>
            <a:r>
              <a:rPr lang="es-ES" dirty="0" err="1"/>
              <a:t>MPLab</a:t>
            </a:r>
            <a:r>
              <a:rPr lang="es-ES" dirty="0"/>
              <a:t> – Estructura de un Proyecto</a:t>
            </a:r>
          </a:p>
        </p:txBody>
      </p:sp>
    </p:spTree>
    <p:extLst>
      <p:ext uri="{BB962C8B-B14F-4D97-AF65-F5344CB8AC3E}">
        <p14:creationId xmlns:p14="http://schemas.microsoft.com/office/powerpoint/2010/main" val="234478230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Menú Project, </a:t>
            </a:r>
            <a:r>
              <a:rPr lang="es-ES" dirty="0" err="1"/>
              <a:t>Build</a:t>
            </a:r>
            <a:r>
              <a:rPr lang="es-ES" dirty="0"/>
              <a:t> </a:t>
            </a:r>
            <a:r>
              <a:rPr lang="es-ES" dirty="0" err="1"/>
              <a:t>options</a:t>
            </a:r>
            <a:endParaRPr lang="es-ES" dirty="0"/>
          </a:p>
        </p:txBody>
      </p:sp>
      <p:pic>
        <p:nvPicPr>
          <p:cNvPr id="4" name="Marcador de contenido 3"/>
          <p:cNvPicPr>
            <a:picLocks noGrp="1" noChangeAspect="1"/>
          </p:cNvPicPr>
          <p:nvPr>
            <p:ph idx="1"/>
          </p:nvPr>
        </p:nvPicPr>
        <p:blipFill>
          <a:blip r:embed="rId2"/>
          <a:stretch>
            <a:fillRect/>
          </a:stretch>
        </p:blipFill>
        <p:spPr>
          <a:xfrm>
            <a:off x="6095465" y="1485240"/>
            <a:ext cx="3862764" cy="5982460"/>
          </a:xfrm>
          <a:prstGeom prst="rect">
            <a:avLst/>
          </a:prstGeom>
        </p:spPr>
      </p:pic>
      <p:sp>
        <p:nvSpPr>
          <p:cNvPr id="5" name="CuadroTexto 4"/>
          <p:cNvSpPr txBox="1"/>
          <p:nvPr/>
        </p:nvSpPr>
        <p:spPr>
          <a:xfrm>
            <a:off x="550630" y="2392017"/>
            <a:ext cx="4796070" cy="3416320"/>
          </a:xfrm>
          <a:prstGeom prst="rect">
            <a:avLst/>
          </a:prstGeom>
          <a:noFill/>
        </p:spPr>
        <p:txBody>
          <a:bodyPr wrap="square" rtlCol="0">
            <a:spAutoFit/>
          </a:bodyPr>
          <a:lstStyle/>
          <a:p>
            <a:pPr marL="342900" indent="-342900">
              <a:buFont typeface="+mj-lt"/>
              <a:buAutoNum type="arabicPeriod"/>
            </a:pPr>
            <a:r>
              <a:rPr lang="es-ES" b="1" dirty="0">
                <a:effectLst>
                  <a:outerShdw blurRad="38100" dist="38100" dir="2700000" algn="tl">
                    <a:srgbClr val="000000">
                      <a:alpha val="43137"/>
                    </a:srgbClr>
                  </a:outerShdw>
                </a:effectLst>
              </a:rPr>
              <a:t>Ir al menú Project, </a:t>
            </a:r>
            <a:r>
              <a:rPr lang="es-ES" b="1" dirty="0" err="1">
                <a:effectLst>
                  <a:outerShdw blurRad="38100" dist="38100" dir="2700000" algn="tl">
                    <a:srgbClr val="000000">
                      <a:alpha val="43137"/>
                    </a:srgbClr>
                  </a:outerShdw>
                </a:effectLst>
              </a:rPr>
              <a:t>Build</a:t>
            </a:r>
            <a:r>
              <a:rPr lang="es-ES" b="1" dirty="0">
                <a:effectLst>
                  <a:outerShdw blurRad="38100" dist="38100" dir="2700000" algn="tl">
                    <a:srgbClr val="000000">
                      <a:alpha val="43137"/>
                    </a:srgbClr>
                  </a:outerShdw>
                </a:effectLst>
              </a:rPr>
              <a:t> </a:t>
            </a:r>
            <a:r>
              <a:rPr lang="es-ES" b="1" dirty="0" err="1">
                <a:effectLst>
                  <a:outerShdw blurRad="38100" dist="38100" dir="2700000" algn="tl">
                    <a:srgbClr val="000000">
                      <a:alpha val="43137"/>
                    </a:srgbClr>
                  </a:outerShdw>
                </a:effectLst>
              </a:rPr>
              <a:t>options</a:t>
            </a:r>
            <a:r>
              <a:rPr lang="es-ES" b="1" dirty="0">
                <a:effectLst>
                  <a:outerShdw blurRad="38100" dist="38100" dir="2700000" algn="tl">
                    <a:srgbClr val="000000">
                      <a:alpha val="43137"/>
                    </a:srgbClr>
                  </a:outerShdw>
                </a:effectLst>
              </a:rPr>
              <a:t> y elegir la solapa para configurar el MPASM </a:t>
            </a:r>
            <a:r>
              <a:rPr lang="es-ES" b="1" dirty="0" err="1">
                <a:effectLst>
                  <a:outerShdw blurRad="38100" dist="38100" dir="2700000" algn="tl">
                    <a:srgbClr val="000000">
                      <a:alpha val="43137"/>
                    </a:srgbClr>
                  </a:outerShdw>
                </a:effectLst>
              </a:rPr>
              <a:t>Assembler</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Tildar la opción para deshabilitar la distinción entre mayúsculas y minúsculas, de forma que si editamos el programa con minúsculas, el ensamblador reconozca el archivo de encabezado que habitualmente está escrito en mayúsculas. </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Verificar la opción de que trabaje en hexadecimal por defecto.</a:t>
            </a:r>
          </a:p>
        </p:txBody>
      </p:sp>
      <p:sp>
        <p:nvSpPr>
          <p:cNvPr id="3" name="2 Elipse"/>
          <p:cNvSpPr/>
          <p:nvPr/>
        </p:nvSpPr>
        <p:spPr>
          <a:xfrm>
            <a:off x="6489700" y="3094037"/>
            <a:ext cx="17526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847686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Simulador - </a:t>
            </a:r>
            <a:r>
              <a:rPr lang="es-ES" dirty="0" err="1"/>
              <a:t>Seteo</a:t>
            </a:r>
            <a:endParaRPr lang="es-ES" dirty="0"/>
          </a:p>
        </p:txBody>
      </p:sp>
      <p:sp>
        <p:nvSpPr>
          <p:cNvPr id="4" name="CuadroTexto 3"/>
          <p:cNvSpPr txBox="1"/>
          <p:nvPr/>
        </p:nvSpPr>
        <p:spPr>
          <a:xfrm>
            <a:off x="735172" y="2354918"/>
            <a:ext cx="4495816" cy="3693319"/>
          </a:xfrm>
          <a:prstGeom prst="rect">
            <a:avLst/>
          </a:prstGeom>
          <a:noFill/>
        </p:spPr>
        <p:txBody>
          <a:bodyPr wrap="square" rtlCol="0">
            <a:spAutoFit/>
          </a:bodyPr>
          <a:lstStyle/>
          <a:p>
            <a:r>
              <a:rPr lang="es-ES" b="1" dirty="0">
                <a:effectLst>
                  <a:outerShdw blurRad="38100" dist="38100" dir="2700000" algn="tl">
                    <a:srgbClr val="000000">
                      <a:alpha val="43137"/>
                    </a:srgbClr>
                  </a:outerShdw>
                </a:effectLst>
              </a:rPr>
              <a:t>Lo siguiente es elegir la herramienta para depuración (</a:t>
            </a:r>
            <a:r>
              <a:rPr lang="es-ES" b="1" dirty="0" err="1">
                <a:effectLst>
                  <a:outerShdw blurRad="38100" dist="38100" dir="2700000" algn="tl">
                    <a:srgbClr val="000000">
                      <a:alpha val="43137"/>
                    </a:srgbClr>
                  </a:outerShdw>
                </a:effectLst>
              </a:rPr>
              <a:t>debugger</a:t>
            </a:r>
            <a:r>
              <a:rPr lang="es-ES" b="1" dirty="0">
                <a:effectLst>
                  <a:outerShdw blurRad="38100" dist="38100" dir="2700000" algn="tl">
                    <a:srgbClr val="000000">
                      <a:alpha val="43137"/>
                    </a:srgbClr>
                  </a:outerShdw>
                </a:effectLst>
              </a:rPr>
              <a:t>)</a:t>
            </a:r>
          </a:p>
          <a:p>
            <a:pPr marL="342900" indent="-342900">
              <a:buFont typeface="+mj-lt"/>
              <a:buAutoNum type="arabicPeriod"/>
            </a:pPr>
            <a:r>
              <a:rPr lang="es-ES" b="1" dirty="0">
                <a:effectLst>
                  <a:outerShdw blurRad="38100" dist="38100" dir="2700000" algn="tl">
                    <a:srgbClr val="000000">
                      <a:alpha val="43137"/>
                    </a:srgbClr>
                  </a:outerShdw>
                </a:effectLst>
              </a:rPr>
              <a:t>Tildamos </a:t>
            </a:r>
            <a:r>
              <a:rPr lang="es-ES" b="1" dirty="0" err="1">
                <a:effectLst>
                  <a:outerShdw blurRad="38100" dist="38100" dir="2700000" algn="tl">
                    <a:srgbClr val="000000">
                      <a:alpha val="43137"/>
                    </a:srgbClr>
                  </a:outerShdw>
                </a:effectLst>
              </a:rPr>
              <a:t>MPLabSim</a:t>
            </a:r>
            <a:r>
              <a:rPr lang="es-ES" b="1" dirty="0">
                <a:effectLst>
                  <a:outerShdw blurRad="38100" dist="38100" dir="2700000" algn="tl">
                    <a:srgbClr val="000000">
                      <a:alpha val="43137"/>
                    </a:srgbClr>
                  </a:outerShdw>
                </a:effectLst>
              </a:rPr>
              <a:t>.</a:t>
            </a:r>
          </a:p>
          <a:p>
            <a:pPr marL="342900" indent="-342900">
              <a:buFont typeface="+mj-lt"/>
              <a:buAutoNum type="arabicPeriod"/>
            </a:pPr>
            <a:endParaRPr lang="es-ES" b="1" dirty="0">
              <a:effectLst>
                <a:outerShdw blurRad="38100" dist="38100" dir="2700000" algn="tl">
                  <a:srgbClr val="000000">
                    <a:alpha val="43137"/>
                  </a:srgbClr>
                </a:outerShdw>
              </a:effectLst>
            </a:endParaRPr>
          </a:p>
          <a:p>
            <a:pPr marL="342900" indent="-342900">
              <a:buFont typeface="+mj-lt"/>
              <a:buAutoNum type="arabicPeriod"/>
            </a:pPr>
            <a:r>
              <a:rPr lang="es-ES" b="1" dirty="0">
                <a:effectLst>
                  <a:outerShdw blurRad="38100" dist="38100" dir="2700000" algn="tl">
                    <a:srgbClr val="000000">
                      <a:alpha val="43137"/>
                    </a:srgbClr>
                  </a:outerShdw>
                </a:effectLst>
              </a:rPr>
              <a:t>Después de esta elección debería aparecer una barra de herramientas que nos permitirá compilar y correr la compilación, ejecutar instrucción por instrucción, colocar puntos de detención, etc.; es decir serán las herramientas de depuración de nuestro programa (subrutina, función).</a:t>
            </a:r>
          </a:p>
          <a:p>
            <a:endParaRPr lang="es-ES" dirty="0"/>
          </a:p>
        </p:txBody>
      </p:sp>
      <p:pic>
        <p:nvPicPr>
          <p:cNvPr id="5" name="Imagen 4"/>
          <p:cNvPicPr>
            <a:picLocks noChangeAspect="1"/>
          </p:cNvPicPr>
          <p:nvPr/>
        </p:nvPicPr>
        <p:blipFill>
          <a:blip r:embed="rId2"/>
          <a:stretch>
            <a:fillRect/>
          </a:stretch>
        </p:blipFill>
        <p:spPr>
          <a:xfrm>
            <a:off x="5892280" y="1189037"/>
            <a:ext cx="4102620" cy="5562599"/>
          </a:xfrm>
          <a:prstGeom prst="rect">
            <a:avLst/>
          </a:prstGeom>
        </p:spPr>
      </p:pic>
      <p:sp>
        <p:nvSpPr>
          <p:cNvPr id="6" name="5 Elipse"/>
          <p:cNvSpPr/>
          <p:nvPr/>
        </p:nvSpPr>
        <p:spPr>
          <a:xfrm>
            <a:off x="6032500" y="41608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6032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7 Elipse"/>
          <p:cNvSpPr/>
          <p:nvPr/>
        </p:nvSpPr>
        <p:spPr>
          <a:xfrm>
            <a:off x="8318500" y="2865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3437233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2" y="1722437"/>
            <a:ext cx="4328233" cy="4796544"/>
          </a:xfrm>
        </p:spPr>
        <p:txBody>
          <a:bodyPr>
            <a:normAutofit fontScale="92500" lnSpcReduction="20000"/>
          </a:bodyPr>
          <a:lstStyle/>
          <a:p>
            <a:r>
              <a:rPr lang="es-ES" dirty="0"/>
              <a:t>Lo que deberemos elegir a continuación es la frecuencia del reloj para la simulación: menú </a:t>
            </a:r>
            <a:r>
              <a:rPr lang="es-ES" dirty="0" err="1"/>
              <a:t>Debugger</a:t>
            </a:r>
            <a:r>
              <a:rPr lang="es-ES" dirty="0"/>
              <a:t> (depuración), </a:t>
            </a:r>
            <a:r>
              <a:rPr lang="es-ES" dirty="0" err="1"/>
              <a:t>Settings</a:t>
            </a:r>
            <a:r>
              <a:rPr lang="es-ES" dirty="0"/>
              <a:t> (configuración), solapa </a:t>
            </a:r>
            <a:r>
              <a:rPr lang="es-ES" dirty="0" err="1"/>
              <a:t>Osc</a:t>
            </a:r>
            <a:r>
              <a:rPr lang="es-ES" dirty="0"/>
              <a:t>/Trace: elegir la frecuencia en el valor que usaremos comúnmente: 4 MHz. </a:t>
            </a:r>
          </a:p>
          <a:p>
            <a:r>
              <a:rPr lang="es-ES" dirty="0"/>
              <a:t>Se podría elegir la otra</a:t>
            </a:r>
          </a:p>
        </p:txBody>
      </p:sp>
      <p:pic>
        <p:nvPicPr>
          <p:cNvPr id="4" name="Imagen 3"/>
          <p:cNvPicPr>
            <a:picLocks noChangeAspect="1"/>
          </p:cNvPicPr>
          <p:nvPr/>
        </p:nvPicPr>
        <p:blipFill>
          <a:blip r:embed="rId2"/>
          <a:stretch>
            <a:fillRect/>
          </a:stretch>
        </p:blipFill>
        <p:spPr>
          <a:xfrm>
            <a:off x="5473322" y="2218853"/>
            <a:ext cx="4942556" cy="4927109"/>
          </a:xfrm>
          <a:prstGeom prst="rect">
            <a:avLst/>
          </a:prstGeom>
        </p:spPr>
      </p:pic>
      <p:sp>
        <p:nvSpPr>
          <p:cNvPr id="5" name="4 Elipse"/>
          <p:cNvSpPr/>
          <p:nvPr/>
        </p:nvSpPr>
        <p:spPr>
          <a:xfrm>
            <a:off x="5727700" y="36274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5 Elipse"/>
          <p:cNvSpPr/>
          <p:nvPr/>
        </p:nvSpPr>
        <p:spPr>
          <a:xfrm>
            <a:off x="8470900" y="35512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6 Elipse"/>
          <p:cNvSpPr/>
          <p:nvPr/>
        </p:nvSpPr>
        <p:spPr>
          <a:xfrm>
            <a:off x="5727700" y="4846637"/>
            <a:ext cx="990600" cy="10668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396580095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735171" y="1341437"/>
            <a:ext cx="4611529" cy="5562600"/>
          </a:xfrm>
        </p:spPr>
        <p:txBody>
          <a:bodyPr>
            <a:noAutofit/>
          </a:bodyPr>
          <a:lstStyle/>
          <a:p>
            <a:pPr marL="0" indent="0">
              <a:buNone/>
            </a:pPr>
            <a:r>
              <a:rPr lang="es-ES" sz="1400" b="1" dirty="0">
                <a:effectLst>
                  <a:outerShdw blurRad="38100" dist="38100" dir="2700000" algn="tl">
                    <a:srgbClr val="000000">
                      <a:alpha val="43137"/>
                    </a:srgbClr>
                  </a:outerShdw>
                </a:effectLst>
              </a:rPr>
              <a:t>Ahora sigue configurar al PIC, a través de la “palabra de configuración”. Esta palabra puede estar definida en el programa o aquí.</a:t>
            </a:r>
          </a:p>
          <a:p>
            <a:pPr marL="0" indent="0">
              <a:buNone/>
            </a:pPr>
            <a:r>
              <a:rPr lang="es-ES" sz="1400" b="1" dirty="0">
                <a:effectLst>
                  <a:outerShdw blurRad="38100" dist="38100" dir="2700000" algn="tl">
                    <a:srgbClr val="000000">
                      <a:alpha val="43137"/>
                    </a:srgbClr>
                  </a:outerShdw>
                </a:effectLst>
              </a:rPr>
              <a:t>Esta palabra establece los siguientes parámetros para el funcionamiento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tipo de reloj (oscilador) que va a usar (interno, externo, por cristal, etc.) Nosotros usaremos el RC interno porque no necesitamos una precisión extrema y no inutilizamos dos de las patas de E/S del PIC.</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denominado ”perro guardián” lo usaremos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El </a:t>
            </a:r>
            <a:r>
              <a:rPr lang="es-ES" sz="1400" b="1" dirty="0" err="1">
                <a:effectLst>
                  <a:outerShdw blurRad="38100" dist="38100" dir="2700000" algn="tl">
                    <a:srgbClr val="000000">
                      <a:alpha val="43137"/>
                    </a:srgbClr>
                  </a:outerShdw>
                </a:effectLst>
              </a:rPr>
              <a:t>timer</a:t>
            </a:r>
            <a:r>
              <a:rPr lang="es-ES" sz="1400" b="1" dirty="0">
                <a:effectLst>
                  <a:outerShdw blurRad="38100" dist="38100" dir="2700000" algn="tl">
                    <a:srgbClr val="000000">
                      <a:alpha val="43137"/>
                    </a:srgbClr>
                  </a:outerShdw>
                </a:effectLst>
              </a:rPr>
              <a:t> de encendido también deshabilitado</a:t>
            </a:r>
          </a:p>
          <a:p>
            <a:pPr marL="514350" lvl="0" indent="-514350">
              <a:buFont typeface="+mj-lt"/>
              <a:buAutoNum type="arabicPeriod"/>
            </a:pPr>
            <a:r>
              <a:rPr lang="es-ES" sz="1400" b="1" dirty="0">
                <a:effectLst>
                  <a:outerShdw blurRad="38100" dist="38100" dir="2700000" algn="tl">
                    <a:srgbClr val="000000">
                      <a:alpha val="43137"/>
                    </a:srgbClr>
                  </a:outerShdw>
                </a:effectLst>
              </a:rPr>
              <a:t>Habilitaremos el borrado total en un </a:t>
            </a:r>
            <a:r>
              <a:rPr lang="es-ES" sz="1400" b="1" dirty="0" err="1">
                <a:effectLst>
                  <a:outerShdw blurRad="38100" dist="38100" dir="2700000" algn="tl">
                    <a:srgbClr val="000000">
                      <a:alpha val="43137"/>
                    </a:srgbClr>
                  </a:outerShdw>
                </a:effectLst>
              </a:rPr>
              <a:t>reset</a:t>
            </a:r>
            <a:r>
              <a:rPr lang="es-ES" sz="1400" b="1" dirty="0">
                <a:effectLst>
                  <a:outerShdw blurRad="38100" dist="38100" dir="2700000" algn="tl">
                    <a:srgbClr val="000000">
                      <a:alpha val="43137"/>
                    </a:srgbClr>
                  </a:outerShdw>
                </a:effectLst>
              </a:rPr>
              <a:t>.</a:t>
            </a:r>
          </a:p>
          <a:p>
            <a:pPr marL="514350" lvl="0" indent="-514350">
              <a:buFont typeface="+mj-lt"/>
              <a:buAutoNum type="arabicPeriod"/>
            </a:pPr>
            <a:r>
              <a:rPr lang="es-ES" sz="1400" b="1" dirty="0">
                <a:effectLst>
                  <a:outerShdw blurRad="38100" dist="38100" dir="2700000" algn="tl">
                    <a:srgbClr val="000000">
                      <a:alpha val="43137"/>
                    </a:srgbClr>
                  </a:outerShdw>
                </a:effectLst>
              </a:rPr>
              <a:t>No interesa el siguiente que es la detección de apagado</a:t>
            </a:r>
          </a:p>
          <a:p>
            <a:pPr marL="514350" lvl="0" indent="-514350">
              <a:buFont typeface="+mj-lt"/>
              <a:buAutoNum type="arabicPeriod"/>
            </a:pPr>
            <a:r>
              <a:rPr lang="es-ES" sz="1400" b="1" dirty="0">
                <a:effectLst>
                  <a:outerShdw blurRad="38100" dist="38100" dir="2700000" algn="tl">
                    <a:srgbClr val="000000">
                      <a:alpha val="43137"/>
                    </a:srgbClr>
                  </a:outerShdw>
                </a:effectLst>
              </a:rPr>
              <a:t>La siguiente opción debe habilitarse para poder luego programar el PIC con tensiones normales (de lo contrario hace falta mayor tensión para programarlo)</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 lectura de la EEPROM</a:t>
            </a:r>
          </a:p>
          <a:p>
            <a:pPr marL="514350" lvl="0" indent="-514350">
              <a:buFont typeface="+mj-lt"/>
              <a:buAutoNum type="arabicPeriod"/>
            </a:pPr>
            <a:r>
              <a:rPr lang="es-ES" sz="1400" b="1" dirty="0">
                <a:effectLst>
                  <a:outerShdw blurRad="38100" dist="38100" dir="2700000" algn="tl">
                    <a:srgbClr val="000000">
                      <a:alpha val="43137"/>
                    </a:srgbClr>
                  </a:outerShdw>
                </a:effectLst>
              </a:rPr>
              <a:t>Deshabilitamos la protección del código del programa</a:t>
            </a:r>
          </a:p>
        </p:txBody>
      </p:sp>
      <p:pic>
        <p:nvPicPr>
          <p:cNvPr id="4" name="Imagen 3"/>
          <p:cNvPicPr>
            <a:picLocks noChangeAspect="1"/>
          </p:cNvPicPr>
          <p:nvPr/>
        </p:nvPicPr>
        <p:blipFill>
          <a:blip r:embed="rId2"/>
          <a:stretch>
            <a:fillRect/>
          </a:stretch>
        </p:blipFill>
        <p:spPr>
          <a:xfrm>
            <a:off x="5346700" y="2255837"/>
            <a:ext cx="5187097" cy="3017054"/>
          </a:xfrm>
          <a:prstGeom prst="rect">
            <a:avLst/>
          </a:prstGeom>
        </p:spPr>
      </p:pic>
      <p:sp>
        <p:nvSpPr>
          <p:cNvPr id="5" name="Elipse 4"/>
          <p:cNvSpPr/>
          <p:nvPr/>
        </p:nvSpPr>
        <p:spPr>
          <a:xfrm>
            <a:off x="6164666" y="3144224"/>
            <a:ext cx="251375" cy="330971"/>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Título 1"/>
          <p:cNvSpPr>
            <a:spLocks noGrp="1"/>
          </p:cNvSpPr>
          <p:nvPr>
            <p:ph type="title"/>
          </p:nvPr>
        </p:nvSpPr>
        <p:spPr>
          <a:xfrm>
            <a:off x="457200" y="274638"/>
            <a:ext cx="8229600" cy="1143000"/>
          </a:xfrm>
        </p:spPr>
        <p:txBody>
          <a:bodyPr/>
          <a:lstStyle/>
          <a:p>
            <a:r>
              <a:rPr lang="es-ES" dirty="0"/>
              <a:t>Simulador - </a:t>
            </a:r>
            <a:r>
              <a:rPr lang="es-ES" dirty="0" err="1"/>
              <a:t>Seteo</a:t>
            </a:r>
            <a:endParaRPr lang="es-ES" dirty="0"/>
          </a:p>
        </p:txBody>
      </p:sp>
    </p:spTree>
    <p:extLst>
      <p:ext uri="{BB962C8B-B14F-4D97-AF65-F5344CB8AC3E}">
        <p14:creationId xmlns:p14="http://schemas.microsoft.com/office/powerpoint/2010/main" val="420780159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p:txBody>
          <a:bodyPr/>
          <a:lstStyle/>
          <a:p>
            <a:r>
              <a:rPr lang="es-ES" u="sng" dirty="0">
                <a:solidFill>
                  <a:schemeClr val="accent5">
                    <a:lumMod val="50000"/>
                  </a:schemeClr>
                </a:solidFill>
                <a:effectLst>
                  <a:outerShdw blurRad="38100" dist="38100" dir="2700000" algn="tl">
                    <a:srgbClr val="000000">
                      <a:alpha val="43137"/>
                    </a:srgbClr>
                  </a:outerShdw>
                </a:effectLst>
              </a:rPr>
              <a:t>Programas Simple</a:t>
            </a:r>
          </a:p>
        </p:txBody>
      </p:sp>
    </p:spTree>
    <p:extLst>
      <p:ext uri="{BB962C8B-B14F-4D97-AF65-F5344CB8AC3E}">
        <p14:creationId xmlns:p14="http://schemas.microsoft.com/office/powerpoint/2010/main" val="144697440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393700" y="847739"/>
            <a:ext cx="9829800" cy="6270516"/>
          </a:xfrm>
          <a:prstGeom prst="rect">
            <a:avLst/>
          </a:prstGeom>
        </p:spPr>
      </p:pic>
      <p:sp>
        <p:nvSpPr>
          <p:cNvPr id="3" name="CuadroTexto 2"/>
          <p:cNvSpPr txBox="1"/>
          <p:nvPr/>
        </p:nvSpPr>
        <p:spPr>
          <a:xfrm>
            <a:off x="1604011" y="293358"/>
            <a:ext cx="7529271" cy="362279"/>
          </a:xfrm>
          <a:prstGeom prst="rect">
            <a:avLst/>
          </a:prstGeom>
          <a:solidFill>
            <a:schemeClr val="tx1">
              <a:lumMod val="95000"/>
              <a:lumOff val="5000"/>
            </a:schemeClr>
          </a:solidFill>
        </p:spPr>
        <p:txBody>
          <a:bodyPr wrap="square" rtlCol="0">
            <a:spAutoFit/>
          </a:bodyPr>
          <a:lstStyle/>
          <a:p>
            <a:pPr algn="ctr"/>
            <a:r>
              <a:rPr lang="es-ES" sz="1754" b="1" dirty="0">
                <a:solidFill>
                  <a:schemeClr val="bg1"/>
                </a:solidFill>
              </a:rPr>
              <a:t>Estructura de un Programa Simple</a:t>
            </a:r>
          </a:p>
        </p:txBody>
      </p:sp>
    </p:spTree>
    <p:extLst>
      <p:ext uri="{BB962C8B-B14F-4D97-AF65-F5344CB8AC3E}">
        <p14:creationId xmlns:p14="http://schemas.microsoft.com/office/powerpoint/2010/main" val="149806690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330502" y="1218146"/>
            <a:ext cx="8054153" cy="5647164"/>
          </a:xfrm>
          <a:prstGeom prst="rect">
            <a:avLst/>
          </a:prstGeom>
        </p:spPr>
      </p:pic>
    </p:spTree>
    <p:extLst>
      <p:ext uri="{BB962C8B-B14F-4D97-AF65-F5344CB8AC3E}">
        <p14:creationId xmlns:p14="http://schemas.microsoft.com/office/powerpoint/2010/main" val="42594355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469900" y="410521"/>
            <a:ext cx="9677400" cy="6827421"/>
          </a:xfrm>
          <a:prstGeom prst="rect">
            <a:avLst/>
          </a:prstGeom>
        </p:spPr>
      </p:pic>
    </p:spTree>
    <p:extLst>
      <p:ext uri="{BB962C8B-B14F-4D97-AF65-F5344CB8AC3E}">
        <p14:creationId xmlns:p14="http://schemas.microsoft.com/office/powerpoint/2010/main" val="390053213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98500" y="2843212"/>
            <a:ext cx="9385300" cy="1470025"/>
          </a:xfrm>
        </p:spPr>
        <p:txBody>
          <a:bodyPr/>
          <a:lstStyle/>
          <a:p>
            <a:r>
              <a:rPr lang="es-ES" dirty="0">
                <a:effectLst>
                  <a:outerShdw blurRad="38100" dist="38100" dir="2700000" algn="tl">
                    <a:srgbClr val="000000">
                      <a:alpha val="43137"/>
                    </a:srgbClr>
                  </a:outerShdw>
                </a:effectLst>
              </a:rPr>
              <a:t>Primer Programa </a:t>
            </a:r>
            <a:r>
              <a:rPr lang="es-ES" dirty="0" err="1">
                <a:effectLst>
                  <a:outerShdw blurRad="38100" dist="38100" dir="2700000" algn="tl">
                    <a:srgbClr val="000000">
                      <a:alpha val="43137"/>
                    </a:srgbClr>
                  </a:outerShdw>
                </a:effectLst>
              </a:rPr>
              <a:t>Assembler</a:t>
            </a:r>
            <a:endParaRPr lang="es-ES"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5938984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a:t>
            </a:r>
          </a:p>
        </p:txBody>
      </p:sp>
      <p:pic>
        <p:nvPicPr>
          <p:cNvPr id="27651" name="3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145" y="1240697"/>
            <a:ext cx="4955787" cy="296787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27652" name="4 Image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6255" y="4446559"/>
            <a:ext cx="5500014" cy="2904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8247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a:spLocks noGrp="1"/>
          </p:cNvSpPr>
          <p:nvPr>
            <p:ph type="title"/>
          </p:nvPr>
        </p:nvSpPr>
        <p:spPr>
          <a:xfrm>
            <a:off x="810895" y="302738"/>
            <a:ext cx="9071610" cy="619473"/>
          </a:xfrm>
          <a:ln>
            <a:solidFill>
              <a:schemeClr val="tx1"/>
            </a:solidFill>
          </a:ln>
        </p:spPr>
        <p:txBody>
          <a:bodyPr>
            <a:normAutofit fontScale="90000"/>
          </a:bodyPr>
          <a:lstStyle/>
          <a:p>
            <a:pPr>
              <a:defRPr/>
            </a:pPr>
            <a:r>
              <a:rPr lang="es-AR" sz="2646" dirty="0"/>
              <a:t>Primer Programa ASSEMBLER</a:t>
            </a:r>
            <a:br>
              <a:rPr lang="es-AR" sz="2646" dirty="0"/>
            </a:br>
            <a:r>
              <a:rPr lang="es-AR" sz="2646" i="1" dirty="0"/>
              <a:t>(Comportamiento de las instrucciones)</a:t>
            </a:r>
            <a:endParaRPr lang="es-AR" sz="2646" dirty="0"/>
          </a:p>
        </p:txBody>
      </p:sp>
      <p:graphicFrame>
        <p:nvGraphicFramePr>
          <p:cNvPr id="5" name="4 Tabla"/>
          <p:cNvGraphicFramePr>
            <a:graphicFrameLocks noGrp="1"/>
          </p:cNvGraphicFramePr>
          <p:nvPr/>
        </p:nvGraphicFramePr>
        <p:xfrm>
          <a:off x="1986845" y="1240697"/>
          <a:ext cx="7169442" cy="5789443"/>
        </p:xfrm>
        <a:graphic>
          <a:graphicData uri="http://schemas.openxmlformats.org/drawingml/2006/table">
            <a:tbl>
              <a:tblPr firstRow="1" bandRow="1">
                <a:tableStyleId>{5C22544A-7EE6-4342-B048-85BDC9FD1C3A}</a:tableStyleId>
              </a:tblPr>
              <a:tblGrid>
                <a:gridCol w="1382836">
                  <a:extLst>
                    <a:ext uri="{9D8B030D-6E8A-4147-A177-3AD203B41FA5}">
                      <a16:colId xmlns:a16="http://schemas.microsoft.com/office/drawing/2014/main" val="20000"/>
                    </a:ext>
                  </a:extLst>
                </a:gridCol>
                <a:gridCol w="5786606">
                  <a:extLst>
                    <a:ext uri="{9D8B030D-6E8A-4147-A177-3AD203B41FA5}">
                      <a16:colId xmlns:a16="http://schemas.microsoft.com/office/drawing/2014/main" val="20001"/>
                    </a:ext>
                  </a:extLst>
                </a:gridCol>
              </a:tblGrid>
              <a:tr h="408733">
                <a:tc>
                  <a:txBody>
                    <a:bodyPr/>
                    <a:lstStyle/>
                    <a:p>
                      <a:endParaRPr lang="es-AR" sz="2000" dirty="0"/>
                    </a:p>
                  </a:txBody>
                  <a:tcPr marL="100789" marR="100789" marT="50391" marB="50391"/>
                </a:tc>
                <a:tc>
                  <a:txBody>
                    <a:bodyPr/>
                    <a:lstStyle/>
                    <a:p>
                      <a:endParaRPr lang="es-AR" sz="2000"/>
                    </a:p>
                  </a:txBody>
                  <a:tcPr marL="100789" marR="100789" marT="50391" marB="50391"/>
                </a:tc>
                <a:extLst>
                  <a:ext uri="{0D108BD9-81ED-4DB2-BD59-A6C34878D82A}">
                    <a16:rowId xmlns:a16="http://schemas.microsoft.com/office/drawing/2014/main" val="10000"/>
                  </a:ext>
                </a:extLst>
              </a:tr>
              <a:tr h="13103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movf</a:t>
                      </a:r>
                      <a:r>
                        <a:rPr lang="es-AR" sz="2000" b="1" i="1" kern="1200" dirty="0">
                          <a:solidFill>
                            <a:schemeClr val="dk1"/>
                          </a:solidFill>
                          <a:effectLst/>
                          <a:latin typeface="+mn-lt"/>
                          <a:ea typeface="+mn-ea"/>
                          <a:cs typeface="+mn-cs"/>
                        </a:rPr>
                        <a:t> </a:t>
                      </a:r>
                      <a:r>
                        <a:rPr lang="es-AR" sz="2000" b="1" i="1" kern="1200" dirty="0" err="1">
                          <a:solidFill>
                            <a:schemeClr val="dk1"/>
                          </a:solidFill>
                          <a:effectLst/>
                          <a:latin typeface="+mn-lt"/>
                          <a:ea typeface="+mn-ea"/>
                          <a:cs typeface="+mn-cs"/>
                        </a:rPr>
                        <a:t>f,d</a:t>
                      </a:r>
                      <a:r>
                        <a:rPr lang="es-AR" sz="2000" b="1" i="1" kern="1200" dirty="0">
                          <a:solidFill>
                            <a:schemeClr val="dk1"/>
                          </a:solidFill>
                          <a:effectLst/>
                          <a:latin typeface="+mn-lt"/>
                          <a:ea typeface="+mn-ea"/>
                          <a:cs typeface="+mn-cs"/>
                        </a:rPr>
                        <a:t>:</a:t>
                      </a:r>
                      <a:endParaRPr lang="es-AR" sz="2000" dirty="0"/>
                    </a:p>
                  </a:txBody>
                  <a:tcPr marL="100789" marR="100789" marT="50391" marB="50391"/>
                </a:tc>
                <a:tc>
                  <a:txBody>
                    <a:bodyPr/>
                    <a:lstStyle/>
                    <a:p>
                      <a:r>
                        <a:rPr lang="es-AR" sz="2000" kern="1200" dirty="0">
                          <a:solidFill>
                            <a:schemeClr val="dk1"/>
                          </a:solidFill>
                          <a:effectLst/>
                          <a:latin typeface="+mn-lt"/>
                          <a:ea typeface="+mn-ea"/>
                          <a:cs typeface="+mn-cs"/>
                        </a:rPr>
                        <a:t>Mueve el contenido del operando fuente, que es una posición de memoria de datos, al destino, que bien puede ser el </a:t>
                      </a:r>
                      <a:r>
                        <a:rPr lang="es-AR" sz="2000" i="1" u="sng" kern="1200" dirty="0">
                          <a:solidFill>
                            <a:schemeClr val="dk1"/>
                          </a:solidFill>
                          <a:effectLst/>
                          <a:latin typeface="+mn-lt"/>
                          <a:ea typeface="+mn-ea"/>
                          <a:cs typeface="+mn-cs"/>
                        </a:rPr>
                        <a:t>registro W</a:t>
                      </a:r>
                      <a:r>
                        <a:rPr lang="es-AR" sz="2000" kern="1200" dirty="0">
                          <a:solidFill>
                            <a:schemeClr val="dk1"/>
                          </a:solidFill>
                          <a:effectLst/>
                          <a:latin typeface="+mn-lt"/>
                          <a:ea typeface="+mn-ea"/>
                          <a:cs typeface="+mn-cs"/>
                        </a:rPr>
                        <a:t> cuando </a:t>
                      </a:r>
                      <a:r>
                        <a:rPr lang="es-AR" sz="2000" i="1" kern="1200" dirty="0">
                          <a:solidFill>
                            <a:schemeClr val="dk1"/>
                          </a:solidFill>
                          <a:effectLst/>
                          <a:latin typeface="+mn-lt"/>
                          <a:ea typeface="+mn-ea"/>
                          <a:cs typeface="+mn-cs"/>
                        </a:rPr>
                        <a:t>d=0, </a:t>
                      </a:r>
                      <a:r>
                        <a:rPr lang="es-AR" sz="2000" kern="1200" dirty="0">
                          <a:solidFill>
                            <a:schemeClr val="dk1"/>
                          </a:solidFill>
                          <a:effectLst/>
                          <a:latin typeface="+mn-lt"/>
                          <a:ea typeface="+mn-ea"/>
                          <a:cs typeface="+mn-cs"/>
                        </a:rPr>
                        <a:t> o el propio fuente cuando </a:t>
                      </a:r>
                      <a:r>
                        <a:rPr lang="es-AR" sz="2000" i="1" u="sng" kern="1200" dirty="0">
                          <a:solidFill>
                            <a:schemeClr val="dk1"/>
                          </a:solidFill>
                          <a:effectLst/>
                          <a:latin typeface="+mn-lt"/>
                          <a:ea typeface="+mn-ea"/>
                          <a:cs typeface="+mn-cs"/>
                        </a:rPr>
                        <a:t>d=1</a:t>
                      </a:r>
                      <a:r>
                        <a:rPr lang="es-AR" sz="2000" kern="1200" dirty="0">
                          <a:solidFill>
                            <a:schemeClr val="dk1"/>
                          </a:solidFill>
                          <a:effectLst/>
                          <a:latin typeface="+mn-lt"/>
                          <a:ea typeface="+mn-ea"/>
                          <a:cs typeface="+mn-cs"/>
                        </a:rPr>
                        <a:t>.</a:t>
                      </a:r>
                      <a:endParaRPr lang="es-AR" sz="2000" dirty="0"/>
                    </a:p>
                  </a:txBody>
                  <a:tcPr marL="100789" marR="100789" marT="50391" marB="50391"/>
                </a:tc>
                <a:extLst>
                  <a:ext uri="{0D108BD9-81ED-4DB2-BD59-A6C34878D82A}">
                    <a16:rowId xmlns:a16="http://schemas.microsoft.com/office/drawing/2014/main" val="10001"/>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a:solidFill>
                            <a:schemeClr val="dk1"/>
                          </a:solidFill>
                          <a:effectLst/>
                          <a:latin typeface="+mn-lt"/>
                          <a:ea typeface="+mn-ea"/>
                          <a:cs typeface="+mn-cs"/>
                        </a:rPr>
                        <a:t>movwf f:</a:t>
                      </a:r>
                    </a:p>
                  </a:txBody>
                  <a:tcPr marL="100789" marR="100789" marT="50391" marB="50391"/>
                </a:tc>
                <a:tc>
                  <a:txBody>
                    <a:bodyPr/>
                    <a:lstStyle/>
                    <a:p>
                      <a:r>
                        <a:rPr lang="es-AR" sz="2000" dirty="0"/>
                        <a:t>Mueve el contenido del registro W a la posición de la memoria de datos identificada</a:t>
                      </a:r>
                      <a:r>
                        <a:rPr lang="es-AR" sz="2000" baseline="0" dirty="0"/>
                        <a:t> por </a:t>
                      </a:r>
                      <a:r>
                        <a:rPr lang="es-AR" sz="2000" i="1" u="sng" baseline="0" dirty="0"/>
                        <a:t>f</a:t>
                      </a:r>
                      <a:r>
                        <a:rPr lang="es-AR" sz="2000" baseline="0" dirty="0"/>
                        <a:t>. Realiza la transferencia W =&gt; f.</a:t>
                      </a:r>
                      <a:endParaRPr lang="es-AR" sz="2000" dirty="0"/>
                    </a:p>
                  </a:txBody>
                  <a:tcPr marL="100789" marR="100789" marT="50391" marB="50391"/>
                </a:tc>
                <a:extLst>
                  <a:ext uri="{0D108BD9-81ED-4DB2-BD59-A6C34878D82A}">
                    <a16:rowId xmlns:a16="http://schemas.microsoft.com/office/drawing/2014/main" val="10002"/>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a:solidFill>
                            <a:schemeClr val="dk1"/>
                          </a:solidFill>
                          <a:effectLst/>
                          <a:latin typeface="+mn-lt"/>
                          <a:ea typeface="+mn-ea"/>
                          <a:cs typeface="+mn-cs"/>
                        </a:rPr>
                        <a:t>movlw k:</a:t>
                      </a:r>
                    </a:p>
                  </a:txBody>
                  <a:tcPr marL="100789" marR="100789" marT="50391" marB="50391"/>
                </a:tc>
                <a:tc>
                  <a:txBody>
                    <a:bodyPr/>
                    <a:lstStyle/>
                    <a:p>
                      <a:r>
                        <a:rPr lang="es-AR" sz="2000" dirty="0"/>
                        <a:t>Mueve el literal </a:t>
                      </a:r>
                      <a:r>
                        <a:rPr lang="es-AR" sz="2000" i="1" u="sng" dirty="0"/>
                        <a:t>k </a:t>
                      </a:r>
                      <a:r>
                        <a:rPr lang="es-AR" sz="2000" i="0" u="none" dirty="0"/>
                        <a:t>incluido en el código de la instrucción al registro W. </a:t>
                      </a:r>
                      <a:r>
                        <a:rPr lang="es-AR" sz="2000" baseline="0" dirty="0"/>
                        <a:t>Realiza la transferencia </a:t>
                      </a:r>
                      <a:r>
                        <a:rPr lang="es-AR" sz="2000" i="1" u="sng" baseline="0" dirty="0"/>
                        <a:t>k</a:t>
                      </a:r>
                      <a:r>
                        <a:rPr lang="es-AR" sz="2000" baseline="0" dirty="0"/>
                        <a:t> =&gt; W.</a:t>
                      </a:r>
                      <a:r>
                        <a:rPr lang="es-AR" sz="2000" i="0" u="none" dirty="0"/>
                        <a:t> </a:t>
                      </a:r>
                      <a:r>
                        <a:rPr lang="es-AR" sz="2000" dirty="0"/>
                        <a:t> </a:t>
                      </a:r>
                    </a:p>
                  </a:txBody>
                  <a:tcPr marL="100789" marR="100789" marT="50391" marB="50391"/>
                </a:tc>
                <a:extLst>
                  <a:ext uri="{0D108BD9-81ED-4DB2-BD59-A6C34878D82A}">
                    <a16:rowId xmlns:a16="http://schemas.microsoft.com/office/drawing/2014/main" val="10003"/>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addwf</a:t>
                      </a:r>
                      <a:r>
                        <a:rPr lang="es-AR" sz="2000" b="1" i="1" kern="1200" dirty="0">
                          <a:solidFill>
                            <a:schemeClr val="dk1"/>
                          </a:solidFill>
                          <a:effectLst/>
                          <a:latin typeface="+mn-lt"/>
                          <a:ea typeface="+mn-ea"/>
                          <a:cs typeface="+mn-cs"/>
                        </a:rPr>
                        <a:t> </a:t>
                      </a:r>
                      <a:r>
                        <a:rPr lang="es-AR" sz="2000" b="1" i="1" kern="1200" dirty="0" err="1">
                          <a:solidFill>
                            <a:schemeClr val="dk1"/>
                          </a:solidFill>
                          <a:effectLst/>
                          <a:latin typeface="+mn-lt"/>
                          <a:ea typeface="+mn-ea"/>
                          <a:cs typeface="+mn-cs"/>
                        </a:rPr>
                        <a:t>f,d</a:t>
                      </a:r>
                      <a:r>
                        <a:rPr lang="es-AR" sz="2000" b="1" i="1" kern="1200" dirty="0">
                          <a:solidFill>
                            <a:schemeClr val="dk1"/>
                          </a:solidFill>
                          <a:effectLst/>
                          <a:latin typeface="+mn-lt"/>
                          <a:ea typeface="+mn-ea"/>
                          <a:cs typeface="+mn-cs"/>
                        </a:rPr>
                        <a:t>:</a:t>
                      </a:r>
                    </a:p>
                  </a:txBody>
                  <a:tcPr marL="100789" marR="100789" marT="50391" marB="50391"/>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0" i="0" kern="1200" dirty="0">
                          <a:solidFill>
                            <a:schemeClr val="dk1"/>
                          </a:solidFill>
                          <a:effectLst/>
                          <a:latin typeface="+mn-lt"/>
                          <a:ea typeface="+mn-ea"/>
                          <a:cs typeface="+mn-cs"/>
                        </a:rPr>
                        <a:t>Suma el contenido</a:t>
                      </a:r>
                      <a:r>
                        <a:rPr lang="es-AR" sz="2000" b="0" i="0" kern="1200" baseline="0" dirty="0">
                          <a:solidFill>
                            <a:schemeClr val="dk1"/>
                          </a:solidFill>
                          <a:effectLst/>
                          <a:latin typeface="+mn-lt"/>
                          <a:ea typeface="+mn-ea"/>
                          <a:cs typeface="+mn-cs"/>
                        </a:rPr>
                        <a:t> del</a:t>
                      </a:r>
                      <a:r>
                        <a:rPr lang="es-AR" sz="2000" b="0" i="1" kern="1200" baseline="0" dirty="0">
                          <a:solidFill>
                            <a:schemeClr val="dk1"/>
                          </a:solidFill>
                          <a:effectLst/>
                          <a:latin typeface="+mn-lt"/>
                          <a:ea typeface="+mn-ea"/>
                          <a:cs typeface="+mn-cs"/>
                        </a:rPr>
                        <a:t> </a:t>
                      </a:r>
                      <a:r>
                        <a:rPr lang="es-AR" sz="2000" b="0" i="1" u="sng" kern="1200" baseline="0" dirty="0">
                          <a:solidFill>
                            <a:schemeClr val="dk1"/>
                          </a:solidFill>
                          <a:effectLst/>
                          <a:latin typeface="+mn-lt"/>
                          <a:ea typeface="+mn-ea"/>
                          <a:cs typeface="+mn-cs"/>
                        </a:rPr>
                        <a:t>registro W</a:t>
                      </a:r>
                      <a:r>
                        <a:rPr lang="es-AR" sz="2000" b="0" i="0" u="none" kern="1200" baseline="0" dirty="0">
                          <a:solidFill>
                            <a:schemeClr val="dk1"/>
                          </a:solidFill>
                          <a:effectLst/>
                          <a:latin typeface="+mn-lt"/>
                          <a:ea typeface="+mn-ea"/>
                          <a:cs typeface="+mn-cs"/>
                        </a:rPr>
                        <a:t> con el de </a:t>
                      </a:r>
                      <a:r>
                        <a:rPr lang="es-AR" sz="2000" b="0" i="1" u="sng" kern="1200" baseline="0" dirty="0">
                          <a:solidFill>
                            <a:schemeClr val="dk1"/>
                          </a:solidFill>
                          <a:effectLst/>
                          <a:latin typeface="+mn-lt"/>
                          <a:ea typeface="+mn-ea"/>
                          <a:cs typeface="+mn-cs"/>
                        </a:rPr>
                        <a:t>f</a:t>
                      </a:r>
                      <a:r>
                        <a:rPr lang="es-AR" sz="2000" b="0" i="0" u="none" kern="1200" baseline="0" dirty="0">
                          <a:solidFill>
                            <a:schemeClr val="dk1"/>
                          </a:solidFill>
                          <a:effectLst/>
                          <a:latin typeface="+mn-lt"/>
                          <a:ea typeface="+mn-ea"/>
                          <a:cs typeface="+mn-cs"/>
                        </a:rPr>
                        <a:t> y deposita el resultado en </a:t>
                      </a:r>
                      <a:r>
                        <a:rPr lang="es-AR" sz="2000" b="0" i="0" u="sng" kern="1200" baseline="0" dirty="0">
                          <a:solidFill>
                            <a:schemeClr val="dk1"/>
                          </a:solidFill>
                          <a:effectLst/>
                          <a:latin typeface="+mn-lt"/>
                          <a:ea typeface="+mn-ea"/>
                          <a:cs typeface="+mn-cs"/>
                        </a:rPr>
                        <a:t>W</a:t>
                      </a:r>
                      <a:r>
                        <a:rPr lang="es-AR" sz="2000" b="0" i="0" u="none" kern="1200" baseline="0" dirty="0">
                          <a:solidFill>
                            <a:schemeClr val="dk1"/>
                          </a:solidFill>
                          <a:effectLst/>
                          <a:latin typeface="+mn-lt"/>
                          <a:ea typeface="+mn-ea"/>
                          <a:cs typeface="+mn-cs"/>
                        </a:rPr>
                        <a:t> si el valor de </a:t>
                      </a:r>
                      <a:r>
                        <a:rPr lang="es-AR" sz="2000" b="0" i="1" u="sng" kern="1200" baseline="0" dirty="0">
                          <a:solidFill>
                            <a:schemeClr val="dk1"/>
                          </a:solidFill>
                          <a:effectLst/>
                          <a:latin typeface="+mn-lt"/>
                          <a:ea typeface="+mn-ea"/>
                          <a:cs typeface="+mn-cs"/>
                        </a:rPr>
                        <a:t>d= 0</a:t>
                      </a:r>
                      <a:r>
                        <a:rPr lang="es-AR" sz="2000" b="0" i="0" u="none" kern="1200" baseline="0" dirty="0">
                          <a:solidFill>
                            <a:schemeClr val="dk1"/>
                          </a:solidFill>
                          <a:effectLst/>
                          <a:latin typeface="+mn-lt"/>
                          <a:ea typeface="+mn-ea"/>
                          <a:cs typeface="+mn-cs"/>
                        </a:rPr>
                        <a:t>. Si </a:t>
                      </a:r>
                      <a:r>
                        <a:rPr lang="es-AR" sz="2000" b="0" i="1" u="sng" kern="1200" baseline="0" dirty="0">
                          <a:solidFill>
                            <a:schemeClr val="dk1"/>
                          </a:solidFill>
                          <a:effectLst/>
                          <a:latin typeface="+mn-lt"/>
                          <a:ea typeface="+mn-ea"/>
                          <a:cs typeface="+mn-cs"/>
                        </a:rPr>
                        <a:t>d= 1</a:t>
                      </a:r>
                      <a:r>
                        <a:rPr lang="es-AR" sz="2000" b="0" i="0" u="none" kern="1200" baseline="0" dirty="0">
                          <a:solidFill>
                            <a:schemeClr val="dk1"/>
                          </a:solidFill>
                          <a:effectLst/>
                          <a:latin typeface="+mn-lt"/>
                          <a:ea typeface="+mn-ea"/>
                          <a:cs typeface="+mn-cs"/>
                        </a:rPr>
                        <a:t> lo deposita en </a:t>
                      </a:r>
                      <a:r>
                        <a:rPr lang="es-AR" sz="2000" b="0" i="1" u="sng" kern="1200" baseline="0" dirty="0">
                          <a:solidFill>
                            <a:schemeClr val="dk1"/>
                          </a:solidFill>
                          <a:effectLst/>
                          <a:latin typeface="+mn-lt"/>
                          <a:ea typeface="+mn-ea"/>
                          <a:cs typeface="+mn-cs"/>
                        </a:rPr>
                        <a:t>f</a:t>
                      </a:r>
                      <a:r>
                        <a:rPr lang="es-AR" sz="2000" b="0" i="0" u="none" kern="1200" baseline="0" dirty="0">
                          <a:solidFill>
                            <a:schemeClr val="dk1"/>
                          </a:solidFill>
                          <a:effectLst/>
                          <a:latin typeface="+mn-lt"/>
                          <a:ea typeface="+mn-ea"/>
                          <a:cs typeface="+mn-cs"/>
                        </a:rPr>
                        <a:t>. </a:t>
                      </a:r>
                      <a:r>
                        <a:rPr lang="es-AR" sz="2000" b="0" i="1" u="sng" kern="1200" baseline="0" dirty="0">
                          <a:solidFill>
                            <a:schemeClr val="dk1"/>
                          </a:solidFill>
                          <a:effectLst/>
                          <a:latin typeface="+mn-lt"/>
                          <a:ea typeface="+mn-ea"/>
                          <a:cs typeface="+mn-cs"/>
                        </a:rPr>
                        <a:t> </a:t>
                      </a:r>
                      <a:r>
                        <a:rPr lang="es-AR" sz="2000" b="0" i="0" u="none" kern="1200" baseline="0" dirty="0">
                          <a:solidFill>
                            <a:schemeClr val="dk1"/>
                          </a:solidFill>
                          <a:effectLst/>
                          <a:latin typeface="+mn-lt"/>
                          <a:ea typeface="+mn-ea"/>
                          <a:cs typeface="+mn-cs"/>
                        </a:rPr>
                        <a:t> </a:t>
                      </a:r>
                      <a:endParaRPr lang="es-AR" sz="2000" b="0" i="1" u="sng" kern="1200" dirty="0">
                        <a:solidFill>
                          <a:schemeClr val="dk1"/>
                        </a:solidFill>
                        <a:effectLst/>
                        <a:latin typeface="+mn-lt"/>
                        <a:ea typeface="+mn-ea"/>
                        <a:cs typeface="+mn-cs"/>
                      </a:endParaRPr>
                    </a:p>
                  </a:txBody>
                  <a:tcPr marL="100789" marR="100789" marT="50391" marB="50391"/>
                </a:tc>
                <a:extLst>
                  <a:ext uri="{0D108BD9-81ED-4DB2-BD59-A6C34878D82A}">
                    <a16:rowId xmlns:a16="http://schemas.microsoft.com/office/drawing/2014/main" val="10004"/>
                  </a:ext>
                </a:extLst>
              </a:tr>
              <a:tr h="10079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2000" b="1" i="1" kern="1200" dirty="0" err="1">
                          <a:solidFill>
                            <a:schemeClr val="dk1"/>
                          </a:solidFill>
                          <a:effectLst/>
                          <a:latin typeface="+mn-lt"/>
                          <a:ea typeface="+mn-ea"/>
                          <a:cs typeface="+mn-cs"/>
                        </a:rPr>
                        <a:t>addlw</a:t>
                      </a:r>
                      <a:r>
                        <a:rPr lang="es-AR" sz="2000" b="1" i="1" kern="1200" dirty="0">
                          <a:solidFill>
                            <a:schemeClr val="dk1"/>
                          </a:solidFill>
                          <a:effectLst/>
                          <a:latin typeface="+mn-lt"/>
                          <a:ea typeface="+mn-ea"/>
                          <a:cs typeface="+mn-cs"/>
                        </a:rPr>
                        <a:t> k:</a:t>
                      </a:r>
                    </a:p>
                  </a:txBody>
                  <a:tcPr marL="100789" marR="100789" marT="50391" marB="50391"/>
                </a:tc>
                <a:tc>
                  <a:txBody>
                    <a:bodyPr/>
                    <a:lstStyle/>
                    <a:p>
                      <a:r>
                        <a:rPr lang="es-AR" sz="2000" b="0" dirty="0"/>
                        <a:t>Suma al contenido del </a:t>
                      </a:r>
                      <a:r>
                        <a:rPr lang="es-AR" sz="2000" b="0" i="1" u="sng" dirty="0"/>
                        <a:t>registro W</a:t>
                      </a:r>
                      <a:r>
                        <a:rPr lang="es-AR" sz="2000" b="0" i="0" u="none" dirty="0"/>
                        <a:t> el literal que acompaña</a:t>
                      </a:r>
                      <a:r>
                        <a:rPr lang="es-AR" sz="2000" b="0" i="0" u="none" baseline="0" dirty="0"/>
                        <a:t> a la instrucción y deposita el resultado en el </a:t>
                      </a:r>
                      <a:r>
                        <a:rPr lang="es-AR" sz="2000" b="0" i="1" u="sng" baseline="0" dirty="0"/>
                        <a:t>registro W</a:t>
                      </a:r>
                      <a:r>
                        <a:rPr lang="es-AR" sz="2000" b="0" i="0" u="none" baseline="0" dirty="0"/>
                        <a:t> </a:t>
                      </a:r>
                      <a:r>
                        <a:rPr lang="es-AR" sz="2000" b="0" i="1" u="none" baseline="0" dirty="0"/>
                        <a:t>(W + k =&gt; W)</a:t>
                      </a:r>
                      <a:endParaRPr lang="es-AR" sz="2000" b="0" dirty="0"/>
                    </a:p>
                  </a:txBody>
                  <a:tcPr marL="100789" marR="100789" marT="50391" marB="50391"/>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0429087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810895" y="302738"/>
            <a:ext cx="9071610" cy="619473"/>
          </a:xfrm>
          <a:ln>
            <a:solidFill>
              <a:schemeClr val="tx1"/>
            </a:solidFill>
            <a:miter lim="800000"/>
            <a:headEnd/>
            <a:tailEnd/>
          </a:ln>
        </p:spPr>
        <p:txBody>
          <a:bodyPr/>
          <a:lstStyle/>
          <a:p>
            <a:r>
              <a:rPr lang="es-AR" altLang="es-ES" sz="2646"/>
              <a:t>Primer Programa ASSEMBLER (14 bits)</a:t>
            </a:r>
          </a:p>
        </p:txBody>
      </p:sp>
      <p:pic>
        <p:nvPicPr>
          <p:cNvPr id="30723" name="4 Imag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885" y="1415689"/>
            <a:ext cx="8887868" cy="2756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7 Rectángulo"/>
          <p:cNvSpPr/>
          <p:nvPr/>
        </p:nvSpPr>
        <p:spPr>
          <a:xfrm>
            <a:off x="1139881" y="2747381"/>
            <a:ext cx="8492385" cy="4320565"/>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1543" b="1" i="1" dirty="0">
                <a:solidFill>
                  <a:schemeClr val="tx1">
                    <a:lumMod val="85000"/>
                    <a:lumOff val="15000"/>
                  </a:schemeClr>
                </a:solidFill>
              </a:rPr>
              <a:t>LIST P  = 16F628</a:t>
            </a:r>
            <a:r>
              <a:rPr lang="es-AR" sz="1543" b="1" i="1" dirty="0">
                <a:solidFill>
                  <a:srgbClr val="FF0000"/>
                </a:solidFill>
              </a:rPr>
              <a:t>	   ; Indica el modelo PIC que se utiliza</a:t>
            </a:r>
          </a:p>
          <a:p>
            <a:pPr>
              <a:defRPr/>
            </a:pPr>
            <a:r>
              <a:rPr lang="es-AR" sz="1543" b="1" i="1" dirty="0">
                <a:solidFill>
                  <a:srgbClr val="FF0000"/>
                </a:solidFill>
              </a:rPr>
              <a:t>		   ; Es una directiva del Ensamblador</a:t>
            </a:r>
          </a:p>
          <a:p>
            <a:pPr>
              <a:defRPr/>
            </a:pPr>
            <a:r>
              <a:rPr lang="es-AR" sz="1543" b="1" i="1" dirty="0">
                <a:solidFill>
                  <a:srgbClr val="FF0000"/>
                </a:solidFill>
              </a:rPr>
              <a:t>		   ; ZONA de ETIQUETAS</a:t>
            </a:r>
          </a:p>
          <a:p>
            <a:pPr>
              <a:defRPr/>
            </a:pPr>
            <a:r>
              <a:rPr lang="es-AR" sz="1543" b="1" i="1" dirty="0">
                <a:solidFill>
                  <a:schemeClr val="tx2">
                    <a:lumMod val="60000"/>
                    <a:lumOff val="40000"/>
                  </a:schemeClr>
                </a:solidFill>
              </a:rPr>
              <a:t>OPERANDO1</a:t>
            </a:r>
            <a:r>
              <a:rPr lang="es-AR" sz="1543" b="1" i="1" dirty="0">
                <a:solidFill>
                  <a:srgbClr val="FF0000"/>
                </a:solidFill>
              </a:rPr>
              <a:t> EQU 0x0c  ;Define la posición del operando 1</a:t>
            </a:r>
          </a:p>
          <a:p>
            <a:pPr>
              <a:defRPr/>
            </a:pPr>
            <a:r>
              <a:rPr lang="es-AR" sz="1543" b="1" i="1" dirty="0">
                <a:solidFill>
                  <a:schemeClr val="tx2">
                    <a:lumMod val="60000"/>
                    <a:lumOff val="40000"/>
                  </a:schemeClr>
                </a:solidFill>
              </a:rPr>
              <a:t>OPERANDO2</a:t>
            </a:r>
            <a:r>
              <a:rPr lang="es-AR" sz="1543" b="1" i="1" dirty="0">
                <a:solidFill>
                  <a:srgbClr val="FF0000"/>
                </a:solidFill>
              </a:rPr>
              <a:t> EQU 0x0d  ;Define la posición del operando 2</a:t>
            </a:r>
          </a:p>
          <a:p>
            <a:pPr>
              <a:defRPr/>
            </a:pPr>
            <a:r>
              <a:rPr lang="es-AR" sz="1543" b="1" i="1" dirty="0">
                <a:solidFill>
                  <a:schemeClr val="tx2">
                    <a:lumMod val="60000"/>
                    <a:lumOff val="40000"/>
                  </a:schemeClr>
                </a:solidFill>
              </a:rPr>
              <a:t>RESULTADO</a:t>
            </a:r>
            <a:r>
              <a:rPr lang="es-AR" sz="1543" b="1" i="1" dirty="0">
                <a:solidFill>
                  <a:srgbClr val="FF0000"/>
                </a:solidFill>
              </a:rPr>
              <a:t>   EQU 0x0e  ;Define la posición del resultado</a:t>
            </a:r>
          </a:p>
          <a:p>
            <a:pPr>
              <a:defRPr/>
            </a:pPr>
            <a:r>
              <a:rPr lang="es-AR" sz="1543" b="1" i="1" dirty="0">
                <a:solidFill>
                  <a:schemeClr val="tx1">
                    <a:lumMod val="85000"/>
                    <a:lumOff val="15000"/>
                  </a:schemeClr>
                </a:solidFill>
              </a:rPr>
              <a:t>ORG 0</a:t>
            </a:r>
            <a:r>
              <a:rPr lang="es-AR" sz="1543" b="1" i="1" dirty="0">
                <a:solidFill>
                  <a:srgbClr val="FF0000"/>
                </a:solidFill>
              </a:rPr>
              <a:t>		   ;Comando que indica al ensamblador </a:t>
            </a:r>
          </a:p>
          <a:p>
            <a:pPr>
              <a:defRPr/>
            </a:pPr>
            <a:r>
              <a:rPr lang="es-AR" sz="1543" b="1" i="1" dirty="0">
                <a:solidFill>
                  <a:srgbClr val="FF0000"/>
                </a:solidFill>
              </a:rPr>
              <a:t>		   ;la dirección de memoria de programa </a:t>
            </a:r>
          </a:p>
          <a:p>
            <a:pPr>
              <a:defRPr/>
            </a:pPr>
            <a:r>
              <a:rPr lang="es-AR" sz="1543" b="1" i="1" dirty="0">
                <a:solidFill>
                  <a:srgbClr val="FF0000"/>
                </a:solidFill>
              </a:rPr>
              <a:t>		   ; donde se situará  la siguiente instrucción</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.5</a:t>
            </a:r>
            <a:r>
              <a:rPr lang="es-AR" sz="1543" b="1" i="1" dirty="0">
                <a:solidFill>
                  <a:srgbClr val="FF0000"/>
                </a:solidFill>
              </a:rPr>
              <a:t>		  ; 5 =&gt; W (primera instrucción)</a:t>
            </a:r>
          </a:p>
          <a:p>
            <a:pPr>
              <a:defRPr/>
            </a:pPr>
            <a:r>
              <a:rPr lang="es-AR" sz="1543" b="1" i="1" dirty="0">
                <a:solidFill>
                  <a:srgbClr val="FF0000"/>
                </a:solidFill>
              </a:rPr>
              <a:t> movwf   </a:t>
            </a:r>
            <a:r>
              <a:rPr lang="es-AR" sz="1543" b="1" i="1" dirty="0">
                <a:solidFill>
                  <a:schemeClr val="tx2">
                    <a:lumMod val="60000"/>
                    <a:lumOff val="40000"/>
                  </a:schemeClr>
                </a:solidFill>
              </a:rPr>
              <a:t>OPERANDO1 </a:t>
            </a:r>
            <a:r>
              <a:rPr lang="es-AR" sz="1543" b="1" i="1" dirty="0">
                <a:solidFill>
                  <a:srgbClr val="FF0000"/>
                </a:solidFill>
              </a:rPr>
              <a:t>	  ; W =&gt; operando1</a:t>
            </a:r>
          </a:p>
          <a:p>
            <a:pPr>
              <a:defRPr/>
            </a:pPr>
            <a:r>
              <a:rPr lang="es-AR" sz="1543" b="1" i="1" dirty="0">
                <a:solidFill>
                  <a:srgbClr val="FF0000"/>
                </a:solidFill>
              </a:rPr>
              <a:t> </a:t>
            </a:r>
            <a:r>
              <a:rPr lang="es-AR" sz="1543" b="1" i="1" dirty="0" err="1">
                <a:solidFill>
                  <a:srgbClr val="FF0000"/>
                </a:solidFill>
              </a:rPr>
              <a:t>movlw</a:t>
            </a:r>
            <a:r>
              <a:rPr lang="es-AR" sz="1543" b="1" i="1" dirty="0">
                <a:solidFill>
                  <a:srgbClr val="FF0000"/>
                </a:solidFill>
              </a:rPr>
              <a:t>   </a:t>
            </a:r>
            <a:r>
              <a:rPr lang="es-AR" sz="1543" b="1" i="1" dirty="0">
                <a:solidFill>
                  <a:srgbClr val="00B050"/>
                </a:solidFill>
              </a:rPr>
              <a:t>.2</a:t>
            </a:r>
            <a:r>
              <a:rPr lang="es-AR" sz="1543" b="1" i="1" dirty="0">
                <a:solidFill>
                  <a:srgbClr val="FF0000"/>
                </a:solidFill>
              </a:rPr>
              <a:t> 	  ; 2 =&gt; W</a:t>
            </a:r>
          </a:p>
          <a:p>
            <a:pPr>
              <a:defRPr/>
            </a:pPr>
            <a:r>
              <a:rPr lang="es-AR" sz="1543" b="1" i="1" dirty="0">
                <a:solidFill>
                  <a:srgbClr val="FF0000"/>
                </a:solidFill>
              </a:rPr>
              <a:t> movwf   </a:t>
            </a:r>
            <a:r>
              <a:rPr lang="es-AR" sz="1543" b="1" i="1" dirty="0">
                <a:solidFill>
                  <a:schemeClr val="tx2">
                    <a:lumMod val="60000"/>
                    <a:lumOff val="40000"/>
                  </a:schemeClr>
                </a:solidFill>
              </a:rPr>
              <a:t>OPERANDO2 </a:t>
            </a:r>
            <a:r>
              <a:rPr lang="es-AR" sz="1543" b="1" i="1" dirty="0">
                <a:solidFill>
                  <a:srgbClr val="FF0000"/>
                </a:solidFill>
              </a:rPr>
              <a:t>	  ; W =&gt; operando2 </a:t>
            </a:r>
          </a:p>
          <a:p>
            <a:pPr>
              <a:defRPr/>
            </a:pPr>
            <a:r>
              <a:rPr lang="es-AR" sz="1543" b="1" i="1" dirty="0">
                <a:solidFill>
                  <a:srgbClr val="FF0000"/>
                </a:solidFill>
              </a:rPr>
              <a:t> </a:t>
            </a:r>
            <a:r>
              <a:rPr lang="es-AR" sz="1543" b="1" i="1" dirty="0" err="1">
                <a:solidFill>
                  <a:srgbClr val="FF0000"/>
                </a:solidFill>
              </a:rPr>
              <a:t>movf</a:t>
            </a:r>
            <a:r>
              <a:rPr lang="es-AR" sz="1543" b="1" i="1" dirty="0">
                <a:solidFill>
                  <a:srgbClr val="FF0000"/>
                </a:solidFill>
              </a:rPr>
              <a:t>   </a:t>
            </a:r>
            <a:r>
              <a:rPr lang="es-AR" sz="1543" b="1" i="1" dirty="0">
                <a:solidFill>
                  <a:schemeClr val="tx2">
                    <a:lumMod val="60000"/>
                    <a:lumOff val="40000"/>
                  </a:schemeClr>
                </a:solidFill>
              </a:rPr>
              <a:t>OPERANDO1</a:t>
            </a:r>
            <a:r>
              <a:rPr lang="es-AR" sz="1543" b="1" i="1" dirty="0">
                <a:solidFill>
                  <a:schemeClr val="tx1"/>
                </a:solidFill>
              </a:rPr>
              <a:t>,</a:t>
            </a:r>
            <a:r>
              <a:rPr lang="es-AR" sz="1543" b="1" i="1" dirty="0">
                <a:solidFill>
                  <a:schemeClr val="tx2">
                    <a:lumMod val="60000"/>
                    <a:lumOff val="40000"/>
                  </a:schemeClr>
                </a:solidFill>
              </a:rPr>
              <a:t> </a:t>
            </a:r>
            <a:r>
              <a:rPr lang="es-AR" sz="1543" b="1" i="1" dirty="0">
                <a:solidFill>
                  <a:srgbClr val="00B050"/>
                </a:solidFill>
              </a:rPr>
              <a:t>0</a:t>
            </a:r>
            <a:r>
              <a:rPr lang="es-AR" sz="1543" b="1" i="1" dirty="0">
                <a:solidFill>
                  <a:schemeClr val="tx2">
                    <a:lumMod val="60000"/>
                    <a:lumOff val="40000"/>
                  </a:schemeClr>
                </a:solidFill>
              </a:rPr>
              <a:t>   </a:t>
            </a:r>
            <a:r>
              <a:rPr lang="es-AR" sz="1543" b="1" i="1" dirty="0">
                <a:solidFill>
                  <a:srgbClr val="FF0000"/>
                </a:solidFill>
              </a:rPr>
              <a:t>; operando 1 =&gt; W</a:t>
            </a:r>
          </a:p>
          <a:p>
            <a:pPr>
              <a:defRPr/>
            </a:pPr>
            <a:r>
              <a:rPr lang="es-AR" sz="1543" b="1" i="1" dirty="0">
                <a:solidFill>
                  <a:srgbClr val="FF0000"/>
                </a:solidFill>
              </a:rPr>
              <a:t> </a:t>
            </a:r>
            <a:r>
              <a:rPr lang="es-AR" sz="1543" b="1" i="1" dirty="0" err="1">
                <a:solidFill>
                  <a:srgbClr val="FF0000"/>
                </a:solidFill>
              </a:rPr>
              <a:t>addwf</a:t>
            </a:r>
            <a:r>
              <a:rPr lang="es-AR" sz="1543" b="1" i="1" dirty="0">
                <a:solidFill>
                  <a:srgbClr val="FF0000"/>
                </a:solidFill>
              </a:rPr>
              <a:t>   </a:t>
            </a:r>
            <a:r>
              <a:rPr lang="es-AR" sz="1543" b="1" i="1" dirty="0">
                <a:solidFill>
                  <a:schemeClr val="tx2">
                    <a:lumMod val="60000"/>
                    <a:lumOff val="40000"/>
                  </a:schemeClr>
                </a:solidFill>
              </a:rPr>
              <a:t>OPERANDO2</a:t>
            </a:r>
            <a:r>
              <a:rPr lang="es-AR" sz="1543" b="1" i="1" dirty="0">
                <a:solidFill>
                  <a:schemeClr val="tx1"/>
                </a:solidFill>
              </a:rPr>
              <a:t>,</a:t>
            </a:r>
            <a:r>
              <a:rPr lang="es-AR" sz="1543" b="1" i="1" dirty="0">
                <a:solidFill>
                  <a:srgbClr val="FF0000"/>
                </a:solidFill>
              </a:rPr>
              <a:t>  </a:t>
            </a:r>
            <a:r>
              <a:rPr lang="es-AR" sz="1543" b="1" i="1" dirty="0">
                <a:solidFill>
                  <a:srgbClr val="00B050"/>
                </a:solidFill>
              </a:rPr>
              <a:t>0  </a:t>
            </a:r>
            <a:r>
              <a:rPr lang="es-AR" sz="1543" b="1" i="1" dirty="0">
                <a:solidFill>
                  <a:srgbClr val="FF0000"/>
                </a:solidFill>
              </a:rPr>
              <a:t>; W + operando2 =&gt; W</a:t>
            </a:r>
          </a:p>
          <a:p>
            <a:pPr>
              <a:defRPr/>
            </a:pPr>
            <a:r>
              <a:rPr lang="es-AR" sz="1543" b="1" i="1" dirty="0">
                <a:solidFill>
                  <a:srgbClr val="FF0000"/>
                </a:solidFill>
              </a:rPr>
              <a:t> movwf  </a:t>
            </a:r>
            <a:r>
              <a:rPr lang="es-AR" sz="1543" b="1" i="1" dirty="0">
                <a:solidFill>
                  <a:schemeClr val="tx2">
                    <a:lumMod val="60000"/>
                    <a:lumOff val="40000"/>
                  </a:schemeClr>
                </a:solidFill>
              </a:rPr>
              <a:t>RESULTADO</a:t>
            </a:r>
            <a:r>
              <a:rPr lang="es-AR" sz="1543" b="1" i="1" dirty="0">
                <a:solidFill>
                  <a:srgbClr val="FF0000"/>
                </a:solidFill>
              </a:rPr>
              <a:t>	  ; W =&gt; resultado</a:t>
            </a:r>
          </a:p>
          <a:p>
            <a:pPr>
              <a:defRPr/>
            </a:pPr>
            <a:r>
              <a:rPr lang="es-AR" sz="1543" b="1" i="1" dirty="0">
                <a:solidFill>
                  <a:srgbClr val="FF0000"/>
                </a:solidFill>
              </a:rPr>
              <a:t> </a:t>
            </a:r>
            <a:r>
              <a:rPr lang="es-AR" sz="1543" b="1" i="1" dirty="0">
                <a:solidFill>
                  <a:schemeClr val="tx1">
                    <a:lumMod val="85000"/>
                    <a:lumOff val="15000"/>
                  </a:schemeClr>
                </a:solidFill>
              </a:rPr>
              <a:t>END</a:t>
            </a:r>
            <a:r>
              <a:rPr lang="es-AR" sz="1543" b="1" i="1" dirty="0">
                <a:solidFill>
                  <a:srgbClr val="FF0000"/>
                </a:solidFill>
              </a:rPr>
              <a:t>		  ; Directiva de fin de programa</a:t>
            </a:r>
          </a:p>
        </p:txBody>
      </p:sp>
      <p:sp>
        <p:nvSpPr>
          <p:cNvPr id="30725" name="Rectangle 3"/>
          <p:cNvSpPr>
            <a:spLocks noChangeArrowheads="1"/>
          </p:cNvSpPr>
          <p:nvPr/>
        </p:nvSpPr>
        <p:spPr bwMode="auto">
          <a:xfrm>
            <a:off x="306917" y="53152"/>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cs typeface="Arial" panose="020B0604020202020204" pitchFamily="34" charset="0"/>
            </a:endParaRPr>
          </a:p>
        </p:txBody>
      </p:sp>
      <p:sp>
        <p:nvSpPr>
          <p:cNvPr id="30726" name="Rectangle 4"/>
          <p:cNvSpPr>
            <a:spLocks noChangeArrowheads="1"/>
          </p:cNvSpPr>
          <p:nvPr/>
        </p:nvSpPr>
        <p:spPr bwMode="auto">
          <a:xfrm>
            <a:off x="376914" y="609629"/>
            <a:ext cx="184731" cy="397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s-AR" altLang="es-ES" sz="1984"/>
          </a:p>
        </p:txBody>
      </p:sp>
      <p:sp>
        <p:nvSpPr>
          <p:cNvPr id="30727" name="Rectangle 5"/>
          <p:cNvSpPr>
            <a:spLocks noChangeArrowheads="1"/>
          </p:cNvSpPr>
          <p:nvPr/>
        </p:nvSpPr>
        <p:spPr bwMode="auto">
          <a:xfrm>
            <a:off x="376914" y="1181478"/>
            <a:ext cx="300082" cy="261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s-AR" altLang="es-ES" sz="1102">
                <a:ea typeface="Calibri" panose="020F0502020204030204" pitchFamily="34" charset="0"/>
                <a:cs typeface="Arial" panose="020B0604020202020204" pitchFamily="34" charset="0"/>
              </a:rPr>
              <a:t>   </a:t>
            </a:r>
            <a:endParaRPr lang="es-AR" altLang="es-ES" sz="1984">
              <a:ea typeface="Calibri" panose="020F0502020204030204" pitchFamily="34" charset="0"/>
              <a:cs typeface="Arial" panose="020B0604020202020204" pitchFamily="34" charset="0"/>
            </a:endParaRPr>
          </a:p>
        </p:txBody>
      </p:sp>
      <p:sp>
        <p:nvSpPr>
          <p:cNvPr id="12" name="11 CuadroTexto"/>
          <p:cNvSpPr txBox="1"/>
          <p:nvPr/>
        </p:nvSpPr>
        <p:spPr>
          <a:xfrm>
            <a:off x="6102668" y="5682006"/>
            <a:ext cx="3688841" cy="134767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5875">
            <a:solidFill>
              <a:srgbClr val="C00000"/>
            </a:solidFill>
            <a:prstDash val="sysDash"/>
          </a:ln>
          <a:effectLst>
            <a:outerShdw blurRad="50800" dist="38100" dir="2700000" algn="tl" rotWithShape="0">
              <a:prstClr val="black">
                <a:alpha val="40000"/>
              </a:prstClr>
            </a:outerShdw>
          </a:effectLst>
        </p:spPr>
        <p:txBody>
          <a:bodyPr>
            <a:spAutoFit/>
          </a:bodyPr>
          <a:lstStyle/>
          <a:p>
            <a:pPr marL="188989" indent="-188989">
              <a:buFont typeface="Arial" pitchFamily="34" charset="0"/>
              <a:buChar char="•"/>
              <a:defRPr/>
            </a:pPr>
            <a:r>
              <a:rPr lang="es-AR" sz="1323" b="1" dirty="0">
                <a:solidFill>
                  <a:schemeClr val="tx1">
                    <a:lumMod val="85000"/>
                    <a:lumOff val="15000"/>
                  </a:schemeClr>
                </a:solidFill>
                <a:latin typeface="Arial" charset="0"/>
              </a:rPr>
              <a:t>Directivas del Compilador en mayúsculas</a:t>
            </a:r>
          </a:p>
          <a:p>
            <a:pPr marL="188989" indent="-188989">
              <a:buFont typeface="Arial" pitchFamily="34" charset="0"/>
              <a:buChar char="•"/>
              <a:defRPr/>
            </a:pPr>
            <a:r>
              <a:rPr lang="es-AR" sz="1323" b="1" dirty="0">
                <a:solidFill>
                  <a:schemeClr val="tx2">
                    <a:lumMod val="60000"/>
                    <a:lumOff val="40000"/>
                  </a:schemeClr>
                </a:solidFill>
                <a:latin typeface="Arial" charset="0"/>
              </a:rPr>
              <a:t>Nombre de variables en mayúsculas</a:t>
            </a:r>
          </a:p>
          <a:p>
            <a:pPr marL="188989" indent="-188989">
              <a:buFont typeface="Arial" pitchFamily="34" charset="0"/>
              <a:buChar char="•"/>
              <a:defRPr/>
            </a:pPr>
            <a:r>
              <a:rPr lang="es-AR" sz="1323" b="1" dirty="0">
                <a:solidFill>
                  <a:srgbClr val="FF0000"/>
                </a:solidFill>
                <a:latin typeface="Arial" charset="0"/>
              </a:rPr>
              <a:t>Nemónicos en minúsculas</a:t>
            </a:r>
          </a:p>
          <a:p>
            <a:pPr marL="188989" indent="-188989">
              <a:buFont typeface="Arial" pitchFamily="34" charset="0"/>
              <a:buChar char="•"/>
              <a:defRPr/>
            </a:pPr>
            <a:r>
              <a:rPr lang="es-AR" sz="1543" b="1" i="1" dirty="0">
                <a:solidFill>
                  <a:srgbClr val="00B050"/>
                </a:solidFill>
                <a:latin typeface="Arial" charset="0"/>
              </a:rPr>
              <a:t>Valores de operando (constantes)</a:t>
            </a:r>
          </a:p>
          <a:p>
            <a:pPr marL="188989" indent="-188989">
              <a:buFont typeface="Arial" pitchFamily="34" charset="0"/>
              <a:buChar char="•"/>
              <a:defRPr/>
            </a:pPr>
            <a:r>
              <a:rPr lang="es-AR" sz="1323" dirty="0">
                <a:latin typeface="Arial" charset="0"/>
              </a:rPr>
              <a:t>Programas bien estructurado</a:t>
            </a:r>
          </a:p>
        </p:txBody>
      </p:sp>
      <p:sp>
        <p:nvSpPr>
          <p:cNvPr id="2" name="1 Cerrar llave"/>
          <p:cNvSpPr/>
          <p:nvPr/>
        </p:nvSpPr>
        <p:spPr>
          <a:xfrm>
            <a:off x="6655644" y="2906625"/>
            <a:ext cx="118995" cy="2001914"/>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s-AR" sz="1984"/>
          </a:p>
        </p:txBody>
      </p:sp>
      <p:sp>
        <p:nvSpPr>
          <p:cNvPr id="3" name="2 CuadroTexto"/>
          <p:cNvSpPr txBox="1"/>
          <p:nvPr/>
        </p:nvSpPr>
        <p:spPr>
          <a:xfrm>
            <a:off x="6874270" y="3690592"/>
            <a:ext cx="3076483" cy="397673"/>
          </a:xfrm>
          <a:prstGeom prst="rect">
            <a:avLst/>
          </a:prstGeom>
          <a:solidFill>
            <a:schemeClr val="accent3">
              <a:lumMod val="40000"/>
              <a:lumOff val="60000"/>
            </a:schemeClr>
          </a:solidFill>
        </p:spPr>
        <p:txBody>
          <a:bodyPr wrap="none">
            <a:spAutoFit/>
          </a:bodyPr>
          <a:lstStyle/>
          <a:p>
            <a:pPr algn="r">
              <a:defRPr/>
            </a:pPr>
            <a:r>
              <a:rPr lang="es-AR" sz="1984" i="1" dirty="0">
                <a:latin typeface="Arial" charset="0"/>
              </a:rPr>
              <a:t>Directivas del Compilador</a:t>
            </a:r>
          </a:p>
        </p:txBody>
      </p:sp>
    </p:spTree>
    <p:extLst>
      <p:ext uri="{BB962C8B-B14F-4D97-AF65-F5344CB8AC3E}">
        <p14:creationId xmlns:p14="http://schemas.microsoft.com/office/powerpoint/2010/main" val="213450604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a:solidFill>
                  <a:schemeClr val="accent5">
                    <a:lumMod val="50000"/>
                  </a:schemeClr>
                </a:solidFill>
                <a:effectLst>
                  <a:outerShdw blurRad="38100" dist="38100" dir="2700000" algn="tl">
                    <a:srgbClr val="000000">
                      <a:alpha val="43137"/>
                    </a:srgbClr>
                  </a:outerShdw>
                </a:effectLst>
              </a:rPr>
              <a:t>Practica 1</a:t>
            </a:r>
          </a:p>
        </p:txBody>
      </p:sp>
    </p:spTree>
    <p:extLst>
      <p:ext uri="{BB962C8B-B14F-4D97-AF65-F5344CB8AC3E}">
        <p14:creationId xmlns:p14="http://schemas.microsoft.com/office/powerpoint/2010/main" val="198650440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65101" y="1142900"/>
            <a:ext cx="10129292" cy="4770537"/>
          </a:xfrm>
          <a:prstGeom prst="rect">
            <a:avLst/>
          </a:prstGeom>
        </p:spPr>
        <p:txBody>
          <a:bodyPr wrap="square">
            <a:spAutoFit/>
          </a:bodyPr>
          <a:lstStyle/>
          <a:p>
            <a:r>
              <a:rPr lang="es-ES" sz="1600" b="1" dirty="0">
                <a:latin typeface="Courier New" panose="02070309020205020404" pitchFamily="49" charset="0"/>
              </a:rPr>
              <a:t>;******************************************************************************</a:t>
            </a:r>
          </a:p>
          <a:p>
            <a:r>
              <a:rPr lang="es-ES" sz="1600" b="1" dirty="0">
                <a:latin typeface="Courier New" panose="02070309020205020404" pitchFamily="49" charset="0"/>
              </a:rPr>
              <a:t>;Practica 1 - Encendido de un Led</a:t>
            </a:r>
          </a:p>
          <a:p>
            <a:r>
              <a:rPr lang="es-ES" sz="1600" b="1" dirty="0">
                <a:latin typeface="Courier New" panose="02070309020205020404" pitchFamily="49" charset="0"/>
              </a:rPr>
              <a:t>;Este programa enciende un led conectado al puerto B del micro en el placa </a:t>
            </a:r>
          </a:p>
          <a:p>
            <a:r>
              <a:rPr lang="es-ES" sz="1600" b="1" dirty="0">
                <a:latin typeface="Courier New" panose="02070309020205020404" pitchFamily="49" charset="0"/>
              </a:rPr>
              <a:t>;******************************************************************************</a:t>
            </a:r>
          </a:p>
          <a:p>
            <a:r>
              <a:rPr lang="es-ES" sz="1600" b="1" dirty="0">
                <a:latin typeface="Courier New" panose="02070309020205020404" pitchFamily="49" charset="0"/>
              </a:rPr>
              <a:t>#</a:t>
            </a:r>
            <a:r>
              <a:rPr lang="es-ES" sz="1600" b="1" dirty="0" err="1">
                <a:latin typeface="Courier New" panose="02070309020205020404" pitchFamily="49" charset="0"/>
              </a:rPr>
              <a:t>include</a:t>
            </a:r>
            <a:r>
              <a:rPr lang="es-ES" sz="1600" b="1" dirty="0">
                <a:latin typeface="Courier New" panose="02070309020205020404" pitchFamily="49" charset="0"/>
              </a:rPr>
              <a:t> &lt;p16F628.inc&gt;	    ;Incluimos el archivo que contiene los registros del </a:t>
            </a:r>
          </a:p>
          <a:p>
            <a:r>
              <a:rPr lang="es-ES" sz="1600" b="1" dirty="0">
                <a:latin typeface="Courier New" panose="02070309020205020404" pitchFamily="49" charset="0"/>
              </a:rPr>
              <a:t>	__CONFIG 3F10			    ;micro que utilizaremos</a:t>
            </a:r>
          </a:p>
          <a:p>
            <a:endParaRPr lang="es-ES" sz="1600" b="1" dirty="0">
              <a:solidFill>
                <a:srgbClr val="FF0000"/>
              </a:solidFill>
              <a:latin typeface="Courier New" panose="02070309020205020404" pitchFamily="49" charset="0"/>
            </a:endParaRPr>
          </a:p>
          <a:p>
            <a:r>
              <a:rPr lang="es-ES" sz="1600" b="1" dirty="0">
                <a:solidFill>
                  <a:srgbClr val="FF0000"/>
                </a:solidFill>
                <a:latin typeface="Courier New" panose="02070309020205020404" pitchFamily="49" charset="0"/>
              </a:rPr>
              <a:t>	</a:t>
            </a:r>
            <a:r>
              <a:rPr lang="es-ES" sz="1600" b="1" dirty="0" err="1">
                <a:latin typeface="Courier New" panose="02070309020205020404" pitchFamily="49" charset="0"/>
              </a:rPr>
              <a:t>org</a:t>
            </a:r>
            <a:r>
              <a:rPr lang="es-ES" sz="1600" b="1" dirty="0">
                <a:latin typeface="Courier New" panose="02070309020205020404" pitchFamily="49" charset="0"/>
              </a:rPr>
              <a:t> 0		    ;</a:t>
            </a:r>
            <a:r>
              <a:rPr lang="es-ES" sz="1600" b="1" dirty="0" err="1">
                <a:latin typeface="Courier New" panose="02070309020205020404" pitchFamily="49" charset="0"/>
              </a:rPr>
              <a:t>Instruccion</a:t>
            </a:r>
            <a:r>
              <a:rPr lang="es-ES" sz="1600" b="1" dirty="0">
                <a:latin typeface="Courier New" panose="02070309020205020404" pitchFamily="49" charset="0"/>
              </a:rPr>
              <a:t> al compilador, esta indica que el </a:t>
            </a:r>
            <a:r>
              <a:rPr lang="es-ES" sz="1600" b="1" dirty="0" err="1">
                <a:latin typeface="Courier New" panose="02070309020205020404" pitchFamily="49" charset="0"/>
              </a:rPr>
              <a:t>codigo</a:t>
            </a:r>
            <a:r>
              <a:rPr lang="es-ES" sz="1600" b="1" dirty="0">
                <a:latin typeface="Courier New" panose="02070309020205020404" pitchFamily="49" charset="0"/>
              </a:rPr>
              <a:t> </a:t>
            </a:r>
          </a:p>
          <a:p>
            <a:r>
              <a:rPr lang="es-ES" sz="1600" b="1" dirty="0">
                <a:latin typeface="Courier New" panose="02070309020205020404" pitchFamily="49" charset="0"/>
              </a:rPr>
              <a:t>                           ;precedente</a:t>
            </a:r>
          </a:p>
          <a:p>
            <a:r>
              <a:rPr lang="es-ES" sz="1600" b="1" dirty="0">
                <a:latin typeface="Courier New" panose="02070309020205020404" pitchFamily="49" charset="0"/>
              </a:rPr>
              <a:t>			    ;a esta </a:t>
            </a:r>
            <a:r>
              <a:rPr lang="es-ES" sz="1600" b="1" dirty="0" err="1">
                <a:latin typeface="Courier New" panose="02070309020205020404" pitchFamily="49" charset="0"/>
              </a:rPr>
              <a:t>instruccion</a:t>
            </a:r>
            <a:r>
              <a:rPr lang="es-ES" sz="1600" b="1" dirty="0">
                <a:latin typeface="Courier New" panose="02070309020205020404" pitchFamily="49" charset="0"/>
              </a:rPr>
              <a:t> se situara en la </a:t>
            </a:r>
            <a:r>
              <a:rPr lang="es-ES" sz="1600" b="1" dirty="0" err="1">
                <a:latin typeface="Courier New" panose="02070309020205020404" pitchFamily="49" charset="0"/>
              </a:rPr>
              <a:t>direccion</a:t>
            </a:r>
            <a:r>
              <a:rPr lang="es-ES" sz="1600" b="1" dirty="0">
                <a:latin typeface="Courier New" panose="02070309020205020404" pitchFamily="49" charset="0"/>
              </a:rPr>
              <a:t> </a:t>
            </a:r>
          </a:p>
          <a:p>
            <a:r>
              <a:rPr lang="es-ES" sz="1600" b="1" dirty="0">
                <a:latin typeface="Courier New" panose="02070309020205020404" pitchFamily="49" charset="0"/>
              </a:rPr>
              <a:t>                           ;indicada, en este</a:t>
            </a:r>
          </a:p>
          <a:p>
            <a:r>
              <a:rPr lang="es-ES" sz="1600" b="1" dirty="0">
                <a:latin typeface="Courier New" panose="02070309020205020404" pitchFamily="49" charset="0"/>
              </a:rPr>
              <a:t>			    ;caso la </a:t>
            </a:r>
            <a:r>
              <a:rPr lang="es-ES" sz="1600" b="1" dirty="0" err="1">
                <a:latin typeface="Courier New" panose="02070309020205020404" pitchFamily="49" charset="0"/>
              </a:rPr>
              <a:t>direccion</a:t>
            </a:r>
            <a:r>
              <a:rPr lang="es-ES" sz="1600" b="1" dirty="0">
                <a:latin typeface="Courier New" panose="02070309020205020404" pitchFamily="49" charset="0"/>
              </a:rPr>
              <a:t> 0 </a:t>
            </a:r>
            <a:r>
              <a:rPr lang="es-ES" sz="1600" b="1" dirty="0" err="1">
                <a:latin typeface="Courier New" panose="02070309020205020404" pitchFamily="49" charset="0"/>
              </a:rPr>
              <a:t>Hexa</a:t>
            </a:r>
            <a:endParaRPr lang="es-ES" sz="1600" b="1" dirty="0">
              <a:latin typeface="Courier New" panose="02070309020205020404" pitchFamily="49" charset="0"/>
            </a:endParaRPr>
          </a:p>
          <a:p>
            <a:r>
              <a:rPr lang="es-ES" sz="1600" b="1" dirty="0">
                <a:solidFill>
                  <a:schemeClr val="accent5">
                    <a:lumMod val="50000"/>
                  </a:schemeClr>
                </a:solidFill>
                <a:latin typeface="Courier New" panose="02070309020205020404" pitchFamily="49" charset="0"/>
              </a:rPr>
              <a:t>Inicio:</a:t>
            </a:r>
          </a:p>
          <a:p>
            <a:pPr lvl="1"/>
            <a:r>
              <a:rPr lang="es-ES" sz="1600" b="1" dirty="0">
                <a:latin typeface="Courier New" panose="02070309020205020404" pitchFamily="49" charset="0"/>
              </a:rPr>
              <a:t>    </a:t>
            </a:r>
            <a:r>
              <a:rPr lang="es-ES" sz="1600" b="1" dirty="0" err="1">
                <a:solidFill>
                  <a:srgbClr val="FF0000"/>
                </a:solidFill>
                <a:highlight>
                  <a:srgbClr val="FFFF00"/>
                </a:highlight>
                <a:latin typeface="Courier New" panose="02070309020205020404" pitchFamily="49" charset="0"/>
              </a:rPr>
              <a:t>bsf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STATUS</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RP0	</a:t>
            </a:r>
            <a:r>
              <a:rPr lang="es-ES" sz="1600" b="1" dirty="0">
                <a:latin typeface="Courier New" panose="02070309020205020404" pitchFamily="49" charset="0"/>
              </a:rPr>
              <a:t>;selecciono banco 1</a:t>
            </a:r>
          </a:p>
          <a:p>
            <a:pPr lvl="1"/>
            <a:r>
              <a:rPr lang="es-ES" sz="1600" b="1" dirty="0">
                <a:latin typeface="Courier New" panose="02070309020205020404" pitchFamily="49" charset="0"/>
              </a:rPr>
              <a:t>    </a:t>
            </a:r>
            <a:r>
              <a:rPr lang="es-ES" sz="1600" b="1" dirty="0" err="1">
                <a:solidFill>
                  <a:srgbClr val="FF0000"/>
                </a:solidFill>
                <a:highlight>
                  <a:srgbClr val="FFFF00"/>
                </a:highlight>
                <a:latin typeface="Courier New" panose="02070309020205020404" pitchFamily="49" charset="0"/>
              </a:rPr>
              <a:t>bcf</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TRISB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	</a:t>
            </a:r>
            <a:r>
              <a:rPr lang="es-ES" sz="1600" b="1" dirty="0">
                <a:latin typeface="Courier New" panose="02070309020205020404" pitchFamily="49" charset="0"/>
              </a:rPr>
              <a:t>;Configuro el pin RB0 como salida</a:t>
            </a:r>
          </a:p>
          <a:p>
            <a:r>
              <a:rPr lang="es-ES" sz="1600" b="1" dirty="0">
                <a:solidFill>
                  <a:srgbClr val="FF0000"/>
                </a:solidFill>
                <a:latin typeface="Courier New" panose="02070309020205020404" pitchFamily="49" charset="0"/>
              </a:rPr>
              <a:t>	</a:t>
            </a:r>
            <a:r>
              <a:rPr lang="es-ES" sz="1600" b="1" dirty="0" err="1">
                <a:solidFill>
                  <a:srgbClr val="FF0000"/>
                </a:solidFill>
                <a:highlight>
                  <a:srgbClr val="FFFF00"/>
                </a:highlight>
                <a:latin typeface="Courier New" panose="02070309020205020404" pitchFamily="49" charset="0"/>
              </a:rPr>
              <a:t>bcf</a:t>
            </a:r>
            <a:r>
              <a:rPr lang="es-ES" sz="1600" b="1" dirty="0">
                <a:highlight>
                  <a:srgbClr val="FFFF00"/>
                </a:highlight>
                <a:latin typeface="Courier New" panose="02070309020205020404" pitchFamily="49" charset="0"/>
              </a:rPr>
              <a:t> </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STATUS</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RP0	</a:t>
            </a:r>
            <a:r>
              <a:rPr lang="es-ES" sz="1600" b="1" dirty="0">
                <a:latin typeface="Courier New" panose="02070309020205020404" pitchFamily="49" charset="0"/>
              </a:rPr>
              <a:t>;Volvemos al banco 0</a:t>
            </a:r>
          </a:p>
          <a:p>
            <a:r>
              <a:rPr lang="es-ES" sz="1600" b="1" dirty="0">
                <a:solidFill>
                  <a:srgbClr val="FF0000"/>
                </a:solidFill>
                <a:latin typeface="Courier New" panose="02070309020205020404" pitchFamily="49" charset="0"/>
              </a:rPr>
              <a:t>	</a:t>
            </a:r>
            <a:r>
              <a:rPr lang="es-ES" sz="1600" b="1" dirty="0" err="1">
                <a:solidFill>
                  <a:srgbClr val="FF0000"/>
                </a:solidFill>
                <a:highlight>
                  <a:srgbClr val="FFFF00"/>
                </a:highlight>
                <a:latin typeface="Courier New" panose="02070309020205020404" pitchFamily="49" charset="0"/>
              </a:rPr>
              <a:t>bsf</a:t>
            </a:r>
            <a:r>
              <a:rPr lang="es-ES" sz="1600" b="1" dirty="0">
                <a:solidFill>
                  <a:srgbClr val="FF0000"/>
                </a:solidFill>
                <a:highlight>
                  <a:srgbClr val="FFFF00"/>
                </a:highlight>
                <a:latin typeface="Courier New" panose="02070309020205020404" pitchFamily="49" charset="0"/>
              </a:rPr>
              <a:t> </a:t>
            </a:r>
            <a:r>
              <a:rPr lang="es-ES" sz="1600" b="1" dirty="0">
                <a:latin typeface="Courier New" panose="02070309020205020404" pitchFamily="49" charset="0"/>
              </a:rPr>
              <a:t>    </a:t>
            </a:r>
            <a:r>
              <a:rPr lang="es-ES" sz="1600" b="1" dirty="0">
                <a:solidFill>
                  <a:schemeClr val="tx2">
                    <a:lumMod val="75000"/>
                  </a:schemeClr>
                </a:solidFill>
                <a:latin typeface="Courier New" panose="02070309020205020404" pitchFamily="49" charset="0"/>
              </a:rPr>
              <a:t>PORTB</a:t>
            </a:r>
            <a:r>
              <a:rPr lang="es-ES" sz="1600" b="1" dirty="0">
                <a:latin typeface="Courier New" panose="02070309020205020404" pitchFamily="49" charset="0"/>
              </a:rPr>
              <a:t>,</a:t>
            </a:r>
            <a:r>
              <a:rPr lang="es-ES" sz="1600" b="1" dirty="0">
                <a:solidFill>
                  <a:schemeClr val="accent6">
                    <a:lumMod val="75000"/>
                  </a:schemeClr>
                </a:solidFill>
                <a:latin typeface="Courier New" panose="02070309020205020404" pitchFamily="49" charset="0"/>
              </a:rPr>
              <a:t>0	</a:t>
            </a:r>
            <a:r>
              <a:rPr lang="es-ES" sz="1600" b="1" dirty="0">
                <a:latin typeface="Courier New" panose="02070309020205020404" pitchFamily="49" charset="0"/>
              </a:rPr>
              <a:t>;Enciendo el Led</a:t>
            </a:r>
          </a:p>
          <a:p>
            <a:r>
              <a:rPr lang="es-ES" sz="1600" b="1" dirty="0">
                <a:solidFill>
                  <a:srgbClr val="FF0000"/>
                </a:solidFill>
                <a:latin typeface="Courier New" panose="02070309020205020404" pitchFamily="49" charset="0"/>
              </a:rPr>
              <a:t>	</a:t>
            </a:r>
            <a:r>
              <a:rPr lang="es-ES" sz="1600" b="1" dirty="0" err="1">
                <a:solidFill>
                  <a:srgbClr val="FF0000"/>
                </a:solidFill>
                <a:highlight>
                  <a:srgbClr val="FFFF00"/>
                </a:highlight>
                <a:latin typeface="Courier New" panose="02070309020205020404" pitchFamily="49" charset="0"/>
              </a:rPr>
              <a:t>goto</a:t>
            </a:r>
            <a:r>
              <a:rPr lang="es-ES" sz="1600" b="1" dirty="0">
                <a:latin typeface="Courier New" panose="02070309020205020404" pitchFamily="49" charset="0"/>
              </a:rPr>
              <a:t>     $		;Me quedo esperando</a:t>
            </a:r>
          </a:p>
          <a:p>
            <a:r>
              <a:rPr lang="es-ES" sz="1600" b="1" dirty="0">
                <a:latin typeface="Courier New" panose="02070309020205020404" pitchFamily="49" charset="0"/>
              </a:rPr>
              <a:t>	</a:t>
            </a:r>
            <a:r>
              <a:rPr lang="es-ES" sz="1600" b="1" dirty="0" err="1">
                <a:latin typeface="Courier New" panose="02070309020205020404" pitchFamily="49" charset="0"/>
              </a:rPr>
              <a:t>end</a:t>
            </a:r>
            <a:endParaRPr lang="es-ES" sz="1600" b="1" dirty="0">
              <a:latin typeface="Courier New" panose="02070309020205020404" pitchFamily="49" charset="0"/>
            </a:endParaRPr>
          </a:p>
        </p:txBody>
      </p:sp>
    </p:spTree>
    <p:extLst>
      <p:ext uri="{BB962C8B-B14F-4D97-AF65-F5344CB8AC3E}">
        <p14:creationId xmlns:p14="http://schemas.microsoft.com/office/powerpoint/2010/main" val="76741226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634745" y="1222822"/>
            <a:ext cx="7426713" cy="5537357"/>
          </a:xfrm>
          <a:prstGeom prst="rect">
            <a:avLst/>
          </a:prstGeom>
        </p:spPr>
      </p:pic>
    </p:spTree>
    <p:extLst>
      <p:ext uri="{BB962C8B-B14F-4D97-AF65-F5344CB8AC3E}">
        <p14:creationId xmlns:p14="http://schemas.microsoft.com/office/powerpoint/2010/main" val="271157755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05943" y="1203058"/>
            <a:ext cx="7111872" cy="5274355"/>
          </a:xfrm>
          <a:prstGeom prst="rect">
            <a:avLst/>
          </a:prstGeom>
        </p:spPr>
      </p:pic>
    </p:spTree>
    <p:extLst>
      <p:ext uri="{BB962C8B-B14F-4D97-AF65-F5344CB8AC3E}">
        <p14:creationId xmlns:p14="http://schemas.microsoft.com/office/powerpoint/2010/main" val="16948148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831571" y="1155989"/>
            <a:ext cx="7026396" cy="5480134"/>
          </a:xfrm>
          <a:prstGeom prst="rect">
            <a:avLst/>
          </a:prstGeom>
        </p:spPr>
      </p:pic>
    </p:spTree>
    <p:extLst>
      <p:ext uri="{BB962C8B-B14F-4D97-AF65-F5344CB8AC3E}">
        <p14:creationId xmlns:p14="http://schemas.microsoft.com/office/powerpoint/2010/main" val="251367169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9385300" cy="1470025"/>
          </a:xfrm>
        </p:spPr>
        <p:txBody>
          <a:bodyPr/>
          <a:lstStyle/>
          <a:p>
            <a:r>
              <a:rPr lang="es-ES" b="1" dirty="0">
                <a:solidFill>
                  <a:srgbClr val="FF0000"/>
                </a:solidFill>
                <a:effectLst>
                  <a:outerShdw blurRad="38100" dist="38100" dir="2700000" algn="tl">
                    <a:srgbClr val="000000">
                      <a:alpha val="43137"/>
                    </a:srgbClr>
                  </a:outerShdw>
                </a:effectLst>
              </a:rPr>
              <a:t>Practica Programación </a:t>
            </a:r>
            <a:r>
              <a:rPr lang="es-ES" b="1" dirty="0" err="1">
                <a:solidFill>
                  <a:srgbClr val="FF0000"/>
                </a:solidFill>
                <a:effectLst>
                  <a:outerShdw blurRad="38100" dist="38100" dir="2700000" algn="tl">
                    <a:srgbClr val="000000">
                      <a:alpha val="43137"/>
                    </a:srgbClr>
                  </a:outerShdw>
                </a:effectLst>
              </a:rPr>
              <a:t>Assembler</a:t>
            </a:r>
            <a:endParaRPr lang="es-ES" b="1" dirty="0">
              <a:solidFill>
                <a:srgbClr val="FF0000"/>
              </a:solidFill>
              <a:effectLst>
                <a:outerShdw blurRad="38100" dist="38100" dir="2700000" algn="tl">
                  <a:srgbClr val="000000">
                    <a:alpha val="43137"/>
                  </a:srgbClr>
                </a:outerShdw>
              </a:effectLst>
            </a:endParaRPr>
          </a:p>
        </p:txBody>
      </p:sp>
      <p:sp>
        <p:nvSpPr>
          <p:cNvPr id="3" name="Subtítulo 2"/>
          <p:cNvSpPr>
            <a:spLocks noGrp="1"/>
          </p:cNvSpPr>
          <p:nvPr>
            <p:ph type="subTitle" idx="1"/>
          </p:nvPr>
        </p:nvSpPr>
        <p:spPr>
          <a:xfrm>
            <a:off x="850900" y="3886200"/>
            <a:ext cx="8915400" cy="1752600"/>
          </a:xfrm>
        </p:spPr>
        <p:txBody>
          <a:bodyPr/>
          <a:lstStyle/>
          <a:p>
            <a:r>
              <a:rPr lang="es-ES" u="sng" dirty="0">
                <a:solidFill>
                  <a:schemeClr val="accent5">
                    <a:lumMod val="50000"/>
                  </a:schemeClr>
                </a:solidFill>
                <a:effectLst>
                  <a:outerShdw blurRad="38100" dist="38100" dir="2700000" algn="tl">
                    <a:srgbClr val="000000">
                      <a:alpha val="43137"/>
                    </a:srgbClr>
                  </a:outerShdw>
                </a:effectLst>
              </a:rPr>
              <a:t>Practica 2</a:t>
            </a:r>
          </a:p>
        </p:txBody>
      </p:sp>
    </p:spTree>
    <p:extLst>
      <p:ext uri="{BB962C8B-B14F-4D97-AF65-F5344CB8AC3E}">
        <p14:creationId xmlns:p14="http://schemas.microsoft.com/office/powerpoint/2010/main" val="215290454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118" y="274637"/>
            <a:ext cx="8664982" cy="626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950" y="5418137"/>
            <a:ext cx="371475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019442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268845" y="973662"/>
            <a:ext cx="6942729" cy="4887050"/>
          </a:xfrm>
          <a:prstGeom prst="rect">
            <a:avLst/>
          </a:prstGeom>
        </p:spPr>
      </p:pic>
    </p:spTree>
    <p:extLst>
      <p:ext uri="{BB962C8B-B14F-4D97-AF65-F5344CB8AC3E}">
        <p14:creationId xmlns:p14="http://schemas.microsoft.com/office/powerpoint/2010/main" val="30769891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8DC473-7205-1480-5751-49E7DD949369}"/>
              </a:ext>
            </a:extLst>
          </p:cNvPr>
          <p:cNvSpPr txBox="1">
            <a:spLocks/>
          </p:cNvSpPr>
          <p:nvPr/>
        </p:nvSpPr>
        <p:spPr>
          <a:xfrm>
            <a:off x="0" y="2941637"/>
            <a:ext cx="106934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b="1" dirty="0">
                <a:solidFill>
                  <a:srgbClr val="FF0000"/>
                </a:solidFill>
                <a:effectLst>
                  <a:outerShdw blurRad="38100" dist="38100" dir="2700000" algn="tl">
                    <a:srgbClr val="000000">
                      <a:alpha val="43137"/>
                    </a:srgbClr>
                  </a:outerShdw>
                </a:effectLst>
                <a:latin typeface="Calibri"/>
              </a:rPr>
              <a:t>Calculo de Demoras sin </a:t>
            </a:r>
            <a:r>
              <a:rPr lang="es-ES" b="1" dirty="0" err="1">
                <a:solidFill>
                  <a:srgbClr val="FF0000"/>
                </a:solidFill>
                <a:effectLst>
                  <a:outerShdw blurRad="38100" dist="38100" dir="2700000" algn="tl">
                    <a:srgbClr val="000000">
                      <a:alpha val="43137"/>
                    </a:srgbClr>
                  </a:outerShdw>
                </a:effectLst>
                <a:latin typeface="Calibri"/>
              </a:rPr>
              <a:t>Timer</a:t>
            </a:r>
            <a:r>
              <a:rPr lang="es-ES" b="1" dirty="0">
                <a:solidFill>
                  <a:srgbClr val="FF0000"/>
                </a:solidFill>
                <a:effectLst>
                  <a:outerShdw blurRad="38100" dist="38100" dir="2700000" algn="tl">
                    <a:srgbClr val="000000">
                      <a:alpha val="43137"/>
                    </a:srgbClr>
                  </a:outerShdw>
                </a:effectLst>
                <a:latin typeface="Calibri"/>
              </a:rPr>
              <a:t> 0</a:t>
            </a:r>
            <a:endParaRPr lang="es-AR" dirty="0"/>
          </a:p>
        </p:txBody>
      </p:sp>
    </p:spTree>
    <p:extLst>
      <p:ext uri="{BB962C8B-B14F-4D97-AF65-F5344CB8AC3E}">
        <p14:creationId xmlns:p14="http://schemas.microsoft.com/office/powerpoint/2010/main" val="274626979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18256-BB7E-9BDF-C3B6-3B2E311964FC}"/>
              </a:ext>
            </a:extLst>
          </p:cNvPr>
          <p:cNvSpPr>
            <a:spLocks noGrp="1"/>
          </p:cNvSpPr>
          <p:nvPr>
            <p:ph type="title"/>
          </p:nvPr>
        </p:nvSpPr>
        <p:spPr/>
        <p:txBody>
          <a:bodyPr/>
          <a:lstStyle/>
          <a:p>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Demoras sin </a:t>
            </a:r>
            <a:r>
              <a:rPr kumimoji="0" lang="es-ES" sz="4400" b="1" i="0" u="none" strike="noStrike" kern="1200" cap="none" spc="0" normalizeH="0" baseline="0" noProof="0" dirty="0" err="1">
                <a:ln>
                  <a:noFill/>
                </a:ln>
                <a:solidFill>
                  <a:srgbClr val="FF0000"/>
                </a:solidFill>
                <a:effectLst>
                  <a:outerShdw blurRad="38100" dist="38100" dir="2700000" algn="tl">
                    <a:srgbClr val="000000">
                      <a:alpha val="43137"/>
                    </a:srgbClr>
                  </a:outerShdw>
                </a:effectLst>
                <a:uLnTx/>
                <a:uFillTx/>
                <a:latin typeface="Calibri"/>
                <a:ea typeface="+mj-ea"/>
                <a:cs typeface="+mj-cs"/>
              </a:rPr>
              <a:t>Timer</a:t>
            </a:r>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 0</a:t>
            </a:r>
            <a:endParaRPr lang="es-AR" dirty="0"/>
          </a:p>
        </p:txBody>
      </p:sp>
      <p:sp>
        <p:nvSpPr>
          <p:cNvPr id="3" name="Marcador de contenido 2">
            <a:extLst>
              <a:ext uri="{FF2B5EF4-FFF2-40B4-BE49-F238E27FC236}">
                <a16:creationId xmlns:a16="http://schemas.microsoft.com/office/drawing/2014/main" id="{1B1726D4-F83E-E2AF-90D8-DC4F83F29F53}"/>
              </a:ext>
            </a:extLst>
          </p:cNvPr>
          <p:cNvSpPr>
            <a:spLocks noGrp="1"/>
          </p:cNvSpPr>
          <p:nvPr>
            <p:ph idx="1"/>
          </p:nvPr>
        </p:nvSpPr>
        <p:spPr>
          <a:xfrm>
            <a:off x="165100" y="1600200"/>
            <a:ext cx="10058400" cy="5837237"/>
          </a:xfrm>
        </p:spPr>
        <p:txBody>
          <a:bodyPr>
            <a:normAutofit fontScale="62500" lnSpcReduction="20000"/>
          </a:bodyPr>
          <a:lstStyle/>
          <a:p>
            <a:pPr marL="0" indent="0">
              <a:buNone/>
            </a:pPr>
            <a:r>
              <a:rPr lang="es-AR" dirty="0"/>
              <a:t> </a:t>
            </a:r>
            <a:r>
              <a:rPr lang="es-AR" dirty="0">
                <a:solidFill>
                  <a:srgbClr val="0070C0"/>
                </a:solidFill>
              </a:rPr>
              <a:t>INCLUDE</a:t>
            </a:r>
            <a:r>
              <a:rPr lang="es-AR" dirty="0"/>
              <a:t> &lt;</a:t>
            </a:r>
            <a:r>
              <a:rPr lang="es-AR" dirty="0">
                <a:solidFill>
                  <a:srgbClr val="7030A0"/>
                </a:solidFill>
              </a:rPr>
              <a:t>P16F628A</a:t>
            </a:r>
            <a:r>
              <a:rPr lang="es-AR" dirty="0"/>
              <a:t>.</a:t>
            </a:r>
            <a:r>
              <a:rPr lang="es-AR" dirty="0">
                <a:solidFill>
                  <a:srgbClr val="7030A0"/>
                </a:solidFill>
              </a:rPr>
              <a:t>INC</a:t>
            </a:r>
            <a:r>
              <a:rPr lang="es-AR" dirty="0"/>
              <a:t>&gt;    </a:t>
            </a:r>
            <a:r>
              <a:rPr lang="es-AR" dirty="0">
                <a:solidFill>
                  <a:srgbClr val="00B050"/>
                </a:solidFill>
              </a:rPr>
              <a:t>; Incluir archivo con definiciones de registros para el PIC16F628A</a:t>
            </a:r>
          </a:p>
          <a:p>
            <a:pPr marL="0" indent="0">
              <a:buNone/>
            </a:pPr>
            <a:r>
              <a:rPr lang="es-AR" dirty="0"/>
              <a:t>   </a:t>
            </a:r>
            <a:r>
              <a:rPr lang="es-AR" dirty="0">
                <a:solidFill>
                  <a:srgbClr val="0070C0"/>
                </a:solidFill>
              </a:rPr>
              <a:t>__CONFIG </a:t>
            </a:r>
            <a:r>
              <a:rPr lang="es-AR" dirty="0"/>
              <a:t>3F10                    </a:t>
            </a:r>
            <a:r>
              <a:rPr lang="es-AR" dirty="0">
                <a:solidFill>
                  <a:srgbClr val="00B050"/>
                </a:solidFill>
              </a:rPr>
              <a:t>; Palabra de configuración</a:t>
            </a:r>
          </a:p>
          <a:p>
            <a:pPr marL="0" indent="0">
              <a:buNone/>
            </a:pPr>
            <a:endParaRPr lang="es-AR" dirty="0"/>
          </a:p>
          <a:p>
            <a:pPr marL="0" indent="0">
              <a:buNone/>
            </a:pPr>
            <a:r>
              <a:rPr lang="es-AR" dirty="0">
                <a:solidFill>
                  <a:srgbClr val="7030A0"/>
                </a:solidFill>
              </a:rPr>
              <a:t>   CONT  </a:t>
            </a:r>
            <a:r>
              <a:rPr lang="es-AR" dirty="0">
                <a:solidFill>
                  <a:srgbClr val="0070C0"/>
                </a:solidFill>
              </a:rPr>
              <a:t>EQU 0X20             </a:t>
            </a:r>
            <a:r>
              <a:rPr lang="es-AR" dirty="0">
                <a:solidFill>
                  <a:srgbClr val="00B050"/>
                </a:solidFill>
              </a:rPr>
              <a:t>; Definir etiqueta/constante CONT en la dirección de RAM 0x20</a:t>
            </a:r>
          </a:p>
          <a:p>
            <a:pPr marL="0" indent="0">
              <a:buNone/>
            </a:pPr>
            <a:r>
              <a:rPr lang="es-AR" dirty="0"/>
              <a:t>   </a:t>
            </a:r>
            <a:r>
              <a:rPr lang="es-AR" dirty="0">
                <a:solidFill>
                  <a:srgbClr val="7030A0"/>
                </a:solidFill>
              </a:rPr>
              <a:t>CONT2</a:t>
            </a:r>
            <a:r>
              <a:rPr lang="es-AR" dirty="0"/>
              <a:t> </a:t>
            </a:r>
            <a:r>
              <a:rPr lang="es-AR" dirty="0">
                <a:solidFill>
                  <a:srgbClr val="0070C0"/>
                </a:solidFill>
              </a:rPr>
              <a:t>EQU 0X21            </a:t>
            </a:r>
            <a:r>
              <a:rPr lang="es-AR" dirty="0">
                <a:solidFill>
                  <a:srgbClr val="00B050"/>
                </a:solidFill>
              </a:rPr>
              <a:t>; Definir CONT2 en 0x21</a:t>
            </a:r>
          </a:p>
          <a:p>
            <a:pPr marL="0" indent="0">
              <a:buNone/>
            </a:pPr>
            <a:r>
              <a:rPr lang="es-AR" dirty="0"/>
              <a:t>   </a:t>
            </a:r>
            <a:r>
              <a:rPr lang="es-AR" dirty="0">
                <a:solidFill>
                  <a:srgbClr val="7030A0"/>
                </a:solidFill>
              </a:rPr>
              <a:t>CONT3</a:t>
            </a:r>
            <a:r>
              <a:rPr lang="es-AR" dirty="0"/>
              <a:t> </a:t>
            </a:r>
            <a:r>
              <a:rPr lang="es-AR" dirty="0">
                <a:solidFill>
                  <a:srgbClr val="0070C0"/>
                </a:solidFill>
              </a:rPr>
              <a:t>EQU 0X22            </a:t>
            </a:r>
            <a:r>
              <a:rPr lang="es-AR" dirty="0">
                <a:solidFill>
                  <a:srgbClr val="00B050"/>
                </a:solidFill>
              </a:rPr>
              <a:t>; Definir CONT3 en 0x22</a:t>
            </a:r>
          </a:p>
          <a:p>
            <a:pPr marL="0" indent="0">
              <a:buNone/>
            </a:pPr>
            <a:endParaRPr lang="es-AR" dirty="0"/>
          </a:p>
          <a:p>
            <a:pPr marL="0" indent="0">
              <a:buNone/>
            </a:pPr>
            <a:r>
              <a:rPr lang="es-AR" dirty="0">
                <a:solidFill>
                  <a:srgbClr val="0070C0"/>
                </a:solidFill>
              </a:rPr>
              <a:t>   ORG </a:t>
            </a:r>
            <a:r>
              <a:rPr lang="es-AR" dirty="0"/>
              <a:t>0                           </a:t>
            </a:r>
            <a:r>
              <a:rPr lang="es-AR" dirty="0">
                <a:solidFill>
                  <a:srgbClr val="00B050"/>
                </a:solidFill>
              </a:rPr>
              <a:t>; Origen del programa (vector de </a:t>
            </a:r>
            <a:r>
              <a:rPr lang="es-AR" dirty="0" err="1">
                <a:solidFill>
                  <a:srgbClr val="00B050"/>
                </a:solidFill>
              </a:rPr>
              <a:t>reset</a:t>
            </a:r>
            <a:r>
              <a:rPr lang="es-AR" dirty="0">
                <a:solidFill>
                  <a:srgbClr val="00B050"/>
                </a:solidFill>
              </a:rPr>
              <a:t>) → dirección 0</a:t>
            </a:r>
          </a:p>
          <a:p>
            <a:pPr marL="0" indent="0">
              <a:buNone/>
            </a:pPr>
            <a:r>
              <a:rPr lang="es-AR" dirty="0">
                <a:solidFill>
                  <a:srgbClr val="0070C0"/>
                </a:solidFill>
              </a:rPr>
              <a:t>   BSF </a:t>
            </a:r>
            <a:r>
              <a:rPr lang="es-AR" dirty="0">
                <a:solidFill>
                  <a:srgbClr val="7030A0"/>
                </a:solidFill>
              </a:rPr>
              <a:t>STATUS</a:t>
            </a:r>
            <a:r>
              <a:rPr lang="es-AR" dirty="0"/>
              <a:t>,</a:t>
            </a:r>
            <a:r>
              <a:rPr lang="es-AR" dirty="0">
                <a:solidFill>
                  <a:srgbClr val="7030A0"/>
                </a:solidFill>
              </a:rPr>
              <a:t>RP0</a:t>
            </a:r>
            <a:r>
              <a:rPr lang="es-AR" dirty="0"/>
              <a:t>          </a:t>
            </a:r>
            <a:r>
              <a:rPr lang="es-AR" dirty="0">
                <a:solidFill>
                  <a:srgbClr val="00B050"/>
                </a:solidFill>
              </a:rPr>
              <a:t>; Seleccionar banco 1 (RP0 = 1). Los registros TRIS están en banco 1.</a:t>
            </a:r>
          </a:p>
          <a:p>
            <a:pPr marL="0" indent="0">
              <a:buNone/>
            </a:pPr>
            <a:r>
              <a:rPr lang="es-AR" dirty="0">
                <a:solidFill>
                  <a:srgbClr val="0070C0"/>
                </a:solidFill>
              </a:rPr>
              <a:t>   BCF </a:t>
            </a:r>
            <a:r>
              <a:rPr lang="es-AR" dirty="0">
                <a:solidFill>
                  <a:srgbClr val="7030A0"/>
                </a:solidFill>
              </a:rPr>
              <a:t>TRISB</a:t>
            </a:r>
            <a:r>
              <a:rPr lang="es-AR" dirty="0"/>
              <a:t>,0                  </a:t>
            </a:r>
            <a:r>
              <a:rPr lang="es-AR" dirty="0">
                <a:solidFill>
                  <a:srgbClr val="00B050"/>
                </a:solidFill>
              </a:rPr>
              <a:t>; TRISB0 = 0 → configurar RB0 como salida</a:t>
            </a:r>
          </a:p>
          <a:p>
            <a:pPr marL="0" indent="0">
              <a:buNone/>
            </a:pPr>
            <a:r>
              <a:rPr lang="es-AR" dirty="0">
                <a:solidFill>
                  <a:srgbClr val="0070C0"/>
                </a:solidFill>
              </a:rPr>
              <a:t>   BCF </a:t>
            </a:r>
            <a:r>
              <a:rPr lang="es-AR" dirty="0">
                <a:solidFill>
                  <a:srgbClr val="7030A0"/>
                </a:solidFill>
              </a:rPr>
              <a:t>STATUS</a:t>
            </a:r>
            <a:r>
              <a:rPr lang="es-AR" dirty="0"/>
              <a:t>,</a:t>
            </a:r>
            <a:r>
              <a:rPr lang="es-AR" dirty="0">
                <a:solidFill>
                  <a:srgbClr val="7030A0"/>
                </a:solidFill>
              </a:rPr>
              <a:t>RP0</a:t>
            </a:r>
            <a:r>
              <a:rPr lang="es-AR" dirty="0"/>
              <a:t>          </a:t>
            </a:r>
            <a:r>
              <a:rPr lang="es-AR" dirty="0">
                <a:solidFill>
                  <a:srgbClr val="00B050"/>
                </a:solidFill>
              </a:rPr>
              <a:t>; Volver a banco 0 (RP0 = 0) </a:t>
            </a:r>
          </a:p>
          <a:p>
            <a:pPr marL="0" indent="0">
              <a:buNone/>
            </a:pPr>
            <a:endParaRPr lang="es-AR" dirty="0"/>
          </a:p>
          <a:p>
            <a:pPr marL="0" indent="0">
              <a:buNone/>
            </a:pPr>
            <a:r>
              <a:rPr lang="es-AR" dirty="0">
                <a:solidFill>
                  <a:srgbClr val="7030A0"/>
                </a:solidFill>
              </a:rPr>
              <a:t>INICIO</a:t>
            </a:r>
          </a:p>
          <a:p>
            <a:pPr marL="0" indent="0">
              <a:buNone/>
            </a:pPr>
            <a:r>
              <a:rPr lang="es-AR" dirty="0"/>
              <a:t>   </a:t>
            </a:r>
            <a:r>
              <a:rPr lang="es-AR" dirty="0">
                <a:solidFill>
                  <a:srgbClr val="0070C0"/>
                </a:solidFill>
              </a:rPr>
              <a:t>BSF</a:t>
            </a:r>
            <a:r>
              <a:rPr lang="es-AR" dirty="0"/>
              <a:t> </a:t>
            </a:r>
            <a:r>
              <a:rPr lang="es-AR" dirty="0">
                <a:solidFill>
                  <a:srgbClr val="7030A0"/>
                </a:solidFill>
              </a:rPr>
              <a:t>PORTB</a:t>
            </a:r>
            <a:r>
              <a:rPr lang="es-AR" dirty="0"/>
              <a:t>,0                </a:t>
            </a:r>
            <a:r>
              <a:rPr lang="es-AR" dirty="0">
                <a:solidFill>
                  <a:srgbClr val="00B050"/>
                </a:solidFill>
              </a:rPr>
              <a:t>; Poner el bit 0 de PORTB = 1 → enciende el LED conectado a RB0</a:t>
            </a:r>
          </a:p>
          <a:p>
            <a:pPr marL="0" indent="0">
              <a:buNone/>
            </a:pPr>
            <a:r>
              <a:rPr lang="es-AR" dirty="0"/>
              <a:t>   </a:t>
            </a:r>
            <a:r>
              <a:rPr lang="es-AR" dirty="0">
                <a:solidFill>
                  <a:srgbClr val="0070C0"/>
                </a:solidFill>
              </a:rPr>
              <a:t>CALL</a:t>
            </a:r>
            <a:r>
              <a:rPr lang="es-AR" dirty="0"/>
              <a:t> </a:t>
            </a:r>
            <a:r>
              <a:rPr lang="es-AR" dirty="0">
                <a:solidFill>
                  <a:srgbClr val="7030A0"/>
                </a:solidFill>
              </a:rPr>
              <a:t>DELAY_1S            </a:t>
            </a:r>
            <a:r>
              <a:rPr lang="es-AR" dirty="0">
                <a:solidFill>
                  <a:srgbClr val="00B050"/>
                </a:solidFill>
              </a:rPr>
              <a:t>; Llamar a la subrutina de retardo aproximado de 1 segundo</a:t>
            </a:r>
          </a:p>
          <a:p>
            <a:pPr marL="0" indent="0">
              <a:buNone/>
            </a:pPr>
            <a:r>
              <a:rPr lang="es-AR" dirty="0"/>
              <a:t>   </a:t>
            </a:r>
            <a:r>
              <a:rPr lang="es-AR" dirty="0">
                <a:solidFill>
                  <a:srgbClr val="0070C0"/>
                </a:solidFill>
              </a:rPr>
              <a:t>BCF</a:t>
            </a:r>
            <a:r>
              <a:rPr lang="es-AR" dirty="0"/>
              <a:t> </a:t>
            </a:r>
            <a:r>
              <a:rPr lang="es-AR" dirty="0">
                <a:solidFill>
                  <a:srgbClr val="7030A0"/>
                </a:solidFill>
              </a:rPr>
              <a:t>PORTB</a:t>
            </a:r>
            <a:r>
              <a:rPr lang="es-AR" dirty="0"/>
              <a:t>,0                </a:t>
            </a:r>
            <a:r>
              <a:rPr lang="es-AR" dirty="0">
                <a:solidFill>
                  <a:srgbClr val="00B050"/>
                </a:solidFill>
              </a:rPr>
              <a:t>; Poner el bit 0 de PORTB = 0 → apaga el LED</a:t>
            </a:r>
          </a:p>
          <a:p>
            <a:pPr marL="0" indent="0">
              <a:buNone/>
            </a:pPr>
            <a:r>
              <a:rPr lang="es-AR" dirty="0"/>
              <a:t>   </a:t>
            </a:r>
            <a:r>
              <a:rPr lang="es-AR" dirty="0">
                <a:solidFill>
                  <a:srgbClr val="0070C0"/>
                </a:solidFill>
              </a:rPr>
              <a:t>CALL</a:t>
            </a:r>
            <a:r>
              <a:rPr lang="es-AR" dirty="0"/>
              <a:t> </a:t>
            </a:r>
            <a:r>
              <a:rPr lang="es-AR" dirty="0">
                <a:solidFill>
                  <a:srgbClr val="7030A0"/>
                </a:solidFill>
              </a:rPr>
              <a:t>DELAY_1S            </a:t>
            </a:r>
            <a:r>
              <a:rPr lang="es-AR" dirty="0">
                <a:solidFill>
                  <a:srgbClr val="00B050"/>
                </a:solidFill>
              </a:rPr>
              <a:t>; Llamar otra vez al retardo de 1 segundo</a:t>
            </a:r>
          </a:p>
          <a:p>
            <a:pPr marL="0" indent="0">
              <a:buNone/>
            </a:pPr>
            <a:r>
              <a:rPr lang="es-AR" dirty="0"/>
              <a:t>   </a:t>
            </a:r>
            <a:r>
              <a:rPr lang="es-AR" dirty="0">
                <a:solidFill>
                  <a:srgbClr val="0070C0"/>
                </a:solidFill>
              </a:rPr>
              <a:t>GOTO</a:t>
            </a:r>
            <a:r>
              <a:rPr lang="es-AR" dirty="0"/>
              <a:t> </a:t>
            </a:r>
            <a:r>
              <a:rPr lang="es-AR" dirty="0">
                <a:solidFill>
                  <a:srgbClr val="7030A0"/>
                </a:solidFill>
              </a:rPr>
              <a:t>INICIO</a:t>
            </a:r>
            <a:r>
              <a:rPr lang="es-AR" dirty="0"/>
              <a:t>                </a:t>
            </a:r>
            <a:r>
              <a:rPr lang="es-AR" dirty="0">
                <a:solidFill>
                  <a:srgbClr val="00B050"/>
                </a:solidFill>
              </a:rPr>
              <a:t>; Bucle infinito: repetir</a:t>
            </a:r>
          </a:p>
        </p:txBody>
      </p:sp>
    </p:spTree>
    <p:extLst>
      <p:ext uri="{BB962C8B-B14F-4D97-AF65-F5344CB8AC3E}">
        <p14:creationId xmlns:p14="http://schemas.microsoft.com/office/powerpoint/2010/main" val="157058566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C0C1-7EC4-D341-5306-0A9880F48A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2F73B1-13C5-6F90-BEE6-F42FA0FA0284}"/>
              </a:ext>
            </a:extLst>
          </p:cNvPr>
          <p:cNvSpPr>
            <a:spLocks noGrp="1"/>
          </p:cNvSpPr>
          <p:nvPr>
            <p:ph type="title"/>
          </p:nvPr>
        </p:nvSpPr>
        <p:spPr/>
        <p:txBody>
          <a:bodyPr/>
          <a:lstStyle/>
          <a:p>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Subrutina de retardo 1MS</a:t>
            </a:r>
            <a:endParaRPr lang="es-AR" dirty="0"/>
          </a:p>
        </p:txBody>
      </p:sp>
      <p:sp>
        <p:nvSpPr>
          <p:cNvPr id="3" name="Marcador de contenido 2">
            <a:extLst>
              <a:ext uri="{FF2B5EF4-FFF2-40B4-BE49-F238E27FC236}">
                <a16:creationId xmlns:a16="http://schemas.microsoft.com/office/drawing/2014/main" id="{748F7665-88AD-DBBB-5C97-0C26C6597443}"/>
              </a:ext>
            </a:extLst>
          </p:cNvPr>
          <p:cNvSpPr>
            <a:spLocks noGrp="1"/>
          </p:cNvSpPr>
          <p:nvPr>
            <p:ph idx="1"/>
          </p:nvPr>
        </p:nvSpPr>
        <p:spPr>
          <a:xfrm>
            <a:off x="165100" y="1600200"/>
            <a:ext cx="10058400" cy="5837237"/>
          </a:xfrm>
        </p:spPr>
        <p:txBody>
          <a:bodyPr>
            <a:normAutofit/>
          </a:bodyPr>
          <a:lstStyle/>
          <a:p>
            <a:pPr marL="0" indent="0">
              <a:buNone/>
            </a:pPr>
            <a:r>
              <a:rPr lang="es-MX" dirty="0">
                <a:solidFill>
                  <a:srgbClr val="7030A0"/>
                </a:solidFill>
              </a:rPr>
              <a:t>DELAY_1MS</a:t>
            </a:r>
          </a:p>
          <a:p>
            <a:pPr marL="0" indent="0">
              <a:buNone/>
            </a:pPr>
            <a:r>
              <a:rPr lang="es-MX" dirty="0"/>
              <a:t>   </a:t>
            </a:r>
            <a:r>
              <a:rPr lang="es-MX" dirty="0">
                <a:solidFill>
                  <a:srgbClr val="0070C0"/>
                </a:solidFill>
              </a:rPr>
              <a:t>MOVLW</a:t>
            </a:r>
            <a:r>
              <a:rPr lang="es-MX" dirty="0"/>
              <a:t> </a:t>
            </a:r>
            <a:r>
              <a:rPr lang="es-MX" dirty="0">
                <a:solidFill>
                  <a:srgbClr val="00B050"/>
                </a:solidFill>
              </a:rPr>
              <a:t>.250          ; Cargar literal 250 en W</a:t>
            </a:r>
          </a:p>
          <a:p>
            <a:pPr marL="0" indent="0">
              <a:buNone/>
            </a:pPr>
            <a:r>
              <a:rPr lang="es-MX" dirty="0"/>
              <a:t>   </a:t>
            </a:r>
            <a:r>
              <a:rPr lang="es-MX" dirty="0">
                <a:solidFill>
                  <a:srgbClr val="0070C0"/>
                </a:solidFill>
              </a:rPr>
              <a:t>MOVWF</a:t>
            </a:r>
            <a:r>
              <a:rPr lang="es-MX" dirty="0"/>
              <a:t> </a:t>
            </a:r>
            <a:r>
              <a:rPr lang="es-MX" dirty="0">
                <a:solidFill>
                  <a:srgbClr val="7030A0"/>
                </a:solidFill>
              </a:rPr>
              <a:t>CONT</a:t>
            </a:r>
            <a:r>
              <a:rPr lang="es-MX" dirty="0"/>
              <a:t>      </a:t>
            </a:r>
            <a:r>
              <a:rPr lang="es-MX" dirty="0">
                <a:solidFill>
                  <a:srgbClr val="00B050"/>
                </a:solidFill>
              </a:rPr>
              <a:t>; Guardar 250 en la variable CONT </a:t>
            </a:r>
          </a:p>
          <a:p>
            <a:pPr marL="0" indent="0">
              <a:buNone/>
            </a:pPr>
            <a:r>
              <a:rPr lang="es-MX" dirty="0">
                <a:solidFill>
                  <a:srgbClr val="7030A0"/>
                </a:solidFill>
              </a:rPr>
              <a:t>LOOP</a:t>
            </a:r>
            <a:r>
              <a:rPr lang="es-MX" dirty="0"/>
              <a:t> </a:t>
            </a:r>
            <a:r>
              <a:rPr lang="es-MX" dirty="0">
                <a:solidFill>
                  <a:srgbClr val="0070C0"/>
                </a:solidFill>
              </a:rPr>
              <a:t>NOP</a:t>
            </a:r>
            <a:r>
              <a:rPr lang="es-MX" dirty="0"/>
              <a:t>                 </a:t>
            </a:r>
            <a:r>
              <a:rPr lang="es-MX" dirty="0">
                <a:solidFill>
                  <a:srgbClr val="00B050"/>
                </a:solidFill>
              </a:rPr>
              <a:t>; NOP: instrucción que consume 1 ciclo </a:t>
            </a:r>
          </a:p>
          <a:p>
            <a:pPr marL="0" indent="0">
              <a:buNone/>
            </a:pPr>
            <a:r>
              <a:rPr lang="es-MX" dirty="0">
                <a:solidFill>
                  <a:srgbClr val="0070C0"/>
                </a:solidFill>
              </a:rPr>
              <a:t>   DECFSZ</a:t>
            </a:r>
            <a:r>
              <a:rPr lang="es-MX" dirty="0"/>
              <a:t> </a:t>
            </a:r>
            <a:r>
              <a:rPr lang="es-MX" dirty="0">
                <a:solidFill>
                  <a:srgbClr val="7030A0"/>
                </a:solidFill>
              </a:rPr>
              <a:t>CONT</a:t>
            </a:r>
            <a:r>
              <a:rPr lang="es-MX" dirty="0"/>
              <a:t>,</a:t>
            </a:r>
            <a:r>
              <a:rPr lang="es-MX" dirty="0">
                <a:solidFill>
                  <a:srgbClr val="7030A0"/>
                </a:solidFill>
              </a:rPr>
              <a:t>F </a:t>
            </a:r>
            <a:r>
              <a:rPr lang="es-MX" dirty="0"/>
              <a:t>        </a:t>
            </a:r>
            <a:r>
              <a:rPr lang="es-MX" dirty="0">
                <a:solidFill>
                  <a:srgbClr val="00B050"/>
                </a:solidFill>
              </a:rPr>
              <a:t>; Decrementa CONT</a:t>
            </a:r>
          </a:p>
          <a:p>
            <a:pPr marL="0" indent="0">
              <a:buNone/>
            </a:pPr>
            <a:r>
              <a:rPr lang="es-MX" dirty="0"/>
              <a:t>   </a:t>
            </a:r>
            <a:r>
              <a:rPr lang="es-MX" dirty="0">
                <a:solidFill>
                  <a:srgbClr val="0070C0"/>
                </a:solidFill>
              </a:rPr>
              <a:t>GOTO</a:t>
            </a:r>
            <a:r>
              <a:rPr lang="es-MX" dirty="0"/>
              <a:t> </a:t>
            </a:r>
            <a:r>
              <a:rPr lang="es-MX" dirty="0">
                <a:solidFill>
                  <a:srgbClr val="7030A0"/>
                </a:solidFill>
              </a:rPr>
              <a:t>LOOP</a:t>
            </a:r>
            <a:r>
              <a:rPr lang="es-MX" dirty="0"/>
              <a:t>            </a:t>
            </a:r>
            <a:r>
              <a:rPr lang="es-MX" dirty="0">
                <a:solidFill>
                  <a:srgbClr val="00B050"/>
                </a:solidFill>
              </a:rPr>
              <a:t>;volver a LOOP</a:t>
            </a:r>
          </a:p>
          <a:p>
            <a:pPr marL="0" indent="0">
              <a:buNone/>
            </a:pPr>
            <a:r>
              <a:rPr lang="es-MX" dirty="0">
                <a:solidFill>
                  <a:srgbClr val="0070C0"/>
                </a:solidFill>
              </a:rPr>
              <a:t>RETURN</a:t>
            </a:r>
            <a:r>
              <a:rPr lang="es-MX" dirty="0"/>
              <a:t>                      </a:t>
            </a:r>
            <a:r>
              <a:rPr lang="es-MX" dirty="0">
                <a:solidFill>
                  <a:srgbClr val="00B050"/>
                </a:solidFill>
              </a:rPr>
              <a:t>;Retorna a la rutina que hizo CALL</a:t>
            </a:r>
            <a:endParaRPr lang="es-AR" dirty="0">
              <a:solidFill>
                <a:srgbClr val="00B050"/>
              </a:solidFill>
            </a:endParaRPr>
          </a:p>
        </p:txBody>
      </p:sp>
    </p:spTree>
    <p:extLst>
      <p:ext uri="{BB962C8B-B14F-4D97-AF65-F5344CB8AC3E}">
        <p14:creationId xmlns:p14="http://schemas.microsoft.com/office/powerpoint/2010/main" val="325781066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D4298-1EB2-E809-2C71-19ABDE37C1D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77E37A-415B-F581-619B-4BB8AA52AA3B}"/>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sin Timer 0</a:t>
            </a:r>
          </a:p>
        </p:txBody>
      </p:sp>
      <p:sp>
        <p:nvSpPr>
          <p:cNvPr id="5" name="Marcador de contenido 4">
            <a:extLst>
              <a:ext uri="{FF2B5EF4-FFF2-40B4-BE49-F238E27FC236}">
                <a16:creationId xmlns:a16="http://schemas.microsoft.com/office/drawing/2014/main" id="{10800F4D-D8A9-889D-B866-F2E0610CF1BB}"/>
              </a:ext>
            </a:extLst>
          </p:cNvPr>
          <p:cNvSpPr>
            <a:spLocks noGrp="1"/>
          </p:cNvSpPr>
          <p:nvPr>
            <p:ph idx="1"/>
          </p:nvPr>
        </p:nvSpPr>
        <p:spPr>
          <a:xfrm>
            <a:off x="530140" y="2149454"/>
            <a:ext cx="3292560" cy="2468584"/>
          </a:xfrm>
        </p:spPr>
        <p:txBody>
          <a:bodyPr>
            <a:noAutofit/>
          </a:bodyPr>
          <a:lstStyle/>
          <a:p>
            <a:pPr marL="0" indent="0">
              <a:buNone/>
            </a:pPr>
            <a:r>
              <a:rPr lang="es-MX" sz="1800" dirty="0">
                <a:solidFill>
                  <a:srgbClr val="7030A0"/>
                </a:solidFill>
              </a:rPr>
              <a:t>DELAY_1MS</a:t>
            </a:r>
          </a:p>
          <a:p>
            <a:pPr marL="0" indent="0">
              <a:buNone/>
            </a:pPr>
            <a:r>
              <a:rPr lang="es-MX" sz="1800" dirty="0"/>
              <a:t>   </a:t>
            </a:r>
            <a:r>
              <a:rPr lang="es-MX" sz="1800" dirty="0">
                <a:solidFill>
                  <a:srgbClr val="0070C0"/>
                </a:solidFill>
              </a:rPr>
              <a:t>MOVLW</a:t>
            </a:r>
            <a:r>
              <a:rPr lang="es-MX" sz="1800" dirty="0"/>
              <a:t> </a:t>
            </a:r>
            <a:r>
              <a:rPr lang="es-MX" sz="1800" dirty="0">
                <a:solidFill>
                  <a:srgbClr val="00B050"/>
                </a:solidFill>
              </a:rPr>
              <a:t>.250 </a:t>
            </a:r>
          </a:p>
          <a:p>
            <a:pPr marL="0" indent="0">
              <a:buNone/>
            </a:pPr>
            <a:r>
              <a:rPr lang="es-MX" sz="1800" dirty="0">
                <a:solidFill>
                  <a:srgbClr val="0070C0"/>
                </a:solidFill>
              </a:rPr>
              <a:t>   MOVWF</a:t>
            </a:r>
            <a:r>
              <a:rPr lang="es-MX" sz="1800" dirty="0"/>
              <a:t> </a:t>
            </a:r>
            <a:r>
              <a:rPr lang="es-MX" sz="1800" dirty="0">
                <a:solidFill>
                  <a:srgbClr val="7030A0"/>
                </a:solidFill>
              </a:rPr>
              <a:t>CONT</a:t>
            </a:r>
          </a:p>
          <a:p>
            <a:pPr marL="0" indent="0">
              <a:buNone/>
            </a:pPr>
            <a:r>
              <a:rPr lang="es-MX" sz="1800" dirty="0">
                <a:solidFill>
                  <a:srgbClr val="7030A0"/>
                </a:solidFill>
              </a:rPr>
              <a:t>LOOP</a:t>
            </a:r>
            <a:r>
              <a:rPr lang="es-MX" sz="1800" dirty="0"/>
              <a:t> </a:t>
            </a:r>
            <a:r>
              <a:rPr lang="es-MX" sz="1800" dirty="0">
                <a:solidFill>
                  <a:srgbClr val="0070C0"/>
                </a:solidFill>
              </a:rPr>
              <a:t>NOP</a:t>
            </a:r>
            <a:r>
              <a:rPr lang="es-MX" sz="1800" dirty="0"/>
              <a:t>                   </a:t>
            </a:r>
            <a:r>
              <a:rPr lang="es-MX" sz="1800" dirty="0">
                <a:solidFill>
                  <a:srgbClr val="00B050"/>
                </a:solidFill>
              </a:rPr>
              <a:t>; 1 ciclo</a:t>
            </a:r>
          </a:p>
          <a:p>
            <a:pPr marL="0" indent="0">
              <a:buNone/>
            </a:pPr>
            <a:r>
              <a:rPr lang="es-MX" sz="1800" dirty="0">
                <a:solidFill>
                  <a:srgbClr val="0070C0"/>
                </a:solidFill>
              </a:rPr>
              <a:t>   DECFSZ</a:t>
            </a:r>
            <a:r>
              <a:rPr lang="es-MX" sz="1800" dirty="0"/>
              <a:t> </a:t>
            </a:r>
            <a:r>
              <a:rPr lang="es-MX" sz="1800" dirty="0">
                <a:solidFill>
                  <a:srgbClr val="7030A0"/>
                </a:solidFill>
              </a:rPr>
              <a:t>CONT</a:t>
            </a:r>
            <a:r>
              <a:rPr lang="es-MX" sz="1800" dirty="0"/>
              <a:t>,</a:t>
            </a:r>
            <a:r>
              <a:rPr lang="es-MX" sz="1800" dirty="0">
                <a:solidFill>
                  <a:srgbClr val="7030A0"/>
                </a:solidFill>
              </a:rPr>
              <a:t>F        </a:t>
            </a:r>
            <a:r>
              <a:rPr lang="es-MX" sz="1800" dirty="0">
                <a:solidFill>
                  <a:srgbClr val="00B050"/>
                </a:solidFill>
              </a:rPr>
              <a:t>; 1 ciclo</a:t>
            </a:r>
          </a:p>
          <a:p>
            <a:pPr marL="0" indent="0">
              <a:buNone/>
            </a:pPr>
            <a:r>
              <a:rPr lang="es-MX" sz="1800" dirty="0">
                <a:solidFill>
                  <a:srgbClr val="7030A0"/>
                </a:solidFill>
              </a:rPr>
              <a:t>   </a:t>
            </a:r>
            <a:r>
              <a:rPr lang="es-MX" sz="1800" dirty="0">
                <a:solidFill>
                  <a:srgbClr val="0070C0"/>
                </a:solidFill>
              </a:rPr>
              <a:t>GOTO</a:t>
            </a:r>
            <a:r>
              <a:rPr lang="es-MX" sz="1800" dirty="0"/>
              <a:t> </a:t>
            </a:r>
            <a:r>
              <a:rPr lang="es-MX" sz="1800" dirty="0">
                <a:solidFill>
                  <a:srgbClr val="7030A0"/>
                </a:solidFill>
              </a:rPr>
              <a:t>LOOP              </a:t>
            </a:r>
            <a:r>
              <a:rPr lang="es-MX" sz="1800" dirty="0">
                <a:solidFill>
                  <a:srgbClr val="00B050"/>
                </a:solidFill>
              </a:rPr>
              <a:t>; 2 ciclos</a:t>
            </a:r>
          </a:p>
          <a:p>
            <a:pPr marL="0" indent="0">
              <a:buNone/>
            </a:pPr>
            <a:r>
              <a:rPr lang="es-MX" sz="1800" dirty="0">
                <a:solidFill>
                  <a:srgbClr val="0070C0"/>
                </a:solidFill>
              </a:rPr>
              <a:t>RETURN</a:t>
            </a:r>
            <a:endParaRPr lang="es-AR" sz="1754" dirty="0">
              <a:solidFill>
                <a:srgbClr val="274DE7"/>
              </a:solidFill>
              <a:latin typeface="Consolas" panose="020B0609020204030204" pitchFamily="49" charset="0"/>
            </a:endParaRPr>
          </a:p>
        </p:txBody>
      </p:sp>
      <p:sp>
        <p:nvSpPr>
          <p:cNvPr id="7" name="Marcador de contenido 2">
            <a:extLst>
              <a:ext uri="{FF2B5EF4-FFF2-40B4-BE49-F238E27FC236}">
                <a16:creationId xmlns:a16="http://schemas.microsoft.com/office/drawing/2014/main" id="{EC23B0A1-A7D2-652C-1A7A-8193EFC7DEAA}"/>
              </a:ext>
            </a:extLst>
          </p:cNvPr>
          <p:cNvSpPr txBox="1">
            <a:spLocks/>
          </p:cNvSpPr>
          <p:nvPr/>
        </p:nvSpPr>
        <p:spPr bwMode="auto">
          <a:xfrm>
            <a:off x="4127500" y="1646237"/>
            <a:ext cx="640080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ct val="30000"/>
              </a:spcBef>
              <a:spcAft>
                <a:spcPts val="1200"/>
              </a:spcAft>
              <a:buClr>
                <a:srgbClr val="D24726"/>
              </a:buClr>
              <a:buSzPct val="150000"/>
              <a:buFont typeface="Arial" panose="020B0604020202020204" pitchFamily="34" charset="0"/>
              <a:buNone/>
              <a:tabLst/>
              <a:defRPr/>
            </a:pPr>
            <a:r>
              <a:rPr kumimoji="0" lang="es-AR" sz="2105" b="0" i="0" u="none" strike="noStrike" kern="1200" cap="none" spc="0" normalizeH="0" baseline="0" noProof="0" dirty="0">
                <a:ln>
                  <a:noFill/>
                </a:ln>
                <a:solidFill>
                  <a:prstClr val="black"/>
                </a:solidFill>
                <a:effectLst/>
                <a:uLnTx/>
                <a:uFillTx/>
                <a:latin typeface="Calibri"/>
                <a:ea typeface="+mn-ea"/>
                <a:cs typeface="+mn-cs"/>
              </a:rPr>
              <a:t>¿Cómo se calcula?</a:t>
            </a:r>
          </a:p>
          <a:p>
            <a:pPr marL="250631" marR="0" lvl="0" indent="-250631" algn="l" defTabSz="914400" rtl="0" eaLnBrk="1" fontAlgn="auto" latinLnBrk="0" hangingPunct="1">
              <a:lnSpc>
                <a:spcPct val="150000"/>
              </a:lnSpc>
              <a:spcBef>
                <a:spcPct val="30000"/>
              </a:spcBef>
              <a:spcAft>
                <a:spcPts val="1200"/>
              </a:spcAft>
              <a:buClr>
                <a:srgbClr val="D24726"/>
              </a:buClr>
              <a:buSzPct val="150000"/>
              <a:buFont typeface="Arial" panose="020B0604020202020204" pitchFamily="34" charset="0"/>
              <a:buChar char="•"/>
              <a:tabLst/>
              <a:defRPr/>
            </a:pPr>
            <a:r>
              <a:rPr kumimoji="0" lang="es-AR" sz="2105" b="0" i="0" u="none" strike="noStrike" kern="1200" cap="none" spc="0" normalizeH="0" baseline="0" noProof="0" dirty="0">
                <a:ln>
                  <a:noFill/>
                </a:ln>
                <a:solidFill>
                  <a:prstClr val="black"/>
                </a:solidFill>
                <a:effectLst/>
                <a:uLnTx/>
                <a:uFillTx/>
                <a:latin typeface="Calibri"/>
                <a:ea typeface="+mn-ea"/>
                <a:cs typeface="+mn-cs"/>
              </a:rPr>
              <a:t>Se considera que cada ciclo de máquina es de 1 microsegundo.</a:t>
            </a:r>
          </a:p>
          <a:p>
            <a:pPr marL="250631" marR="0" lvl="0" indent="-250631" algn="l" defTabSz="914400" rtl="0" eaLnBrk="1" fontAlgn="auto" latinLnBrk="0" hangingPunct="1">
              <a:lnSpc>
                <a:spcPct val="150000"/>
              </a:lnSpc>
              <a:spcBef>
                <a:spcPct val="30000"/>
              </a:spcBef>
              <a:spcAft>
                <a:spcPts val="1200"/>
              </a:spcAft>
              <a:buClr>
                <a:srgbClr val="D24726"/>
              </a:buClr>
              <a:buSzPct val="150000"/>
              <a:buFont typeface="Arial" panose="020B0604020202020204" pitchFamily="34" charset="0"/>
              <a:buChar char="•"/>
              <a:tabLst/>
              <a:defRPr/>
            </a:pPr>
            <a:r>
              <a:rPr kumimoji="0" lang="es-AR" sz="2105" b="0" i="0" u="none" strike="noStrike" kern="1200" cap="none" spc="0" normalizeH="0" baseline="0" noProof="0" dirty="0">
                <a:ln>
                  <a:noFill/>
                </a:ln>
                <a:solidFill>
                  <a:prstClr val="black"/>
                </a:solidFill>
                <a:effectLst/>
                <a:uLnTx/>
                <a:uFillTx/>
                <a:latin typeface="Calibri"/>
                <a:ea typeface="+mn-ea"/>
                <a:cs typeface="+mn-cs"/>
              </a:rPr>
              <a:t>Se busca en la hoja de datos cuántos ciclos dura cada instrucción.</a:t>
            </a:r>
          </a:p>
          <a:p>
            <a:pPr marL="250631" marR="0" lvl="0" indent="-250631" algn="l" defTabSz="914400" rtl="0" eaLnBrk="1" fontAlgn="auto" latinLnBrk="0" hangingPunct="1">
              <a:lnSpc>
                <a:spcPct val="150000"/>
              </a:lnSpc>
              <a:spcBef>
                <a:spcPct val="30000"/>
              </a:spcBef>
              <a:spcAft>
                <a:spcPts val="1200"/>
              </a:spcAft>
              <a:buClr>
                <a:srgbClr val="D24726"/>
              </a:buClr>
              <a:buSzPct val="150000"/>
              <a:buFont typeface="Arial" panose="020B0604020202020204" pitchFamily="34" charset="0"/>
              <a:buChar char="•"/>
              <a:tabLst/>
              <a:defRPr/>
            </a:pPr>
            <a:r>
              <a:rPr kumimoji="0" lang="es-AR" sz="2105" b="0" i="0" u="none" strike="noStrike" kern="1200" cap="none" spc="0" normalizeH="0" baseline="0" noProof="0" dirty="0">
                <a:ln>
                  <a:noFill/>
                </a:ln>
                <a:solidFill>
                  <a:prstClr val="black"/>
                </a:solidFill>
                <a:effectLst/>
                <a:uLnTx/>
                <a:uFillTx/>
                <a:latin typeface="Calibri"/>
                <a:ea typeface="+mn-ea"/>
                <a:cs typeface="+mn-cs"/>
              </a:rPr>
              <a:t>Se hace la cuenta considerando cuántas veces voy a ejecutar cada instrucción.</a:t>
            </a:r>
          </a:p>
          <a:p>
            <a:pPr marL="250631" marR="0" lvl="0" indent="-250631" algn="l" defTabSz="914400" rtl="0" eaLnBrk="1" fontAlgn="auto" latinLnBrk="0" hangingPunct="1">
              <a:lnSpc>
                <a:spcPct val="150000"/>
              </a:lnSpc>
              <a:spcBef>
                <a:spcPct val="30000"/>
              </a:spcBef>
              <a:spcAft>
                <a:spcPts val="1200"/>
              </a:spcAft>
              <a:buClr>
                <a:srgbClr val="D24726"/>
              </a:buClr>
              <a:buSzPct val="150000"/>
              <a:buFont typeface="Arial" panose="020B0604020202020204" pitchFamily="34" charset="0"/>
              <a:buChar char="•"/>
              <a:tabLst/>
              <a:defRPr/>
            </a:pPr>
            <a:r>
              <a:rPr kumimoji="0" lang="es-AR" sz="2105" b="0" i="0" u="none" strike="noStrike" kern="1200" cap="none" spc="0" normalizeH="0" baseline="0" noProof="0" dirty="0">
                <a:ln>
                  <a:noFill/>
                </a:ln>
                <a:solidFill>
                  <a:prstClr val="black"/>
                </a:solidFill>
                <a:effectLst/>
                <a:uLnTx/>
                <a:uFillTx/>
                <a:latin typeface="Calibri"/>
                <a:ea typeface="+mn-ea"/>
                <a:cs typeface="+mn-cs"/>
              </a:rPr>
              <a:t>En este caso aproximadamente nos da 1000 microsegundos, o 1 milisegundo</a:t>
            </a:r>
          </a:p>
        </p:txBody>
      </p:sp>
      <mc:AlternateContent xmlns:mc="http://schemas.openxmlformats.org/markup-compatibility/2006" xmlns:a14="http://schemas.microsoft.com/office/drawing/2010/main">
        <mc:Choice Requires="a14">
          <p:sp>
            <p:nvSpPr>
              <p:cNvPr id="8" name="Marcador de contenido 2">
                <a:extLst>
                  <a:ext uri="{FF2B5EF4-FFF2-40B4-BE49-F238E27FC236}">
                    <a16:creationId xmlns:a16="http://schemas.microsoft.com/office/drawing/2014/main" id="{C569E7B7-68D1-1A86-8F55-BA540F5725E9}"/>
                  </a:ext>
                </a:extLst>
              </p:cNvPr>
              <p:cNvSpPr txBox="1">
                <a:spLocks/>
              </p:cNvSpPr>
              <p:nvPr/>
            </p:nvSpPr>
            <p:spPr bwMode="auto">
              <a:xfrm>
                <a:off x="1901766" y="4350321"/>
                <a:ext cx="1631285" cy="53543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ct val="30000"/>
                  </a:spcBef>
                  <a:spcAft>
                    <a:spcPts val="1200"/>
                  </a:spcAft>
                  <a:buClr>
                    <a:srgbClr val="D24726"/>
                  </a:buClr>
                  <a:buSzPct val="150000"/>
                  <a:buFont typeface="Arial" panose="020B0604020202020204" pitchFamily="34" charset="0"/>
                  <a:buNone/>
                  <a:tabLst/>
                  <a:defRPr/>
                </a:pPr>
                <a:r>
                  <a:rPr kumimoji="0" lang="es-AR" sz="1800" b="0" i="0" u="none" strike="noStrike" kern="1200" cap="none" spc="0" normalizeH="0" baseline="0" noProof="0" dirty="0">
                    <a:ln>
                      <a:noFill/>
                    </a:ln>
                    <a:solidFill>
                      <a:prstClr val="black"/>
                    </a:solidFill>
                    <a:effectLst/>
                    <a:uLnTx/>
                    <a:uFillTx/>
                    <a:cs typeface="+mn-cs"/>
                  </a:rPr>
                  <a:t>4 </a:t>
                </a:r>
                <a14:m>
                  <m:oMath xmlns:m="http://schemas.openxmlformats.org/officeDocument/2006/math">
                    <m:r>
                      <a:rPr kumimoji="0" lang="es-AR"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𝜇</m:t>
                    </m:r>
                    <m:r>
                      <a:rPr kumimoji="0" lang="es-AR"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𝑠</m:t>
                    </m:r>
                  </m:oMath>
                </a14:m>
                <a:r>
                  <a:rPr kumimoji="0" lang="es-AR" sz="1800" b="0" i="0" u="none" strike="noStrike" kern="1200" cap="none" spc="0" normalizeH="0" baseline="0" noProof="0" dirty="0">
                    <a:ln>
                      <a:noFill/>
                    </a:ln>
                    <a:solidFill>
                      <a:prstClr val="black"/>
                    </a:solidFill>
                    <a:effectLst/>
                    <a:uLnTx/>
                    <a:uFillTx/>
                    <a:cs typeface="+mn-cs"/>
                  </a:rPr>
                  <a:t> x 250</a:t>
                </a:r>
              </a:p>
            </p:txBody>
          </p:sp>
        </mc:Choice>
        <mc:Fallback xmlns="">
          <p:sp>
            <p:nvSpPr>
              <p:cNvPr id="8" name="Marcador de contenido 2">
                <a:extLst>
                  <a:ext uri="{FF2B5EF4-FFF2-40B4-BE49-F238E27FC236}">
                    <a16:creationId xmlns:a16="http://schemas.microsoft.com/office/drawing/2014/main" id="{C569E7B7-68D1-1A86-8F55-BA540F5725E9}"/>
                  </a:ext>
                </a:extLst>
              </p:cNvPr>
              <p:cNvSpPr txBox="1">
                <a:spLocks noRot="1" noChangeAspect="1" noMove="1" noResize="1" noEditPoints="1" noAdjustHandles="1" noChangeArrowheads="1" noChangeShapeType="1" noTextEdit="1"/>
              </p:cNvSpPr>
              <p:nvPr/>
            </p:nvSpPr>
            <p:spPr bwMode="auto">
              <a:xfrm>
                <a:off x="1901766" y="4350321"/>
                <a:ext cx="1631285" cy="535434"/>
              </a:xfrm>
              <a:prstGeom prst="rect">
                <a:avLst/>
              </a:prstGeom>
              <a:blipFill>
                <a:blip r:embed="rId2"/>
                <a:stretch>
                  <a:fillRect t="-8046" r="-373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cxnSp>
        <p:nvCxnSpPr>
          <p:cNvPr id="14" name="Conector recto 13">
            <a:extLst>
              <a:ext uri="{FF2B5EF4-FFF2-40B4-BE49-F238E27FC236}">
                <a16:creationId xmlns:a16="http://schemas.microsoft.com/office/drawing/2014/main" id="{D31EAF3F-F643-F134-DC25-5CC137C3702B}"/>
              </a:ext>
            </a:extLst>
          </p:cNvPr>
          <p:cNvCxnSpPr/>
          <p:nvPr/>
        </p:nvCxnSpPr>
        <p:spPr>
          <a:xfrm>
            <a:off x="2374900" y="4237037"/>
            <a:ext cx="129736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315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C8254-00F9-5A22-C370-BCE978FC10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4956A5-122C-CBE2-7067-F5EAB6254ABB}"/>
              </a:ext>
            </a:extLst>
          </p:cNvPr>
          <p:cNvSpPr>
            <a:spLocks noGrp="1"/>
          </p:cNvSpPr>
          <p:nvPr>
            <p:ph type="title"/>
          </p:nvPr>
        </p:nvSpPr>
        <p:spPr/>
        <p:txBody>
          <a:bodyPr/>
          <a:lstStyle/>
          <a:p>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Subrutina de retardo 250MS</a:t>
            </a:r>
            <a:endParaRPr lang="es-AR" dirty="0"/>
          </a:p>
        </p:txBody>
      </p:sp>
      <p:sp>
        <p:nvSpPr>
          <p:cNvPr id="3" name="Marcador de contenido 2">
            <a:extLst>
              <a:ext uri="{FF2B5EF4-FFF2-40B4-BE49-F238E27FC236}">
                <a16:creationId xmlns:a16="http://schemas.microsoft.com/office/drawing/2014/main" id="{5E58E625-489F-FD2D-B643-B06E8C76DA77}"/>
              </a:ext>
            </a:extLst>
          </p:cNvPr>
          <p:cNvSpPr>
            <a:spLocks noGrp="1"/>
          </p:cNvSpPr>
          <p:nvPr>
            <p:ph idx="1"/>
          </p:nvPr>
        </p:nvSpPr>
        <p:spPr>
          <a:xfrm>
            <a:off x="165100" y="1600200"/>
            <a:ext cx="10058400" cy="5837237"/>
          </a:xfrm>
        </p:spPr>
        <p:txBody>
          <a:bodyPr>
            <a:normAutofit/>
          </a:bodyPr>
          <a:lstStyle/>
          <a:p>
            <a:pPr marL="0" indent="0">
              <a:buNone/>
            </a:pPr>
            <a:r>
              <a:rPr lang="es-MX" dirty="0">
                <a:solidFill>
                  <a:srgbClr val="7030A0"/>
                </a:solidFill>
              </a:rPr>
              <a:t>DELAY_250MS</a:t>
            </a:r>
          </a:p>
          <a:p>
            <a:pPr marL="0" indent="0">
              <a:buNone/>
            </a:pPr>
            <a:r>
              <a:rPr lang="es-MX" dirty="0">
                <a:solidFill>
                  <a:srgbClr val="7030A0"/>
                </a:solidFill>
              </a:rPr>
              <a:t>   </a:t>
            </a:r>
            <a:r>
              <a:rPr lang="es-MX" dirty="0">
                <a:solidFill>
                  <a:srgbClr val="0070C0"/>
                </a:solidFill>
              </a:rPr>
              <a:t>MOVLW</a:t>
            </a:r>
            <a:r>
              <a:rPr lang="es-MX" dirty="0">
                <a:solidFill>
                  <a:srgbClr val="7030A0"/>
                </a:solidFill>
              </a:rPr>
              <a:t> </a:t>
            </a:r>
            <a:r>
              <a:rPr lang="es-MX" dirty="0">
                <a:solidFill>
                  <a:srgbClr val="00B050"/>
                </a:solidFill>
              </a:rPr>
              <a:t>.250                       ; Cargar 250 en W </a:t>
            </a:r>
          </a:p>
          <a:p>
            <a:pPr marL="0" indent="0">
              <a:buNone/>
            </a:pPr>
            <a:r>
              <a:rPr lang="es-MX" dirty="0">
                <a:solidFill>
                  <a:srgbClr val="7030A0"/>
                </a:solidFill>
              </a:rPr>
              <a:t>   </a:t>
            </a:r>
            <a:r>
              <a:rPr lang="es-MX" dirty="0">
                <a:solidFill>
                  <a:srgbClr val="0070C0"/>
                </a:solidFill>
              </a:rPr>
              <a:t>MOVWF</a:t>
            </a:r>
            <a:r>
              <a:rPr lang="es-MX" dirty="0">
                <a:solidFill>
                  <a:srgbClr val="7030A0"/>
                </a:solidFill>
              </a:rPr>
              <a:t> CONT2                 </a:t>
            </a:r>
            <a:r>
              <a:rPr lang="es-MX" dirty="0">
                <a:solidFill>
                  <a:srgbClr val="00B050"/>
                </a:solidFill>
              </a:rPr>
              <a:t>; Guardar en CONT2 (0x21)</a:t>
            </a:r>
          </a:p>
          <a:p>
            <a:pPr marL="0" indent="0">
              <a:buNone/>
            </a:pPr>
            <a:r>
              <a:rPr lang="es-MX" dirty="0">
                <a:solidFill>
                  <a:srgbClr val="7030A0"/>
                </a:solidFill>
              </a:rPr>
              <a:t>LOOP2 </a:t>
            </a:r>
            <a:r>
              <a:rPr lang="es-MX" dirty="0">
                <a:solidFill>
                  <a:srgbClr val="0070C0"/>
                </a:solidFill>
              </a:rPr>
              <a:t>CALL</a:t>
            </a:r>
            <a:r>
              <a:rPr lang="es-MX" dirty="0">
                <a:solidFill>
                  <a:srgbClr val="7030A0"/>
                </a:solidFill>
              </a:rPr>
              <a:t> DELAY_1MS     </a:t>
            </a:r>
            <a:r>
              <a:rPr lang="es-MX" dirty="0">
                <a:solidFill>
                  <a:srgbClr val="00B050"/>
                </a:solidFill>
              </a:rPr>
              <a:t>; Llamar a DELAY_1MS</a:t>
            </a:r>
          </a:p>
          <a:p>
            <a:pPr marL="0" indent="0">
              <a:buNone/>
            </a:pPr>
            <a:r>
              <a:rPr lang="es-MX" dirty="0">
                <a:solidFill>
                  <a:srgbClr val="7030A0"/>
                </a:solidFill>
              </a:rPr>
              <a:t>   </a:t>
            </a:r>
            <a:r>
              <a:rPr lang="es-MX" dirty="0">
                <a:solidFill>
                  <a:srgbClr val="0070C0"/>
                </a:solidFill>
              </a:rPr>
              <a:t>DECFSZ</a:t>
            </a:r>
            <a:r>
              <a:rPr lang="es-MX" dirty="0">
                <a:solidFill>
                  <a:srgbClr val="7030A0"/>
                </a:solidFill>
              </a:rPr>
              <a:t> CONT2</a:t>
            </a:r>
            <a:r>
              <a:rPr lang="es-MX" dirty="0"/>
              <a:t>,</a:t>
            </a:r>
            <a:r>
              <a:rPr lang="es-MX" dirty="0">
                <a:solidFill>
                  <a:srgbClr val="7030A0"/>
                </a:solidFill>
              </a:rPr>
              <a:t>F                </a:t>
            </a:r>
            <a:r>
              <a:rPr lang="es-MX" dirty="0">
                <a:solidFill>
                  <a:srgbClr val="00B050"/>
                </a:solidFill>
              </a:rPr>
              <a:t>; Decrementar CONT2</a:t>
            </a:r>
          </a:p>
          <a:p>
            <a:pPr marL="0" indent="0">
              <a:buNone/>
            </a:pPr>
            <a:r>
              <a:rPr lang="es-MX" dirty="0">
                <a:solidFill>
                  <a:srgbClr val="7030A0"/>
                </a:solidFill>
              </a:rPr>
              <a:t>   </a:t>
            </a:r>
            <a:r>
              <a:rPr lang="es-MX" dirty="0">
                <a:solidFill>
                  <a:srgbClr val="0070C0"/>
                </a:solidFill>
              </a:rPr>
              <a:t>GOTO</a:t>
            </a:r>
            <a:r>
              <a:rPr lang="es-MX" dirty="0">
                <a:solidFill>
                  <a:srgbClr val="7030A0"/>
                </a:solidFill>
              </a:rPr>
              <a:t> LOOP2              </a:t>
            </a:r>
            <a:r>
              <a:rPr lang="es-MX" dirty="0">
                <a:solidFill>
                  <a:srgbClr val="00B050"/>
                </a:solidFill>
              </a:rPr>
              <a:t>; Repetir hasta que CONT2 llegue a 0</a:t>
            </a:r>
          </a:p>
          <a:p>
            <a:pPr marL="0" indent="0">
              <a:buNone/>
            </a:pPr>
            <a:r>
              <a:rPr lang="es-MX" dirty="0">
                <a:solidFill>
                  <a:srgbClr val="0070C0"/>
                </a:solidFill>
              </a:rPr>
              <a:t>RETURN</a:t>
            </a:r>
            <a:endParaRPr lang="es-AR" dirty="0">
              <a:solidFill>
                <a:srgbClr val="0070C0"/>
              </a:solidFill>
            </a:endParaRPr>
          </a:p>
        </p:txBody>
      </p:sp>
    </p:spTree>
    <p:extLst>
      <p:ext uri="{BB962C8B-B14F-4D97-AF65-F5344CB8AC3E}">
        <p14:creationId xmlns:p14="http://schemas.microsoft.com/office/powerpoint/2010/main" val="42402210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ACD8-297E-0F3E-8770-48EF14BF9A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C894388-9B23-57AF-E56E-9B887F56B27D}"/>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sin </a:t>
            </a:r>
            <a:r>
              <a:rPr lang="es-AR" b="1" dirty="0" err="1">
                <a:solidFill>
                  <a:srgbClr val="FF0000"/>
                </a:solidFill>
                <a:effectLst>
                  <a:outerShdw blurRad="38100" dist="38100" dir="2700000" algn="tl">
                    <a:srgbClr val="000000">
                      <a:alpha val="43137"/>
                    </a:srgbClr>
                  </a:outerShdw>
                </a:effectLst>
              </a:rPr>
              <a:t>Timer</a:t>
            </a:r>
            <a:r>
              <a:rPr lang="es-AR" b="1" dirty="0">
                <a:solidFill>
                  <a:srgbClr val="FF0000"/>
                </a:solidFill>
                <a:effectLst>
                  <a:outerShdw blurRad="38100" dist="38100" dir="2700000" algn="tl">
                    <a:srgbClr val="000000">
                      <a:alpha val="43137"/>
                    </a:srgbClr>
                  </a:outerShdw>
                </a:effectLst>
              </a:rPr>
              <a:t> 0</a:t>
            </a:r>
            <a:endParaRPr lang="es-AR" dirty="0"/>
          </a:p>
        </p:txBody>
      </p:sp>
      <p:sp>
        <p:nvSpPr>
          <p:cNvPr id="5" name="Marcador de contenido 4">
            <a:extLst>
              <a:ext uri="{FF2B5EF4-FFF2-40B4-BE49-F238E27FC236}">
                <a16:creationId xmlns:a16="http://schemas.microsoft.com/office/drawing/2014/main" id="{CD3F0B2C-47BE-5FC3-5A19-7B26467570A3}"/>
              </a:ext>
            </a:extLst>
          </p:cNvPr>
          <p:cNvSpPr>
            <a:spLocks noGrp="1"/>
          </p:cNvSpPr>
          <p:nvPr>
            <p:ph idx="1"/>
          </p:nvPr>
        </p:nvSpPr>
        <p:spPr>
          <a:xfrm>
            <a:off x="7785100" y="2027237"/>
            <a:ext cx="2743200" cy="3886199"/>
          </a:xfrm>
        </p:spPr>
        <p:txBody>
          <a:bodyPr>
            <a:noAutofit/>
          </a:bodyPr>
          <a:lstStyle/>
          <a:p>
            <a:pPr marL="0" indent="0">
              <a:buNone/>
            </a:pPr>
            <a:r>
              <a:rPr lang="es-MX" sz="1800" dirty="0">
                <a:solidFill>
                  <a:srgbClr val="7030A0"/>
                </a:solidFill>
              </a:rPr>
              <a:t>DELAY_250MS</a:t>
            </a:r>
          </a:p>
          <a:p>
            <a:pPr marL="0" indent="0">
              <a:buNone/>
            </a:pPr>
            <a:r>
              <a:rPr lang="es-MX" sz="1800" dirty="0">
                <a:solidFill>
                  <a:srgbClr val="7030A0"/>
                </a:solidFill>
              </a:rPr>
              <a:t>   </a:t>
            </a:r>
            <a:r>
              <a:rPr lang="es-MX" sz="1800" dirty="0">
                <a:solidFill>
                  <a:srgbClr val="0070C0"/>
                </a:solidFill>
              </a:rPr>
              <a:t>MOVLW</a:t>
            </a:r>
            <a:r>
              <a:rPr lang="es-MX" sz="1800" dirty="0">
                <a:solidFill>
                  <a:srgbClr val="7030A0"/>
                </a:solidFill>
              </a:rPr>
              <a:t> </a:t>
            </a:r>
            <a:r>
              <a:rPr lang="es-MX" sz="1800" dirty="0">
                <a:solidFill>
                  <a:srgbClr val="00B050"/>
                </a:solidFill>
              </a:rPr>
              <a:t>.250              </a:t>
            </a:r>
          </a:p>
          <a:p>
            <a:pPr marL="0" indent="0">
              <a:buNone/>
            </a:pPr>
            <a:r>
              <a:rPr lang="es-MX" sz="1800" dirty="0">
                <a:solidFill>
                  <a:srgbClr val="7030A0"/>
                </a:solidFill>
              </a:rPr>
              <a:t>   </a:t>
            </a:r>
            <a:r>
              <a:rPr lang="es-MX" sz="1800" dirty="0">
                <a:solidFill>
                  <a:srgbClr val="0070C0"/>
                </a:solidFill>
              </a:rPr>
              <a:t>MOVWF</a:t>
            </a:r>
            <a:r>
              <a:rPr lang="es-MX" sz="1800" dirty="0">
                <a:solidFill>
                  <a:srgbClr val="7030A0"/>
                </a:solidFill>
              </a:rPr>
              <a:t> CONT2            </a:t>
            </a:r>
          </a:p>
          <a:p>
            <a:pPr marL="0" indent="0">
              <a:buNone/>
            </a:pPr>
            <a:r>
              <a:rPr lang="es-MX" sz="1800" dirty="0">
                <a:solidFill>
                  <a:srgbClr val="7030A0"/>
                </a:solidFill>
              </a:rPr>
              <a:t>LOOP2 </a:t>
            </a:r>
            <a:r>
              <a:rPr lang="es-MX" sz="1800" dirty="0">
                <a:solidFill>
                  <a:srgbClr val="0070C0"/>
                </a:solidFill>
              </a:rPr>
              <a:t>CALL</a:t>
            </a:r>
            <a:r>
              <a:rPr lang="es-MX" sz="1800" dirty="0">
                <a:solidFill>
                  <a:srgbClr val="7030A0"/>
                </a:solidFill>
              </a:rPr>
              <a:t> DELAY_1MS</a:t>
            </a:r>
          </a:p>
          <a:p>
            <a:pPr marL="0" indent="0">
              <a:buNone/>
            </a:pPr>
            <a:r>
              <a:rPr lang="es-MX" sz="1800" dirty="0">
                <a:solidFill>
                  <a:srgbClr val="0070C0"/>
                </a:solidFill>
              </a:rPr>
              <a:t>  DECFSZ</a:t>
            </a:r>
            <a:r>
              <a:rPr lang="es-MX" sz="1800" dirty="0">
                <a:solidFill>
                  <a:srgbClr val="7030A0"/>
                </a:solidFill>
              </a:rPr>
              <a:t> CONT2</a:t>
            </a:r>
            <a:r>
              <a:rPr lang="es-MX" sz="1800" dirty="0"/>
              <a:t>,</a:t>
            </a:r>
            <a:r>
              <a:rPr lang="es-MX" sz="1800" dirty="0">
                <a:solidFill>
                  <a:srgbClr val="7030A0"/>
                </a:solidFill>
              </a:rPr>
              <a:t>F  </a:t>
            </a:r>
          </a:p>
          <a:p>
            <a:pPr marL="0" indent="0">
              <a:buNone/>
            </a:pPr>
            <a:r>
              <a:rPr lang="es-MX" sz="1800" dirty="0">
                <a:solidFill>
                  <a:srgbClr val="0070C0"/>
                </a:solidFill>
              </a:rPr>
              <a:t>  GOTO</a:t>
            </a:r>
            <a:r>
              <a:rPr lang="es-MX" sz="1800" dirty="0">
                <a:solidFill>
                  <a:srgbClr val="7030A0"/>
                </a:solidFill>
              </a:rPr>
              <a:t> LOOP2      </a:t>
            </a:r>
          </a:p>
          <a:p>
            <a:pPr marL="0" indent="0">
              <a:buNone/>
            </a:pPr>
            <a:r>
              <a:rPr lang="es-MX" sz="1800" dirty="0">
                <a:solidFill>
                  <a:srgbClr val="0070C0"/>
                </a:solidFill>
              </a:rPr>
              <a:t>RETURN</a:t>
            </a:r>
            <a:endParaRPr lang="es-AR" sz="1800" dirty="0">
              <a:solidFill>
                <a:srgbClr val="0070C0"/>
              </a:solidFill>
            </a:endParaRPr>
          </a:p>
        </p:txBody>
      </p:sp>
      <p:sp>
        <p:nvSpPr>
          <p:cNvPr id="7" name="Marcador de contenido 2">
            <a:extLst>
              <a:ext uri="{FF2B5EF4-FFF2-40B4-BE49-F238E27FC236}">
                <a16:creationId xmlns:a16="http://schemas.microsoft.com/office/drawing/2014/main" id="{98817376-D0A3-AE98-F1C1-EF6D946E33F5}"/>
              </a:ext>
            </a:extLst>
          </p:cNvPr>
          <p:cNvSpPr txBox="1">
            <a:spLocks/>
          </p:cNvSpPr>
          <p:nvPr/>
        </p:nvSpPr>
        <p:spPr bwMode="auto">
          <a:xfrm>
            <a:off x="317500" y="1646239"/>
            <a:ext cx="7315200" cy="5638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incrementamos ese tiempo?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deben anidar contadores. </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Así, el tiempo de demora final es la multiplicación de la demoras de los contadores anidados</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el ejemplo se cuentan aproximadamente 250 milisegundos, ya que se llama 250 a la demora de 1 milisegundo.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Sólo se recomienda usar CALL y llamadas a subrutinas en caso de que no se usen demasiados contadores.</a:t>
            </a:r>
          </a:p>
        </p:txBody>
      </p:sp>
    </p:spTree>
    <p:extLst>
      <p:ext uri="{BB962C8B-B14F-4D97-AF65-F5344CB8AC3E}">
        <p14:creationId xmlns:p14="http://schemas.microsoft.com/office/powerpoint/2010/main" val="181207929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1EA0F-E3EF-0064-D0E0-FF062AE3E0C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6BDAB6-227F-B449-6927-D55C24D5B1E4}"/>
              </a:ext>
            </a:extLst>
          </p:cNvPr>
          <p:cNvSpPr>
            <a:spLocks noGrp="1"/>
          </p:cNvSpPr>
          <p:nvPr>
            <p:ph type="title"/>
          </p:nvPr>
        </p:nvSpPr>
        <p:spPr/>
        <p:txBody>
          <a:bodyPr/>
          <a:lstStyle/>
          <a:p>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Subrutina de retardo </a:t>
            </a:r>
            <a:r>
              <a:rPr lang="es-ES" b="1" dirty="0">
                <a:solidFill>
                  <a:srgbClr val="FF0000"/>
                </a:solidFill>
                <a:effectLst>
                  <a:outerShdw blurRad="38100" dist="38100" dir="2700000" algn="tl">
                    <a:srgbClr val="000000">
                      <a:alpha val="43137"/>
                    </a:srgbClr>
                  </a:outerShdw>
                </a:effectLst>
                <a:latin typeface="Calibri"/>
              </a:rPr>
              <a:t>1</a:t>
            </a:r>
            <a:r>
              <a:rPr kumimoji="0" lang="es-ES" sz="4400" b="1" i="0" u="none" strike="noStrike" kern="1200" cap="none" spc="0" normalizeH="0" baseline="0" noProof="0" dirty="0">
                <a:ln>
                  <a:noFill/>
                </a:ln>
                <a:solidFill>
                  <a:srgbClr val="FF0000"/>
                </a:solidFill>
                <a:effectLst>
                  <a:outerShdw blurRad="38100" dist="38100" dir="2700000" algn="tl">
                    <a:srgbClr val="000000">
                      <a:alpha val="43137"/>
                    </a:srgbClr>
                  </a:outerShdw>
                </a:effectLst>
                <a:uLnTx/>
                <a:uFillTx/>
                <a:latin typeface="Calibri"/>
                <a:ea typeface="+mj-ea"/>
                <a:cs typeface="+mj-cs"/>
              </a:rPr>
              <a:t>S</a:t>
            </a:r>
            <a:endParaRPr lang="es-AR" dirty="0"/>
          </a:p>
        </p:txBody>
      </p:sp>
      <p:sp>
        <p:nvSpPr>
          <p:cNvPr id="3" name="Marcador de contenido 2">
            <a:extLst>
              <a:ext uri="{FF2B5EF4-FFF2-40B4-BE49-F238E27FC236}">
                <a16:creationId xmlns:a16="http://schemas.microsoft.com/office/drawing/2014/main" id="{8E97E190-F931-FFD4-6A77-FE273A5D74B3}"/>
              </a:ext>
            </a:extLst>
          </p:cNvPr>
          <p:cNvSpPr>
            <a:spLocks noGrp="1"/>
          </p:cNvSpPr>
          <p:nvPr>
            <p:ph idx="1"/>
          </p:nvPr>
        </p:nvSpPr>
        <p:spPr>
          <a:xfrm>
            <a:off x="165100" y="1600200"/>
            <a:ext cx="10058400" cy="5837237"/>
          </a:xfrm>
        </p:spPr>
        <p:txBody>
          <a:bodyPr>
            <a:normAutofit/>
          </a:bodyPr>
          <a:lstStyle/>
          <a:p>
            <a:pPr marL="0" indent="0">
              <a:buNone/>
            </a:pPr>
            <a:r>
              <a:rPr lang="es-MX" dirty="0">
                <a:solidFill>
                  <a:srgbClr val="7030A0"/>
                </a:solidFill>
              </a:rPr>
              <a:t>DELAY_1S</a:t>
            </a:r>
          </a:p>
          <a:p>
            <a:pPr marL="0" indent="0">
              <a:buNone/>
            </a:pPr>
            <a:r>
              <a:rPr lang="es-MX" dirty="0">
                <a:solidFill>
                  <a:srgbClr val="7030A0"/>
                </a:solidFill>
              </a:rPr>
              <a:t>   </a:t>
            </a:r>
            <a:r>
              <a:rPr lang="es-MX" dirty="0">
                <a:solidFill>
                  <a:srgbClr val="0070C0"/>
                </a:solidFill>
              </a:rPr>
              <a:t>MOVLW</a:t>
            </a:r>
            <a:r>
              <a:rPr lang="es-MX" dirty="0">
                <a:solidFill>
                  <a:srgbClr val="7030A0"/>
                </a:solidFill>
              </a:rPr>
              <a:t> </a:t>
            </a:r>
            <a:r>
              <a:rPr lang="es-MX" dirty="0">
                <a:solidFill>
                  <a:srgbClr val="00B050"/>
                </a:solidFill>
              </a:rPr>
              <a:t>.4                                ; Cargar 4 en W </a:t>
            </a:r>
          </a:p>
          <a:p>
            <a:pPr marL="0" indent="0">
              <a:buNone/>
            </a:pPr>
            <a:r>
              <a:rPr lang="es-MX" dirty="0">
                <a:solidFill>
                  <a:srgbClr val="7030A0"/>
                </a:solidFill>
              </a:rPr>
              <a:t>   </a:t>
            </a:r>
            <a:r>
              <a:rPr lang="es-MX" dirty="0">
                <a:solidFill>
                  <a:srgbClr val="0070C0"/>
                </a:solidFill>
              </a:rPr>
              <a:t>MOVWF</a:t>
            </a:r>
            <a:r>
              <a:rPr lang="es-MX" dirty="0">
                <a:solidFill>
                  <a:srgbClr val="7030A0"/>
                </a:solidFill>
              </a:rPr>
              <a:t> CONT3                      </a:t>
            </a:r>
            <a:r>
              <a:rPr lang="es-MX" dirty="0">
                <a:solidFill>
                  <a:srgbClr val="00B050"/>
                </a:solidFill>
              </a:rPr>
              <a:t>; Guardar en CONT3 (0x22)</a:t>
            </a:r>
          </a:p>
          <a:p>
            <a:pPr marL="0" indent="0">
              <a:buNone/>
            </a:pPr>
            <a:r>
              <a:rPr lang="es-MX" dirty="0">
                <a:solidFill>
                  <a:srgbClr val="7030A0"/>
                </a:solidFill>
              </a:rPr>
              <a:t>LOOP3 </a:t>
            </a:r>
            <a:r>
              <a:rPr lang="es-MX" dirty="0">
                <a:solidFill>
                  <a:srgbClr val="0070C0"/>
                </a:solidFill>
              </a:rPr>
              <a:t>CALL</a:t>
            </a:r>
            <a:r>
              <a:rPr lang="es-MX" dirty="0">
                <a:solidFill>
                  <a:srgbClr val="7030A0"/>
                </a:solidFill>
              </a:rPr>
              <a:t> DELAY_250MS     </a:t>
            </a:r>
            <a:r>
              <a:rPr lang="es-MX" dirty="0">
                <a:solidFill>
                  <a:srgbClr val="00B050"/>
                </a:solidFill>
              </a:rPr>
              <a:t>; Llamar a DELAY_250MS</a:t>
            </a:r>
          </a:p>
          <a:p>
            <a:pPr marL="0" indent="0">
              <a:buNone/>
            </a:pPr>
            <a:r>
              <a:rPr lang="es-MX" dirty="0">
                <a:solidFill>
                  <a:srgbClr val="7030A0"/>
                </a:solidFill>
              </a:rPr>
              <a:t>   </a:t>
            </a:r>
            <a:r>
              <a:rPr lang="es-MX" dirty="0">
                <a:solidFill>
                  <a:srgbClr val="0070C0"/>
                </a:solidFill>
              </a:rPr>
              <a:t>DECFSZ</a:t>
            </a:r>
            <a:r>
              <a:rPr lang="es-MX" dirty="0">
                <a:solidFill>
                  <a:srgbClr val="7030A0"/>
                </a:solidFill>
              </a:rPr>
              <a:t> CONT3</a:t>
            </a:r>
            <a:r>
              <a:rPr lang="es-MX" dirty="0"/>
              <a:t>,</a:t>
            </a:r>
            <a:r>
              <a:rPr lang="es-MX" dirty="0">
                <a:solidFill>
                  <a:srgbClr val="7030A0"/>
                </a:solidFill>
              </a:rPr>
              <a:t>F                     </a:t>
            </a:r>
            <a:r>
              <a:rPr lang="es-MX" dirty="0">
                <a:solidFill>
                  <a:srgbClr val="00B050"/>
                </a:solidFill>
              </a:rPr>
              <a:t>; Decrementar CONT3</a:t>
            </a:r>
          </a:p>
          <a:p>
            <a:pPr marL="0" indent="0">
              <a:buNone/>
            </a:pPr>
            <a:r>
              <a:rPr lang="es-MX" dirty="0">
                <a:solidFill>
                  <a:srgbClr val="7030A0"/>
                </a:solidFill>
              </a:rPr>
              <a:t>   </a:t>
            </a:r>
            <a:r>
              <a:rPr lang="es-MX" dirty="0">
                <a:solidFill>
                  <a:srgbClr val="0070C0"/>
                </a:solidFill>
              </a:rPr>
              <a:t>GOTO</a:t>
            </a:r>
            <a:r>
              <a:rPr lang="es-MX" dirty="0">
                <a:solidFill>
                  <a:srgbClr val="7030A0"/>
                </a:solidFill>
              </a:rPr>
              <a:t> LOOP3                           </a:t>
            </a:r>
            <a:r>
              <a:rPr lang="es-MX" dirty="0">
                <a:solidFill>
                  <a:srgbClr val="00B050"/>
                </a:solidFill>
              </a:rPr>
              <a:t>; Repetir</a:t>
            </a:r>
          </a:p>
          <a:p>
            <a:pPr marL="0" indent="0">
              <a:buNone/>
            </a:pPr>
            <a:r>
              <a:rPr lang="es-MX" dirty="0">
                <a:solidFill>
                  <a:srgbClr val="0070C0"/>
                </a:solidFill>
              </a:rPr>
              <a:t>RETURN</a:t>
            </a:r>
            <a:endParaRPr lang="es-AR" dirty="0">
              <a:solidFill>
                <a:srgbClr val="0070C0"/>
              </a:solidFill>
            </a:endParaRPr>
          </a:p>
        </p:txBody>
      </p:sp>
    </p:spTree>
    <p:extLst>
      <p:ext uri="{BB962C8B-B14F-4D97-AF65-F5344CB8AC3E}">
        <p14:creationId xmlns:p14="http://schemas.microsoft.com/office/powerpoint/2010/main" val="87605427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2">
            <a:extLst>
              <a:ext uri="{FF2B5EF4-FFF2-40B4-BE49-F238E27FC236}">
                <a16:creationId xmlns:a16="http://schemas.microsoft.com/office/drawing/2014/main" id="{3C0BD444-1BD4-E2D3-085D-0DE14E75573B}"/>
              </a:ext>
            </a:extLst>
          </p:cNvPr>
          <p:cNvSpPr>
            <a:spLocks noGrp="1"/>
          </p:cNvSpPr>
          <p:nvPr>
            <p:ph type="title"/>
          </p:nvPr>
        </p:nvSpPr>
        <p:spPr>
          <a:xfrm>
            <a:off x="0" y="3094037"/>
            <a:ext cx="10693400" cy="1143000"/>
          </a:xfrm>
        </p:spPr>
        <p:txBody>
          <a:bodyPr>
            <a:normAutofit fontScale="90000"/>
          </a:bodyPr>
          <a:lstStyle/>
          <a:p>
            <a:r>
              <a:rPr lang="es-ES" b="1" dirty="0">
                <a:solidFill>
                  <a:srgbClr val="FF0000"/>
                </a:solidFill>
                <a:effectLst>
                  <a:outerShdw blurRad="38100" dist="38100" dir="2700000" algn="tl">
                    <a:srgbClr val="000000">
                      <a:alpha val="43137"/>
                    </a:srgbClr>
                  </a:outerShdw>
                </a:effectLst>
              </a:rPr>
              <a:t>Parpadear dos </a:t>
            </a:r>
            <a:r>
              <a:rPr lang="es-ES" b="1" dirty="0" err="1">
                <a:solidFill>
                  <a:srgbClr val="FF0000"/>
                </a:solidFill>
                <a:effectLst>
                  <a:outerShdw blurRad="38100" dist="38100" dir="2700000" algn="tl">
                    <a:srgbClr val="000000">
                      <a:alpha val="43137"/>
                    </a:srgbClr>
                  </a:outerShdw>
                </a:effectLst>
              </a:rPr>
              <a:t>LEDs</a:t>
            </a:r>
            <a:r>
              <a:rPr lang="es-ES" b="1" dirty="0">
                <a:solidFill>
                  <a:srgbClr val="FF0000"/>
                </a:solidFill>
                <a:effectLst>
                  <a:outerShdw blurRad="38100" dist="38100" dir="2700000" algn="tl">
                    <a:srgbClr val="000000">
                      <a:alpha val="43137"/>
                    </a:srgbClr>
                  </a:outerShdw>
                </a:effectLst>
              </a:rPr>
              <a:t> alternadamente</a:t>
            </a:r>
            <a:br>
              <a:rPr lang="es-ES" b="1" dirty="0">
                <a:solidFill>
                  <a:srgbClr val="FF0000"/>
                </a:solidFill>
                <a:effectLst>
                  <a:outerShdw blurRad="38100" dist="38100" dir="2700000" algn="tl">
                    <a:srgbClr val="000000">
                      <a:alpha val="43137"/>
                    </a:srgbClr>
                  </a:outerShdw>
                </a:effectLst>
              </a:rPr>
            </a:br>
            <a:r>
              <a:rPr lang="es-ES" b="1" dirty="0">
                <a:solidFill>
                  <a:srgbClr val="FF0000"/>
                </a:solidFill>
                <a:effectLst>
                  <a:outerShdw blurRad="38100" dist="38100" dir="2700000" algn="tl">
                    <a:srgbClr val="000000">
                      <a:alpha val="43137"/>
                    </a:srgbClr>
                  </a:outerShdw>
                </a:effectLst>
              </a:rPr>
              <a:t>ejercicio 3.hex</a:t>
            </a:r>
            <a:br>
              <a:rPr lang="es-ES" b="1" dirty="0">
                <a:solidFill>
                  <a:srgbClr val="FF0000"/>
                </a:solidFill>
                <a:effectLst>
                  <a:outerShdw blurRad="38100" dist="38100" dir="2700000" algn="tl">
                    <a:srgbClr val="000000">
                      <a:alpha val="43137"/>
                    </a:srgbClr>
                  </a:outerShdw>
                </a:effectLst>
              </a:rPr>
            </a:br>
            <a:endParaRPr lang="es-AR" dirty="0"/>
          </a:p>
        </p:txBody>
      </p:sp>
      <p:sp>
        <p:nvSpPr>
          <p:cNvPr id="6" name="CuadroTexto 5">
            <a:extLst>
              <a:ext uri="{FF2B5EF4-FFF2-40B4-BE49-F238E27FC236}">
                <a16:creationId xmlns:a16="http://schemas.microsoft.com/office/drawing/2014/main" id="{7F99B7E6-6A62-B321-D4AE-894AC6AF6916}"/>
              </a:ext>
            </a:extLst>
          </p:cNvPr>
          <p:cNvSpPr txBox="1"/>
          <p:nvPr/>
        </p:nvSpPr>
        <p:spPr>
          <a:xfrm>
            <a:off x="1536700" y="4084637"/>
            <a:ext cx="7696200" cy="2862322"/>
          </a:xfrm>
          <a:prstGeom prst="rect">
            <a:avLst/>
          </a:prstGeom>
          <a:noFill/>
        </p:spPr>
        <p:txBody>
          <a:bodyPr wrap="square" rtlCol="0">
            <a:spAutoFit/>
          </a:bodyPr>
          <a:lstStyle/>
          <a:p>
            <a:r>
              <a:rPr lang="es-AR" b="1" dirty="0"/>
              <a:t>1. Encender un LED (Output simple)</a:t>
            </a:r>
            <a:endParaRPr lang="es-AR" dirty="0"/>
          </a:p>
          <a:p>
            <a:pPr lvl="0"/>
            <a:r>
              <a:rPr lang="es-AR" dirty="0"/>
              <a:t>Objetivo: Encender un LED conectado al pin </a:t>
            </a:r>
            <a:r>
              <a:rPr lang="es-AR" b="1" dirty="0"/>
              <a:t>RB0</a:t>
            </a:r>
            <a:endParaRPr lang="es-AR" dirty="0"/>
          </a:p>
          <a:p>
            <a:pPr lvl="0"/>
            <a:r>
              <a:rPr lang="es-AR" dirty="0"/>
              <a:t>Conceptos: TRISB, PORTB, </a:t>
            </a:r>
            <a:r>
              <a:rPr lang="es-AR" dirty="0" err="1"/>
              <a:t>movlw</a:t>
            </a:r>
            <a:r>
              <a:rPr lang="es-AR" dirty="0"/>
              <a:t>, </a:t>
            </a:r>
            <a:r>
              <a:rPr lang="es-AR" dirty="0" err="1"/>
              <a:t>movwf</a:t>
            </a:r>
            <a:endParaRPr lang="es-AR" dirty="0"/>
          </a:p>
          <a:p>
            <a:r>
              <a:rPr lang="es-AR" b="1" dirty="0"/>
              <a:t>2. </a:t>
            </a:r>
            <a:r>
              <a:rPr lang="es-AR" b="1" dirty="0" err="1"/>
              <a:t>Blink</a:t>
            </a:r>
            <a:r>
              <a:rPr lang="es-AR" b="1" dirty="0"/>
              <a:t> con </a:t>
            </a:r>
            <a:r>
              <a:rPr lang="es-AR" b="1" dirty="0" err="1"/>
              <a:t>delay</a:t>
            </a:r>
            <a:endParaRPr lang="es-AR" dirty="0"/>
          </a:p>
          <a:p>
            <a:pPr lvl="0"/>
            <a:r>
              <a:rPr lang="es-AR" dirty="0"/>
              <a:t>Objetivo: Parpadear un LED en </a:t>
            </a:r>
            <a:r>
              <a:rPr lang="es-AR" b="1" dirty="0"/>
              <a:t>RB0</a:t>
            </a:r>
            <a:r>
              <a:rPr lang="es-AR" dirty="0"/>
              <a:t> con una demora por software</a:t>
            </a:r>
          </a:p>
          <a:p>
            <a:pPr lvl="0"/>
            <a:r>
              <a:rPr lang="es-AR" dirty="0"/>
              <a:t>Conceptos: bucles (</a:t>
            </a:r>
            <a:r>
              <a:rPr lang="es-AR" dirty="0" err="1"/>
              <a:t>decfsz</a:t>
            </a:r>
            <a:r>
              <a:rPr lang="es-AR" dirty="0"/>
              <a:t>, </a:t>
            </a:r>
            <a:r>
              <a:rPr lang="es-AR" dirty="0" err="1"/>
              <a:t>goto</a:t>
            </a:r>
            <a:r>
              <a:rPr lang="es-AR" dirty="0"/>
              <a:t>), </a:t>
            </a:r>
            <a:r>
              <a:rPr lang="es-AR" dirty="0" err="1"/>
              <a:t>nop</a:t>
            </a:r>
            <a:endParaRPr lang="es-AR" dirty="0"/>
          </a:p>
          <a:p>
            <a:r>
              <a:rPr lang="es-AR" b="1" dirty="0"/>
              <a:t>3. Parpadear dos </a:t>
            </a:r>
            <a:r>
              <a:rPr lang="es-AR" b="1" dirty="0" err="1"/>
              <a:t>LEDs</a:t>
            </a:r>
            <a:r>
              <a:rPr lang="es-AR" b="1" dirty="0"/>
              <a:t> alternadamente</a:t>
            </a:r>
            <a:endParaRPr lang="es-AR" dirty="0"/>
          </a:p>
          <a:p>
            <a:pPr lvl="0"/>
            <a:r>
              <a:rPr lang="es-AR" dirty="0"/>
              <a:t>Objetivo: Alternar RB0 y RB1 cada medio segundo</a:t>
            </a:r>
          </a:p>
          <a:p>
            <a:pPr lvl="0"/>
            <a:r>
              <a:rPr lang="es-AR" dirty="0"/>
              <a:t>Conceptos: lógica binaria, alternancia</a:t>
            </a:r>
          </a:p>
          <a:p>
            <a:endParaRPr lang="es-AR" dirty="0"/>
          </a:p>
        </p:txBody>
      </p:sp>
    </p:spTree>
    <p:extLst>
      <p:ext uri="{BB962C8B-B14F-4D97-AF65-F5344CB8AC3E}">
        <p14:creationId xmlns:p14="http://schemas.microsoft.com/office/powerpoint/2010/main" val="42399995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D700146B-86A1-B120-A220-05F1F5F0510C}"/>
              </a:ext>
            </a:extLst>
          </p:cNvPr>
          <p:cNvSpPr>
            <a:spLocks noGrp="1"/>
          </p:cNvSpPr>
          <p:nvPr>
            <p:ph type="title"/>
          </p:nvPr>
        </p:nvSpPr>
        <p:spPr/>
        <p:txBody>
          <a:bodyPr>
            <a:normAutofit fontScale="90000"/>
          </a:bodyPr>
          <a:lstStyle/>
          <a:p>
            <a:r>
              <a:rPr lang="es-ES" b="1" dirty="0">
                <a:solidFill>
                  <a:srgbClr val="FF0000"/>
                </a:solidFill>
                <a:effectLst>
                  <a:outerShdw blurRad="38100" dist="38100" dir="2700000" algn="tl">
                    <a:srgbClr val="000000">
                      <a:alpha val="43137"/>
                    </a:srgbClr>
                  </a:outerShdw>
                </a:effectLst>
              </a:rPr>
              <a:t>Parpadear dos </a:t>
            </a:r>
            <a:r>
              <a:rPr lang="es-ES" b="1" dirty="0" err="1">
                <a:solidFill>
                  <a:srgbClr val="FF0000"/>
                </a:solidFill>
                <a:effectLst>
                  <a:outerShdw blurRad="38100" dist="38100" dir="2700000" algn="tl">
                    <a:srgbClr val="000000">
                      <a:alpha val="43137"/>
                    </a:srgbClr>
                  </a:outerShdw>
                </a:effectLst>
              </a:rPr>
              <a:t>LEDs</a:t>
            </a:r>
            <a:r>
              <a:rPr lang="es-ES" b="1" dirty="0">
                <a:solidFill>
                  <a:srgbClr val="FF0000"/>
                </a:solidFill>
                <a:effectLst>
                  <a:outerShdw blurRad="38100" dist="38100" dir="2700000" algn="tl">
                    <a:srgbClr val="000000">
                      <a:alpha val="43137"/>
                    </a:srgbClr>
                  </a:outerShdw>
                </a:effectLst>
              </a:rPr>
              <a:t> alternadamente</a:t>
            </a:r>
            <a:br>
              <a:rPr lang="es-ES" b="1" dirty="0">
                <a:solidFill>
                  <a:srgbClr val="FF0000"/>
                </a:solidFill>
                <a:effectLst>
                  <a:outerShdw blurRad="38100" dist="38100" dir="2700000" algn="tl">
                    <a:srgbClr val="000000">
                      <a:alpha val="43137"/>
                    </a:srgbClr>
                  </a:outerShdw>
                </a:effectLst>
              </a:rPr>
            </a:br>
            <a:r>
              <a:rPr lang="es-ES" b="1" dirty="0">
                <a:solidFill>
                  <a:srgbClr val="FF0000"/>
                </a:solidFill>
                <a:effectLst>
                  <a:outerShdw blurRad="38100" dist="38100" dir="2700000" algn="tl">
                    <a:srgbClr val="000000">
                      <a:alpha val="43137"/>
                    </a:srgbClr>
                  </a:outerShdw>
                </a:effectLst>
              </a:rPr>
              <a:t>ejercicio 3.hex</a:t>
            </a:r>
            <a:br>
              <a:rPr lang="es-ES" b="1" dirty="0">
                <a:solidFill>
                  <a:srgbClr val="FF0000"/>
                </a:solidFill>
                <a:effectLst>
                  <a:outerShdw blurRad="38100" dist="38100" dir="2700000" algn="tl">
                    <a:srgbClr val="000000">
                      <a:alpha val="43137"/>
                    </a:srgbClr>
                  </a:outerShdw>
                </a:effectLst>
              </a:rPr>
            </a:br>
            <a:endParaRPr lang="es-AR" dirty="0"/>
          </a:p>
        </p:txBody>
      </p:sp>
      <p:sp>
        <p:nvSpPr>
          <p:cNvPr id="4" name="Marcador de contenido 3">
            <a:extLst>
              <a:ext uri="{FF2B5EF4-FFF2-40B4-BE49-F238E27FC236}">
                <a16:creationId xmlns:a16="http://schemas.microsoft.com/office/drawing/2014/main" id="{0FA29215-7D5D-9BCC-4E90-AD57C8E612A0}"/>
              </a:ext>
            </a:extLst>
          </p:cNvPr>
          <p:cNvSpPr>
            <a:spLocks noGrp="1"/>
          </p:cNvSpPr>
          <p:nvPr>
            <p:ph idx="1"/>
          </p:nvPr>
        </p:nvSpPr>
        <p:spPr/>
        <p:txBody>
          <a:bodyPr/>
          <a:lstStyle/>
          <a:p>
            <a:r>
              <a:rPr lang="es-ES" sz="4000" dirty="0"/>
              <a:t>Objetivo: Alternar RB0 y RB1 cada medio segundo</a:t>
            </a:r>
            <a:endParaRPr lang="es-AR" dirty="0"/>
          </a:p>
        </p:txBody>
      </p:sp>
      <p:pic>
        <p:nvPicPr>
          <p:cNvPr id="5" name="Imagen 4">
            <a:extLst>
              <a:ext uri="{FF2B5EF4-FFF2-40B4-BE49-F238E27FC236}">
                <a16:creationId xmlns:a16="http://schemas.microsoft.com/office/drawing/2014/main" id="{E50AC5FA-C8CE-2CDC-2203-61D26F9F52A8}"/>
              </a:ext>
            </a:extLst>
          </p:cNvPr>
          <p:cNvPicPr>
            <a:picLocks noChangeAspect="1"/>
          </p:cNvPicPr>
          <p:nvPr/>
        </p:nvPicPr>
        <p:blipFill>
          <a:blip r:embed="rId2"/>
          <a:stretch>
            <a:fillRect/>
          </a:stretch>
        </p:blipFill>
        <p:spPr>
          <a:xfrm>
            <a:off x="1765300" y="3205082"/>
            <a:ext cx="6921500" cy="3694059"/>
          </a:xfrm>
          <a:prstGeom prst="rect">
            <a:avLst/>
          </a:prstGeom>
        </p:spPr>
      </p:pic>
    </p:spTree>
    <p:extLst>
      <p:ext uri="{BB962C8B-B14F-4D97-AF65-F5344CB8AC3E}">
        <p14:creationId xmlns:p14="http://schemas.microsoft.com/office/powerpoint/2010/main" val="31917204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4F34E7DB-8250-4712-D636-228278683BE7}"/>
              </a:ext>
            </a:extLst>
          </p:cNvPr>
          <p:cNvSpPr>
            <a:spLocks noGrp="1"/>
          </p:cNvSpPr>
          <p:nvPr>
            <p:ph idx="1"/>
          </p:nvPr>
        </p:nvSpPr>
        <p:spPr>
          <a:xfrm>
            <a:off x="457200" y="274638"/>
            <a:ext cx="9309100" cy="7010400"/>
          </a:xfrm>
        </p:spPr>
        <p:txBody>
          <a:bodyPr>
            <a:normAutofit fontScale="70000" lnSpcReduction="20000"/>
          </a:bodyPr>
          <a:lstStyle/>
          <a:p>
            <a:pPr marL="0" indent="0">
              <a:buNone/>
            </a:pPr>
            <a:r>
              <a:rPr lang="es-AR" dirty="0"/>
              <a:t> </a:t>
            </a:r>
            <a:r>
              <a:rPr lang="es-AR" dirty="0">
                <a:solidFill>
                  <a:srgbClr val="0070C0"/>
                </a:solidFill>
              </a:rPr>
              <a:t>INCLUDE</a:t>
            </a:r>
            <a:r>
              <a:rPr lang="es-AR" dirty="0"/>
              <a:t> &lt;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solidFill>
                  <a:srgbClr val="0070C0"/>
                </a:solidFill>
              </a:rPr>
              <a:t>   __CONFIG </a:t>
            </a:r>
            <a:r>
              <a:rPr lang="es-AR" dirty="0"/>
              <a:t>3F10</a:t>
            </a:r>
          </a:p>
          <a:p>
            <a:pPr marL="0" indent="0">
              <a:buNone/>
            </a:pPr>
            <a:endParaRPr lang="es-AR" dirty="0"/>
          </a:p>
          <a:p>
            <a:pPr marL="0" indent="0">
              <a:buNone/>
            </a:pPr>
            <a:r>
              <a:rPr lang="es-AR" dirty="0"/>
              <a:t>   </a:t>
            </a:r>
            <a:r>
              <a:rPr lang="es-AR" dirty="0">
                <a:solidFill>
                  <a:srgbClr val="7030A0"/>
                </a:solidFill>
              </a:rPr>
              <a:t>CONT</a:t>
            </a:r>
            <a:r>
              <a:rPr lang="es-AR" dirty="0"/>
              <a:t> </a:t>
            </a:r>
            <a:r>
              <a:rPr lang="es-AR" dirty="0">
                <a:solidFill>
                  <a:srgbClr val="0070C0"/>
                </a:solidFill>
              </a:rPr>
              <a:t>EQU</a:t>
            </a:r>
            <a:r>
              <a:rPr lang="es-AR" dirty="0"/>
              <a:t> </a:t>
            </a:r>
            <a:r>
              <a:rPr lang="es-AR" dirty="0">
                <a:solidFill>
                  <a:srgbClr val="0070C0"/>
                </a:solidFill>
              </a:rPr>
              <a:t>0X20</a:t>
            </a:r>
          </a:p>
          <a:p>
            <a:pPr marL="0" indent="0">
              <a:buNone/>
            </a:pPr>
            <a:r>
              <a:rPr lang="es-AR" dirty="0"/>
              <a:t>   </a:t>
            </a:r>
            <a:r>
              <a:rPr lang="es-AR" dirty="0">
                <a:solidFill>
                  <a:srgbClr val="7030A0"/>
                </a:solidFill>
              </a:rPr>
              <a:t>CONT2</a:t>
            </a:r>
            <a:r>
              <a:rPr lang="es-AR" dirty="0"/>
              <a:t> </a:t>
            </a:r>
            <a:r>
              <a:rPr lang="es-AR" dirty="0">
                <a:solidFill>
                  <a:srgbClr val="0070C0"/>
                </a:solidFill>
              </a:rPr>
              <a:t>EQU</a:t>
            </a:r>
            <a:r>
              <a:rPr lang="es-AR" dirty="0"/>
              <a:t> </a:t>
            </a:r>
            <a:r>
              <a:rPr lang="es-AR" dirty="0">
                <a:solidFill>
                  <a:srgbClr val="0070C0"/>
                </a:solidFill>
              </a:rPr>
              <a:t>0X21</a:t>
            </a:r>
          </a:p>
          <a:p>
            <a:pPr marL="0" indent="0">
              <a:buNone/>
            </a:pPr>
            <a:r>
              <a:rPr lang="es-AR" dirty="0"/>
              <a:t>   </a:t>
            </a:r>
            <a:r>
              <a:rPr lang="es-AR" dirty="0">
                <a:solidFill>
                  <a:srgbClr val="7030A0"/>
                </a:solidFill>
              </a:rPr>
              <a:t>CONT3</a:t>
            </a:r>
            <a:r>
              <a:rPr lang="es-AR" dirty="0"/>
              <a:t> </a:t>
            </a:r>
            <a:r>
              <a:rPr lang="es-AR" dirty="0">
                <a:solidFill>
                  <a:srgbClr val="0070C0"/>
                </a:solidFill>
              </a:rPr>
              <a:t>EQU</a:t>
            </a:r>
            <a:r>
              <a:rPr lang="es-AR" dirty="0"/>
              <a:t> </a:t>
            </a:r>
            <a:r>
              <a:rPr lang="es-AR" dirty="0">
                <a:solidFill>
                  <a:srgbClr val="0070C0"/>
                </a:solidFill>
              </a:rPr>
              <a:t>0X22</a:t>
            </a:r>
          </a:p>
          <a:p>
            <a:pPr marL="0" indent="0">
              <a:buNone/>
            </a:pPr>
            <a:endParaRPr lang="es-AR" dirty="0"/>
          </a:p>
          <a:p>
            <a:pPr marL="0" indent="0">
              <a:buNone/>
            </a:pPr>
            <a:r>
              <a:rPr lang="es-AR" dirty="0"/>
              <a:t>   </a:t>
            </a:r>
            <a:r>
              <a:rPr lang="es-AR" dirty="0">
                <a:solidFill>
                  <a:srgbClr val="0070C0"/>
                </a:solidFill>
              </a:rPr>
              <a:t>ORG</a:t>
            </a:r>
            <a:r>
              <a:rPr lang="es-AR" dirty="0"/>
              <a:t> 0</a:t>
            </a:r>
          </a:p>
          <a:p>
            <a:pPr marL="0" indent="0">
              <a:buNone/>
            </a:pPr>
            <a:r>
              <a:rPr lang="es-AR" dirty="0"/>
              <a:t>   </a:t>
            </a:r>
            <a:r>
              <a:rPr lang="es-AR" dirty="0">
                <a:solidFill>
                  <a:srgbClr val="0070C0"/>
                </a:solidFill>
                <a:highlight>
                  <a:srgbClr val="FFFF00"/>
                </a:highlight>
              </a:rPr>
              <a:t>BSF</a:t>
            </a:r>
            <a:r>
              <a:rPr lang="es-AR" dirty="0">
                <a:highlight>
                  <a:srgbClr val="FFFF00"/>
                </a:highlight>
              </a:rPr>
              <a:t> </a:t>
            </a:r>
            <a:r>
              <a:rPr lang="es-AR" dirty="0">
                <a:solidFill>
                  <a:srgbClr val="7030A0"/>
                </a:solidFill>
                <a:highlight>
                  <a:srgbClr val="FFFF00"/>
                </a:highlight>
              </a:rPr>
              <a:t>STATUS</a:t>
            </a:r>
            <a:r>
              <a:rPr lang="es-AR" dirty="0">
                <a:highlight>
                  <a:srgbClr val="FFFF00"/>
                </a:highlight>
              </a:rPr>
              <a:t>,</a:t>
            </a:r>
            <a:r>
              <a:rPr lang="es-AR" dirty="0">
                <a:solidFill>
                  <a:srgbClr val="7030A0"/>
                </a:solidFill>
                <a:highlight>
                  <a:srgbClr val="FFFF00"/>
                </a:highlight>
              </a:rPr>
              <a:t>RP0</a:t>
            </a:r>
            <a:r>
              <a:rPr lang="es-AR" dirty="0">
                <a:highlight>
                  <a:srgbClr val="FFFF00"/>
                </a:highlight>
              </a:rPr>
              <a:t>    </a:t>
            </a:r>
            <a:r>
              <a:rPr lang="es-AR" dirty="0">
                <a:solidFill>
                  <a:srgbClr val="00B050"/>
                </a:solidFill>
                <a:highlight>
                  <a:srgbClr val="FFFF00"/>
                </a:highlight>
              </a:rPr>
              <a:t>;BANCO 1</a:t>
            </a:r>
          </a:p>
          <a:p>
            <a:pPr marL="0" indent="0">
              <a:buNone/>
            </a:pPr>
            <a:r>
              <a:rPr lang="es-AR" dirty="0"/>
              <a:t>   </a:t>
            </a:r>
            <a:r>
              <a:rPr lang="es-AR" dirty="0">
                <a:solidFill>
                  <a:srgbClr val="0070C0"/>
                </a:solidFill>
              </a:rPr>
              <a:t>clrf</a:t>
            </a:r>
            <a:r>
              <a:rPr lang="es-AR" dirty="0"/>
              <a:t> </a:t>
            </a:r>
            <a:r>
              <a:rPr lang="es-AR" dirty="0">
                <a:solidFill>
                  <a:srgbClr val="7030A0"/>
                </a:solidFill>
              </a:rPr>
              <a:t>TRISB                </a:t>
            </a:r>
            <a:r>
              <a:rPr lang="es-AR" dirty="0">
                <a:solidFill>
                  <a:srgbClr val="00B050"/>
                </a:solidFill>
              </a:rPr>
              <a:t>; TRISB = 00000000 (todos como salida)</a:t>
            </a:r>
          </a:p>
          <a:p>
            <a:pPr marL="0" indent="0">
              <a:buNone/>
            </a:pPr>
            <a:r>
              <a:rPr lang="es-AR" dirty="0"/>
              <a:t>   </a:t>
            </a:r>
            <a:r>
              <a:rPr lang="es-AR" dirty="0">
                <a:solidFill>
                  <a:srgbClr val="0070C0"/>
                </a:solidFill>
                <a:highlight>
                  <a:srgbClr val="FFFF00"/>
                </a:highlight>
              </a:rPr>
              <a:t>BCF</a:t>
            </a:r>
            <a:r>
              <a:rPr lang="es-AR" dirty="0">
                <a:highlight>
                  <a:srgbClr val="FFFF00"/>
                </a:highlight>
              </a:rPr>
              <a:t> </a:t>
            </a:r>
            <a:r>
              <a:rPr lang="es-AR" dirty="0">
                <a:solidFill>
                  <a:srgbClr val="7030A0"/>
                </a:solidFill>
                <a:highlight>
                  <a:srgbClr val="FFFF00"/>
                </a:highlight>
              </a:rPr>
              <a:t>STATUS</a:t>
            </a:r>
            <a:r>
              <a:rPr lang="es-AR" dirty="0">
                <a:highlight>
                  <a:srgbClr val="FFFF00"/>
                </a:highlight>
              </a:rPr>
              <a:t>,</a:t>
            </a:r>
            <a:r>
              <a:rPr lang="es-AR" dirty="0">
                <a:solidFill>
                  <a:srgbClr val="7030A0"/>
                </a:solidFill>
                <a:highlight>
                  <a:srgbClr val="FFFF00"/>
                </a:highlight>
              </a:rPr>
              <a:t>RP0   </a:t>
            </a:r>
            <a:r>
              <a:rPr lang="es-AR" dirty="0">
                <a:highlight>
                  <a:srgbClr val="FFFF00"/>
                </a:highlight>
              </a:rPr>
              <a:t> </a:t>
            </a:r>
            <a:r>
              <a:rPr lang="es-AR" dirty="0">
                <a:solidFill>
                  <a:srgbClr val="00B050"/>
                </a:solidFill>
                <a:highlight>
                  <a:srgbClr val="FFFF00"/>
                </a:highlight>
              </a:rPr>
              <a:t>;BANCO 0</a:t>
            </a:r>
          </a:p>
          <a:p>
            <a:pPr marL="0" indent="0">
              <a:buNone/>
            </a:pPr>
            <a:r>
              <a:rPr lang="es-AR" dirty="0">
                <a:solidFill>
                  <a:srgbClr val="7030A0"/>
                </a:solidFill>
              </a:rPr>
              <a:t>INICIO</a:t>
            </a:r>
          </a:p>
          <a:p>
            <a:pPr marL="0" indent="0">
              <a:buNone/>
            </a:pPr>
            <a:r>
              <a:rPr lang="es-AR" dirty="0">
                <a:solidFill>
                  <a:srgbClr val="0070C0"/>
                </a:solidFill>
              </a:rPr>
              <a:t>   movlw</a:t>
            </a:r>
            <a:r>
              <a:rPr lang="es-AR" dirty="0"/>
              <a:t> </a:t>
            </a:r>
            <a:r>
              <a:rPr lang="es-AR" dirty="0">
                <a:solidFill>
                  <a:srgbClr val="0070C0"/>
                </a:solidFill>
              </a:rPr>
              <a:t>b'00000001'</a:t>
            </a:r>
          </a:p>
          <a:p>
            <a:pPr marL="0" indent="0">
              <a:buNone/>
            </a:pPr>
            <a:r>
              <a:rPr lang="es-AR" dirty="0"/>
              <a:t>   </a:t>
            </a:r>
            <a:r>
              <a:rPr lang="es-AR" dirty="0">
                <a:solidFill>
                  <a:srgbClr val="0070C0"/>
                </a:solidFill>
              </a:rPr>
              <a:t>movwf</a:t>
            </a:r>
            <a:r>
              <a:rPr lang="es-AR" dirty="0"/>
              <a:t> </a:t>
            </a:r>
            <a:r>
              <a:rPr lang="es-AR" dirty="0">
                <a:solidFill>
                  <a:srgbClr val="7030A0"/>
                </a:solidFill>
              </a:rPr>
              <a:t>PORTB</a:t>
            </a:r>
          </a:p>
          <a:p>
            <a:pPr marL="0" indent="0">
              <a:buNone/>
            </a:pPr>
            <a:r>
              <a:rPr lang="es-AR" dirty="0"/>
              <a:t>   </a:t>
            </a:r>
            <a:r>
              <a:rPr lang="es-AR" dirty="0">
                <a:solidFill>
                  <a:srgbClr val="0070C0"/>
                </a:solidFill>
              </a:rPr>
              <a:t>CALL</a:t>
            </a:r>
            <a:r>
              <a:rPr lang="es-AR" dirty="0"/>
              <a:t> </a:t>
            </a:r>
            <a:r>
              <a:rPr lang="es-AR" dirty="0">
                <a:solidFill>
                  <a:srgbClr val="7030A0"/>
                </a:solidFill>
              </a:rPr>
              <a:t>DELAY_500MS</a:t>
            </a:r>
          </a:p>
          <a:p>
            <a:pPr marL="0" indent="0">
              <a:buNone/>
            </a:pPr>
            <a:r>
              <a:rPr lang="es-AR" dirty="0"/>
              <a:t>   </a:t>
            </a:r>
            <a:r>
              <a:rPr lang="es-AR" dirty="0">
                <a:solidFill>
                  <a:srgbClr val="0070C0"/>
                </a:solidFill>
              </a:rPr>
              <a:t>movlw</a:t>
            </a:r>
            <a:r>
              <a:rPr lang="es-AR" dirty="0"/>
              <a:t> </a:t>
            </a:r>
            <a:r>
              <a:rPr lang="es-AR" dirty="0">
                <a:solidFill>
                  <a:srgbClr val="0070C0"/>
                </a:solidFill>
              </a:rPr>
              <a:t>b'00000010'</a:t>
            </a:r>
          </a:p>
          <a:p>
            <a:pPr marL="0" indent="0">
              <a:buNone/>
            </a:pPr>
            <a:r>
              <a:rPr lang="es-AR" dirty="0"/>
              <a:t>   </a:t>
            </a:r>
            <a:r>
              <a:rPr lang="es-AR" dirty="0">
                <a:solidFill>
                  <a:srgbClr val="0070C0"/>
                </a:solidFill>
              </a:rPr>
              <a:t>movwf</a:t>
            </a:r>
            <a:r>
              <a:rPr lang="es-AR" dirty="0"/>
              <a:t> </a:t>
            </a:r>
            <a:r>
              <a:rPr lang="es-AR" dirty="0">
                <a:solidFill>
                  <a:srgbClr val="7030A0"/>
                </a:solidFill>
              </a:rPr>
              <a:t>PORTB</a:t>
            </a:r>
          </a:p>
          <a:p>
            <a:pPr marL="0" indent="0">
              <a:buNone/>
            </a:pPr>
            <a:r>
              <a:rPr lang="es-AR" dirty="0"/>
              <a:t>   </a:t>
            </a:r>
            <a:r>
              <a:rPr lang="es-AR" dirty="0">
                <a:solidFill>
                  <a:srgbClr val="0070C0"/>
                </a:solidFill>
              </a:rPr>
              <a:t>CALL</a:t>
            </a:r>
            <a:r>
              <a:rPr lang="es-AR" dirty="0"/>
              <a:t> </a:t>
            </a:r>
            <a:r>
              <a:rPr lang="es-AR" dirty="0">
                <a:solidFill>
                  <a:srgbClr val="7030A0"/>
                </a:solidFill>
              </a:rPr>
              <a:t>DELAY_500MS</a:t>
            </a:r>
          </a:p>
          <a:p>
            <a:pPr marL="0" indent="0">
              <a:buNone/>
            </a:pPr>
            <a:r>
              <a:rPr lang="es-AR" dirty="0"/>
              <a:t>   </a:t>
            </a:r>
            <a:r>
              <a:rPr lang="es-AR" dirty="0">
                <a:solidFill>
                  <a:srgbClr val="0070C0"/>
                </a:solidFill>
              </a:rPr>
              <a:t>GOTO</a:t>
            </a:r>
            <a:r>
              <a:rPr lang="es-AR" dirty="0"/>
              <a:t> </a:t>
            </a:r>
            <a:r>
              <a:rPr lang="es-AR" dirty="0">
                <a:solidFill>
                  <a:srgbClr val="7030A0"/>
                </a:solidFill>
              </a:rPr>
              <a:t>INICIO</a:t>
            </a:r>
          </a:p>
        </p:txBody>
      </p:sp>
    </p:spTree>
    <p:extLst>
      <p:ext uri="{BB962C8B-B14F-4D97-AF65-F5344CB8AC3E}">
        <p14:creationId xmlns:p14="http://schemas.microsoft.com/office/powerpoint/2010/main" val="338108926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25FDB-6AFB-27F2-52E9-E703463758DC}"/>
            </a:ext>
          </a:extLst>
        </p:cNvPr>
        <p:cNvGrpSpPr/>
        <p:nvPr/>
      </p:nvGrpSpPr>
      <p:grpSpPr>
        <a:xfrm>
          <a:off x="0" y="0"/>
          <a:ext cx="0" cy="0"/>
          <a:chOff x="0" y="0"/>
          <a:chExt cx="0" cy="0"/>
        </a:xfrm>
      </p:grpSpPr>
      <p:sp>
        <p:nvSpPr>
          <p:cNvPr id="5" name="Marcador de contenido 4">
            <a:extLst>
              <a:ext uri="{FF2B5EF4-FFF2-40B4-BE49-F238E27FC236}">
                <a16:creationId xmlns:a16="http://schemas.microsoft.com/office/drawing/2014/main" id="{4946C8CE-3414-7E7A-2EB8-D9DAD4A367A5}"/>
              </a:ext>
            </a:extLst>
          </p:cNvPr>
          <p:cNvSpPr>
            <a:spLocks noGrp="1"/>
          </p:cNvSpPr>
          <p:nvPr>
            <p:ph idx="1"/>
          </p:nvPr>
        </p:nvSpPr>
        <p:spPr>
          <a:xfrm>
            <a:off x="457200" y="274638"/>
            <a:ext cx="9309100" cy="7010400"/>
          </a:xfrm>
        </p:spPr>
        <p:txBody>
          <a:bodyPr>
            <a:normAutofit fontScale="55000" lnSpcReduction="20000"/>
          </a:bodyPr>
          <a:lstStyle/>
          <a:p>
            <a:pPr marL="0" indent="0">
              <a:buNone/>
            </a:pPr>
            <a:r>
              <a:rPr lang="es-AR" dirty="0">
                <a:solidFill>
                  <a:srgbClr val="7030A0"/>
                </a:solidFill>
              </a:rPr>
              <a:t>DELAY_1MS</a:t>
            </a:r>
          </a:p>
          <a:p>
            <a:pPr marL="0" indent="0">
              <a:buNone/>
            </a:pPr>
            <a:r>
              <a:rPr lang="es-AR" dirty="0"/>
              <a:t>   </a:t>
            </a:r>
            <a:r>
              <a:rPr lang="es-AR" dirty="0">
                <a:solidFill>
                  <a:srgbClr val="0070C0"/>
                </a:solidFill>
              </a:rPr>
              <a:t>MOVLW</a:t>
            </a:r>
            <a:r>
              <a:rPr lang="es-AR" dirty="0"/>
              <a:t> .</a:t>
            </a:r>
            <a:r>
              <a:rPr lang="es-AR" dirty="0">
                <a:solidFill>
                  <a:srgbClr val="00B050"/>
                </a:solidFill>
              </a:rPr>
              <a:t>250</a:t>
            </a:r>
          </a:p>
          <a:p>
            <a:pPr marL="0" indent="0">
              <a:buNone/>
            </a:pPr>
            <a:r>
              <a:rPr lang="es-AR" dirty="0"/>
              <a:t>   </a:t>
            </a:r>
            <a:r>
              <a:rPr lang="es-AR" dirty="0">
                <a:solidFill>
                  <a:srgbClr val="0070C0"/>
                </a:solidFill>
              </a:rPr>
              <a:t>MOVWF</a:t>
            </a:r>
            <a:r>
              <a:rPr lang="es-AR" dirty="0"/>
              <a:t> </a:t>
            </a:r>
            <a:r>
              <a:rPr lang="es-AR" dirty="0">
                <a:solidFill>
                  <a:srgbClr val="7030A0"/>
                </a:solidFill>
              </a:rPr>
              <a:t>CONT</a:t>
            </a:r>
          </a:p>
          <a:p>
            <a:pPr marL="0" indent="0">
              <a:buNone/>
            </a:pPr>
            <a:r>
              <a:rPr lang="es-AR" dirty="0">
                <a:solidFill>
                  <a:srgbClr val="7030A0"/>
                </a:solidFill>
              </a:rPr>
              <a:t>LOOP</a:t>
            </a:r>
            <a:r>
              <a:rPr lang="es-AR" dirty="0"/>
              <a:t> </a:t>
            </a:r>
            <a:r>
              <a:rPr lang="es-AR" dirty="0">
                <a:solidFill>
                  <a:srgbClr val="0070C0"/>
                </a:solidFill>
              </a:rPr>
              <a:t>NOP</a:t>
            </a:r>
          </a:p>
          <a:p>
            <a:pPr marL="0" indent="0">
              <a:buNone/>
            </a:pPr>
            <a:r>
              <a:rPr lang="es-AR" dirty="0"/>
              <a:t>   </a:t>
            </a:r>
            <a:r>
              <a:rPr lang="es-AR" dirty="0">
                <a:solidFill>
                  <a:srgbClr val="0070C0"/>
                </a:solidFill>
              </a:rPr>
              <a:t>DECFSZ</a:t>
            </a:r>
            <a:r>
              <a:rPr lang="es-AR" dirty="0"/>
              <a:t> </a:t>
            </a:r>
            <a:r>
              <a:rPr lang="es-AR" dirty="0">
                <a:solidFill>
                  <a:srgbClr val="7030A0"/>
                </a:solidFill>
              </a:rPr>
              <a:t>CONT</a:t>
            </a:r>
            <a:r>
              <a:rPr lang="es-AR" dirty="0"/>
              <a:t>,</a:t>
            </a:r>
            <a:r>
              <a:rPr lang="es-AR" dirty="0">
                <a:solidFill>
                  <a:srgbClr val="7030A0"/>
                </a:solidFill>
              </a:rPr>
              <a:t>F</a:t>
            </a:r>
          </a:p>
          <a:p>
            <a:pPr marL="0" indent="0">
              <a:buNone/>
            </a:pPr>
            <a:r>
              <a:rPr lang="es-AR" dirty="0"/>
              <a:t>   </a:t>
            </a:r>
            <a:r>
              <a:rPr lang="es-AR" dirty="0">
                <a:solidFill>
                  <a:srgbClr val="0070C0"/>
                </a:solidFill>
              </a:rPr>
              <a:t>GOTO</a:t>
            </a:r>
            <a:r>
              <a:rPr lang="es-AR" dirty="0"/>
              <a:t> </a:t>
            </a:r>
            <a:r>
              <a:rPr lang="es-AR" dirty="0">
                <a:solidFill>
                  <a:srgbClr val="7030A0"/>
                </a:solidFill>
              </a:rPr>
              <a:t>LOOP</a:t>
            </a:r>
          </a:p>
          <a:p>
            <a:pPr marL="0" indent="0">
              <a:buNone/>
            </a:pPr>
            <a:r>
              <a:rPr lang="es-AR" dirty="0">
                <a:solidFill>
                  <a:srgbClr val="0070C0"/>
                </a:solidFill>
              </a:rPr>
              <a:t>RETURN</a:t>
            </a:r>
          </a:p>
          <a:p>
            <a:pPr marL="0" indent="0">
              <a:buNone/>
            </a:pPr>
            <a:endParaRPr lang="es-AR" dirty="0"/>
          </a:p>
          <a:p>
            <a:pPr marL="0" indent="0">
              <a:buNone/>
            </a:pPr>
            <a:r>
              <a:rPr lang="es-AR" dirty="0">
                <a:solidFill>
                  <a:srgbClr val="7030A0"/>
                </a:solidFill>
              </a:rPr>
              <a:t>DELAY_250MS</a:t>
            </a:r>
          </a:p>
          <a:p>
            <a:pPr marL="0" indent="0">
              <a:buNone/>
            </a:pPr>
            <a:r>
              <a:rPr lang="es-AR" dirty="0"/>
              <a:t>   </a:t>
            </a:r>
            <a:r>
              <a:rPr lang="es-AR" dirty="0">
                <a:solidFill>
                  <a:srgbClr val="0070C0"/>
                </a:solidFill>
              </a:rPr>
              <a:t>MOVLW</a:t>
            </a:r>
            <a:r>
              <a:rPr lang="es-AR" dirty="0"/>
              <a:t> </a:t>
            </a:r>
            <a:r>
              <a:rPr lang="es-AR" dirty="0">
                <a:solidFill>
                  <a:srgbClr val="00B050"/>
                </a:solidFill>
              </a:rPr>
              <a:t>.250</a:t>
            </a:r>
          </a:p>
          <a:p>
            <a:pPr marL="0" indent="0">
              <a:buNone/>
            </a:pPr>
            <a:r>
              <a:rPr lang="es-AR" dirty="0"/>
              <a:t>   </a:t>
            </a:r>
            <a:r>
              <a:rPr lang="es-AR" dirty="0">
                <a:solidFill>
                  <a:srgbClr val="0070C0"/>
                </a:solidFill>
              </a:rPr>
              <a:t>MOVWF</a:t>
            </a:r>
            <a:r>
              <a:rPr lang="es-AR" dirty="0"/>
              <a:t> </a:t>
            </a:r>
            <a:r>
              <a:rPr lang="es-AR" dirty="0">
                <a:solidFill>
                  <a:srgbClr val="7030A0"/>
                </a:solidFill>
              </a:rPr>
              <a:t>CONT2</a:t>
            </a:r>
          </a:p>
          <a:p>
            <a:pPr marL="0" indent="0">
              <a:buNone/>
            </a:pPr>
            <a:r>
              <a:rPr lang="es-AR" dirty="0">
                <a:solidFill>
                  <a:srgbClr val="7030A0"/>
                </a:solidFill>
              </a:rPr>
              <a:t>LOOP2</a:t>
            </a:r>
            <a:r>
              <a:rPr lang="es-AR" dirty="0"/>
              <a:t> </a:t>
            </a:r>
            <a:r>
              <a:rPr lang="es-AR" dirty="0">
                <a:solidFill>
                  <a:srgbClr val="0070C0"/>
                </a:solidFill>
              </a:rPr>
              <a:t>CALL</a:t>
            </a:r>
            <a:r>
              <a:rPr lang="es-AR" dirty="0"/>
              <a:t> </a:t>
            </a:r>
            <a:r>
              <a:rPr lang="es-AR" dirty="0">
                <a:solidFill>
                  <a:srgbClr val="7030A0"/>
                </a:solidFill>
              </a:rPr>
              <a:t>DELAY_1MS</a:t>
            </a:r>
          </a:p>
          <a:p>
            <a:pPr marL="0" indent="0">
              <a:buNone/>
            </a:pPr>
            <a:r>
              <a:rPr lang="es-AR" dirty="0"/>
              <a:t>   </a:t>
            </a:r>
            <a:r>
              <a:rPr lang="es-AR" dirty="0">
                <a:solidFill>
                  <a:srgbClr val="0070C0"/>
                </a:solidFill>
              </a:rPr>
              <a:t>DECFSZ</a:t>
            </a:r>
            <a:r>
              <a:rPr lang="es-AR" dirty="0"/>
              <a:t> </a:t>
            </a:r>
            <a:r>
              <a:rPr lang="es-AR" dirty="0">
                <a:solidFill>
                  <a:srgbClr val="7030A0"/>
                </a:solidFill>
              </a:rPr>
              <a:t>CONT2</a:t>
            </a:r>
            <a:r>
              <a:rPr lang="es-AR" dirty="0"/>
              <a:t>,</a:t>
            </a:r>
            <a:r>
              <a:rPr lang="es-AR" dirty="0">
                <a:solidFill>
                  <a:srgbClr val="7030A0"/>
                </a:solidFill>
              </a:rPr>
              <a:t>F</a:t>
            </a:r>
          </a:p>
          <a:p>
            <a:pPr marL="0" indent="0">
              <a:buNone/>
            </a:pPr>
            <a:r>
              <a:rPr lang="es-AR" dirty="0"/>
              <a:t>   </a:t>
            </a:r>
            <a:r>
              <a:rPr lang="es-AR" dirty="0">
                <a:solidFill>
                  <a:srgbClr val="0070C0"/>
                </a:solidFill>
              </a:rPr>
              <a:t>GOTO</a:t>
            </a:r>
            <a:r>
              <a:rPr lang="es-AR" dirty="0"/>
              <a:t> </a:t>
            </a:r>
            <a:r>
              <a:rPr lang="es-AR" dirty="0">
                <a:solidFill>
                  <a:srgbClr val="7030A0"/>
                </a:solidFill>
              </a:rPr>
              <a:t>LOOP2</a:t>
            </a:r>
          </a:p>
          <a:p>
            <a:pPr marL="0" indent="0">
              <a:buNone/>
            </a:pPr>
            <a:r>
              <a:rPr lang="es-AR" dirty="0">
                <a:solidFill>
                  <a:srgbClr val="0070C0"/>
                </a:solidFill>
              </a:rPr>
              <a:t>RETURN</a:t>
            </a:r>
          </a:p>
          <a:p>
            <a:pPr marL="0" indent="0">
              <a:buNone/>
            </a:pPr>
            <a:endParaRPr lang="es-AR" dirty="0"/>
          </a:p>
          <a:p>
            <a:pPr marL="0" indent="0">
              <a:buNone/>
            </a:pPr>
            <a:r>
              <a:rPr lang="es-AR" dirty="0">
                <a:solidFill>
                  <a:srgbClr val="7030A0"/>
                </a:solidFill>
              </a:rPr>
              <a:t>DELAY_500MS</a:t>
            </a:r>
          </a:p>
          <a:p>
            <a:pPr marL="0" indent="0">
              <a:buNone/>
            </a:pPr>
            <a:r>
              <a:rPr lang="es-AR" dirty="0"/>
              <a:t>   </a:t>
            </a:r>
            <a:r>
              <a:rPr lang="es-AR" dirty="0">
                <a:solidFill>
                  <a:srgbClr val="0070C0"/>
                </a:solidFill>
              </a:rPr>
              <a:t>MOVLW</a:t>
            </a:r>
            <a:r>
              <a:rPr lang="es-AR" dirty="0"/>
              <a:t> </a:t>
            </a:r>
            <a:r>
              <a:rPr lang="es-AR" dirty="0">
                <a:solidFill>
                  <a:srgbClr val="00B050"/>
                </a:solidFill>
              </a:rPr>
              <a:t>.2</a:t>
            </a:r>
          </a:p>
          <a:p>
            <a:pPr marL="0" indent="0">
              <a:buNone/>
            </a:pPr>
            <a:r>
              <a:rPr lang="es-AR" dirty="0"/>
              <a:t>   </a:t>
            </a:r>
            <a:r>
              <a:rPr lang="es-AR" dirty="0">
                <a:solidFill>
                  <a:srgbClr val="0070C0"/>
                </a:solidFill>
              </a:rPr>
              <a:t>MOVWF</a:t>
            </a:r>
            <a:r>
              <a:rPr lang="es-AR" dirty="0"/>
              <a:t> </a:t>
            </a:r>
            <a:r>
              <a:rPr lang="es-AR" dirty="0">
                <a:solidFill>
                  <a:srgbClr val="7030A0"/>
                </a:solidFill>
              </a:rPr>
              <a:t>CONT3</a:t>
            </a:r>
          </a:p>
          <a:p>
            <a:pPr marL="0" indent="0">
              <a:buNone/>
            </a:pPr>
            <a:r>
              <a:rPr lang="es-AR" dirty="0">
                <a:solidFill>
                  <a:srgbClr val="7030A0"/>
                </a:solidFill>
              </a:rPr>
              <a:t>LOOP3</a:t>
            </a:r>
            <a:r>
              <a:rPr lang="es-AR" dirty="0"/>
              <a:t> </a:t>
            </a:r>
            <a:r>
              <a:rPr lang="es-AR" dirty="0">
                <a:solidFill>
                  <a:srgbClr val="0070C0"/>
                </a:solidFill>
              </a:rPr>
              <a:t>CALL</a:t>
            </a:r>
            <a:r>
              <a:rPr lang="es-AR" dirty="0"/>
              <a:t> </a:t>
            </a:r>
            <a:r>
              <a:rPr lang="es-AR" dirty="0">
                <a:solidFill>
                  <a:srgbClr val="7030A0"/>
                </a:solidFill>
              </a:rPr>
              <a:t>DELAY_250MS</a:t>
            </a:r>
          </a:p>
          <a:p>
            <a:pPr marL="0" indent="0">
              <a:buNone/>
            </a:pPr>
            <a:r>
              <a:rPr lang="es-AR" dirty="0"/>
              <a:t>   </a:t>
            </a:r>
            <a:r>
              <a:rPr lang="es-AR" dirty="0">
                <a:solidFill>
                  <a:srgbClr val="0070C0"/>
                </a:solidFill>
              </a:rPr>
              <a:t>DECFSZ</a:t>
            </a:r>
            <a:r>
              <a:rPr lang="es-AR" dirty="0"/>
              <a:t> </a:t>
            </a:r>
            <a:r>
              <a:rPr lang="es-AR" dirty="0">
                <a:solidFill>
                  <a:srgbClr val="7030A0"/>
                </a:solidFill>
              </a:rPr>
              <a:t>CONT3</a:t>
            </a:r>
            <a:r>
              <a:rPr lang="es-AR" dirty="0"/>
              <a:t>,</a:t>
            </a:r>
            <a:r>
              <a:rPr lang="es-AR" dirty="0">
                <a:solidFill>
                  <a:srgbClr val="7030A0"/>
                </a:solidFill>
              </a:rPr>
              <a:t>F</a:t>
            </a:r>
          </a:p>
          <a:p>
            <a:pPr marL="0" indent="0">
              <a:buNone/>
            </a:pPr>
            <a:r>
              <a:rPr lang="es-AR" dirty="0"/>
              <a:t>   </a:t>
            </a:r>
            <a:r>
              <a:rPr lang="es-AR" dirty="0">
                <a:solidFill>
                  <a:srgbClr val="0070C0"/>
                </a:solidFill>
              </a:rPr>
              <a:t>GOTO</a:t>
            </a:r>
            <a:r>
              <a:rPr lang="es-AR" dirty="0"/>
              <a:t> </a:t>
            </a:r>
            <a:r>
              <a:rPr lang="es-AR" dirty="0">
                <a:solidFill>
                  <a:srgbClr val="7030A0"/>
                </a:solidFill>
              </a:rPr>
              <a:t>LOOP3</a:t>
            </a:r>
          </a:p>
          <a:p>
            <a:pPr marL="0" indent="0">
              <a:buNone/>
            </a:pPr>
            <a:r>
              <a:rPr lang="es-AR" dirty="0">
                <a:solidFill>
                  <a:srgbClr val="0070C0"/>
                </a:solidFill>
              </a:rPr>
              <a:t>RETURN</a:t>
            </a:r>
          </a:p>
          <a:p>
            <a:pPr marL="0" indent="0">
              <a:buNone/>
            </a:pPr>
            <a:r>
              <a:rPr lang="es-AR" dirty="0"/>
              <a:t>   </a:t>
            </a:r>
          </a:p>
          <a:p>
            <a:pPr marL="0" indent="0">
              <a:buNone/>
            </a:pPr>
            <a:r>
              <a:rPr lang="es-AR" dirty="0"/>
              <a:t>   </a:t>
            </a:r>
            <a:r>
              <a:rPr lang="es-AR" dirty="0">
                <a:solidFill>
                  <a:srgbClr val="0070C0"/>
                </a:solidFill>
              </a:rPr>
              <a:t>END</a:t>
            </a:r>
          </a:p>
        </p:txBody>
      </p:sp>
    </p:spTree>
    <p:extLst>
      <p:ext uri="{BB962C8B-B14F-4D97-AF65-F5344CB8AC3E}">
        <p14:creationId xmlns:p14="http://schemas.microsoft.com/office/powerpoint/2010/main" val="355072164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F4BBBD7-9BBE-95EB-BEE5-FBF960D5322E}"/>
              </a:ext>
            </a:extLst>
          </p:cNvPr>
          <p:cNvSpPr>
            <a:spLocks noGrp="1"/>
          </p:cNvSpPr>
          <p:nvPr>
            <p:ph type="title"/>
          </p:nvPr>
        </p:nvSpPr>
        <p:spPr>
          <a:xfrm>
            <a:off x="0" y="2865437"/>
            <a:ext cx="10693400" cy="1143000"/>
          </a:xfrm>
        </p:spPr>
        <p:txBody>
          <a:bodyPr>
            <a:normAutofit fontScale="90000"/>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de 7 segmentos BCD</a:t>
            </a:r>
            <a:br>
              <a:rPr lang="es-AR" b="1" dirty="0">
                <a:solidFill>
                  <a:srgbClr val="FF0000"/>
                </a:solidFill>
                <a:effectLst>
                  <a:outerShdw blurRad="38100" dist="38100" dir="2700000" algn="tl">
                    <a:srgbClr val="000000">
                      <a:alpha val="43137"/>
                    </a:srgbClr>
                  </a:outerShdw>
                </a:effectLst>
              </a:rPr>
            </a:br>
            <a:r>
              <a:rPr lang="es-AR" b="1" dirty="0">
                <a:solidFill>
                  <a:srgbClr val="FF0000"/>
                </a:solidFill>
                <a:effectLst>
                  <a:outerShdw blurRad="38100" dist="38100" dir="2700000" algn="tl">
                    <a:srgbClr val="000000">
                      <a:alpha val="43137"/>
                    </a:srgbClr>
                  </a:outerShdw>
                </a:effectLst>
              </a:rPr>
              <a:t>7 </a:t>
            </a:r>
            <a:r>
              <a:rPr lang="es-AR" b="1" dirty="0" err="1">
                <a:solidFill>
                  <a:srgbClr val="FF0000"/>
                </a:solidFill>
                <a:effectLst>
                  <a:outerShdw blurRad="38100" dist="38100" dir="2700000" algn="tl">
                    <a:srgbClr val="000000">
                      <a:alpha val="43137"/>
                    </a:srgbClr>
                  </a:outerShdw>
                </a:effectLst>
              </a:rPr>
              <a:t>seg</a:t>
            </a:r>
            <a:r>
              <a:rPr lang="es-AR" b="1" dirty="0">
                <a:solidFill>
                  <a:srgbClr val="FF0000"/>
                </a:solidFill>
                <a:effectLst>
                  <a:outerShdw blurRad="38100" dist="38100" dir="2700000" algn="tl">
                    <a:srgbClr val="000000">
                      <a:alpha val="43137"/>
                    </a:srgbClr>
                  </a:outerShdw>
                </a:effectLst>
              </a:rPr>
              <a:t> </a:t>
            </a:r>
            <a:r>
              <a:rPr lang="es-AR" b="1" dirty="0" err="1">
                <a:solidFill>
                  <a:srgbClr val="FF0000"/>
                </a:solidFill>
                <a:effectLst>
                  <a:outerShdw blurRad="38100" dist="38100" dir="2700000" algn="tl">
                    <a:srgbClr val="000000">
                      <a:alpha val="43137"/>
                    </a:srgbClr>
                  </a:outerShdw>
                </a:effectLst>
              </a:rPr>
              <a:t>bcd</a:t>
            </a:r>
            <a:r>
              <a:rPr lang="es-AR" b="1" dirty="0">
                <a:solidFill>
                  <a:srgbClr val="FF0000"/>
                </a:solidFill>
                <a:effectLst>
                  <a:outerShdw blurRad="38100" dist="38100" dir="2700000" algn="tl">
                    <a:srgbClr val="000000">
                      <a:alpha val="43137"/>
                    </a:srgbClr>
                  </a:outerShdw>
                </a:effectLst>
              </a:rPr>
              <a:t> 2.hex</a:t>
            </a:r>
          </a:p>
        </p:txBody>
      </p:sp>
      <p:sp>
        <p:nvSpPr>
          <p:cNvPr id="5" name="CuadroTexto 4">
            <a:extLst>
              <a:ext uri="{FF2B5EF4-FFF2-40B4-BE49-F238E27FC236}">
                <a16:creationId xmlns:a16="http://schemas.microsoft.com/office/drawing/2014/main" id="{FFC5A9F4-EC32-2689-450D-4B07F32A8D9E}"/>
              </a:ext>
            </a:extLst>
          </p:cNvPr>
          <p:cNvSpPr txBox="1"/>
          <p:nvPr/>
        </p:nvSpPr>
        <p:spPr>
          <a:xfrm>
            <a:off x="2083863" y="4541837"/>
            <a:ext cx="6310837" cy="1200329"/>
          </a:xfrm>
          <a:prstGeom prst="rect">
            <a:avLst/>
          </a:prstGeom>
          <a:noFill/>
        </p:spPr>
        <p:txBody>
          <a:bodyPr wrap="square" rtlCol="0">
            <a:spAutoFit/>
          </a:bodyPr>
          <a:lstStyle/>
          <a:p>
            <a:r>
              <a:rPr lang="es-AR" b="1" dirty="0"/>
              <a:t>7. Contador binario con </a:t>
            </a:r>
            <a:r>
              <a:rPr lang="es-AR" b="1" dirty="0" err="1"/>
              <a:t>LEDs</a:t>
            </a:r>
            <a:endParaRPr lang="es-AR" dirty="0"/>
          </a:p>
          <a:p>
            <a:pPr lvl="0"/>
            <a:r>
              <a:rPr lang="es-AR" dirty="0"/>
              <a:t>Objetivo: Mostrar números del 0 al 15 en RB0–RB3</a:t>
            </a:r>
          </a:p>
          <a:p>
            <a:pPr lvl="0"/>
            <a:r>
              <a:rPr lang="es-AR" dirty="0"/>
              <a:t>Conceptos: uso de variables, incrementos, límites</a:t>
            </a:r>
          </a:p>
          <a:p>
            <a:endParaRPr lang="es-AR" dirty="0"/>
          </a:p>
        </p:txBody>
      </p:sp>
    </p:spTree>
    <p:extLst>
      <p:ext uri="{BB962C8B-B14F-4D97-AF65-F5344CB8AC3E}">
        <p14:creationId xmlns:p14="http://schemas.microsoft.com/office/powerpoint/2010/main" val="5744841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A277D5-3113-DEF0-0D04-ECE0E86A1338}"/>
              </a:ext>
            </a:extLst>
          </p:cNvPr>
          <p:cNvSpPr>
            <a:spLocks noGrp="1"/>
          </p:cNvSpPr>
          <p:nvPr>
            <p:ph type="title"/>
          </p:nvPr>
        </p:nvSpPr>
        <p:spPr/>
        <p:txBody>
          <a:bodyPr>
            <a:normAutofit fontScale="90000"/>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de 7 segmentos BCD</a:t>
            </a:r>
            <a:br>
              <a:rPr lang="es-AR" b="1" dirty="0">
                <a:solidFill>
                  <a:srgbClr val="FF0000"/>
                </a:solidFill>
                <a:effectLst>
                  <a:outerShdw blurRad="38100" dist="38100" dir="2700000" algn="tl">
                    <a:srgbClr val="000000">
                      <a:alpha val="43137"/>
                    </a:srgbClr>
                  </a:outerShdw>
                </a:effectLst>
              </a:rPr>
            </a:br>
            <a:r>
              <a:rPr lang="es-AR" b="1" dirty="0">
                <a:solidFill>
                  <a:srgbClr val="FF0000"/>
                </a:solidFill>
                <a:effectLst>
                  <a:outerShdw blurRad="38100" dist="38100" dir="2700000" algn="tl">
                    <a:srgbClr val="000000">
                      <a:alpha val="43137"/>
                    </a:srgbClr>
                  </a:outerShdw>
                </a:effectLst>
              </a:rPr>
              <a:t>7 </a:t>
            </a:r>
            <a:r>
              <a:rPr lang="es-AR" b="1" dirty="0" err="1">
                <a:solidFill>
                  <a:srgbClr val="FF0000"/>
                </a:solidFill>
                <a:effectLst>
                  <a:outerShdw blurRad="38100" dist="38100" dir="2700000" algn="tl">
                    <a:srgbClr val="000000">
                      <a:alpha val="43137"/>
                    </a:srgbClr>
                  </a:outerShdw>
                </a:effectLst>
              </a:rPr>
              <a:t>seg</a:t>
            </a:r>
            <a:r>
              <a:rPr lang="es-AR" b="1" dirty="0">
                <a:solidFill>
                  <a:srgbClr val="FF0000"/>
                </a:solidFill>
                <a:effectLst>
                  <a:outerShdw blurRad="38100" dist="38100" dir="2700000" algn="tl">
                    <a:srgbClr val="000000">
                      <a:alpha val="43137"/>
                    </a:srgbClr>
                  </a:outerShdw>
                </a:effectLst>
              </a:rPr>
              <a:t> </a:t>
            </a:r>
            <a:r>
              <a:rPr lang="es-AR" b="1" dirty="0" err="1">
                <a:solidFill>
                  <a:srgbClr val="FF0000"/>
                </a:solidFill>
                <a:effectLst>
                  <a:outerShdw blurRad="38100" dist="38100" dir="2700000" algn="tl">
                    <a:srgbClr val="000000">
                      <a:alpha val="43137"/>
                    </a:srgbClr>
                  </a:outerShdw>
                </a:effectLst>
              </a:rPr>
              <a:t>bcd</a:t>
            </a:r>
            <a:r>
              <a:rPr lang="es-AR" b="1" dirty="0">
                <a:solidFill>
                  <a:srgbClr val="FF0000"/>
                </a:solidFill>
                <a:effectLst>
                  <a:outerShdw blurRad="38100" dist="38100" dir="2700000" algn="tl">
                    <a:srgbClr val="000000">
                      <a:alpha val="43137"/>
                    </a:srgbClr>
                  </a:outerShdw>
                </a:effectLst>
              </a:rPr>
              <a:t> 2.hex</a:t>
            </a:r>
          </a:p>
        </p:txBody>
      </p:sp>
      <p:pic>
        <p:nvPicPr>
          <p:cNvPr id="5" name="Marcador de contenido 4">
            <a:extLst>
              <a:ext uri="{FF2B5EF4-FFF2-40B4-BE49-F238E27FC236}">
                <a16:creationId xmlns:a16="http://schemas.microsoft.com/office/drawing/2014/main" id="{F3D57516-92B9-79A4-167C-E2FCEDBAA66E}"/>
              </a:ext>
            </a:extLst>
          </p:cNvPr>
          <p:cNvPicPr>
            <a:picLocks noGrp="1" noChangeAspect="1"/>
          </p:cNvPicPr>
          <p:nvPr>
            <p:ph idx="1"/>
          </p:nvPr>
        </p:nvPicPr>
        <p:blipFill>
          <a:blip r:embed="rId2"/>
          <a:stretch>
            <a:fillRect/>
          </a:stretch>
        </p:blipFill>
        <p:spPr>
          <a:xfrm>
            <a:off x="1380616" y="1600200"/>
            <a:ext cx="6382768" cy="4525963"/>
          </a:xfrm>
          <a:prstGeom prst="rect">
            <a:avLst/>
          </a:prstGeom>
        </p:spPr>
      </p:pic>
    </p:spTree>
    <p:extLst>
      <p:ext uri="{BB962C8B-B14F-4D97-AF65-F5344CB8AC3E}">
        <p14:creationId xmlns:p14="http://schemas.microsoft.com/office/powerpoint/2010/main" val="276311659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E5308-00ED-BF23-3690-34204BC2FE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6F2572-231A-FA6F-1D24-609C60E28A8C}"/>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de 7 segmentos BCD</a:t>
            </a:r>
          </a:p>
        </p:txBody>
      </p:sp>
      <p:sp>
        <p:nvSpPr>
          <p:cNvPr id="4" name="Marcador de contenido 3">
            <a:extLst>
              <a:ext uri="{FF2B5EF4-FFF2-40B4-BE49-F238E27FC236}">
                <a16:creationId xmlns:a16="http://schemas.microsoft.com/office/drawing/2014/main" id="{0DF52622-15BA-C1EA-4ED7-D062E748B32B}"/>
              </a:ext>
            </a:extLst>
          </p:cNvPr>
          <p:cNvSpPr>
            <a:spLocks noGrp="1"/>
          </p:cNvSpPr>
          <p:nvPr>
            <p:ph idx="1"/>
          </p:nvPr>
        </p:nvSpPr>
        <p:spPr>
          <a:xfrm>
            <a:off x="457200" y="1600200"/>
            <a:ext cx="9537700" cy="5684837"/>
          </a:xfrm>
        </p:spPr>
        <p:txBody>
          <a:bodyPr>
            <a:normAutofit fontScale="77500" lnSpcReduction="20000"/>
          </a:bodyPr>
          <a:lstStyle/>
          <a:p>
            <a:pPr marL="0" indent="0">
              <a:buNone/>
            </a:pPr>
            <a:r>
              <a:rPr lang="es-AR" dirty="0">
                <a:solidFill>
                  <a:srgbClr val="0070C0"/>
                </a:solidFill>
              </a:rPr>
              <a:t>#include </a:t>
            </a:r>
            <a:r>
              <a:rPr lang="es-AR" dirty="0"/>
              <a:t>&lt;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t>	</a:t>
            </a:r>
            <a:r>
              <a:rPr lang="es-AR" dirty="0">
                <a:solidFill>
                  <a:srgbClr val="0070C0"/>
                </a:solidFill>
              </a:rPr>
              <a:t>__CONFIG </a:t>
            </a:r>
            <a:r>
              <a:rPr lang="es-AR" dirty="0"/>
              <a:t>3F10</a:t>
            </a:r>
          </a:p>
          <a:p>
            <a:pPr marL="0" indent="0">
              <a:buNone/>
            </a:pPr>
            <a:r>
              <a:rPr lang="es-AR" dirty="0"/>
              <a:t>	</a:t>
            </a:r>
          </a:p>
          <a:p>
            <a:pPr marL="0" indent="0">
              <a:buNone/>
            </a:pPr>
            <a:r>
              <a:rPr lang="es-AR" dirty="0"/>
              <a:t>	</a:t>
            </a:r>
            <a:r>
              <a:rPr lang="es-AR" dirty="0" err="1">
                <a:solidFill>
                  <a:srgbClr val="0070C0"/>
                </a:solidFill>
              </a:rPr>
              <a:t>org</a:t>
            </a:r>
            <a:r>
              <a:rPr lang="es-AR" dirty="0"/>
              <a:t> 0</a:t>
            </a:r>
          </a:p>
          <a:p>
            <a:pPr marL="0" indent="0">
              <a:buNone/>
            </a:pPr>
            <a:endParaRPr lang="es-AR" dirty="0"/>
          </a:p>
          <a:p>
            <a:pPr marL="0" indent="0">
              <a:buNone/>
            </a:pPr>
            <a:r>
              <a:rPr lang="es-AR" dirty="0"/>
              <a:t>	</a:t>
            </a:r>
            <a:r>
              <a:rPr lang="es-AR" dirty="0" err="1">
                <a:solidFill>
                  <a:srgbClr val="0070C0"/>
                </a:solidFill>
              </a:rPr>
              <a:t>bsf</a:t>
            </a:r>
            <a:r>
              <a:rPr lang="es-AR" dirty="0"/>
              <a:t> </a:t>
            </a:r>
            <a:r>
              <a:rPr lang="es-AR" dirty="0">
                <a:solidFill>
                  <a:srgbClr val="7030A0"/>
                </a:solidFill>
              </a:rPr>
              <a:t>STATUS</a:t>
            </a:r>
            <a:r>
              <a:rPr lang="es-AR" dirty="0"/>
              <a:t>,</a:t>
            </a:r>
            <a:r>
              <a:rPr lang="es-AR" dirty="0">
                <a:solidFill>
                  <a:srgbClr val="7030A0"/>
                </a:solidFill>
              </a:rPr>
              <a:t>RP0		</a:t>
            </a:r>
            <a:r>
              <a:rPr lang="es-AR" dirty="0">
                <a:solidFill>
                  <a:srgbClr val="00B050"/>
                </a:solidFill>
              </a:rPr>
              <a:t>;banco 1</a:t>
            </a:r>
          </a:p>
          <a:p>
            <a:pPr marL="0" indent="0">
              <a:buNone/>
            </a:pPr>
            <a:r>
              <a:rPr lang="es-AR" dirty="0"/>
              <a:t>	</a:t>
            </a:r>
            <a:r>
              <a:rPr lang="es-AR" dirty="0" err="1">
                <a:solidFill>
                  <a:srgbClr val="0070C0"/>
                </a:solidFill>
              </a:rPr>
              <a:t>clrf</a:t>
            </a:r>
            <a:r>
              <a:rPr lang="es-AR" dirty="0">
                <a:solidFill>
                  <a:srgbClr val="0070C0"/>
                </a:solidFill>
              </a:rPr>
              <a:t> </a:t>
            </a:r>
            <a:r>
              <a:rPr lang="es-AR" dirty="0">
                <a:solidFill>
                  <a:srgbClr val="7030A0"/>
                </a:solidFill>
              </a:rPr>
              <a:t>TRISB</a:t>
            </a:r>
          </a:p>
          <a:p>
            <a:pPr marL="0" indent="0">
              <a:buNone/>
            </a:pPr>
            <a:r>
              <a:rPr lang="es-AR" dirty="0"/>
              <a:t>    	</a:t>
            </a:r>
            <a:r>
              <a:rPr lang="es-AR" dirty="0" err="1">
                <a:solidFill>
                  <a:srgbClr val="0070C0"/>
                </a:solidFill>
                <a:highlight>
                  <a:srgbClr val="FFFF00"/>
                </a:highlight>
              </a:rPr>
              <a:t>bcf</a:t>
            </a:r>
            <a:r>
              <a:rPr lang="es-AR" dirty="0">
                <a:solidFill>
                  <a:srgbClr val="0070C0"/>
                </a:solidFill>
                <a:highlight>
                  <a:srgbClr val="FFFF00"/>
                </a:highlight>
              </a:rPr>
              <a:t> </a:t>
            </a:r>
            <a:r>
              <a:rPr lang="es-AR" dirty="0">
                <a:solidFill>
                  <a:srgbClr val="7030A0"/>
                </a:solidFill>
              </a:rPr>
              <a:t>STATUS</a:t>
            </a:r>
            <a:r>
              <a:rPr lang="es-AR" dirty="0"/>
              <a:t>,</a:t>
            </a:r>
            <a:r>
              <a:rPr lang="es-AR" dirty="0">
                <a:solidFill>
                  <a:srgbClr val="7030A0"/>
                </a:solidFill>
              </a:rPr>
              <a:t>RP0		</a:t>
            </a:r>
            <a:r>
              <a:rPr lang="es-AR" dirty="0">
                <a:solidFill>
                  <a:srgbClr val="00B050"/>
                </a:solidFill>
              </a:rPr>
              <a:t>;banco 0</a:t>
            </a:r>
          </a:p>
          <a:p>
            <a:pPr marL="0" indent="0">
              <a:buNone/>
            </a:pPr>
            <a:endParaRPr lang="es-AR" dirty="0"/>
          </a:p>
          <a:p>
            <a:pPr marL="0" indent="0">
              <a:buNone/>
            </a:pPr>
            <a:r>
              <a:rPr lang="es-AR" dirty="0">
                <a:solidFill>
                  <a:srgbClr val="7030A0"/>
                </a:solidFill>
              </a:rPr>
              <a:t>INICIO</a:t>
            </a:r>
          </a:p>
          <a:p>
            <a:pPr marL="0" indent="0">
              <a:buNone/>
            </a:pPr>
            <a:r>
              <a:rPr lang="es-AR" dirty="0"/>
              <a:t>	</a:t>
            </a:r>
            <a:r>
              <a:rPr lang="es-AR" dirty="0" err="1">
                <a:solidFill>
                  <a:srgbClr val="0070C0"/>
                </a:solidFill>
              </a:rPr>
              <a:t>movlw</a:t>
            </a:r>
            <a:r>
              <a:rPr lang="es-AR" dirty="0"/>
              <a:t> </a:t>
            </a:r>
            <a:r>
              <a:rPr lang="es-AR" dirty="0">
                <a:solidFill>
                  <a:srgbClr val="00B050"/>
                </a:solidFill>
              </a:rPr>
              <a:t>.1		;el numero se muestra en </a:t>
            </a:r>
            <a:r>
              <a:rPr lang="es-AR" dirty="0" err="1">
                <a:solidFill>
                  <a:srgbClr val="00B050"/>
                </a:solidFill>
              </a:rPr>
              <a:t>hex</a:t>
            </a:r>
            <a:r>
              <a:rPr lang="es-AR" dirty="0">
                <a:solidFill>
                  <a:srgbClr val="00B050"/>
                </a:solidFill>
              </a:rPr>
              <a:t> en el </a:t>
            </a:r>
            <a:r>
              <a:rPr lang="es-AR" dirty="0" err="1">
                <a:solidFill>
                  <a:srgbClr val="00B050"/>
                </a:solidFill>
              </a:rPr>
              <a:t>display</a:t>
            </a:r>
            <a:endParaRPr lang="es-AR" dirty="0">
              <a:solidFill>
                <a:srgbClr val="00B050"/>
              </a:solidFill>
            </a:endParaRPr>
          </a:p>
          <a:p>
            <a:pPr marL="0" indent="0">
              <a:buNone/>
            </a:pPr>
            <a:r>
              <a:rPr lang="es-AR" dirty="0"/>
              <a:t>	</a:t>
            </a:r>
            <a:r>
              <a:rPr lang="es-AR" dirty="0" err="1">
                <a:solidFill>
                  <a:srgbClr val="0070C0"/>
                </a:solidFill>
              </a:rPr>
              <a:t>movwf</a:t>
            </a:r>
            <a:r>
              <a:rPr lang="es-AR" dirty="0"/>
              <a:t> </a:t>
            </a:r>
            <a:r>
              <a:rPr lang="es-AR" dirty="0">
                <a:solidFill>
                  <a:srgbClr val="7030A0"/>
                </a:solidFill>
              </a:rPr>
              <a:t>PORTB</a:t>
            </a:r>
          </a:p>
          <a:p>
            <a:pPr marL="0" indent="0">
              <a:buNone/>
            </a:pPr>
            <a:r>
              <a:rPr lang="es-AR" dirty="0"/>
              <a:t>   	</a:t>
            </a:r>
            <a:r>
              <a:rPr lang="es-AR" dirty="0" err="1">
                <a:solidFill>
                  <a:srgbClr val="0070C0"/>
                </a:solidFill>
              </a:rPr>
              <a:t>goto</a:t>
            </a:r>
            <a:r>
              <a:rPr lang="es-AR" dirty="0"/>
              <a:t> $</a:t>
            </a:r>
          </a:p>
          <a:p>
            <a:pPr marL="0" indent="0">
              <a:buNone/>
            </a:pPr>
            <a:r>
              <a:rPr lang="es-AR" dirty="0"/>
              <a:t>	</a:t>
            </a:r>
            <a:r>
              <a:rPr lang="es-AR" dirty="0" err="1">
                <a:solidFill>
                  <a:srgbClr val="0070C0"/>
                </a:solidFill>
              </a:rPr>
              <a:t>end</a:t>
            </a:r>
            <a:endParaRPr lang="es-AR" dirty="0">
              <a:solidFill>
                <a:srgbClr val="0070C0"/>
              </a:solidFill>
            </a:endParaRPr>
          </a:p>
        </p:txBody>
      </p:sp>
    </p:spTree>
    <p:extLst>
      <p:ext uri="{BB962C8B-B14F-4D97-AF65-F5344CB8AC3E}">
        <p14:creationId xmlns:p14="http://schemas.microsoft.com/office/powerpoint/2010/main" val="325880001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Tabla&#10;&#10;El contenido generado por IA puede ser incorrecto.">
            <a:extLst>
              <a:ext uri="{FF2B5EF4-FFF2-40B4-BE49-F238E27FC236}">
                <a16:creationId xmlns:a16="http://schemas.microsoft.com/office/drawing/2014/main" id="{28DC23BF-939F-6609-ADA8-BC63DF026F9F}"/>
              </a:ext>
            </a:extLst>
          </p:cNvPr>
          <p:cNvPicPr>
            <a:picLocks noChangeAspect="1"/>
          </p:cNvPicPr>
          <p:nvPr/>
        </p:nvPicPr>
        <p:blipFill>
          <a:blip r:embed="rId2"/>
          <a:stretch>
            <a:fillRect/>
          </a:stretch>
        </p:blipFill>
        <p:spPr>
          <a:xfrm>
            <a:off x="622300" y="71183"/>
            <a:ext cx="9220200" cy="7237856"/>
          </a:xfrm>
          <a:prstGeom prst="rect">
            <a:avLst/>
          </a:prstGeom>
        </p:spPr>
      </p:pic>
    </p:spTree>
    <p:extLst>
      <p:ext uri="{BB962C8B-B14F-4D97-AF65-F5344CB8AC3E}">
        <p14:creationId xmlns:p14="http://schemas.microsoft.com/office/powerpoint/2010/main" val="63356054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D0D30-6461-139F-D2CD-9A41549A5A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C3F74B-1989-402A-DA4C-2BF542DF1AFE}"/>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de 7 segmentos BCD</a:t>
            </a:r>
          </a:p>
        </p:txBody>
      </p:sp>
      <p:sp>
        <p:nvSpPr>
          <p:cNvPr id="4" name="Marcador de contenido 3">
            <a:extLst>
              <a:ext uri="{FF2B5EF4-FFF2-40B4-BE49-F238E27FC236}">
                <a16:creationId xmlns:a16="http://schemas.microsoft.com/office/drawing/2014/main" id="{55C919FE-FD1D-20B4-2842-1501D486A766}"/>
              </a:ext>
            </a:extLst>
          </p:cNvPr>
          <p:cNvSpPr>
            <a:spLocks noGrp="1"/>
          </p:cNvSpPr>
          <p:nvPr>
            <p:ph idx="1"/>
          </p:nvPr>
        </p:nvSpPr>
        <p:spPr>
          <a:xfrm>
            <a:off x="457200" y="1600200"/>
            <a:ext cx="9537700" cy="5684837"/>
          </a:xfrm>
        </p:spPr>
        <p:txBody>
          <a:bodyPr>
            <a:normAutofit/>
          </a:bodyPr>
          <a:lstStyle/>
          <a:p>
            <a:pPr marL="0" indent="0">
              <a:buNone/>
            </a:pPr>
            <a:r>
              <a:rPr lang="es-AR" sz="3600" dirty="0"/>
              <a:t>Aumentar el valor del numero cada 1 segundo.</a:t>
            </a:r>
          </a:p>
          <a:p>
            <a:pPr marL="0" indent="0">
              <a:buNone/>
            </a:pPr>
            <a:r>
              <a:rPr lang="es-AR" sz="3600" dirty="0"/>
              <a:t>Pista: Usar un contador y aumentar el valor con </a:t>
            </a:r>
            <a:r>
              <a:rPr lang="es-AR" sz="3600" dirty="0" err="1">
                <a:solidFill>
                  <a:srgbClr val="0070C0"/>
                </a:solidFill>
              </a:rPr>
              <a:t>incf</a:t>
            </a:r>
            <a:endParaRPr lang="es-AR" sz="3600" dirty="0">
              <a:solidFill>
                <a:srgbClr val="0070C0"/>
              </a:solidFill>
            </a:endParaRPr>
          </a:p>
        </p:txBody>
      </p:sp>
    </p:spTree>
    <p:extLst>
      <p:ext uri="{BB962C8B-B14F-4D97-AF65-F5344CB8AC3E}">
        <p14:creationId xmlns:p14="http://schemas.microsoft.com/office/powerpoint/2010/main" val="428201970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606BE-5608-9997-4C57-80730C2FBD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E67687-5F9D-9541-919F-DD0989788D88}"/>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de 7 segmentos BCD</a:t>
            </a:r>
          </a:p>
        </p:txBody>
      </p:sp>
      <p:sp>
        <p:nvSpPr>
          <p:cNvPr id="4" name="Marcador de contenido 3">
            <a:extLst>
              <a:ext uri="{FF2B5EF4-FFF2-40B4-BE49-F238E27FC236}">
                <a16:creationId xmlns:a16="http://schemas.microsoft.com/office/drawing/2014/main" id="{CF5F0A42-1D6D-5E5C-38A4-07DDA2A4B222}"/>
              </a:ext>
            </a:extLst>
          </p:cNvPr>
          <p:cNvSpPr>
            <a:spLocks noGrp="1"/>
          </p:cNvSpPr>
          <p:nvPr>
            <p:ph idx="1"/>
          </p:nvPr>
        </p:nvSpPr>
        <p:spPr>
          <a:xfrm>
            <a:off x="457200" y="1600200"/>
            <a:ext cx="9537700" cy="5684837"/>
          </a:xfrm>
        </p:spPr>
        <p:txBody>
          <a:bodyPr>
            <a:normAutofit fontScale="47500" lnSpcReduction="20000"/>
          </a:bodyPr>
          <a:lstStyle/>
          <a:p>
            <a:pPr marL="0" indent="0">
              <a:buNone/>
            </a:pPr>
            <a:r>
              <a:rPr lang="es-AR" sz="3600" dirty="0">
                <a:solidFill>
                  <a:srgbClr val="0070C0"/>
                </a:solidFill>
              </a:rPr>
              <a:t>#include </a:t>
            </a:r>
            <a:r>
              <a:rPr lang="es-AR" sz="3600" dirty="0"/>
              <a:t>&lt;</a:t>
            </a:r>
            <a:r>
              <a:rPr lang="es-AR" sz="3600" dirty="0">
                <a:solidFill>
                  <a:srgbClr val="7030A0"/>
                </a:solidFill>
              </a:rPr>
              <a:t>P16F628A</a:t>
            </a:r>
            <a:r>
              <a:rPr lang="es-AR" sz="3600" dirty="0"/>
              <a:t>.</a:t>
            </a:r>
            <a:r>
              <a:rPr lang="es-AR" sz="3600" dirty="0">
                <a:solidFill>
                  <a:srgbClr val="7030A0"/>
                </a:solidFill>
              </a:rPr>
              <a:t>INC</a:t>
            </a:r>
            <a:r>
              <a:rPr lang="es-AR" sz="3600" dirty="0"/>
              <a:t>&gt;</a:t>
            </a:r>
          </a:p>
          <a:p>
            <a:pPr marL="0" indent="0">
              <a:buNone/>
            </a:pPr>
            <a:r>
              <a:rPr lang="es-AR" sz="3600" dirty="0"/>
              <a:t>	</a:t>
            </a:r>
            <a:r>
              <a:rPr lang="es-AR" sz="3600" dirty="0">
                <a:solidFill>
                  <a:srgbClr val="0070C0"/>
                </a:solidFill>
              </a:rPr>
              <a:t>__CONFIG </a:t>
            </a:r>
            <a:r>
              <a:rPr lang="es-AR" sz="3600" dirty="0"/>
              <a:t>3F10</a:t>
            </a:r>
          </a:p>
          <a:p>
            <a:pPr marL="0" indent="0">
              <a:buNone/>
            </a:pPr>
            <a:r>
              <a:rPr lang="es-AR" sz="3600" dirty="0"/>
              <a:t>	</a:t>
            </a:r>
          </a:p>
          <a:p>
            <a:pPr marL="0" indent="0">
              <a:buNone/>
            </a:pPr>
            <a:r>
              <a:rPr lang="es-AR" sz="3600" dirty="0">
                <a:solidFill>
                  <a:srgbClr val="7030A0"/>
                </a:solidFill>
              </a:rPr>
              <a:t>CONT</a:t>
            </a:r>
            <a:r>
              <a:rPr lang="es-AR" sz="3600" dirty="0"/>
              <a:t>	</a:t>
            </a:r>
            <a:r>
              <a:rPr lang="es-AR" sz="3600" dirty="0">
                <a:solidFill>
                  <a:srgbClr val="0070C0"/>
                </a:solidFill>
              </a:rPr>
              <a:t>EQU 0X20</a:t>
            </a:r>
          </a:p>
          <a:p>
            <a:pPr marL="0" indent="0">
              <a:buNone/>
            </a:pPr>
            <a:r>
              <a:rPr lang="es-AR" sz="3600" dirty="0">
                <a:solidFill>
                  <a:srgbClr val="7030A0"/>
                </a:solidFill>
              </a:rPr>
              <a:t>CONT2</a:t>
            </a:r>
            <a:r>
              <a:rPr lang="es-AR" sz="3600" dirty="0"/>
              <a:t>	</a:t>
            </a:r>
            <a:r>
              <a:rPr lang="es-AR" sz="3600" dirty="0">
                <a:solidFill>
                  <a:srgbClr val="0070C0"/>
                </a:solidFill>
              </a:rPr>
              <a:t>EQU 0X21</a:t>
            </a:r>
          </a:p>
          <a:p>
            <a:pPr marL="0" indent="0">
              <a:buNone/>
            </a:pPr>
            <a:r>
              <a:rPr lang="es-AR" sz="3600" dirty="0">
                <a:solidFill>
                  <a:srgbClr val="7030A0"/>
                </a:solidFill>
              </a:rPr>
              <a:t>CONT3</a:t>
            </a:r>
            <a:r>
              <a:rPr lang="es-AR" sz="3600" dirty="0"/>
              <a:t>	</a:t>
            </a:r>
            <a:r>
              <a:rPr lang="es-AR" sz="3600" dirty="0">
                <a:solidFill>
                  <a:srgbClr val="0070C0"/>
                </a:solidFill>
              </a:rPr>
              <a:t>EQU 0X22</a:t>
            </a:r>
          </a:p>
          <a:p>
            <a:pPr marL="0" indent="0">
              <a:buNone/>
            </a:pPr>
            <a:r>
              <a:rPr lang="es-AR" sz="3600" dirty="0">
                <a:solidFill>
                  <a:srgbClr val="7030A0"/>
                </a:solidFill>
              </a:rPr>
              <a:t>NUM</a:t>
            </a:r>
            <a:r>
              <a:rPr lang="es-AR" sz="3600" dirty="0"/>
              <a:t>	</a:t>
            </a:r>
            <a:r>
              <a:rPr lang="es-AR" sz="3600" dirty="0">
                <a:solidFill>
                  <a:srgbClr val="0070C0"/>
                </a:solidFill>
              </a:rPr>
              <a:t>EQU 0X23</a:t>
            </a:r>
          </a:p>
          <a:p>
            <a:pPr marL="0" indent="0">
              <a:buNone/>
            </a:pPr>
            <a:endParaRPr lang="es-AR" sz="3600" dirty="0"/>
          </a:p>
          <a:p>
            <a:pPr marL="0" indent="0">
              <a:buNone/>
            </a:pPr>
            <a:r>
              <a:rPr lang="es-AR" sz="3600" dirty="0"/>
              <a:t>	</a:t>
            </a:r>
            <a:r>
              <a:rPr lang="es-AR" sz="3600" dirty="0" err="1">
                <a:solidFill>
                  <a:srgbClr val="0070C0"/>
                </a:solidFill>
              </a:rPr>
              <a:t>org</a:t>
            </a:r>
            <a:r>
              <a:rPr lang="es-AR" sz="3600" dirty="0"/>
              <a:t> 0</a:t>
            </a:r>
          </a:p>
          <a:p>
            <a:pPr marL="0" indent="0">
              <a:buNone/>
            </a:pPr>
            <a:endParaRPr lang="es-AR" sz="3600" dirty="0"/>
          </a:p>
          <a:p>
            <a:pPr marL="0" indent="0">
              <a:buNone/>
            </a:pPr>
            <a:r>
              <a:rPr lang="es-AR" sz="3600" dirty="0"/>
              <a:t>	</a:t>
            </a:r>
            <a:r>
              <a:rPr lang="es-AR" sz="3600" dirty="0" err="1">
                <a:solidFill>
                  <a:srgbClr val="0070C0"/>
                </a:solidFill>
              </a:rPr>
              <a:t>bsf</a:t>
            </a:r>
            <a:r>
              <a:rPr lang="es-AR" sz="3600" dirty="0"/>
              <a:t> </a:t>
            </a:r>
            <a:r>
              <a:rPr lang="es-AR" sz="3600" dirty="0">
                <a:solidFill>
                  <a:srgbClr val="7030A0"/>
                </a:solidFill>
              </a:rPr>
              <a:t>STATUS</a:t>
            </a:r>
            <a:r>
              <a:rPr lang="es-AR" sz="3600" dirty="0"/>
              <a:t>,</a:t>
            </a:r>
            <a:r>
              <a:rPr lang="es-AR" sz="3600" dirty="0">
                <a:solidFill>
                  <a:srgbClr val="7030A0"/>
                </a:solidFill>
              </a:rPr>
              <a:t>RP0		</a:t>
            </a:r>
            <a:r>
              <a:rPr lang="es-AR" sz="3600" dirty="0">
                <a:solidFill>
                  <a:srgbClr val="00B050"/>
                </a:solidFill>
              </a:rPr>
              <a:t>;banco 1</a:t>
            </a:r>
          </a:p>
          <a:p>
            <a:pPr marL="0" indent="0">
              <a:buNone/>
            </a:pPr>
            <a:r>
              <a:rPr lang="es-AR" sz="3600" dirty="0"/>
              <a:t>	</a:t>
            </a:r>
            <a:r>
              <a:rPr lang="es-AR" sz="3600" dirty="0" err="1">
                <a:solidFill>
                  <a:srgbClr val="0070C0"/>
                </a:solidFill>
              </a:rPr>
              <a:t>clrf</a:t>
            </a:r>
            <a:r>
              <a:rPr lang="es-AR" sz="3600" dirty="0"/>
              <a:t> </a:t>
            </a:r>
            <a:r>
              <a:rPr lang="es-AR" sz="3600" dirty="0">
                <a:solidFill>
                  <a:srgbClr val="7030A0"/>
                </a:solidFill>
              </a:rPr>
              <a:t>TRISB</a:t>
            </a:r>
          </a:p>
          <a:p>
            <a:pPr marL="0" indent="0">
              <a:buNone/>
            </a:pPr>
            <a:r>
              <a:rPr lang="es-AR" sz="3600" dirty="0"/>
              <a:t>    	</a:t>
            </a:r>
            <a:r>
              <a:rPr lang="es-AR" sz="3600" dirty="0" err="1">
                <a:solidFill>
                  <a:srgbClr val="0070C0"/>
                </a:solidFill>
              </a:rPr>
              <a:t>bcf</a:t>
            </a:r>
            <a:r>
              <a:rPr lang="es-AR" sz="3600" dirty="0"/>
              <a:t> </a:t>
            </a:r>
            <a:r>
              <a:rPr lang="es-AR" sz="3600" dirty="0">
                <a:solidFill>
                  <a:srgbClr val="7030A0"/>
                </a:solidFill>
              </a:rPr>
              <a:t>STATUS</a:t>
            </a:r>
            <a:r>
              <a:rPr lang="es-AR" sz="3600" dirty="0"/>
              <a:t>,</a:t>
            </a:r>
            <a:r>
              <a:rPr lang="es-AR" sz="3600" dirty="0">
                <a:solidFill>
                  <a:srgbClr val="7030A0"/>
                </a:solidFill>
              </a:rPr>
              <a:t>RP0		</a:t>
            </a:r>
            <a:r>
              <a:rPr lang="es-AR" sz="3600" dirty="0">
                <a:solidFill>
                  <a:srgbClr val="00B050"/>
                </a:solidFill>
              </a:rPr>
              <a:t>;banco 0</a:t>
            </a:r>
          </a:p>
          <a:p>
            <a:pPr marL="0" indent="0">
              <a:buNone/>
            </a:pPr>
            <a:r>
              <a:rPr lang="es-AR" sz="3600" dirty="0"/>
              <a:t>	</a:t>
            </a:r>
            <a:r>
              <a:rPr lang="es-AR" sz="3600" dirty="0" err="1">
                <a:solidFill>
                  <a:srgbClr val="0070C0"/>
                </a:solidFill>
              </a:rPr>
              <a:t>clrf</a:t>
            </a:r>
            <a:r>
              <a:rPr lang="es-AR" sz="3600" dirty="0"/>
              <a:t> </a:t>
            </a:r>
            <a:r>
              <a:rPr lang="es-AR" sz="3600" dirty="0">
                <a:solidFill>
                  <a:srgbClr val="7030A0"/>
                </a:solidFill>
              </a:rPr>
              <a:t>NUM			</a:t>
            </a:r>
            <a:r>
              <a:rPr lang="es-AR" sz="3600" dirty="0">
                <a:solidFill>
                  <a:srgbClr val="00B050"/>
                </a:solidFill>
              </a:rPr>
              <a:t>;NUM=0</a:t>
            </a:r>
          </a:p>
          <a:p>
            <a:pPr marL="0" indent="0">
              <a:buNone/>
            </a:pPr>
            <a:endParaRPr lang="es-AR" sz="3600" dirty="0"/>
          </a:p>
          <a:p>
            <a:pPr marL="0" indent="0">
              <a:buNone/>
            </a:pPr>
            <a:r>
              <a:rPr lang="es-AR" sz="3600" dirty="0">
                <a:solidFill>
                  <a:srgbClr val="7030A0"/>
                </a:solidFill>
              </a:rPr>
              <a:t>INICIO</a:t>
            </a:r>
          </a:p>
          <a:p>
            <a:pPr marL="0" indent="0">
              <a:buNone/>
            </a:pPr>
            <a:r>
              <a:rPr lang="es-AR" sz="3600" dirty="0"/>
              <a:t>	</a:t>
            </a:r>
            <a:r>
              <a:rPr lang="es-AR" sz="3600" dirty="0" err="1">
                <a:solidFill>
                  <a:srgbClr val="0070C0"/>
                </a:solidFill>
              </a:rPr>
              <a:t>movf</a:t>
            </a:r>
            <a:r>
              <a:rPr lang="es-AR" sz="3600" dirty="0"/>
              <a:t> </a:t>
            </a:r>
            <a:r>
              <a:rPr lang="es-AR" sz="3600" dirty="0" err="1">
                <a:solidFill>
                  <a:srgbClr val="7030A0"/>
                </a:solidFill>
              </a:rPr>
              <a:t>NUM</a:t>
            </a:r>
            <a:r>
              <a:rPr lang="es-AR" sz="3600" dirty="0" err="1"/>
              <a:t>,</a:t>
            </a:r>
            <a:r>
              <a:rPr lang="es-AR" sz="3600" dirty="0" err="1">
                <a:solidFill>
                  <a:srgbClr val="7030A0"/>
                </a:solidFill>
              </a:rPr>
              <a:t>w</a:t>
            </a:r>
            <a:endParaRPr lang="es-AR" sz="3600" dirty="0">
              <a:solidFill>
                <a:srgbClr val="7030A0"/>
              </a:solidFill>
            </a:endParaRPr>
          </a:p>
          <a:p>
            <a:pPr marL="0" indent="0">
              <a:buNone/>
            </a:pPr>
            <a:r>
              <a:rPr lang="es-AR" sz="3600" dirty="0"/>
              <a:t>	</a:t>
            </a:r>
            <a:r>
              <a:rPr lang="es-AR" sz="3600" dirty="0" err="1">
                <a:solidFill>
                  <a:srgbClr val="0070C0"/>
                </a:solidFill>
              </a:rPr>
              <a:t>movwf</a:t>
            </a:r>
            <a:r>
              <a:rPr lang="es-AR" sz="3600" dirty="0"/>
              <a:t> </a:t>
            </a:r>
            <a:r>
              <a:rPr lang="es-AR" sz="3600" dirty="0">
                <a:solidFill>
                  <a:srgbClr val="7030A0"/>
                </a:solidFill>
              </a:rPr>
              <a:t>PORTB	</a:t>
            </a:r>
            <a:r>
              <a:rPr lang="es-AR" sz="3600" dirty="0">
                <a:solidFill>
                  <a:srgbClr val="00B050"/>
                </a:solidFill>
              </a:rPr>
              <a:t>;cargo el </a:t>
            </a:r>
            <a:r>
              <a:rPr lang="es-AR" sz="3600" dirty="0" err="1">
                <a:solidFill>
                  <a:srgbClr val="00B050"/>
                </a:solidFill>
              </a:rPr>
              <a:t>num</a:t>
            </a:r>
            <a:r>
              <a:rPr lang="es-AR" sz="3600" dirty="0">
                <a:solidFill>
                  <a:srgbClr val="00B050"/>
                </a:solidFill>
              </a:rPr>
              <a:t> en </a:t>
            </a:r>
            <a:r>
              <a:rPr lang="es-AR" sz="3600" dirty="0" err="1">
                <a:solidFill>
                  <a:srgbClr val="00B050"/>
                </a:solidFill>
              </a:rPr>
              <a:t>portb</a:t>
            </a:r>
            <a:endParaRPr lang="es-AR" sz="3600" dirty="0">
              <a:solidFill>
                <a:srgbClr val="00B050"/>
              </a:solidFill>
            </a:endParaRPr>
          </a:p>
          <a:p>
            <a:pPr marL="0" indent="0">
              <a:buNone/>
            </a:pPr>
            <a:r>
              <a:rPr lang="es-AR" sz="3600" dirty="0"/>
              <a:t>	</a:t>
            </a:r>
            <a:r>
              <a:rPr lang="es-AR" sz="3600" dirty="0" err="1">
                <a:solidFill>
                  <a:srgbClr val="0070C0"/>
                </a:solidFill>
                <a:highlight>
                  <a:srgbClr val="FFFF00"/>
                </a:highlight>
              </a:rPr>
              <a:t>incf</a:t>
            </a:r>
            <a:r>
              <a:rPr lang="es-AR" sz="3600" dirty="0"/>
              <a:t> </a:t>
            </a:r>
            <a:r>
              <a:rPr lang="es-AR" sz="3600" dirty="0" err="1">
                <a:solidFill>
                  <a:srgbClr val="7030A0"/>
                </a:solidFill>
              </a:rPr>
              <a:t>NUM</a:t>
            </a:r>
            <a:r>
              <a:rPr lang="es-AR" sz="3600" dirty="0" err="1"/>
              <a:t>,</a:t>
            </a:r>
            <a:r>
              <a:rPr lang="es-AR" sz="3600" dirty="0" err="1">
                <a:solidFill>
                  <a:srgbClr val="7030A0"/>
                </a:solidFill>
              </a:rPr>
              <a:t>f</a:t>
            </a:r>
            <a:r>
              <a:rPr lang="es-AR" sz="3600" dirty="0">
                <a:solidFill>
                  <a:srgbClr val="7030A0"/>
                </a:solidFill>
              </a:rPr>
              <a:t>	</a:t>
            </a:r>
            <a:r>
              <a:rPr lang="es-AR" sz="3600" dirty="0">
                <a:solidFill>
                  <a:srgbClr val="00B050"/>
                </a:solidFill>
              </a:rPr>
              <a:t>;aumento </a:t>
            </a:r>
            <a:r>
              <a:rPr lang="es-AR" sz="3600" dirty="0" err="1">
                <a:solidFill>
                  <a:srgbClr val="00B050"/>
                </a:solidFill>
              </a:rPr>
              <a:t>num</a:t>
            </a:r>
            <a:endParaRPr lang="es-AR" sz="3600" dirty="0">
              <a:solidFill>
                <a:srgbClr val="00B050"/>
              </a:solidFill>
            </a:endParaRPr>
          </a:p>
          <a:p>
            <a:pPr marL="0" indent="0">
              <a:buNone/>
            </a:pPr>
            <a:r>
              <a:rPr lang="es-AR" sz="3600" dirty="0"/>
              <a:t>	</a:t>
            </a:r>
            <a:r>
              <a:rPr lang="es-AR" sz="3600" dirty="0" err="1">
                <a:solidFill>
                  <a:srgbClr val="0070C0"/>
                </a:solidFill>
              </a:rPr>
              <a:t>call</a:t>
            </a:r>
            <a:r>
              <a:rPr lang="es-AR" sz="3600" dirty="0"/>
              <a:t> </a:t>
            </a:r>
            <a:r>
              <a:rPr lang="es-AR" sz="3600" dirty="0">
                <a:solidFill>
                  <a:srgbClr val="7030A0"/>
                </a:solidFill>
              </a:rPr>
              <a:t>DELAY_1S</a:t>
            </a:r>
          </a:p>
          <a:p>
            <a:pPr marL="0" indent="0">
              <a:buNone/>
            </a:pPr>
            <a:r>
              <a:rPr lang="es-AR" sz="3600" dirty="0"/>
              <a:t>    	</a:t>
            </a:r>
            <a:r>
              <a:rPr lang="es-AR" sz="3600" dirty="0" err="1">
                <a:solidFill>
                  <a:srgbClr val="0070C0"/>
                </a:solidFill>
              </a:rPr>
              <a:t>goto</a:t>
            </a:r>
            <a:r>
              <a:rPr lang="es-AR" sz="3600" dirty="0"/>
              <a:t> </a:t>
            </a:r>
            <a:r>
              <a:rPr lang="es-AR" sz="3600" dirty="0">
                <a:solidFill>
                  <a:srgbClr val="7030A0"/>
                </a:solidFill>
              </a:rPr>
              <a:t>INICIO</a:t>
            </a:r>
          </a:p>
        </p:txBody>
      </p:sp>
      <p:pic>
        <p:nvPicPr>
          <p:cNvPr id="9" name="Imagen 8">
            <a:extLst>
              <a:ext uri="{FF2B5EF4-FFF2-40B4-BE49-F238E27FC236}">
                <a16:creationId xmlns:a16="http://schemas.microsoft.com/office/drawing/2014/main" id="{6E9E5BAD-8117-AC68-5247-829D8B257F3A}"/>
              </a:ext>
            </a:extLst>
          </p:cNvPr>
          <p:cNvPicPr>
            <a:picLocks noChangeAspect="1"/>
          </p:cNvPicPr>
          <p:nvPr/>
        </p:nvPicPr>
        <p:blipFill>
          <a:blip r:embed="rId2"/>
          <a:stretch>
            <a:fillRect/>
          </a:stretch>
        </p:blipFill>
        <p:spPr>
          <a:xfrm>
            <a:off x="5499100" y="1417638"/>
            <a:ext cx="3148445" cy="5925025"/>
          </a:xfrm>
          <a:prstGeom prst="rect">
            <a:avLst/>
          </a:prstGeom>
        </p:spPr>
      </p:pic>
      <p:pic>
        <p:nvPicPr>
          <p:cNvPr id="5" name="Imagen 4">
            <a:extLst>
              <a:ext uri="{FF2B5EF4-FFF2-40B4-BE49-F238E27FC236}">
                <a16:creationId xmlns:a16="http://schemas.microsoft.com/office/drawing/2014/main" id="{AC6B917E-2FEE-35B9-945E-7291A460891B}"/>
              </a:ext>
            </a:extLst>
          </p:cNvPr>
          <p:cNvPicPr>
            <a:picLocks noChangeAspect="1"/>
          </p:cNvPicPr>
          <p:nvPr/>
        </p:nvPicPr>
        <p:blipFill>
          <a:blip r:embed="rId3"/>
          <a:stretch>
            <a:fillRect/>
          </a:stretch>
        </p:blipFill>
        <p:spPr>
          <a:xfrm>
            <a:off x="7899400" y="2417762"/>
            <a:ext cx="2628900" cy="219075"/>
          </a:xfrm>
          <a:prstGeom prst="rect">
            <a:avLst/>
          </a:prstGeom>
        </p:spPr>
      </p:pic>
      <p:pic>
        <p:nvPicPr>
          <p:cNvPr id="6" name="Imagen 5">
            <a:extLst>
              <a:ext uri="{FF2B5EF4-FFF2-40B4-BE49-F238E27FC236}">
                <a16:creationId xmlns:a16="http://schemas.microsoft.com/office/drawing/2014/main" id="{BC20A9AB-A517-9066-2B65-162D4A51B640}"/>
              </a:ext>
            </a:extLst>
          </p:cNvPr>
          <p:cNvPicPr>
            <a:picLocks noChangeAspect="1"/>
          </p:cNvPicPr>
          <p:nvPr/>
        </p:nvPicPr>
        <p:blipFill>
          <a:blip r:embed="rId3"/>
          <a:stretch>
            <a:fillRect/>
          </a:stretch>
        </p:blipFill>
        <p:spPr>
          <a:xfrm>
            <a:off x="8013700" y="4246562"/>
            <a:ext cx="2628900" cy="219075"/>
          </a:xfrm>
          <a:prstGeom prst="rect">
            <a:avLst/>
          </a:prstGeom>
        </p:spPr>
      </p:pic>
      <p:pic>
        <p:nvPicPr>
          <p:cNvPr id="7" name="Imagen 6">
            <a:extLst>
              <a:ext uri="{FF2B5EF4-FFF2-40B4-BE49-F238E27FC236}">
                <a16:creationId xmlns:a16="http://schemas.microsoft.com/office/drawing/2014/main" id="{3339B19F-8821-33DD-D48B-059335338CD1}"/>
              </a:ext>
            </a:extLst>
          </p:cNvPr>
          <p:cNvPicPr>
            <a:picLocks noChangeAspect="1"/>
          </p:cNvPicPr>
          <p:nvPr/>
        </p:nvPicPr>
        <p:blipFill>
          <a:blip r:embed="rId3"/>
          <a:stretch>
            <a:fillRect/>
          </a:stretch>
        </p:blipFill>
        <p:spPr>
          <a:xfrm>
            <a:off x="8013700" y="6151562"/>
            <a:ext cx="2628900" cy="219075"/>
          </a:xfrm>
          <a:prstGeom prst="rect">
            <a:avLst/>
          </a:prstGeom>
        </p:spPr>
      </p:pic>
      <p:sp>
        <p:nvSpPr>
          <p:cNvPr id="8" name="CuadroTexto 7">
            <a:extLst>
              <a:ext uri="{FF2B5EF4-FFF2-40B4-BE49-F238E27FC236}">
                <a16:creationId xmlns:a16="http://schemas.microsoft.com/office/drawing/2014/main" id="{0FBF7B3A-2B0A-E6C3-54B2-F3133272DF83}"/>
              </a:ext>
            </a:extLst>
          </p:cNvPr>
          <p:cNvSpPr txBox="1"/>
          <p:nvPr/>
        </p:nvSpPr>
        <p:spPr>
          <a:xfrm>
            <a:off x="8013700" y="2560637"/>
            <a:ext cx="2268698" cy="369332"/>
          </a:xfrm>
          <a:prstGeom prst="rect">
            <a:avLst/>
          </a:prstGeom>
          <a:noFill/>
        </p:spPr>
        <p:txBody>
          <a:bodyPr wrap="none" rtlCol="0">
            <a:spAutoFit/>
          </a:bodyPr>
          <a:lstStyle/>
          <a:p>
            <a:r>
              <a:rPr lang="es-ES" dirty="0"/>
              <a:t>Registro STATUS </a:t>
            </a:r>
            <a:r>
              <a:rPr lang="es-ES" dirty="0" err="1"/>
              <a:t>Flag</a:t>
            </a:r>
            <a:r>
              <a:rPr lang="es-ES" dirty="0"/>
              <a:t> Z</a:t>
            </a:r>
            <a:endParaRPr lang="es-AR" dirty="0"/>
          </a:p>
        </p:txBody>
      </p:sp>
      <p:sp>
        <p:nvSpPr>
          <p:cNvPr id="10" name="CuadroTexto 9">
            <a:extLst>
              <a:ext uri="{FF2B5EF4-FFF2-40B4-BE49-F238E27FC236}">
                <a16:creationId xmlns:a16="http://schemas.microsoft.com/office/drawing/2014/main" id="{1537E54F-3C43-AB97-A5F3-CB26EFCA99D4}"/>
              </a:ext>
            </a:extLst>
          </p:cNvPr>
          <p:cNvSpPr txBox="1"/>
          <p:nvPr/>
        </p:nvSpPr>
        <p:spPr>
          <a:xfrm>
            <a:off x="8166100" y="4401105"/>
            <a:ext cx="2268698" cy="369332"/>
          </a:xfrm>
          <a:prstGeom prst="rect">
            <a:avLst/>
          </a:prstGeom>
          <a:noFill/>
        </p:spPr>
        <p:txBody>
          <a:bodyPr wrap="none" rtlCol="0">
            <a:spAutoFit/>
          </a:bodyPr>
          <a:lstStyle/>
          <a:p>
            <a:r>
              <a:rPr lang="es-ES" dirty="0"/>
              <a:t>Registro STATUS </a:t>
            </a:r>
            <a:r>
              <a:rPr lang="es-ES" dirty="0" err="1"/>
              <a:t>Flag</a:t>
            </a:r>
            <a:r>
              <a:rPr lang="es-ES" dirty="0"/>
              <a:t> Z</a:t>
            </a:r>
            <a:endParaRPr lang="es-AR" dirty="0"/>
          </a:p>
        </p:txBody>
      </p:sp>
      <p:sp>
        <p:nvSpPr>
          <p:cNvPr id="11" name="CuadroTexto 10">
            <a:extLst>
              <a:ext uri="{FF2B5EF4-FFF2-40B4-BE49-F238E27FC236}">
                <a16:creationId xmlns:a16="http://schemas.microsoft.com/office/drawing/2014/main" id="{BDD6B80E-A238-2CB6-0DC3-F7BE3D1F8021}"/>
              </a:ext>
            </a:extLst>
          </p:cNvPr>
          <p:cNvSpPr txBox="1"/>
          <p:nvPr/>
        </p:nvSpPr>
        <p:spPr>
          <a:xfrm>
            <a:off x="8318500" y="6306105"/>
            <a:ext cx="2268698" cy="369332"/>
          </a:xfrm>
          <a:prstGeom prst="rect">
            <a:avLst/>
          </a:prstGeom>
          <a:noFill/>
        </p:spPr>
        <p:txBody>
          <a:bodyPr wrap="none" rtlCol="0">
            <a:spAutoFit/>
          </a:bodyPr>
          <a:lstStyle/>
          <a:p>
            <a:r>
              <a:rPr lang="es-ES" dirty="0"/>
              <a:t>Registro STATUS </a:t>
            </a:r>
            <a:r>
              <a:rPr lang="es-ES" dirty="0" err="1"/>
              <a:t>Flag</a:t>
            </a:r>
            <a:r>
              <a:rPr lang="es-ES" dirty="0"/>
              <a:t> Z</a:t>
            </a:r>
            <a:endParaRPr lang="es-AR" dirty="0"/>
          </a:p>
        </p:txBody>
      </p:sp>
    </p:spTree>
    <p:extLst>
      <p:ext uri="{BB962C8B-B14F-4D97-AF65-F5344CB8AC3E}">
        <p14:creationId xmlns:p14="http://schemas.microsoft.com/office/powerpoint/2010/main" val="128704463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334A0F1-5E6D-862A-DC55-B5A0174B040B}"/>
              </a:ext>
            </a:extLst>
          </p:cNvPr>
          <p:cNvPicPr>
            <a:picLocks noChangeAspect="1"/>
          </p:cNvPicPr>
          <p:nvPr/>
        </p:nvPicPr>
        <p:blipFill>
          <a:blip r:embed="rId2"/>
          <a:stretch>
            <a:fillRect/>
          </a:stretch>
        </p:blipFill>
        <p:spPr>
          <a:xfrm>
            <a:off x="1612900" y="85147"/>
            <a:ext cx="6934200" cy="3880078"/>
          </a:xfrm>
          <a:prstGeom prst="rect">
            <a:avLst/>
          </a:prstGeom>
        </p:spPr>
      </p:pic>
      <p:pic>
        <p:nvPicPr>
          <p:cNvPr id="5" name="Imagen 4">
            <a:extLst>
              <a:ext uri="{FF2B5EF4-FFF2-40B4-BE49-F238E27FC236}">
                <a16:creationId xmlns:a16="http://schemas.microsoft.com/office/drawing/2014/main" id="{C098E1D3-DEF3-F34B-C644-5B5C1B555DDA}"/>
              </a:ext>
            </a:extLst>
          </p:cNvPr>
          <p:cNvPicPr>
            <a:picLocks noChangeAspect="1"/>
          </p:cNvPicPr>
          <p:nvPr/>
        </p:nvPicPr>
        <p:blipFill>
          <a:blip r:embed="rId3"/>
          <a:stretch>
            <a:fillRect/>
          </a:stretch>
        </p:blipFill>
        <p:spPr>
          <a:xfrm>
            <a:off x="1612900" y="3970873"/>
            <a:ext cx="7162800" cy="3527211"/>
          </a:xfrm>
          <a:prstGeom prst="rect">
            <a:avLst/>
          </a:prstGeom>
        </p:spPr>
      </p:pic>
    </p:spTree>
    <p:extLst>
      <p:ext uri="{BB962C8B-B14F-4D97-AF65-F5344CB8AC3E}">
        <p14:creationId xmlns:p14="http://schemas.microsoft.com/office/powerpoint/2010/main" val="53400132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663AD9E-6EF9-5683-A6C9-CE73F8AE7F37}"/>
              </a:ext>
            </a:extLst>
          </p:cNvPr>
          <p:cNvPicPr>
            <a:picLocks noChangeAspect="1"/>
          </p:cNvPicPr>
          <p:nvPr/>
        </p:nvPicPr>
        <p:blipFill>
          <a:blip r:embed="rId2"/>
          <a:stretch>
            <a:fillRect/>
          </a:stretch>
        </p:blipFill>
        <p:spPr>
          <a:xfrm>
            <a:off x="1079500" y="370166"/>
            <a:ext cx="8534400" cy="6967587"/>
          </a:xfrm>
          <a:prstGeom prst="rect">
            <a:avLst/>
          </a:prstGeom>
        </p:spPr>
      </p:pic>
    </p:spTree>
    <p:extLst>
      <p:ext uri="{BB962C8B-B14F-4D97-AF65-F5344CB8AC3E}">
        <p14:creationId xmlns:p14="http://schemas.microsoft.com/office/powerpoint/2010/main" val="227476419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A877811-254D-02EC-31D7-C822D22745C7}"/>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Uso de tablas</a:t>
            </a:r>
          </a:p>
        </p:txBody>
      </p:sp>
      <p:sp>
        <p:nvSpPr>
          <p:cNvPr id="5" name="Marcador de contenido 4">
            <a:extLst>
              <a:ext uri="{FF2B5EF4-FFF2-40B4-BE49-F238E27FC236}">
                <a16:creationId xmlns:a16="http://schemas.microsoft.com/office/drawing/2014/main" id="{6AF05787-5B12-958B-992F-C5199D572B6D}"/>
              </a:ext>
            </a:extLst>
          </p:cNvPr>
          <p:cNvSpPr>
            <a:spLocks noGrp="1"/>
          </p:cNvSpPr>
          <p:nvPr>
            <p:ph sz="half" idx="1"/>
          </p:nvPr>
        </p:nvSpPr>
        <p:spPr/>
        <p:txBody>
          <a:bodyPr>
            <a:normAutofit/>
          </a:bodyPr>
          <a:lstStyle/>
          <a:p>
            <a:pPr marL="0" indent="0">
              <a:buNone/>
            </a:pPr>
            <a:r>
              <a:rPr lang="es-AR" dirty="0" err="1">
                <a:solidFill>
                  <a:srgbClr val="0070C0"/>
                </a:solidFill>
              </a:rPr>
              <a:t>movf</a:t>
            </a:r>
            <a:r>
              <a:rPr lang="es-AR" dirty="0"/>
              <a:t> </a:t>
            </a:r>
            <a:r>
              <a:rPr lang="es-AR" dirty="0">
                <a:solidFill>
                  <a:srgbClr val="7030A0"/>
                </a:solidFill>
              </a:rPr>
              <a:t>INDICE</a:t>
            </a:r>
            <a:r>
              <a:rPr lang="es-AR" dirty="0"/>
              <a:t>, </a:t>
            </a:r>
            <a:r>
              <a:rPr lang="es-AR" dirty="0">
                <a:solidFill>
                  <a:srgbClr val="7030A0"/>
                </a:solidFill>
              </a:rPr>
              <a:t>W</a:t>
            </a:r>
          </a:p>
          <a:p>
            <a:pPr marL="0" indent="0">
              <a:buNone/>
            </a:pPr>
            <a:r>
              <a:rPr lang="es-AR" dirty="0" err="1">
                <a:solidFill>
                  <a:srgbClr val="0070C0"/>
                </a:solidFill>
              </a:rPr>
              <a:t>call</a:t>
            </a:r>
            <a:r>
              <a:rPr lang="es-AR" dirty="0"/>
              <a:t> </a:t>
            </a:r>
            <a:r>
              <a:rPr lang="es-AR" dirty="0">
                <a:solidFill>
                  <a:srgbClr val="7030A0"/>
                </a:solidFill>
              </a:rPr>
              <a:t>TABLA_NUMEROS</a:t>
            </a:r>
          </a:p>
          <a:p>
            <a:pPr marL="0" indent="0">
              <a:buNone/>
            </a:pPr>
            <a:r>
              <a:rPr lang="es-AR" dirty="0" err="1">
                <a:solidFill>
                  <a:srgbClr val="0070C0"/>
                </a:solidFill>
              </a:rPr>
              <a:t>movwf</a:t>
            </a:r>
            <a:r>
              <a:rPr lang="es-AR" dirty="0"/>
              <a:t> </a:t>
            </a:r>
            <a:r>
              <a:rPr lang="es-AR" dirty="0">
                <a:solidFill>
                  <a:srgbClr val="7030A0"/>
                </a:solidFill>
              </a:rPr>
              <a:t>PORTB</a:t>
            </a:r>
          </a:p>
          <a:p>
            <a:pPr marL="0" indent="0">
              <a:buNone/>
            </a:pPr>
            <a:endParaRPr lang="es-AR" dirty="0">
              <a:solidFill>
                <a:srgbClr val="7030A0"/>
              </a:solidFill>
            </a:endParaRPr>
          </a:p>
          <a:p>
            <a:pPr marL="0" indent="0">
              <a:buNone/>
            </a:pPr>
            <a:endParaRPr lang="es-AR" dirty="0">
              <a:solidFill>
                <a:srgbClr val="7030A0"/>
              </a:solidFill>
            </a:endParaRPr>
          </a:p>
          <a:p>
            <a:pPr marL="0" indent="0">
              <a:buNone/>
            </a:pPr>
            <a:r>
              <a:rPr lang="es-AR" dirty="0"/>
              <a:t>Una tabla sirve para guardar en memoria números o caracteres</a:t>
            </a:r>
          </a:p>
        </p:txBody>
      </p:sp>
      <p:sp>
        <p:nvSpPr>
          <p:cNvPr id="6" name="Marcador de contenido 5">
            <a:extLst>
              <a:ext uri="{FF2B5EF4-FFF2-40B4-BE49-F238E27FC236}">
                <a16:creationId xmlns:a16="http://schemas.microsoft.com/office/drawing/2014/main" id="{73F8DF85-DA96-E6C8-5D45-569FBEF0799C}"/>
              </a:ext>
            </a:extLst>
          </p:cNvPr>
          <p:cNvSpPr>
            <a:spLocks noGrp="1"/>
          </p:cNvSpPr>
          <p:nvPr>
            <p:ph sz="half" idx="2"/>
          </p:nvPr>
        </p:nvSpPr>
        <p:spPr>
          <a:xfrm>
            <a:off x="7861300" y="1752600"/>
            <a:ext cx="2832100" cy="5684837"/>
          </a:xfrm>
        </p:spPr>
        <p:txBody>
          <a:bodyPr>
            <a:normAutofit/>
          </a:bodyPr>
          <a:lstStyle/>
          <a:p>
            <a:pPr marL="0" indent="0">
              <a:buNone/>
            </a:pPr>
            <a:r>
              <a:rPr lang="es-AR" dirty="0">
                <a:solidFill>
                  <a:srgbClr val="7030A0"/>
                </a:solidFill>
              </a:rPr>
              <a:t>TABLA_TEXTO</a:t>
            </a:r>
          </a:p>
          <a:p>
            <a:pPr marL="0" indent="0">
              <a:buNone/>
            </a:pPr>
            <a:r>
              <a:rPr lang="es-AR" dirty="0"/>
              <a:t>    </a:t>
            </a:r>
            <a:r>
              <a:rPr lang="es-AR" dirty="0" err="1">
                <a:solidFill>
                  <a:srgbClr val="0070C0"/>
                </a:solidFill>
              </a:rPr>
              <a:t>addwf</a:t>
            </a:r>
            <a:r>
              <a:rPr lang="es-AR" dirty="0"/>
              <a:t> </a:t>
            </a:r>
            <a:r>
              <a:rPr lang="es-AR" dirty="0" err="1">
                <a:solidFill>
                  <a:srgbClr val="7030A0"/>
                </a:solidFill>
              </a:rPr>
              <a:t>PCL</a:t>
            </a:r>
            <a:r>
              <a:rPr lang="es-AR" dirty="0" err="1"/>
              <a:t>,</a:t>
            </a:r>
            <a:r>
              <a:rPr lang="es-AR" dirty="0" err="1">
                <a:solidFill>
                  <a:srgbClr val="7030A0"/>
                </a:solidFill>
              </a:rPr>
              <a:t>f</a:t>
            </a:r>
            <a:endParaRPr lang="es-AR" dirty="0">
              <a:solidFill>
                <a:srgbClr val="7030A0"/>
              </a:solidFill>
            </a:endParaRPr>
          </a:p>
          <a:p>
            <a:pPr marL="0" indent="0">
              <a:buNone/>
            </a:pPr>
            <a:r>
              <a:rPr lang="es-AR" dirty="0">
                <a:highlight>
                  <a:srgbClr val="FFFF00"/>
                </a:highlight>
              </a:rPr>
              <a:t>    </a:t>
            </a:r>
            <a:r>
              <a:rPr lang="es-AR" dirty="0" err="1">
                <a:solidFill>
                  <a:srgbClr val="0070C0"/>
                </a:solidFill>
                <a:highlight>
                  <a:srgbClr val="FFFF00"/>
                </a:highlight>
              </a:rPr>
              <a:t>retlw</a:t>
            </a:r>
            <a:r>
              <a:rPr lang="es-AR" dirty="0">
                <a:solidFill>
                  <a:srgbClr val="0070C0"/>
                </a:solidFill>
                <a:highlight>
                  <a:srgbClr val="FFFF00"/>
                </a:highlight>
              </a:rPr>
              <a:t> </a:t>
            </a:r>
            <a:r>
              <a:rPr lang="es-AR" dirty="0">
                <a:solidFill>
                  <a:srgbClr val="00B0F0"/>
                </a:solidFill>
                <a:highlight>
                  <a:srgbClr val="FFFF00"/>
                </a:highlight>
              </a:rPr>
              <a:t>'H'</a:t>
            </a:r>
          </a:p>
          <a:p>
            <a:pPr marL="0" indent="0">
              <a:buNone/>
            </a:pPr>
            <a:r>
              <a:rPr lang="es-AR" dirty="0">
                <a:solidFill>
                  <a:srgbClr val="0070C0"/>
                </a:solidFill>
                <a:highlight>
                  <a:srgbClr val="FFFF00"/>
                </a:highlight>
              </a:rPr>
              <a:t>    </a:t>
            </a:r>
            <a:r>
              <a:rPr lang="es-AR" dirty="0" err="1">
                <a:solidFill>
                  <a:srgbClr val="0070C0"/>
                </a:solidFill>
                <a:highlight>
                  <a:srgbClr val="FFFF00"/>
                </a:highlight>
              </a:rPr>
              <a:t>retlw</a:t>
            </a:r>
            <a:r>
              <a:rPr lang="es-AR" dirty="0">
                <a:solidFill>
                  <a:srgbClr val="0070C0"/>
                </a:solidFill>
                <a:highlight>
                  <a:srgbClr val="FFFF00"/>
                </a:highlight>
              </a:rPr>
              <a:t> </a:t>
            </a:r>
            <a:r>
              <a:rPr lang="es-AR" dirty="0">
                <a:solidFill>
                  <a:srgbClr val="00B0F0"/>
                </a:solidFill>
                <a:highlight>
                  <a:srgbClr val="FFFF00"/>
                </a:highlight>
              </a:rPr>
              <a:t>'O'</a:t>
            </a:r>
          </a:p>
          <a:p>
            <a:pPr marL="0" indent="0">
              <a:buNone/>
            </a:pPr>
            <a:r>
              <a:rPr lang="es-AR" dirty="0">
                <a:solidFill>
                  <a:srgbClr val="0070C0"/>
                </a:solidFill>
                <a:highlight>
                  <a:srgbClr val="FFFF00"/>
                </a:highlight>
              </a:rPr>
              <a:t>    </a:t>
            </a:r>
            <a:r>
              <a:rPr lang="es-AR" dirty="0" err="1">
                <a:solidFill>
                  <a:srgbClr val="0070C0"/>
                </a:solidFill>
                <a:highlight>
                  <a:srgbClr val="FFFF00"/>
                </a:highlight>
              </a:rPr>
              <a:t>retlw</a:t>
            </a:r>
            <a:r>
              <a:rPr lang="es-AR" dirty="0">
                <a:solidFill>
                  <a:srgbClr val="0070C0"/>
                </a:solidFill>
                <a:highlight>
                  <a:srgbClr val="FFFF00"/>
                </a:highlight>
              </a:rPr>
              <a:t> </a:t>
            </a:r>
            <a:r>
              <a:rPr lang="es-AR" dirty="0">
                <a:solidFill>
                  <a:srgbClr val="00B0F0"/>
                </a:solidFill>
                <a:highlight>
                  <a:srgbClr val="FFFF00"/>
                </a:highlight>
              </a:rPr>
              <a:t>'L'</a:t>
            </a:r>
          </a:p>
          <a:p>
            <a:pPr marL="0" indent="0">
              <a:buNone/>
            </a:pPr>
            <a:r>
              <a:rPr lang="es-AR" dirty="0">
                <a:solidFill>
                  <a:srgbClr val="0070C0"/>
                </a:solidFill>
                <a:highlight>
                  <a:srgbClr val="FFFF00"/>
                </a:highlight>
              </a:rPr>
              <a:t>    </a:t>
            </a:r>
            <a:r>
              <a:rPr lang="es-AR" dirty="0" err="1">
                <a:solidFill>
                  <a:srgbClr val="0070C0"/>
                </a:solidFill>
                <a:highlight>
                  <a:srgbClr val="FFFF00"/>
                </a:highlight>
              </a:rPr>
              <a:t>retlw</a:t>
            </a:r>
            <a:r>
              <a:rPr lang="es-AR" dirty="0">
                <a:solidFill>
                  <a:srgbClr val="0070C0"/>
                </a:solidFill>
                <a:highlight>
                  <a:srgbClr val="FFFF00"/>
                </a:highlight>
              </a:rPr>
              <a:t> </a:t>
            </a:r>
            <a:r>
              <a:rPr lang="es-AR" dirty="0">
                <a:solidFill>
                  <a:srgbClr val="00B0F0"/>
                </a:solidFill>
                <a:highlight>
                  <a:srgbClr val="FFFF00"/>
                </a:highlight>
              </a:rPr>
              <a:t>‘A’</a:t>
            </a:r>
          </a:p>
          <a:p>
            <a:pPr marL="0" indent="0">
              <a:buNone/>
            </a:pPr>
            <a:r>
              <a:rPr lang="es-AR" dirty="0">
                <a:solidFill>
                  <a:srgbClr val="0070C0"/>
                </a:solidFill>
                <a:highlight>
                  <a:srgbClr val="FFFF00"/>
                </a:highlight>
              </a:rPr>
              <a:t>    </a:t>
            </a:r>
            <a:r>
              <a:rPr lang="es-AR" dirty="0" err="1">
                <a:solidFill>
                  <a:srgbClr val="0070C0"/>
                </a:solidFill>
                <a:highlight>
                  <a:srgbClr val="FFFF00"/>
                </a:highlight>
              </a:rPr>
              <a:t>retlw</a:t>
            </a:r>
            <a:r>
              <a:rPr lang="es-AR" dirty="0">
                <a:solidFill>
                  <a:srgbClr val="0070C0"/>
                </a:solidFill>
                <a:highlight>
                  <a:srgbClr val="FFFF00"/>
                </a:highlight>
              </a:rPr>
              <a:t> </a:t>
            </a:r>
            <a:r>
              <a:rPr lang="es-AR" dirty="0">
                <a:highlight>
                  <a:srgbClr val="FFFF00"/>
                </a:highlight>
              </a:rPr>
              <a:t>0x00</a:t>
            </a:r>
          </a:p>
        </p:txBody>
      </p:sp>
      <p:sp>
        <p:nvSpPr>
          <p:cNvPr id="7" name="Marcador de contenido 5">
            <a:extLst>
              <a:ext uri="{FF2B5EF4-FFF2-40B4-BE49-F238E27FC236}">
                <a16:creationId xmlns:a16="http://schemas.microsoft.com/office/drawing/2014/main" id="{AB5A4A7C-B1EB-CCEF-4668-698841999AF0}"/>
              </a:ext>
            </a:extLst>
          </p:cNvPr>
          <p:cNvSpPr txBox="1">
            <a:spLocks/>
          </p:cNvSpPr>
          <p:nvPr/>
        </p:nvSpPr>
        <p:spPr>
          <a:xfrm>
            <a:off x="4800600" y="1752600"/>
            <a:ext cx="2832100" cy="5684837"/>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0" indent="0">
              <a:buFont typeface="Arial" pitchFamily="34" charset="0"/>
              <a:buNone/>
            </a:pPr>
            <a:r>
              <a:rPr lang="es-AR" dirty="0">
                <a:solidFill>
                  <a:srgbClr val="7030A0"/>
                </a:solidFill>
              </a:rPr>
              <a:t>TABLA_NUMEROS</a:t>
            </a:r>
          </a:p>
          <a:p>
            <a:pPr marL="0" indent="0">
              <a:buFont typeface="Arial" pitchFamily="34" charset="0"/>
              <a:buNone/>
            </a:pPr>
            <a:r>
              <a:rPr lang="es-AR" dirty="0"/>
              <a:t>    </a:t>
            </a:r>
            <a:r>
              <a:rPr lang="es-AR" dirty="0" err="1">
                <a:solidFill>
                  <a:srgbClr val="0070C0"/>
                </a:solidFill>
              </a:rPr>
              <a:t>addwf</a:t>
            </a:r>
            <a:r>
              <a:rPr lang="es-AR" dirty="0"/>
              <a:t> </a:t>
            </a:r>
            <a:r>
              <a:rPr lang="es-AR" dirty="0" err="1">
                <a:solidFill>
                  <a:srgbClr val="7030A0"/>
                </a:solidFill>
              </a:rPr>
              <a:t>PCL</a:t>
            </a:r>
            <a:r>
              <a:rPr lang="es-AR" dirty="0" err="1"/>
              <a:t>,</a:t>
            </a:r>
            <a:r>
              <a:rPr lang="es-AR" dirty="0" err="1">
                <a:solidFill>
                  <a:srgbClr val="7030A0"/>
                </a:solidFill>
              </a:rPr>
              <a:t>f</a:t>
            </a:r>
            <a:endParaRPr lang="es-AR" dirty="0">
              <a:solidFill>
                <a:srgbClr val="7030A0"/>
              </a:solidFill>
            </a:endParaRPr>
          </a:p>
          <a:p>
            <a:pPr marL="0" indent="0">
              <a:buFont typeface="Arial" pitchFamily="34" charset="0"/>
              <a:buNone/>
            </a:pPr>
            <a:r>
              <a:rPr lang="es-AR" dirty="0">
                <a:highlight>
                  <a:srgbClr val="FFFF00"/>
                </a:highlight>
              </a:rPr>
              <a:t>    </a:t>
            </a:r>
            <a:r>
              <a:rPr lang="es-AR" dirty="0" err="1">
                <a:solidFill>
                  <a:srgbClr val="0070C0"/>
                </a:solidFill>
                <a:highlight>
                  <a:srgbClr val="FFFF00"/>
                </a:highlight>
              </a:rPr>
              <a:t>retlw</a:t>
            </a:r>
            <a:r>
              <a:rPr lang="es-AR" dirty="0">
                <a:highlight>
                  <a:srgbClr val="FFFF00"/>
                </a:highlight>
              </a:rPr>
              <a:t> </a:t>
            </a:r>
            <a:r>
              <a:rPr lang="es-AR" dirty="0">
                <a:solidFill>
                  <a:srgbClr val="00B050"/>
                </a:solidFill>
                <a:highlight>
                  <a:srgbClr val="FFFF00"/>
                </a:highlight>
              </a:rPr>
              <a:t>.0</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.1</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.2</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.3</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.4</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.5</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.6</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.7</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.8</a:t>
            </a:r>
          </a:p>
          <a:p>
            <a:pPr marL="0" indent="0">
              <a:buFont typeface="Arial" pitchFamily="34" charset="0"/>
              <a:buNone/>
            </a:pPr>
            <a:r>
              <a:rPr lang="es-AR" dirty="0">
                <a:highlight>
                  <a:srgbClr val="FFFF00"/>
                </a:highlight>
              </a:rPr>
              <a:t>    </a:t>
            </a:r>
            <a:r>
              <a:rPr lang="es-AR" dirty="0" err="1">
                <a:highlight>
                  <a:srgbClr val="FFFF00"/>
                </a:highlight>
              </a:rPr>
              <a:t>retlw</a:t>
            </a:r>
            <a:r>
              <a:rPr lang="es-AR" dirty="0">
                <a:highlight>
                  <a:srgbClr val="FFFF00"/>
                </a:highlight>
              </a:rPr>
              <a:t> .9</a:t>
            </a:r>
          </a:p>
        </p:txBody>
      </p:sp>
    </p:spTree>
    <p:extLst>
      <p:ext uri="{BB962C8B-B14F-4D97-AF65-F5344CB8AC3E}">
        <p14:creationId xmlns:p14="http://schemas.microsoft.com/office/powerpoint/2010/main" val="184334448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2F4A10D-B7C4-8BB8-C236-FD4283A98D41}"/>
              </a:ext>
            </a:extLst>
          </p:cNvPr>
          <p:cNvPicPr>
            <a:picLocks noChangeAspect="1"/>
          </p:cNvPicPr>
          <p:nvPr/>
        </p:nvPicPr>
        <p:blipFill>
          <a:blip r:embed="rId2"/>
          <a:stretch>
            <a:fillRect/>
          </a:stretch>
        </p:blipFill>
        <p:spPr>
          <a:xfrm>
            <a:off x="1003301" y="3221"/>
            <a:ext cx="8462282" cy="7358016"/>
          </a:xfrm>
          <a:prstGeom prst="rect">
            <a:avLst/>
          </a:prstGeom>
        </p:spPr>
      </p:pic>
    </p:spTree>
    <p:extLst>
      <p:ext uri="{BB962C8B-B14F-4D97-AF65-F5344CB8AC3E}">
        <p14:creationId xmlns:p14="http://schemas.microsoft.com/office/powerpoint/2010/main" val="310806948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1324E5-EBC9-6D50-93EE-0945A70F9F93}"/>
              </a:ext>
            </a:extLst>
          </p:cNvPr>
          <p:cNvSpPr>
            <a:spLocks noGrp="1"/>
          </p:cNvSpPr>
          <p:nvPr>
            <p:ph type="title"/>
          </p:nvPr>
        </p:nvSpPr>
        <p:spPr/>
        <p:txBody>
          <a:bodyPr>
            <a:normAutofit fontScale="90000"/>
          </a:bodyPr>
          <a:lstStyle/>
          <a:p>
            <a:r>
              <a:rPr lang="es-AR" b="1" dirty="0">
                <a:solidFill>
                  <a:srgbClr val="FF0000"/>
                </a:solidFill>
                <a:effectLst>
                  <a:outerShdw blurRad="38100" dist="38100" dir="2700000" algn="tl">
                    <a:srgbClr val="000000">
                      <a:alpha val="43137"/>
                    </a:srgbClr>
                  </a:outerShdw>
                </a:effectLst>
              </a:rPr>
              <a:t>Números del 0 al 9 usando una tabla</a:t>
            </a:r>
          </a:p>
        </p:txBody>
      </p:sp>
      <p:sp>
        <p:nvSpPr>
          <p:cNvPr id="3" name="Marcador de contenido 2">
            <a:extLst>
              <a:ext uri="{FF2B5EF4-FFF2-40B4-BE49-F238E27FC236}">
                <a16:creationId xmlns:a16="http://schemas.microsoft.com/office/drawing/2014/main" id="{960F0533-F970-773B-A52E-45974A904AC0}"/>
              </a:ext>
            </a:extLst>
          </p:cNvPr>
          <p:cNvSpPr>
            <a:spLocks noGrp="1"/>
          </p:cNvSpPr>
          <p:nvPr>
            <p:ph sz="half" idx="1"/>
          </p:nvPr>
        </p:nvSpPr>
        <p:spPr>
          <a:xfrm>
            <a:off x="457200" y="1600200"/>
            <a:ext cx="4889500" cy="5303837"/>
          </a:xfrm>
        </p:spPr>
        <p:txBody>
          <a:bodyPr>
            <a:normAutofit fontScale="85000" lnSpcReduction="20000"/>
          </a:bodyPr>
          <a:lstStyle/>
          <a:p>
            <a:pPr marL="0" indent="0">
              <a:buNone/>
            </a:pPr>
            <a:r>
              <a:rPr lang="es-AR" dirty="0">
                <a:solidFill>
                  <a:srgbClr val="0070C0"/>
                </a:solidFill>
              </a:rPr>
              <a:t>#include </a:t>
            </a:r>
            <a:r>
              <a:rPr lang="es-AR" dirty="0"/>
              <a:t>&lt;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t>	</a:t>
            </a:r>
            <a:r>
              <a:rPr lang="es-AR" dirty="0">
                <a:solidFill>
                  <a:srgbClr val="0070C0"/>
                </a:solidFill>
              </a:rPr>
              <a:t>__CONFIG </a:t>
            </a:r>
            <a:r>
              <a:rPr lang="es-AR" dirty="0"/>
              <a:t>3F10</a:t>
            </a:r>
          </a:p>
          <a:p>
            <a:pPr marL="0" indent="0">
              <a:buNone/>
            </a:pPr>
            <a:r>
              <a:rPr lang="es-AR" dirty="0"/>
              <a:t>	</a:t>
            </a:r>
          </a:p>
          <a:p>
            <a:pPr marL="0" indent="0">
              <a:buNone/>
            </a:pPr>
            <a:r>
              <a:rPr lang="es-AR" dirty="0">
                <a:solidFill>
                  <a:srgbClr val="7030A0"/>
                </a:solidFill>
              </a:rPr>
              <a:t>CONT</a:t>
            </a:r>
            <a:r>
              <a:rPr lang="es-AR" dirty="0"/>
              <a:t>	</a:t>
            </a:r>
            <a:r>
              <a:rPr lang="es-AR" dirty="0">
                <a:solidFill>
                  <a:srgbClr val="0070C0"/>
                </a:solidFill>
              </a:rPr>
              <a:t>EQU 0X20</a:t>
            </a:r>
          </a:p>
          <a:p>
            <a:pPr marL="0" indent="0">
              <a:buNone/>
            </a:pPr>
            <a:r>
              <a:rPr lang="es-AR" dirty="0">
                <a:solidFill>
                  <a:srgbClr val="7030A0"/>
                </a:solidFill>
              </a:rPr>
              <a:t>CONT2</a:t>
            </a:r>
            <a:r>
              <a:rPr lang="es-AR" dirty="0"/>
              <a:t>	</a:t>
            </a:r>
            <a:r>
              <a:rPr lang="es-AR" dirty="0">
                <a:solidFill>
                  <a:srgbClr val="0070C0"/>
                </a:solidFill>
              </a:rPr>
              <a:t>EQU 0X21</a:t>
            </a:r>
          </a:p>
          <a:p>
            <a:pPr marL="0" indent="0">
              <a:buNone/>
            </a:pPr>
            <a:r>
              <a:rPr lang="es-AR" dirty="0">
                <a:solidFill>
                  <a:srgbClr val="7030A0"/>
                </a:solidFill>
              </a:rPr>
              <a:t>CONT3</a:t>
            </a:r>
            <a:r>
              <a:rPr lang="es-AR" dirty="0"/>
              <a:t>	</a:t>
            </a:r>
            <a:r>
              <a:rPr lang="es-AR" dirty="0">
                <a:solidFill>
                  <a:srgbClr val="0070C0"/>
                </a:solidFill>
              </a:rPr>
              <a:t>EQU 0X22</a:t>
            </a:r>
          </a:p>
          <a:p>
            <a:pPr marL="0" indent="0">
              <a:buNone/>
            </a:pPr>
            <a:r>
              <a:rPr lang="es-AR" dirty="0">
                <a:solidFill>
                  <a:srgbClr val="7030A0"/>
                </a:solidFill>
              </a:rPr>
              <a:t>INDICE</a:t>
            </a:r>
            <a:r>
              <a:rPr lang="es-AR" dirty="0"/>
              <a:t>	</a:t>
            </a:r>
            <a:r>
              <a:rPr lang="es-AR" dirty="0">
                <a:solidFill>
                  <a:srgbClr val="0070C0"/>
                </a:solidFill>
              </a:rPr>
              <a:t>EQU 0X23</a:t>
            </a:r>
          </a:p>
          <a:p>
            <a:pPr marL="0" indent="0">
              <a:buNone/>
            </a:pPr>
            <a:endParaRPr lang="es-AR" dirty="0"/>
          </a:p>
          <a:p>
            <a:pPr marL="0" indent="0">
              <a:buNone/>
            </a:pPr>
            <a:r>
              <a:rPr lang="es-AR" dirty="0"/>
              <a:t>	</a:t>
            </a:r>
            <a:r>
              <a:rPr lang="es-AR" dirty="0" err="1">
                <a:solidFill>
                  <a:srgbClr val="0070C0"/>
                </a:solidFill>
              </a:rPr>
              <a:t>org</a:t>
            </a:r>
            <a:r>
              <a:rPr lang="es-AR" dirty="0"/>
              <a:t> 0</a:t>
            </a:r>
          </a:p>
          <a:p>
            <a:pPr marL="0" indent="0">
              <a:buNone/>
            </a:pPr>
            <a:endParaRPr lang="es-AR" dirty="0"/>
          </a:p>
          <a:p>
            <a:pPr marL="0" indent="0">
              <a:buNone/>
            </a:pPr>
            <a:r>
              <a:rPr lang="es-AR" dirty="0"/>
              <a:t>	</a:t>
            </a:r>
            <a:r>
              <a:rPr lang="es-AR" dirty="0" err="1">
                <a:solidFill>
                  <a:srgbClr val="0070C0"/>
                </a:solidFill>
              </a:rPr>
              <a:t>bsf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clrf</a:t>
            </a:r>
            <a:r>
              <a:rPr lang="es-AR" dirty="0"/>
              <a:t> </a:t>
            </a:r>
            <a:r>
              <a:rPr lang="es-AR" dirty="0">
                <a:solidFill>
                  <a:srgbClr val="7030A0"/>
                </a:solidFill>
              </a:rPr>
              <a:t>TRISB</a:t>
            </a:r>
          </a:p>
          <a:p>
            <a:pPr marL="0" indent="0">
              <a:buNone/>
            </a:pPr>
            <a:r>
              <a:rPr lang="es-AR" dirty="0">
                <a:solidFill>
                  <a:srgbClr val="0070C0"/>
                </a:solidFill>
              </a:rPr>
              <a:t>	</a:t>
            </a:r>
            <a:r>
              <a:rPr lang="es-AR" dirty="0" err="1">
                <a:solidFill>
                  <a:srgbClr val="0070C0"/>
                </a:solidFill>
              </a:rPr>
              <a:t>bcf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clrf</a:t>
            </a:r>
            <a:r>
              <a:rPr lang="es-AR" dirty="0"/>
              <a:t> </a:t>
            </a:r>
            <a:r>
              <a:rPr lang="es-AR" dirty="0">
                <a:solidFill>
                  <a:srgbClr val="7030A0"/>
                </a:solidFill>
              </a:rPr>
              <a:t>INDICE</a:t>
            </a:r>
          </a:p>
          <a:p>
            <a:pPr marL="0" indent="0">
              <a:buNone/>
            </a:pPr>
            <a:endParaRPr lang="es-AR" dirty="0"/>
          </a:p>
        </p:txBody>
      </p:sp>
      <p:sp>
        <p:nvSpPr>
          <p:cNvPr id="4" name="Marcador de contenido 3">
            <a:extLst>
              <a:ext uri="{FF2B5EF4-FFF2-40B4-BE49-F238E27FC236}">
                <a16:creationId xmlns:a16="http://schemas.microsoft.com/office/drawing/2014/main" id="{2D5C7DAC-0526-3304-C233-2A7CCC1BBA06}"/>
              </a:ext>
            </a:extLst>
          </p:cNvPr>
          <p:cNvSpPr>
            <a:spLocks noGrp="1"/>
          </p:cNvSpPr>
          <p:nvPr>
            <p:ph sz="half" idx="2"/>
          </p:nvPr>
        </p:nvSpPr>
        <p:spPr>
          <a:xfrm>
            <a:off x="5346700" y="1600199"/>
            <a:ext cx="5029200" cy="5227638"/>
          </a:xfrm>
        </p:spPr>
        <p:txBody>
          <a:bodyPr>
            <a:normAutofit fontScale="85000" lnSpcReduction="20000"/>
          </a:bodyPr>
          <a:lstStyle/>
          <a:p>
            <a:pPr marL="0" indent="0">
              <a:buNone/>
            </a:pPr>
            <a:r>
              <a:rPr lang="es-AR" dirty="0">
                <a:solidFill>
                  <a:srgbClr val="7030A0"/>
                </a:solidFill>
              </a:rPr>
              <a:t>INICIO</a:t>
            </a:r>
          </a:p>
          <a:p>
            <a:pPr marL="0" indent="0">
              <a:buNone/>
            </a:pPr>
            <a:r>
              <a:rPr lang="es-AR" dirty="0"/>
              <a:t>    </a:t>
            </a:r>
            <a:r>
              <a:rPr lang="es-AR" dirty="0" err="1">
                <a:solidFill>
                  <a:srgbClr val="0070C0"/>
                </a:solidFill>
              </a:rPr>
              <a:t>movf</a:t>
            </a:r>
            <a:r>
              <a:rPr lang="es-AR" dirty="0"/>
              <a:t> </a:t>
            </a:r>
            <a:r>
              <a:rPr lang="es-AR" dirty="0">
                <a:solidFill>
                  <a:srgbClr val="7030A0"/>
                </a:solidFill>
              </a:rPr>
              <a:t>INDICE</a:t>
            </a:r>
            <a:r>
              <a:rPr lang="es-AR" dirty="0"/>
              <a:t>, </a:t>
            </a:r>
            <a:r>
              <a:rPr lang="es-AR" dirty="0">
                <a:solidFill>
                  <a:srgbClr val="7030A0"/>
                </a:solidFill>
              </a:rPr>
              <a:t>w</a:t>
            </a:r>
          </a:p>
          <a:p>
            <a:pPr marL="0" indent="0">
              <a:buNone/>
            </a:pPr>
            <a:r>
              <a:rPr lang="es-AR" dirty="0"/>
              <a:t>    </a:t>
            </a:r>
            <a:r>
              <a:rPr lang="es-AR" dirty="0" err="1">
                <a:solidFill>
                  <a:srgbClr val="0070C0"/>
                </a:solidFill>
              </a:rPr>
              <a:t>call</a:t>
            </a:r>
            <a:r>
              <a:rPr lang="es-AR" dirty="0"/>
              <a:t> </a:t>
            </a:r>
            <a:r>
              <a:rPr lang="es-AR" dirty="0">
                <a:solidFill>
                  <a:srgbClr val="7030A0"/>
                </a:solidFill>
              </a:rPr>
              <a:t>TABLA_NUMEROS</a:t>
            </a:r>
          </a:p>
          <a:p>
            <a:pPr marL="0" indent="0">
              <a:buNone/>
            </a:pPr>
            <a:r>
              <a:rPr lang="es-AR" dirty="0"/>
              <a:t>    </a:t>
            </a:r>
            <a:r>
              <a:rPr lang="es-AR" dirty="0" err="1">
                <a:solidFill>
                  <a:srgbClr val="0070C0"/>
                </a:solidFill>
              </a:rPr>
              <a:t>movwf</a:t>
            </a:r>
            <a:r>
              <a:rPr lang="es-AR" dirty="0"/>
              <a:t> </a:t>
            </a:r>
            <a:r>
              <a:rPr lang="es-AR" dirty="0">
                <a:solidFill>
                  <a:srgbClr val="7030A0"/>
                </a:solidFill>
              </a:rPr>
              <a:t>PORTB</a:t>
            </a:r>
          </a:p>
          <a:p>
            <a:pPr marL="0" indent="0">
              <a:buNone/>
            </a:pPr>
            <a:r>
              <a:rPr lang="es-AR" dirty="0"/>
              <a:t>    </a:t>
            </a:r>
            <a:r>
              <a:rPr lang="es-AR" dirty="0" err="1">
                <a:solidFill>
                  <a:srgbClr val="0070C0"/>
                </a:solidFill>
              </a:rPr>
              <a:t>incf</a:t>
            </a:r>
            <a:r>
              <a:rPr lang="es-AR" dirty="0"/>
              <a:t> </a:t>
            </a:r>
            <a:r>
              <a:rPr lang="es-AR" dirty="0" err="1">
                <a:solidFill>
                  <a:srgbClr val="7030A0"/>
                </a:solidFill>
              </a:rPr>
              <a:t>INDICE</a:t>
            </a:r>
            <a:r>
              <a:rPr lang="es-AR" dirty="0" err="1"/>
              <a:t>,</a:t>
            </a:r>
            <a:r>
              <a:rPr lang="es-AR" dirty="0" err="1">
                <a:solidFill>
                  <a:srgbClr val="7030A0"/>
                </a:solidFill>
              </a:rPr>
              <a:t>f</a:t>
            </a:r>
            <a:endParaRPr lang="es-AR" dirty="0">
              <a:solidFill>
                <a:srgbClr val="7030A0"/>
              </a:solidFill>
            </a:endParaRPr>
          </a:p>
          <a:p>
            <a:pPr marL="0" indent="0">
              <a:buNone/>
            </a:pPr>
            <a:r>
              <a:rPr lang="es-AR" dirty="0"/>
              <a:t>    </a:t>
            </a:r>
            <a:r>
              <a:rPr lang="es-AR" dirty="0" err="1">
                <a:solidFill>
                  <a:srgbClr val="0070C0"/>
                </a:solidFill>
              </a:rPr>
              <a:t>sublw</a:t>
            </a:r>
            <a:r>
              <a:rPr lang="es-AR" dirty="0"/>
              <a:t> </a:t>
            </a:r>
            <a:r>
              <a:rPr lang="es-AR" dirty="0">
                <a:solidFill>
                  <a:srgbClr val="00B050"/>
                </a:solidFill>
              </a:rPr>
              <a:t>.9	;calcula 9 - W</a:t>
            </a:r>
          </a:p>
          <a:p>
            <a:pPr marL="0" indent="0">
              <a:buNone/>
            </a:pPr>
            <a:r>
              <a:rPr lang="es-AR" dirty="0"/>
              <a:t>    </a:t>
            </a:r>
            <a:r>
              <a:rPr lang="es-AR" dirty="0" err="1">
                <a:solidFill>
                  <a:srgbClr val="0070C0"/>
                </a:solidFill>
                <a:highlight>
                  <a:srgbClr val="FFFF00"/>
                </a:highlight>
              </a:rPr>
              <a:t>btfsc</a:t>
            </a:r>
            <a:r>
              <a:rPr lang="es-AR" dirty="0">
                <a:highlight>
                  <a:srgbClr val="FFFF00"/>
                </a:highlight>
              </a:rPr>
              <a:t> </a:t>
            </a:r>
            <a:r>
              <a:rPr lang="es-AR" dirty="0">
                <a:solidFill>
                  <a:srgbClr val="7030A0"/>
                </a:solidFill>
                <a:highlight>
                  <a:srgbClr val="FFFF00"/>
                </a:highlight>
              </a:rPr>
              <a:t>S</a:t>
            </a:r>
            <a:r>
              <a:rPr lang="es-AR" dirty="0">
                <a:solidFill>
                  <a:srgbClr val="7030A0"/>
                </a:solidFill>
              </a:rPr>
              <a:t>TATUS</a:t>
            </a:r>
            <a:r>
              <a:rPr lang="es-AR" dirty="0"/>
              <a:t>, </a:t>
            </a:r>
            <a:r>
              <a:rPr lang="es-AR" dirty="0">
                <a:solidFill>
                  <a:srgbClr val="7030A0"/>
                </a:solidFill>
              </a:rPr>
              <a:t>Z</a:t>
            </a:r>
          </a:p>
          <a:p>
            <a:pPr marL="0" indent="0">
              <a:buNone/>
            </a:pPr>
            <a:r>
              <a:rPr lang="es-AR" dirty="0"/>
              <a:t>    </a:t>
            </a:r>
            <a:r>
              <a:rPr lang="es-AR" dirty="0" err="1">
                <a:solidFill>
                  <a:srgbClr val="0070C0"/>
                </a:solidFill>
              </a:rPr>
              <a:t>clrf</a:t>
            </a:r>
            <a:r>
              <a:rPr lang="es-AR" dirty="0"/>
              <a:t> </a:t>
            </a:r>
            <a:r>
              <a:rPr lang="es-AR" dirty="0">
                <a:solidFill>
                  <a:srgbClr val="7030A0"/>
                </a:solidFill>
              </a:rPr>
              <a:t>INDICE</a:t>
            </a:r>
          </a:p>
          <a:p>
            <a:pPr marL="0" indent="0">
              <a:buNone/>
            </a:pPr>
            <a:r>
              <a:rPr lang="es-AR" dirty="0"/>
              <a:t>    </a:t>
            </a:r>
            <a:r>
              <a:rPr lang="es-AR" dirty="0" err="1">
                <a:solidFill>
                  <a:srgbClr val="0070C0"/>
                </a:solidFill>
              </a:rPr>
              <a:t>call</a:t>
            </a:r>
            <a:r>
              <a:rPr lang="es-AR" dirty="0"/>
              <a:t> </a:t>
            </a:r>
            <a:r>
              <a:rPr lang="es-AR" dirty="0">
                <a:solidFill>
                  <a:srgbClr val="7030A0"/>
                </a:solidFill>
              </a:rPr>
              <a:t>DELAY_1S</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endParaRPr lang="es-AR" dirty="0"/>
          </a:p>
        </p:txBody>
      </p:sp>
    </p:spTree>
    <p:extLst>
      <p:ext uri="{BB962C8B-B14F-4D97-AF65-F5344CB8AC3E}">
        <p14:creationId xmlns:p14="http://schemas.microsoft.com/office/powerpoint/2010/main" val="2319834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F44469F-BB02-5EDB-96F5-DD7C1EE6533C}"/>
              </a:ext>
            </a:extLst>
          </p:cNvPr>
          <p:cNvPicPr>
            <a:picLocks noChangeAspect="1"/>
          </p:cNvPicPr>
          <p:nvPr/>
        </p:nvPicPr>
        <p:blipFill>
          <a:blip r:embed="rId2"/>
          <a:stretch>
            <a:fillRect/>
          </a:stretch>
        </p:blipFill>
        <p:spPr>
          <a:xfrm>
            <a:off x="907430" y="55042"/>
            <a:ext cx="8878539" cy="7449590"/>
          </a:xfrm>
          <a:prstGeom prst="rect">
            <a:avLst/>
          </a:prstGeom>
        </p:spPr>
      </p:pic>
    </p:spTree>
    <p:extLst>
      <p:ext uri="{BB962C8B-B14F-4D97-AF65-F5344CB8AC3E}">
        <p14:creationId xmlns:p14="http://schemas.microsoft.com/office/powerpoint/2010/main" val="336532636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118F566E-00E3-E46B-1872-304725EA2823}"/>
              </a:ext>
            </a:extLst>
          </p:cNvPr>
          <p:cNvSpPr txBox="1">
            <a:spLocks/>
          </p:cNvSpPr>
          <p:nvPr/>
        </p:nvSpPr>
        <p:spPr>
          <a:xfrm>
            <a:off x="0" y="3017837"/>
            <a:ext cx="106934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AR" b="1" dirty="0">
                <a:solidFill>
                  <a:srgbClr val="FF0000"/>
                </a:solidFill>
                <a:effectLst>
                  <a:outerShdw blurRad="38100" dist="38100" dir="2700000" algn="tl">
                    <a:srgbClr val="000000">
                      <a:alpha val="43137"/>
                    </a:srgbClr>
                  </a:outerShdw>
                </a:effectLst>
              </a:rPr>
              <a:t>Manejo de pulsadores</a:t>
            </a:r>
          </a:p>
          <a:p>
            <a:r>
              <a:rPr lang="es-AR" sz="2800" b="1" dirty="0">
                <a:solidFill>
                  <a:srgbClr val="FF0000"/>
                </a:solidFill>
                <a:effectLst>
                  <a:outerShdw blurRad="38100" dist="38100" dir="2700000" algn="tl">
                    <a:srgbClr val="000000">
                      <a:alpha val="43137"/>
                    </a:srgbClr>
                  </a:outerShdw>
                </a:effectLst>
              </a:rPr>
              <a:t>ejercicio 4.hex </a:t>
            </a:r>
            <a:r>
              <a:rPr lang="es-AR" sz="2800" dirty="0"/>
              <a:t>(Efecto pulsar)</a:t>
            </a:r>
            <a:endParaRPr lang="es-AR" sz="2800" b="1" dirty="0">
              <a:solidFill>
                <a:srgbClr val="FF0000"/>
              </a:solidFill>
              <a:effectLst>
                <a:outerShdw blurRad="38100" dist="38100" dir="2700000" algn="tl">
                  <a:srgbClr val="000000">
                    <a:alpha val="43137"/>
                  </a:srgbClr>
                </a:outerShdw>
              </a:effectLst>
            </a:endParaRPr>
          </a:p>
          <a:p>
            <a:r>
              <a:rPr lang="es-AR" sz="2800" b="1" dirty="0">
                <a:solidFill>
                  <a:srgbClr val="FF0000"/>
                </a:solidFill>
                <a:effectLst>
                  <a:outerShdw blurRad="38100" dist="38100" dir="2700000" algn="tl">
                    <a:srgbClr val="000000">
                      <a:alpha val="43137"/>
                    </a:srgbClr>
                  </a:outerShdw>
                </a:effectLst>
              </a:rPr>
              <a:t>ejercicio 5.hex </a:t>
            </a:r>
            <a:r>
              <a:rPr lang="es-AR" sz="2800" dirty="0"/>
              <a:t>(Efecto presionar)</a:t>
            </a:r>
            <a:endParaRPr lang="es-AR" sz="2800" b="1" dirty="0">
              <a:solidFill>
                <a:srgbClr val="FF0000"/>
              </a:solidFill>
              <a:effectLst>
                <a:outerShdw blurRad="38100" dist="38100" dir="2700000" algn="tl">
                  <a:srgbClr val="000000">
                    <a:alpha val="43137"/>
                  </a:srgbClr>
                </a:outerShdw>
              </a:effectLst>
            </a:endParaRPr>
          </a:p>
          <a:p>
            <a:endParaRPr lang="es-AR" sz="2800" b="1" dirty="0">
              <a:solidFill>
                <a:srgbClr val="FF0000"/>
              </a:solidFill>
              <a:effectLst>
                <a:outerShdw blurRad="38100" dist="38100" dir="2700000" algn="tl">
                  <a:srgbClr val="000000">
                    <a:alpha val="43137"/>
                  </a:srgbClr>
                </a:outerShdw>
              </a:effectLst>
            </a:endParaRPr>
          </a:p>
          <a:p>
            <a:endParaRPr lang="es-AR" b="1" dirty="0">
              <a:solidFill>
                <a:srgbClr val="FF0000"/>
              </a:solidFill>
              <a:effectLst>
                <a:outerShdw blurRad="38100" dist="38100" dir="2700000" algn="tl">
                  <a:srgbClr val="000000">
                    <a:alpha val="43137"/>
                  </a:srgbClr>
                </a:outerShdw>
              </a:effectLst>
            </a:endParaRPr>
          </a:p>
          <a:p>
            <a:endParaRPr lang="es-AR" b="1" dirty="0">
              <a:solidFill>
                <a:srgbClr val="FF0000"/>
              </a:solidFill>
              <a:effectLst>
                <a:outerShdw blurRad="38100" dist="38100" dir="2700000" algn="tl">
                  <a:srgbClr val="000000">
                    <a:alpha val="43137"/>
                  </a:srgbClr>
                </a:outerShdw>
              </a:effectLst>
            </a:endParaRPr>
          </a:p>
          <a:p>
            <a:endParaRPr lang="es-AR" b="1" dirty="0">
              <a:solidFill>
                <a:srgbClr val="FF0000"/>
              </a:solidFill>
              <a:effectLst>
                <a:outerShdw blurRad="38100" dist="38100" dir="2700000" algn="tl">
                  <a:srgbClr val="000000">
                    <a:alpha val="43137"/>
                  </a:srgbClr>
                </a:outerShdw>
              </a:effectLst>
            </a:endParaRPr>
          </a:p>
        </p:txBody>
      </p:sp>
      <p:pic>
        <p:nvPicPr>
          <p:cNvPr id="8" name="Imagen 7">
            <a:extLst>
              <a:ext uri="{FF2B5EF4-FFF2-40B4-BE49-F238E27FC236}">
                <a16:creationId xmlns:a16="http://schemas.microsoft.com/office/drawing/2014/main" id="{54967612-2E9C-DA3D-03B0-C1D2D347B107}"/>
              </a:ext>
            </a:extLst>
          </p:cNvPr>
          <p:cNvPicPr>
            <a:picLocks noChangeAspect="1"/>
          </p:cNvPicPr>
          <p:nvPr/>
        </p:nvPicPr>
        <p:blipFill>
          <a:blip r:embed="rId2"/>
          <a:stretch>
            <a:fillRect/>
          </a:stretch>
        </p:blipFill>
        <p:spPr>
          <a:xfrm>
            <a:off x="3060700" y="731837"/>
            <a:ext cx="3895725" cy="1885950"/>
          </a:xfrm>
          <a:prstGeom prst="rect">
            <a:avLst/>
          </a:prstGeom>
        </p:spPr>
      </p:pic>
      <p:sp>
        <p:nvSpPr>
          <p:cNvPr id="9" name="CuadroTexto 8">
            <a:extLst>
              <a:ext uri="{FF2B5EF4-FFF2-40B4-BE49-F238E27FC236}">
                <a16:creationId xmlns:a16="http://schemas.microsoft.com/office/drawing/2014/main" id="{26A05387-AF12-D306-BB54-81E20775F7AC}"/>
              </a:ext>
            </a:extLst>
          </p:cNvPr>
          <p:cNvSpPr txBox="1"/>
          <p:nvPr/>
        </p:nvSpPr>
        <p:spPr>
          <a:xfrm>
            <a:off x="2006458" y="4796513"/>
            <a:ext cx="6680483" cy="2031325"/>
          </a:xfrm>
          <a:prstGeom prst="rect">
            <a:avLst/>
          </a:prstGeom>
          <a:noFill/>
        </p:spPr>
        <p:txBody>
          <a:bodyPr wrap="none" rtlCol="0">
            <a:spAutoFit/>
          </a:bodyPr>
          <a:lstStyle/>
          <a:p>
            <a:r>
              <a:rPr lang="es-AR" b="1" dirty="0"/>
              <a:t>4. Leer un pulsador en RA0 y prender LED en RB0</a:t>
            </a:r>
            <a:endParaRPr lang="es-AR" dirty="0"/>
          </a:p>
          <a:p>
            <a:pPr lvl="0"/>
            <a:r>
              <a:rPr lang="es-AR" dirty="0"/>
              <a:t>Objetivo: Si se presiona el botón, se enciende el LED</a:t>
            </a:r>
          </a:p>
          <a:p>
            <a:pPr lvl="0"/>
            <a:r>
              <a:rPr lang="es-AR" dirty="0"/>
              <a:t>Conceptos: TRISA, PORTA, lectura de pines</a:t>
            </a:r>
          </a:p>
          <a:p>
            <a:r>
              <a:rPr lang="es-AR" b="1" dirty="0"/>
              <a:t>5. </a:t>
            </a:r>
            <a:r>
              <a:rPr lang="es-AR" b="1" dirty="0" err="1"/>
              <a:t>Toggle</a:t>
            </a:r>
            <a:r>
              <a:rPr lang="es-AR" b="1" dirty="0"/>
              <a:t> LED con botón (</a:t>
            </a:r>
            <a:r>
              <a:rPr lang="es-AR" b="1" dirty="0" err="1"/>
              <a:t>flip-flop</a:t>
            </a:r>
            <a:r>
              <a:rPr lang="es-AR" b="1" dirty="0"/>
              <a:t>)</a:t>
            </a:r>
            <a:endParaRPr lang="es-AR" dirty="0"/>
          </a:p>
          <a:p>
            <a:pPr lvl="0"/>
            <a:r>
              <a:rPr lang="es-AR" dirty="0"/>
              <a:t>Objetivo: Cada vez que se presiona el botón, el LED cambia de estado</a:t>
            </a:r>
          </a:p>
          <a:p>
            <a:pPr lvl="0"/>
            <a:r>
              <a:rPr lang="es-AR" dirty="0"/>
              <a:t>Conceptos: detección de flanco, </a:t>
            </a:r>
            <a:r>
              <a:rPr lang="es-AR" dirty="0" err="1"/>
              <a:t>debounce</a:t>
            </a:r>
            <a:r>
              <a:rPr lang="es-AR" dirty="0"/>
              <a:t> básico</a:t>
            </a:r>
          </a:p>
          <a:p>
            <a:endParaRPr lang="es-AR" dirty="0"/>
          </a:p>
        </p:txBody>
      </p:sp>
    </p:spTree>
    <p:extLst>
      <p:ext uri="{BB962C8B-B14F-4D97-AF65-F5344CB8AC3E}">
        <p14:creationId xmlns:p14="http://schemas.microsoft.com/office/powerpoint/2010/main" val="280272856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CFB4A924-5BD4-64BF-3FC5-0BA8CD846855}"/>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Manejo de pulsadores</a:t>
            </a:r>
          </a:p>
        </p:txBody>
      </p:sp>
      <p:sp>
        <p:nvSpPr>
          <p:cNvPr id="6" name="Marcador de contenido 5">
            <a:extLst>
              <a:ext uri="{FF2B5EF4-FFF2-40B4-BE49-F238E27FC236}">
                <a16:creationId xmlns:a16="http://schemas.microsoft.com/office/drawing/2014/main" id="{DD1FDFEE-BCEC-1532-D130-638AA24BA107}"/>
              </a:ext>
            </a:extLst>
          </p:cNvPr>
          <p:cNvSpPr>
            <a:spLocks noGrp="1"/>
          </p:cNvSpPr>
          <p:nvPr>
            <p:ph sz="half" idx="1"/>
          </p:nvPr>
        </p:nvSpPr>
        <p:spPr>
          <a:xfrm>
            <a:off x="88900" y="1600199"/>
            <a:ext cx="5956300" cy="4922837"/>
          </a:xfrm>
        </p:spPr>
        <p:txBody>
          <a:bodyPr>
            <a:normAutofit fontScale="77500" lnSpcReduction="20000"/>
          </a:bodyPr>
          <a:lstStyle/>
          <a:p>
            <a:pPr marL="0" indent="0">
              <a:buNone/>
            </a:pPr>
            <a:r>
              <a:rPr lang="es-AR" dirty="0">
                <a:solidFill>
                  <a:srgbClr val="0070C0"/>
                </a:solidFill>
              </a:rPr>
              <a:t>#INCLUDE </a:t>
            </a:r>
            <a:r>
              <a:rPr lang="es-AR" dirty="0"/>
              <a:t>&lt;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t>	</a:t>
            </a:r>
            <a:r>
              <a:rPr lang="es-AR" dirty="0">
                <a:solidFill>
                  <a:srgbClr val="0070C0"/>
                </a:solidFill>
              </a:rPr>
              <a:t>__CONFIG </a:t>
            </a:r>
            <a:r>
              <a:rPr lang="es-AR" dirty="0"/>
              <a:t>3F10</a:t>
            </a:r>
          </a:p>
          <a:p>
            <a:pPr marL="0" indent="0">
              <a:buNone/>
            </a:pPr>
            <a:r>
              <a:rPr lang="es-AR" dirty="0"/>
              <a:t>   </a:t>
            </a:r>
          </a:p>
          <a:p>
            <a:pPr marL="0" indent="0">
              <a:buNone/>
            </a:pPr>
            <a:r>
              <a:rPr lang="es-AR" dirty="0"/>
              <a:t>	</a:t>
            </a:r>
            <a:r>
              <a:rPr lang="es-AR" dirty="0">
                <a:solidFill>
                  <a:srgbClr val="0070C0"/>
                </a:solidFill>
              </a:rPr>
              <a:t>ORG</a:t>
            </a:r>
            <a:r>
              <a:rPr lang="es-AR" dirty="0"/>
              <a:t> 0</a:t>
            </a:r>
          </a:p>
          <a:p>
            <a:pPr marL="0" indent="0">
              <a:buNone/>
            </a:pPr>
            <a:r>
              <a:rPr lang="es-AR" dirty="0"/>
              <a:t>	</a:t>
            </a:r>
            <a:r>
              <a:rPr lang="es-AR" dirty="0" err="1">
                <a:solidFill>
                  <a:srgbClr val="0070C0"/>
                </a:solidFill>
              </a:rPr>
              <a:t>bsf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bsf</a:t>
            </a:r>
            <a:r>
              <a:rPr lang="es-AR" dirty="0"/>
              <a:t> </a:t>
            </a:r>
            <a:r>
              <a:rPr lang="es-AR" dirty="0">
                <a:solidFill>
                  <a:srgbClr val="7030A0"/>
                </a:solidFill>
              </a:rPr>
              <a:t>TRISA</a:t>
            </a:r>
            <a:r>
              <a:rPr lang="es-AR" dirty="0"/>
              <a:t>,0</a:t>
            </a:r>
            <a:r>
              <a:rPr lang="es-AR" dirty="0">
                <a:solidFill>
                  <a:srgbClr val="7030A0"/>
                </a:solidFill>
              </a:rPr>
              <a:t>	</a:t>
            </a:r>
            <a:r>
              <a:rPr lang="es-AR" dirty="0">
                <a:solidFill>
                  <a:srgbClr val="00B050"/>
                </a:solidFill>
              </a:rPr>
              <a:t>;RA0 como entrada</a:t>
            </a:r>
          </a:p>
          <a:p>
            <a:pPr marL="0" indent="0">
              <a:buNone/>
            </a:pPr>
            <a:r>
              <a:rPr lang="es-AR" dirty="0"/>
              <a:t>	</a:t>
            </a:r>
            <a:r>
              <a:rPr lang="es-AR" dirty="0" err="1">
                <a:solidFill>
                  <a:srgbClr val="0070C0"/>
                </a:solidFill>
              </a:rPr>
              <a:t>bcf</a:t>
            </a:r>
            <a:r>
              <a:rPr lang="es-AR" dirty="0"/>
              <a:t> </a:t>
            </a:r>
            <a:r>
              <a:rPr lang="es-AR" dirty="0">
                <a:solidFill>
                  <a:srgbClr val="7030A0"/>
                </a:solidFill>
              </a:rPr>
              <a:t>TRISB</a:t>
            </a:r>
            <a:r>
              <a:rPr lang="es-AR" dirty="0"/>
              <a:t>,0 	</a:t>
            </a:r>
            <a:r>
              <a:rPr lang="es-AR" dirty="0">
                <a:solidFill>
                  <a:srgbClr val="00B050"/>
                </a:solidFill>
              </a:rPr>
              <a:t>;RB0 como salida</a:t>
            </a:r>
          </a:p>
          <a:p>
            <a:pPr marL="0" indent="0">
              <a:buNone/>
            </a:pPr>
            <a:r>
              <a:rPr lang="es-AR" dirty="0"/>
              <a:t>	</a:t>
            </a:r>
            <a:r>
              <a:rPr lang="es-AR" dirty="0" err="1">
                <a:solidFill>
                  <a:srgbClr val="0070C0"/>
                </a:solidFill>
              </a:rPr>
              <a:t>bcf</a:t>
            </a:r>
            <a:r>
              <a:rPr lang="es-AR" dirty="0"/>
              <a:t> </a:t>
            </a:r>
            <a:r>
              <a:rPr lang="es-AR" dirty="0">
                <a:solidFill>
                  <a:srgbClr val="7030A0"/>
                </a:solidFill>
              </a:rPr>
              <a:t>STATUS</a:t>
            </a:r>
            <a:r>
              <a:rPr lang="es-AR" dirty="0"/>
              <a:t>,</a:t>
            </a:r>
            <a:r>
              <a:rPr lang="es-AR" dirty="0">
                <a:solidFill>
                  <a:srgbClr val="7030A0"/>
                </a:solidFill>
              </a:rPr>
              <a:t>RP0</a:t>
            </a:r>
          </a:p>
          <a:p>
            <a:pPr marL="0" indent="0">
              <a:buNone/>
            </a:pPr>
            <a:endParaRPr lang="es-AR" dirty="0"/>
          </a:p>
          <a:p>
            <a:pPr marL="0" indent="0">
              <a:buNone/>
            </a:pPr>
            <a:r>
              <a:rPr lang="es-AR" dirty="0">
                <a:solidFill>
                  <a:srgbClr val="7030A0"/>
                </a:solidFill>
              </a:rPr>
              <a:t>INICIO</a:t>
            </a:r>
          </a:p>
          <a:p>
            <a:pPr marL="0" indent="0">
              <a:buNone/>
            </a:pPr>
            <a:r>
              <a:rPr lang="es-AR" dirty="0"/>
              <a:t>	</a:t>
            </a:r>
            <a:r>
              <a:rPr lang="es-AR" dirty="0" err="1">
                <a:solidFill>
                  <a:srgbClr val="0070C0"/>
                </a:solidFill>
                <a:highlight>
                  <a:srgbClr val="FFFF00"/>
                </a:highlight>
              </a:rPr>
              <a:t>btfss</a:t>
            </a:r>
            <a:r>
              <a:rPr lang="es-AR" dirty="0">
                <a:highlight>
                  <a:srgbClr val="FFFF00"/>
                </a:highlight>
              </a:rPr>
              <a:t> </a:t>
            </a:r>
            <a:r>
              <a:rPr lang="es-AR" dirty="0">
                <a:solidFill>
                  <a:srgbClr val="7030A0"/>
                </a:solidFill>
                <a:highlight>
                  <a:srgbClr val="FFFF00"/>
                </a:highlight>
              </a:rPr>
              <a:t>PORTA</a:t>
            </a:r>
            <a:r>
              <a:rPr lang="es-AR" dirty="0">
                <a:highlight>
                  <a:srgbClr val="FFFF00"/>
                </a:highlight>
              </a:rPr>
              <a:t>,0</a:t>
            </a:r>
            <a:r>
              <a:rPr lang="es-AR" dirty="0"/>
              <a:t>	   </a:t>
            </a:r>
            <a:r>
              <a:rPr lang="es-AR" dirty="0">
                <a:solidFill>
                  <a:srgbClr val="00B050"/>
                </a:solidFill>
              </a:rPr>
              <a:t>;¿RA0=1? sí → salta</a:t>
            </a:r>
            <a:r>
              <a:rPr lang="es-AR" dirty="0"/>
              <a:t>	</a:t>
            </a:r>
            <a:r>
              <a:rPr lang="es-AR" dirty="0" err="1">
                <a:solidFill>
                  <a:srgbClr val="0070C0"/>
                </a:solidFill>
                <a:highlight>
                  <a:srgbClr val="FFFF00"/>
                </a:highlight>
              </a:rPr>
              <a:t>goto</a:t>
            </a:r>
            <a:r>
              <a:rPr lang="es-AR" dirty="0">
                <a:highlight>
                  <a:srgbClr val="FFFF00"/>
                </a:highlight>
              </a:rPr>
              <a:t> </a:t>
            </a:r>
            <a:r>
              <a:rPr lang="es-AR" dirty="0">
                <a:solidFill>
                  <a:srgbClr val="7030A0"/>
                </a:solidFill>
                <a:highlight>
                  <a:srgbClr val="FFFF00"/>
                </a:highlight>
              </a:rPr>
              <a:t>APAGAR</a:t>
            </a:r>
            <a:r>
              <a:rPr lang="es-AR" dirty="0"/>
              <a:t>	   </a:t>
            </a:r>
            <a:r>
              <a:rPr lang="es-AR" dirty="0">
                <a:solidFill>
                  <a:srgbClr val="00B050"/>
                </a:solidFill>
              </a:rPr>
              <a:t>;si RA0=0 → ejecuta esto</a:t>
            </a:r>
          </a:p>
          <a:p>
            <a:pPr marL="0" indent="0">
              <a:buNone/>
            </a:pPr>
            <a:r>
              <a:rPr lang="es-AR" dirty="0"/>
              <a:t>	</a:t>
            </a:r>
            <a:r>
              <a:rPr lang="es-AR" dirty="0" err="1">
                <a:solidFill>
                  <a:srgbClr val="0070C0"/>
                </a:solidFill>
                <a:highlight>
                  <a:srgbClr val="FFFF00"/>
                </a:highlight>
              </a:rPr>
              <a:t>goto</a:t>
            </a:r>
            <a:r>
              <a:rPr lang="es-AR" dirty="0">
                <a:highlight>
                  <a:srgbClr val="FFFF00"/>
                </a:highlight>
              </a:rPr>
              <a:t> </a:t>
            </a:r>
            <a:r>
              <a:rPr lang="es-AR" dirty="0">
                <a:solidFill>
                  <a:srgbClr val="7030A0"/>
                </a:solidFill>
                <a:highlight>
                  <a:srgbClr val="FFFF00"/>
                </a:highlight>
              </a:rPr>
              <a:t>ENCENDER</a:t>
            </a:r>
            <a:r>
              <a:rPr lang="es-AR" dirty="0"/>
              <a:t>   </a:t>
            </a:r>
            <a:r>
              <a:rPr lang="es-AR" dirty="0">
                <a:solidFill>
                  <a:srgbClr val="00B050"/>
                </a:solidFill>
              </a:rPr>
              <a:t>;si RA0=1 → ejecuta esto</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endParaRPr lang="es-AR" dirty="0"/>
          </a:p>
        </p:txBody>
      </p:sp>
      <p:sp>
        <p:nvSpPr>
          <p:cNvPr id="7" name="Marcador de contenido 6">
            <a:extLst>
              <a:ext uri="{FF2B5EF4-FFF2-40B4-BE49-F238E27FC236}">
                <a16:creationId xmlns:a16="http://schemas.microsoft.com/office/drawing/2014/main" id="{7B2D4C7F-5137-A142-8D7F-49D1C8CD0EFE}"/>
              </a:ext>
            </a:extLst>
          </p:cNvPr>
          <p:cNvSpPr>
            <a:spLocks noGrp="1"/>
          </p:cNvSpPr>
          <p:nvPr>
            <p:ph sz="half" idx="2"/>
          </p:nvPr>
        </p:nvSpPr>
        <p:spPr>
          <a:xfrm>
            <a:off x="6045200" y="1600200"/>
            <a:ext cx="4648200" cy="4922837"/>
          </a:xfrm>
        </p:spPr>
        <p:txBody>
          <a:bodyPr>
            <a:normAutofit fontScale="77500" lnSpcReduction="20000"/>
          </a:bodyPr>
          <a:lstStyle/>
          <a:p>
            <a:pPr marL="0" indent="0">
              <a:buNone/>
            </a:pPr>
            <a:r>
              <a:rPr lang="es-AR" dirty="0">
                <a:solidFill>
                  <a:srgbClr val="7030A0"/>
                </a:solidFill>
              </a:rPr>
              <a:t>APAGAR</a:t>
            </a:r>
          </a:p>
          <a:p>
            <a:pPr marL="0" indent="0">
              <a:buNone/>
            </a:pPr>
            <a:r>
              <a:rPr lang="es-AR" dirty="0"/>
              <a:t>	</a:t>
            </a:r>
            <a:r>
              <a:rPr lang="es-AR" dirty="0" err="1">
                <a:solidFill>
                  <a:srgbClr val="0070C0"/>
                </a:solidFill>
              </a:rPr>
              <a:t>bcf</a:t>
            </a:r>
            <a:r>
              <a:rPr lang="es-AR" dirty="0"/>
              <a:t> </a:t>
            </a:r>
            <a:r>
              <a:rPr lang="es-AR" dirty="0">
                <a:solidFill>
                  <a:srgbClr val="7030A0"/>
                </a:solidFill>
              </a:rPr>
              <a:t>PORTB</a:t>
            </a:r>
            <a:r>
              <a:rPr lang="es-AR" dirty="0"/>
              <a:t>,0     </a:t>
            </a:r>
            <a:r>
              <a:rPr lang="es-AR" dirty="0">
                <a:solidFill>
                  <a:srgbClr val="00B050"/>
                </a:solidFill>
              </a:rPr>
              <a:t>;apago el led</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r>
              <a:rPr lang="es-AR" dirty="0"/>
              <a:t>   </a:t>
            </a:r>
          </a:p>
          <a:p>
            <a:pPr marL="0" indent="0">
              <a:buNone/>
            </a:pPr>
            <a:r>
              <a:rPr lang="es-AR" dirty="0">
                <a:solidFill>
                  <a:srgbClr val="7030A0"/>
                </a:solidFill>
              </a:rPr>
              <a:t>ENCENDER</a:t>
            </a:r>
          </a:p>
          <a:p>
            <a:pPr marL="0" indent="0">
              <a:buNone/>
            </a:pPr>
            <a:r>
              <a:rPr lang="es-AR" dirty="0"/>
              <a:t>	</a:t>
            </a:r>
            <a:r>
              <a:rPr lang="es-AR" dirty="0" err="1">
                <a:solidFill>
                  <a:srgbClr val="0070C0"/>
                </a:solidFill>
              </a:rPr>
              <a:t>bsf</a:t>
            </a:r>
            <a:r>
              <a:rPr lang="es-AR" dirty="0"/>
              <a:t> </a:t>
            </a:r>
            <a:r>
              <a:rPr lang="es-AR" dirty="0">
                <a:solidFill>
                  <a:srgbClr val="7030A0"/>
                </a:solidFill>
              </a:rPr>
              <a:t>PORTB</a:t>
            </a:r>
            <a:r>
              <a:rPr lang="es-AR" dirty="0"/>
              <a:t>,0     </a:t>
            </a:r>
            <a:r>
              <a:rPr lang="es-AR" dirty="0">
                <a:solidFill>
                  <a:srgbClr val="00B050"/>
                </a:solidFill>
              </a:rPr>
              <a:t>;enciendo el led</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r>
              <a:rPr lang="es-AR" dirty="0"/>
              <a:t>	</a:t>
            </a:r>
            <a:r>
              <a:rPr lang="es-AR" dirty="0">
                <a:solidFill>
                  <a:srgbClr val="0070C0"/>
                </a:solidFill>
              </a:rPr>
              <a:t>END</a:t>
            </a:r>
          </a:p>
          <a:p>
            <a:pPr marL="0" indent="0">
              <a:buNone/>
            </a:pPr>
            <a:endParaRPr lang="es-AR" dirty="0"/>
          </a:p>
        </p:txBody>
      </p:sp>
      <p:sp>
        <p:nvSpPr>
          <p:cNvPr id="8" name="CuadroTexto 7">
            <a:extLst>
              <a:ext uri="{FF2B5EF4-FFF2-40B4-BE49-F238E27FC236}">
                <a16:creationId xmlns:a16="http://schemas.microsoft.com/office/drawing/2014/main" id="{AA7A6DE8-F5AC-9BAF-8B94-F55C8A0F5C6A}"/>
              </a:ext>
            </a:extLst>
          </p:cNvPr>
          <p:cNvSpPr txBox="1"/>
          <p:nvPr/>
        </p:nvSpPr>
        <p:spPr>
          <a:xfrm>
            <a:off x="4075546" y="6699679"/>
            <a:ext cx="4648200" cy="461665"/>
          </a:xfrm>
          <a:prstGeom prst="rect">
            <a:avLst/>
          </a:prstGeom>
          <a:noFill/>
        </p:spPr>
        <p:txBody>
          <a:bodyPr wrap="square" rtlCol="0">
            <a:spAutoFit/>
          </a:bodyPr>
          <a:lstStyle/>
          <a:p>
            <a:r>
              <a:rPr lang="es-AR" sz="2400" dirty="0"/>
              <a:t>Botón conectado en </a:t>
            </a:r>
            <a:r>
              <a:rPr lang="es-AR" sz="2400" dirty="0" err="1"/>
              <a:t>pull-down</a:t>
            </a:r>
            <a:r>
              <a:rPr lang="es-AR" sz="2400" dirty="0"/>
              <a:t>:</a:t>
            </a:r>
          </a:p>
        </p:txBody>
      </p:sp>
      <p:pic>
        <p:nvPicPr>
          <p:cNvPr id="10" name="Imagen 9">
            <a:extLst>
              <a:ext uri="{FF2B5EF4-FFF2-40B4-BE49-F238E27FC236}">
                <a16:creationId xmlns:a16="http://schemas.microsoft.com/office/drawing/2014/main" id="{DDEF04EC-96C4-339D-0D80-4984228FD30C}"/>
              </a:ext>
            </a:extLst>
          </p:cNvPr>
          <p:cNvPicPr>
            <a:picLocks noChangeAspect="1"/>
          </p:cNvPicPr>
          <p:nvPr/>
        </p:nvPicPr>
        <p:blipFill>
          <a:blip r:embed="rId2"/>
          <a:stretch>
            <a:fillRect/>
          </a:stretch>
        </p:blipFill>
        <p:spPr>
          <a:xfrm>
            <a:off x="8859769" y="5491935"/>
            <a:ext cx="1524213" cy="1857634"/>
          </a:xfrm>
          <a:prstGeom prst="rect">
            <a:avLst/>
          </a:prstGeom>
        </p:spPr>
      </p:pic>
    </p:spTree>
    <p:extLst>
      <p:ext uri="{BB962C8B-B14F-4D97-AF65-F5344CB8AC3E}">
        <p14:creationId xmlns:p14="http://schemas.microsoft.com/office/powerpoint/2010/main" val="1401614085"/>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AFE4FECC-CCE1-A0F9-5E30-8453E66DC946}"/>
              </a:ext>
            </a:extLst>
          </p:cNvPr>
          <p:cNvPicPr>
            <a:picLocks noChangeAspect="1"/>
          </p:cNvPicPr>
          <p:nvPr/>
        </p:nvPicPr>
        <p:blipFill>
          <a:blip r:embed="rId2"/>
          <a:stretch>
            <a:fillRect/>
          </a:stretch>
        </p:blipFill>
        <p:spPr>
          <a:xfrm>
            <a:off x="1169404" y="102674"/>
            <a:ext cx="8354591" cy="7354326"/>
          </a:xfrm>
          <a:prstGeom prst="rect">
            <a:avLst/>
          </a:prstGeom>
        </p:spPr>
      </p:pic>
    </p:spTree>
    <p:extLst>
      <p:ext uri="{BB962C8B-B14F-4D97-AF65-F5344CB8AC3E}">
        <p14:creationId xmlns:p14="http://schemas.microsoft.com/office/powerpoint/2010/main" val="128337887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EE64E-A83B-BB35-1CC1-05082AD8B418}"/>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2A27E2BC-08FA-56E4-D68B-AB35BE64550F}"/>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Manejo de pulsadores</a:t>
            </a:r>
          </a:p>
        </p:txBody>
      </p:sp>
      <p:sp>
        <p:nvSpPr>
          <p:cNvPr id="6" name="Marcador de contenido 5">
            <a:extLst>
              <a:ext uri="{FF2B5EF4-FFF2-40B4-BE49-F238E27FC236}">
                <a16:creationId xmlns:a16="http://schemas.microsoft.com/office/drawing/2014/main" id="{8122443D-98AE-9F8D-AC37-9B5DA3FFA40A}"/>
              </a:ext>
            </a:extLst>
          </p:cNvPr>
          <p:cNvSpPr>
            <a:spLocks noGrp="1"/>
          </p:cNvSpPr>
          <p:nvPr>
            <p:ph sz="half" idx="1"/>
          </p:nvPr>
        </p:nvSpPr>
        <p:spPr>
          <a:xfrm>
            <a:off x="88900" y="1600199"/>
            <a:ext cx="5956300" cy="4922837"/>
          </a:xfrm>
        </p:spPr>
        <p:txBody>
          <a:bodyPr>
            <a:normAutofit fontScale="77500" lnSpcReduction="20000"/>
          </a:bodyPr>
          <a:lstStyle/>
          <a:p>
            <a:pPr marL="0" indent="0">
              <a:buNone/>
            </a:pPr>
            <a:r>
              <a:rPr lang="es-AR" dirty="0">
                <a:solidFill>
                  <a:srgbClr val="0070C0"/>
                </a:solidFill>
              </a:rPr>
              <a:t>#INCLUDE </a:t>
            </a:r>
            <a:r>
              <a:rPr lang="es-AR" dirty="0"/>
              <a:t>&lt;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t>	</a:t>
            </a:r>
            <a:r>
              <a:rPr lang="es-AR" dirty="0">
                <a:solidFill>
                  <a:srgbClr val="0070C0"/>
                </a:solidFill>
              </a:rPr>
              <a:t>__CONFIG </a:t>
            </a:r>
            <a:r>
              <a:rPr lang="es-AR" dirty="0"/>
              <a:t>3F10</a:t>
            </a:r>
          </a:p>
          <a:p>
            <a:pPr marL="0" indent="0">
              <a:buNone/>
            </a:pPr>
            <a:r>
              <a:rPr lang="es-AR" dirty="0"/>
              <a:t>   </a:t>
            </a:r>
          </a:p>
          <a:p>
            <a:pPr marL="0" indent="0">
              <a:buNone/>
            </a:pPr>
            <a:r>
              <a:rPr lang="es-AR" dirty="0"/>
              <a:t>	</a:t>
            </a:r>
            <a:r>
              <a:rPr lang="es-AR" dirty="0">
                <a:solidFill>
                  <a:srgbClr val="0070C0"/>
                </a:solidFill>
              </a:rPr>
              <a:t>ORG</a:t>
            </a:r>
            <a:r>
              <a:rPr lang="es-AR" dirty="0"/>
              <a:t> 0</a:t>
            </a:r>
          </a:p>
          <a:p>
            <a:pPr marL="0" indent="0">
              <a:buNone/>
            </a:pPr>
            <a:r>
              <a:rPr lang="es-AR" dirty="0"/>
              <a:t>	</a:t>
            </a:r>
            <a:r>
              <a:rPr lang="es-AR" dirty="0" err="1">
                <a:solidFill>
                  <a:srgbClr val="0070C0"/>
                </a:solidFill>
              </a:rPr>
              <a:t>bsf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bsf</a:t>
            </a:r>
            <a:r>
              <a:rPr lang="es-AR" dirty="0"/>
              <a:t> </a:t>
            </a:r>
            <a:r>
              <a:rPr lang="es-AR" dirty="0">
                <a:solidFill>
                  <a:srgbClr val="7030A0"/>
                </a:solidFill>
              </a:rPr>
              <a:t>TRISA</a:t>
            </a:r>
            <a:r>
              <a:rPr lang="es-AR" dirty="0"/>
              <a:t>,0</a:t>
            </a:r>
            <a:r>
              <a:rPr lang="es-AR" dirty="0">
                <a:solidFill>
                  <a:srgbClr val="7030A0"/>
                </a:solidFill>
              </a:rPr>
              <a:t>	</a:t>
            </a:r>
            <a:r>
              <a:rPr lang="es-AR" dirty="0">
                <a:solidFill>
                  <a:srgbClr val="00B050"/>
                </a:solidFill>
              </a:rPr>
              <a:t>;RA0 como entrada</a:t>
            </a:r>
          </a:p>
          <a:p>
            <a:pPr marL="0" indent="0">
              <a:buNone/>
            </a:pPr>
            <a:r>
              <a:rPr lang="es-AR" dirty="0"/>
              <a:t>	</a:t>
            </a:r>
            <a:r>
              <a:rPr lang="es-AR" dirty="0" err="1">
                <a:solidFill>
                  <a:srgbClr val="0070C0"/>
                </a:solidFill>
              </a:rPr>
              <a:t>bcf</a:t>
            </a:r>
            <a:r>
              <a:rPr lang="es-AR" dirty="0"/>
              <a:t> </a:t>
            </a:r>
            <a:r>
              <a:rPr lang="es-AR" dirty="0">
                <a:solidFill>
                  <a:srgbClr val="7030A0"/>
                </a:solidFill>
              </a:rPr>
              <a:t>TRISB</a:t>
            </a:r>
            <a:r>
              <a:rPr lang="es-AR" dirty="0"/>
              <a:t>,0 	</a:t>
            </a:r>
            <a:r>
              <a:rPr lang="es-AR" dirty="0">
                <a:solidFill>
                  <a:srgbClr val="00B050"/>
                </a:solidFill>
              </a:rPr>
              <a:t>;RB0 como salida</a:t>
            </a:r>
          </a:p>
          <a:p>
            <a:pPr marL="0" indent="0">
              <a:buNone/>
            </a:pPr>
            <a:r>
              <a:rPr lang="es-AR" dirty="0"/>
              <a:t>	</a:t>
            </a:r>
            <a:r>
              <a:rPr lang="es-AR" dirty="0" err="1">
                <a:solidFill>
                  <a:srgbClr val="0070C0"/>
                </a:solidFill>
              </a:rPr>
              <a:t>bcf</a:t>
            </a:r>
            <a:r>
              <a:rPr lang="es-AR" dirty="0"/>
              <a:t> </a:t>
            </a:r>
            <a:r>
              <a:rPr lang="es-AR" dirty="0">
                <a:solidFill>
                  <a:srgbClr val="7030A0"/>
                </a:solidFill>
              </a:rPr>
              <a:t>STATUS</a:t>
            </a:r>
            <a:r>
              <a:rPr lang="es-AR" dirty="0"/>
              <a:t>,</a:t>
            </a:r>
            <a:r>
              <a:rPr lang="es-AR" dirty="0">
                <a:solidFill>
                  <a:srgbClr val="7030A0"/>
                </a:solidFill>
              </a:rPr>
              <a:t>RP0</a:t>
            </a:r>
          </a:p>
          <a:p>
            <a:pPr marL="0" indent="0">
              <a:buNone/>
            </a:pPr>
            <a:endParaRPr lang="es-AR" dirty="0"/>
          </a:p>
          <a:p>
            <a:pPr marL="0" indent="0">
              <a:buNone/>
            </a:pPr>
            <a:r>
              <a:rPr lang="es-AR" dirty="0">
                <a:solidFill>
                  <a:srgbClr val="7030A0"/>
                </a:solidFill>
              </a:rPr>
              <a:t>INICIO</a:t>
            </a:r>
          </a:p>
          <a:p>
            <a:pPr marL="0" indent="0">
              <a:buNone/>
            </a:pPr>
            <a:r>
              <a:rPr lang="es-AR" dirty="0"/>
              <a:t>	</a:t>
            </a:r>
            <a:r>
              <a:rPr lang="es-AR" dirty="0" err="1">
                <a:solidFill>
                  <a:srgbClr val="0070C0"/>
                </a:solidFill>
                <a:highlight>
                  <a:srgbClr val="FFFF00"/>
                </a:highlight>
              </a:rPr>
              <a:t>btfsc</a:t>
            </a:r>
            <a:r>
              <a:rPr lang="es-AR" dirty="0">
                <a:highlight>
                  <a:srgbClr val="FFFF00"/>
                </a:highlight>
              </a:rPr>
              <a:t> </a:t>
            </a:r>
            <a:r>
              <a:rPr lang="es-AR" dirty="0">
                <a:solidFill>
                  <a:srgbClr val="7030A0"/>
                </a:solidFill>
                <a:highlight>
                  <a:srgbClr val="FFFF00"/>
                </a:highlight>
              </a:rPr>
              <a:t>PORTA</a:t>
            </a:r>
            <a:r>
              <a:rPr lang="es-AR" dirty="0">
                <a:highlight>
                  <a:srgbClr val="FFFF00"/>
                </a:highlight>
              </a:rPr>
              <a:t>,0</a:t>
            </a:r>
            <a:r>
              <a:rPr lang="es-AR" dirty="0"/>
              <a:t>	   </a:t>
            </a:r>
            <a:r>
              <a:rPr lang="es-AR" dirty="0">
                <a:solidFill>
                  <a:srgbClr val="00B050"/>
                </a:solidFill>
              </a:rPr>
              <a:t>;¿RA0=0? sí → salta</a:t>
            </a:r>
          </a:p>
          <a:p>
            <a:pPr marL="0" indent="0">
              <a:buNone/>
            </a:pPr>
            <a:r>
              <a:rPr lang="es-AR" dirty="0">
                <a:solidFill>
                  <a:srgbClr val="0070C0"/>
                </a:solidFill>
              </a:rPr>
              <a:t>	</a:t>
            </a:r>
            <a:r>
              <a:rPr lang="es-AR" dirty="0" err="1">
                <a:solidFill>
                  <a:srgbClr val="0070C0"/>
                </a:solidFill>
                <a:highlight>
                  <a:srgbClr val="FFFF00"/>
                </a:highlight>
              </a:rPr>
              <a:t>goto</a:t>
            </a:r>
            <a:r>
              <a:rPr lang="es-AR" dirty="0">
                <a:highlight>
                  <a:srgbClr val="FFFF00"/>
                </a:highlight>
              </a:rPr>
              <a:t> </a:t>
            </a:r>
            <a:r>
              <a:rPr lang="es-AR" dirty="0">
                <a:solidFill>
                  <a:srgbClr val="7030A0"/>
                </a:solidFill>
                <a:highlight>
                  <a:srgbClr val="FFFF00"/>
                </a:highlight>
              </a:rPr>
              <a:t>ENCENDER</a:t>
            </a:r>
            <a:r>
              <a:rPr lang="es-AR" dirty="0"/>
              <a:t>   </a:t>
            </a:r>
            <a:r>
              <a:rPr lang="es-AR" dirty="0">
                <a:solidFill>
                  <a:srgbClr val="00B050"/>
                </a:solidFill>
              </a:rPr>
              <a:t>;si RA0=1 → ejecuta esto</a:t>
            </a:r>
          </a:p>
          <a:p>
            <a:pPr marL="0" indent="0">
              <a:buNone/>
            </a:pPr>
            <a:r>
              <a:rPr lang="es-AR" dirty="0"/>
              <a:t>	</a:t>
            </a:r>
            <a:r>
              <a:rPr lang="es-AR" dirty="0" err="1">
                <a:solidFill>
                  <a:srgbClr val="0070C0"/>
                </a:solidFill>
                <a:highlight>
                  <a:srgbClr val="FFFF00"/>
                </a:highlight>
              </a:rPr>
              <a:t>goto</a:t>
            </a:r>
            <a:r>
              <a:rPr lang="es-AR" dirty="0">
                <a:highlight>
                  <a:srgbClr val="FFFF00"/>
                </a:highlight>
              </a:rPr>
              <a:t> </a:t>
            </a:r>
            <a:r>
              <a:rPr lang="es-AR" dirty="0">
                <a:solidFill>
                  <a:srgbClr val="7030A0"/>
                </a:solidFill>
                <a:highlight>
                  <a:srgbClr val="FFFF00"/>
                </a:highlight>
              </a:rPr>
              <a:t>APAGAR</a:t>
            </a:r>
            <a:r>
              <a:rPr lang="es-AR" dirty="0"/>
              <a:t>	   </a:t>
            </a:r>
            <a:r>
              <a:rPr lang="es-AR" dirty="0">
                <a:solidFill>
                  <a:srgbClr val="00B050"/>
                </a:solidFill>
              </a:rPr>
              <a:t>;si RA0=0 → ejecuta esto</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endParaRPr lang="es-AR" dirty="0"/>
          </a:p>
        </p:txBody>
      </p:sp>
      <p:sp>
        <p:nvSpPr>
          <p:cNvPr id="7" name="Marcador de contenido 6">
            <a:extLst>
              <a:ext uri="{FF2B5EF4-FFF2-40B4-BE49-F238E27FC236}">
                <a16:creationId xmlns:a16="http://schemas.microsoft.com/office/drawing/2014/main" id="{5AF02F4B-7FCD-7D2C-0521-6C18F559B65E}"/>
              </a:ext>
            </a:extLst>
          </p:cNvPr>
          <p:cNvSpPr>
            <a:spLocks noGrp="1"/>
          </p:cNvSpPr>
          <p:nvPr>
            <p:ph sz="half" idx="2"/>
          </p:nvPr>
        </p:nvSpPr>
        <p:spPr>
          <a:xfrm>
            <a:off x="6045200" y="1600200"/>
            <a:ext cx="4648200" cy="4922837"/>
          </a:xfrm>
        </p:spPr>
        <p:txBody>
          <a:bodyPr>
            <a:normAutofit fontScale="77500" lnSpcReduction="20000"/>
          </a:bodyPr>
          <a:lstStyle/>
          <a:p>
            <a:pPr marL="0" indent="0">
              <a:buNone/>
            </a:pPr>
            <a:r>
              <a:rPr lang="es-AR" dirty="0">
                <a:solidFill>
                  <a:srgbClr val="7030A0"/>
                </a:solidFill>
              </a:rPr>
              <a:t>APAGAR</a:t>
            </a:r>
          </a:p>
          <a:p>
            <a:pPr marL="0" indent="0">
              <a:buNone/>
            </a:pPr>
            <a:r>
              <a:rPr lang="es-AR" dirty="0"/>
              <a:t>	</a:t>
            </a:r>
            <a:r>
              <a:rPr lang="es-AR" dirty="0" err="1">
                <a:solidFill>
                  <a:srgbClr val="0070C0"/>
                </a:solidFill>
              </a:rPr>
              <a:t>bcf</a:t>
            </a:r>
            <a:r>
              <a:rPr lang="es-AR" dirty="0"/>
              <a:t> </a:t>
            </a:r>
            <a:r>
              <a:rPr lang="es-AR" dirty="0">
                <a:solidFill>
                  <a:srgbClr val="7030A0"/>
                </a:solidFill>
              </a:rPr>
              <a:t>PORTB</a:t>
            </a:r>
            <a:r>
              <a:rPr lang="es-AR" dirty="0"/>
              <a:t>,0     </a:t>
            </a:r>
            <a:r>
              <a:rPr lang="es-AR" dirty="0">
                <a:solidFill>
                  <a:srgbClr val="00B050"/>
                </a:solidFill>
              </a:rPr>
              <a:t>;apago el led</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r>
              <a:rPr lang="es-AR" dirty="0"/>
              <a:t>   </a:t>
            </a:r>
          </a:p>
          <a:p>
            <a:pPr marL="0" indent="0">
              <a:buNone/>
            </a:pPr>
            <a:r>
              <a:rPr lang="es-AR" dirty="0">
                <a:solidFill>
                  <a:srgbClr val="7030A0"/>
                </a:solidFill>
              </a:rPr>
              <a:t>ENCENDER</a:t>
            </a:r>
          </a:p>
          <a:p>
            <a:pPr marL="0" indent="0">
              <a:buNone/>
            </a:pPr>
            <a:r>
              <a:rPr lang="es-AR" dirty="0"/>
              <a:t>	</a:t>
            </a:r>
            <a:r>
              <a:rPr lang="es-AR" dirty="0" err="1">
                <a:solidFill>
                  <a:srgbClr val="0070C0"/>
                </a:solidFill>
              </a:rPr>
              <a:t>bsf</a:t>
            </a:r>
            <a:r>
              <a:rPr lang="es-AR" dirty="0"/>
              <a:t> </a:t>
            </a:r>
            <a:r>
              <a:rPr lang="es-AR" dirty="0">
                <a:solidFill>
                  <a:srgbClr val="7030A0"/>
                </a:solidFill>
              </a:rPr>
              <a:t>PORTB</a:t>
            </a:r>
            <a:r>
              <a:rPr lang="es-AR" dirty="0"/>
              <a:t>,0     </a:t>
            </a:r>
            <a:r>
              <a:rPr lang="es-AR" dirty="0">
                <a:solidFill>
                  <a:srgbClr val="00B050"/>
                </a:solidFill>
              </a:rPr>
              <a:t>;enciendo el led</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p>
          <a:p>
            <a:pPr marL="0" indent="0">
              <a:buNone/>
            </a:pPr>
            <a:r>
              <a:rPr lang="es-AR" dirty="0"/>
              <a:t>	</a:t>
            </a:r>
            <a:r>
              <a:rPr lang="es-AR" dirty="0">
                <a:solidFill>
                  <a:srgbClr val="0070C0"/>
                </a:solidFill>
              </a:rPr>
              <a:t>END</a:t>
            </a:r>
          </a:p>
          <a:p>
            <a:pPr marL="0" indent="0">
              <a:buNone/>
            </a:pPr>
            <a:endParaRPr lang="es-AR" dirty="0"/>
          </a:p>
        </p:txBody>
      </p:sp>
      <p:sp>
        <p:nvSpPr>
          <p:cNvPr id="8" name="CuadroTexto 7">
            <a:extLst>
              <a:ext uri="{FF2B5EF4-FFF2-40B4-BE49-F238E27FC236}">
                <a16:creationId xmlns:a16="http://schemas.microsoft.com/office/drawing/2014/main" id="{54761C66-93B3-A32E-6399-654A8064A55B}"/>
              </a:ext>
            </a:extLst>
          </p:cNvPr>
          <p:cNvSpPr txBox="1"/>
          <p:nvPr/>
        </p:nvSpPr>
        <p:spPr>
          <a:xfrm>
            <a:off x="4075546" y="6699679"/>
            <a:ext cx="4648200" cy="461665"/>
          </a:xfrm>
          <a:prstGeom prst="rect">
            <a:avLst/>
          </a:prstGeom>
          <a:noFill/>
        </p:spPr>
        <p:txBody>
          <a:bodyPr wrap="square" rtlCol="0">
            <a:spAutoFit/>
          </a:bodyPr>
          <a:lstStyle/>
          <a:p>
            <a:r>
              <a:rPr lang="es-AR" sz="2400" dirty="0"/>
              <a:t>Botón conectado en </a:t>
            </a:r>
            <a:r>
              <a:rPr lang="es-AR" sz="2400" dirty="0" err="1"/>
              <a:t>pull-down</a:t>
            </a:r>
            <a:r>
              <a:rPr lang="es-AR" sz="2400" dirty="0"/>
              <a:t>:</a:t>
            </a:r>
          </a:p>
        </p:txBody>
      </p:sp>
      <p:pic>
        <p:nvPicPr>
          <p:cNvPr id="10" name="Imagen 9">
            <a:extLst>
              <a:ext uri="{FF2B5EF4-FFF2-40B4-BE49-F238E27FC236}">
                <a16:creationId xmlns:a16="http://schemas.microsoft.com/office/drawing/2014/main" id="{979A0807-0410-BFD6-7163-0F57B9508A11}"/>
              </a:ext>
            </a:extLst>
          </p:cNvPr>
          <p:cNvPicPr>
            <a:picLocks noChangeAspect="1"/>
          </p:cNvPicPr>
          <p:nvPr/>
        </p:nvPicPr>
        <p:blipFill>
          <a:blip r:embed="rId2"/>
          <a:stretch>
            <a:fillRect/>
          </a:stretch>
        </p:blipFill>
        <p:spPr>
          <a:xfrm>
            <a:off x="8859769" y="5491935"/>
            <a:ext cx="1524213" cy="1857634"/>
          </a:xfrm>
          <a:prstGeom prst="rect">
            <a:avLst/>
          </a:prstGeom>
        </p:spPr>
      </p:pic>
      <p:sp>
        <p:nvSpPr>
          <p:cNvPr id="2" name="CuadroTexto 1">
            <a:extLst>
              <a:ext uri="{FF2B5EF4-FFF2-40B4-BE49-F238E27FC236}">
                <a16:creationId xmlns:a16="http://schemas.microsoft.com/office/drawing/2014/main" id="{AE62ACE9-8341-45E4-766D-4860E7AA8E10}"/>
              </a:ext>
            </a:extLst>
          </p:cNvPr>
          <p:cNvSpPr txBox="1"/>
          <p:nvPr/>
        </p:nvSpPr>
        <p:spPr>
          <a:xfrm>
            <a:off x="2513713" y="1112837"/>
            <a:ext cx="4280787" cy="369332"/>
          </a:xfrm>
          <a:prstGeom prst="rect">
            <a:avLst/>
          </a:prstGeom>
          <a:noFill/>
        </p:spPr>
        <p:txBody>
          <a:bodyPr wrap="none" rtlCol="0">
            <a:spAutoFit/>
          </a:bodyPr>
          <a:lstStyle/>
          <a:p>
            <a:r>
              <a:rPr lang="es-AR" dirty="0">
                <a:highlight>
                  <a:srgbClr val="FFFF00"/>
                </a:highlight>
              </a:rPr>
              <a:t>Podemos hacer lo mismo pero usando </a:t>
            </a:r>
            <a:r>
              <a:rPr lang="es-AR" dirty="0" err="1">
                <a:solidFill>
                  <a:srgbClr val="0070C0"/>
                </a:solidFill>
                <a:highlight>
                  <a:srgbClr val="FFFF00"/>
                </a:highlight>
              </a:rPr>
              <a:t>btfsc</a:t>
            </a:r>
            <a:endParaRPr lang="es-AR" dirty="0">
              <a:highlight>
                <a:srgbClr val="FFFF00"/>
              </a:highlight>
            </a:endParaRPr>
          </a:p>
        </p:txBody>
      </p:sp>
    </p:spTree>
    <p:extLst>
      <p:ext uri="{BB962C8B-B14F-4D97-AF65-F5344CB8AC3E}">
        <p14:creationId xmlns:p14="http://schemas.microsoft.com/office/powerpoint/2010/main" val="266707553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3E5F-7C88-69A8-1921-32FCA3F3226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AB1F0D7-8B55-E53F-0310-127C30B3D697}"/>
              </a:ext>
            </a:extLst>
          </p:cNvPr>
          <p:cNvPicPr>
            <a:picLocks noChangeAspect="1"/>
          </p:cNvPicPr>
          <p:nvPr/>
        </p:nvPicPr>
        <p:blipFill>
          <a:blip r:embed="rId2"/>
          <a:stretch>
            <a:fillRect/>
          </a:stretch>
        </p:blipFill>
        <p:spPr>
          <a:xfrm>
            <a:off x="907430" y="55042"/>
            <a:ext cx="8878539" cy="7449590"/>
          </a:xfrm>
          <a:prstGeom prst="rect">
            <a:avLst/>
          </a:prstGeom>
        </p:spPr>
      </p:pic>
    </p:spTree>
    <p:extLst>
      <p:ext uri="{BB962C8B-B14F-4D97-AF65-F5344CB8AC3E}">
        <p14:creationId xmlns:p14="http://schemas.microsoft.com/office/powerpoint/2010/main" val="10090127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5FD98394-91CF-675E-C59B-346F30E6219F}"/>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Manejo de pulsadores</a:t>
            </a:r>
            <a:endParaRPr lang="es-AR" dirty="0"/>
          </a:p>
        </p:txBody>
      </p:sp>
      <p:sp>
        <p:nvSpPr>
          <p:cNvPr id="6" name="Marcador de contenido 5">
            <a:extLst>
              <a:ext uri="{FF2B5EF4-FFF2-40B4-BE49-F238E27FC236}">
                <a16:creationId xmlns:a16="http://schemas.microsoft.com/office/drawing/2014/main" id="{0B72348E-9824-AB72-6C10-5D0539398038}"/>
              </a:ext>
            </a:extLst>
          </p:cNvPr>
          <p:cNvSpPr>
            <a:spLocks noGrp="1"/>
          </p:cNvSpPr>
          <p:nvPr>
            <p:ph idx="1"/>
          </p:nvPr>
        </p:nvSpPr>
        <p:spPr/>
        <p:txBody>
          <a:bodyPr/>
          <a:lstStyle/>
          <a:p>
            <a:pPr marL="0" indent="0">
              <a:buNone/>
            </a:pPr>
            <a:r>
              <a:rPr lang="es-MX" dirty="0"/>
              <a:t>¿Y si en lugar de encenderse solo mientras se aprieta, queremos que el LED cambie de estado cada vez que presionamos el botón y se mantenga así hasta la próxima pulsación?</a:t>
            </a:r>
            <a:endParaRPr lang="es-AR" dirty="0"/>
          </a:p>
        </p:txBody>
      </p:sp>
      <p:pic>
        <p:nvPicPr>
          <p:cNvPr id="8" name="Imagen 7">
            <a:extLst>
              <a:ext uri="{FF2B5EF4-FFF2-40B4-BE49-F238E27FC236}">
                <a16:creationId xmlns:a16="http://schemas.microsoft.com/office/drawing/2014/main" id="{6526C073-5031-5B3F-64C9-0D6D8E2B8BA5}"/>
              </a:ext>
            </a:extLst>
          </p:cNvPr>
          <p:cNvPicPr>
            <a:picLocks noChangeAspect="1"/>
          </p:cNvPicPr>
          <p:nvPr/>
        </p:nvPicPr>
        <p:blipFill>
          <a:blip r:embed="rId2"/>
          <a:stretch>
            <a:fillRect/>
          </a:stretch>
        </p:blipFill>
        <p:spPr>
          <a:xfrm>
            <a:off x="1917700" y="3863181"/>
            <a:ext cx="6458532" cy="3347230"/>
          </a:xfrm>
          <a:prstGeom prst="rect">
            <a:avLst/>
          </a:prstGeom>
        </p:spPr>
      </p:pic>
    </p:spTree>
    <p:extLst>
      <p:ext uri="{BB962C8B-B14F-4D97-AF65-F5344CB8AC3E}">
        <p14:creationId xmlns:p14="http://schemas.microsoft.com/office/powerpoint/2010/main" val="115340138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67C9E-C918-C3F6-DC46-24193C4FC0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23AE86-10D1-2D88-95C0-7AD8D1365D36}"/>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Manejo de pulsadores</a:t>
            </a:r>
            <a:endParaRPr lang="es-AR" dirty="0"/>
          </a:p>
        </p:txBody>
      </p:sp>
      <p:sp>
        <p:nvSpPr>
          <p:cNvPr id="8" name="Marcador de contenido 2">
            <a:extLst>
              <a:ext uri="{FF2B5EF4-FFF2-40B4-BE49-F238E27FC236}">
                <a16:creationId xmlns:a16="http://schemas.microsoft.com/office/drawing/2014/main" id="{631E1899-A4B4-262E-5AD5-E144B1019AB6}"/>
              </a:ext>
            </a:extLst>
          </p:cNvPr>
          <p:cNvSpPr>
            <a:spLocks noGrp="1"/>
          </p:cNvSpPr>
          <p:nvPr>
            <p:ph idx="1"/>
          </p:nvPr>
        </p:nvSpPr>
        <p:spPr>
          <a:xfrm>
            <a:off x="667387" y="2100639"/>
            <a:ext cx="6102479" cy="2710371"/>
          </a:xfrm>
        </p:spPr>
        <p:txBody>
          <a:bodyPr rtlCol="0">
            <a:normAutofit lnSpcReduction="10000"/>
          </a:bodyPr>
          <a:lstStyle/>
          <a:p>
            <a:pPr marL="300758" indent="-300758" algn="just">
              <a:buClr>
                <a:srgbClr val="D24726"/>
              </a:buClr>
              <a:buSzPct val="150000"/>
              <a:defRPr/>
            </a:pPr>
            <a:r>
              <a:rPr lang="es-AR" sz="2105" dirty="0"/>
              <a:t>Por las propiedades mecánicas de los pulsadores pueden ocurrir rebotes los cuales pueden confundir al microcontrolador, el cual interpretará que se pulsó muchas veces el botón cuando sólo ocurrió una vez.</a:t>
            </a:r>
          </a:p>
          <a:p>
            <a:pPr marL="300758" indent="-300758" algn="just">
              <a:buClr>
                <a:srgbClr val="D24726"/>
              </a:buClr>
              <a:buSzPct val="150000"/>
              <a:defRPr/>
            </a:pPr>
            <a:r>
              <a:rPr lang="es-AR" sz="2105" dirty="0"/>
              <a:t>En este caso se deben usar demoras “Anti-rebote” que garanticen que efectivamente una persona tocó el botón y no se esta procesando un rebote.</a:t>
            </a:r>
          </a:p>
        </p:txBody>
      </p:sp>
      <p:sp>
        <p:nvSpPr>
          <p:cNvPr id="10" name="Marcador de contenido 4">
            <a:extLst>
              <a:ext uri="{FF2B5EF4-FFF2-40B4-BE49-F238E27FC236}">
                <a16:creationId xmlns:a16="http://schemas.microsoft.com/office/drawing/2014/main" id="{F8ED720D-CB91-1AC1-B375-5A0A44A63EBA}"/>
              </a:ext>
            </a:extLst>
          </p:cNvPr>
          <p:cNvSpPr txBox="1">
            <a:spLocks/>
          </p:cNvSpPr>
          <p:nvPr/>
        </p:nvSpPr>
        <p:spPr bwMode="auto">
          <a:xfrm>
            <a:off x="6871730" y="2001210"/>
            <a:ext cx="3821670" cy="359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s-AR" sz="3200" dirty="0">
                <a:solidFill>
                  <a:srgbClr val="9E458A"/>
                </a:solidFill>
              </a:rPr>
              <a:t>ESPERA</a:t>
            </a:r>
          </a:p>
          <a:p>
            <a:pPr>
              <a:lnSpc>
                <a:spcPct val="100000"/>
              </a:lnSpc>
            </a:pPr>
            <a:r>
              <a:rPr lang="es-AR" sz="3200" dirty="0">
                <a:solidFill>
                  <a:srgbClr val="9E458A"/>
                </a:solidFill>
              </a:rPr>
              <a:t>	</a:t>
            </a:r>
            <a:r>
              <a:rPr lang="es-AR" sz="3200" dirty="0" err="1">
                <a:solidFill>
                  <a:srgbClr val="0070C0"/>
                </a:solidFill>
              </a:rPr>
              <a:t>btfss</a:t>
            </a:r>
            <a:r>
              <a:rPr lang="es-AR" sz="3200" dirty="0">
                <a:solidFill>
                  <a:srgbClr val="9E458A"/>
                </a:solidFill>
              </a:rPr>
              <a:t> PORTA</a:t>
            </a:r>
            <a:r>
              <a:rPr lang="es-AR" sz="3200" dirty="0">
                <a:solidFill>
                  <a:schemeClr val="tx1"/>
                </a:solidFill>
              </a:rPr>
              <a:t>,0</a:t>
            </a:r>
            <a:r>
              <a:rPr lang="es-AR" sz="3200" dirty="0">
                <a:solidFill>
                  <a:srgbClr val="9E458A"/>
                </a:solidFill>
              </a:rPr>
              <a:t>		</a:t>
            </a:r>
            <a:r>
              <a:rPr lang="es-AR" sz="3200" dirty="0" err="1">
                <a:solidFill>
                  <a:srgbClr val="0070C0"/>
                </a:solidFill>
              </a:rPr>
              <a:t>goto</a:t>
            </a:r>
            <a:r>
              <a:rPr lang="es-AR" sz="3200" dirty="0">
                <a:solidFill>
                  <a:srgbClr val="9E458A"/>
                </a:solidFill>
              </a:rPr>
              <a:t> ESPERA</a:t>
            </a:r>
          </a:p>
          <a:p>
            <a:pPr>
              <a:lnSpc>
                <a:spcPct val="100000"/>
              </a:lnSpc>
            </a:pPr>
            <a:r>
              <a:rPr lang="es-AR" sz="3200" dirty="0">
                <a:solidFill>
                  <a:srgbClr val="9E458A"/>
                </a:solidFill>
              </a:rPr>
              <a:t>	</a:t>
            </a:r>
            <a:r>
              <a:rPr lang="es-AR" sz="3200" dirty="0" err="1">
                <a:solidFill>
                  <a:srgbClr val="0070C0"/>
                </a:solidFill>
              </a:rPr>
              <a:t>goto</a:t>
            </a:r>
            <a:r>
              <a:rPr lang="es-AR" sz="3200" dirty="0">
                <a:solidFill>
                  <a:srgbClr val="9E458A"/>
                </a:solidFill>
              </a:rPr>
              <a:t> INICIO</a:t>
            </a:r>
            <a:r>
              <a:rPr lang="es-AR" sz="1754" dirty="0">
                <a:latin typeface="Consolas" panose="020B0609020204030204" pitchFamily="49" charset="0"/>
              </a:rPr>
              <a:t>	</a:t>
            </a:r>
          </a:p>
        </p:txBody>
      </p:sp>
      <p:grpSp>
        <p:nvGrpSpPr>
          <p:cNvPr id="25" name="Grupo 24">
            <a:extLst>
              <a:ext uri="{FF2B5EF4-FFF2-40B4-BE49-F238E27FC236}">
                <a16:creationId xmlns:a16="http://schemas.microsoft.com/office/drawing/2014/main" id="{16071EE2-04F1-6104-337B-939704E9E371}"/>
              </a:ext>
            </a:extLst>
          </p:cNvPr>
          <p:cNvGrpSpPr/>
          <p:nvPr/>
        </p:nvGrpSpPr>
        <p:grpSpPr>
          <a:xfrm>
            <a:off x="1058018" y="4811011"/>
            <a:ext cx="3552098" cy="1757334"/>
            <a:chOff x="2214815" y="4604685"/>
            <a:chExt cx="4049898" cy="2003611"/>
          </a:xfrm>
        </p:grpSpPr>
        <p:pic>
          <p:nvPicPr>
            <p:cNvPr id="11" name="Picture 2" descr="Image result for switch bounce">
              <a:extLst>
                <a:ext uri="{FF2B5EF4-FFF2-40B4-BE49-F238E27FC236}">
                  <a16:creationId xmlns:a16="http://schemas.microsoft.com/office/drawing/2014/main" id="{D20D9CA7-A9BD-87BF-7D08-A20558B4799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765" b="20814"/>
            <a:stretch/>
          </p:blipFill>
          <p:spPr bwMode="auto">
            <a:xfrm>
              <a:off x="2214815" y="4604685"/>
              <a:ext cx="4049898" cy="200361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6">
              <a:extLst>
                <a:ext uri="{FF2B5EF4-FFF2-40B4-BE49-F238E27FC236}">
                  <a16:creationId xmlns:a16="http://schemas.microsoft.com/office/drawing/2014/main" id="{997D63B2-3B57-B368-C218-E837AD6BA77D}"/>
                </a:ext>
              </a:extLst>
            </p:cNvPr>
            <p:cNvCxnSpPr/>
            <p:nvPr/>
          </p:nvCxnSpPr>
          <p:spPr>
            <a:xfrm>
              <a:off x="2514600" y="6306671"/>
              <a:ext cx="13716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3E21CC99-C5A3-F06E-02FC-99A9A52A8D63}"/>
                </a:ext>
              </a:extLst>
            </p:cNvPr>
            <p:cNvCxnSpPr/>
            <p:nvPr/>
          </p:nvCxnSpPr>
          <p:spPr>
            <a:xfrm>
              <a:off x="3886200" y="5181601"/>
              <a:ext cx="203050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EB3D0E05-A159-3035-1215-17B05DBB0270}"/>
                </a:ext>
              </a:extLst>
            </p:cNvPr>
            <p:cNvCxnSpPr/>
            <p:nvPr/>
          </p:nvCxnSpPr>
          <p:spPr>
            <a:xfrm>
              <a:off x="3886200" y="5181601"/>
              <a:ext cx="0" cy="112506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C40AB1E2-F9DB-B2A5-5CE4-493535DF56F0}"/>
              </a:ext>
            </a:extLst>
          </p:cNvPr>
          <p:cNvSpPr txBox="1"/>
          <p:nvPr/>
        </p:nvSpPr>
        <p:spPr>
          <a:xfrm>
            <a:off x="4315261" y="4827882"/>
            <a:ext cx="2251239" cy="1307409"/>
          </a:xfrm>
          <a:prstGeom prst="rect">
            <a:avLst/>
          </a:prstGeom>
          <a:noFill/>
        </p:spPr>
        <p:txBody>
          <a:bodyPr wrap="square" rtlCol="0">
            <a:spAutoFit/>
          </a:bodyPr>
          <a:lstStyle/>
          <a:p>
            <a:r>
              <a:rPr lang="es-AR" sz="1579" dirty="0"/>
              <a:t>Gráfico de lo que ocurre al presionar un botón. En rojo se ve lo esperado vs. lo que ocurre físicamente</a:t>
            </a:r>
          </a:p>
        </p:txBody>
      </p:sp>
    </p:spTree>
    <p:extLst>
      <p:ext uri="{BB962C8B-B14F-4D97-AF65-F5344CB8AC3E}">
        <p14:creationId xmlns:p14="http://schemas.microsoft.com/office/powerpoint/2010/main" val="49797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938D14C-7583-F77E-9659-F231087E9EBE}"/>
              </a:ext>
            </a:extLst>
          </p:cNvPr>
          <p:cNvPicPr>
            <a:picLocks noChangeAspect="1"/>
          </p:cNvPicPr>
          <p:nvPr/>
        </p:nvPicPr>
        <p:blipFill>
          <a:blip r:embed="rId2"/>
          <a:stretch>
            <a:fillRect/>
          </a:stretch>
        </p:blipFill>
        <p:spPr>
          <a:xfrm>
            <a:off x="888378" y="164595"/>
            <a:ext cx="8916644" cy="7230484"/>
          </a:xfrm>
          <a:prstGeom prst="rect">
            <a:avLst/>
          </a:prstGeom>
        </p:spPr>
      </p:pic>
    </p:spTree>
    <p:extLst>
      <p:ext uri="{BB962C8B-B14F-4D97-AF65-F5344CB8AC3E}">
        <p14:creationId xmlns:p14="http://schemas.microsoft.com/office/powerpoint/2010/main" val="1009980767"/>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97F12C-2BF9-FFB0-DBB2-6F582F5475EF}"/>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Manejo de pulsadores</a:t>
            </a:r>
            <a:endParaRPr lang="es-AR" dirty="0"/>
          </a:p>
        </p:txBody>
      </p:sp>
      <p:sp>
        <p:nvSpPr>
          <p:cNvPr id="3" name="Marcador de contenido 2">
            <a:extLst>
              <a:ext uri="{FF2B5EF4-FFF2-40B4-BE49-F238E27FC236}">
                <a16:creationId xmlns:a16="http://schemas.microsoft.com/office/drawing/2014/main" id="{4FDAC51D-3330-7C01-BAD9-B41EE428BBAA}"/>
              </a:ext>
            </a:extLst>
          </p:cNvPr>
          <p:cNvSpPr>
            <a:spLocks noGrp="1"/>
          </p:cNvSpPr>
          <p:nvPr>
            <p:ph idx="1"/>
          </p:nvPr>
        </p:nvSpPr>
        <p:spPr>
          <a:xfrm>
            <a:off x="241300" y="1417638"/>
            <a:ext cx="10363200" cy="6142037"/>
          </a:xfrm>
        </p:spPr>
        <p:txBody>
          <a:bodyPr>
            <a:normAutofit fontScale="47500" lnSpcReduction="20000"/>
          </a:bodyPr>
          <a:lstStyle/>
          <a:p>
            <a:pPr marL="0" indent="0">
              <a:buNone/>
            </a:pPr>
            <a:r>
              <a:rPr lang="es-AR" dirty="0">
                <a:solidFill>
                  <a:srgbClr val="0070C0"/>
                </a:solidFill>
              </a:rPr>
              <a:t>#INCLUDE </a:t>
            </a:r>
            <a:r>
              <a:rPr lang="es-AR" dirty="0"/>
              <a:t>&lt;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t>	</a:t>
            </a:r>
            <a:r>
              <a:rPr lang="es-AR" dirty="0">
                <a:solidFill>
                  <a:srgbClr val="0070C0"/>
                </a:solidFill>
              </a:rPr>
              <a:t>__CONFIG </a:t>
            </a:r>
            <a:r>
              <a:rPr lang="es-AR" dirty="0"/>
              <a:t>3F10</a:t>
            </a:r>
          </a:p>
          <a:p>
            <a:pPr marL="0" indent="0">
              <a:buNone/>
            </a:pPr>
            <a:r>
              <a:rPr lang="es-AR" dirty="0"/>
              <a:t>   </a:t>
            </a:r>
          </a:p>
          <a:p>
            <a:pPr marL="0" indent="0">
              <a:buNone/>
            </a:pPr>
            <a:r>
              <a:rPr lang="es-AR" dirty="0">
                <a:solidFill>
                  <a:srgbClr val="7030A0"/>
                </a:solidFill>
              </a:rPr>
              <a:t>ESTADO</a:t>
            </a:r>
            <a:r>
              <a:rPr lang="es-AR" dirty="0"/>
              <a:t>	</a:t>
            </a:r>
            <a:r>
              <a:rPr lang="es-AR" dirty="0">
                <a:solidFill>
                  <a:srgbClr val="0070C0"/>
                </a:solidFill>
              </a:rPr>
              <a:t>EQU 0X20</a:t>
            </a:r>
          </a:p>
          <a:p>
            <a:pPr marL="0" indent="0">
              <a:buNone/>
            </a:pPr>
            <a:endParaRPr lang="es-AR" dirty="0"/>
          </a:p>
          <a:p>
            <a:pPr marL="0" indent="0">
              <a:buNone/>
            </a:pPr>
            <a:r>
              <a:rPr lang="es-AR" dirty="0"/>
              <a:t>	</a:t>
            </a:r>
            <a:r>
              <a:rPr lang="es-AR" dirty="0">
                <a:solidFill>
                  <a:srgbClr val="0070C0"/>
                </a:solidFill>
              </a:rPr>
              <a:t>ORG</a:t>
            </a:r>
            <a:r>
              <a:rPr lang="es-AR" dirty="0"/>
              <a:t> 0</a:t>
            </a:r>
          </a:p>
          <a:p>
            <a:pPr marL="0" indent="0">
              <a:buNone/>
            </a:pPr>
            <a:r>
              <a:rPr lang="es-AR" dirty="0"/>
              <a:t>	</a:t>
            </a:r>
            <a:r>
              <a:rPr lang="es-AR" dirty="0" err="1">
                <a:solidFill>
                  <a:srgbClr val="0070C0"/>
                </a:solidFill>
              </a:rPr>
              <a:t>bsf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bsf</a:t>
            </a:r>
            <a:r>
              <a:rPr lang="es-AR" dirty="0"/>
              <a:t> </a:t>
            </a:r>
            <a:r>
              <a:rPr lang="es-AR" dirty="0">
                <a:solidFill>
                  <a:srgbClr val="7030A0"/>
                </a:solidFill>
              </a:rPr>
              <a:t>TRISA</a:t>
            </a:r>
            <a:r>
              <a:rPr lang="es-AR" dirty="0"/>
              <a:t>,0		</a:t>
            </a:r>
            <a:r>
              <a:rPr lang="es-AR" dirty="0">
                <a:solidFill>
                  <a:srgbClr val="00B050"/>
                </a:solidFill>
              </a:rPr>
              <a:t>;RA0 como entrada</a:t>
            </a:r>
          </a:p>
          <a:p>
            <a:pPr marL="0" indent="0">
              <a:buNone/>
            </a:pPr>
            <a:r>
              <a:rPr lang="es-AR" dirty="0"/>
              <a:t>	</a:t>
            </a:r>
            <a:r>
              <a:rPr lang="es-AR" dirty="0" err="1">
                <a:solidFill>
                  <a:srgbClr val="0070C0"/>
                </a:solidFill>
              </a:rPr>
              <a:t>bcf</a:t>
            </a:r>
            <a:r>
              <a:rPr lang="es-AR" dirty="0"/>
              <a:t> </a:t>
            </a:r>
            <a:r>
              <a:rPr lang="es-AR" dirty="0">
                <a:solidFill>
                  <a:srgbClr val="7030A0"/>
                </a:solidFill>
              </a:rPr>
              <a:t>TRISB</a:t>
            </a:r>
            <a:r>
              <a:rPr lang="es-AR" dirty="0"/>
              <a:t>,0 		</a:t>
            </a:r>
            <a:r>
              <a:rPr lang="es-AR" dirty="0">
                <a:solidFill>
                  <a:srgbClr val="00B050"/>
                </a:solidFill>
              </a:rPr>
              <a:t>;RB0 como salida</a:t>
            </a:r>
          </a:p>
          <a:p>
            <a:pPr marL="0" indent="0">
              <a:buNone/>
            </a:pPr>
            <a:r>
              <a:rPr lang="es-AR" dirty="0"/>
              <a:t>	</a:t>
            </a:r>
            <a:r>
              <a:rPr lang="es-AR" dirty="0" err="1">
                <a:solidFill>
                  <a:srgbClr val="0070C0"/>
                </a:solidFill>
              </a:rPr>
              <a:t>bcf</a:t>
            </a:r>
            <a:r>
              <a:rPr lang="es-AR" dirty="0"/>
              <a:t> </a:t>
            </a:r>
            <a:r>
              <a:rPr lang="es-AR" dirty="0">
                <a:solidFill>
                  <a:srgbClr val="7030A0"/>
                </a:solidFill>
              </a:rPr>
              <a:t>STATUS</a:t>
            </a:r>
            <a:r>
              <a:rPr lang="es-AR" dirty="0"/>
              <a:t>,</a:t>
            </a:r>
            <a:r>
              <a:rPr lang="es-AR" dirty="0">
                <a:solidFill>
                  <a:srgbClr val="7030A0"/>
                </a:solidFill>
              </a:rPr>
              <a:t>RP0</a:t>
            </a:r>
          </a:p>
          <a:p>
            <a:pPr marL="0" indent="0">
              <a:buNone/>
            </a:pPr>
            <a:r>
              <a:rPr lang="es-AR" dirty="0"/>
              <a:t>	</a:t>
            </a:r>
            <a:r>
              <a:rPr lang="es-AR" dirty="0" err="1">
                <a:solidFill>
                  <a:srgbClr val="0070C0"/>
                </a:solidFill>
              </a:rPr>
              <a:t>clrf</a:t>
            </a:r>
            <a:r>
              <a:rPr lang="es-AR" dirty="0"/>
              <a:t> </a:t>
            </a:r>
            <a:r>
              <a:rPr lang="es-AR" dirty="0">
                <a:solidFill>
                  <a:srgbClr val="7030A0"/>
                </a:solidFill>
              </a:rPr>
              <a:t>ESTADO</a:t>
            </a:r>
            <a:r>
              <a:rPr lang="es-AR" dirty="0"/>
              <a:t>		</a:t>
            </a:r>
            <a:r>
              <a:rPr lang="es-AR" dirty="0">
                <a:solidFill>
                  <a:srgbClr val="00B050"/>
                </a:solidFill>
              </a:rPr>
              <a:t>;inicializar variable en 0</a:t>
            </a:r>
          </a:p>
          <a:p>
            <a:pPr marL="0" indent="0">
              <a:buNone/>
            </a:pPr>
            <a:r>
              <a:rPr lang="es-AR" dirty="0">
                <a:solidFill>
                  <a:srgbClr val="7030A0"/>
                </a:solidFill>
              </a:rPr>
              <a:t>INICIO</a:t>
            </a:r>
          </a:p>
          <a:p>
            <a:pPr marL="0" indent="0">
              <a:buNone/>
            </a:pPr>
            <a:r>
              <a:rPr lang="es-AR" dirty="0"/>
              <a:t>	</a:t>
            </a:r>
            <a:r>
              <a:rPr lang="es-AR" dirty="0" err="1">
                <a:solidFill>
                  <a:srgbClr val="0070C0"/>
                </a:solidFill>
              </a:rPr>
              <a:t>btfss</a:t>
            </a:r>
            <a:r>
              <a:rPr lang="es-AR" dirty="0"/>
              <a:t> </a:t>
            </a:r>
            <a:r>
              <a:rPr lang="es-AR" dirty="0">
                <a:solidFill>
                  <a:srgbClr val="7030A0"/>
                </a:solidFill>
              </a:rPr>
              <a:t>PORTA</a:t>
            </a:r>
            <a:r>
              <a:rPr lang="es-AR" dirty="0"/>
              <a:t>,0		</a:t>
            </a:r>
            <a:r>
              <a:rPr lang="es-AR" dirty="0">
                <a:solidFill>
                  <a:srgbClr val="00B050"/>
                </a:solidFill>
              </a:rPr>
              <a:t>;si RA0=1, salta</a:t>
            </a:r>
          </a:p>
          <a:p>
            <a:pPr marL="0" indent="0">
              <a:buNone/>
            </a:pPr>
            <a:r>
              <a:rPr lang="es-AR" dirty="0"/>
              <a:t>	</a:t>
            </a:r>
            <a:r>
              <a:rPr lang="es-AR" dirty="0" err="1">
                <a:solidFill>
                  <a:srgbClr val="0070C0"/>
                </a:solidFill>
              </a:rPr>
              <a:t>goto</a:t>
            </a:r>
            <a:r>
              <a:rPr lang="es-AR" dirty="0"/>
              <a:t> </a:t>
            </a:r>
            <a:r>
              <a:rPr lang="es-AR" dirty="0">
                <a:solidFill>
                  <a:srgbClr val="7030A0"/>
                </a:solidFill>
              </a:rPr>
              <a:t>BOTON_PRESIONADO</a:t>
            </a:r>
            <a:r>
              <a:rPr lang="es-AR" dirty="0"/>
              <a:t>	</a:t>
            </a:r>
            <a:r>
              <a:rPr lang="es-AR" dirty="0">
                <a:solidFill>
                  <a:srgbClr val="00B050"/>
                </a:solidFill>
              </a:rPr>
              <a:t>;si RA0=0 -&gt; ejecuta esto</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r>
              <a:rPr lang="es-AR" dirty="0"/>
              <a:t>			</a:t>
            </a:r>
            <a:r>
              <a:rPr lang="es-AR" dirty="0">
                <a:solidFill>
                  <a:srgbClr val="00B050"/>
                </a:solidFill>
              </a:rPr>
              <a:t>;si RA0=1 -&gt; ejecuta esto</a:t>
            </a:r>
          </a:p>
          <a:p>
            <a:pPr marL="0" indent="0">
              <a:buNone/>
            </a:pPr>
            <a:r>
              <a:rPr lang="es-AR" dirty="0">
                <a:solidFill>
                  <a:srgbClr val="7030A0"/>
                </a:solidFill>
              </a:rPr>
              <a:t>BOTON_PRESIONADO</a:t>
            </a:r>
          </a:p>
          <a:p>
            <a:pPr marL="0" indent="0">
              <a:buNone/>
            </a:pPr>
            <a:r>
              <a:rPr lang="es-AR" dirty="0"/>
              <a:t>	</a:t>
            </a:r>
            <a:r>
              <a:rPr lang="es-AR" dirty="0" err="1">
                <a:solidFill>
                  <a:srgbClr val="0070C0"/>
                </a:solidFill>
              </a:rPr>
              <a:t>movlw</a:t>
            </a:r>
            <a:r>
              <a:rPr lang="es-AR" dirty="0"/>
              <a:t> </a:t>
            </a:r>
            <a:r>
              <a:rPr lang="es-AR" dirty="0">
                <a:solidFill>
                  <a:srgbClr val="0070C0"/>
                </a:solidFill>
              </a:rPr>
              <a:t>b'00000001'	</a:t>
            </a:r>
          </a:p>
          <a:p>
            <a:pPr marL="0" indent="0">
              <a:buNone/>
            </a:pPr>
            <a:r>
              <a:rPr lang="es-AR" dirty="0"/>
              <a:t>	</a:t>
            </a:r>
            <a:r>
              <a:rPr lang="es-AR" dirty="0" err="1">
                <a:solidFill>
                  <a:srgbClr val="0070C0"/>
                </a:solidFill>
              </a:rPr>
              <a:t>xorwf</a:t>
            </a:r>
            <a:r>
              <a:rPr lang="es-AR" dirty="0"/>
              <a:t> </a:t>
            </a:r>
            <a:r>
              <a:rPr lang="es-AR" dirty="0" err="1">
                <a:solidFill>
                  <a:srgbClr val="7030A0"/>
                </a:solidFill>
              </a:rPr>
              <a:t>ESTADO</a:t>
            </a:r>
            <a:r>
              <a:rPr lang="es-AR" dirty="0" err="1"/>
              <a:t>,</a:t>
            </a:r>
            <a:r>
              <a:rPr lang="es-AR" dirty="0" err="1">
                <a:solidFill>
                  <a:srgbClr val="7030A0"/>
                </a:solidFill>
              </a:rPr>
              <a:t>f</a:t>
            </a:r>
            <a:r>
              <a:rPr lang="es-AR" dirty="0"/>
              <a:t>		;</a:t>
            </a:r>
            <a:r>
              <a:rPr lang="es-AR" dirty="0">
                <a:solidFill>
                  <a:srgbClr val="00B050"/>
                </a:solidFill>
              </a:rPr>
              <a:t>invertir el estado del LED</a:t>
            </a:r>
          </a:p>
          <a:p>
            <a:pPr marL="0" indent="0">
              <a:buNone/>
            </a:pPr>
            <a:r>
              <a:rPr lang="es-AR" dirty="0"/>
              <a:t>	</a:t>
            </a:r>
            <a:r>
              <a:rPr lang="es-AR" dirty="0" err="1">
                <a:solidFill>
                  <a:srgbClr val="0070C0"/>
                </a:solidFill>
              </a:rPr>
              <a:t>movf</a:t>
            </a:r>
            <a:r>
              <a:rPr lang="es-AR" dirty="0"/>
              <a:t> </a:t>
            </a:r>
            <a:r>
              <a:rPr lang="es-AR" dirty="0" err="1">
                <a:solidFill>
                  <a:srgbClr val="7030A0"/>
                </a:solidFill>
              </a:rPr>
              <a:t>ESTADO</a:t>
            </a:r>
            <a:r>
              <a:rPr lang="es-AR" dirty="0" err="1"/>
              <a:t>,</a:t>
            </a:r>
            <a:r>
              <a:rPr lang="es-AR" dirty="0" err="1">
                <a:solidFill>
                  <a:srgbClr val="7030A0"/>
                </a:solidFill>
              </a:rPr>
              <a:t>w</a:t>
            </a:r>
            <a:endParaRPr lang="es-AR" dirty="0">
              <a:solidFill>
                <a:srgbClr val="7030A0"/>
              </a:solidFill>
            </a:endParaRPr>
          </a:p>
          <a:p>
            <a:pPr marL="0" indent="0">
              <a:buNone/>
            </a:pPr>
            <a:r>
              <a:rPr lang="es-AR" dirty="0"/>
              <a:t>    	</a:t>
            </a:r>
            <a:r>
              <a:rPr lang="es-AR" dirty="0" err="1">
                <a:solidFill>
                  <a:srgbClr val="0070C0"/>
                </a:solidFill>
              </a:rPr>
              <a:t>movwf</a:t>
            </a:r>
            <a:r>
              <a:rPr lang="es-AR" dirty="0"/>
              <a:t> </a:t>
            </a:r>
            <a:r>
              <a:rPr lang="es-AR" dirty="0">
                <a:solidFill>
                  <a:srgbClr val="7030A0"/>
                </a:solidFill>
              </a:rPr>
              <a:t>PORTB</a:t>
            </a:r>
          </a:p>
          <a:p>
            <a:pPr marL="0" indent="0">
              <a:buNone/>
            </a:pPr>
            <a:r>
              <a:rPr lang="es-AR" dirty="0">
                <a:solidFill>
                  <a:srgbClr val="7030A0"/>
                </a:solidFill>
              </a:rPr>
              <a:t>ESPERA</a:t>
            </a:r>
          </a:p>
          <a:p>
            <a:pPr marL="0" indent="0">
              <a:buNone/>
            </a:pPr>
            <a:r>
              <a:rPr lang="es-AR" dirty="0"/>
              <a:t>	</a:t>
            </a:r>
            <a:r>
              <a:rPr lang="es-AR" dirty="0" err="1">
                <a:solidFill>
                  <a:srgbClr val="0070C0"/>
                </a:solidFill>
              </a:rPr>
              <a:t>btfss</a:t>
            </a:r>
            <a:r>
              <a:rPr lang="es-AR" dirty="0"/>
              <a:t> </a:t>
            </a:r>
            <a:r>
              <a:rPr lang="es-AR" dirty="0">
                <a:solidFill>
                  <a:srgbClr val="7030A0"/>
                </a:solidFill>
              </a:rPr>
              <a:t>PORTA</a:t>
            </a:r>
            <a:r>
              <a:rPr lang="es-AR" dirty="0"/>
              <a:t>,0		</a:t>
            </a:r>
            <a:r>
              <a:rPr lang="es-AR" dirty="0">
                <a:solidFill>
                  <a:srgbClr val="00B050"/>
                </a:solidFill>
              </a:rPr>
              <a:t>;espero que se deje de presionar el botón</a:t>
            </a:r>
          </a:p>
          <a:p>
            <a:pPr marL="0" indent="0">
              <a:buNone/>
            </a:pPr>
            <a:r>
              <a:rPr lang="es-AR" dirty="0"/>
              <a:t>	</a:t>
            </a:r>
            <a:r>
              <a:rPr lang="es-AR" dirty="0" err="1">
                <a:solidFill>
                  <a:srgbClr val="0070C0"/>
                </a:solidFill>
              </a:rPr>
              <a:t>goto</a:t>
            </a:r>
            <a:r>
              <a:rPr lang="es-AR" dirty="0"/>
              <a:t> </a:t>
            </a:r>
            <a:r>
              <a:rPr lang="es-AR" dirty="0">
                <a:solidFill>
                  <a:srgbClr val="7030A0"/>
                </a:solidFill>
              </a:rPr>
              <a:t>ESPERA</a:t>
            </a:r>
          </a:p>
          <a:p>
            <a:pPr marL="0" indent="0">
              <a:buNone/>
            </a:pPr>
            <a:r>
              <a:rPr lang="es-AR" dirty="0"/>
              <a:t>	</a:t>
            </a:r>
            <a:r>
              <a:rPr lang="es-AR" dirty="0" err="1">
                <a:solidFill>
                  <a:srgbClr val="0070C0"/>
                </a:solidFill>
              </a:rPr>
              <a:t>goto</a:t>
            </a:r>
            <a:r>
              <a:rPr lang="es-AR" dirty="0"/>
              <a:t> </a:t>
            </a:r>
            <a:r>
              <a:rPr lang="es-AR" dirty="0">
                <a:solidFill>
                  <a:srgbClr val="7030A0"/>
                </a:solidFill>
              </a:rPr>
              <a:t>INICIO</a:t>
            </a:r>
            <a:r>
              <a:rPr lang="es-AR" dirty="0"/>
              <a:t>	</a:t>
            </a:r>
          </a:p>
          <a:p>
            <a:pPr marL="0" indent="0">
              <a:buNone/>
            </a:pPr>
            <a:r>
              <a:rPr lang="es-AR" dirty="0"/>
              <a:t>	</a:t>
            </a:r>
            <a:r>
              <a:rPr lang="es-AR" dirty="0">
                <a:solidFill>
                  <a:srgbClr val="0070C0"/>
                </a:solidFill>
              </a:rPr>
              <a:t>END</a:t>
            </a:r>
          </a:p>
        </p:txBody>
      </p:sp>
    </p:spTree>
    <p:extLst>
      <p:ext uri="{BB962C8B-B14F-4D97-AF65-F5344CB8AC3E}">
        <p14:creationId xmlns:p14="http://schemas.microsoft.com/office/powerpoint/2010/main" val="2052049875"/>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003300" y="282661"/>
            <a:ext cx="8686800" cy="7204029"/>
          </a:xfrm>
          <a:prstGeom prst="rect">
            <a:avLst/>
          </a:prstGeom>
        </p:spPr>
      </p:pic>
    </p:spTree>
    <p:extLst>
      <p:ext uri="{BB962C8B-B14F-4D97-AF65-F5344CB8AC3E}">
        <p14:creationId xmlns:p14="http://schemas.microsoft.com/office/powerpoint/2010/main" val="192572442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41FA15DD-A43C-1001-7A1C-92E6BD4C515D}"/>
              </a:ext>
            </a:extLst>
          </p:cNvPr>
          <p:cNvSpPr txBox="1">
            <a:spLocks/>
          </p:cNvSpPr>
          <p:nvPr/>
        </p:nvSpPr>
        <p:spPr>
          <a:xfrm>
            <a:off x="457200" y="3017837"/>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AR" b="1">
                <a:solidFill>
                  <a:srgbClr val="FF0000"/>
                </a:solidFill>
                <a:effectLst>
                  <a:outerShdw blurRad="38100" dist="38100" dir="2700000" algn="tl">
                    <a:srgbClr val="000000">
                      <a:alpha val="43137"/>
                    </a:srgbClr>
                  </a:outerShdw>
                </a:effectLst>
              </a:rPr>
              <a:t>Demoras con Timer0</a:t>
            </a:r>
            <a:endParaRPr lang="es-AR" b="1"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4977223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CE06F7D-F42C-5169-E244-AD542C596E8D}"/>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a:t>
            </a:r>
          </a:p>
        </p:txBody>
      </p:sp>
      <p:sp>
        <p:nvSpPr>
          <p:cNvPr id="5" name="Marcador de contenido 4">
            <a:extLst>
              <a:ext uri="{FF2B5EF4-FFF2-40B4-BE49-F238E27FC236}">
                <a16:creationId xmlns:a16="http://schemas.microsoft.com/office/drawing/2014/main" id="{1644BFED-974D-1352-5BB8-F0699618A9AC}"/>
              </a:ext>
            </a:extLst>
          </p:cNvPr>
          <p:cNvSpPr>
            <a:spLocks noGrp="1"/>
          </p:cNvSpPr>
          <p:nvPr>
            <p:ph idx="1"/>
          </p:nvPr>
        </p:nvSpPr>
        <p:spPr/>
        <p:txBody>
          <a:bodyPr/>
          <a:lstStyle/>
          <a:p>
            <a:r>
              <a:rPr lang="es-AR" dirty="0"/>
              <a:t>Encenderemos y apagaremos un led usando el tiempo máximo que podemos calcular con TMR0 en un solo </a:t>
            </a:r>
            <a:r>
              <a:rPr lang="es-AR" dirty="0" err="1"/>
              <a:t>overflow</a:t>
            </a:r>
            <a:endParaRPr lang="es-AR" dirty="0"/>
          </a:p>
        </p:txBody>
      </p:sp>
      <p:pic>
        <p:nvPicPr>
          <p:cNvPr id="7" name="Imagen 6">
            <a:extLst>
              <a:ext uri="{FF2B5EF4-FFF2-40B4-BE49-F238E27FC236}">
                <a16:creationId xmlns:a16="http://schemas.microsoft.com/office/drawing/2014/main" id="{691B21D3-3380-CF4B-9E2D-6E92FA40F21F}"/>
              </a:ext>
            </a:extLst>
          </p:cNvPr>
          <p:cNvPicPr>
            <a:picLocks noChangeAspect="1"/>
          </p:cNvPicPr>
          <p:nvPr/>
        </p:nvPicPr>
        <p:blipFill>
          <a:blip r:embed="rId2"/>
          <a:stretch>
            <a:fillRect/>
          </a:stretch>
        </p:blipFill>
        <p:spPr>
          <a:xfrm>
            <a:off x="2374900" y="3551237"/>
            <a:ext cx="6220693" cy="3543795"/>
          </a:xfrm>
          <a:prstGeom prst="rect">
            <a:avLst/>
          </a:prstGeom>
        </p:spPr>
      </p:pic>
    </p:spTree>
    <p:extLst>
      <p:ext uri="{BB962C8B-B14F-4D97-AF65-F5344CB8AC3E}">
        <p14:creationId xmlns:p14="http://schemas.microsoft.com/office/powerpoint/2010/main" val="317799268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0068C-ABE1-D069-4BD8-213E00DE9AE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2F49EC6-3599-82FD-F6FF-B24B07048DA8}"/>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a:t>
            </a:r>
          </a:p>
        </p:txBody>
      </p:sp>
      <p:sp>
        <p:nvSpPr>
          <p:cNvPr id="5" name="Marcador de contenido 4">
            <a:extLst>
              <a:ext uri="{FF2B5EF4-FFF2-40B4-BE49-F238E27FC236}">
                <a16:creationId xmlns:a16="http://schemas.microsoft.com/office/drawing/2014/main" id="{95139683-3B65-F511-66E6-61E167493176}"/>
              </a:ext>
            </a:extLst>
          </p:cNvPr>
          <p:cNvSpPr>
            <a:spLocks noGrp="1"/>
          </p:cNvSpPr>
          <p:nvPr>
            <p:ph idx="1"/>
          </p:nvPr>
        </p:nvSpPr>
        <p:spPr>
          <a:xfrm>
            <a:off x="457200" y="1600200"/>
            <a:ext cx="9994900" cy="5837237"/>
          </a:xfrm>
        </p:spPr>
        <p:txBody>
          <a:bodyPr>
            <a:normAutofit fontScale="85000" lnSpcReduction="20000"/>
          </a:bodyPr>
          <a:lstStyle/>
          <a:p>
            <a:pPr marL="0" indent="0">
              <a:buNone/>
            </a:pPr>
            <a:r>
              <a:rPr lang="es-MX" dirty="0"/>
              <a:t> </a:t>
            </a:r>
            <a:r>
              <a:rPr lang="es-MX" dirty="0">
                <a:solidFill>
                  <a:srgbClr val="0070C0"/>
                </a:solidFill>
              </a:rPr>
              <a:t>INCLUDE</a:t>
            </a:r>
            <a:r>
              <a:rPr lang="es-MX" dirty="0"/>
              <a:t> &lt;P16F628A.INC&gt;</a:t>
            </a:r>
          </a:p>
          <a:p>
            <a:pPr marL="0" indent="0">
              <a:buNone/>
            </a:pPr>
            <a:r>
              <a:rPr lang="es-MX" dirty="0"/>
              <a:t>	 </a:t>
            </a:r>
            <a:r>
              <a:rPr lang="es-MX" dirty="0">
                <a:solidFill>
                  <a:srgbClr val="0070C0"/>
                </a:solidFill>
              </a:rPr>
              <a:t>__CONFIG </a:t>
            </a:r>
            <a:r>
              <a:rPr lang="es-MX" dirty="0"/>
              <a:t>3F10</a:t>
            </a:r>
          </a:p>
          <a:p>
            <a:pPr marL="0" indent="0">
              <a:buNone/>
            </a:pPr>
            <a:endParaRPr lang="es-MX" dirty="0"/>
          </a:p>
          <a:p>
            <a:pPr marL="0" indent="0">
              <a:buNone/>
            </a:pPr>
            <a:r>
              <a:rPr lang="es-MX" dirty="0"/>
              <a:t>    </a:t>
            </a:r>
            <a:r>
              <a:rPr lang="es-MX" dirty="0">
                <a:solidFill>
                  <a:srgbClr val="7030A0"/>
                </a:solidFill>
              </a:rPr>
              <a:t>ESTADO_LED</a:t>
            </a:r>
            <a:r>
              <a:rPr lang="es-MX" dirty="0"/>
              <a:t>	</a:t>
            </a:r>
            <a:r>
              <a:rPr lang="es-MX" dirty="0">
                <a:solidFill>
                  <a:srgbClr val="0070C0"/>
                </a:solidFill>
              </a:rPr>
              <a:t>EQU 0x20 </a:t>
            </a:r>
          </a:p>
          <a:p>
            <a:pPr marL="0" indent="0">
              <a:buNone/>
            </a:pPr>
            <a:r>
              <a:rPr lang="es-MX" dirty="0">
                <a:solidFill>
                  <a:srgbClr val="0070C0"/>
                </a:solidFill>
              </a:rPr>
              <a:t>    ORG 0x00</a:t>
            </a:r>
          </a:p>
          <a:p>
            <a:pPr marL="0" indent="0">
              <a:buNone/>
            </a:pPr>
            <a:r>
              <a:rPr lang="es-MX" dirty="0"/>
              <a:t>    </a:t>
            </a:r>
            <a:r>
              <a:rPr lang="es-MX" dirty="0">
                <a:solidFill>
                  <a:srgbClr val="0070C0"/>
                </a:solidFill>
              </a:rPr>
              <a:t>GOTO</a:t>
            </a:r>
            <a:r>
              <a:rPr lang="es-MX" dirty="0"/>
              <a:t> </a:t>
            </a:r>
            <a:r>
              <a:rPr lang="es-MX" dirty="0">
                <a:solidFill>
                  <a:srgbClr val="7030A0"/>
                </a:solidFill>
              </a:rPr>
              <a:t>INICIO</a:t>
            </a:r>
          </a:p>
          <a:p>
            <a:pPr marL="0" indent="0">
              <a:buNone/>
            </a:pPr>
            <a:endParaRPr lang="es-MX" dirty="0"/>
          </a:p>
          <a:p>
            <a:pPr marL="0" indent="0">
              <a:buNone/>
            </a:pPr>
            <a:r>
              <a:rPr lang="es-AR" dirty="0"/>
              <a:t>    </a:t>
            </a:r>
            <a:r>
              <a:rPr lang="es-AR" dirty="0">
                <a:solidFill>
                  <a:srgbClr val="0070C0"/>
                </a:solidFill>
              </a:rPr>
              <a:t>ORG 0x04			</a:t>
            </a:r>
            <a:r>
              <a:rPr lang="es-AR" dirty="0">
                <a:solidFill>
                  <a:srgbClr val="00B050"/>
                </a:solidFill>
              </a:rPr>
              <a:t>;Vector de interrupciones</a:t>
            </a:r>
          </a:p>
          <a:p>
            <a:pPr marL="0" indent="0">
              <a:buNone/>
            </a:pPr>
            <a:r>
              <a:rPr lang="es-AR" dirty="0"/>
              <a:t>    </a:t>
            </a:r>
            <a:r>
              <a:rPr lang="es-AR" dirty="0">
                <a:solidFill>
                  <a:srgbClr val="0070C0"/>
                </a:solidFill>
              </a:rPr>
              <a:t>BCF</a:t>
            </a:r>
            <a:r>
              <a:rPr lang="es-AR" dirty="0"/>
              <a:t> </a:t>
            </a:r>
            <a:r>
              <a:rPr lang="es-AR" dirty="0">
                <a:solidFill>
                  <a:srgbClr val="7030A0"/>
                </a:solidFill>
              </a:rPr>
              <a:t>INTCON</a:t>
            </a:r>
            <a:r>
              <a:rPr lang="es-AR" dirty="0"/>
              <a:t>, </a:t>
            </a:r>
            <a:r>
              <a:rPr lang="es-AR" dirty="0">
                <a:solidFill>
                  <a:srgbClr val="7030A0"/>
                </a:solidFill>
              </a:rPr>
              <a:t>T0IF	</a:t>
            </a:r>
            <a:r>
              <a:rPr lang="es-AR" dirty="0">
                <a:solidFill>
                  <a:srgbClr val="00B050"/>
                </a:solidFill>
              </a:rPr>
              <a:t>;Limpiar bandera de desborde</a:t>
            </a:r>
          </a:p>
          <a:p>
            <a:pPr marL="0" indent="0">
              <a:buNone/>
            </a:pPr>
            <a:r>
              <a:rPr lang="es-AR" dirty="0"/>
              <a:t>    </a:t>
            </a:r>
            <a:r>
              <a:rPr lang="es-AR" dirty="0">
                <a:solidFill>
                  <a:srgbClr val="0070C0"/>
                </a:solidFill>
              </a:rPr>
              <a:t>INCF</a:t>
            </a:r>
            <a:r>
              <a:rPr lang="es-AR" dirty="0"/>
              <a:t> </a:t>
            </a:r>
            <a:r>
              <a:rPr lang="es-AR" dirty="0" err="1">
                <a:solidFill>
                  <a:srgbClr val="7030A0"/>
                </a:solidFill>
              </a:rPr>
              <a:t>ESTADO_LED</a:t>
            </a:r>
            <a:r>
              <a:rPr lang="es-AR" dirty="0" err="1"/>
              <a:t>,</a:t>
            </a:r>
            <a:r>
              <a:rPr lang="es-AR" dirty="0" err="1">
                <a:solidFill>
                  <a:srgbClr val="7030A0"/>
                </a:solidFill>
              </a:rPr>
              <a:t>f</a:t>
            </a:r>
            <a:endParaRPr lang="es-AR" dirty="0">
              <a:solidFill>
                <a:srgbClr val="7030A0"/>
              </a:solidFill>
            </a:endParaRPr>
          </a:p>
          <a:p>
            <a:pPr marL="0" indent="0">
              <a:buNone/>
            </a:pPr>
            <a:r>
              <a:rPr lang="es-AR" dirty="0"/>
              <a:t>    </a:t>
            </a:r>
            <a:r>
              <a:rPr lang="es-AR" dirty="0">
                <a:solidFill>
                  <a:srgbClr val="0070C0"/>
                </a:solidFill>
              </a:rPr>
              <a:t>MOVF</a:t>
            </a:r>
            <a:r>
              <a:rPr lang="es-AR" dirty="0"/>
              <a:t> </a:t>
            </a:r>
            <a:r>
              <a:rPr lang="es-AR" dirty="0" err="1">
                <a:solidFill>
                  <a:srgbClr val="7030A0"/>
                </a:solidFill>
              </a:rPr>
              <a:t>ESTADO_LED</a:t>
            </a:r>
            <a:r>
              <a:rPr lang="es-AR" dirty="0" err="1"/>
              <a:t>,</a:t>
            </a:r>
            <a:r>
              <a:rPr lang="es-AR" dirty="0" err="1">
                <a:solidFill>
                  <a:srgbClr val="7030A0"/>
                </a:solidFill>
              </a:rPr>
              <a:t>w</a:t>
            </a:r>
            <a:endParaRPr lang="es-AR" dirty="0">
              <a:solidFill>
                <a:srgbClr val="7030A0"/>
              </a:solidFill>
            </a:endParaRPr>
          </a:p>
          <a:p>
            <a:pPr marL="0" indent="0">
              <a:buNone/>
            </a:pPr>
            <a:r>
              <a:rPr lang="es-AR" dirty="0"/>
              <a:t>    </a:t>
            </a:r>
            <a:r>
              <a:rPr lang="es-AR" dirty="0" err="1">
                <a:solidFill>
                  <a:srgbClr val="0070C0"/>
                </a:solidFill>
              </a:rPr>
              <a:t>andlw</a:t>
            </a:r>
            <a:r>
              <a:rPr lang="es-AR" dirty="0"/>
              <a:t> </a:t>
            </a:r>
            <a:r>
              <a:rPr lang="es-AR" dirty="0">
                <a:solidFill>
                  <a:srgbClr val="0070C0"/>
                </a:solidFill>
              </a:rPr>
              <a:t>b'00000001'</a:t>
            </a:r>
          </a:p>
          <a:p>
            <a:pPr marL="0" indent="0">
              <a:buNone/>
            </a:pPr>
            <a:r>
              <a:rPr lang="es-AR" dirty="0"/>
              <a:t>    </a:t>
            </a:r>
            <a:r>
              <a:rPr lang="es-AR" dirty="0" err="1">
                <a:solidFill>
                  <a:srgbClr val="0070C0"/>
                </a:solidFill>
              </a:rPr>
              <a:t>movwf</a:t>
            </a:r>
            <a:r>
              <a:rPr lang="es-AR" dirty="0"/>
              <a:t> </a:t>
            </a:r>
            <a:r>
              <a:rPr lang="es-AR" dirty="0">
                <a:solidFill>
                  <a:srgbClr val="7030A0"/>
                </a:solidFill>
              </a:rPr>
              <a:t>PORTB</a:t>
            </a:r>
          </a:p>
          <a:p>
            <a:pPr marL="0" indent="0">
              <a:buNone/>
            </a:pPr>
            <a:r>
              <a:rPr lang="es-AR" dirty="0"/>
              <a:t>    </a:t>
            </a:r>
            <a:r>
              <a:rPr lang="es-AR" dirty="0">
                <a:solidFill>
                  <a:srgbClr val="0070C0"/>
                </a:solidFill>
              </a:rPr>
              <a:t>RETFIE</a:t>
            </a:r>
          </a:p>
        </p:txBody>
      </p:sp>
    </p:spTree>
    <p:extLst>
      <p:ext uri="{BB962C8B-B14F-4D97-AF65-F5344CB8AC3E}">
        <p14:creationId xmlns:p14="http://schemas.microsoft.com/office/powerpoint/2010/main" val="318364707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A4DD-1DCA-C425-AE14-ABFFF9BD9C2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5843E5EF-A1BE-DBBD-8D99-2A607CA8C4EB}"/>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a:t>
            </a:r>
          </a:p>
        </p:txBody>
      </p:sp>
      <p:sp>
        <p:nvSpPr>
          <p:cNvPr id="5" name="Marcador de contenido 4">
            <a:extLst>
              <a:ext uri="{FF2B5EF4-FFF2-40B4-BE49-F238E27FC236}">
                <a16:creationId xmlns:a16="http://schemas.microsoft.com/office/drawing/2014/main" id="{74DDAF2C-0E44-4337-5C6C-EA9BC5AAED1B}"/>
              </a:ext>
            </a:extLst>
          </p:cNvPr>
          <p:cNvSpPr>
            <a:spLocks noGrp="1"/>
          </p:cNvSpPr>
          <p:nvPr>
            <p:ph idx="1"/>
          </p:nvPr>
        </p:nvSpPr>
        <p:spPr>
          <a:xfrm>
            <a:off x="457200" y="1600200"/>
            <a:ext cx="9994900" cy="5837237"/>
          </a:xfrm>
        </p:spPr>
        <p:txBody>
          <a:bodyPr>
            <a:normAutofit fontScale="55000" lnSpcReduction="20000"/>
          </a:bodyPr>
          <a:lstStyle/>
          <a:p>
            <a:pPr marL="0" indent="0">
              <a:buNone/>
            </a:pPr>
            <a:r>
              <a:rPr lang="es-MX" dirty="0">
                <a:solidFill>
                  <a:srgbClr val="7030A0"/>
                </a:solidFill>
              </a:rPr>
              <a:t>INICIO</a:t>
            </a:r>
          </a:p>
          <a:p>
            <a:pPr marL="0" indent="0">
              <a:buNone/>
            </a:pPr>
            <a:r>
              <a:rPr lang="es-MX" dirty="0"/>
              <a:t>    </a:t>
            </a:r>
            <a:r>
              <a:rPr lang="es-MX" dirty="0">
                <a:solidFill>
                  <a:srgbClr val="0070C0"/>
                </a:solidFill>
              </a:rPr>
              <a:t>BSF</a:t>
            </a:r>
            <a:r>
              <a:rPr lang="es-MX" dirty="0"/>
              <a:t> </a:t>
            </a:r>
            <a:r>
              <a:rPr lang="es-MX" dirty="0">
                <a:solidFill>
                  <a:srgbClr val="7030A0"/>
                </a:solidFill>
              </a:rPr>
              <a:t>STATUS</a:t>
            </a:r>
            <a:r>
              <a:rPr lang="es-MX" dirty="0"/>
              <a:t>, </a:t>
            </a:r>
            <a:r>
              <a:rPr lang="es-MX" dirty="0">
                <a:solidFill>
                  <a:srgbClr val="7030A0"/>
                </a:solidFill>
              </a:rPr>
              <a:t>RP0</a:t>
            </a:r>
          </a:p>
          <a:p>
            <a:pPr marL="0" indent="0">
              <a:buNone/>
            </a:pPr>
            <a:r>
              <a:rPr lang="es-MX" dirty="0"/>
              <a:t>    </a:t>
            </a:r>
            <a:r>
              <a:rPr lang="es-MX" dirty="0">
                <a:solidFill>
                  <a:srgbClr val="0070C0"/>
                </a:solidFill>
              </a:rPr>
              <a:t>BCF</a:t>
            </a:r>
            <a:r>
              <a:rPr lang="es-MX" dirty="0"/>
              <a:t> </a:t>
            </a:r>
            <a:r>
              <a:rPr lang="es-MX" dirty="0">
                <a:solidFill>
                  <a:srgbClr val="7030A0"/>
                </a:solidFill>
              </a:rPr>
              <a:t>TRISB</a:t>
            </a:r>
            <a:r>
              <a:rPr lang="es-MX" dirty="0"/>
              <a:t>,0		</a:t>
            </a:r>
            <a:r>
              <a:rPr lang="es-MX" dirty="0">
                <a:solidFill>
                  <a:srgbClr val="00B050"/>
                </a:solidFill>
              </a:rPr>
              <a:t>;RB0 como salida</a:t>
            </a:r>
          </a:p>
          <a:p>
            <a:pPr marL="0" indent="0">
              <a:buNone/>
            </a:pPr>
            <a:r>
              <a:rPr lang="es-MX" dirty="0"/>
              <a:t>    </a:t>
            </a:r>
            <a:r>
              <a:rPr lang="es-MX" dirty="0">
                <a:solidFill>
                  <a:srgbClr val="0070C0"/>
                </a:solidFill>
              </a:rPr>
              <a:t>BCF</a:t>
            </a:r>
            <a:r>
              <a:rPr lang="es-MX" dirty="0"/>
              <a:t> </a:t>
            </a:r>
            <a:r>
              <a:rPr lang="es-MX" dirty="0">
                <a:solidFill>
                  <a:srgbClr val="7030A0"/>
                </a:solidFill>
              </a:rPr>
              <a:t>STATUS</a:t>
            </a:r>
            <a:r>
              <a:rPr lang="es-MX" dirty="0"/>
              <a:t>, </a:t>
            </a:r>
            <a:r>
              <a:rPr lang="es-MX" dirty="0">
                <a:solidFill>
                  <a:srgbClr val="7030A0"/>
                </a:solidFill>
              </a:rPr>
              <a:t>RP0</a:t>
            </a:r>
          </a:p>
          <a:p>
            <a:pPr marL="0" indent="0">
              <a:buNone/>
            </a:pPr>
            <a:endParaRPr lang="es-MX" dirty="0"/>
          </a:p>
          <a:p>
            <a:pPr marL="0" indent="0">
              <a:buNone/>
            </a:pPr>
            <a:r>
              <a:rPr lang="es-MX" dirty="0"/>
              <a:t>    </a:t>
            </a:r>
            <a:r>
              <a:rPr lang="es-MX" dirty="0">
                <a:solidFill>
                  <a:srgbClr val="0070C0"/>
                </a:solidFill>
              </a:rPr>
              <a:t>CLRF</a:t>
            </a:r>
            <a:r>
              <a:rPr lang="es-MX" dirty="0"/>
              <a:t> </a:t>
            </a:r>
            <a:r>
              <a:rPr lang="es-MX" dirty="0">
                <a:solidFill>
                  <a:srgbClr val="7030A0"/>
                </a:solidFill>
              </a:rPr>
              <a:t>PORTB</a:t>
            </a:r>
          </a:p>
          <a:p>
            <a:pPr marL="0" indent="0">
              <a:buNone/>
            </a:pPr>
            <a:r>
              <a:rPr lang="es-MX" dirty="0"/>
              <a:t>    </a:t>
            </a:r>
            <a:r>
              <a:rPr lang="es-MX" dirty="0">
                <a:solidFill>
                  <a:srgbClr val="0070C0"/>
                </a:solidFill>
              </a:rPr>
              <a:t>CLRF</a:t>
            </a:r>
            <a:r>
              <a:rPr lang="es-MX" dirty="0"/>
              <a:t> </a:t>
            </a:r>
            <a:r>
              <a:rPr lang="es-MX" dirty="0">
                <a:solidFill>
                  <a:srgbClr val="7030A0"/>
                </a:solidFill>
              </a:rPr>
              <a:t>ESTADO_LED</a:t>
            </a:r>
            <a:r>
              <a:rPr lang="es-MX" dirty="0"/>
              <a:t>	</a:t>
            </a:r>
            <a:r>
              <a:rPr lang="es-MX" dirty="0">
                <a:solidFill>
                  <a:srgbClr val="00B050"/>
                </a:solidFill>
              </a:rPr>
              <a:t>; Inicializar LED apagado</a:t>
            </a:r>
          </a:p>
          <a:p>
            <a:pPr marL="0" indent="0">
              <a:buNone/>
            </a:pPr>
            <a:endParaRPr lang="es-MX" dirty="0"/>
          </a:p>
          <a:p>
            <a:pPr marL="0" indent="0">
              <a:buNone/>
            </a:pPr>
            <a:r>
              <a:rPr lang="es-MX" dirty="0"/>
              <a:t>    </a:t>
            </a:r>
            <a:r>
              <a:rPr lang="es-MX" dirty="0">
                <a:solidFill>
                  <a:srgbClr val="0070C0"/>
                </a:solidFill>
              </a:rPr>
              <a:t>BSF</a:t>
            </a:r>
            <a:r>
              <a:rPr lang="es-MX" dirty="0"/>
              <a:t> </a:t>
            </a:r>
            <a:r>
              <a:rPr lang="es-MX" dirty="0">
                <a:solidFill>
                  <a:srgbClr val="7030A0"/>
                </a:solidFill>
              </a:rPr>
              <a:t>STATUS</a:t>
            </a:r>
            <a:r>
              <a:rPr lang="es-MX" dirty="0"/>
              <a:t>, </a:t>
            </a:r>
            <a:r>
              <a:rPr lang="es-MX" dirty="0">
                <a:solidFill>
                  <a:srgbClr val="7030A0"/>
                </a:solidFill>
              </a:rPr>
              <a:t>RP0</a:t>
            </a:r>
          </a:p>
          <a:p>
            <a:pPr marL="0" indent="0">
              <a:buNone/>
            </a:pPr>
            <a:r>
              <a:rPr lang="es-MX" dirty="0"/>
              <a:t>    </a:t>
            </a:r>
            <a:r>
              <a:rPr lang="es-MX" dirty="0">
                <a:solidFill>
                  <a:srgbClr val="0070C0"/>
                </a:solidFill>
              </a:rPr>
              <a:t>MOVLW B'00000111’ 	</a:t>
            </a:r>
            <a:r>
              <a:rPr lang="es-MX" dirty="0">
                <a:solidFill>
                  <a:srgbClr val="00B050"/>
                </a:solidFill>
              </a:rPr>
              <a:t>; </a:t>
            </a:r>
            <a:r>
              <a:rPr lang="es-MX" dirty="0" err="1">
                <a:solidFill>
                  <a:srgbClr val="00B050"/>
                </a:solidFill>
              </a:rPr>
              <a:t>Prescaler</a:t>
            </a:r>
            <a:r>
              <a:rPr lang="es-MX" dirty="0">
                <a:solidFill>
                  <a:srgbClr val="00B050"/>
                </a:solidFill>
              </a:rPr>
              <a:t> (1:256)</a:t>
            </a:r>
          </a:p>
          <a:p>
            <a:pPr marL="0" indent="0">
              <a:buNone/>
            </a:pPr>
            <a:r>
              <a:rPr lang="es-MX" dirty="0"/>
              <a:t>    </a:t>
            </a:r>
            <a:r>
              <a:rPr lang="es-MX" dirty="0">
                <a:solidFill>
                  <a:srgbClr val="0070C0"/>
                </a:solidFill>
              </a:rPr>
              <a:t>MOVWF</a:t>
            </a:r>
            <a:r>
              <a:rPr lang="es-MX" dirty="0"/>
              <a:t> </a:t>
            </a:r>
            <a:r>
              <a:rPr lang="es-MX" dirty="0">
                <a:solidFill>
                  <a:srgbClr val="7030A0"/>
                </a:solidFill>
              </a:rPr>
              <a:t>OPTION_REG</a:t>
            </a:r>
          </a:p>
          <a:p>
            <a:pPr marL="0" indent="0">
              <a:buNone/>
            </a:pPr>
            <a:r>
              <a:rPr lang="es-MX" dirty="0"/>
              <a:t>    </a:t>
            </a:r>
            <a:r>
              <a:rPr lang="es-MX" dirty="0">
                <a:solidFill>
                  <a:srgbClr val="0070C0"/>
                </a:solidFill>
              </a:rPr>
              <a:t>BCF</a:t>
            </a:r>
            <a:r>
              <a:rPr lang="es-MX" dirty="0"/>
              <a:t> </a:t>
            </a:r>
            <a:r>
              <a:rPr lang="es-MX" dirty="0">
                <a:solidFill>
                  <a:srgbClr val="7030A0"/>
                </a:solidFill>
              </a:rPr>
              <a:t>STATUS</a:t>
            </a:r>
            <a:r>
              <a:rPr lang="es-MX" dirty="0"/>
              <a:t>, </a:t>
            </a:r>
            <a:r>
              <a:rPr lang="es-MX" dirty="0">
                <a:solidFill>
                  <a:srgbClr val="7030A0"/>
                </a:solidFill>
              </a:rPr>
              <a:t>RP0</a:t>
            </a:r>
          </a:p>
          <a:p>
            <a:pPr marL="0" indent="0">
              <a:buNone/>
            </a:pPr>
            <a:endParaRPr lang="es-MX" dirty="0"/>
          </a:p>
          <a:p>
            <a:pPr marL="0" indent="0">
              <a:buNone/>
            </a:pPr>
            <a:r>
              <a:rPr lang="es-MX" dirty="0"/>
              <a:t>    </a:t>
            </a:r>
            <a:r>
              <a:rPr lang="es-MX" dirty="0">
                <a:solidFill>
                  <a:srgbClr val="0070C0"/>
                </a:solidFill>
              </a:rPr>
              <a:t>BSF</a:t>
            </a:r>
            <a:r>
              <a:rPr lang="es-MX" dirty="0"/>
              <a:t> </a:t>
            </a:r>
            <a:r>
              <a:rPr lang="es-MX" dirty="0">
                <a:solidFill>
                  <a:srgbClr val="7030A0"/>
                </a:solidFill>
              </a:rPr>
              <a:t>INTCON</a:t>
            </a:r>
            <a:r>
              <a:rPr lang="es-MX" dirty="0"/>
              <a:t>, </a:t>
            </a:r>
            <a:r>
              <a:rPr lang="es-MX" dirty="0">
                <a:solidFill>
                  <a:srgbClr val="7030A0"/>
                </a:solidFill>
              </a:rPr>
              <a:t>GIE</a:t>
            </a:r>
            <a:r>
              <a:rPr lang="es-MX" dirty="0"/>
              <a:t>   	</a:t>
            </a:r>
            <a:r>
              <a:rPr lang="es-MX" dirty="0">
                <a:solidFill>
                  <a:srgbClr val="00B050"/>
                </a:solidFill>
              </a:rPr>
              <a:t>; Interrupciones globales</a:t>
            </a:r>
          </a:p>
          <a:p>
            <a:pPr marL="0" indent="0">
              <a:buNone/>
            </a:pPr>
            <a:r>
              <a:rPr lang="es-MX" dirty="0"/>
              <a:t>    </a:t>
            </a:r>
            <a:r>
              <a:rPr lang="es-MX" dirty="0">
                <a:solidFill>
                  <a:srgbClr val="0070C0"/>
                </a:solidFill>
              </a:rPr>
              <a:t>BSF</a:t>
            </a:r>
            <a:r>
              <a:rPr lang="es-MX" dirty="0"/>
              <a:t> </a:t>
            </a:r>
            <a:r>
              <a:rPr lang="es-MX" dirty="0">
                <a:solidFill>
                  <a:srgbClr val="7030A0"/>
                </a:solidFill>
              </a:rPr>
              <a:t>INTCON</a:t>
            </a:r>
            <a:r>
              <a:rPr lang="es-MX" dirty="0"/>
              <a:t>, </a:t>
            </a:r>
            <a:r>
              <a:rPr lang="es-MX" dirty="0">
                <a:solidFill>
                  <a:srgbClr val="7030A0"/>
                </a:solidFill>
              </a:rPr>
              <a:t>T0IE</a:t>
            </a:r>
            <a:r>
              <a:rPr lang="es-MX" dirty="0"/>
              <a:t>  	</a:t>
            </a:r>
            <a:r>
              <a:rPr lang="es-MX" dirty="0">
                <a:solidFill>
                  <a:srgbClr val="00B050"/>
                </a:solidFill>
              </a:rPr>
              <a:t>; Interrupción por Timer0</a:t>
            </a:r>
          </a:p>
          <a:p>
            <a:pPr marL="0" indent="0">
              <a:buNone/>
            </a:pPr>
            <a:r>
              <a:rPr lang="es-MX" dirty="0"/>
              <a:t>    </a:t>
            </a:r>
            <a:r>
              <a:rPr lang="es-MX" dirty="0">
                <a:solidFill>
                  <a:srgbClr val="0070C0"/>
                </a:solidFill>
              </a:rPr>
              <a:t>CLRF</a:t>
            </a:r>
            <a:r>
              <a:rPr lang="es-MX" dirty="0"/>
              <a:t> </a:t>
            </a:r>
            <a:r>
              <a:rPr lang="es-MX" dirty="0">
                <a:solidFill>
                  <a:srgbClr val="7030A0"/>
                </a:solidFill>
              </a:rPr>
              <a:t>TMR0</a:t>
            </a:r>
            <a:r>
              <a:rPr lang="es-MX" dirty="0"/>
              <a:t>         		</a:t>
            </a:r>
            <a:r>
              <a:rPr lang="es-MX" dirty="0">
                <a:solidFill>
                  <a:srgbClr val="00B050"/>
                </a:solidFill>
              </a:rPr>
              <a:t>; Valor inicial del Timer0</a:t>
            </a:r>
          </a:p>
          <a:p>
            <a:pPr marL="0" indent="0">
              <a:buNone/>
            </a:pPr>
            <a:endParaRPr lang="es-MX" dirty="0"/>
          </a:p>
          <a:p>
            <a:pPr marL="0" indent="0">
              <a:buNone/>
            </a:pPr>
            <a:r>
              <a:rPr lang="es-MX" dirty="0"/>
              <a:t>    </a:t>
            </a:r>
            <a:r>
              <a:rPr lang="es-MX" dirty="0">
                <a:solidFill>
                  <a:srgbClr val="0070C0"/>
                </a:solidFill>
              </a:rPr>
              <a:t>GOTO</a:t>
            </a:r>
            <a:r>
              <a:rPr lang="es-MX" dirty="0"/>
              <a:t> $</a:t>
            </a:r>
          </a:p>
          <a:p>
            <a:pPr marL="0" indent="0">
              <a:buNone/>
            </a:pPr>
            <a:endParaRPr lang="es-MX" dirty="0"/>
          </a:p>
          <a:p>
            <a:pPr marL="0" indent="0">
              <a:buNone/>
            </a:pPr>
            <a:r>
              <a:rPr lang="es-MX" dirty="0"/>
              <a:t>    </a:t>
            </a:r>
            <a:r>
              <a:rPr lang="es-MX" dirty="0">
                <a:solidFill>
                  <a:srgbClr val="0070C0"/>
                </a:solidFill>
              </a:rPr>
              <a:t>END</a:t>
            </a:r>
            <a:endParaRPr lang="es-AR" dirty="0">
              <a:solidFill>
                <a:srgbClr val="0070C0"/>
              </a:solidFill>
            </a:endParaRPr>
          </a:p>
        </p:txBody>
      </p:sp>
    </p:spTree>
    <p:extLst>
      <p:ext uri="{BB962C8B-B14F-4D97-AF65-F5344CB8AC3E}">
        <p14:creationId xmlns:p14="http://schemas.microsoft.com/office/powerpoint/2010/main" val="96738594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6202-9EB8-EC2C-909C-2EAB78EFA880}"/>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63F7849B-7446-81EF-5528-0EF23354073A}"/>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a:t>
            </a:r>
          </a:p>
        </p:txBody>
      </p:sp>
      <p:sp>
        <p:nvSpPr>
          <p:cNvPr id="5" name="Marcador de contenido 4">
            <a:extLst>
              <a:ext uri="{FF2B5EF4-FFF2-40B4-BE49-F238E27FC236}">
                <a16:creationId xmlns:a16="http://schemas.microsoft.com/office/drawing/2014/main" id="{BF46DEBF-99E5-D9C5-648B-6CBC30200D97}"/>
              </a:ext>
            </a:extLst>
          </p:cNvPr>
          <p:cNvSpPr>
            <a:spLocks noGrp="1"/>
          </p:cNvSpPr>
          <p:nvPr>
            <p:ph idx="1"/>
          </p:nvPr>
        </p:nvSpPr>
        <p:spPr>
          <a:xfrm>
            <a:off x="457200" y="1600200"/>
            <a:ext cx="9994900" cy="5837237"/>
          </a:xfrm>
        </p:spPr>
        <p:txBody>
          <a:bodyPr>
            <a:normAutofit/>
          </a:bodyPr>
          <a:lstStyle/>
          <a:p>
            <a:pPr marL="0" indent="0">
              <a:buNone/>
            </a:pPr>
            <a:r>
              <a:rPr lang="es-AR" dirty="0"/>
              <a:t>Si queremos una demora de 1seg tenemos que contar los </a:t>
            </a:r>
            <a:r>
              <a:rPr lang="es-AR" dirty="0" err="1"/>
              <a:t>overflows</a:t>
            </a:r>
            <a:r>
              <a:rPr lang="es-AR" dirty="0"/>
              <a:t> como vimos en la teoría.</a:t>
            </a:r>
          </a:p>
        </p:txBody>
      </p:sp>
    </p:spTree>
    <p:extLst>
      <p:ext uri="{BB962C8B-B14F-4D97-AF65-F5344CB8AC3E}">
        <p14:creationId xmlns:p14="http://schemas.microsoft.com/office/powerpoint/2010/main" val="1449397484"/>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98794-CE27-9542-AD32-7C3008CE25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9FD04F-9084-4ED8-303D-2CB2C6B6D106}"/>
              </a:ext>
            </a:extLst>
          </p:cNvPr>
          <p:cNvSpPr>
            <a:spLocks noGrp="1"/>
          </p:cNvSpPr>
          <p:nvPr>
            <p:ph type="title"/>
          </p:nvPr>
        </p:nvSpPr>
        <p:spPr/>
        <p:txBody>
          <a:bodyPr vert="horz" lIns="80201" tIns="40100" rIns="80201" bIns="40100" rtlCol="0" anchor="t">
            <a:normAutofit/>
          </a:bodyPr>
          <a:lstStyle/>
          <a:p>
            <a:r>
              <a:rPr lang="en-US" sz="4736" b="1" dirty="0">
                <a:solidFill>
                  <a:srgbClr val="FF0000"/>
                </a:solidFill>
                <a:effectLst>
                  <a:outerShdw blurRad="38100" dist="38100" dir="2700000" algn="tl">
                    <a:srgbClr val="000000">
                      <a:alpha val="43137"/>
                    </a:srgbClr>
                  </a:outerShdw>
                </a:effectLst>
              </a:rPr>
              <a:t>Timer 0 </a:t>
            </a:r>
            <a:r>
              <a:rPr lang="en-US" sz="4736" b="1" dirty="0" err="1">
                <a:solidFill>
                  <a:srgbClr val="FF0000"/>
                </a:solidFill>
                <a:effectLst>
                  <a:outerShdw blurRad="38100" dist="38100" dir="2700000" algn="tl">
                    <a:srgbClr val="000000">
                      <a:alpha val="43137"/>
                    </a:srgbClr>
                  </a:outerShdw>
                </a:effectLst>
              </a:rPr>
              <a:t>como</a:t>
            </a:r>
            <a:r>
              <a:rPr lang="en-US" sz="4736" b="1" dirty="0">
                <a:solidFill>
                  <a:srgbClr val="FF0000"/>
                </a:solidFill>
                <a:effectLst>
                  <a:outerShdw blurRad="38100" dist="38100" dir="2700000" algn="tl">
                    <a:srgbClr val="000000">
                      <a:alpha val="43137"/>
                    </a:srgbClr>
                  </a:outerShdw>
                </a:effectLst>
              </a:rPr>
              <a:t> </a:t>
            </a:r>
            <a:r>
              <a:rPr lang="en-US" sz="4736" b="1" dirty="0" err="1">
                <a:solidFill>
                  <a:srgbClr val="FF0000"/>
                </a:solidFill>
                <a:effectLst>
                  <a:outerShdw blurRad="38100" dist="38100" dir="2700000" algn="tl">
                    <a:srgbClr val="000000">
                      <a:alpha val="43137"/>
                    </a:srgbClr>
                  </a:outerShdw>
                </a:effectLst>
              </a:rPr>
              <a:t>temporizador</a:t>
            </a:r>
            <a:endParaRPr lang="en-US" sz="4736" b="1" dirty="0">
              <a:solidFill>
                <a:srgbClr val="FF0000"/>
              </a:solidFill>
              <a:effectLst>
                <a:outerShdw blurRad="38100" dist="38100" dir="2700000" algn="tl">
                  <a:srgbClr val="000000">
                    <a:alpha val="43137"/>
                  </a:srgbClr>
                </a:outerShdw>
              </a:effectLst>
            </a:endParaRPr>
          </a:p>
        </p:txBody>
      </p:sp>
      <p:sp>
        <p:nvSpPr>
          <p:cNvPr id="4" name="Marcador de texto 3">
            <a:extLst>
              <a:ext uri="{FF2B5EF4-FFF2-40B4-BE49-F238E27FC236}">
                <a16:creationId xmlns:a16="http://schemas.microsoft.com/office/drawing/2014/main" id="{DC4DDD57-A51C-50F0-30EF-40C08896DF76}"/>
              </a:ext>
            </a:extLst>
          </p:cNvPr>
          <p:cNvSpPr>
            <a:spLocks noGrp="1"/>
          </p:cNvSpPr>
          <p:nvPr>
            <p:ph idx="1"/>
          </p:nvPr>
        </p:nvSpPr>
        <p:spPr>
          <a:xfrm>
            <a:off x="457200" y="1600200"/>
            <a:ext cx="9845782" cy="5684837"/>
          </a:xfrm>
        </p:spPr>
        <p:txBody>
          <a:bodyPr vert="horz" lIns="80201" tIns="40100" rIns="80201" bIns="40100" rtlCol="0">
            <a:normAutofit fontScale="77500" lnSpcReduction="20000"/>
          </a:bodyPr>
          <a:lstStyle/>
          <a:p>
            <a:pPr marL="0" indent="0">
              <a:buNone/>
            </a:pPr>
            <a:r>
              <a:rPr lang="es-AR" dirty="0"/>
              <a:t>Para 1s</a:t>
            </a:r>
          </a:p>
          <a:p>
            <a:pPr marL="0" indent="0">
              <a:buNone/>
            </a:pPr>
            <a:r>
              <a:rPr lang="es-AR" dirty="0"/>
              <a:t>Elegimos </a:t>
            </a:r>
            <a:r>
              <a:rPr lang="es-AR" dirty="0" err="1"/>
              <a:t>preescaler</a:t>
            </a:r>
            <a:r>
              <a:rPr lang="es-AR" dirty="0"/>
              <a:t> </a:t>
            </a:r>
            <a:r>
              <a:rPr lang="es-AR" dirty="0">
                <a:solidFill>
                  <a:srgbClr val="8E0028"/>
                </a:solidFill>
              </a:rPr>
              <a:t>1:256 </a:t>
            </a:r>
            <a:r>
              <a:rPr lang="es-AR" dirty="0"/>
              <a:t>             </a:t>
            </a:r>
            <a:r>
              <a:rPr lang="es-AR" dirty="0">
                <a:solidFill>
                  <a:srgbClr val="8E0028"/>
                </a:solidFill>
              </a:rPr>
              <a:t>Tiempo máximo 65536 </a:t>
            </a:r>
            <a:r>
              <a:rPr lang="el-GR" dirty="0">
                <a:solidFill>
                  <a:srgbClr val="8E0028"/>
                </a:solidFill>
              </a:rPr>
              <a:t>μ</a:t>
            </a:r>
            <a:r>
              <a:rPr lang="es-AR" dirty="0">
                <a:solidFill>
                  <a:srgbClr val="8E0028"/>
                </a:solidFill>
              </a:rPr>
              <a:t>s</a:t>
            </a:r>
          </a:p>
          <a:p>
            <a:pPr marL="0" indent="0">
              <a:buNone/>
            </a:pPr>
            <a:r>
              <a:rPr lang="es-AR" dirty="0"/>
              <a:t>1000000 </a:t>
            </a:r>
            <a:r>
              <a:rPr lang="el-GR" dirty="0"/>
              <a:t>μ</a:t>
            </a:r>
            <a:r>
              <a:rPr lang="es-AR" dirty="0"/>
              <a:t>s / 65536 </a:t>
            </a:r>
            <a:r>
              <a:rPr lang="el-GR" dirty="0"/>
              <a:t>μ</a:t>
            </a:r>
            <a:r>
              <a:rPr lang="es-AR" dirty="0"/>
              <a:t>s = 15,25</a:t>
            </a:r>
          </a:p>
          <a:p>
            <a:pPr marL="0" indent="0">
              <a:buNone/>
            </a:pPr>
            <a:endParaRPr lang="es-AR" dirty="0"/>
          </a:p>
          <a:p>
            <a:r>
              <a:rPr lang="es-AR" dirty="0"/>
              <a:t>Necesitamos 15 </a:t>
            </a:r>
            <a:r>
              <a:rPr lang="es-AR" dirty="0" err="1"/>
              <a:t>overflows</a:t>
            </a:r>
            <a:r>
              <a:rPr lang="es-AR" dirty="0"/>
              <a:t> con </a:t>
            </a:r>
            <a:r>
              <a:rPr lang="es-AR" dirty="0">
                <a:solidFill>
                  <a:srgbClr val="8E0028"/>
                </a:solidFill>
              </a:rPr>
              <a:t>TMR0 = 0</a:t>
            </a:r>
            <a:r>
              <a:rPr lang="es-AR" dirty="0"/>
              <a:t>:</a:t>
            </a:r>
          </a:p>
          <a:p>
            <a:pPr marL="0" indent="0">
              <a:buNone/>
            </a:pPr>
            <a:r>
              <a:rPr lang="es-AR" dirty="0"/>
              <a:t>T = 65536 </a:t>
            </a:r>
            <a:r>
              <a:rPr lang="el-GR" dirty="0"/>
              <a:t>μ</a:t>
            </a:r>
            <a:r>
              <a:rPr lang="es-AR" dirty="0"/>
              <a:t>s * 15 = 983040 </a:t>
            </a:r>
            <a:r>
              <a:rPr lang="el-GR" dirty="0"/>
              <a:t>μ</a:t>
            </a:r>
            <a:r>
              <a:rPr lang="es-AR" dirty="0"/>
              <a:t>s</a:t>
            </a:r>
          </a:p>
          <a:p>
            <a:pPr marL="0" indent="0">
              <a:buNone/>
            </a:pPr>
            <a:endParaRPr lang="es-AR" dirty="0"/>
          </a:p>
          <a:p>
            <a:r>
              <a:rPr lang="es-AR" dirty="0"/>
              <a:t>Y uno mas para completar los 16960 </a:t>
            </a:r>
            <a:r>
              <a:rPr lang="el-GR" dirty="0"/>
              <a:t>μ</a:t>
            </a:r>
            <a:r>
              <a:rPr lang="es-AR" dirty="0"/>
              <a:t>s faltantes:</a:t>
            </a:r>
          </a:p>
          <a:p>
            <a:pPr marL="0" indent="0">
              <a:buNone/>
            </a:pPr>
            <a:r>
              <a:rPr lang="es-MX" dirty="0"/>
              <a:t>T = (256 – TMR0) * 1 </a:t>
            </a:r>
            <a:r>
              <a:rPr lang="el-GR" dirty="0"/>
              <a:t>μ</a:t>
            </a:r>
            <a:r>
              <a:rPr lang="es-AR" dirty="0"/>
              <a:t>s </a:t>
            </a:r>
            <a:r>
              <a:rPr lang="es-MX" dirty="0"/>
              <a:t>* </a:t>
            </a:r>
            <a:r>
              <a:rPr lang="es-AR" dirty="0"/>
              <a:t>256 = 16960 </a:t>
            </a:r>
            <a:r>
              <a:rPr lang="el-GR" dirty="0"/>
              <a:t>μ</a:t>
            </a:r>
            <a:r>
              <a:rPr lang="es-AR" dirty="0"/>
              <a:t>s</a:t>
            </a:r>
          </a:p>
          <a:p>
            <a:pPr marL="0" indent="0">
              <a:buNone/>
            </a:pPr>
            <a:r>
              <a:rPr lang="es-AR" dirty="0"/>
              <a:t>TMR0 = 256 – 16960/256 = </a:t>
            </a:r>
          </a:p>
          <a:p>
            <a:pPr marL="0" indent="0">
              <a:buNone/>
            </a:pPr>
            <a:r>
              <a:rPr lang="es-AR" dirty="0">
                <a:solidFill>
                  <a:srgbClr val="8E0028"/>
                </a:solidFill>
              </a:rPr>
              <a:t>TMR0</a:t>
            </a:r>
            <a:r>
              <a:rPr lang="es-AR" dirty="0"/>
              <a:t> = 256 – 66,25 = 189,75 = </a:t>
            </a:r>
            <a:r>
              <a:rPr lang="es-AR" dirty="0">
                <a:solidFill>
                  <a:srgbClr val="8E0028"/>
                </a:solidFill>
              </a:rPr>
              <a:t>190</a:t>
            </a:r>
          </a:p>
          <a:p>
            <a:pPr marL="0" indent="0">
              <a:buNone/>
            </a:pPr>
            <a:r>
              <a:rPr lang="es-AR" dirty="0"/>
              <a:t>T = (256 – 190) * 1 </a:t>
            </a:r>
            <a:r>
              <a:rPr lang="el-GR" dirty="0"/>
              <a:t>μ</a:t>
            </a:r>
            <a:r>
              <a:rPr lang="es-AR" dirty="0"/>
              <a:t>s * 256 = 16896 </a:t>
            </a:r>
            <a:r>
              <a:rPr lang="el-GR" dirty="0"/>
              <a:t>μ</a:t>
            </a:r>
            <a:r>
              <a:rPr lang="es-AR" dirty="0"/>
              <a:t>s</a:t>
            </a:r>
          </a:p>
          <a:p>
            <a:pPr marL="0" indent="0">
              <a:buNone/>
            </a:pPr>
            <a:endParaRPr lang="es-AR" dirty="0"/>
          </a:p>
          <a:p>
            <a:pPr marL="0" indent="0">
              <a:buNone/>
            </a:pPr>
            <a:r>
              <a:rPr lang="es-AR" dirty="0"/>
              <a:t>Tiempo final: 999936 </a:t>
            </a:r>
            <a:r>
              <a:rPr lang="el-GR" dirty="0"/>
              <a:t>μ</a:t>
            </a:r>
            <a:r>
              <a:rPr lang="es-AR" dirty="0"/>
              <a:t>s</a:t>
            </a:r>
          </a:p>
          <a:p>
            <a:pPr marL="0" indent="0">
              <a:buNone/>
            </a:pPr>
            <a:endParaRPr lang="es-AR" dirty="0"/>
          </a:p>
          <a:p>
            <a:pPr marL="0" indent="0">
              <a:buNone/>
            </a:pPr>
            <a:endParaRPr lang="es-AR" dirty="0"/>
          </a:p>
          <a:p>
            <a:pPr marL="0" indent="0">
              <a:buNone/>
            </a:pPr>
            <a:endParaRPr lang="es-AR" dirty="0"/>
          </a:p>
          <a:p>
            <a:pPr marL="0" indent="0">
              <a:buNone/>
            </a:pPr>
            <a:endParaRPr lang="es-AR" dirty="0"/>
          </a:p>
          <a:p>
            <a:pPr marL="0" indent="0">
              <a:buNone/>
            </a:pPr>
            <a:endParaRPr lang="es-MX" dirty="0"/>
          </a:p>
        </p:txBody>
      </p:sp>
      <p:sp>
        <p:nvSpPr>
          <p:cNvPr id="7" name="Flecha: a la derecha 6">
            <a:extLst>
              <a:ext uri="{FF2B5EF4-FFF2-40B4-BE49-F238E27FC236}">
                <a16:creationId xmlns:a16="http://schemas.microsoft.com/office/drawing/2014/main" id="{6F80A892-0ED9-4F38-BE64-82A9C8A85643}"/>
              </a:ext>
            </a:extLst>
          </p:cNvPr>
          <p:cNvSpPr/>
          <p:nvPr/>
        </p:nvSpPr>
        <p:spPr>
          <a:xfrm rot="10800000">
            <a:off x="4439382" y="2749986"/>
            <a:ext cx="437457" cy="393580"/>
          </a:xfrm>
          <a:prstGeom prst="rightArrow">
            <a:avLst/>
          </a:prstGeom>
          <a:solidFill>
            <a:srgbClr val="8E00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sz="1579"/>
          </a:p>
        </p:txBody>
      </p:sp>
    </p:spTree>
    <p:extLst>
      <p:ext uri="{BB962C8B-B14F-4D97-AF65-F5344CB8AC3E}">
        <p14:creationId xmlns:p14="http://schemas.microsoft.com/office/powerpoint/2010/main" val="73148652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DFF624-A9B4-F142-1F5B-249A9EC875D0}"/>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 1seg</a:t>
            </a:r>
          </a:p>
        </p:txBody>
      </p:sp>
      <p:sp>
        <p:nvSpPr>
          <p:cNvPr id="3" name="Marcador de contenido 2">
            <a:extLst>
              <a:ext uri="{FF2B5EF4-FFF2-40B4-BE49-F238E27FC236}">
                <a16:creationId xmlns:a16="http://schemas.microsoft.com/office/drawing/2014/main" id="{1D8ED969-A50C-BBFB-711D-9364EE474B35}"/>
              </a:ext>
            </a:extLst>
          </p:cNvPr>
          <p:cNvSpPr>
            <a:spLocks noGrp="1"/>
          </p:cNvSpPr>
          <p:nvPr>
            <p:ph idx="1"/>
          </p:nvPr>
        </p:nvSpPr>
        <p:spPr>
          <a:xfrm>
            <a:off x="457200" y="1600200"/>
            <a:ext cx="10071100" cy="5959475"/>
          </a:xfrm>
        </p:spPr>
        <p:txBody>
          <a:bodyPr/>
          <a:lstStyle/>
          <a:p>
            <a:pPr marL="0" indent="0">
              <a:buNone/>
            </a:pPr>
            <a:r>
              <a:rPr lang="es-AR" dirty="0"/>
              <a:t> </a:t>
            </a:r>
            <a:r>
              <a:rPr lang="es-AR" dirty="0">
                <a:solidFill>
                  <a:srgbClr val="0070C0"/>
                </a:solidFill>
              </a:rPr>
              <a:t>INCLUDE</a:t>
            </a:r>
            <a:r>
              <a:rPr lang="es-AR" dirty="0"/>
              <a:t> &lt;</a:t>
            </a:r>
            <a:r>
              <a:rPr lang="es-AR" dirty="0">
                <a:solidFill>
                  <a:srgbClr val="7030A0"/>
                </a:solidFill>
              </a:rPr>
              <a:t>P16F628A</a:t>
            </a:r>
            <a:r>
              <a:rPr lang="es-AR" dirty="0"/>
              <a:t>.</a:t>
            </a:r>
            <a:r>
              <a:rPr lang="es-AR" dirty="0">
                <a:solidFill>
                  <a:srgbClr val="7030A0"/>
                </a:solidFill>
              </a:rPr>
              <a:t>INC</a:t>
            </a:r>
            <a:r>
              <a:rPr lang="es-AR" dirty="0"/>
              <a:t>&gt;</a:t>
            </a:r>
          </a:p>
          <a:p>
            <a:pPr marL="0" indent="0">
              <a:buNone/>
            </a:pPr>
            <a:r>
              <a:rPr lang="es-AR" dirty="0">
                <a:solidFill>
                  <a:srgbClr val="0070C0"/>
                </a:solidFill>
              </a:rPr>
              <a:t>    __CONFIG </a:t>
            </a:r>
            <a:r>
              <a:rPr lang="es-AR" dirty="0"/>
              <a:t>3F10</a:t>
            </a:r>
          </a:p>
          <a:p>
            <a:pPr marL="0" indent="0">
              <a:buNone/>
            </a:pPr>
            <a:endParaRPr lang="es-AR" dirty="0"/>
          </a:p>
          <a:p>
            <a:pPr marL="0" indent="0">
              <a:buNone/>
            </a:pPr>
            <a:r>
              <a:rPr lang="es-AR" dirty="0">
                <a:solidFill>
                  <a:srgbClr val="7030A0"/>
                </a:solidFill>
              </a:rPr>
              <a:t>ESTADO_LED</a:t>
            </a:r>
            <a:r>
              <a:rPr lang="es-AR" dirty="0"/>
              <a:t>	</a:t>
            </a:r>
            <a:r>
              <a:rPr lang="es-AR" dirty="0">
                <a:solidFill>
                  <a:srgbClr val="0070C0"/>
                </a:solidFill>
              </a:rPr>
              <a:t>EQU 0x20</a:t>
            </a:r>
          </a:p>
          <a:p>
            <a:pPr marL="0" indent="0">
              <a:buNone/>
            </a:pPr>
            <a:r>
              <a:rPr lang="es-AR" dirty="0">
                <a:solidFill>
                  <a:srgbClr val="7030A0"/>
                </a:solidFill>
              </a:rPr>
              <a:t>CONT</a:t>
            </a:r>
            <a:r>
              <a:rPr lang="es-AR" dirty="0"/>
              <a:t>	</a:t>
            </a:r>
            <a:r>
              <a:rPr lang="es-AR" dirty="0">
                <a:solidFill>
                  <a:srgbClr val="0070C0"/>
                </a:solidFill>
              </a:rPr>
              <a:t>EQU 0x21</a:t>
            </a:r>
          </a:p>
          <a:p>
            <a:pPr marL="0" indent="0">
              <a:buNone/>
            </a:pPr>
            <a:endParaRPr lang="es-AR" dirty="0"/>
          </a:p>
          <a:p>
            <a:pPr marL="0" indent="0">
              <a:buNone/>
            </a:pPr>
            <a:r>
              <a:rPr lang="es-AR" dirty="0"/>
              <a:t>    </a:t>
            </a:r>
            <a:r>
              <a:rPr lang="es-AR" dirty="0">
                <a:solidFill>
                  <a:srgbClr val="0070C0"/>
                </a:solidFill>
              </a:rPr>
              <a:t>ORG 0x00</a:t>
            </a:r>
          </a:p>
          <a:p>
            <a:pPr marL="0" indent="0">
              <a:buNone/>
            </a:pPr>
            <a:r>
              <a:rPr lang="es-AR" dirty="0"/>
              <a:t>    </a:t>
            </a:r>
            <a:r>
              <a:rPr lang="es-AR" dirty="0">
                <a:solidFill>
                  <a:srgbClr val="0070C0"/>
                </a:solidFill>
              </a:rPr>
              <a:t>GOTO</a:t>
            </a:r>
            <a:r>
              <a:rPr lang="es-AR" dirty="0"/>
              <a:t> </a:t>
            </a:r>
            <a:r>
              <a:rPr lang="es-AR" dirty="0">
                <a:solidFill>
                  <a:srgbClr val="7030A0"/>
                </a:solidFill>
              </a:rPr>
              <a:t>INICIO</a:t>
            </a:r>
          </a:p>
        </p:txBody>
      </p:sp>
    </p:spTree>
    <p:extLst>
      <p:ext uri="{BB962C8B-B14F-4D97-AF65-F5344CB8AC3E}">
        <p14:creationId xmlns:p14="http://schemas.microsoft.com/office/powerpoint/2010/main" val="322304960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00E4B-3396-CAB1-639A-DC2E696F39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1393CD-3583-7415-1D8E-9F19AE4BB04C}"/>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 1seg</a:t>
            </a:r>
          </a:p>
        </p:txBody>
      </p:sp>
      <p:sp>
        <p:nvSpPr>
          <p:cNvPr id="3" name="Marcador de contenido 2">
            <a:extLst>
              <a:ext uri="{FF2B5EF4-FFF2-40B4-BE49-F238E27FC236}">
                <a16:creationId xmlns:a16="http://schemas.microsoft.com/office/drawing/2014/main" id="{CB1E0C34-9D17-32CA-F1FE-DE89A89A4BB3}"/>
              </a:ext>
            </a:extLst>
          </p:cNvPr>
          <p:cNvSpPr>
            <a:spLocks noGrp="1"/>
          </p:cNvSpPr>
          <p:nvPr>
            <p:ph idx="1"/>
          </p:nvPr>
        </p:nvSpPr>
        <p:spPr>
          <a:xfrm>
            <a:off x="457200" y="1600200"/>
            <a:ext cx="10071100" cy="5959475"/>
          </a:xfrm>
        </p:spPr>
        <p:txBody>
          <a:bodyPr>
            <a:normAutofit fontScale="70000" lnSpcReduction="20000"/>
          </a:bodyPr>
          <a:lstStyle/>
          <a:p>
            <a:pPr marL="0" indent="0">
              <a:buNone/>
            </a:pPr>
            <a:r>
              <a:rPr lang="es-AR" dirty="0">
                <a:solidFill>
                  <a:srgbClr val="0070C0"/>
                </a:solidFill>
              </a:rPr>
              <a:t>ORG 0x04</a:t>
            </a:r>
            <a:r>
              <a:rPr lang="es-AR" dirty="0"/>
              <a:t>			</a:t>
            </a:r>
            <a:r>
              <a:rPr lang="es-AR" dirty="0">
                <a:solidFill>
                  <a:srgbClr val="00B050"/>
                </a:solidFill>
              </a:rPr>
              <a:t>;Vector de interrupciones</a:t>
            </a:r>
          </a:p>
          <a:p>
            <a:pPr marL="0" indent="0">
              <a:buNone/>
            </a:pPr>
            <a:r>
              <a:rPr lang="es-AR" dirty="0"/>
              <a:t>	</a:t>
            </a:r>
            <a:r>
              <a:rPr lang="es-AR" dirty="0">
                <a:solidFill>
                  <a:srgbClr val="0070C0"/>
                </a:solidFill>
              </a:rPr>
              <a:t>BCF</a:t>
            </a:r>
            <a:r>
              <a:rPr lang="es-AR" dirty="0"/>
              <a:t> </a:t>
            </a:r>
            <a:r>
              <a:rPr lang="es-AR" dirty="0">
                <a:solidFill>
                  <a:srgbClr val="7030A0"/>
                </a:solidFill>
              </a:rPr>
              <a:t>INTCON</a:t>
            </a:r>
            <a:r>
              <a:rPr lang="es-AR" dirty="0"/>
              <a:t>, </a:t>
            </a:r>
            <a:r>
              <a:rPr lang="es-AR" dirty="0">
                <a:solidFill>
                  <a:srgbClr val="7030A0"/>
                </a:solidFill>
              </a:rPr>
              <a:t>T0IF</a:t>
            </a:r>
            <a:r>
              <a:rPr lang="es-AR" dirty="0"/>
              <a:t>	</a:t>
            </a:r>
            <a:r>
              <a:rPr lang="es-AR" dirty="0">
                <a:solidFill>
                  <a:srgbClr val="00B050"/>
                </a:solidFill>
              </a:rPr>
              <a:t>;Limpiar bandera de desborde</a:t>
            </a:r>
          </a:p>
          <a:p>
            <a:pPr marL="0" indent="0">
              <a:buNone/>
            </a:pPr>
            <a:r>
              <a:rPr lang="es-AR" dirty="0"/>
              <a:t>	</a:t>
            </a:r>
            <a:r>
              <a:rPr lang="es-AR" dirty="0" err="1">
                <a:solidFill>
                  <a:srgbClr val="0070C0"/>
                </a:solidFill>
              </a:rPr>
              <a:t>incf</a:t>
            </a:r>
            <a:r>
              <a:rPr lang="es-AR" dirty="0"/>
              <a:t> </a:t>
            </a:r>
            <a:r>
              <a:rPr lang="es-AR" dirty="0" err="1">
                <a:solidFill>
                  <a:srgbClr val="7030A0"/>
                </a:solidFill>
              </a:rPr>
              <a:t>CONT</a:t>
            </a:r>
            <a:r>
              <a:rPr lang="es-AR" dirty="0" err="1"/>
              <a:t>,</a:t>
            </a:r>
            <a:r>
              <a:rPr lang="es-AR" dirty="0" err="1">
                <a:solidFill>
                  <a:srgbClr val="7030A0"/>
                </a:solidFill>
              </a:rPr>
              <a:t>f</a:t>
            </a:r>
            <a:endParaRPr lang="es-AR" dirty="0">
              <a:solidFill>
                <a:srgbClr val="7030A0"/>
              </a:solidFill>
            </a:endParaRPr>
          </a:p>
          <a:p>
            <a:pPr marL="0" indent="0">
              <a:buNone/>
            </a:pPr>
            <a:r>
              <a:rPr lang="es-AR" dirty="0"/>
              <a:t>	</a:t>
            </a:r>
            <a:r>
              <a:rPr lang="es-AR" dirty="0" err="1">
                <a:solidFill>
                  <a:srgbClr val="0070C0"/>
                </a:solidFill>
              </a:rPr>
              <a:t>movlw</a:t>
            </a:r>
            <a:r>
              <a:rPr lang="es-AR" dirty="0"/>
              <a:t> </a:t>
            </a:r>
            <a:r>
              <a:rPr lang="es-AR" dirty="0">
                <a:solidFill>
                  <a:srgbClr val="00B050"/>
                </a:solidFill>
              </a:rPr>
              <a:t>.15</a:t>
            </a:r>
            <a:r>
              <a:rPr lang="es-AR" dirty="0"/>
              <a:t>		</a:t>
            </a:r>
            <a:r>
              <a:rPr lang="es-AR" dirty="0">
                <a:solidFill>
                  <a:srgbClr val="00B050"/>
                </a:solidFill>
              </a:rPr>
              <a:t>;15 porque arranco a contar de 0</a:t>
            </a:r>
          </a:p>
          <a:p>
            <a:pPr marL="0" indent="0">
              <a:buNone/>
            </a:pPr>
            <a:r>
              <a:rPr lang="es-AR" dirty="0"/>
              <a:t>	</a:t>
            </a:r>
            <a:r>
              <a:rPr lang="es-AR" dirty="0" err="1">
                <a:solidFill>
                  <a:srgbClr val="0070C0"/>
                </a:solidFill>
              </a:rPr>
              <a:t>subwf</a:t>
            </a:r>
            <a:r>
              <a:rPr lang="es-AR" dirty="0"/>
              <a:t> </a:t>
            </a:r>
            <a:r>
              <a:rPr lang="es-AR" dirty="0" err="1">
                <a:solidFill>
                  <a:srgbClr val="7030A0"/>
                </a:solidFill>
              </a:rPr>
              <a:t>CONT</a:t>
            </a:r>
            <a:r>
              <a:rPr lang="es-AR" dirty="0" err="1"/>
              <a:t>,</a:t>
            </a:r>
            <a:r>
              <a:rPr lang="es-AR" dirty="0" err="1">
                <a:solidFill>
                  <a:srgbClr val="7030A0"/>
                </a:solidFill>
              </a:rPr>
              <a:t>w</a:t>
            </a:r>
            <a:endParaRPr lang="es-AR" dirty="0">
              <a:solidFill>
                <a:srgbClr val="7030A0"/>
              </a:solidFill>
            </a:endParaRPr>
          </a:p>
          <a:p>
            <a:pPr marL="0" indent="0">
              <a:buNone/>
            </a:pPr>
            <a:r>
              <a:rPr lang="es-AR" dirty="0"/>
              <a:t>	</a:t>
            </a:r>
            <a:r>
              <a:rPr lang="es-AR" dirty="0" err="1">
                <a:solidFill>
                  <a:srgbClr val="0070C0"/>
                </a:solidFill>
              </a:rPr>
              <a:t>btfss</a:t>
            </a:r>
            <a:r>
              <a:rPr lang="es-AR" dirty="0"/>
              <a:t> </a:t>
            </a:r>
            <a:r>
              <a:rPr lang="es-AR" dirty="0">
                <a:solidFill>
                  <a:srgbClr val="7030A0"/>
                </a:solidFill>
              </a:rPr>
              <a:t>STATUS</a:t>
            </a:r>
            <a:r>
              <a:rPr lang="es-AR" dirty="0"/>
              <a:t>,</a:t>
            </a:r>
            <a:r>
              <a:rPr lang="es-AR" dirty="0">
                <a:solidFill>
                  <a:srgbClr val="7030A0"/>
                </a:solidFill>
              </a:rPr>
              <a:t>Z</a:t>
            </a:r>
            <a:r>
              <a:rPr lang="es-AR" dirty="0"/>
              <a:t>		</a:t>
            </a:r>
            <a:r>
              <a:rPr lang="es-AR" dirty="0">
                <a:solidFill>
                  <a:srgbClr val="00B050"/>
                </a:solidFill>
              </a:rPr>
              <a:t>;Z=1?</a:t>
            </a:r>
          </a:p>
          <a:p>
            <a:pPr marL="0" indent="0">
              <a:buNone/>
            </a:pPr>
            <a:r>
              <a:rPr lang="es-AR" dirty="0"/>
              <a:t>	</a:t>
            </a:r>
            <a:r>
              <a:rPr lang="es-AR" dirty="0" err="1">
                <a:solidFill>
                  <a:srgbClr val="0070C0"/>
                </a:solidFill>
              </a:rPr>
              <a:t>goto</a:t>
            </a:r>
            <a:r>
              <a:rPr lang="es-AR" dirty="0"/>
              <a:t> </a:t>
            </a:r>
            <a:r>
              <a:rPr lang="es-AR" dirty="0">
                <a:solidFill>
                  <a:srgbClr val="7030A0"/>
                </a:solidFill>
              </a:rPr>
              <a:t>NO_ES_16</a:t>
            </a:r>
            <a:r>
              <a:rPr lang="es-AR" dirty="0"/>
              <a:t>		</a:t>
            </a:r>
            <a:r>
              <a:rPr lang="es-AR" dirty="0">
                <a:solidFill>
                  <a:srgbClr val="00B050"/>
                </a:solidFill>
              </a:rPr>
              <a:t>;Z=0</a:t>
            </a:r>
          </a:p>
          <a:p>
            <a:pPr marL="0" indent="0">
              <a:buNone/>
            </a:pPr>
            <a:r>
              <a:rPr lang="es-AR" dirty="0"/>
              <a:t>	</a:t>
            </a:r>
            <a:r>
              <a:rPr lang="es-AR" dirty="0" err="1">
                <a:solidFill>
                  <a:srgbClr val="0070C0"/>
                </a:solidFill>
              </a:rPr>
              <a:t>clrf</a:t>
            </a:r>
            <a:r>
              <a:rPr lang="es-AR" dirty="0"/>
              <a:t> </a:t>
            </a:r>
            <a:r>
              <a:rPr lang="es-AR" dirty="0">
                <a:solidFill>
                  <a:srgbClr val="7030A0"/>
                </a:solidFill>
              </a:rPr>
              <a:t>CONT</a:t>
            </a:r>
            <a:r>
              <a:rPr lang="es-AR" dirty="0"/>
              <a:t>		</a:t>
            </a:r>
            <a:r>
              <a:rPr lang="es-AR" dirty="0">
                <a:solidFill>
                  <a:srgbClr val="00B050"/>
                </a:solidFill>
              </a:rPr>
              <a:t>;Z=1</a:t>
            </a:r>
          </a:p>
          <a:p>
            <a:pPr marL="0" indent="0">
              <a:buNone/>
            </a:pPr>
            <a:r>
              <a:rPr lang="es-AR" dirty="0"/>
              <a:t>	</a:t>
            </a:r>
            <a:r>
              <a:rPr lang="es-AR" dirty="0">
                <a:solidFill>
                  <a:srgbClr val="0070C0"/>
                </a:solidFill>
              </a:rPr>
              <a:t>INCF</a:t>
            </a:r>
            <a:r>
              <a:rPr lang="es-AR" dirty="0"/>
              <a:t> </a:t>
            </a:r>
            <a:r>
              <a:rPr lang="es-AR" dirty="0" err="1">
                <a:solidFill>
                  <a:srgbClr val="7030A0"/>
                </a:solidFill>
              </a:rPr>
              <a:t>ESTADO_LED</a:t>
            </a:r>
            <a:r>
              <a:rPr lang="es-AR" dirty="0" err="1"/>
              <a:t>,</a:t>
            </a:r>
            <a:r>
              <a:rPr lang="es-AR" dirty="0" err="1">
                <a:solidFill>
                  <a:srgbClr val="7030A0"/>
                </a:solidFill>
              </a:rPr>
              <a:t>f</a:t>
            </a:r>
            <a:endParaRPr lang="es-AR" dirty="0">
              <a:solidFill>
                <a:srgbClr val="7030A0"/>
              </a:solidFill>
            </a:endParaRPr>
          </a:p>
          <a:p>
            <a:pPr marL="0" indent="0">
              <a:buNone/>
            </a:pPr>
            <a:r>
              <a:rPr lang="es-AR" dirty="0"/>
              <a:t>	</a:t>
            </a:r>
            <a:r>
              <a:rPr lang="es-AR" dirty="0">
                <a:solidFill>
                  <a:srgbClr val="0070C0"/>
                </a:solidFill>
              </a:rPr>
              <a:t>MOVF</a:t>
            </a:r>
            <a:r>
              <a:rPr lang="es-AR" dirty="0"/>
              <a:t> </a:t>
            </a:r>
            <a:r>
              <a:rPr lang="es-AR" dirty="0" err="1">
                <a:solidFill>
                  <a:srgbClr val="7030A0"/>
                </a:solidFill>
              </a:rPr>
              <a:t>ESTADO_LED</a:t>
            </a:r>
            <a:r>
              <a:rPr lang="es-AR" dirty="0" err="1"/>
              <a:t>,</a:t>
            </a:r>
            <a:r>
              <a:rPr lang="es-AR" dirty="0" err="1">
                <a:solidFill>
                  <a:srgbClr val="7030A0"/>
                </a:solidFill>
              </a:rPr>
              <a:t>w</a:t>
            </a:r>
            <a:endParaRPr lang="es-AR" dirty="0">
              <a:solidFill>
                <a:srgbClr val="7030A0"/>
              </a:solidFill>
            </a:endParaRPr>
          </a:p>
          <a:p>
            <a:pPr marL="0" indent="0">
              <a:buNone/>
            </a:pPr>
            <a:r>
              <a:rPr lang="es-AR" dirty="0"/>
              <a:t>	</a:t>
            </a:r>
            <a:r>
              <a:rPr lang="es-AR" dirty="0" err="1">
                <a:solidFill>
                  <a:srgbClr val="0070C0"/>
                </a:solidFill>
              </a:rPr>
              <a:t>andlw</a:t>
            </a:r>
            <a:r>
              <a:rPr lang="es-AR" dirty="0"/>
              <a:t> </a:t>
            </a:r>
            <a:r>
              <a:rPr lang="es-AR" dirty="0">
                <a:solidFill>
                  <a:srgbClr val="0070C0"/>
                </a:solidFill>
              </a:rPr>
              <a:t>b'00000001’</a:t>
            </a:r>
          </a:p>
          <a:p>
            <a:pPr marL="0" indent="0">
              <a:buNone/>
            </a:pPr>
            <a:r>
              <a:rPr lang="es-AR" dirty="0"/>
              <a:t>	</a:t>
            </a:r>
            <a:r>
              <a:rPr lang="es-AR" dirty="0" err="1">
                <a:solidFill>
                  <a:srgbClr val="0070C0"/>
                </a:solidFill>
              </a:rPr>
              <a:t>movwf</a:t>
            </a:r>
            <a:r>
              <a:rPr lang="es-AR" dirty="0"/>
              <a:t> </a:t>
            </a:r>
            <a:r>
              <a:rPr lang="es-AR" dirty="0">
                <a:solidFill>
                  <a:srgbClr val="7030A0"/>
                </a:solidFill>
              </a:rPr>
              <a:t>PORTB</a:t>
            </a:r>
          </a:p>
          <a:p>
            <a:pPr marL="0" indent="0">
              <a:buNone/>
            </a:pPr>
            <a:r>
              <a:rPr lang="es-AR" dirty="0"/>
              <a:t>	</a:t>
            </a:r>
            <a:r>
              <a:rPr lang="es-AR" dirty="0">
                <a:solidFill>
                  <a:srgbClr val="0070C0"/>
                </a:solidFill>
              </a:rPr>
              <a:t>RETFIE</a:t>
            </a:r>
          </a:p>
          <a:p>
            <a:pPr marL="0" indent="0">
              <a:buNone/>
            </a:pPr>
            <a:endParaRPr lang="es-AR" dirty="0"/>
          </a:p>
          <a:p>
            <a:pPr marL="0" indent="0">
              <a:buNone/>
            </a:pPr>
            <a:r>
              <a:rPr lang="es-AR" dirty="0">
                <a:solidFill>
                  <a:srgbClr val="7030A0"/>
                </a:solidFill>
              </a:rPr>
              <a:t>NO_ES_16</a:t>
            </a:r>
            <a:r>
              <a:rPr lang="es-AR" dirty="0"/>
              <a:t>	</a:t>
            </a:r>
          </a:p>
          <a:p>
            <a:pPr marL="0" indent="0">
              <a:buNone/>
            </a:pPr>
            <a:r>
              <a:rPr lang="es-AR" dirty="0"/>
              <a:t>	</a:t>
            </a:r>
            <a:r>
              <a:rPr lang="es-AR" dirty="0" err="1">
                <a:solidFill>
                  <a:srgbClr val="0070C0"/>
                </a:solidFill>
              </a:rPr>
              <a:t>clrf</a:t>
            </a:r>
            <a:r>
              <a:rPr lang="es-AR" dirty="0"/>
              <a:t> </a:t>
            </a:r>
            <a:r>
              <a:rPr lang="es-AR" dirty="0">
                <a:solidFill>
                  <a:srgbClr val="7030A0"/>
                </a:solidFill>
              </a:rPr>
              <a:t>TMR0</a:t>
            </a:r>
          </a:p>
          <a:p>
            <a:pPr marL="0" indent="0">
              <a:buNone/>
            </a:pPr>
            <a:r>
              <a:rPr lang="es-AR" dirty="0"/>
              <a:t>	</a:t>
            </a:r>
            <a:r>
              <a:rPr lang="es-AR" dirty="0">
                <a:solidFill>
                  <a:srgbClr val="0070C0"/>
                </a:solidFill>
              </a:rPr>
              <a:t>RETFIE</a:t>
            </a:r>
          </a:p>
        </p:txBody>
      </p:sp>
    </p:spTree>
    <p:extLst>
      <p:ext uri="{BB962C8B-B14F-4D97-AF65-F5344CB8AC3E}">
        <p14:creationId xmlns:p14="http://schemas.microsoft.com/office/powerpoint/2010/main" val="135171638"/>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4F79E-A4ED-55E1-140B-CD5A5291A0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E4F09E-752A-6A4A-6D95-22ED90CACCE2}"/>
              </a:ext>
            </a:extLst>
          </p:cNvPr>
          <p:cNvSpPr>
            <a:spLocks noGrp="1"/>
          </p:cNvSpPr>
          <p:nvPr>
            <p:ph type="title"/>
          </p:nvPr>
        </p:nvSpPr>
        <p:spPr/>
        <p:txBody>
          <a:bodyPr/>
          <a:lstStyle/>
          <a:p>
            <a:r>
              <a:rPr lang="es-AR" b="1" dirty="0">
                <a:solidFill>
                  <a:srgbClr val="FF0000"/>
                </a:solidFill>
                <a:effectLst>
                  <a:outerShdw blurRad="38100" dist="38100" dir="2700000" algn="tl">
                    <a:srgbClr val="000000">
                      <a:alpha val="43137"/>
                    </a:srgbClr>
                  </a:outerShdw>
                </a:effectLst>
              </a:rPr>
              <a:t>Demoras con Timer0 1seg</a:t>
            </a:r>
          </a:p>
        </p:txBody>
      </p:sp>
      <p:sp>
        <p:nvSpPr>
          <p:cNvPr id="3" name="Marcador de contenido 2">
            <a:extLst>
              <a:ext uri="{FF2B5EF4-FFF2-40B4-BE49-F238E27FC236}">
                <a16:creationId xmlns:a16="http://schemas.microsoft.com/office/drawing/2014/main" id="{03BFF623-2A80-A960-061B-7ED084F20070}"/>
              </a:ext>
            </a:extLst>
          </p:cNvPr>
          <p:cNvSpPr>
            <a:spLocks noGrp="1"/>
          </p:cNvSpPr>
          <p:nvPr>
            <p:ph idx="1"/>
          </p:nvPr>
        </p:nvSpPr>
        <p:spPr>
          <a:xfrm>
            <a:off x="317500" y="1417638"/>
            <a:ext cx="10744200" cy="6705599"/>
          </a:xfrm>
        </p:spPr>
        <p:txBody>
          <a:bodyPr>
            <a:normAutofit fontScale="55000" lnSpcReduction="20000"/>
          </a:bodyPr>
          <a:lstStyle/>
          <a:p>
            <a:pPr marL="0" indent="0">
              <a:buNone/>
            </a:pPr>
            <a:r>
              <a:rPr lang="es-AR" dirty="0">
                <a:solidFill>
                  <a:srgbClr val="7030A0"/>
                </a:solidFill>
              </a:rPr>
              <a:t>INICIO</a:t>
            </a:r>
          </a:p>
          <a:p>
            <a:pPr marL="0" indent="0">
              <a:buNone/>
            </a:pPr>
            <a:r>
              <a:rPr lang="es-AR" dirty="0"/>
              <a:t>    </a:t>
            </a:r>
            <a:r>
              <a:rPr lang="es-AR" dirty="0">
                <a:solidFill>
                  <a:srgbClr val="0070C0"/>
                </a:solidFill>
              </a:rPr>
              <a:t>BSF</a:t>
            </a:r>
            <a:r>
              <a:rPr lang="es-AR" dirty="0"/>
              <a:t> </a:t>
            </a:r>
            <a:r>
              <a:rPr lang="es-AR" dirty="0">
                <a:solidFill>
                  <a:srgbClr val="7030A0"/>
                </a:solidFill>
              </a:rPr>
              <a:t>STATUS</a:t>
            </a:r>
            <a:r>
              <a:rPr lang="es-AR" dirty="0"/>
              <a:t>, </a:t>
            </a:r>
            <a:r>
              <a:rPr lang="es-AR" dirty="0">
                <a:solidFill>
                  <a:srgbClr val="7030A0"/>
                </a:solidFill>
              </a:rPr>
              <a:t>RP0</a:t>
            </a:r>
          </a:p>
          <a:p>
            <a:pPr marL="0" indent="0">
              <a:buNone/>
            </a:pPr>
            <a:r>
              <a:rPr lang="es-AR" dirty="0"/>
              <a:t>    </a:t>
            </a:r>
            <a:r>
              <a:rPr lang="es-AR" dirty="0">
                <a:solidFill>
                  <a:srgbClr val="0070C0"/>
                </a:solidFill>
              </a:rPr>
              <a:t>BCF</a:t>
            </a:r>
            <a:r>
              <a:rPr lang="es-AR" dirty="0"/>
              <a:t> </a:t>
            </a:r>
            <a:r>
              <a:rPr lang="es-AR" dirty="0">
                <a:solidFill>
                  <a:srgbClr val="7030A0"/>
                </a:solidFill>
              </a:rPr>
              <a:t>TRISB</a:t>
            </a:r>
            <a:r>
              <a:rPr lang="es-AR" dirty="0"/>
              <a:t>,0 		</a:t>
            </a:r>
            <a:r>
              <a:rPr lang="es-AR" dirty="0">
                <a:solidFill>
                  <a:srgbClr val="00B050"/>
                </a:solidFill>
              </a:rPr>
              <a:t>;RB0 como salida</a:t>
            </a:r>
          </a:p>
          <a:p>
            <a:pPr marL="0" indent="0">
              <a:buNone/>
            </a:pPr>
            <a:r>
              <a:rPr lang="es-AR" dirty="0"/>
              <a:t>    </a:t>
            </a:r>
            <a:r>
              <a:rPr lang="es-AR" dirty="0">
                <a:solidFill>
                  <a:srgbClr val="0070C0"/>
                </a:solidFill>
              </a:rPr>
              <a:t>BCF</a:t>
            </a:r>
            <a:r>
              <a:rPr lang="es-AR" dirty="0"/>
              <a:t> </a:t>
            </a:r>
            <a:r>
              <a:rPr lang="es-AR" dirty="0">
                <a:solidFill>
                  <a:srgbClr val="7030A0"/>
                </a:solidFill>
              </a:rPr>
              <a:t>STATUS</a:t>
            </a:r>
            <a:r>
              <a:rPr lang="es-AR" dirty="0"/>
              <a:t>, </a:t>
            </a:r>
            <a:r>
              <a:rPr lang="es-AR" dirty="0">
                <a:solidFill>
                  <a:srgbClr val="7030A0"/>
                </a:solidFill>
              </a:rPr>
              <a:t>RP0</a:t>
            </a:r>
          </a:p>
          <a:p>
            <a:pPr marL="0" indent="0">
              <a:buNone/>
            </a:pPr>
            <a:endParaRPr lang="es-AR" dirty="0"/>
          </a:p>
          <a:p>
            <a:pPr marL="0" indent="0">
              <a:buNone/>
            </a:pPr>
            <a:r>
              <a:rPr lang="es-AR" dirty="0"/>
              <a:t>    </a:t>
            </a:r>
            <a:r>
              <a:rPr lang="es-AR" dirty="0">
                <a:solidFill>
                  <a:srgbClr val="0070C0"/>
                </a:solidFill>
              </a:rPr>
              <a:t>CLRF</a:t>
            </a:r>
            <a:r>
              <a:rPr lang="es-AR" dirty="0"/>
              <a:t> </a:t>
            </a:r>
            <a:r>
              <a:rPr lang="es-AR" dirty="0">
                <a:solidFill>
                  <a:srgbClr val="7030A0"/>
                </a:solidFill>
              </a:rPr>
              <a:t>PORTB</a:t>
            </a:r>
          </a:p>
          <a:p>
            <a:pPr marL="0" indent="0">
              <a:buNone/>
            </a:pPr>
            <a:r>
              <a:rPr lang="es-AR" dirty="0"/>
              <a:t>    </a:t>
            </a:r>
            <a:r>
              <a:rPr lang="es-AR" dirty="0">
                <a:solidFill>
                  <a:srgbClr val="0070C0"/>
                </a:solidFill>
              </a:rPr>
              <a:t>CLRF</a:t>
            </a:r>
            <a:r>
              <a:rPr lang="es-AR" dirty="0"/>
              <a:t> </a:t>
            </a:r>
            <a:r>
              <a:rPr lang="es-AR" dirty="0">
                <a:solidFill>
                  <a:srgbClr val="7030A0"/>
                </a:solidFill>
              </a:rPr>
              <a:t>ESTADO_LED</a:t>
            </a:r>
          </a:p>
          <a:p>
            <a:pPr marL="0" indent="0">
              <a:buNone/>
            </a:pPr>
            <a:r>
              <a:rPr lang="es-AR" dirty="0"/>
              <a:t>    </a:t>
            </a:r>
            <a:r>
              <a:rPr lang="es-AR" dirty="0" err="1">
                <a:solidFill>
                  <a:srgbClr val="0070C0"/>
                </a:solidFill>
              </a:rPr>
              <a:t>clrf</a:t>
            </a:r>
            <a:r>
              <a:rPr lang="es-AR" dirty="0"/>
              <a:t> </a:t>
            </a:r>
            <a:r>
              <a:rPr lang="es-AR" dirty="0">
                <a:solidFill>
                  <a:srgbClr val="7030A0"/>
                </a:solidFill>
              </a:rPr>
              <a:t>CONT</a:t>
            </a:r>
          </a:p>
          <a:p>
            <a:pPr marL="0" indent="0">
              <a:buNone/>
            </a:pPr>
            <a:endParaRPr lang="es-AR" dirty="0"/>
          </a:p>
          <a:p>
            <a:pPr marL="0" indent="0">
              <a:buNone/>
            </a:pPr>
            <a:r>
              <a:rPr lang="es-AR" dirty="0"/>
              <a:t>    </a:t>
            </a:r>
            <a:r>
              <a:rPr lang="es-AR" dirty="0">
                <a:solidFill>
                  <a:srgbClr val="0070C0"/>
                </a:solidFill>
              </a:rPr>
              <a:t>BSF</a:t>
            </a:r>
            <a:r>
              <a:rPr lang="es-AR" dirty="0"/>
              <a:t> </a:t>
            </a:r>
            <a:r>
              <a:rPr lang="es-AR" dirty="0">
                <a:solidFill>
                  <a:srgbClr val="7030A0"/>
                </a:solidFill>
              </a:rPr>
              <a:t>STATUS</a:t>
            </a:r>
            <a:r>
              <a:rPr lang="es-AR" dirty="0"/>
              <a:t>, </a:t>
            </a:r>
            <a:r>
              <a:rPr lang="es-AR" dirty="0">
                <a:solidFill>
                  <a:srgbClr val="7030A0"/>
                </a:solidFill>
              </a:rPr>
              <a:t>RP0</a:t>
            </a:r>
          </a:p>
          <a:p>
            <a:pPr marL="0" indent="0">
              <a:buNone/>
            </a:pPr>
            <a:r>
              <a:rPr lang="es-AR" dirty="0"/>
              <a:t>    </a:t>
            </a:r>
            <a:r>
              <a:rPr lang="es-AR" dirty="0">
                <a:solidFill>
                  <a:srgbClr val="0070C0"/>
                </a:solidFill>
              </a:rPr>
              <a:t>MOVLW</a:t>
            </a:r>
            <a:r>
              <a:rPr lang="es-AR" dirty="0"/>
              <a:t> </a:t>
            </a:r>
            <a:r>
              <a:rPr lang="es-AR" dirty="0">
                <a:solidFill>
                  <a:srgbClr val="0070C0"/>
                </a:solidFill>
              </a:rPr>
              <a:t>B'00000111’ </a:t>
            </a:r>
            <a:r>
              <a:rPr lang="es-AR" dirty="0"/>
              <a:t>	</a:t>
            </a:r>
            <a:r>
              <a:rPr lang="es-AR" dirty="0">
                <a:solidFill>
                  <a:srgbClr val="00B050"/>
                </a:solidFill>
              </a:rPr>
              <a:t>; </a:t>
            </a:r>
            <a:r>
              <a:rPr lang="es-AR" dirty="0" err="1">
                <a:solidFill>
                  <a:srgbClr val="00B050"/>
                </a:solidFill>
              </a:rPr>
              <a:t>Prescaler</a:t>
            </a:r>
            <a:r>
              <a:rPr lang="es-AR" dirty="0">
                <a:solidFill>
                  <a:srgbClr val="00B050"/>
                </a:solidFill>
              </a:rPr>
              <a:t> (1:256)</a:t>
            </a:r>
          </a:p>
          <a:p>
            <a:pPr marL="0" indent="0">
              <a:buNone/>
            </a:pPr>
            <a:r>
              <a:rPr lang="es-AR" dirty="0"/>
              <a:t>    </a:t>
            </a:r>
            <a:r>
              <a:rPr lang="es-AR" dirty="0">
                <a:solidFill>
                  <a:srgbClr val="0070C0"/>
                </a:solidFill>
              </a:rPr>
              <a:t>MOVWF</a:t>
            </a:r>
            <a:r>
              <a:rPr lang="es-AR" dirty="0"/>
              <a:t> </a:t>
            </a:r>
            <a:r>
              <a:rPr lang="es-AR" dirty="0">
                <a:solidFill>
                  <a:srgbClr val="7030A0"/>
                </a:solidFill>
              </a:rPr>
              <a:t>OPTION_REG</a:t>
            </a:r>
          </a:p>
          <a:p>
            <a:pPr marL="0" indent="0">
              <a:buNone/>
            </a:pPr>
            <a:r>
              <a:rPr lang="es-AR" dirty="0"/>
              <a:t>    </a:t>
            </a:r>
            <a:r>
              <a:rPr lang="es-AR" dirty="0">
                <a:solidFill>
                  <a:srgbClr val="0070C0"/>
                </a:solidFill>
              </a:rPr>
              <a:t>BCF</a:t>
            </a:r>
            <a:r>
              <a:rPr lang="es-AR" dirty="0"/>
              <a:t> </a:t>
            </a:r>
            <a:r>
              <a:rPr lang="es-AR" dirty="0">
                <a:solidFill>
                  <a:srgbClr val="7030A0"/>
                </a:solidFill>
              </a:rPr>
              <a:t>STATUS</a:t>
            </a:r>
            <a:r>
              <a:rPr lang="es-AR" dirty="0"/>
              <a:t>, </a:t>
            </a:r>
            <a:r>
              <a:rPr lang="es-AR" dirty="0">
                <a:solidFill>
                  <a:srgbClr val="7030A0"/>
                </a:solidFill>
              </a:rPr>
              <a:t>RP0</a:t>
            </a:r>
          </a:p>
          <a:p>
            <a:pPr marL="0" indent="0">
              <a:buNone/>
            </a:pPr>
            <a:endParaRPr lang="es-AR" dirty="0"/>
          </a:p>
          <a:p>
            <a:pPr marL="0" indent="0">
              <a:buNone/>
            </a:pPr>
            <a:r>
              <a:rPr lang="es-AR" dirty="0"/>
              <a:t>    </a:t>
            </a:r>
            <a:r>
              <a:rPr lang="es-AR" dirty="0">
                <a:solidFill>
                  <a:srgbClr val="0070C0"/>
                </a:solidFill>
              </a:rPr>
              <a:t>BSF</a:t>
            </a:r>
            <a:r>
              <a:rPr lang="es-AR" dirty="0"/>
              <a:t> </a:t>
            </a:r>
            <a:r>
              <a:rPr lang="es-AR" dirty="0">
                <a:solidFill>
                  <a:srgbClr val="7030A0"/>
                </a:solidFill>
              </a:rPr>
              <a:t>INTCON</a:t>
            </a:r>
            <a:r>
              <a:rPr lang="es-AR" dirty="0"/>
              <a:t>, </a:t>
            </a:r>
            <a:r>
              <a:rPr lang="es-AR" dirty="0">
                <a:solidFill>
                  <a:srgbClr val="7030A0"/>
                </a:solidFill>
              </a:rPr>
              <a:t>GIE</a:t>
            </a:r>
            <a:r>
              <a:rPr lang="es-AR" dirty="0"/>
              <a:t>   	</a:t>
            </a:r>
            <a:r>
              <a:rPr lang="es-AR" dirty="0">
                <a:solidFill>
                  <a:srgbClr val="00B050"/>
                </a:solidFill>
              </a:rPr>
              <a:t>; Interrupciones globales</a:t>
            </a:r>
          </a:p>
          <a:p>
            <a:pPr marL="0" indent="0">
              <a:buNone/>
            </a:pPr>
            <a:r>
              <a:rPr lang="es-AR" dirty="0"/>
              <a:t>    </a:t>
            </a:r>
            <a:r>
              <a:rPr lang="es-AR" dirty="0">
                <a:solidFill>
                  <a:srgbClr val="0070C0"/>
                </a:solidFill>
              </a:rPr>
              <a:t>BSF</a:t>
            </a:r>
            <a:r>
              <a:rPr lang="es-AR" dirty="0"/>
              <a:t> </a:t>
            </a:r>
            <a:r>
              <a:rPr lang="es-AR" dirty="0">
                <a:solidFill>
                  <a:srgbClr val="7030A0"/>
                </a:solidFill>
              </a:rPr>
              <a:t>INTCON</a:t>
            </a:r>
            <a:r>
              <a:rPr lang="es-AR" dirty="0"/>
              <a:t>, </a:t>
            </a:r>
            <a:r>
              <a:rPr lang="es-AR" dirty="0">
                <a:solidFill>
                  <a:srgbClr val="7030A0"/>
                </a:solidFill>
              </a:rPr>
              <a:t>T0IE</a:t>
            </a:r>
            <a:r>
              <a:rPr lang="es-AR" dirty="0"/>
              <a:t> 	</a:t>
            </a:r>
            <a:r>
              <a:rPr lang="es-AR" dirty="0">
                <a:solidFill>
                  <a:srgbClr val="00B050"/>
                </a:solidFill>
              </a:rPr>
              <a:t>; Interrupción por Timer0</a:t>
            </a:r>
          </a:p>
          <a:p>
            <a:pPr marL="0" indent="0">
              <a:buNone/>
            </a:pPr>
            <a:r>
              <a:rPr lang="es-AR" dirty="0"/>
              <a:t>    </a:t>
            </a:r>
            <a:r>
              <a:rPr lang="es-AR" dirty="0" err="1">
                <a:solidFill>
                  <a:srgbClr val="0070C0"/>
                </a:solidFill>
              </a:rPr>
              <a:t>movlw</a:t>
            </a:r>
            <a:r>
              <a:rPr lang="es-AR" dirty="0"/>
              <a:t> </a:t>
            </a:r>
            <a:r>
              <a:rPr lang="es-AR" dirty="0">
                <a:solidFill>
                  <a:srgbClr val="00B050"/>
                </a:solidFill>
              </a:rPr>
              <a:t>.190</a:t>
            </a:r>
          </a:p>
          <a:p>
            <a:pPr marL="0" indent="0">
              <a:buNone/>
            </a:pPr>
            <a:r>
              <a:rPr lang="es-AR" dirty="0"/>
              <a:t>    </a:t>
            </a:r>
            <a:r>
              <a:rPr lang="es-AR" dirty="0" err="1">
                <a:solidFill>
                  <a:srgbClr val="0070C0"/>
                </a:solidFill>
              </a:rPr>
              <a:t>movwf</a:t>
            </a:r>
            <a:r>
              <a:rPr lang="es-AR" dirty="0"/>
              <a:t> </a:t>
            </a:r>
            <a:r>
              <a:rPr lang="es-AR" dirty="0">
                <a:solidFill>
                  <a:srgbClr val="7030A0"/>
                </a:solidFill>
              </a:rPr>
              <a:t>TMR0</a:t>
            </a:r>
          </a:p>
          <a:p>
            <a:pPr marL="0" indent="0">
              <a:buNone/>
            </a:pPr>
            <a:endParaRPr lang="es-AR" dirty="0"/>
          </a:p>
          <a:p>
            <a:pPr marL="0" indent="0">
              <a:buNone/>
            </a:pPr>
            <a:r>
              <a:rPr lang="es-AR" dirty="0"/>
              <a:t>    </a:t>
            </a:r>
            <a:r>
              <a:rPr lang="es-AR" dirty="0">
                <a:solidFill>
                  <a:srgbClr val="0070C0"/>
                </a:solidFill>
              </a:rPr>
              <a:t>GOTO</a:t>
            </a:r>
            <a:r>
              <a:rPr lang="es-AR" dirty="0"/>
              <a:t> $</a:t>
            </a:r>
          </a:p>
          <a:p>
            <a:pPr marL="0" indent="0">
              <a:buNone/>
            </a:pPr>
            <a:endParaRPr lang="es-AR" dirty="0"/>
          </a:p>
          <a:p>
            <a:pPr marL="0" indent="0">
              <a:buNone/>
            </a:pPr>
            <a:r>
              <a:rPr lang="es-AR" dirty="0"/>
              <a:t>    </a:t>
            </a:r>
            <a:r>
              <a:rPr lang="es-AR" dirty="0">
                <a:solidFill>
                  <a:srgbClr val="0070C0"/>
                </a:solidFill>
              </a:rPr>
              <a:t>END</a:t>
            </a:r>
          </a:p>
        </p:txBody>
      </p:sp>
    </p:spTree>
    <p:extLst>
      <p:ext uri="{BB962C8B-B14F-4D97-AF65-F5344CB8AC3E}">
        <p14:creationId xmlns:p14="http://schemas.microsoft.com/office/powerpoint/2010/main" val="230737299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91F543-3DAB-D01E-DBED-E48229B1AD60}"/>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pic>
        <p:nvPicPr>
          <p:cNvPr id="5" name="Imagen 4">
            <a:extLst>
              <a:ext uri="{FF2B5EF4-FFF2-40B4-BE49-F238E27FC236}">
                <a16:creationId xmlns:a16="http://schemas.microsoft.com/office/drawing/2014/main" id="{1353367B-AB04-C79D-B6B0-FBE24A1CCC36}"/>
              </a:ext>
            </a:extLst>
          </p:cNvPr>
          <p:cNvPicPr>
            <a:picLocks noChangeAspect="1"/>
          </p:cNvPicPr>
          <p:nvPr/>
        </p:nvPicPr>
        <p:blipFill>
          <a:blip r:embed="rId2"/>
          <a:stretch>
            <a:fillRect/>
          </a:stretch>
        </p:blipFill>
        <p:spPr>
          <a:xfrm>
            <a:off x="1308100" y="1462074"/>
            <a:ext cx="7606348" cy="5961088"/>
          </a:xfrm>
          <a:prstGeom prst="rect">
            <a:avLst/>
          </a:prstGeom>
        </p:spPr>
      </p:pic>
    </p:spTree>
    <p:extLst>
      <p:ext uri="{BB962C8B-B14F-4D97-AF65-F5344CB8AC3E}">
        <p14:creationId xmlns:p14="http://schemas.microsoft.com/office/powerpoint/2010/main" val="374559416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4199D-AFC8-D16F-471C-9DD615B939E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4DE18D-DF0D-7C45-F75D-0BC709597D60}"/>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56006F54-DE83-6214-3C88-A044CB1EF30E}"/>
              </a:ext>
            </a:extLst>
          </p:cNvPr>
          <p:cNvSpPr>
            <a:spLocks noGrp="1"/>
          </p:cNvSpPr>
          <p:nvPr>
            <p:ph idx="1"/>
          </p:nvPr>
        </p:nvSpPr>
        <p:spPr>
          <a:xfrm>
            <a:off x="457200" y="1600200"/>
            <a:ext cx="9918700" cy="5684837"/>
          </a:xfrm>
        </p:spPr>
        <p:txBody>
          <a:bodyPr>
            <a:normAutofit fontScale="92500"/>
          </a:bodyPr>
          <a:lstStyle/>
          <a:p>
            <a:pPr marL="0" indent="0">
              <a:buNone/>
            </a:pPr>
            <a:r>
              <a:rPr lang="es-MX" dirty="0">
                <a:solidFill>
                  <a:srgbClr val="0070C0"/>
                </a:solidFill>
              </a:rPr>
              <a:t>#include </a:t>
            </a:r>
            <a:r>
              <a:rPr lang="es-MX" dirty="0"/>
              <a:t>&lt;</a:t>
            </a:r>
            <a:r>
              <a:rPr lang="es-MX" dirty="0">
                <a:solidFill>
                  <a:srgbClr val="7030A0"/>
                </a:solidFill>
              </a:rPr>
              <a:t>P16F628A</a:t>
            </a:r>
            <a:r>
              <a:rPr lang="es-MX" dirty="0"/>
              <a:t>.</a:t>
            </a:r>
            <a:r>
              <a:rPr lang="es-MX" dirty="0">
                <a:solidFill>
                  <a:srgbClr val="7030A0"/>
                </a:solidFill>
              </a:rPr>
              <a:t>INC</a:t>
            </a:r>
            <a:r>
              <a:rPr lang="es-MX" dirty="0"/>
              <a:t>&gt;</a:t>
            </a:r>
          </a:p>
          <a:p>
            <a:pPr marL="0" indent="0">
              <a:buNone/>
            </a:pPr>
            <a:r>
              <a:rPr lang="es-MX" dirty="0">
                <a:solidFill>
                  <a:srgbClr val="0070C0"/>
                </a:solidFill>
              </a:rPr>
              <a:t>__CONFIG 0X318</a:t>
            </a:r>
          </a:p>
          <a:p>
            <a:pPr marL="0" indent="0">
              <a:buNone/>
            </a:pPr>
            <a:endParaRPr lang="es-MX" dirty="0"/>
          </a:p>
          <a:p>
            <a:pPr marL="0" indent="0">
              <a:buNone/>
            </a:pPr>
            <a:r>
              <a:rPr lang="es-MX" dirty="0">
                <a:solidFill>
                  <a:srgbClr val="7030A0"/>
                </a:solidFill>
              </a:rPr>
              <a:t>CONT1</a:t>
            </a:r>
            <a:r>
              <a:rPr lang="es-MX" dirty="0"/>
              <a:t>   </a:t>
            </a:r>
            <a:r>
              <a:rPr lang="es-MX" dirty="0">
                <a:solidFill>
                  <a:srgbClr val="0070C0"/>
                </a:solidFill>
              </a:rPr>
              <a:t>EQU 0X20</a:t>
            </a:r>
            <a:r>
              <a:rPr lang="es-MX" dirty="0"/>
              <a:t>         </a:t>
            </a:r>
            <a:r>
              <a:rPr lang="es-MX" dirty="0">
                <a:solidFill>
                  <a:srgbClr val="00B050"/>
                </a:solidFill>
              </a:rPr>
              <a:t>; Contador para </a:t>
            </a:r>
            <a:r>
              <a:rPr lang="es-MX" dirty="0" err="1">
                <a:solidFill>
                  <a:srgbClr val="00B050"/>
                </a:solidFill>
              </a:rPr>
              <a:t>delay</a:t>
            </a:r>
            <a:r>
              <a:rPr lang="es-MX" dirty="0">
                <a:solidFill>
                  <a:srgbClr val="00B050"/>
                </a:solidFill>
              </a:rPr>
              <a:t> de 1 milisegundo</a:t>
            </a:r>
          </a:p>
          <a:p>
            <a:pPr marL="0" indent="0">
              <a:buNone/>
            </a:pPr>
            <a:r>
              <a:rPr lang="es-MX" dirty="0">
                <a:solidFill>
                  <a:srgbClr val="7030A0"/>
                </a:solidFill>
              </a:rPr>
              <a:t>CONT2</a:t>
            </a:r>
            <a:r>
              <a:rPr lang="es-MX" dirty="0"/>
              <a:t>   </a:t>
            </a:r>
            <a:r>
              <a:rPr lang="es-MX" dirty="0">
                <a:solidFill>
                  <a:srgbClr val="0070C0"/>
                </a:solidFill>
              </a:rPr>
              <a:t>EQU 0X21</a:t>
            </a:r>
            <a:r>
              <a:rPr lang="es-MX" dirty="0"/>
              <a:t>         </a:t>
            </a:r>
            <a:r>
              <a:rPr lang="es-MX" dirty="0">
                <a:solidFill>
                  <a:srgbClr val="00B050"/>
                </a:solidFill>
              </a:rPr>
              <a:t>; Contador para </a:t>
            </a:r>
            <a:r>
              <a:rPr lang="es-MX" dirty="0" err="1">
                <a:solidFill>
                  <a:srgbClr val="00B050"/>
                </a:solidFill>
              </a:rPr>
              <a:t>delay</a:t>
            </a:r>
            <a:r>
              <a:rPr lang="es-MX" dirty="0">
                <a:solidFill>
                  <a:srgbClr val="00B050"/>
                </a:solidFill>
              </a:rPr>
              <a:t> de ~50 ms </a:t>
            </a:r>
          </a:p>
          <a:p>
            <a:pPr marL="0" indent="0">
              <a:buNone/>
            </a:pPr>
            <a:r>
              <a:rPr lang="es-MX" dirty="0">
                <a:solidFill>
                  <a:srgbClr val="7030A0"/>
                </a:solidFill>
              </a:rPr>
              <a:t>CONT3</a:t>
            </a:r>
            <a:r>
              <a:rPr lang="es-MX" dirty="0"/>
              <a:t>   </a:t>
            </a:r>
            <a:r>
              <a:rPr lang="es-MX" dirty="0">
                <a:solidFill>
                  <a:srgbClr val="0070C0"/>
                </a:solidFill>
              </a:rPr>
              <a:t>EQU 0X22</a:t>
            </a:r>
            <a:r>
              <a:rPr lang="es-MX" dirty="0"/>
              <a:t>         </a:t>
            </a:r>
            <a:r>
              <a:rPr lang="es-MX" dirty="0">
                <a:solidFill>
                  <a:srgbClr val="00B050"/>
                </a:solidFill>
              </a:rPr>
              <a:t>; Contador para </a:t>
            </a:r>
            <a:r>
              <a:rPr lang="es-MX" dirty="0" err="1">
                <a:solidFill>
                  <a:srgbClr val="00B050"/>
                </a:solidFill>
              </a:rPr>
              <a:t>delay</a:t>
            </a:r>
            <a:r>
              <a:rPr lang="es-MX" dirty="0">
                <a:solidFill>
                  <a:srgbClr val="00B050"/>
                </a:solidFill>
              </a:rPr>
              <a:t> de ~1 segundo</a:t>
            </a:r>
          </a:p>
          <a:p>
            <a:pPr marL="0" indent="0">
              <a:buNone/>
            </a:pPr>
            <a:r>
              <a:rPr lang="es-MX" dirty="0">
                <a:solidFill>
                  <a:srgbClr val="7030A0"/>
                </a:solidFill>
              </a:rPr>
              <a:t>INDICE</a:t>
            </a:r>
            <a:r>
              <a:rPr lang="es-MX" dirty="0"/>
              <a:t>  </a:t>
            </a:r>
            <a:r>
              <a:rPr lang="es-MX" dirty="0">
                <a:solidFill>
                  <a:srgbClr val="0070C0"/>
                </a:solidFill>
              </a:rPr>
              <a:t>EQU 0X23</a:t>
            </a:r>
            <a:r>
              <a:rPr lang="es-MX" dirty="0"/>
              <a:t>         </a:t>
            </a:r>
            <a:r>
              <a:rPr lang="es-MX" dirty="0">
                <a:solidFill>
                  <a:srgbClr val="00B050"/>
                </a:solidFill>
              </a:rPr>
              <a:t>; Índice para recorrer la tabla de </a:t>
            </a:r>
            <a:r>
              <a:rPr lang="es-MX" dirty="0"/>
              <a:t>					</a:t>
            </a:r>
            <a:r>
              <a:rPr lang="es-MX" dirty="0">
                <a:solidFill>
                  <a:srgbClr val="00B050"/>
                </a:solidFill>
              </a:rPr>
              <a:t>;caracteres</a:t>
            </a:r>
          </a:p>
          <a:p>
            <a:pPr marL="0" indent="0">
              <a:buNone/>
            </a:pPr>
            <a:endParaRPr lang="es-MX" dirty="0"/>
          </a:p>
          <a:p>
            <a:pPr marL="0" indent="0">
              <a:buNone/>
            </a:pPr>
            <a:r>
              <a:rPr lang="es-MX" dirty="0">
                <a:solidFill>
                  <a:srgbClr val="0070C0"/>
                </a:solidFill>
              </a:rPr>
              <a:t>ORG</a:t>
            </a:r>
            <a:r>
              <a:rPr lang="es-MX" dirty="0"/>
              <a:t> 0</a:t>
            </a:r>
            <a:endParaRPr lang="es-AR" dirty="0"/>
          </a:p>
        </p:txBody>
      </p:sp>
    </p:spTree>
    <p:extLst>
      <p:ext uri="{BB962C8B-B14F-4D97-AF65-F5344CB8AC3E}">
        <p14:creationId xmlns:p14="http://schemas.microsoft.com/office/powerpoint/2010/main" val="1989559053"/>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5C65D-A94C-F7E8-B2D0-8CFA1208EA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14EAAA-6A80-F1C4-5C97-992C61B087E1}"/>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9306FE53-0599-B8B7-0E41-6C526FCCDA28}"/>
              </a:ext>
            </a:extLst>
          </p:cNvPr>
          <p:cNvSpPr>
            <a:spLocks noGrp="1"/>
          </p:cNvSpPr>
          <p:nvPr>
            <p:ph idx="1"/>
          </p:nvPr>
        </p:nvSpPr>
        <p:spPr>
          <a:xfrm>
            <a:off x="457200" y="1600200"/>
            <a:ext cx="9918700" cy="5684837"/>
          </a:xfrm>
        </p:spPr>
        <p:txBody>
          <a:bodyPr>
            <a:normAutofit fontScale="92500"/>
          </a:bodyPr>
          <a:lstStyle/>
          <a:p>
            <a:pPr marL="0" indent="0">
              <a:buNone/>
            </a:pPr>
            <a:r>
              <a:rPr lang="es-MX" dirty="0">
                <a:solidFill>
                  <a:srgbClr val="7030A0"/>
                </a:solidFill>
              </a:rPr>
              <a:t>INICIO</a:t>
            </a:r>
          </a:p>
          <a:p>
            <a:pPr marL="0" indent="0">
              <a:buNone/>
            </a:pPr>
            <a:r>
              <a:rPr lang="es-MX" dirty="0">
                <a:solidFill>
                  <a:srgbClr val="00B050"/>
                </a:solidFill>
              </a:rPr>
              <a:t>    ; --------------------</a:t>
            </a:r>
          </a:p>
          <a:p>
            <a:pPr marL="0" indent="0">
              <a:buNone/>
            </a:pPr>
            <a:r>
              <a:rPr lang="es-MX" dirty="0">
                <a:solidFill>
                  <a:srgbClr val="00B050"/>
                </a:solidFill>
              </a:rPr>
              <a:t>    ; Configuración de puertos</a:t>
            </a:r>
          </a:p>
          <a:p>
            <a:pPr marL="0" indent="0">
              <a:buNone/>
            </a:pPr>
            <a:r>
              <a:rPr lang="es-MX" dirty="0">
                <a:solidFill>
                  <a:srgbClr val="00B050"/>
                </a:solidFill>
              </a:rPr>
              <a:t>    ; --------------------</a:t>
            </a:r>
          </a:p>
          <a:p>
            <a:pPr marL="0" indent="0">
              <a:buNone/>
            </a:pPr>
            <a:r>
              <a:rPr lang="es-MX" dirty="0"/>
              <a:t>	</a:t>
            </a:r>
            <a:r>
              <a:rPr lang="es-MX" dirty="0" err="1">
                <a:solidFill>
                  <a:srgbClr val="0070C0"/>
                </a:solidFill>
              </a:rPr>
              <a:t>bsf</a:t>
            </a:r>
            <a:r>
              <a:rPr lang="es-MX" dirty="0"/>
              <a:t> </a:t>
            </a:r>
            <a:r>
              <a:rPr lang="es-MX" dirty="0">
                <a:solidFill>
                  <a:srgbClr val="7030A0"/>
                </a:solidFill>
              </a:rPr>
              <a:t>STATUS</a:t>
            </a:r>
            <a:r>
              <a:rPr lang="es-MX" dirty="0"/>
              <a:t>,</a:t>
            </a:r>
            <a:r>
              <a:rPr lang="es-MX" dirty="0">
                <a:solidFill>
                  <a:srgbClr val="7030A0"/>
                </a:solidFill>
              </a:rPr>
              <a:t>RP0</a:t>
            </a:r>
            <a:r>
              <a:rPr lang="es-MX" dirty="0"/>
              <a:t>   </a:t>
            </a:r>
            <a:r>
              <a:rPr lang="es-MX" dirty="0">
                <a:solidFill>
                  <a:srgbClr val="00B050"/>
                </a:solidFill>
              </a:rPr>
              <a:t>; Cambiar a banco 1 del PIC </a:t>
            </a:r>
          </a:p>
          <a:p>
            <a:pPr marL="0" indent="0">
              <a:buNone/>
            </a:pPr>
            <a:r>
              <a:rPr lang="es-MX" dirty="0"/>
              <a:t>	</a:t>
            </a:r>
            <a:r>
              <a:rPr lang="es-MX" dirty="0" err="1">
                <a:solidFill>
                  <a:srgbClr val="0070C0"/>
                </a:solidFill>
              </a:rPr>
              <a:t>clrf</a:t>
            </a:r>
            <a:r>
              <a:rPr lang="es-MX" dirty="0"/>
              <a:t> </a:t>
            </a:r>
            <a:r>
              <a:rPr lang="es-MX" dirty="0">
                <a:solidFill>
                  <a:srgbClr val="7030A0"/>
                </a:solidFill>
              </a:rPr>
              <a:t>TRISA</a:t>
            </a:r>
            <a:r>
              <a:rPr lang="es-MX" dirty="0"/>
              <a:t>             </a:t>
            </a:r>
            <a:r>
              <a:rPr lang="es-MX" dirty="0">
                <a:solidFill>
                  <a:srgbClr val="00B050"/>
                </a:solidFill>
              </a:rPr>
              <a:t>; pines de PORTA como salida</a:t>
            </a:r>
          </a:p>
          <a:p>
            <a:pPr marL="0" indent="0">
              <a:buNone/>
            </a:pPr>
            <a:r>
              <a:rPr lang="es-MX" dirty="0"/>
              <a:t> 	</a:t>
            </a:r>
            <a:r>
              <a:rPr lang="es-MX" dirty="0" err="1">
                <a:solidFill>
                  <a:srgbClr val="0070C0"/>
                </a:solidFill>
              </a:rPr>
              <a:t>clrf</a:t>
            </a:r>
            <a:r>
              <a:rPr lang="es-MX" dirty="0"/>
              <a:t> </a:t>
            </a:r>
            <a:r>
              <a:rPr lang="es-MX" dirty="0">
                <a:solidFill>
                  <a:srgbClr val="7030A0"/>
                </a:solidFill>
              </a:rPr>
              <a:t>TRISB</a:t>
            </a:r>
            <a:r>
              <a:rPr lang="es-MX" dirty="0"/>
              <a:t>             </a:t>
            </a:r>
            <a:r>
              <a:rPr lang="es-MX" dirty="0">
                <a:solidFill>
                  <a:srgbClr val="00B050"/>
                </a:solidFill>
              </a:rPr>
              <a:t>; pines de PORTB como salida</a:t>
            </a:r>
          </a:p>
          <a:p>
            <a:pPr marL="0" indent="0">
              <a:buNone/>
            </a:pPr>
            <a:r>
              <a:rPr lang="es-MX" dirty="0"/>
              <a:t>	</a:t>
            </a:r>
            <a:r>
              <a:rPr lang="es-MX" dirty="0" err="1">
                <a:solidFill>
                  <a:srgbClr val="0070C0"/>
                </a:solidFill>
              </a:rPr>
              <a:t>bcf</a:t>
            </a:r>
            <a:r>
              <a:rPr lang="es-MX" dirty="0"/>
              <a:t> </a:t>
            </a:r>
            <a:r>
              <a:rPr lang="es-MX" dirty="0">
                <a:solidFill>
                  <a:srgbClr val="7030A0"/>
                </a:solidFill>
              </a:rPr>
              <a:t>STATUS</a:t>
            </a:r>
            <a:r>
              <a:rPr lang="es-MX" dirty="0"/>
              <a:t>,</a:t>
            </a:r>
            <a:r>
              <a:rPr lang="es-MX" dirty="0">
                <a:solidFill>
                  <a:srgbClr val="7030A0"/>
                </a:solidFill>
              </a:rPr>
              <a:t>RP0</a:t>
            </a:r>
            <a:r>
              <a:rPr lang="es-MX" dirty="0"/>
              <a:t>   </a:t>
            </a:r>
            <a:r>
              <a:rPr lang="es-MX" dirty="0">
                <a:solidFill>
                  <a:srgbClr val="00B050"/>
                </a:solidFill>
              </a:rPr>
              <a:t>; Volver a banco 0</a:t>
            </a:r>
          </a:p>
          <a:p>
            <a:pPr marL="0" indent="0">
              <a:buNone/>
            </a:pPr>
            <a:r>
              <a:rPr lang="es-MX" dirty="0"/>
              <a:t>	</a:t>
            </a:r>
            <a:r>
              <a:rPr lang="es-MX" dirty="0" err="1">
                <a:solidFill>
                  <a:srgbClr val="0070C0"/>
                </a:solidFill>
              </a:rPr>
              <a:t>clrf</a:t>
            </a:r>
            <a:r>
              <a:rPr lang="es-MX" dirty="0"/>
              <a:t> </a:t>
            </a:r>
            <a:r>
              <a:rPr lang="es-MX" dirty="0">
                <a:solidFill>
                  <a:srgbClr val="7030A0"/>
                </a:solidFill>
              </a:rPr>
              <a:t>PORTA</a:t>
            </a:r>
            <a:r>
              <a:rPr lang="es-MX" dirty="0"/>
              <a:t>            </a:t>
            </a:r>
            <a:r>
              <a:rPr lang="es-MX" dirty="0">
                <a:solidFill>
                  <a:srgbClr val="00B050"/>
                </a:solidFill>
              </a:rPr>
              <a:t>; Poner en 0 todos los pines de PORTA          </a:t>
            </a:r>
            <a:r>
              <a:rPr lang="es-MX" dirty="0"/>
              <a:t>	</a:t>
            </a:r>
            <a:r>
              <a:rPr lang="es-MX" dirty="0" err="1">
                <a:solidFill>
                  <a:srgbClr val="0070C0"/>
                </a:solidFill>
              </a:rPr>
              <a:t>clrf</a:t>
            </a:r>
            <a:r>
              <a:rPr lang="es-MX" dirty="0"/>
              <a:t> </a:t>
            </a:r>
            <a:r>
              <a:rPr lang="es-MX" dirty="0">
                <a:solidFill>
                  <a:srgbClr val="7030A0"/>
                </a:solidFill>
              </a:rPr>
              <a:t>PORTB</a:t>
            </a:r>
            <a:r>
              <a:rPr lang="es-MX" dirty="0"/>
              <a:t>           </a:t>
            </a:r>
            <a:r>
              <a:rPr lang="es-MX" dirty="0">
                <a:solidFill>
                  <a:srgbClr val="00B050"/>
                </a:solidFill>
              </a:rPr>
              <a:t> ; Poner en 0 todos los pines de PORTB</a:t>
            </a:r>
          </a:p>
        </p:txBody>
      </p:sp>
    </p:spTree>
    <p:extLst>
      <p:ext uri="{BB962C8B-B14F-4D97-AF65-F5344CB8AC3E}">
        <p14:creationId xmlns:p14="http://schemas.microsoft.com/office/powerpoint/2010/main" val="283060084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9D7F4-8E9C-5DD5-2C7F-D92F2D07759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084B98-4079-83BC-5BFE-C762F2E09808}"/>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9B604E83-0DAC-249A-C161-7F70F4842EBD}"/>
              </a:ext>
            </a:extLst>
          </p:cNvPr>
          <p:cNvSpPr>
            <a:spLocks noGrp="1"/>
          </p:cNvSpPr>
          <p:nvPr>
            <p:ph idx="1"/>
          </p:nvPr>
        </p:nvSpPr>
        <p:spPr>
          <a:xfrm>
            <a:off x="457200" y="1600200"/>
            <a:ext cx="9918700" cy="5684837"/>
          </a:xfrm>
        </p:spPr>
        <p:txBody>
          <a:bodyPr>
            <a:normAutofit fontScale="92500" lnSpcReduction="10000"/>
          </a:bodyPr>
          <a:lstStyle/>
          <a:p>
            <a:pPr marL="0" indent="0">
              <a:buNone/>
            </a:pPr>
            <a:r>
              <a:rPr lang="es-MX" dirty="0">
                <a:solidFill>
                  <a:srgbClr val="7030A0"/>
                </a:solidFill>
              </a:rPr>
              <a:t>LCD_INICIAR               </a:t>
            </a:r>
          </a:p>
          <a:p>
            <a:pPr marL="0" indent="0">
              <a:buNone/>
            </a:pPr>
            <a:r>
              <a:rPr lang="es-MX" dirty="0" err="1">
                <a:solidFill>
                  <a:srgbClr val="0070C0"/>
                </a:solidFill>
              </a:rPr>
              <a:t>call</a:t>
            </a:r>
            <a:r>
              <a:rPr lang="es-MX" dirty="0"/>
              <a:t> </a:t>
            </a:r>
            <a:r>
              <a:rPr lang="es-MX" dirty="0">
                <a:solidFill>
                  <a:srgbClr val="7030A0"/>
                </a:solidFill>
              </a:rPr>
              <a:t>LCD_IN               </a:t>
            </a:r>
            <a:r>
              <a:rPr lang="es-MX" dirty="0">
                <a:solidFill>
                  <a:srgbClr val="00B050"/>
                </a:solidFill>
              </a:rPr>
              <a:t>; Llamada a subrutina que configura el LCD</a:t>
            </a:r>
          </a:p>
          <a:p>
            <a:pPr marL="0" indent="0">
              <a:buNone/>
            </a:pPr>
            <a:endParaRPr lang="es-MX" dirty="0"/>
          </a:p>
          <a:p>
            <a:pPr marL="0" indent="0">
              <a:buNone/>
            </a:pPr>
            <a:r>
              <a:rPr lang="es-MX" dirty="0" err="1">
                <a:solidFill>
                  <a:srgbClr val="0070C0"/>
                </a:solidFill>
              </a:rPr>
              <a:t>movlw</a:t>
            </a:r>
            <a:r>
              <a:rPr lang="es-MX" dirty="0"/>
              <a:t> </a:t>
            </a:r>
            <a:r>
              <a:rPr lang="es-MX" dirty="0">
                <a:solidFill>
                  <a:srgbClr val="00B050"/>
                </a:solidFill>
              </a:rPr>
              <a:t>.0</a:t>
            </a:r>
          </a:p>
          <a:p>
            <a:pPr marL="0" indent="0">
              <a:buNone/>
            </a:pPr>
            <a:r>
              <a:rPr lang="es-MX" dirty="0" err="1">
                <a:solidFill>
                  <a:srgbClr val="0070C0"/>
                </a:solidFill>
              </a:rPr>
              <a:t>call</a:t>
            </a:r>
            <a:r>
              <a:rPr lang="es-MX" dirty="0"/>
              <a:t> </a:t>
            </a:r>
            <a:r>
              <a:rPr lang="es-MX" dirty="0">
                <a:solidFill>
                  <a:srgbClr val="7030A0"/>
                </a:solidFill>
              </a:rPr>
              <a:t>MOSTRAR_TEXTO        </a:t>
            </a:r>
          </a:p>
          <a:p>
            <a:pPr marL="0" indent="0">
              <a:buNone/>
            </a:pPr>
            <a:r>
              <a:rPr lang="es-MX" dirty="0" err="1">
                <a:solidFill>
                  <a:srgbClr val="0070C0"/>
                </a:solidFill>
              </a:rPr>
              <a:t>call</a:t>
            </a:r>
            <a:r>
              <a:rPr lang="es-MX" dirty="0"/>
              <a:t> </a:t>
            </a:r>
            <a:r>
              <a:rPr lang="es-MX" dirty="0">
                <a:solidFill>
                  <a:srgbClr val="7030A0"/>
                </a:solidFill>
              </a:rPr>
              <a:t>NEXT</a:t>
            </a:r>
            <a:r>
              <a:rPr lang="es-MX" dirty="0"/>
              <a:t>                 </a:t>
            </a:r>
            <a:r>
              <a:rPr lang="es-MX" dirty="0">
                <a:solidFill>
                  <a:srgbClr val="00B050"/>
                </a:solidFill>
              </a:rPr>
              <a:t>; Mover cursor a la segunda línea del LCD</a:t>
            </a:r>
          </a:p>
          <a:p>
            <a:pPr marL="0" indent="0">
              <a:buNone/>
            </a:pPr>
            <a:r>
              <a:rPr lang="es-MX" dirty="0" err="1">
                <a:solidFill>
                  <a:srgbClr val="0070C0"/>
                </a:solidFill>
              </a:rPr>
              <a:t>movlw</a:t>
            </a:r>
            <a:r>
              <a:rPr lang="es-MX" dirty="0"/>
              <a:t> </a:t>
            </a:r>
            <a:r>
              <a:rPr lang="es-MX" dirty="0">
                <a:solidFill>
                  <a:srgbClr val="00B050"/>
                </a:solidFill>
              </a:rPr>
              <a:t>.17</a:t>
            </a:r>
          </a:p>
          <a:p>
            <a:pPr marL="0" indent="0">
              <a:buNone/>
            </a:pPr>
            <a:r>
              <a:rPr lang="es-MX" dirty="0" err="1">
                <a:solidFill>
                  <a:srgbClr val="0070C0"/>
                </a:solidFill>
              </a:rPr>
              <a:t>call</a:t>
            </a:r>
            <a:r>
              <a:rPr lang="es-MX" dirty="0"/>
              <a:t> </a:t>
            </a:r>
            <a:r>
              <a:rPr lang="es-MX" dirty="0">
                <a:solidFill>
                  <a:srgbClr val="7030A0"/>
                </a:solidFill>
              </a:rPr>
              <a:t>MOSTRAR_TEXTO        </a:t>
            </a:r>
            <a:r>
              <a:rPr lang="es-MX" dirty="0">
                <a:solidFill>
                  <a:srgbClr val="00B050"/>
                </a:solidFill>
              </a:rPr>
              <a:t>; Mostrar segundo texto desde el </a:t>
            </a:r>
            <a:r>
              <a:rPr lang="es-MX" dirty="0"/>
              <a:t>					</a:t>
            </a:r>
            <a:r>
              <a:rPr lang="es-MX" dirty="0">
                <a:solidFill>
                  <a:srgbClr val="00B050"/>
                </a:solidFill>
              </a:rPr>
              <a:t>;índice 17 de la tabla</a:t>
            </a:r>
          </a:p>
          <a:p>
            <a:pPr marL="0" indent="0">
              <a:buNone/>
            </a:pPr>
            <a:r>
              <a:rPr lang="es-MX" dirty="0" err="1">
                <a:solidFill>
                  <a:srgbClr val="0070C0"/>
                </a:solidFill>
              </a:rPr>
              <a:t>call</a:t>
            </a:r>
            <a:r>
              <a:rPr lang="es-MX" dirty="0"/>
              <a:t> </a:t>
            </a:r>
            <a:r>
              <a:rPr lang="es-MX" dirty="0">
                <a:solidFill>
                  <a:srgbClr val="7030A0"/>
                </a:solidFill>
              </a:rPr>
              <a:t>DELAY_1S             </a:t>
            </a:r>
            <a:r>
              <a:rPr lang="es-MX" dirty="0">
                <a:solidFill>
                  <a:srgbClr val="00B050"/>
                </a:solidFill>
              </a:rPr>
              <a:t>; Esperar aproximadamente 1 segundo</a:t>
            </a:r>
          </a:p>
          <a:p>
            <a:pPr marL="0" indent="0">
              <a:buNone/>
            </a:pPr>
            <a:r>
              <a:rPr lang="es-MX" dirty="0" err="1">
                <a:solidFill>
                  <a:srgbClr val="0070C0"/>
                </a:solidFill>
              </a:rPr>
              <a:t>goto</a:t>
            </a:r>
            <a:r>
              <a:rPr lang="es-MX" dirty="0"/>
              <a:t> </a:t>
            </a:r>
            <a:r>
              <a:rPr lang="es-MX" dirty="0">
                <a:solidFill>
                  <a:srgbClr val="7030A0"/>
                </a:solidFill>
              </a:rPr>
              <a:t>INICIO </a:t>
            </a:r>
            <a:r>
              <a:rPr lang="es-MX" dirty="0"/>
              <a:t>              </a:t>
            </a:r>
            <a:r>
              <a:rPr lang="es-MX" dirty="0">
                <a:solidFill>
                  <a:srgbClr val="00B050"/>
                </a:solidFill>
              </a:rPr>
              <a:t>; Repetir todo infinitamente</a:t>
            </a:r>
          </a:p>
        </p:txBody>
      </p:sp>
    </p:spTree>
    <p:extLst>
      <p:ext uri="{BB962C8B-B14F-4D97-AF65-F5344CB8AC3E}">
        <p14:creationId xmlns:p14="http://schemas.microsoft.com/office/powerpoint/2010/main" val="177917795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2572-547B-F76D-4D80-CB12D216E9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A8738D-F2AA-7EF0-882D-6EDD68C06E04}"/>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491042C4-F2B7-5192-BC40-70CDE8B59907}"/>
              </a:ext>
            </a:extLst>
          </p:cNvPr>
          <p:cNvSpPr>
            <a:spLocks noGrp="1"/>
          </p:cNvSpPr>
          <p:nvPr>
            <p:ph sz="half" idx="1"/>
          </p:nvPr>
        </p:nvSpPr>
        <p:spPr>
          <a:xfrm>
            <a:off x="88900" y="1600200"/>
            <a:ext cx="5257800" cy="5608637"/>
          </a:xfrm>
        </p:spPr>
        <p:txBody>
          <a:bodyPr>
            <a:normAutofit fontScale="62500" lnSpcReduction="20000"/>
          </a:bodyPr>
          <a:lstStyle/>
          <a:p>
            <a:pPr marL="0" indent="0">
              <a:buNone/>
            </a:pPr>
            <a:r>
              <a:rPr lang="es-MX" dirty="0">
                <a:solidFill>
                  <a:srgbClr val="7030A0"/>
                </a:solidFill>
              </a:rPr>
              <a:t>TABLA_TEXTOS</a:t>
            </a:r>
          </a:p>
          <a:p>
            <a:pPr marL="0" indent="0">
              <a:buNone/>
            </a:pPr>
            <a:r>
              <a:rPr lang="es-MX" dirty="0" err="1">
                <a:solidFill>
                  <a:srgbClr val="0070C0"/>
                </a:solidFill>
              </a:rPr>
              <a:t>addwf</a:t>
            </a:r>
            <a:r>
              <a:rPr lang="es-MX" dirty="0"/>
              <a:t> </a:t>
            </a:r>
            <a:r>
              <a:rPr lang="es-MX" dirty="0">
                <a:solidFill>
                  <a:srgbClr val="7030A0"/>
                </a:solidFill>
              </a:rPr>
              <a:t>PCL</a:t>
            </a:r>
            <a:r>
              <a:rPr lang="es-MX" dirty="0"/>
              <a:t>, </a:t>
            </a:r>
            <a:r>
              <a:rPr lang="es-MX" dirty="0">
                <a:solidFill>
                  <a:srgbClr val="7030A0"/>
                </a:solidFill>
              </a:rPr>
              <a:t>F</a:t>
            </a:r>
            <a:r>
              <a:rPr lang="es-MX" dirty="0"/>
              <a:t>              </a:t>
            </a:r>
            <a:r>
              <a:rPr lang="es-MX" dirty="0">
                <a:solidFill>
                  <a:srgbClr val="00B050"/>
                </a:solidFill>
              </a:rPr>
              <a:t>; Saltar a la instrucción correcta </a:t>
            </a:r>
            <a:r>
              <a:rPr lang="es-MX" dirty="0"/>
              <a:t>		</a:t>
            </a:r>
            <a:r>
              <a:rPr lang="es-MX" dirty="0">
                <a:solidFill>
                  <a:srgbClr val="00B050"/>
                </a:solidFill>
              </a:rPr>
              <a:t>;según índice en W</a:t>
            </a:r>
          </a:p>
          <a:p>
            <a:pPr marL="0" indent="0">
              <a:buNone/>
            </a:pPr>
            <a:r>
              <a:rPr lang="es-MX" dirty="0" err="1">
                <a:solidFill>
                  <a:srgbClr val="0070C0"/>
                </a:solidFill>
              </a:rPr>
              <a:t>retlw</a:t>
            </a:r>
            <a:r>
              <a:rPr lang="es-MX" dirty="0"/>
              <a:t> </a:t>
            </a:r>
            <a:r>
              <a:rPr lang="es-MX" dirty="0">
                <a:solidFill>
                  <a:srgbClr val="00B0F0"/>
                </a:solidFill>
              </a:rPr>
              <a:t>'H'                 </a:t>
            </a:r>
            <a:r>
              <a:rPr lang="es-MX" dirty="0">
                <a:solidFill>
                  <a:srgbClr val="00B050"/>
                </a:solidFill>
              </a:rPr>
              <a:t>; Retorna el carácter 'H'</a:t>
            </a:r>
          </a:p>
          <a:p>
            <a:pPr marL="0" indent="0">
              <a:buNone/>
            </a:pPr>
            <a:r>
              <a:rPr lang="es-MX" dirty="0" err="1">
                <a:solidFill>
                  <a:srgbClr val="0070C0"/>
                </a:solidFill>
              </a:rPr>
              <a:t>retlw</a:t>
            </a:r>
            <a:r>
              <a:rPr lang="es-MX" dirty="0"/>
              <a:t> </a:t>
            </a:r>
            <a:r>
              <a:rPr lang="es-MX" dirty="0">
                <a:solidFill>
                  <a:srgbClr val="00B0F0"/>
                </a:solidFill>
              </a:rPr>
              <a:t>'O'                 </a:t>
            </a:r>
            <a:r>
              <a:rPr lang="es-MX" dirty="0">
                <a:solidFill>
                  <a:srgbClr val="00B050"/>
                </a:solidFill>
              </a:rPr>
              <a:t>; Retorna 'O'</a:t>
            </a:r>
          </a:p>
          <a:p>
            <a:pPr marL="0" indent="0">
              <a:buNone/>
            </a:pPr>
            <a:r>
              <a:rPr lang="es-MX" dirty="0" err="1">
                <a:solidFill>
                  <a:srgbClr val="0070C0"/>
                </a:solidFill>
              </a:rPr>
              <a:t>retlw</a:t>
            </a:r>
            <a:r>
              <a:rPr lang="es-MX" dirty="0"/>
              <a:t> </a:t>
            </a:r>
            <a:r>
              <a:rPr lang="es-MX" dirty="0">
                <a:solidFill>
                  <a:srgbClr val="00B0F0"/>
                </a:solidFill>
              </a:rPr>
              <a:t>'L'                 </a:t>
            </a:r>
            <a:r>
              <a:rPr lang="es-MX" dirty="0">
                <a:solidFill>
                  <a:srgbClr val="00B050"/>
                </a:solidFill>
              </a:rPr>
              <a:t>; Retorna 'L'</a:t>
            </a:r>
          </a:p>
          <a:p>
            <a:pPr marL="0" indent="0">
              <a:buNone/>
            </a:pPr>
            <a:r>
              <a:rPr lang="es-MX" dirty="0" err="1">
                <a:solidFill>
                  <a:srgbClr val="0070C0"/>
                </a:solidFill>
              </a:rPr>
              <a:t>retlw</a:t>
            </a:r>
            <a:r>
              <a:rPr lang="es-MX" dirty="0"/>
              <a:t> </a:t>
            </a:r>
            <a:r>
              <a:rPr lang="es-MX" dirty="0">
                <a:solidFill>
                  <a:srgbClr val="00B0F0"/>
                </a:solidFill>
              </a:rPr>
              <a:t>'A'                 </a:t>
            </a:r>
            <a:r>
              <a:rPr lang="es-MX" dirty="0">
                <a:solidFill>
                  <a:srgbClr val="00B050"/>
                </a:solidFill>
              </a:rPr>
              <a:t>; Retorna 'A'</a:t>
            </a:r>
          </a:p>
          <a:p>
            <a:pPr marL="0" indent="0">
              <a:buNone/>
            </a:pPr>
            <a:r>
              <a:rPr lang="es-MX" dirty="0" err="1">
                <a:solidFill>
                  <a:srgbClr val="0070C0"/>
                </a:solidFill>
              </a:rPr>
              <a:t>retlw</a:t>
            </a:r>
            <a:r>
              <a:rPr lang="es-MX" dirty="0">
                <a:solidFill>
                  <a:srgbClr val="00B0F0"/>
                </a:solidFill>
              </a:rPr>
              <a:t> '!'                 </a:t>
            </a:r>
            <a:r>
              <a:rPr lang="es-MX" dirty="0">
                <a:solidFill>
                  <a:srgbClr val="00B050"/>
                </a:solidFill>
              </a:rPr>
              <a:t>; Retorna '!'</a:t>
            </a:r>
          </a:p>
          <a:p>
            <a:pPr marL="0" indent="0">
              <a:buNone/>
            </a:pPr>
            <a:r>
              <a:rPr lang="es-MX" dirty="0" err="1">
                <a:solidFill>
                  <a:srgbClr val="0070C0"/>
                </a:solidFill>
              </a:rPr>
              <a:t>retlw</a:t>
            </a:r>
            <a:r>
              <a:rPr lang="es-MX" dirty="0"/>
              <a:t> </a:t>
            </a:r>
            <a:r>
              <a:rPr lang="es-MX" dirty="0">
                <a:solidFill>
                  <a:srgbClr val="00B0F0"/>
                </a:solidFill>
              </a:rPr>
              <a:t>' '                 </a:t>
            </a:r>
            <a:r>
              <a:rPr lang="es-MX" dirty="0">
                <a:solidFill>
                  <a:srgbClr val="00B050"/>
                </a:solidFill>
              </a:rPr>
              <a:t>; Retorna espacio</a:t>
            </a:r>
          </a:p>
          <a:p>
            <a:pPr marL="0" indent="0">
              <a:buNone/>
            </a:pPr>
            <a:r>
              <a:rPr lang="es-MX" dirty="0" err="1">
                <a:solidFill>
                  <a:srgbClr val="0070C0"/>
                </a:solidFill>
              </a:rPr>
              <a:t>retlw</a:t>
            </a:r>
            <a:r>
              <a:rPr lang="es-MX" dirty="0"/>
              <a:t> </a:t>
            </a:r>
            <a:r>
              <a:rPr lang="es-MX" dirty="0">
                <a:solidFill>
                  <a:srgbClr val="00B0F0"/>
                </a:solidFill>
              </a:rPr>
              <a:t>'S'                 </a:t>
            </a:r>
            <a:r>
              <a:rPr lang="es-MX" dirty="0">
                <a:solidFill>
                  <a:srgbClr val="00B050"/>
                </a:solidFill>
              </a:rPr>
              <a:t>; Retorna 'S'</a:t>
            </a:r>
          </a:p>
          <a:p>
            <a:pPr marL="0" indent="0">
              <a:buNone/>
            </a:pPr>
            <a:r>
              <a:rPr lang="es-MX" dirty="0" err="1">
                <a:solidFill>
                  <a:srgbClr val="0070C0"/>
                </a:solidFill>
              </a:rPr>
              <a:t>retlw</a:t>
            </a:r>
            <a:r>
              <a:rPr lang="es-MX" dirty="0"/>
              <a:t> </a:t>
            </a:r>
            <a:r>
              <a:rPr lang="es-MX" dirty="0">
                <a:solidFill>
                  <a:srgbClr val="00B0F0"/>
                </a:solidFill>
              </a:rPr>
              <a:t>'O'                 </a:t>
            </a:r>
            <a:r>
              <a:rPr lang="es-MX" dirty="0">
                <a:solidFill>
                  <a:srgbClr val="00B050"/>
                </a:solidFill>
              </a:rPr>
              <a:t>; Retorna 'O'</a:t>
            </a:r>
          </a:p>
          <a:p>
            <a:pPr marL="0" indent="0">
              <a:buNone/>
            </a:pPr>
            <a:r>
              <a:rPr lang="es-MX" dirty="0" err="1">
                <a:solidFill>
                  <a:srgbClr val="0070C0"/>
                </a:solidFill>
              </a:rPr>
              <a:t>retlw</a:t>
            </a:r>
            <a:r>
              <a:rPr lang="es-MX" dirty="0"/>
              <a:t> </a:t>
            </a:r>
            <a:r>
              <a:rPr lang="es-MX" dirty="0">
                <a:solidFill>
                  <a:srgbClr val="00B0F0"/>
                </a:solidFill>
              </a:rPr>
              <a:t>'Y'                 </a:t>
            </a:r>
            <a:r>
              <a:rPr lang="es-MX" dirty="0">
                <a:solidFill>
                  <a:srgbClr val="00B050"/>
                </a:solidFill>
              </a:rPr>
              <a:t>; Retorna 'Y'</a:t>
            </a:r>
          </a:p>
          <a:p>
            <a:pPr marL="0" indent="0">
              <a:buNone/>
            </a:pPr>
            <a:r>
              <a:rPr lang="es-MX" dirty="0" err="1">
                <a:solidFill>
                  <a:srgbClr val="0070C0"/>
                </a:solidFill>
              </a:rPr>
              <a:t>retlw</a:t>
            </a:r>
            <a:r>
              <a:rPr lang="es-MX" dirty="0">
                <a:solidFill>
                  <a:srgbClr val="00B0F0"/>
                </a:solidFill>
              </a:rPr>
              <a:t> ' '                 </a:t>
            </a:r>
            <a:r>
              <a:rPr lang="es-MX" dirty="0">
                <a:solidFill>
                  <a:srgbClr val="00B050"/>
                </a:solidFill>
              </a:rPr>
              <a:t>; Retorna espacio</a:t>
            </a:r>
          </a:p>
          <a:p>
            <a:pPr marL="0" indent="0">
              <a:buNone/>
            </a:pPr>
            <a:r>
              <a:rPr lang="es-MX" dirty="0" err="1">
                <a:solidFill>
                  <a:srgbClr val="0070C0"/>
                </a:solidFill>
              </a:rPr>
              <a:t>retlw</a:t>
            </a:r>
            <a:r>
              <a:rPr lang="es-MX" dirty="0"/>
              <a:t> </a:t>
            </a:r>
            <a:r>
              <a:rPr lang="es-MX" dirty="0">
                <a:solidFill>
                  <a:srgbClr val="00B0F0"/>
                </a:solidFill>
              </a:rPr>
              <a:t>'J'                 </a:t>
            </a:r>
            <a:r>
              <a:rPr lang="es-MX" dirty="0">
                <a:solidFill>
                  <a:srgbClr val="00B050"/>
                </a:solidFill>
              </a:rPr>
              <a:t>; Retorna 'J'</a:t>
            </a:r>
          </a:p>
          <a:p>
            <a:pPr marL="0" indent="0">
              <a:buNone/>
            </a:pPr>
            <a:r>
              <a:rPr lang="es-MX" dirty="0" err="1">
                <a:solidFill>
                  <a:srgbClr val="0070C0"/>
                </a:solidFill>
              </a:rPr>
              <a:t>retlw</a:t>
            </a:r>
            <a:r>
              <a:rPr lang="es-MX" dirty="0"/>
              <a:t> </a:t>
            </a:r>
            <a:r>
              <a:rPr lang="es-MX" dirty="0">
                <a:solidFill>
                  <a:srgbClr val="00B0F0"/>
                </a:solidFill>
              </a:rPr>
              <a:t>'U'                 </a:t>
            </a:r>
            <a:r>
              <a:rPr lang="es-MX" dirty="0">
                <a:solidFill>
                  <a:srgbClr val="00B050"/>
                </a:solidFill>
              </a:rPr>
              <a:t>; Retorna 'U'</a:t>
            </a:r>
          </a:p>
          <a:p>
            <a:pPr marL="0" indent="0">
              <a:buNone/>
            </a:pPr>
            <a:r>
              <a:rPr lang="es-MX" dirty="0" err="1">
                <a:solidFill>
                  <a:srgbClr val="0070C0"/>
                </a:solidFill>
              </a:rPr>
              <a:t>retlw</a:t>
            </a:r>
            <a:r>
              <a:rPr lang="es-MX" dirty="0"/>
              <a:t> </a:t>
            </a:r>
            <a:r>
              <a:rPr lang="es-MX" dirty="0">
                <a:solidFill>
                  <a:srgbClr val="00B0F0"/>
                </a:solidFill>
              </a:rPr>
              <a:t>'L'                 </a:t>
            </a:r>
            <a:r>
              <a:rPr lang="es-MX" dirty="0">
                <a:solidFill>
                  <a:srgbClr val="00B050"/>
                </a:solidFill>
              </a:rPr>
              <a:t>; Retorna 'L'</a:t>
            </a:r>
          </a:p>
          <a:p>
            <a:pPr marL="0" indent="0">
              <a:buNone/>
            </a:pPr>
            <a:r>
              <a:rPr lang="es-MX" dirty="0" err="1">
                <a:solidFill>
                  <a:srgbClr val="0070C0"/>
                </a:solidFill>
              </a:rPr>
              <a:t>retlw</a:t>
            </a:r>
            <a:r>
              <a:rPr lang="es-MX" dirty="0"/>
              <a:t> </a:t>
            </a:r>
            <a:r>
              <a:rPr lang="es-MX" dirty="0">
                <a:solidFill>
                  <a:srgbClr val="00B0F0"/>
                </a:solidFill>
              </a:rPr>
              <a:t>'I'                 </a:t>
            </a:r>
            <a:r>
              <a:rPr lang="es-MX" dirty="0">
                <a:solidFill>
                  <a:srgbClr val="00B050"/>
                </a:solidFill>
              </a:rPr>
              <a:t>; Retorna 'I'</a:t>
            </a:r>
          </a:p>
          <a:p>
            <a:pPr marL="0" indent="0">
              <a:buNone/>
            </a:pPr>
            <a:r>
              <a:rPr lang="es-MX" dirty="0" err="1">
                <a:solidFill>
                  <a:srgbClr val="0070C0"/>
                </a:solidFill>
              </a:rPr>
              <a:t>retlw</a:t>
            </a:r>
            <a:r>
              <a:rPr lang="es-MX" dirty="0"/>
              <a:t> </a:t>
            </a:r>
            <a:r>
              <a:rPr lang="es-MX" dirty="0">
                <a:solidFill>
                  <a:srgbClr val="00B0F0"/>
                </a:solidFill>
              </a:rPr>
              <a:t>'A'                 </a:t>
            </a:r>
            <a:r>
              <a:rPr lang="es-MX" dirty="0">
                <a:solidFill>
                  <a:srgbClr val="00B050"/>
                </a:solidFill>
              </a:rPr>
              <a:t>; Retorna 'A'</a:t>
            </a:r>
          </a:p>
          <a:p>
            <a:pPr marL="0" indent="0">
              <a:buNone/>
            </a:pPr>
            <a:r>
              <a:rPr lang="es-MX" dirty="0" err="1">
                <a:solidFill>
                  <a:srgbClr val="0070C0"/>
                </a:solidFill>
              </a:rPr>
              <a:t>retlw</a:t>
            </a:r>
            <a:r>
              <a:rPr lang="es-MX" dirty="0"/>
              <a:t> </a:t>
            </a:r>
            <a:r>
              <a:rPr lang="es-MX" dirty="0">
                <a:solidFill>
                  <a:srgbClr val="00B0F0"/>
                </a:solidFill>
              </a:rPr>
              <a:t>'N</a:t>
            </a:r>
            <a:r>
              <a:rPr lang="es-MX" dirty="0">
                <a:solidFill>
                  <a:srgbClr val="00B050"/>
                </a:solidFill>
              </a:rPr>
              <a:t>'                 ; Retorna 'N'</a:t>
            </a:r>
          </a:p>
          <a:p>
            <a:pPr marL="0" indent="0">
              <a:buNone/>
            </a:pPr>
            <a:r>
              <a:rPr lang="es-MX" dirty="0" err="1">
                <a:solidFill>
                  <a:srgbClr val="0070C0"/>
                </a:solidFill>
              </a:rPr>
              <a:t>retlw</a:t>
            </a:r>
            <a:r>
              <a:rPr lang="es-MX" dirty="0"/>
              <a:t> </a:t>
            </a:r>
            <a:r>
              <a:rPr lang="es-MX" dirty="0">
                <a:solidFill>
                  <a:srgbClr val="0070C0"/>
                </a:solidFill>
              </a:rPr>
              <a:t>0x00</a:t>
            </a:r>
            <a:r>
              <a:rPr lang="es-MX" dirty="0"/>
              <a:t>                </a:t>
            </a:r>
            <a:r>
              <a:rPr lang="es-MX" dirty="0">
                <a:solidFill>
                  <a:srgbClr val="00B050"/>
                </a:solidFill>
              </a:rPr>
              <a:t>; Fin del primer texto</a:t>
            </a:r>
          </a:p>
        </p:txBody>
      </p:sp>
      <p:sp>
        <p:nvSpPr>
          <p:cNvPr id="4" name="Marcador de contenido 3">
            <a:extLst>
              <a:ext uri="{FF2B5EF4-FFF2-40B4-BE49-F238E27FC236}">
                <a16:creationId xmlns:a16="http://schemas.microsoft.com/office/drawing/2014/main" id="{A77B78BF-FC52-347A-EEA3-935C0C821CD4}"/>
              </a:ext>
            </a:extLst>
          </p:cNvPr>
          <p:cNvSpPr>
            <a:spLocks noGrp="1"/>
          </p:cNvSpPr>
          <p:nvPr>
            <p:ph sz="half" idx="2"/>
          </p:nvPr>
        </p:nvSpPr>
        <p:spPr>
          <a:xfrm>
            <a:off x="5346700" y="1600200"/>
            <a:ext cx="5346700" cy="5456237"/>
          </a:xfrm>
        </p:spPr>
        <p:txBody>
          <a:bodyPr>
            <a:normAutofit fontScale="62500" lnSpcReduction="20000"/>
          </a:bodyPr>
          <a:lstStyle/>
          <a:p>
            <a:pPr marL="0" indent="0">
              <a:buNone/>
            </a:pPr>
            <a:r>
              <a:rPr lang="es-MX" dirty="0" err="1">
                <a:solidFill>
                  <a:srgbClr val="0070C0"/>
                </a:solidFill>
              </a:rPr>
              <a:t>retlw</a:t>
            </a:r>
            <a:r>
              <a:rPr lang="es-MX" dirty="0"/>
              <a:t> </a:t>
            </a:r>
            <a:r>
              <a:rPr lang="es-MX" dirty="0">
                <a:solidFill>
                  <a:srgbClr val="00B0F0"/>
                </a:solidFill>
              </a:rPr>
              <a:t>'T'                </a:t>
            </a:r>
            <a:r>
              <a:rPr lang="es-MX" dirty="0">
                <a:solidFill>
                  <a:srgbClr val="00B050"/>
                </a:solidFill>
              </a:rPr>
              <a:t> ; Retorna 'T'</a:t>
            </a:r>
          </a:p>
          <a:p>
            <a:pPr marL="0" indent="0">
              <a:buNone/>
            </a:pPr>
            <a:r>
              <a:rPr lang="es-MX" dirty="0" err="1">
                <a:solidFill>
                  <a:srgbClr val="0070C0"/>
                </a:solidFill>
              </a:rPr>
              <a:t>retlw</a:t>
            </a:r>
            <a:r>
              <a:rPr lang="es-MX" dirty="0">
                <a:solidFill>
                  <a:srgbClr val="00B0F0"/>
                </a:solidFill>
              </a:rPr>
              <a:t> 'O'                 </a:t>
            </a:r>
            <a:r>
              <a:rPr lang="es-MX" dirty="0">
                <a:solidFill>
                  <a:srgbClr val="00B050"/>
                </a:solidFill>
              </a:rPr>
              <a:t>; Retorna 'O'</a:t>
            </a:r>
          </a:p>
          <a:p>
            <a:pPr marL="0" indent="0">
              <a:buNone/>
            </a:pPr>
            <a:r>
              <a:rPr lang="es-MX" dirty="0" err="1">
                <a:solidFill>
                  <a:srgbClr val="0070C0"/>
                </a:solidFill>
              </a:rPr>
              <a:t>retlw</a:t>
            </a:r>
            <a:r>
              <a:rPr lang="es-MX" dirty="0"/>
              <a:t> </a:t>
            </a:r>
            <a:r>
              <a:rPr lang="es-MX" dirty="0">
                <a:solidFill>
                  <a:srgbClr val="00B0F0"/>
                </a:solidFill>
              </a:rPr>
              <a:t>'M</a:t>
            </a:r>
            <a:r>
              <a:rPr lang="es-MX" dirty="0">
                <a:solidFill>
                  <a:srgbClr val="00B050"/>
                </a:solidFill>
              </a:rPr>
              <a:t>'                 ; Retorna 'M'</a:t>
            </a:r>
          </a:p>
          <a:p>
            <a:pPr marL="0" indent="0">
              <a:buNone/>
            </a:pPr>
            <a:r>
              <a:rPr lang="es-MX" dirty="0" err="1">
                <a:solidFill>
                  <a:srgbClr val="0070C0"/>
                </a:solidFill>
              </a:rPr>
              <a:t>retlw</a:t>
            </a:r>
            <a:r>
              <a:rPr lang="es-MX" dirty="0"/>
              <a:t> </a:t>
            </a:r>
            <a:r>
              <a:rPr lang="es-MX" dirty="0">
                <a:solidFill>
                  <a:srgbClr val="00B0F0"/>
                </a:solidFill>
              </a:rPr>
              <a:t>'C'                 </a:t>
            </a:r>
            <a:r>
              <a:rPr lang="es-MX" dirty="0">
                <a:solidFill>
                  <a:srgbClr val="00B050"/>
                </a:solidFill>
              </a:rPr>
              <a:t>; Retorna 'C'</a:t>
            </a:r>
          </a:p>
          <a:p>
            <a:pPr marL="0" indent="0">
              <a:buNone/>
            </a:pPr>
            <a:r>
              <a:rPr lang="es-MX" dirty="0" err="1">
                <a:solidFill>
                  <a:srgbClr val="0070C0"/>
                </a:solidFill>
              </a:rPr>
              <a:t>retlw</a:t>
            </a:r>
            <a:r>
              <a:rPr lang="es-MX" dirty="0"/>
              <a:t> </a:t>
            </a:r>
            <a:r>
              <a:rPr lang="es-MX" dirty="0">
                <a:solidFill>
                  <a:srgbClr val="00B0F0"/>
                </a:solidFill>
              </a:rPr>
              <a:t>'Z'               </a:t>
            </a:r>
            <a:r>
              <a:rPr lang="es-MX" dirty="0">
                <a:solidFill>
                  <a:srgbClr val="00B050"/>
                </a:solidFill>
              </a:rPr>
              <a:t>  ; Retorna 'Z'</a:t>
            </a:r>
          </a:p>
          <a:p>
            <a:pPr marL="0" indent="0">
              <a:buNone/>
            </a:pPr>
            <a:r>
              <a:rPr lang="es-MX" dirty="0" err="1">
                <a:solidFill>
                  <a:srgbClr val="0070C0"/>
                </a:solidFill>
              </a:rPr>
              <a:t>retlw</a:t>
            </a:r>
            <a:r>
              <a:rPr lang="es-MX" dirty="0"/>
              <a:t> </a:t>
            </a:r>
            <a:r>
              <a:rPr lang="es-MX" dirty="0">
                <a:solidFill>
                  <a:srgbClr val="00B0F0"/>
                </a:solidFill>
              </a:rPr>
              <a:t>'A'                 </a:t>
            </a:r>
            <a:r>
              <a:rPr lang="es-MX" dirty="0">
                <a:solidFill>
                  <a:srgbClr val="00B050"/>
                </a:solidFill>
              </a:rPr>
              <a:t>; Retorna 'A'</a:t>
            </a:r>
          </a:p>
          <a:p>
            <a:pPr marL="0" indent="0">
              <a:buNone/>
            </a:pPr>
            <a:r>
              <a:rPr lang="es-MX" dirty="0" err="1">
                <a:solidFill>
                  <a:srgbClr val="0070C0"/>
                </a:solidFill>
              </a:rPr>
              <a:t>retlw</a:t>
            </a:r>
            <a:r>
              <a:rPr lang="es-MX" dirty="0"/>
              <a:t> </a:t>
            </a:r>
            <a:r>
              <a:rPr lang="es-MX" dirty="0">
                <a:solidFill>
                  <a:srgbClr val="00B0F0"/>
                </a:solidFill>
              </a:rPr>
              <a:t>'K'                 </a:t>
            </a:r>
            <a:r>
              <a:rPr lang="es-MX" dirty="0">
                <a:solidFill>
                  <a:srgbClr val="00B050"/>
                </a:solidFill>
              </a:rPr>
              <a:t>; Retorna 'K'</a:t>
            </a:r>
          </a:p>
          <a:p>
            <a:pPr marL="0" indent="0">
              <a:buNone/>
            </a:pPr>
            <a:r>
              <a:rPr lang="es-MX" dirty="0" err="1">
                <a:solidFill>
                  <a:srgbClr val="0070C0"/>
                </a:solidFill>
              </a:rPr>
              <a:t>retlw</a:t>
            </a:r>
            <a:r>
              <a:rPr lang="es-MX" dirty="0"/>
              <a:t> </a:t>
            </a:r>
            <a:r>
              <a:rPr lang="es-MX" dirty="0">
                <a:solidFill>
                  <a:srgbClr val="00B0F0"/>
                </a:solidFill>
              </a:rPr>
              <a:t>' '                 </a:t>
            </a:r>
            <a:r>
              <a:rPr lang="es-MX" dirty="0">
                <a:solidFill>
                  <a:srgbClr val="00B050"/>
                </a:solidFill>
              </a:rPr>
              <a:t>; Retorna espacio</a:t>
            </a:r>
          </a:p>
          <a:p>
            <a:pPr marL="0" indent="0">
              <a:buNone/>
            </a:pPr>
            <a:r>
              <a:rPr lang="es-MX" dirty="0" err="1">
                <a:solidFill>
                  <a:srgbClr val="0070C0"/>
                </a:solidFill>
              </a:rPr>
              <a:t>retlw</a:t>
            </a:r>
            <a:r>
              <a:rPr lang="es-MX" dirty="0"/>
              <a:t> </a:t>
            </a:r>
            <a:r>
              <a:rPr lang="es-MX" dirty="0">
                <a:solidFill>
                  <a:srgbClr val="00B0F0"/>
                </a:solidFill>
              </a:rPr>
              <a:t>'('    </a:t>
            </a:r>
            <a:r>
              <a:rPr lang="es-MX" dirty="0"/>
              <a:t>             </a:t>
            </a:r>
            <a:r>
              <a:rPr lang="es-MX" dirty="0">
                <a:solidFill>
                  <a:srgbClr val="00B050"/>
                </a:solidFill>
              </a:rPr>
              <a:t>; Retorna '('</a:t>
            </a:r>
          </a:p>
          <a:p>
            <a:pPr marL="0" indent="0">
              <a:buNone/>
            </a:pPr>
            <a:r>
              <a:rPr lang="es-MX" dirty="0" err="1">
                <a:solidFill>
                  <a:srgbClr val="0070C0"/>
                </a:solidFill>
              </a:rPr>
              <a:t>retlw</a:t>
            </a:r>
            <a:r>
              <a:rPr lang="es-MX" dirty="0"/>
              <a:t> </a:t>
            </a:r>
            <a:r>
              <a:rPr lang="es-MX" dirty="0">
                <a:solidFill>
                  <a:srgbClr val="00B0F0"/>
                </a:solidFill>
              </a:rPr>
              <a:t>'^'   </a:t>
            </a:r>
            <a:r>
              <a:rPr lang="es-MX" dirty="0"/>
              <a:t>              </a:t>
            </a:r>
            <a:r>
              <a:rPr lang="es-MX" dirty="0">
                <a:solidFill>
                  <a:srgbClr val="00B050"/>
                </a:solidFill>
              </a:rPr>
              <a:t>; Retorna '^'</a:t>
            </a:r>
          </a:p>
          <a:p>
            <a:pPr marL="0" indent="0">
              <a:buNone/>
            </a:pPr>
            <a:r>
              <a:rPr lang="es-MX" dirty="0" err="1">
                <a:solidFill>
                  <a:srgbClr val="0070C0"/>
                </a:solidFill>
              </a:rPr>
              <a:t>retlw</a:t>
            </a:r>
            <a:r>
              <a:rPr lang="es-MX" dirty="0"/>
              <a:t> </a:t>
            </a:r>
            <a:r>
              <a:rPr lang="es-MX" dirty="0">
                <a:solidFill>
                  <a:srgbClr val="00B0F0"/>
                </a:solidFill>
              </a:rPr>
              <a:t>'_' </a:t>
            </a:r>
            <a:r>
              <a:rPr lang="es-MX" dirty="0"/>
              <a:t>                </a:t>
            </a:r>
            <a:r>
              <a:rPr lang="es-MX" dirty="0">
                <a:solidFill>
                  <a:srgbClr val="00B050"/>
                </a:solidFill>
              </a:rPr>
              <a:t>; Retorna '_'</a:t>
            </a:r>
          </a:p>
          <a:p>
            <a:pPr marL="0" indent="0">
              <a:buNone/>
            </a:pPr>
            <a:r>
              <a:rPr lang="es-MX" dirty="0" err="1">
                <a:solidFill>
                  <a:srgbClr val="0070C0"/>
                </a:solidFill>
              </a:rPr>
              <a:t>retlw</a:t>
            </a:r>
            <a:r>
              <a:rPr lang="es-MX" dirty="0"/>
              <a:t> </a:t>
            </a:r>
            <a:r>
              <a:rPr lang="es-MX" dirty="0">
                <a:solidFill>
                  <a:srgbClr val="00B0F0"/>
                </a:solidFill>
              </a:rPr>
              <a:t>'^'    </a:t>
            </a:r>
            <a:r>
              <a:rPr lang="es-MX" dirty="0"/>
              <a:t>             </a:t>
            </a:r>
            <a:r>
              <a:rPr lang="es-MX" dirty="0">
                <a:solidFill>
                  <a:srgbClr val="00B050"/>
                </a:solidFill>
              </a:rPr>
              <a:t>; Retorna '^'</a:t>
            </a:r>
          </a:p>
          <a:p>
            <a:pPr marL="0" indent="0">
              <a:buNone/>
            </a:pPr>
            <a:r>
              <a:rPr lang="es-MX" dirty="0" err="1">
                <a:solidFill>
                  <a:srgbClr val="0070C0"/>
                </a:solidFill>
              </a:rPr>
              <a:t>retlw</a:t>
            </a:r>
            <a:r>
              <a:rPr lang="es-MX" dirty="0">
                <a:solidFill>
                  <a:srgbClr val="00B0F0"/>
                </a:solidFill>
              </a:rPr>
              <a:t> ')'                 </a:t>
            </a:r>
            <a:r>
              <a:rPr lang="es-MX" dirty="0">
                <a:solidFill>
                  <a:srgbClr val="00B050"/>
                </a:solidFill>
              </a:rPr>
              <a:t>; Retorna ')'</a:t>
            </a:r>
          </a:p>
          <a:p>
            <a:pPr marL="0" indent="0">
              <a:buNone/>
            </a:pPr>
            <a:r>
              <a:rPr lang="es-MX" dirty="0" err="1">
                <a:solidFill>
                  <a:srgbClr val="0070C0"/>
                </a:solidFill>
              </a:rPr>
              <a:t>retlw</a:t>
            </a:r>
            <a:r>
              <a:rPr lang="es-MX" dirty="0">
                <a:solidFill>
                  <a:srgbClr val="00B0F0"/>
                </a:solidFill>
              </a:rPr>
              <a:t> '/'                 </a:t>
            </a:r>
            <a:r>
              <a:rPr lang="es-MX" dirty="0">
                <a:solidFill>
                  <a:srgbClr val="00B050"/>
                </a:solidFill>
              </a:rPr>
              <a:t>; Retorna '/'</a:t>
            </a:r>
          </a:p>
          <a:p>
            <a:pPr marL="0" indent="0">
              <a:buNone/>
            </a:pPr>
            <a:r>
              <a:rPr lang="es-MX" dirty="0" err="1">
                <a:solidFill>
                  <a:srgbClr val="0070C0"/>
                </a:solidFill>
              </a:rPr>
              <a:t>retlw</a:t>
            </a:r>
            <a:r>
              <a:rPr lang="es-MX" dirty="0"/>
              <a:t> </a:t>
            </a:r>
            <a:r>
              <a:rPr lang="es-MX" dirty="0">
                <a:solidFill>
                  <a:srgbClr val="0070C0"/>
                </a:solidFill>
              </a:rPr>
              <a:t>0x00  </a:t>
            </a:r>
            <a:r>
              <a:rPr lang="es-MX" dirty="0"/>
              <a:t>              </a:t>
            </a:r>
            <a:r>
              <a:rPr lang="es-MX" dirty="0">
                <a:solidFill>
                  <a:srgbClr val="00B050"/>
                </a:solidFill>
              </a:rPr>
              <a:t>; Fin del segundo texto</a:t>
            </a:r>
          </a:p>
          <a:p>
            <a:pPr marL="0" indent="0">
              <a:buNone/>
            </a:pPr>
            <a:endParaRPr lang="es-AR" dirty="0"/>
          </a:p>
        </p:txBody>
      </p:sp>
    </p:spTree>
    <p:extLst>
      <p:ext uri="{BB962C8B-B14F-4D97-AF65-F5344CB8AC3E}">
        <p14:creationId xmlns:p14="http://schemas.microsoft.com/office/powerpoint/2010/main" val="205184439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9F82-2A73-FA90-A91C-E5C206AB76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EFD513-B1B5-816D-213D-711F5E60CAC6}"/>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5840C926-FF00-B3A9-BB4F-D76171905024}"/>
              </a:ext>
            </a:extLst>
          </p:cNvPr>
          <p:cNvSpPr>
            <a:spLocks noGrp="1"/>
          </p:cNvSpPr>
          <p:nvPr>
            <p:ph idx="1"/>
          </p:nvPr>
        </p:nvSpPr>
        <p:spPr>
          <a:xfrm>
            <a:off x="457200" y="1600200"/>
            <a:ext cx="9918700" cy="5684837"/>
          </a:xfrm>
        </p:spPr>
        <p:txBody>
          <a:bodyPr>
            <a:normAutofit fontScale="85000" lnSpcReduction="10000"/>
          </a:bodyPr>
          <a:lstStyle/>
          <a:p>
            <a:pPr marL="0" indent="0">
              <a:buNone/>
            </a:pPr>
            <a:r>
              <a:rPr lang="es-MX" dirty="0">
                <a:solidFill>
                  <a:srgbClr val="7030A0"/>
                </a:solidFill>
              </a:rPr>
              <a:t>MOSTRAR_TEXTO</a:t>
            </a:r>
          </a:p>
          <a:p>
            <a:pPr marL="0" indent="0">
              <a:buNone/>
            </a:pPr>
            <a:r>
              <a:rPr lang="es-MX" dirty="0" err="1">
                <a:solidFill>
                  <a:srgbClr val="0070C0"/>
                </a:solidFill>
              </a:rPr>
              <a:t>movwf</a:t>
            </a:r>
            <a:r>
              <a:rPr lang="es-MX" dirty="0"/>
              <a:t> </a:t>
            </a:r>
            <a:r>
              <a:rPr lang="es-MX" dirty="0">
                <a:solidFill>
                  <a:srgbClr val="7030A0"/>
                </a:solidFill>
              </a:rPr>
              <a:t>INDICE</a:t>
            </a:r>
            <a:r>
              <a:rPr lang="es-MX" dirty="0"/>
              <a:t>               </a:t>
            </a:r>
            <a:r>
              <a:rPr lang="es-MX" dirty="0">
                <a:solidFill>
                  <a:srgbClr val="00B050"/>
                </a:solidFill>
              </a:rPr>
              <a:t>; Guardar el índice inicial en INDICE</a:t>
            </a:r>
          </a:p>
          <a:p>
            <a:pPr marL="0" indent="0">
              <a:buNone/>
            </a:pPr>
            <a:r>
              <a:rPr lang="es-MX" dirty="0">
                <a:solidFill>
                  <a:srgbClr val="7030A0"/>
                </a:solidFill>
              </a:rPr>
              <a:t>LOOP_TEXTO</a:t>
            </a:r>
          </a:p>
          <a:p>
            <a:pPr marL="0" indent="0">
              <a:buNone/>
            </a:pPr>
            <a:r>
              <a:rPr lang="es-MX" dirty="0"/>
              <a:t>    </a:t>
            </a:r>
            <a:r>
              <a:rPr lang="es-MX" dirty="0" err="1">
                <a:solidFill>
                  <a:srgbClr val="0070C0"/>
                </a:solidFill>
              </a:rPr>
              <a:t>movf</a:t>
            </a:r>
            <a:r>
              <a:rPr lang="es-MX" dirty="0"/>
              <a:t> </a:t>
            </a:r>
            <a:r>
              <a:rPr lang="es-MX" dirty="0">
                <a:solidFill>
                  <a:srgbClr val="7030A0"/>
                </a:solidFill>
              </a:rPr>
              <a:t>INDICE</a:t>
            </a:r>
            <a:r>
              <a:rPr lang="es-MX" dirty="0"/>
              <a:t>, </a:t>
            </a:r>
            <a:r>
              <a:rPr lang="es-MX" dirty="0">
                <a:solidFill>
                  <a:srgbClr val="7030A0"/>
                </a:solidFill>
              </a:rPr>
              <a:t>W</a:t>
            </a:r>
            <a:r>
              <a:rPr lang="es-MX" dirty="0"/>
              <a:t>         </a:t>
            </a:r>
            <a:r>
              <a:rPr lang="es-MX" dirty="0">
                <a:solidFill>
                  <a:srgbClr val="00B050"/>
                </a:solidFill>
              </a:rPr>
              <a:t>; Copiar el índice a W</a:t>
            </a:r>
          </a:p>
          <a:p>
            <a:pPr marL="0" indent="0">
              <a:buNone/>
            </a:pPr>
            <a:r>
              <a:rPr lang="es-MX" dirty="0"/>
              <a:t>    </a:t>
            </a:r>
            <a:r>
              <a:rPr lang="es-MX" dirty="0" err="1">
                <a:solidFill>
                  <a:srgbClr val="0070C0"/>
                </a:solidFill>
              </a:rPr>
              <a:t>call</a:t>
            </a:r>
            <a:r>
              <a:rPr lang="es-MX" dirty="0"/>
              <a:t> </a:t>
            </a:r>
            <a:r>
              <a:rPr lang="es-MX" dirty="0">
                <a:solidFill>
                  <a:srgbClr val="7030A0"/>
                </a:solidFill>
              </a:rPr>
              <a:t>TABLA_TEXTOS      </a:t>
            </a:r>
          </a:p>
          <a:p>
            <a:pPr marL="0" indent="0">
              <a:buNone/>
            </a:pPr>
            <a:r>
              <a:rPr lang="es-MX" dirty="0"/>
              <a:t>    </a:t>
            </a:r>
            <a:r>
              <a:rPr lang="es-MX" dirty="0" err="1">
                <a:solidFill>
                  <a:srgbClr val="0070C0"/>
                </a:solidFill>
              </a:rPr>
              <a:t>addlw</a:t>
            </a:r>
            <a:r>
              <a:rPr lang="es-MX" dirty="0"/>
              <a:t> </a:t>
            </a:r>
            <a:r>
              <a:rPr lang="es-MX" dirty="0">
                <a:solidFill>
                  <a:srgbClr val="00B050"/>
                </a:solidFill>
              </a:rPr>
              <a:t>.0               ; Sumo 0 para actualizar status</a:t>
            </a:r>
          </a:p>
          <a:p>
            <a:pPr marL="0" indent="0">
              <a:buNone/>
            </a:pPr>
            <a:r>
              <a:rPr lang="es-MX" dirty="0"/>
              <a:t>    </a:t>
            </a:r>
            <a:r>
              <a:rPr lang="es-MX" dirty="0" err="1">
                <a:solidFill>
                  <a:srgbClr val="0070C0"/>
                </a:solidFill>
              </a:rPr>
              <a:t>btfsc</a:t>
            </a:r>
            <a:r>
              <a:rPr lang="es-MX" dirty="0"/>
              <a:t> </a:t>
            </a:r>
            <a:r>
              <a:rPr lang="es-MX" dirty="0">
                <a:solidFill>
                  <a:srgbClr val="7030A0"/>
                </a:solidFill>
              </a:rPr>
              <a:t>STATUS</a:t>
            </a:r>
            <a:r>
              <a:rPr lang="es-MX" dirty="0"/>
              <a:t>, </a:t>
            </a:r>
            <a:r>
              <a:rPr lang="es-MX" dirty="0">
                <a:solidFill>
                  <a:srgbClr val="7030A0"/>
                </a:solidFill>
              </a:rPr>
              <a:t>Z</a:t>
            </a:r>
            <a:r>
              <a:rPr lang="es-MX" dirty="0"/>
              <a:t>        </a:t>
            </a:r>
            <a:r>
              <a:rPr lang="es-MX" dirty="0">
                <a:solidFill>
                  <a:srgbClr val="00B050"/>
                </a:solidFill>
              </a:rPr>
              <a:t>; Revisar si el retorno es 0x00 (fin de texto)</a:t>
            </a:r>
          </a:p>
          <a:p>
            <a:pPr marL="0" indent="0">
              <a:buNone/>
            </a:pPr>
            <a:r>
              <a:rPr lang="es-MX" dirty="0"/>
              <a:t>    </a:t>
            </a:r>
            <a:r>
              <a:rPr lang="es-MX" dirty="0" err="1">
                <a:solidFill>
                  <a:srgbClr val="0070C0"/>
                </a:solidFill>
              </a:rPr>
              <a:t>return</a:t>
            </a:r>
            <a:r>
              <a:rPr lang="es-MX" dirty="0"/>
              <a:t>                 </a:t>
            </a:r>
            <a:r>
              <a:rPr lang="es-MX" dirty="0">
                <a:solidFill>
                  <a:srgbClr val="00B050"/>
                </a:solidFill>
              </a:rPr>
              <a:t>; Si es fin de texto, salir de la subrutina</a:t>
            </a:r>
          </a:p>
          <a:p>
            <a:pPr marL="0" indent="0">
              <a:buNone/>
            </a:pPr>
            <a:r>
              <a:rPr lang="es-MX" dirty="0"/>
              <a:t>    </a:t>
            </a:r>
            <a:r>
              <a:rPr lang="es-MX" dirty="0" err="1">
                <a:solidFill>
                  <a:srgbClr val="0070C0"/>
                </a:solidFill>
              </a:rPr>
              <a:t>movwf</a:t>
            </a:r>
            <a:r>
              <a:rPr lang="es-MX" dirty="0"/>
              <a:t> </a:t>
            </a:r>
            <a:r>
              <a:rPr lang="es-MX" dirty="0">
                <a:solidFill>
                  <a:srgbClr val="7030A0"/>
                </a:solidFill>
              </a:rPr>
              <a:t>PORTB</a:t>
            </a:r>
            <a:r>
              <a:rPr lang="es-MX" dirty="0"/>
              <a:t>            </a:t>
            </a:r>
            <a:r>
              <a:rPr lang="es-MX" dirty="0">
                <a:solidFill>
                  <a:srgbClr val="00B050"/>
                </a:solidFill>
              </a:rPr>
              <a:t>; Colocar el carácter en PORTB (bus de datos)</a:t>
            </a:r>
          </a:p>
          <a:p>
            <a:pPr marL="0" indent="0">
              <a:buNone/>
            </a:pPr>
            <a:r>
              <a:rPr lang="es-MX" dirty="0"/>
              <a:t>    </a:t>
            </a:r>
            <a:r>
              <a:rPr lang="es-MX" dirty="0" err="1">
                <a:solidFill>
                  <a:srgbClr val="0070C0"/>
                </a:solidFill>
              </a:rPr>
              <a:t>call</a:t>
            </a:r>
            <a:r>
              <a:rPr lang="es-MX" dirty="0"/>
              <a:t> </a:t>
            </a:r>
            <a:r>
              <a:rPr lang="es-MX" dirty="0">
                <a:solidFill>
                  <a:srgbClr val="7030A0"/>
                </a:solidFill>
              </a:rPr>
              <a:t>MANDAR</a:t>
            </a:r>
            <a:r>
              <a:rPr lang="es-MX" dirty="0"/>
              <a:t>           </a:t>
            </a:r>
            <a:r>
              <a:rPr lang="es-MX" dirty="0">
                <a:solidFill>
                  <a:srgbClr val="00B050"/>
                </a:solidFill>
              </a:rPr>
              <a:t> ; Enviar carácter al LCD</a:t>
            </a:r>
          </a:p>
          <a:p>
            <a:pPr marL="0" indent="0">
              <a:buNone/>
            </a:pPr>
            <a:r>
              <a:rPr lang="es-MX" dirty="0"/>
              <a:t>    </a:t>
            </a:r>
            <a:r>
              <a:rPr lang="es-MX" dirty="0" err="1">
                <a:solidFill>
                  <a:srgbClr val="0070C0"/>
                </a:solidFill>
              </a:rPr>
              <a:t>incf</a:t>
            </a:r>
            <a:r>
              <a:rPr lang="es-MX" dirty="0"/>
              <a:t> </a:t>
            </a:r>
            <a:r>
              <a:rPr lang="es-MX" dirty="0">
                <a:solidFill>
                  <a:srgbClr val="7030A0"/>
                </a:solidFill>
              </a:rPr>
              <a:t>INDICE</a:t>
            </a:r>
            <a:r>
              <a:rPr lang="es-MX" dirty="0"/>
              <a:t>, </a:t>
            </a:r>
            <a:r>
              <a:rPr lang="es-MX" dirty="0">
                <a:solidFill>
                  <a:srgbClr val="7030A0"/>
                </a:solidFill>
              </a:rPr>
              <a:t>F</a:t>
            </a:r>
            <a:r>
              <a:rPr lang="es-MX" dirty="0"/>
              <a:t>         </a:t>
            </a:r>
            <a:r>
              <a:rPr lang="es-MX" dirty="0">
                <a:solidFill>
                  <a:srgbClr val="00B050"/>
                </a:solidFill>
              </a:rPr>
              <a:t>; Incrementar índice para siguiente carácter</a:t>
            </a:r>
          </a:p>
          <a:p>
            <a:pPr marL="0" indent="0">
              <a:buNone/>
            </a:pPr>
            <a:r>
              <a:rPr lang="es-MX" dirty="0"/>
              <a:t>    </a:t>
            </a:r>
            <a:r>
              <a:rPr lang="es-MX" dirty="0" err="1">
                <a:solidFill>
                  <a:srgbClr val="0070C0"/>
                </a:solidFill>
              </a:rPr>
              <a:t>goto</a:t>
            </a:r>
            <a:r>
              <a:rPr lang="es-MX" dirty="0"/>
              <a:t> </a:t>
            </a:r>
            <a:r>
              <a:rPr lang="es-MX" dirty="0">
                <a:solidFill>
                  <a:srgbClr val="7030A0"/>
                </a:solidFill>
              </a:rPr>
              <a:t>LOOP_TEXTO        </a:t>
            </a:r>
            <a:r>
              <a:rPr lang="es-MX" dirty="0">
                <a:solidFill>
                  <a:srgbClr val="00B050"/>
                </a:solidFill>
              </a:rPr>
              <a:t>; Repetir hasta encontrar 0x00</a:t>
            </a:r>
          </a:p>
        </p:txBody>
      </p:sp>
    </p:spTree>
    <p:extLst>
      <p:ext uri="{BB962C8B-B14F-4D97-AF65-F5344CB8AC3E}">
        <p14:creationId xmlns:p14="http://schemas.microsoft.com/office/powerpoint/2010/main" val="1968749276"/>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FBEDA-F355-2F65-8F8F-890F8D5A82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E27DD1-491E-7DDE-8380-2F8C4C75A3F1}"/>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D2082A16-47C4-23D3-6C84-AF247526D611}"/>
              </a:ext>
            </a:extLst>
          </p:cNvPr>
          <p:cNvSpPr>
            <a:spLocks noGrp="1"/>
          </p:cNvSpPr>
          <p:nvPr>
            <p:ph idx="1"/>
          </p:nvPr>
        </p:nvSpPr>
        <p:spPr>
          <a:xfrm>
            <a:off x="457200" y="1600200"/>
            <a:ext cx="9918700" cy="5684837"/>
          </a:xfrm>
        </p:spPr>
        <p:txBody>
          <a:bodyPr>
            <a:normAutofit fontScale="70000" lnSpcReduction="20000"/>
          </a:bodyPr>
          <a:lstStyle/>
          <a:p>
            <a:pPr marL="0" indent="0">
              <a:buNone/>
            </a:pPr>
            <a:r>
              <a:rPr lang="es-MX" dirty="0">
                <a:solidFill>
                  <a:srgbClr val="7030A0"/>
                </a:solidFill>
              </a:rPr>
              <a:t>LCD_IN</a:t>
            </a:r>
          </a:p>
          <a:p>
            <a:pPr marL="0" indent="0">
              <a:buNone/>
            </a:pPr>
            <a:r>
              <a:rPr lang="es-MX" dirty="0"/>
              <a:t>    </a:t>
            </a:r>
            <a:r>
              <a:rPr lang="es-MX" dirty="0" err="1">
                <a:solidFill>
                  <a:srgbClr val="0070C0"/>
                </a:solidFill>
              </a:rPr>
              <a:t>bcf</a:t>
            </a:r>
            <a:r>
              <a:rPr lang="es-MX" dirty="0"/>
              <a:t> </a:t>
            </a:r>
            <a:r>
              <a:rPr lang="es-MX" dirty="0">
                <a:solidFill>
                  <a:srgbClr val="7030A0"/>
                </a:solidFill>
              </a:rPr>
              <a:t>PORTA</a:t>
            </a:r>
            <a:r>
              <a:rPr lang="es-MX" dirty="0"/>
              <a:t>,0            </a:t>
            </a:r>
            <a:r>
              <a:rPr lang="es-MX" dirty="0">
                <a:solidFill>
                  <a:srgbClr val="00B050"/>
                </a:solidFill>
              </a:rPr>
              <a:t>; RS = 0 → el siguiente byte es un **comando**, no un dato</a:t>
            </a:r>
          </a:p>
          <a:p>
            <a:pPr marL="0" indent="0">
              <a:buNone/>
            </a:pPr>
            <a:r>
              <a:rPr lang="es-MX" dirty="0"/>
              <a:t>    </a:t>
            </a:r>
            <a:r>
              <a:rPr lang="es-MX" dirty="0" err="1">
                <a:solidFill>
                  <a:srgbClr val="0070C0"/>
                </a:solidFill>
              </a:rPr>
              <a:t>movlw</a:t>
            </a:r>
            <a:r>
              <a:rPr lang="es-MX" dirty="0"/>
              <a:t> </a:t>
            </a:r>
            <a:r>
              <a:rPr lang="es-MX" dirty="0">
                <a:solidFill>
                  <a:srgbClr val="0070C0"/>
                </a:solidFill>
              </a:rPr>
              <a:t>0X01 </a:t>
            </a:r>
            <a:r>
              <a:rPr lang="es-MX" dirty="0"/>
              <a:t>            </a:t>
            </a:r>
            <a:r>
              <a:rPr lang="es-MX" dirty="0">
                <a:solidFill>
                  <a:srgbClr val="00B050"/>
                </a:solidFill>
              </a:rPr>
              <a:t>; Comando: borrar pantalla</a:t>
            </a:r>
          </a:p>
          <a:p>
            <a:pPr marL="0" indent="0">
              <a:buNone/>
            </a:pPr>
            <a:r>
              <a:rPr lang="es-MX" dirty="0"/>
              <a:t>    </a:t>
            </a:r>
            <a:r>
              <a:rPr lang="es-MX" dirty="0" err="1">
                <a:solidFill>
                  <a:srgbClr val="0070C0"/>
                </a:solidFill>
              </a:rPr>
              <a:t>movwf</a:t>
            </a:r>
            <a:r>
              <a:rPr lang="es-MX" dirty="0"/>
              <a:t> </a:t>
            </a:r>
            <a:r>
              <a:rPr lang="es-MX" dirty="0">
                <a:solidFill>
                  <a:srgbClr val="7030A0"/>
                </a:solidFill>
              </a:rPr>
              <a:t>PORTB</a:t>
            </a:r>
            <a:r>
              <a:rPr lang="es-MX" dirty="0"/>
              <a:t>            </a:t>
            </a:r>
            <a:r>
              <a:rPr lang="es-MX" dirty="0">
                <a:solidFill>
                  <a:srgbClr val="00B050"/>
                </a:solidFill>
              </a:rPr>
              <a:t>; Colocar comando en bus de datos</a:t>
            </a:r>
          </a:p>
          <a:p>
            <a:pPr marL="0" indent="0">
              <a:buNone/>
            </a:pPr>
            <a:r>
              <a:rPr lang="es-MX" dirty="0"/>
              <a:t>    </a:t>
            </a:r>
            <a:r>
              <a:rPr lang="es-MX" dirty="0" err="1">
                <a:solidFill>
                  <a:srgbClr val="0070C0"/>
                </a:solidFill>
              </a:rPr>
              <a:t>call</a:t>
            </a:r>
            <a:r>
              <a:rPr lang="es-MX" dirty="0"/>
              <a:t> </a:t>
            </a:r>
            <a:r>
              <a:rPr lang="es-MX" dirty="0">
                <a:solidFill>
                  <a:srgbClr val="7030A0"/>
                </a:solidFill>
              </a:rPr>
              <a:t>EJECUTA</a:t>
            </a:r>
            <a:r>
              <a:rPr lang="es-MX" dirty="0"/>
              <a:t>            </a:t>
            </a:r>
            <a:r>
              <a:rPr lang="es-MX" dirty="0">
                <a:solidFill>
                  <a:srgbClr val="00B050"/>
                </a:solidFill>
              </a:rPr>
              <a:t>; Generar pulso de </a:t>
            </a:r>
            <a:r>
              <a:rPr lang="es-MX" dirty="0" err="1">
                <a:solidFill>
                  <a:srgbClr val="00B050"/>
                </a:solidFill>
              </a:rPr>
              <a:t>enable</a:t>
            </a:r>
            <a:r>
              <a:rPr lang="es-MX" dirty="0">
                <a:solidFill>
                  <a:srgbClr val="00B050"/>
                </a:solidFill>
              </a:rPr>
              <a:t> (E) para que LCD lea comando</a:t>
            </a:r>
          </a:p>
          <a:p>
            <a:pPr marL="0" indent="0">
              <a:buNone/>
            </a:pPr>
            <a:endParaRPr lang="es-MX" dirty="0"/>
          </a:p>
          <a:p>
            <a:pPr marL="0" indent="0">
              <a:buNone/>
            </a:pPr>
            <a:r>
              <a:rPr lang="es-MX" dirty="0"/>
              <a:t>    </a:t>
            </a:r>
            <a:r>
              <a:rPr lang="es-MX" dirty="0" err="1">
                <a:solidFill>
                  <a:srgbClr val="0070C0"/>
                </a:solidFill>
              </a:rPr>
              <a:t>movlw</a:t>
            </a:r>
            <a:r>
              <a:rPr lang="es-MX" dirty="0"/>
              <a:t> </a:t>
            </a:r>
            <a:r>
              <a:rPr lang="es-MX" dirty="0">
                <a:solidFill>
                  <a:srgbClr val="0070C0"/>
                </a:solidFill>
              </a:rPr>
              <a:t>0X0C</a:t>
            </a:r>
            <a:r>
              <a:rPr lang="es-MX" dirty="0"/>
              <a:t>             </a:t>
            </a:r>
            <a:r>
              <a:rPr lang="es-MX" dirty="0">
                <a:solidFill>
                  <a:srgbClr val="00B050"/>
                </a:solidFill>
              </a:rPr>
              <a:t>; Comando: </a:t>
            </a:r>
            <a:r>
              <a:rPr lang="es-MX" dirty="0" err="1">
                <a:solidFill>
                  <a:srgbClr val="00B050"/>
                </a:solidFill>
              </a:rPr>
              <a:t>display</a:t>
            </a:r>
            <a:r>
              <a:rPr lang="es-MX" dirty="0">
                <a:solidFill>
                  <a:srgbClr val="00B050"/>
                </a:solidFill>
              </a:rPr>
              <a:t> encendido, cursor apagado</a:t>
            </a:r>
          </a:p>
          <a:p>
            <a:pPr marL="0" indent="0">
              <a:buNone/>
            </a:pPr>
            <a:r>
              <a:rPr lang="es-MX" dirty="0"/>
              <a:t>    </a:t>
            </a:r>
            <a:r>
              <a:rPr lang="es-MX" dirty="0" err="1">
                <a:solidFill>
                  <a:srgbClr val="0070C0"/>
                </a:solidFill>
              </a:rPr>
              <a:t>movwf</a:t>
            </a:r>
            <a:r>
              <a:rPr lang="es-MX" dirty="0"/>
              <a:t> </a:t>
            </a:r>
            <a:r>
              <a:rPr lang="es-MX" dirty="0">
                <a:solidFill>
                  <a:srgbClr val="7030A0"/>
                </a:solidFill>
              </a:rPr>
              <a:t>PORTB</a:t>
            </a:r>
          </a:p>
          <a:p>
            <a:pPr marL="0" indent="0">
              <a:buNone/>
            </a:pPr>
            <a:r>
              <a:rPr lang="es-MX" dirty="0"/>
              <a:t>    </a:t>
            </a:r>
            <a:r>
              <a:rPr lang="es-MX" dirty="0" err="1">
                <a:solidFill>
                  <a:srgbClr val="0070C0"/>
                </a:solidFill>
              </a:rPr>
              <a:t>call</a:t>
            </a:r>
            <a:r>
              <a:rPr lang="es-MX" dirty="0"/>
              <a:t> </a:t>
            </a:r>
            <a:r>
              <a:rPr lang="es-MX" dirty="0">
                <a:solidFill>
                  <a:srgbClr val="7030A0"/>
                </a:solidFill>
              </a:rPr>
              <a:t>EJECUTA</a:t>
            </a:r>
          </a:p>
          <a:p>
            <a:pPr marL="0" indent="0">
              <a:buNone/>
            </a:pPr>
            <a:endParaRPr lang="es-MX" dirty="0"/>
          </a:p>
          <a:p>
            <a:pPr marL="0" indent="0">
              <a:buNone/>
            </a:pPr>
            <a:r>
              <a:rPr lang="es-MX" dirty="0"/>
              <a:t>    </a:t>
            </a:r>
            <a:r>
              <a:rPr lang="es-MX" dirty="0" err="1">
                <a:solidFill>
                  <a:srgbClr val="0070C0"/>
                </a:solidFill>
              </a:rPr>
              <a:t>movlw</a:t>
            </a:r>
            <a:r>
              <a:rPr lang="es-MX" dirty="0"/>
              <a:t> </a:t>
            </a:r>
            <a:r>
              <a:rPr lang="es-MX" dirty="0">
                <a:solidFill>
                  <a:srgbClr val="0070C0"/>
                </a:solidFill>
              </a:rPr>
              <a:t>0X38</a:t>
            </a:r>
            <a:r>
              <a:rPr lang="es-MX" dirty="0"/>
              <a:t>             </a:t>
            </a:r>
            <a:r>
              <a:rPr lang="es-MX" dirty="0">
                <a:solidFill>
                  <a:srgbClr val="00B050"/>
                </a:solidFill>
              </a:rPr>
              <a:t>; Comando: modo 8 bits, 2 líneas, 5x7 puntos</a:t>
            </a:r>
          </a:p>
          <a:p>
            <a:pPr marL="0" indent="0">
              <a:buNone/>
            </a:pPr>
            <a:r>
              <a:rPr lang="es-MX" dirty="0"/>
              <a:t>    </a:t>
            </a:r>
            <a:r>
              <a:rPr lang="es-MX" dirty="0" err="1">
                <a:solidFill>
                  <a:srgbClr val="0070C0"/>
                </a:solidFill>
              </a:rPr>
              <a:t>movwf</a:t>
            </a:r>
            <a:r>
              <a:rPr lang="es-MX" dirty="0"/>
              <a:t> </a:t>
            </a:r>
            <a:r>
              <a:rPr lang="es-MX" dirty="0">
                <a:solidFill>
                  <a:srgbClr val="7030A0"/>
                </a:solidFill>
              </a:rPr>
              <a:t>PORTB</a:t>
            </a:r>
          </a:p>
          <a:p>
            <a:pPr marL="0" indent="0">
              <a:buNone/>
            </a:pPr>
            <a:r>
              <a:rPr lang="es-MX" dirty="0"/>
              <a:t>    </a:t>
            </a:r>
            <a:r>
              <a:rPr lang="es-MX" dirty="0" err="1">
                <a:solidFill>
                  <a:srgbClr val="0070C0"/>
                </a:solidFill>
              </a:rPr>
              <a:t>call</a:t>
            </a:r>
            <a:r>
              <a:rPr lang="es-MX" dirty="0"/>
              <a:t> </a:t>
            </a:r>
            <a:r>
              <a:rPr lang="es-MX" dirty="0">
                <a:solidFill>
                  <a:srgbClr val="7030A0"/>
                </a:solidFill>
              </a:rPr>
              <a:t>EJECUTA</a:t>
            </a:r>
          </a:p>
          <a:p>
            <a:pPr marL="0" indent="0">
              <a:buNone/>
            </a:pPr>
            <a:endParaRPr lang="es-MX" dirty="0"/>
          </a:p>
          <a:p>
            <a:pPr marL="0" indent="0">
              <a:buNone/>
            </a:pPr>
            <a:r>
              <a:rPr lang="es-MX" dirty="0"/>
              <a:t>    </a:t>
            </a:r>
            <a:r>
              <a:rPr lang="es-MX" dirty="0" err="1">
                <a:solidFill>
                  <a:srgbClr val="0070C0"/>
                </a:solidFill>
              </a:rPr>
              <a:t>bsf</a:t>
            </a:r>
            <a:r>
              <a:rPr lang="es-MX" dirty="0"/>
              <a:t> </a:t>
            </a:r>
            <a:r>
              <a:rPr lang="es-MX" dirty="0">
                <a:solidFill>
                  <a:srgbClr val="7030A0"/>
                </a:solidFill>
              </a:rPr>
              <a:t>PORTA</a:t>
            </a:r>
            <a:r>
              <a:rPr lang="es-MX" dirty="0"/>
              <a:t>,0            </a:t>
            </a:r>
            <a:r>
              <a:rPr lang="es-MX" dirty="0">
                <a:solidFill>
                  <a:srgbClr val="00B050"/>
                </a:solidFill>
              </a:rPr>
              <a:t>; RS = 1 → volver a modo **dato**</a:t>
            </a:r>
          </a:p>
          <a:p>
            <a:pPr marL="0" indent="0">
              <a:buNone/>
            </a:pPr>
            <a:r>
              <a:rPr lang="es-MX" dirty="0"/>
              <a:t>    </a:t>
            </a:r>
            <a:r>
              <a:rPr lang="es-MX" dirty="0" err="1">
                <a:solidFill>
                  <a:srgbClr val="0070C0"/>
                </a:solidFill>
              </a:rPr>
              <a:t>return</a:t>
            </a:r>
            <a:endParaRPr lang="es-MX" dirty="0">
              <a:solidFill>
                <a:srgbClr val="0070C0"/>
              </a:solidFill>
            </a:endParaRPr>
          </a:p>
        </p:txBody>
      </p:sp>
    </p:spTree>
    <p:extLst>
      <p:ext uri="{BB962C8B-B14F-4D97-AF65-F5344CB8AC3E}">
        <p14:creationId xmlns:p14="http://schemas.microsoft.com/office/powerpoint/2010/main" val="2817601902"/>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19BE0-2C2A-808C-063F-9A234046C4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D77E7D2-51D2-D5D8-C94E-32B0345F44D8}"/>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6BA2E613-C892-0ADC-FB0D-A17A036C0D8D}"/>
              </a:ext>
            </a:extLst>
          </p:cNvPr>
          <p:cNvSpPr>
            <a:spLocks noGrp="1"/>
          </p:cNvSpPr>
          <p:nvPr>
            <p:ph idx="1"/>
          </p:nvPr>
        </p:nvSpPr>
        <p:spPr>
          <a:xfrm>
            <a:off x="457200" y="1600200"/>
            <a:ext cx="9918700" cy="5684837"/>
          </a:xfrm>
        </p:spPr>
        <p:txBody>
          <a:bodyPr>
            <a:normAutofit/>
          </a:bodyPr>
          <a:lstStyle/>
          <a:p>
            <a:pPr marL="0" indent="0">
              <a:buNone/>
            </a:pPr>
            <a:r>
              <a:rPr lang="es-MX" dirty="0">
                <a:solidFill>
                  <a:srgbClr val="7030A0"/>
                </a:solidFill>
              </a:rPr>
              <a:t>EJECUTA</a:t>
            </a:r>
          </a:p>
          <a:p>
            <a:pPr marL="0" indent="0">
              <a:buNone/>
            </a:pPr>
            <a:r>
              <a:rPr lang="es-MX" dirty="0"/>
              <a:t>    </a:t>
            </a:r>
            <a:r>
              <a:rPr lang="es-MX" dirty="0" err="1">
                <a:solidFill>
                  <a:srgbClr val="0070C0"/>
                </a:solidFill>
              </a:rPr>
              <a:t>bsf</a:t>
            </a:r>
            <a:r>
              <a:rPr lang="es-MX" dirty="0"/>
              <a:t> </a:t>
            </a:r>
            <a:r>
              <a:rPr lang="es-MX" dirty="0">
                <a:solidFill>
                  <a:srgbClr val="7030A0"/>
                </a:solidFill>
              </a:rPr>
              <a:t>PORTA</a:t>
            </a:r>
            <a:r>
              <a:rPr lang="es-MX" dirty="0"/>
              <a:t>,1           </a:t>
            </a:r>
            <a:r>
              <a:rPr lang="es-MX" dirty="0">
                <a:solidFill>
                  <a:srgbClr val="00B050"/>
                </a:solidFill>
              </a:rPr>
              <a:t> ; E = 1 → iniciar lectura de datos o </a:t>
            </a:r>
            <a:r>
              <a:rPr lang="es-MX" dirty="0"/>
              <a:t>				</a:t>
            </a:r>
            <a:r>
              <a:rPr lang="es-MX" dirty="0">
                <a:solidFill>
                  <a:srgbClr val="00B050"/>
                </a:solidFill>
              </a:rPr>
              <a:t>;comando por parte del LCD</a:t>
            </a:r>
          </a:p>
          <a:p>
            <a:pPr marL="0" indent="0">
              <a:buNone/>
            </a:pPr>
            <a:r>
              <a:rPr lang="es-MX" dirty="0"/>
              <a:t>    </a:t>
            </a:r>
            <a:r>
              <a:rPr lang="es-MX" dirty="0" err="1">
                <a:solidFill>
                  <a:srgbClr val="0070C0"/>
                </a:solidFill>
              </a:rPr>
              <a:t>call</a:t>
            </a:r>
            <a:r>
              <a:rPr lang="es-MX" dirty="0"/>
              <a:t> </a:t>
            </a:r>
            <a:r>
              <a:rPr lang="es-MX" dirty="0">
                <a:solidFill>
                  <a:srgbClr val="7030A0"/>
                </a:solidFill>
              </a:rPr>
              <a:t>DELAY_LCD         </a:t>
            </a:r>
            <a:r>
              <a:rPr lang="es-MX" dirty="0">
                <a:solidFill>
                  <a:srgbClr val="00B050"/>
                </a:solidFill>
              </a:rPr>
              <a:t>; Esperar tiempo suficiente para que </a:t>
            </a:r>
            <a:r>
              <a:rPr lang="es-MX" dirty="0"/>
              <a:t>				</a:t>
            </a:r>
            <a:r>
              <a:rPr lang="es-MX" dirty="0">
                <a:solidFill>
                  <a:srgbClr val="00B050"/>
                </a:solidFill>
              </a:rPr>
              <a:t>;LCD lea</a:t>
            </a:r>
          </a:p>
          <a:p>
            <a:pPr marL="0" indent="0">
              <a:buNone/>
            </a:pPr>
            <a:r>
              <a:rPr lang="es-MX" dirty="0"/>
              <a:t>    </a:t>
            </a:r>
            <a:r>
              <a:rPr lang="es-MX" dirty="0" err="1">
                <a:solidFill>
                  <a:srgbClr val="0070C0"/>
                </a:solidFill>
              </a:rPr>
              <a:t>bcf</a:t>
            </a:r>
            <a:r>
              <a:rPr lang="es-MX" dirty="0"/>
              <a:t> </a:t>
            </a:r>
            <a:r>
              <a:rPr lang="es-MX" dirty="0">
                <a:solidFill>
                  <a:srgbClr val="7030A0"/>
                </a:solidFill>
              </a:rPr>
              <a:t>PORTA</a:t>
            </a:r>
            <a:r>
              <a:rPr lang="es-MX" dirty="0"/>
              <a:t>,1            </a:t>
            </a:r>
            <a:r>
              <a:rPr lang="es-MX" dirty="0">
                <a:solidFill>
                  <a:srgbClr val="00B050"/>
                </a:solidFill>
              </a:rPr>
              <a:t>; E = 0 → terminar lectura, LCD </a:t>
            </a:r>
            <a:r>
              <a:rPr lang="es-MX" dirty="0"/>
              <a:t>					</a:t>
            </a:r>
            <a:r>
              <a:rPr lang="es-MX" dirty="0">
                <a:solidFill>
                  <a:srgbClr val="00B050"/>
                </a:solidFill>
              </a:rPr>
              <a:t>;procesa byte</a:t>
            </a:r>
          </a:p>
          <a:p>
            <a:pPr marL="0" indent="0">
              <a:buNone/>
            </a:pPr>
            <a:r>
              <a:rPr lang="es-MX" dirty="0"/>
              <a:t>    </a:t>
            </a:r>
            <a:r>
              <a:rPr lang="es-MX" dirty="0" err="1">
                <a:solidFill>
                  <a:srgbClr val="0070C0"/>
                </a:solidFill>
              </a:rPr>
              <a:t>call</a:t>
            </a:r>
            <a:r>
              <a:rPr lang="es-MX" dirty="0"/>
              <a:t> </a:t>
            </a:r>
            <a:r>
              <a:rPr lang="es-MX" dirty="0">
                <a:solidFill>
                  <a:srgbClr val="7030A0"/>
                </a:solidFill>
              </a:rPr>
              <a:t>DELAY_LCD</a:t>
            </a:r>
          </a:p>
          <a:p>
            <a:pPr marL="0" indent="0">
              <a:buNone/>
            </a:pPr>
            <a:r>
              <a:rPr lang="es-MX" dirty="0"/>
              <a:t>    </a:t>
            </a:r>
            <a:r>
              <a:rPr lang="es-MX" dirty="0" err="1">
                <a:solidFill>
                  <a:srgbClr val="0070C0"/>
                </a:solidFill>
              </a:rPr>
              <a:t>return</a:t>
            </a:r>
            <a:endParaRPr lang="es-MX" dirty="0">
              <a:solidFill>
                <a:srgbClr val="0070C0"/>
              </a:solidFill>
            </a:endParaRPr>
          </a:p>
        </p:txBody>
      </p:sp>
    </p:spTree>
    <p:extLst>
      <p:ext uri="{BB962C8B-B14F-4D97-AF65-F5344CB8AC3E}">
        <p14:creationId xmlns:p14="http://schemas.microsoft.com/office/powerpoint/2010/main" val="42490040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E4E32-44DF-05F8-B34B-286BCD93BF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BB4AFA3-05C5-B263-7643-AF7BA14E40D5}"/>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40BA6E81-4D8B-E30F-A58B-AC24C68F1908}"/>
              </a:ext>
            </a:extLst>
          </p:cNvPr>
          <p:cNvSpPr>
            <a:spLocks noGrp="1"/>
          </p:cNvSpPr>
          <p:nvPr>
            <p:ph idx="1"/>
          </p:nvPr>
        </p:nvSpPr>
        <p:spPr>
          <a:xfrm>
            <a:off x="457200" y="1600200"/>
            <a:ext cx="9918700" cy="5684837"/>
          </a:xfrm>
        </p:spPr>
        <p:txBody>
          <a:bodyPr>
            <a:normAutofit/>
          </a:bodyPr>
          <a:lstStyle/>
          <a:p>
            <a:pPr marL="0" indent="0">
              <a:buNone/>
            </a:pPr>
            <a:r>
              <a:rPr lang="es-MX" dirty="0">
                <a:solidFill>
                  <a:srgbClr val="7030A0"/>
                </a:solidFill>
              </a:rPr>
              <a:t>MANDAR</a:t>
            </a:r>
          </a:p>
          <a:p>
            <a:pPr marL="0" indent="0">
              <a:buNone/>
            </a:pPr>
            <a:r>
              <a:rPr lang="es-MX" dirty="0"/>
              <a:t>    </a:t>
            </a:r>
            <a:r>
              <a:rPr lang="es-MX" dirty="0" err="1">
                <a:solidFill>
                  <a:srgbClr val="0070C0"/>
                </a:solidFill>
              </a:rPr>
              <a:t>bsf</a:t>
            </a:r>
            <a:r>
              <a:rPr lang="es-MX" dirty="0"/>
              <a:t> </a:t>
            </a:r>
            <a:r>
              <a:rPr lang="es-MX" dirty="0">
                <a:solidFill>
                  <a:srgbClr val="7030A0"/>
                </a:solidFill>
              </a:rPr>
              <a:t>PORTA</a:t>
            </a:r>
            <a:r>
              <a:rPr lang="es-MX" dirty="0"/>
              <a:t>,0            </a:t>
            </a:r>
            <a:r>
              <a:rPr lang="es-MX" dirty="0">
                <a:solidFill>
                  <a:srgbClr val="00B050"/>
                </a:solidFill>
              </a:rPr>
              <a:t>; RS = 1 → indicar que es **dato**, </a:t>
            </a:r>
            <a:r>
              <a:rPr lang="es-MX" dirty="0"/>
              <a:t>				</a:t>
            </a:r>
            <a:r>
              <a:rPr lang="es-MX" dirty="0">
                <a:solidFill>
                  <a:srgbClr val="00B050"/>
                </a:solidFill>
              </a:rPr>
              <a:t>;no comando</a:t>
            </a:r>
          </a:p>
          <a:p>
            <a:pPr marL="0" indent="0">
              <a:buNone/>
            </a:pPr>
            <a:r>
              <a:rPr lang="es-MX" dirty="0"/>
              <a:t>    </a:t>
            </a:r>
            <a:r>
              <a:rPr lang="es-MX" dirty="0" err="1">
                <a:solidFill>
                  <a:srgbClr val="0070C0"/>
                </a:solidFill>
              </a:rPr>
              <a:t>call</a:t>
            </a:r>
            <a:r>
              <a:rPr lang="es-MX" dirty="0"/>
              <a:t> </a:t>
            </a:r>
            <a:r>
              <a:rPr lang="es-MX" dirty="0">
                <a:solidFill>
                  <a:srgbClr val="7030A0"/>
                </a:solidFill>
              </a:rPr>
              <a:t>EJECUTA</a:t>
            </a:r>
            <a:r>
              <a:rPr lang="es-MX" dirty="0"/>
              <a:t>            </a:t>
            </a:r>
            <a:r>
              <a:rPr lang="es-MX" dirty="0">
                <a:solidFill>
                  <a:srgbClr val="00B050"/>
                </a:solidFill>
              </a:rPr>
              <a:t>; Generar pulso de E para que LCD lea </a:t>
            </a:r>
            <a:r>
              <a:rPr lang="es-MX" dirty="0"/>
              <a:t>				</a:t>
            </a:r>
            <a:r>
              <a:rPr lang="es-MX" dirty="0">
                <a:solidFill>
                  <a:srgbClr val="00B050"/>
                </a:solidFill>
              </a:rPr>
              <a:t>;el carácter</a:t>
            </a:r>
          </a:p>
          <a:p>
            <a:pPr marL="0" indent="0">
              <a:buNone/>
            </a:pPr>
            <a:r>
              <a:rPr lang="es-MX" dirty="0"/>
              <a:t>    </a:t>
            </a:r>
            <a:r>
              <a:rPr lang="es-MX" dirty="0" err="1">
                <a:solidFill>
                  <a:srgbClr val="0070C0"/>
                </a:solidFill>
              </a:rPr>
              <a:t>return</a:t>
            </a:r>
            <a:endParaRPr lang="es-MX" dirty="0">
              <a:solidFill>
                <a:srgbClr val="0070C0"/>
              </a:solidFill>
            </a:endParaRPr>
          </a:p>
        </p:txBody>
      </p:sp>
    </p:spTree>
    <p:extLst>
      <p:ext uri="{BB962C8B-B14F-4D97-AF65-F5344CB8AC3E}">
        <p14:creationId xmlns:p14="http://schemas.microsoft.com/office/powerpoint/2010/main" val="178743907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B20D-1565-5925-803A-4ACF75FC88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878298-6F45-2341-38E9-57363847222E}"/>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AB3D4E4B-3B7B-DE97-9E9A-6444EC7A3D17}"/>
              </a:ext>
            </a:extLst>
          </p:cNvPr>
          <p:cNvSpPr>
            <a:spLocks noGrp="1"/>
          </p:cNvSpPr>
          <p:nvPr>
            <p:ph idx="1"/>
          </p:nvPr>
        </p:nvSpPr>
        <p:spPr>
          <a:xfrm>
            <a:off x="457200" y="1600200"/>
            <a:ext cx="9918700" cy="5684837"/>
          </a:xfrm>
        </p:spPr>
        <p:txBody>
          <a:bodyPr>
            <a:normAutofit/>
          </a:bodyPr>
          <a:lstStyle/>
          <a:p>
            <a:pPr marL="0" indent="0">
              <a:buNone/>
            </a:pPr>
            <a:r>
              <a:rPr lang="es-MX" dirty="0">
                <a:solidFill>
                  <a:srgbClr val="7030A0"/>
                </a:solidFill>
              </a:rPr>
              <a:t>NEXT</a:t>
            </a:r>
          </a:p>
          <a:p>
            <a:pPr marL="0" indent="0">
              <a:buNone/>
            </a:pPr>
            <a:r>
              <a:rPr lang="es-MX" dirty="0"/>
              <a:t>    </a:t>
            </a:r>
            <a:r>
              <a:rPr lang="es-MX" dirty="0" err="1">
                <a:solidFill>
                  <a:srgbClr val="0070C0"/>
                </a:solidFill>
              </a:rPr>
              <a:t>bcf</a:t>
            </a:r>
            <a:r>
              <a:rPr lang="es-MX" dirty="0"/>
              <a:t> </a:t>
            </a:r>
            <a:r>
              <a:rPr lang="es-MX" dirty="0">
                <a:solidFill>
                  <a:srgbClr val="7030A0"/>
                </a:solidFill>
              </a:rPr>
              <a:t>PORTA</a:t>
            </a:r>
            <a:r>
              <a:rPr lang="es-MX" dirty="0"/>
              <a:t>,0            </a:t>
            </a:r>
            <a:r>
              <a:rPr lang="es-MX" dirty="0">
                <a:solidFill>
                  <a:srgbClr val="00B050"/>
                </a:solidFill>
              </a:rPr>
              <a:t>; RS = 0 → comando</a:t>
            </a:r>
          </a:p>
          <a:p>
            <a:pPr marL="0" indent="0">
              <a:buNone/>
            </a:pPr>
            <a:r>
              <a:rPr lang="es-MX" dirty="0"/>
              <a:t>    </a:t>
            </a:r>
            <a:r>
              <a:rPr lang="es-MX" dirty="0" err="1">
                <a:solidFill>
                  <a:srgbClr val="0070C0"/>
                </a:solidFill>
              </a:rPr>
              <a:t>movlw</a:t>
            </a:r>
            <a:r>
              <a:rPr lang="es-MX" dirty="0"/>
              <a:t> </a:t>
            </a:r>
            <a:r>
              <a:rPr lang="es-MX" dirty="0">
                <a:solidFill>
                  <a:srgbClr val="0070C0"/>
                </a:solidFill>
              </a:rPr>
              <a:t>0XC0 </a:t>
            </a:r>
            <a:r>
              <a:rPr lang="es-MX" dirty="0"/>
              <a:t>            </a:t>
            </a:r>
            <a:r>
              <a:rPr lang="es-MX" dirty="0">
                <a:solidFill>
                  <a:srgbClr val="00B050"/>
                </a:solidFill>
              </a:rPr>
              <a:t>; segunda línea del LCD</a:t>
            </a:r>
          </a:p>
          <a:p>
            <a:pPr marL="0" indent="0">
              <a:buNone/>
            </a:pPr>
            <a:r>
              <a:rPr lang="es-MX" dirty="0"/>
              <a:t>    </a:t>
            </a:r>
            <a:r>
              <a:rPr lang="es-MX" dirty="0" err="1">
                <a:solidFill>
                  <a:srgbClr val="0070C0"/>
                </a:solidFill>
              </a:rPr>
              <a:t>movwf</a:t>
            </a:r>
            <a:r>
              <a:rPr lang="es-MX" dirty="0"/>
              <a:t> </a:t>
            </a:r>
            <a:r>
              <a:rPr lang="es-MX" dirty="0">
                <a:solidFill>
                  <a:srgbClr val="7030A0"/>
                </a:solidFill>
              </a:rPr>
              <a:t>PORTB</a:t>
            </a:r>
            <a:r>
              <a:rPr lang="es-MX" dirty="0"/>
              <a:t>            </a:t>
            </a:r>
            <a:r>
              <a:rPr lang="es-MX" dirty="0">
                <a:solidFill>
                  <a:srgbClr val="00B050"/>
                </a:solidFill>
              </a:rPr>
              <a:t>; Colocar comando en bus de datos</a:t>
            </a:r>
          </a:p>
          <a:p>
            <a:pPr marL="0" indent="0">
              <a:buNone/>
            </a:pPr>
            <a:r>
              <a:rPr lang="es-MX" dirty="0"/>
              <a:t>    </a:t>
            </a:r>
            <a:r>
              <a:rPr lang="es-MX" dirty="0" err="1">
                <a:solidFill>
                  <a:srgbClr val="0070C0"/>
                </a:solidFill>
              </a:rPr>
              <a:t>call</a:t>
            </a:r>
            <a:r>
              <a:rPr lang="es-MX" dirty="0"/>
              <a:t> </a:t>
            </a:r>
            <a:r>
              <a:rPr lang="es-MX" dirty="0">
                <a:solidFill>
                  <a:srgbClr val="7030A0"/>
                </a:solidFill>
              </a:rPr>
              <a:t>EJECUTA</a:t>
            </a:r>
            <a:r>
              <a:rPr lang="es-MX" dirty="0"/>
              <a:t>            </a:t>
            </a:r>
            <a:r>
              <a:rPr lang="es-MX" dirty="0">
                <a:solidFill>
                  <a:srgbClr val="00B050"/>
                </a:solidFill>
              </a:rPr>
              <a:t>; Pulsar E para que LCD lea</a:t>
            </a:r>
          </a:p>
          <a:p>
            <a:pPr marL="0" indent="0">
              <a:buNone/>
            </a:pPr>
            <a:r>
              <a:rPr lang="es-MX" dirty="0"/>
              <a:t>    </a:t>
            </a:r>
            <a:r>
              <a:rPr lang="es-MX" dirty="0" err="1">
                <a:solidFill>
                  <a:srgbClr val="0070C0"/>
                </a:solidFill>
              </a:rPr>
              <a:t>bsf</a:t>
            </a:r>
            <a:r>
              <a:rPr lang="es-MX" dirty="0"/>
              <a:t> </a:t>
            </a:r>
            <a:r>
              <a:rPr lang="es-MX" dirty="0">
                <a:solidFill>
                  <a:srgbClr val="7030A0"/>
                </a:solidFill>
              </a:rPr>
              <a:t>PORTA</a:t>
            </a:r>
            <a:r>
              <a:rPr lang="es-MX" dirty="0"/>
              <a:t>,0            </a:t>
            </a:r>
            <a:r>
              <a:rPr lang="es-MX" dirty="0">
                <a:solidFill>
                  <a:srgbClr val="00B050"/>
                </a:solidFill>
              </a:rPr>
              <a:t>; RS = 1 → volver a modo datos</a:t>
            </a:r>
          </a:p>
          <a:p>
            <a:pPr marL="0" indent="0">
              <a:buNone/>
            </a:pPr>
            <a:r>
              <a:rPr lang="es-MX" dirty="0"/>
              <a:t>    </a:t>
            </a:r>
            <a:r>
              <a:rPr lang="es-MX" dirty="0" err="1">
                <a:solidFill>
                  <a:srgbClr val="0070C0"/>
                </a:solidFill>
              </a:rPr>
              <a:t>return</a:t>
            </a:r>
            <a:endParaRPr lang="es-MX" dirty="0">
              <a:solidFill>
                <a:srgbClr val="0070C0"/>
              </a:solidFill>
            </a:endParaRPr>
          </a:p>
        </p:txBody>
      </p:sp>
    </p:spTree>
    <p:extLst>
      <p:ext uri="{BB962C8B-B14F-4D97-AF65-F5344CB8AC3E}">
        <p14:creationId xmlns:p14="http://schemas.microsoft.com/office/powerpoint/2010/main" val="181812597"/>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C4432-996C-F43F-69DB-F64DAE2311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8EFFB3-5F04-3E30-9700-5CFF0A56E4F6}"/>
              </a:ext>
            </a:extLst>
          </p:cNvPr>
          <p:cNvSpPr>
            <a:spLocks noGrp="1"/>
          </p:cNvSpPr>
          <p:nvPr>
            <p:ph type="title"/>
          </p:nvPr>
        </p:nvSpPr>
        <p:spPr/>
        <p:txBody>
          <a:bodyPr/>
          <a:lstStyle/>
          <a:p>
            <a:r>
              <a:rPr lang="es-AR" b="1" dirty="0" err="1">
                <a:solidFill>
                  <a:srgbClr val="FF0000"/>
                </a:solidFill>
                <a:effectLst>
                  <a:outerShdw blurRad="38100" dist="38100" dir="2700000" algn="tl">
                    <a:srgbClr val="000000">
                      <a:alpha val="43137"/>
                    </a:srgbClr>
                  </a:outerShdw>
                </a:effectLst>
              </a:rPr>
              <a:t>Display</a:t>
            </a:r>
            <a:r>
              <a:rPr lang="es-AR" b="1" dirty="0">
                <a:solidFill>
                  <a:srgbClr val="FF0000"/>
                </a:solidFill>
                <a:effectLst>
                  <a:outerShdw blurRad="38100" dist="38100" dir="2700000" algn="tl">
                    <a:srgbClr val="000000">
                      <a:alpha val="43137"/>
                    </a:srgbClr>
                  </a:outerShdw>
                </a:effectLst>
              </a:rPr>
              <a:t> 16x2</a:t>
            </a:r>
          </a:p>
        </p:txBody>
      </p:sp>
      <p:sp>
        <p:nvSpPr>
          <p:cNvPr id="3" name="Marcador de contenido 2">
            <a:extLst>
              <a:ext uri="{FF2B5EF4-FFF2-40B4-BE49-F238E27FC236}">
                <a16:creationId xmlns:a16="http://schemas.microsoft.com/office/drawing/2014/main" id="{A2204E5D-5850-B012-1DAE-7F71560520A6}"/>
              </a:ext>
            </a:extLst>
          </p:cNvPr>
          <p:cNvSpPr>
            <a:spLocks noGrp="1"/>
          </p:cNvSpPr>
          <p:nvPr>
            <p:ph sz="half" idx="1"/>
          </p:nvPr>
        </p:nvSpPr>
        <p:spPr>
          <a:xfrm>
            <a:off x="457200" y="1600200"/>
            <a:ext cx="4813300" cy="5075237"/>
          </a:xfrm>
        </p:spPr>
        <p:txBody>
          <a:bodyPr>
            <a:normAutofit fontScale="62500" lnSpcReduction="20000"/>
          </a:bodyPr>
          <a:lstStyle/>
          <a:p>
            <a:pPr marL="0" indent="0">
              <a:buNone/>
            </a:pPr>
            <a:r>
              <a:rPr lang="es-MX" dirty="0">
                <a:solidFill>
                  <a:srgbClr val="7030A0"/>
                </a:solidFill>
              </a:rPr>
              <a:t>DELAY_1MS</a:t>
            </a:r>
          </a:p>
          <a:p>
            <a:pPr marL="0" indent="0">
              <a:buNone/>
            </a:pPr>
            <a:r>
              <a:rPr lang="es-MX" dirty="0"/>
              <a:t>    </a:t>
            </a:r>
            <a:r>
              <a:rPr lang="es-MX" dirty="0" err="1">
                <a:solidFill>
                  <a:srgbClr val="0070C0"/>
                </a:solidFill>
              </a:rPr>
              <a:t>movlw</a:t>
            </a:r>
            <a:r>
              <a:rPr lang="es-MX" dirty="0"/>
              <a:t> </a:t>
            </a:r>
            <a:r>
              <a:rPr lang="es-MX" dirty="0">
                <a:solidFill>
                  <a:srgbClr val="00B050"/>
                </a:solidFill>
              </a:rPr>
              <a:t>.250            </a:t>
            </a:r>
          </a:p>
          <a:p>
            <a:pPr marL="0" indent="0">
              <a:buNone/>
            </a:pPr>
            <a:r>
              <a:rPr lang="es-MX" dirty="0"/>
              <a:t>    </a:t>
            </a:r>
            <a:r>
              <a:rPr lang="es-MX" dirty="0" err="1">
                <a:solidFill>
                  <a:srgbClr val="0070C0"/>
                </a:solidFill>
              </a:rPr>
              <a:t>movwf</a:t>
            </a:r>
            <a:r>
              <a:rPr lang="es-MX" dirty="0"/>
              <a:t> </a:t>
            </a:r>
            <a:r>
              <a:rPr lang="es-MX" dirty="0">
                <a:solidFill>
                  <a:srgbClr val="7030A0"/>
                </a:solidFill>
              </a:rPr>
              <a:t>CONT1</a:t>
            </a:r>
          </a:p>
          <a:p>
            <a:pPr marL="0" indent="0">
              <a:buNone/>
            </a:pPr>
            <a:r>
              <a:rPr lang="es-MX" dirty="0">
                <a:solidFill>
                  <a:srgbClr val="7030A0"/>
                </a:solidFill>
              </a:rPr>
              <a:t>LOOP1</a:t>
            </a:r>
          </a:p>
          <a:p>
            <a:pPr marL="0" indent="0">
              <a:buNone/>
            </a:pPr>
            <a:r>
              <a:rPr lang="es-MX" dirty="0"/>
              <a:t>    </a:t>
            </a:r>
            <a:r>
              <a:rPr lang="es-MX" dirty="0" err="1">
                <a:solidFill>
                  <a:srgbClr val="0070C0"/>
                </a:solidFill>
              </a:rPr>
              <a:t>nop</a:t>
            </a:r>
            <a:r>
              <a:rPr lang="es-MX" dirty="0"/>
              <a:t> </a:t>
            </a:r>
          </a:p>
          <a:p>
            <a:pPr marL="0" indent="0">
              <a:buNone/>
            </a:pPr>
            <a:r>
              <a:rPr lang="es-MX" dirty="0"/>
              <a:t>   </a:t>
            </a:r>
            <a:r>
              <a:rPr lang="es-MX" dirty="0" err="1">
                <a:solidFill>
                  <a:srgbClr val="0070C0"/>
                </a:solidFill>
              </a:rPr>
              <a:t>decfsz</a:t>
            </a:r>
            <a:r>
              <a:rPr lang="es-MX" dirty="0"/>
              <a:t> </a:t>
            </a:r>
            <a:r>
              <a:rPr lang="es-MX" dirty="0">
                <a:solidFill>
                  <a:srgbClr val="7030A0"/>
                </a:solidFill>
              </a:rPr>
              <a:t>CONT1</a:t>
            </a:r>
            <a:r>
              <a:rPr lang="es-MX" dirty="0"/>
              <a:t>,</a:t>
            </a:r>
            <a:r>
              <a:rPr lang="es-MX" dirty="0">
                <a:solidFill>
                  <a:srgbClr val="7030A0"/>
                </a:solidFill>
              </a:rPr>
              <a:t>F</a:t>
            </a:r>
          </a:p>
          <a:p>
            <a:pPr marL="0" indent="0">
              <a:buNone/>
            </a:pPr>
            <a:r>
              <a:rPr lang="es-MX" dirty="0"/>
              <a:t>    </a:t>
            </a:r>
            <a:r>
              <a:rPr lang="es-MX" dirty="0" err="1">
                <a:solidFill>
                  <a:srgbClr val="0070C0"/>
                </a:solidFill>
              </a:rPr>
              <a:t>goto</a:t>
            </a:r>
            <a:r>
              <a:rPr lang="es-MX" dirty="0"/>
              <a:t> </a:t>
            </a:r>
            <a:r>
              <a:rPr lang="es-MX" dirty="0">
                <a:solidFill>
                  <a:srgbClr val="7030A0"/>
                </a:solidFill>
              </a:rPr>
              <a:t>LOOP1</a:t>
            </a:r>
          </a:p>
          <a:p>
            <a:pPr marL="0" indent="0">
              <a:buNone/>
            </a:pPr>
            <a:r>
              <a:rPr lang="es-MX" dirty="0"/>
              <a:t>    </a:t>
            </a:r>
            <a:r>
              <a:rPr lang="es-MX" dirty="0" err="1">
                <a:solidFill>
                  <a:srgbClr val="0070C0"/>
                </a:solidFill>
              </a:rPr>
              <a:t>return</a:t>
            </a:r>
            <a:endParaRPr lang="es-MX" dirty="0">
              <a:solidFill>
                <a:srgbClr val="0070C0"/>
              </a:solidFill>
            </a:endParaRPr>
          </a:p>
          <a:p>
            <a:pPr marL="0" indent="0">
              <a:buNone/>
            </a:pPr>
            <a:endParaRPr lang="es-MX" dirty="0"/>
          </a:p>
          <a:p>
            <a:pPr marL="0" indent="0">
              <a:buNone/>
            </a:pPr>
            <a:r>
              <a:rPr lang="es-MX" dirty="0">
                <a:solidFill>
                  <a:srgbClr val="7030A0"/>
                </a:solidFill>
              </a:rPr>
              <a:t>DELAY_LCD</a:t>
            </a:r>
          </a:p>
          <a:p>
            <a:pPr marL="0" indent="0">
              <a:buNone/>
            </a:pPr>
            <a:r>
              <a:rPr lang="es-MX" dirty="0"/>
              <a:t>    </a:t>
            </a:r>
            <a:r>
              <a:rPr lang="es-MX" dirty="0" err="1">
                <a:solidFill>
                  <a:srgbClr val="0070C0"/>
                </a:solidFill>
              </a:rPr>
              <a:t>movlw</a:t>
            </a:r>
            <a:r>
              <a:rPr lang="es-MX" dirty="0"/>
              <a:t> </a:t>
            </a:r>
            <a:r>
              <a:rPr lang="es-MX" dirty="0">
                <a:solidFill>
                  <a:srgbClr val="00B050"/>
                </a:solidFill>
              </a:rPr>
              <a:t>.50</a:t>
            </a:r>
          </a:p>
          <a:p>
            <a:pPr marL="0" indent="0">
              <a:buNone/>
            </a:pPr>
            <a:r>
              <a:rPr lang="es-MX" dirty="0"/>
              <a:t>    </a:t>
            </a:r>
            <a:r>
              <a:rPr lang="es-MX" dirty="0" err="1">
                <a:solidFill>
                  <a:srgbClr val="0070C0"/>
                </a:solidFill>
              </a:rPr>
              <a:t>movwf</a:t>
            </a:r>
            <a:r>
              <a:rPr lang="es-MX" dirty="0"/>
              <a:t> </a:t>
            </a:r>
            <a:r>
              <a:rPr lang="es-MX" dirty="0">
                <a:solidFill>
                  <a:srgbClr val="7030A0"/>
                </a:solidFill>
              </a:rPr>
              <a:t>CONT2</a:t>
            </a:r>
          </a:p>
          <a:p>
            <a:pPr marL="0" indent="0">
              <a:buNone/>
            </a:pPr>
            <a:r>
              <a:rPr lang="es-MX" dirty="0">
                <a:solidFill>
                  <a:srgbClr val="7030A0"/>
                </a:solidFill>
              </a:rPr>
              <a:t>LOOP2</a:t>
            </a:r>
          </a:p>
          <a:p>
            <a:pPr marL="0" indent="0">
              <a:buNone/>
            </a:pPr>
            <a:r>
              <a:rPr lang="es-MX" dirty="0"/>
              <a:t>    </a:t>
            </a:r>
            <a:r>
              <a:rPr lang="es-MX" dirty="0" err="1">
                <a:solidFill>
                  <a:srgbClr val="0070C0"/>
                </a:solidFill>
              </a:rPr>
              <a:t>call</a:t>
            </a:r>
            <a:r>
              <a:rPr lang="es-MX" dirty="0"/>
              <a:t> </a:t>
            </a:r>
            <a:r>
              <a:rPr lang="es-MX" dirty="0">
                <a:solidFill>
                  <a:srgbClr val="7030A0"/>
                </a:solidFill>
              </a:rPr>
              <a:t>DELAY_1MS</a:t>
            </a:r>
          </a:p>
          <a:p>
            <a:pPr marL="0" indent="0">
              <a:buNone/>
            </a:pPr>
            <a:r>
              <a:rPr lang="es-MX" dirty="0"/>
              <a:t>    </a:t>
            </a:r>
            <a:r>
              <a:rPr lang="es-MX" dirty="0" err="1">
                <a:solidFill>
                  <a:srgbClr val="0070C0"/>
                </a:solidFill>
              </a:rPr>
              <a:t>decfsz</a:t>
            </a:r>
            <a:r>
              <a:rPr lang="es-MX" dirty="0"/>
              <a:t> </a:t>
            </a:r>
            <a:r>
              <a:rPr lang="es-MX" dirty="0">
                <a:solidFill>
                  <a:srgbClr val="7030A0"/>
                </a:solidFill>
              </a:rPr>
              <a:t>CONT2</a:t>
            </a:r>
            <a:r>
              <a:rPr lang="es-MX" dirty="0"/>
              <a:t>,</a:t>
            </a:r>
            <a:r>
              <a:rPr lang="es-MX" dirty="0">
                <a:solidFill>
                  <a:srgbClr val="7030A0"/>
                </a:solidFill>
              </a:rPr>
              <a:t>F</a:t>
            </a:r>
          </a:p>
          <a:p>
            <a:pPr marL="0" indent="0">
              <a:buNone/>
            </a:pPr>
            <a:r>
              <a:rPr lang="es-MX" dirty="0"/>
              <a:t>    </a:t>
            </a:r>
            <a:r>
              <a:rPr lang="es-MX" dirty="0" err="1">
                <a:solidFill>
                  <a:srgbClr val="0070C0"/>
                </a:solidFill>
              </a:rPr>
              <a:t>goto</a:t>
            </a:r>
            <a:r>
              <a:rPr lang="es-MX" dirty="0"/>
              <a:t> </a:t>
            </a:r>
            <a:r>
              <a:rPr lang="es-MX" dirty="0">
                <a:solidFill>
                  <a:srgbClr val="7030A0"/>
                </a:solidFill>
              </a:rPr>
              <a:t>LOOP2</a:t>
            </a:r>
          </a:p>
          <a:p>
            <a:pPr marL="0" indent="0">
              <a:buNone/>
            </a:pPr>
            <a:r>
              <a:rPr lang="es-MX" dirty="0"/>
              <a:t>    </a:t>
            </a:r>
            <a:r>
              <a:rPr lang="es-MX" dirty="0" err="1">
                <a:solidFill>
                  <a:srgbClr val="0070C0"/>
                </a:solidFill>
              </a:rPr>
              <a:t>return</a:t>
            </a:r>
            <a:endParaRPr lang="es-MX" dirty="0">
              <a:solidFill>
                <a:srgbClr val="0070C0"/>
              </a:solidFill>
            </a:endParaRPr>
          </a:p>
          <a:p>
            <a:pPr marL="0" indent="0">
              <a:buNone/>
            </a:pPr>
            <a:endParaRPr lang="es-MX" dirty="0"/>
          </a:p>
        </p:txBody>
      </p:sp>
      <p:sp>
        <p:nvSpPr>
          <p:cNvPr id="4" name="Marcador de contenido 3">
            <a:extLst>
              <a:ext uri="{FF2B5EF4-FFF2-40B4-BE49-F238E27FC236}">
                <a16:creationId xmlns:a16="http://schemas.microsoft.com/office/drawing/2014/main" id="{65F850CA-9D86-249F-8DD2-1B752F640FFE}"/>
              </a:ext>
            </a:extLst>
          </p:cNvPr>
          <p:cNvSpPr>
            <a:spLocks noGrp="1"/>
          </p:cNvSpPr>
          <p:nvPr>
            <p:ph sz="half" idx="2"/>
          </p:nvPr>
        </p:nvSpPr>
        <p:spPr>
          <a:xfrm>
            <a:off x="5346700" y="1600200"/>
            <a:ext cx="5257800" cy="5075237"/>
          </a:xfrm>
        </p:spPr>
        <p:txBody>
          <a:bodyPr>
            <a:normAutofit fontScale="62500" lnSpcReduction="20000"/>
          </a:bodyPr>
          <a:lstStyle/>
          <a:p>
            <a:pPr marL="0" indent="0">
              <a:buNone/>
            </a:pPr>
            <a:r>
              <a:rPr lang="es-MX" dirty="0">
                <a:solidFill>
                  <a:srgbClr val="7030A0"/>
                </a:solidFill>
              </a:rPr>
              <a:t>DELAY_1S</a:t>
            </a:r>
          </a:p>
          <a:p>
            <a:pPr marL="0" indent="0">
              <a:buNone/>
            </a:pPr>
            <a:r>
              <a:rPr lang="es-MX" dirty="0"/>
              <a:t>    </a:t>
            </a:r>
            <a:r>
              <a:rPr lang="es-MX" dirty="0" err="1">
                <a:solidFill>
                  <a:srgbClr val="0070C0"/>
                </a:solidFill>
              </a:rPr>
              <a:t>movlw</a:t>
            </a:r>
            <a:r>
              <a:rPr lang="es-MX" dirty="0"/>
              <a:t> </a:t>
            </a:r>
            <a:r>
              <a:rPr lang="es-MX" dirty="0">
                <a:solidFill>
                  <a:srgbClr val="00B050"/>
                </a:solidFill>
              </a:rPr>
              <a:t>.20</a:t>
            </a:r>
          </a:p>
          <a:p>
            <a:pPr marL="0" indent="0">
              <a:buNone/>
            </a:pPr>
            <a:r>
              <a:rPr lang="es-MX" dirty="0"/>
              <a:t>    </a:t>
            </a:r>
            <a:r>
              <a:rPr lang="es-MX" dirty="0" err="1">
                <a:solidFill>
                  <a:srgbClr val="0070C0"/>
                </a:solidFill>
              </a:rPr>
              <a:t>movwf</a:t>
            </a:r>
            <a:r>
              <a:rPr lang="es-MX" dirty="0"/>
              <a:t> </a:t>
            </a:r>
            <a:r>
              <a:rPr lang="es-MX" dirty="0">
                <a:solidFill>
                  <a:srgbClr val="7030A0"/>
                </a:solidFill>
              </a:rPr>
              <a:t>CONT3</a:t>
            </a:r>
          </a:p>
          <a:p>
            <a:pPr marL="0" indent="0">
              <a:buNone/>
            </a:pPr>
            <a:r>
              <a:rPr lang="es-MX" dirty="0">
                <a:solidFill>
                  <a:srgbClr val="7030A0"/>
                </a:solidFill>
              </a:rPr>
              <a:t>LOOP3</a:t>
            </a:r>
          </a:p>
          <a:p>
            <a:pPr marL="0" indent="0">
              <a:buNone/>
            </a:pPr>
            <a:r>
              <a:rPr lang="es-MX" dirty="0"/>
              <a:t>    </a:t>
            </a:r>
            <a:r>
              <a:rPr lang="es-MX" dirty="0" err="1">
                <a:solidFill>
                  <a:srgbClr val="0070C0"/>
                </a:solidFill>
              </a:rPr>
              <a:t>call</a:t>
            </a:r>
            <a:r>
              <a:rPr lang="es-MX" dirty="0"/>
              <a:t> </a:t>
            </a:r>
            <a:r>
              <a:rPr lang="es-MX" dirty="0">
                <a:solidFill>
                  <a:srgbClr val="7030A0"/>
                </a:solidFill>
              </a:rPr>
              <a:t>DELAY_LCD</a:t>
            </a:r>
          </a:p>
          <a:p>
            <a:pPr marL="0" indent="0">
              <a:buNone/>
            </a:pPr>
            <a:r>
              <a:rPr lang="es-MX" dirty="0"/>
              <a:t>    </a:t>
            </a:r>
            <a:r>
              <a:rPr lang="es-MX" dirty="0" err="1">
                <a:solidFill>
                  <a:srgbClr val="0070C0"/>
                </a:solidFill>
              </a:rPr>
              <a:t>decfsz</a:t>
            </a:r>
            <a:r>
              <a:rPr lang="es-MX" dirty="0"/>
              <a:t> </a:t>
            </a:r>
            <a:r>
              <a:rPr lang="es-MX" dirty="0">
                <a:solidFill>
                  <a:srgbClr val="7030A0"/>
                </a:solidFill>
              </a:rPr>
              <a:t>CONT3</a:t>
            </a:r>
            <a:r>
              <a:rPr lang="es-MX" dirty="0"/>
              <a:t>,</a:t>
            </a:r>
            <a:r>
              <a:rPr lang="es-MX" dirty="0">
                <a:solidFill>
                  <a:srgbClr val="7030A0"/>
                </a:solidFill>
              </a:rPr>
              <a:t>F</a:t>
            </a:r>
          </a:p>
          <a:p>
            <a:pPr marL="0" indent="0">
              <a:buNone/>
            </a:pPr>
            <a:r>
              <a:rPr lang="es-MX" dirty="0"/>
              <a:t>    </a:t>
            </a:r>
            <a:r>
              <a:rPr lang="es-MX" dirty="0" err="1">
                <a:solidFill>
                  <a:srgbClr val="0070C0"/>
                </a:solidFill>
              </a:rPr>
              <a:t>goto</a:t>
            </a:r>
            <a:r>
              <a:rPr lang="es-MX" dirty="0"/>
              <a:t> </a:t>
            </a:r>
            <a:r>
              <a:rPr lang="es-MX" dirty="0">
                <a:solidFill>
                  <a:srgbClr val="7030A0"/>
                </a:solidFill>
              </a:rPr>
              <a:t>LOOP3</a:t>
            </a:r>
          </a:p>
          <a:p>
            <a:pPr marL="0" indent="0">
              <a:buNone/>
            </a:pPr>
            <a:r>
              <a:rPr lang="es-MX" dirty="0"/>
              <a:t>    </a:t>
            </a:r>
            <a:r>
              <a:rPr lang="es-MX" dirty="0" err="1">
                <a:solidFill>
                  <a:srgbClr val="0070C0"/>
                </a:solidFill>
              </a:rPr>
              <a:t>return</a:t>
            </a:r>
            <a:endParaRPr lang="es-MX" dirty="0">
              <a:solidFill>
                <a:srgbClr val="0070C0"/>
              </a:solidFill>
            </a:endParaRPr>
          </a:p>
          <a:p>
            <a:pPr marL="0" indent="0">
              <a:buNone/>
            </a:pPr>
            <a:endParaRPr lang="es-MX" dirty="0"/>
          </a:p>
          <a:p>
            <a:pPr marL="0" indent="0">
              <a:buNone/>
            </a:pPr>
            <a:r>
              <a:rPr lang="es-MX" dirty="0">
                <a:solidFill>
                  <a:srgbClr val="0070C0"/>
                </a:solidFill>
              </a:rPr>
              <a:t>END</a:t>
            </a:r>
          </a:p>
          <a:p>
            <a:pPr marL="0" indent="0">
              <a:buNone/>
            </a:pPr>
            <a:endParaRPr lang="es-AR" dirty="0"/>
          </a:p>
        </p:txBody>
      </p:sp>
    </p:spTree>
    <p:extLst>
      <p:ext uri="{BB962C8B-B14F-4D97-AF65-F5344CB8AC3E}">
        <p14:creationId xmlns:p14="http://schemas.microsoft.com/office/powerpoint/2010/main" val="832958970"/>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ctrTitle"/>
          </p:nvPr>
        </p:nvSpPr>
        <p:spPr>
          <a:xfrm>
            <a:off x="1308100" y="3148012"/>
            <a:ext cx="7772400" cy="1470025"/>
          </a:xfrm>
        </p:spPr>
        <p:txBody>
          <a:bodyPr/>
          <a:lstStyle/>
          <a:p>
            <a:r>
              <a:rPr lang="es-ES" dirty="0"/>
              <a:t>Clase 9</a:t>
            </a:r>
            <a:endParaRPr lang="es-AR" dirty="0"/>
          </a:p>
        </p:txBody>
      </p:sp>
    </p:spTree>
    <p:extLst>
      <p:ext uri="{BB962C8B-B14F-4D97-AF65-F5344CB8AC3E}">
        <p14:creationId xmlns:p14="http://schemas.microsoft.com/office/powerpoint/2010/main" val="427446343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txBox="1">
            <a:spLocks/>
          </p:cNvSpPr>
          <p:nvPr/>
        </p:nvSpPr>
        <p:spPr>
          <a:xfrm>
            <a:off x="0" y="2713037"/>
            <a:ext cx="10693400" cy="14700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 b="1" dirty="0">
                <a:solidFill>
                  <a:srgbClr val="FF0000"/>
                </a:solidFill>
                <a:effectLst>
                  <a:outerShdw blurRad="38100" dist="38100" dir="2700000" algn="tl">
                    <a:srgbClr val="000000">
                      <a:alpha val="43137"/>
                    </a:srgbClr>
                  </a:outerShdw>
                </a:effectLst>
              </a:rPr>
              <a:t>Primer TP (Manejo con </a:t>
            </a:r>
            <a:r>
              <a:rPr lang="es-ES" b="1" dirty="0" err="1">
                <a:solidFill>
                  <a:srgbClr val="FF0000"/>
                </a:solidFill>
                <a:effectLst>
                  <a:outerShdw blurRad="38100" dist="38100" dir="2700000" algn="tl">
                    <a:srgbClr val="000000">
                      <a:alpha val="43137"/>
                    </a:srgbClr>
                  </a:outerShdw>
                </a:effectLst>
              </a:rPr>
              <a:t>display</a:t>
            </a:r>
            <a:r>
              <a:rPr lang="es-ES" b="1" dirty="0">
                <a:solidFill>
                  <a:srgbClr val="FF0000"/>
                </a:solidFill>
                <a:effectLst>
                  <a:outerShdw blurRad="38100" dist="38100" dir="2700000" algn="tl">
                    <a:srgbClr val="000000">
                      <a:alpha val="43137"/>
                    </a:srgbClr>
                  </a:outerShdw>
                </a:effectLst>
              </a:rPr>
              <a:t>)</a:t>
            </a:r>
          </a:p>
          <a:p>
            <a:r>
              <a:rPr lang="es-ES" b="1" dirty="0">
                <a:solidFill>
                  <a:srgbClr val="FF0000"/>
                </a:solidFill>
                <a:effectLst>
                  <a:outerShdw blurRad="38100" dist="38100" dir="2700000" algn="tl">
                    <a:srgbClr val="000000">
                      <a:alpha val="43137"/>
                    </a:srgbClr>
                  </a:outerShdw>
                </a:effectLst>
              </a:rPr>
              <a:t>Contadores</a:t>
            </a:r>
          </a:p>
        </p:txBody>
      </p:sp>
    </p:spTree>
    <p:extLst>
      <p:ext uri="{BB962C8B-B14F-4D97-AF65-F5344CB8AC3E}">
        <p14:creationId xmlns:p14="http://schemas.microsoft.com/office/powerpoint/2010/main" val="236345532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079500" y="198437"/>
            <a:ext cx="5390771" cy="1754326"/>
          </a:xfrm>
          <a:prstGeom prst="rect">
            <a:avLst/>
          </a:prstGeom>
          <a:noFill/>
        </p:spPr>
        <p:txBody>
          <a:bodyPr wrap="none" rtlCol="0">
            <a:spAutoFit/>
          </a:bodyPr>
          <a:lstStyle/>
          <a:p>
            <a:pPr marL="342900" indent="-342900">
              <a:buFont typeface="+mj-lt"/>
              <a:buAutoNum type="arabicPeriod"/>
            </a:pPr>
            <a:r>
              <a:rPr lang="es-ES" i="1" dirty="0">
                <a:effectLst>
                  <a:outerShdw blurRad="38100" dist="38100" dir="2700000" algn="tl">
                    <a:srgbClr val="000000">
                      <a:alpha val="43137"/>
                    </a:srgbClr>
                  </a:outerShdw>
                </a:effectLst>
              </a:rPr>
              <a:t>Descripción del TP</a:t>
            </a:r>
          </a:p>
          <a:p>
            <a:pPr marL="342900" indent="-342900">
              <a:buFont typeface="+mj-lt"/>
              <a:buAutoNum type="arabicPeriod"/>
            </a:pPr>
            <a:r>
              <a:rPr lang="es-ES" i="1" dirty="0">
                <a:effectLst>
                  <a:outerShdw blurRad="38100" dist="38100" dir="2700000" algn="tl">
                    <a:srgbClr val="000000">
                      <a:alpha val="43137"/>
                    </a:srgbClr>
                  </a:outerShdw>
                </a:effectLst>
              </a:rPr>
              <a:t>Circuito </a:t>
            </a:r>
            <a:r>
              <a:rPr lang="es-ES" i="1" dirty="0" err="1">
                <a:effectLst>
                  <a:outerShdw blurRad="38100" dist="38100" dir="2700000" algn="tl">
                    <a:srgbClr val="000000">
                      <a:alpha val="43137"/>
                    </a:srgbClr>
                  </a:outerShdw>
                </a:effectLst>
              </a:rPr>
              <a:t>Electrico</a:t>
            </a:r>
            <a:endParaRPr lang="es-ES" i="1" dirty="0">
              <a:effectLst>
                <a:outerShdw blurRad="38100" dist="38100" dir="2700000" algn="tl">
                  <a:srgbClr val="000000">
                    <a:alpha val="43137"/>
                  </a:srgbClr>
                </a:outerShdw>
              </a:effectLst>
            </a:endParaRPr>
          </a:p>
          <a:p>
            <a:pPr marL="342900" indent="-342900">
              <a:buFont typeface="+mj-lt"/>
              <a:buAutoNum type="arabicPeriod"/>
            </a:pPr>
            <a:r>
              <a:rPr lang="es-ES" i="1" dirty="0">
                <a:effectLst>
                  <a:outerShdw blurRad="38100" dist="38100" dir="2700000" algn="tl">
                    <a:srgbClr val="000000">
                      <a:alpha val="43137"/>
                    </a:srgbClr>
                  </a:outerShdw>
                </a:effectLst>
              </a:rPr>
              <a:t>Diagrama global</a:t>
            </a:r>
          </a:p>
          <a:p>
            <a:pPr marL="342900" indent="-342900">
              <a:buFont typeface="+mj-lt"/>
              <a:buAutoNum type="arabicPeriod"/>
            </a:pPr>
            <a:r>
              <a:rPr lang="es-ES" i="1" dirty="0">
                <a:effectLst>
                  <a:outerShdw blurRad="38100" dist="38100" dir="2700000" algn="tl">
                    <a:srgbClr val="000000">
                      <a:alpha val="43137"/>
                    </a:srgbClr>
                  </a:outerShdw>
                </a:effectLst>
              </a:rPr>
              <a:t>Diagrama Detallado</a:t>
            </a:r>
          </a:p>
          <a:p>
            <a:pPr marL="342900" indent="-342900">
              <a:buFont typeface="+mj-lt"/>
              <a:buAutoNum type="arabicPeriod"/>
            </a:pPr>
            <a:r>
              <a:rPr lang="es-ES" i="1" dirty="0">
                <a:effectLst>
                  <a:outerShdw blurRad="38100" dist="38100" dir="2700000" algn="tl">
                    <a:srgbClr val="000000">
                      <a:alpha val="43137"/>
                    </a:srgbClr>
                  </a:outerShdw>
                </a:effectLst>
              </a:rPr>
              <a:t>Codificación con descripción de bloque y sentencias</a:t>
            </a:r>
          </a:p>
          <a:p>
            <a:pPr marL="342900" indent="-342900">
              <a:buFont typeface="+mj-lt"/>
              <a:buAutoNum type="arabicPeriod"/>
            </a:pPr>
            <a:r>
              <a:rPr lang="es-ES" i="1" dirty="0">
                <a:effectLst>
                  <a:outerShdw blurRad="38100" dist="38100" dir="2700000" algn="tl">
                    <a:srgbClr val="000000">
                      <a:alpha val="43137"/>
                    </a:srgbClr>
                  </a:outerShdw>
                </a:effectLst>
              </a:rPr>
              <a:t>Prueba </a:t>
            </a:r>
            <a:r>
              <a:rPr lang="es-ES" i="1" dirty="0" err="1">
                <a:effectLst>
                  <a:outerShdw blurRad="38100" dist="38100" dir="2700000" algn="tl">
                    <a:srgbClr val="000000">
                      <a:alpha val="43137"/>
                    </a:srgbClr>
                  </a:outerShdw>
                </a:effectLst>
              </a:rPr>
              <a:t>Proteus</a:t>
            </a:r>
            <a:endParaRPr lang="es-AR" i="1" dirty="0">
              <a:effectLst>
                <a:outerShdw blurRad="38100" dist="38100" dir="2700000" algn="tl">
                  <a:srgbClr val="000000">
                    <a:alpha val="43137"/>
                  </a:srgbClr>
                </a:outerShdw>
              </a:effectLst>
            </a:endParaRPr>
          </a:p>
        </p:txBody>
      </p:sp>
      <p:sp>
        <p:nvSpPr>
          <p:cNvPr id="3" name="2 CuadroTexto"/>
          <p:cNvSpPr txBox="1"/>
          <p:nvPr/>
        </p:nvSpPr>
        <p:spPr>
          <a:xfrm>
            <a:off x="622300" y="1874837"/>
            <a:ext cx="9677400" cy="5632311"/>
          </a:xfrm>
          <a:prstGeom prst="rect">
            <a:avLst/>
          </a:prstGeom>
          <a:noFill/>
        </p:spPr>
        <p:txBody>
          <a:bodyPr wrap="square" rtlCol="0">
            <a:spAutoFit/>
          </a:bodyPr>
          <a:lstStyle/>
          <a:p>
            <a:r>
              <a:rPr lang="es-AR" dirty="0">
                <a:effectLst>
                  <a:outerShdw blurRad="38100" dist="38100" dir="2700000" algn="tl">
                    <a:srgbClr val="000000">
                      <a:alpha val="43137"/>
                    </a:srgbClr>
                  </a:outerShdw>
                </a:effectLst>
              </a:rPr>
              <a:t>A continuación se publica los </a:t>
            </a:r>
            <a:r>
              <a:rPr lang="es-AR" dirty="0" err="1">
                <a:effectLst>
                  <a:outerShdw blurRad="38100" dist="38100" dir="2700000" algn="tl">
                    <a:srgbClr val="000000">
                      <a:alpha val="43137"/>
                    </a:srgbClr>
                  </a:outerShdw>
                </a:effectLst>
              </a:rPr>
              <a:t>achivos</a:t>
            </a:r>
            <a:r>
              <a:rPr lang="es-AR" dirty="0">
                <a:effectLst>
                  <a:outerShdw blurRad="38100" dist="38100" dir="2700000" algn="tl">
                    <a:srgbClr val="000000">
                      <a:alpha val="43137"/>
                    </a:srgbClr>
                  </a:outerShdw>
                </a:effectLst>
              </a:rPr>
              <a:t> con la programación y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para probar el programa. de acuerdo a lo </a:t>
            </a:r>
            <a:r>
              <a:rPr lang="es-AR" dirty="0" err="1">
                <a:effectLst>
                  <a:outerShdw blurRad="38100" dist="38100" dir="2700000" algn="tl">
                    <a:srgbClr val="000000">
                      <a:alpha val="43137"/>
                    </a:srgbClr>
                  </a:outerShdw>
                </a:effectLst>
              </a:rPr>
              <a:t>dasarrollado</a:t>
            </a:r>
            <a:r>
              <a:rPr lang="es-AR" dirty="0">
                <a:effectLst>
                  <a:outerShdw blurRad="38100" dist="38100" dir="2700000" algn="tl">
                    <a:srgbClr val="000000">
                      <a:alpha val="43137"/>
                    </a:srgbClr>
                  </a:outerShdw>
                </a:effectLst>
              </a:rPr>
              <a:t> en clase.</a:t>
            </a:r>
          </a:p>
          <a:p>
            <a:r>
              <a:rPr lang="es-AR" u="sng" dirty="0">
                <a:effectLst>
                  <a:outerShdw blurRad="38100" dist="38100" dir="2700000" algn="tl">
                    <a:srgbClr val="000000">
                      <a:alpha val="43137"/>
                    </a:srgbClr>
                  </a:outerShdw>
                </a:effectLst>
                <a:hlinkClick r:id="rId2"/>
              </a:rPr>
              <a:t>Diagramas de flujo.vsd (78336)</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3"/>
              </a:rPr>
              <a:t>Proyecto 1.pdsprj (15136)</a:t>
            </a:r>
            <a:br>
              <a:rPr lang="es-AR" dirty="0">
                <a:effectLst>
                  <a:outerShdw blurRad="38100" dist="38100" dir="2700000" algn="tl">
                    <a:srgbClr val="000000">
                      <a:alpha val="43137"/>
                    </a:srgbClr>
                  </a:outerShdw>
                </a:effectLst>
              </a:rPr>
            </a:br>
            <a:r>
              <a:rPr lang="es-AR" u="sng" dirty="0">
                <a:effectLst>
                  <a:outerShdw blurRad="38100" dist="38100" dir="2700000" algn="tl">
                    <a:srgbClr val="000000">
                      <a:alpha val="43137"/>
                    </a:srgbClr>
                  </a:outerShdw>
                </a:effectLst>
                <a:hlinkClick r:id="rId4"/>
              </a:rPr>
              <a:t>TP-turnos-solucion.asm (2732)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Descripción del TP.  </a:t>
            </a:r>
            <a:r>
              <a:rPr lang="es-AR" u="sng" dirty="0">
                <a:effectLst>
                  <a:outerShdw blurRad="38100" dist="38100" dir="2700000" algn="tl">
                    <a:srgbClr val="000000">
                      <a:alpha val="43137"/>
                    </a:srgbClr>
                  </a:outerShdw>
                </a:effectLst>
                <a:hlinkClick r:id="rId5"/>
              </a:rPr>
              <a:t>TP turnos.doc (97792)</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Se solicita efectuar las siguientes actividades.</a:t>
            </a:r>
          </a:p>
          <a:p>
            <a:r>
              <a:rPr lang="es-AR" dirty="0">
                <a:effectLst>
                  <a:outerShdw blurRad="38100" dist="38100" dir="2700000" algn="tl">
                    <a:srgbClr val="000000">
                      <a:alpha val="43137"/>
                    </a:srgbClr>
                  </a:outerShdw>
                </a:effectLst>
              </a:rPr>
              <a:t>1.- Proyecto en </a:t>
            </a:r>
            <a:r>
              <a:rPr lang="es-AR" dirty="0" err="1">
                <a:effectLst>
                  <a:outerShdw blurRad="38100" dist="38100" dir="2700000" algn="tl">
                    <a:srgbClr val="000000">
                      <a:alpha val="43137"/>
                    </a:srgbClr>
                  </a:outerShdw>
                </a:effectLst>
              </a:rPr>
              <a:t>MPLab</a:t>
            </a:r>
            <a:endParaRPr lang="es-AR" dirty="0">
              <a:effectLst>
                <a:outerShdw blurRad="38100" dist="38100" dir="2700000" algn="tl">
                  <a:srgbClr val="000000">
                    <a:alpha val="43137"/>
                  </a:srgbClr>
                </a:outerShdw>
              </a:effectLst>
            </a:endParaRPr>
          </a:p>
          <a:p>
            <a:r>
              <a:rPr lang="es-AR" dirty="0">
                <a:effectLst>
                  <a:outerShdw blurRad="38100" dist="38100" dir="2700000" algn="tl">
                    <a:srgbClr val="000000">
                      <a:alpha val="43137"/>
                    </a:srgbClr>
                  </a:outerShdw>
                </a:effectLst>
              </a:rPr>
              <a:t>2.- Generar la descripción funcional de la programación del programa TP-turnos.asm</a:t>
            </a:r>
          </a:p>
          <a:p>
            <a:r>
              <a:rPr lang="es-AR" dirty="0">
                <a:effectLst>
                  <a:outerShdw blurRad="38100" dist="38100" dir="2700000" algn="tl">
                    <a:srgbClr val="000000">
                      <a:alpha val="43137"/>
                    </a:srgbClr>
                  </a:outerShdw>
                </a:effectLst>
              </a:rPr>
              <a:t>3.- Mediante la utilización de la IDE </a:t>
            </a:r>
            <a:r>
              <a:rPr lang="es-AR" dirty="0" err="1">
                <a:effectLst>
                  <a:outerShdw blurRad="38100" dist="38100" dir="2700000" algn="tl">
                    <a:srgbClr val="000000">
                      <a:alpha val="43137"/>
                    </a:srgbClr>
                  </a:outerShdw>
                </a:effectLst>
              </a:rPr>
              <a:t>MPLab</a:t>
            </a:r>
            <a:r>
              <a:rPr lang="es-AR" dirty="0">
                <a:effectLst>
                  <a:outerShdw blurRad="38100" dist="38100" dir="2700000" algn="tl">
                    <a:srgbClr val="000000">
                      <a:alpha val="43137"/>
                    </a:srgbClr>
                  </a:outerShdw>
                </a:effectLst>
              </a:rPr>
              <a:t> efectuar la ejecución paso a paso del programa mostrando la variación de los valores de las variables para efectuar la validación funcional de la solución presentada.</a:t>
            </a:r>
          </a:p>
          <a:p>
            <a:r>
              <a:rPr lang="es-AR" dirty="0">
                <a:effectLst>
                  <a:outerShdw blurRad="38100" dist="38100" dir="2700000" algn="tl">
                    <a:srgbClr val="000000">
                      <a:alpha val="43137"/>
                    </a:srgbClr>
                  </a:outerShdw>
                </a:effectLst>
              </a:rPr>
              <a:t>4.- </a:t>
            </a:r>
            <a:r>
              <a:rPr lang="es-AR" dirty="0" err="1">
                <a:effectLst>
                  <a:outerShdw blurRad="38100" dist="38100" dir="2700000" algn="tl">
                    <a:srgbClr val="000000">
                      <a:alpha val="43137"/>
                    </a:srgbClr>
                  </a:outerShdw>
                </a:effectLst>
              </a:rPr>
              <a:t>Mediate</a:t>
            </a:r>
            <a:r>
              <a:rPr lang="es-AR" dirty="0">
                <a:effectLst>
                  <a:outerShdw blurRad="38100" dist="38100" dir="2700000" algn="tl">
                    <a:srgbClr val="000000">
                      <a:alpha val="43137"/>
                    </a:srgbClr>
                  </a:outerShdw>
                </a:effectLst>
              </a:rPr>
              <a:t> el simulador </a:t>
            </a:r>
            <a:r>
              <a:rPr lang="es-AR" dirty="0" err="1">
                <a:effectLst>
                  <a:outerShdw blurRad="38100" dist="38100" dir="2700000" algn="tl">
                    <a:srgbClr val="000000">
                      <a:alpha val="43137"/>
                    </a:srgbClr>
                  </a:outerShdw>
                </a:effectLst>
              </a:rPr>
              <a:t>Proteus</a:t>
            </a:r>
            <a:r>
              <a:rPr lang="es-AR" dirty="0">
                <a:effectLst>
                  <a:outerShdw blurRad="38100" dist="38100" dir="2700000" algn="tl">
                    <a:srgbClr val="000000">
                      <a:alpha val="43137"/>
                    </a:srgbClr>
                  </a:outerShdw>
                </a:effectLst>
              </a:rPr>
              <a:t> se </a:t>
            </a:r>
            <a:r>
              <a:rPr lang="es-AR" dirty="0" err="1">
                <a:effectLst>
                  <a:outerShdw blurRad="38100" dist="38100" dir="2700000" algn="tl">
                    <a:srgbClr val="000000">
                      <a:alpha val="43137"/>
                    </a:srgbClr>
                  </a:outerShdw>
                </a:effectLst>
              </a:rPr>
              <a:t>procedera</a:t>
            </a:r>
            <a:r>
              <a:rPr lang="es-AR" dirty="0">
                <a:effectLst>
                  <a:outerShdw blurRad="38100" dist="38100" dir="2700000" algn="tl">
                    <a:srgbClr val="000000">
                      <a:alpha val="43137"/>
                    </a:srgbClr>
                  </a:outerShdw>
                </a:effectLst>
              </a:rPr>
              <a:t> a efectuar la prueba de la solución presentada (el contador de turnos debe comenzar con el valor inicial 00</a:t>
            </a:r>
          </a:p>
          <a:p>
            <a:r>
              <a:rPr lang="es-AR" dirty="0">
                <a:effectLst>
                  <a:outerShdw blurRad="38100" dist="38100" dir="2700000" algn="tl">
                    <a:srgbClr val="000000">
                      <a:alpha val="43137"/>
                    </a:srgbClr>
                  </a:outerShdw>
                </a:effectLst>
              </a:rPr>
              <a:t>4.- en los puntos 3 y 4 se deberá efectuar las capturas de pantallas que evidencie la actividad solicitada con los comentario de la representación de la misma.</a:t>
            </a:r>
          </a:p>
          <a:p>
            <a:r>
              <a:rPr lang="es-AR" dirty="0">
                <a:effectLst>
                  <a:outerShdw blurRad="38100" dist="38100" dir="2700000" algn="tl">
                    <a:srgbClr val="000000">
                      <a:alpha val="43137"/>
                    </a:srgbClr>
                  </a:outerShdw>
                </a:effectLst>
              </a:rPr>
              <a:t>5.- Si </a:t>
            </a:r>
            <a:r>
              <a:rPr lang="es-AR" dirty="0" err="1">
                <a:effectLst>
                  <a:outerShdw blurRad="38100" dist="38100" dir="2700000" algn="tl">
                    <a:srgbClr val="000000">
                      <a:alpha val="43137"/>
                    </a:srgbClr>
                  </a:outerShdw>
                </a:effectLst>
              </a:rPr>
              <a:t>hubere</a:t>
            </a:r>
            <a:r>
              <a:rPr lang="es-AR" dirty="0">
                <a:effectLst>
                  <a:outerShdw blurRad="38100" dist="38100" dir="2700000" algn="tl">
                    <a:srgbClr val="000000">
                      <a:alpha val="43137"/>
                    </a:srgbClr>
                  </a:outerShdw>
                </a:effectLst>
              </a:rPr>
              <a:t> que efectuar algún ajuste funcional </a:t>
            </a:r>
          </a:p>
          <a:p>
            <a:r>
              <a:rPr lang="es-AR" dirty="0">
                <a:solidFill>
                  <a:srgbClr val="FF0000"/>
                </a:solidFill>
                <a:effectLst>
                  <a:outerShdw blurRad="38100" dist="38100" dir="2700000" algn="tl">
                    <a:srgbClr val="000000">
                      <a:alpha val="43137"/>
                    </a:srgbClr>
                  </a:outerShdw>
                </a:effectLst>
              </a:rPr>
              <a:t>6.- Responder </a:t>
            </a:r>
          </a:p>
          <a:p>
            <a:pPr marL="342900" indent="-342900">
              <a:buAutoNum type="alphaLcParenR"/>
            </a:pPr>
            <a:r>
              <a:rPr lang="es-AR" dirty="0">
                <a:solidFill>
                  <a:srgbClr val="FF0000"/>
                </a:solidFill>
                <a:effectLst>
                  <a:outerShdw blurRad="38100" dist="38100" dir="2700000" algn="tl">
                    <a:srgbClr val="000000">
                      <a:alpha val="43137"/>
                    </a:srgbClr>
                  </a:outerShdw>
                </a:effectLst>
              </a:rPr>
              <a:t>cómo funciona la tabla de conversión </a:t>
            </a:r>
          </a:p>
          <a:p>
            <a:pPr marL="342900" indent="-342900">
              <a:buAutoNum type="alphaLcParenR"/>
            </a:pPr>
            <a:r>
              <a:rPr lang="es-AR" dirty="0">
                <a:solidFill>
                  <a:srgbClr val="FF0000"/>
                </a:solidFill>
                <a:effectLst>
                  <a:outerShdw blurRad="38100" dist="38100" dir="2700000" algn="tl">
                    <a:srgbClr val="000000">
                      <a:alpha val="43137"/>
                    </a:srgbClr>
                  </a:outerShdw>
                </a:effectLst>
              </a:rPr>
              <a:t> explicar por qué se elijen esos valores. </a:t>
            </a:r>
          </a:p>
        </p:txBody>
      </p:sp>
    </p:spTree>
    <p:extLst>
      <p:ext uri="{BB962C8B-B14F-4D97-AF65-F5344CB8AC3E}">
        <p14:creationId xmlns:p14="http://schemas.microsoft.com/office/powerpoint/2010/main" val="124957192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ítulo 1"/>
          <p:cNvSpPr>
            <a:spLocks noGrp="1"/>
          </p:cNvSpPr>
          <p:nvPr>
            <p:ph type="ctrTitle"/>
          </p:nvPr>
        </p:nvSpPr>
        <p:spPr/>
        <p:txBody>
          <a:bodyPr/>
          <a:lstStyle/>
          <a:p>
            <a:pPr eaLnBrk="1" hangingPunct="1"/>
            <a:r>
              <a:rPr lang="es-AR" altLang="es-AR" noProof="1"/>
              <a:t>Guía de los conceptos necesarios para la resolución el primer TP</a:t>
            </a:r>
          </a:p>
        </p:txBody>
      </p:sp>
      <p:sp>
        <p:nvSpPr>
          <p:cNvPr id="2" name="Subtítulo 1"/>
          <p:cNvSpPr>
            <a:spLocks noGrp="1"/>
          </p:cNvSpPr>
          <p:nvPr>
            <p:ph type="subTitle" idx="1"/>
          </p:nvPr>
        </p:nvSpPr>
        <p:spPr/>
        <p:txBody>
          <a:bodyPr/>
          <a:lstStyle/>
          <a:p>
            <a:r>
              <a:rPr lang="es-AR" dirty="0"/>
              <a:t>Arquitectura de Computadoras,  2016</a:t>
            </a:r>
          </a:p>
          <a:p>
            <a:endParaRPr lang="es-AR" dirty="0"/>
          </a:p>
        </p:txBody>
      </p:sp>
    </p:spTree>
    <p:extLst>
      <p:ext uri="{BB962C8B-B14F-4D97-AF65-F5344CB8AC3E}">
        <p14:creationId xmlns:p14="http://schemas.microsoft.com/office/powerpoint/2010/main" val="37159394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p:cNvSpPr>
            <a:spLocks noGrp="1"/>
          </p:cNvSpPr>
          <p:nvPr>
            <p:ph type="title"/>
          </p:nvPr>
        </p:nvSpPr>
        <p:spPr>
          <a:xfrm>
            <a:off x="530494" y="772318"/>
            <a:ext cx="9427735" cy="1059594"/>
          </a:xfrm>
        </p:spPr>
        <p:txBody>
          <a:bodyPr/>
          <a:lstStyle/>
          <a:p>
            <a:pPr eaLnBrk="1" hangingPunct="1"/>
            <a:r>
              <a:rPr lang="es-AR" altLang="es-AR" dirty="0"/>
              <a:t>Descripción de la consigna</a:t>
            </a:r>
          </a:p>
        </p:txBody>
      </p:sp>
      <p:sp>
        <p:nvSpPr>
          <p:cNvPr id="3" name="Marcador de contenido 2"/>
          <p:cNvSpPr>
            <a:spLocks noGrp="1"/>
          </p:cNvSpPr>
          <p:nvPr>
            <p:ph idx="1"/>
          </p:nvPr>
        </p:nvSpPr>
        <p:spPr>
          <a:xfrm>
            <a:off x="864663" y="2237092"/>
            <a:ext cx="8735728" cy="3936967"/>
          </a:xfrm>
        </p:spPr>
        <p:txBody>
          <a:bodyPr rtlCol="0">
            <a:noAutofit/>
          </a:bodyPr>
          <a:lstStyle/>
          <a:p>
            <a:pPr eaLnBrk="1" fontAlgn="auto" hangingPunct="1">
              <a:buClr>
                <a:srgbClr val="D24726"/>
              </a:buClr>
              <a:buSzPct val="150000"/>
              <a:defRPr/>
            </a:pPr>
            <a:r>
              <a:rPr lang="es-AR" sz="1754" dirty="0"/>
              <a:t>El primer trabajo práctico de programación se divide en tres ejercicios, cada uno de los cuales contiene subdivisiones. A grandes rasgos, abordan las siguientes temáticas:</a:t>
            </a:r>
          </a:p>
          <a:p>
            <a:pPr marL="250631" indent="-250631">
              <a:buClr>
                <a:srgbClr val="D24726"/>
              </a:buClr>
              <a:buSzPct val="150000"/>
              <a:defRPr/>
            </a:pPr>
            <a:r>
              <a:rPr lang="es-AR" sz="1754" dirty="0"/>
              <a:t>EJERCICIO 1: Configuración de puertos - Manejo de </a:t>
            </a:r>
            <a:r>
              <a:rPr lang="es-AR" sz="1754" dirty="0" err="1"/>
              <a:t>LEDs</a:t>
            </a:r>
            <a:r>
              <a:rPr lang="es-AR" sz="1754" dirty="0"/>
              <a:t> - Demoras sin Timer</a:t>
            </a:r>
          </a:p>
          <a:p>
            <a:pPr marL="250631" indent="-250631">
              <a:buClr>
                <a:srgbClr val="D24726"/>
              </a:buClr>
              <a:buSzPct val="150000"/>
              <a:defRPr/>
            </a:pPr>
            <a:r>
              <a:rPr lang="es-AR" sz="1754" dirty="0"/>
              <a:t>EJERCICIO 2: Manejo de pulsadores – Interrupciones + Conceptos del Ejercicio 1</a:t>
            </a:r>
          </a:p>
          <a:p>
            <a:pPr marL="250631" indent="-250631">
              <a:buClr>
                <a:srgbClr val="D24726"/>
              </a:buClr>
              <a:buSzPct val="150000"/>
              <a:defRPr/>
            </a:pPr>
            <a:r>
              <a:rPr lang="es-AR" sz="1754" dirty="0"/>
              <a:t>EJERCICIO 3: Manejo de Display – Uso del Timer 0 + Conceptos de los ejercicios anteriores</a:t>
            </a:r>
          </a:p>
        </p:txBody>
      </p:sp>
    </p:spTree>
    <p:extLst>
      <p:ext uri="{BB962C8B-B14F-4D97-AF65-F5344CB8AC3E}">
        <p14:creationId xmlns:p14="http://schemas.microsoft.com/office/powerpoint/2010/main" val="3750808613"/>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Entregables</a:t>
            </a:r>
          </a:p>
        </p:txBody>
      </p:sp>
      <p:sp>
        <p:nvSpPr>
          <p:cNvPr id="4" name="Marcador de contenido 2"/>
          <p:cNvSpPr>
            <a:spLocks noGrp="1"/>
          </p:cNvSpPr>
          <p:nvPr>
            <p:ph idx="1"/>
          </p:nvPr>
        </p:nvSpPr>
        <p:spPr>
          <a:xfrm>
            <a:off x="864663" y="2237092"/>
            <a:ext cx="8735728" cy="3936967"/>
          </a:xfrm>
        </p:spPr>
        <p:txBody>
          <a:bodyPr rtlCol="0">
            <a:normAutofit/>
          </a:bodyPr>
          <a:lstStyle/>
          <a:p>
            <a:pPr marL="0" indent="0" algn="ctr">
              <a:buClr>
                <a:srgbClr val="D24726"/>
              </a:buClr>
              <a:buSzPct val="150000"/>
              <a:buNone/>
              <a:defRPr/>
            </a:pPr>
            <a:r>
              <a:rPr lang="es-AR" sz="2105" b="1" dirty="0">
                <a:effectLst>
                  <a:outerShdw blurRad="38100" dist="38100" dir="2700000" algn="tl">
                    <a:srgbClr val="000000">
                      <a:alpha val="43137"/>
                    </a:srgbClr>
                  </a:outerShdw>
                </a:effectLst>
              </a:rPr>
              <a:t>Para cada sub-ejercicio se debe desarrollar y entregar</a:t>
            </a:r>
          </a:p>
          <a:p>
            <a:pPr marL="0" indent="0" algn="ctr">
              <a:buClr>
                <a:srgbClr val="D24726"/>
              </a:buClr>
              <a:buSzPct val="150000"/>
              <a:buNone/>
              <a:defRPr/>
            </a:pPr>
            <a:endParaRPr lang="es-AR" sz="2105" b="1" dirty="0">
              <a:effectLst>
                <a:outerShdw blurRad="38100" dist="38100" dir="2700000" algn="tl">
                  <a:srgbClr val="000000">
                    <a:alpha val="43137"/>
                  </a:srgbClr>
                </a:outerShdw>
              </a:effectLst>
            </a:endParaRPr>
          </a:p>
          <a:p>
            <a:pPr>
              <a:buClr>
                <a:srgbClr val="D24726"/>
              </a:buClr>
              <a:buSzPct val="150000"/>
              <a:defRPr/>
            </a:pPr>
            <a:r>
              <a:rPr lang="es-AR" sz="2105" dirty="0"/>
              <a:t>Diagrama de flujo</a:t>
            </a:r>
          </a:p>
          <a:p>
            <a:pPr>
              <a:buClr>
                <a:srgbClr val="D24726"/>
              </a:buClr>
              <a:buSzPct val="150000"/>
              <a:defRPr/>
            </a:pPr>
            <a:endParaRPr lang="es-AR" sz="2105" dirty="0"/>
          </a:p>
          <a:p>
            <a:pPr marL="268288" indent="-268288">
              <a:buClr>
                <a:srgbClr val="D24726"/>
              </a:buClr>
              <a:buSzPct val="150000"/>
              <a:defRPr/>
            </a:pPr>
            <a:r>
              <a:rPr lang="es-AR" sz="2105" dirty="0"/>
              <a:t>Proyecto completo en MPLAB</a:t>
            </a:r>
          </a:p>
          <a:p>
            <a:pPr marL="268288" indent="-268288">
              <a:buClr>
                <a:srgbClr val="D24726"/>
              </a:buClr>
              <a:buSzPct val="150000"/>
              <a:defRPr/>
            </a:pPr>
            <a:endParaRPr lang="es-AR" sz="2105" dirty="0"/>
          </a:p>
          <a:p>
            <a:pPr marL="268288" indent="-268288">
              <a:buClr>
                <a:srgbClr val="D24726"/>
              </a:buClr>
              <a:buSzPct val="150000"/>
              <a:defRPr/>
            </a:pPr>
            <a:r>
              <a:rPr lang="es-AR" sz="2105" dirty="0"/>
              <a:t>Opcional: Simulación en </a:t>
            </a:r>
            <a:r>
              <a:rPr lang="es-AR" sz="2105" dirty="0" err="1"/>
              <a:t>Proteus</a:t>
            </a:r>
            <a:r>
              <a:rPr lang="es-AR" sz="2105" dirty="0"/>
              <a:t> </a:t>
            </a:r>
          </a:p>
          <a:p>
            <a:pPr marL="268288" indent="-268288" eaLnBrk="1" fontAlgn="auto" hangingPunct="1">
              <a:buClr>
                <a:srgbClr val="D24726"/>
              </a:buClr>
              <a:buSzPct val="150000"/>
              <a:defRPr/>
            </a:pPr>
            <a:endParaRPr lang="es-AR" sz="2105" dirty="0"/>
          </a:p>
          <a:p>
            <a:pPr marL="268288" indent="-268288" eaLnBrk="1" fontAlgn="auto" hangingPunct="1">
              <a:buClr>
                <a:srgbClr val="D24726"/>
              </a:buClr>
              <a:buSzPct val="150000"/>
              <a:defRPr/>
            </a:pPr>
            <a:r>
              <a:rPr lang="es-AR" sz="2105" dirty="0"/>
              <a:t>Todo esto debe entregarse vía mail como se informa en el documento del trabajo práctico</a:t>
            </a:r>
          </a:p>
        </p:txBody>
      </p:sp>
    </p:spTree>
    <p:extLst>
      <p:ext uri="{BB962C8B-B14F-4D97-AF65-F5344CB8AC3E}">
        <p14:creationId xmlns:p14="http://schemas.microsoft.com/office/powerpoint/2010/main" val="1267731174"/>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1: Demoras sin Timer 0</a:t>
            </a:r>
          </a:p>
        </p:txBody>
      </p:sp>
      <p:sp>
        <p:nvSpPr>
          <p:cNvPr id="5" name="Marcador de contenido 4"/>
          <p:cNvSpPr>
            <a:spLocks noGrp="1"/>
          </p:cNvSpPr>
          <p:nvPr>
            <p:ph idx="1"/>
          </p:nvPr>
        </p:nvSpPr>
        <p:spPr>
          <a:xfrm>
            <a:off x="530140" y="2149453"/>
            <a:ext cx="2713263" cy="4437401"/>
          </a:xfrm>
        </p:spPr>
        <p:txBody>
          <a:bodyPr>
            <a:noAutofit/>
          </a:bodyPr>
          <a:lstStyle/>
          <a:p>
            <a:r>
              <a:rPr lang="es-AR" sz="1754" dirty="0">
                <a:solidFill>
                  <a:srgbClr val="9E458A"/>
                </a:solidFill>
                <a:latin typeface="Consolas" panose="020B0609020204030204" pitchFamily="49" charset="0"/>
              </a:rPr>
              <a:t>delay_1ms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nop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4874687" y="2149453"/>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se calcula?</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considera que cada ciclo de máquina es de 1 microsegundo.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busca en la hoja de datos cuántos ciclos dura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hace la cuenta considerando cuántas veces voy a ejecutar cada instrucción.</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este caso aproximadamente nos da 1000 microsegundos, o 1 milisegundo</a:t>
            </a:r>
          </a:p>
        </p:txBody>
      </p:sp>
      <mc:AlternateContent xmlns:mc="http://schemas.openxmlformats.org/markup-compatibility/2006" xmlns:a14="http://schemas.microsoft.com/office/drawing/2010/main">
        <mc:Choice Requires="a14">
          <p:sp>
            <p:nvSpPr>
              <p:cNvPr id="8" name="Marcador de contenido 2"/>
              <p:cNvSpPr txBox="1">
                <a:spLocks/>
              </p:cNvSpPr>
              <p:nvPr/>
            </p:nvSpPr>
            <p:spPr bwMode="auto">
              <a:xfrm>
                <a:off x="2665489" y="3816365"/>
                <a:ext cx="1631285" cy="27704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1 ciclo</a:t>
                </a:r>
              </a:p>
              <a:p>
                <a:pPr algn="r" eaLnBrk="1" fontAlgn="auto" hangingPunct="1">
                  <a:buClr>
                    <a:srgbClr val="D24726"/>
                  </a:buClr>
                  <a:buSzPct val="150000"/>
                  <a:defRPr/>
                </a:pPr>
                <a:r>
                  <a:rPr lang="es-AR" sz="2105" dirty="0">
                    <a:solidFill>
                      <a:schemeClr val="tx1"/>
                    </a:solidFill>
                  </a:rPr>
                  <a:t>2 ciclos</a:t>
                </a:r>
              </a:p>
              <a:p>
                <a:pPr algn="r" eaLnBrk="1" fontAlgn="auto" hangingPunct="1">
                  <a:buClr>
                    <a:srgbClr val="D24726"/>
                  </a:buClr>
                  <a:buSzPct val="150000"/>
                  <a:defRPr/>
                </a:pPr>
                <a:r>
                  <a:rPr lang="es-AR" sz="2105" dirty="0">
                    <a:solidFill>
                      <a:schemeClr val="tx1"/>
                    </a:solidFill>
                  </a:rPr>
                  <a:t>4 </a:t>
                </a:r>
                <a14:m>
                  <m:oMath xmlns:m="http://schemas.openxmlformats.org/officeDocument/2006/math">
                    <m:r>
                      <a:rPr lang="es-AR" sz="2105" i="1">
                        <a:solidFill>
                          <a:schemeClr val="tx1"/>
                        </a:solidFill>
                        <a:latin typeface="Cambria Math" panose="02040503050406030204" pitchFamily="18" charset="0"/>
                        <a:ea typeface="Cambria Math" panose="02040503050406030204" pitchFamily="18" charset="0"/>
                      </a:rPr>
                      <m:t>𝜇</m:t>
                    </m:r>
                    <m:r>
                      <a:rPr lang="es-AR" sz="2105" i="1">
                        <a:solidFill>
                          <a:schemeClr val="tx1"/>
                        </a:solidFill>
                        <a:latin typeface="Cambria Math" panose="02040503050406030204" pitchFamily="18" charset="0"/>
                        <a:ea typeface="Cambria Math" panose="02040503050406030204" pitchFamily="18" charset="0"/>
                      </a:rPr>
                      <m:t>𝑠</m:t>
                    </m:r>
                  </m:oMath>
                </a14:m>
                <a:r>
                  <a:rPr lang="es-AR" sz="2105" dirty="0">
                    <a:solidFill>
                      <a:schemeClr val="tx1"/>
                    </a:solidFill>
                  </a:rPr>
                  <a:t> x 250</a:t>
                </a:r>
              </a:p>
            </p:txBody>
          </p:sp>
        </mc:Choice>
        <mc:Fallback xmlns="">
          <p:sp>
            <p:nvSpPr>
              <p:cNvPr id="8" name="Marcador de contenido 2"/>
              <p:cNvSpPr txBox="1">
                <a:spLocks noRot="1" noChangeAspect="1" noMove="1" noResize="1" noEditPoints="1" noAdjustHandles="1" noChangeArrowheads="1" noChangeShapeType="1" noTextEdit="1"/>
              </p:cNvSpPr>
              <p:nvPr/>
            </p:nvSpPr>
            <p:spPr bwMode="auto">
              <a:xfrm>
                <a:off x="2665489" y="3816365"/>
                <a:ext cx="1631285" cy="2770489"/>
              </a:xfrm>
              <a:prstGeom prst="rect">
                <a:avLst/>
              </a:prstGeom>
              <a:blipFill rotWithShape="0">
                <a:blip r:embed="rId2"/>
                <a:stretch>
                  <a:fillRect r="-4851" b="-19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cxnSp>
        <p:nvCxnSpPr>
          <p:cNvPr id="14" name="Conector recto 13"/>
          <p:cNvCxnSpPr/>
          <p:nvPr/>
        </p:nvCxnSpPr>
        <p:spPr>
          <a:xfrm>
            <a:off x="2983930" y="5867408"/>
            <a:ext cx="129736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98143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 presetClass="entr" presetSubtype="4"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 calcmode="lin" valueType="num">
                                      <p:cBhvr additive="base">
                                        <p:cTn id="10" dur="500" fill="hold"/>
                                        <p:tgtEl>
                                          <p:spTgt spid="14"/>
                                        </p:tgtEl>
                                        <p:attrNameLst>
                                          <p:attrName>ppt_x</p:attrName>
                                        </p:attrNameLst>
                                      </p:cBhvr>
                                      <p:tavLst>
                                        <p:tav tm="0">
                                          <p:val>
                                            <p:strVal val="#ppt_x"/>
                                          </p:val>
                                        </p:tav>
                                        <p:tav tm="100000">
                                          <p:val>
                                            <p:strVal val="#ppt_x"/>
                                          </p:val>
                                        </p:tav>
                                      </p:tavLst>
                                    </p:anim>
                                    <p:anim calcmode="lin" valueType="num">
                                      <p:cBhvr additive="base">
                                        <p:cTn id="11"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1: Demoras sin Timer 0</a:t>
            </a:r>
          </a:p>
        </p:txBody>
      </p:sp>
      <p:sp>
        <p:nvSpPr>
          <p:cNvPr id="5" name="Marcador de contenido 4"/>
          <p:cNvSpPr>
            <a:spLocks noGrp="1"/>
          </p:cNvSpPr>
          <p:nvPr>
            <p:ph idx="1"/>
          </p:nvPr>
        </p:nvSpPr>
        <p:spPr>
          <a:xfrm>
            <a:off x="6069723" y="2137659"/>
            <a:ext cx="4379930" cy="4437401"/>
          </a:xfrm>
        </p:spPr>
        <p:txBody>
          <a:bodyPr>
            <a:noAutofit/>
          </a:bodyPr>
          <a:lstStyle/>
          <a:p>
            <a:r>
              <a:rPr lang="es-AR" sz="1754" dirty="0">
                <a:solidFill>
                  <a:srgbClr val="9E458A"/>
                </a:solidFill>
                <a:latin typeface="Consolas" panose="020B0609020204030204" pitchFamily="49" charset="0"/>
              </a:rPr>
              <a:t>delay_250ms</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movlw</a:t>
            </a:r>
            <a:r>
              <a:rPr lang="es-AR" sz="1754" dirty="0">
                <a:latin typeface="Consolas" panose="020B0609020204030204" pitchFamily="49" charset="0"/>
              </a:rPr>
              <a:t>	</a:t>
            </a:r>
            <a:r>
              <a:rPr lang="es-AR" sz="1754" dirty="0">
                <a:solidFill>
                  <a:schemeClr val="accent6"/>
                </a:solidFill>
                <a:latin typeface="Consolas" panose="020B0609020204030204" pitchFamily="49" charset="0"/>
              </a:rPr>
              <a:t>.250</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movwf</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CONT2</a:t>
            </a:r>
          </a:p>
          <a:p>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r>
              <a:rPr lang="es-AR" sz="1754" dirty="0">
                <a:solidFill>
                  <a:srgbClr val="274DE7"/>
                </a:solidFill>
                <a:latin typeface="Consolas" panose="020B0609020204030204" pitchFamily="49" charset="0"/>
              </a:rPr>
              <a:t>CALL	</a:t>
            </a:r>
            <a:r>
              <a:rPr lang="es-AR" sz="1754" dirty="0">
                <a:solidFill>
                  <a:srgbClr val="9E458A"/>
                </a:solidFill>
                <a:latin typeface="Consolas" panose="020B0609020204030204" pitchFamily="49" charset="0"/>
              </a:rPr>
              <a:t>delay_1ms</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decfsz</a:t>
            </a:r>
            <a:r>
              <a:rPr lang="es-AR" sz="1754" dirty="0">
                <a:latin typeface="Consolas" panose="020B0609020204030204" pitchFamily="49" charset="0"/>
              </a:rPr>
              <a:t>	</a:t>
            </a:r>
            <a:r>
              <a:rPr lang="es-AR" sz="1754" dirty="0">
                <a:solidFill>
                  <a:srgbClr val="9E458A"/>
                </a:solidFill>
                <a:latin typeface="Consolas" panose="020B0609020204030204" pitchFamily="49" charset="0"/>
              </a:rPr>
              <a:t>CONT,f</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a:t>
            </a:r>
            <a:r>
              <a:rPr lang="es-AR" sz="1754" dirty="0">
                <a:latin typeface="Consolas" panose="020B0609020204030204" pitchFamily="49" charset="0"/>
              </a:rPr>
              <a:t>	</a:t>
            </a:r>
            <a:r>
              <a:rPr lang="es-AR" sz="1754" dirty="0">
                <a:solidFill>
                  <a:srgbClr val="9E458A"/>
                </a:solidFill>
                <a:latin typeface="Consolas" panose="020B0609020204030204" pitchFamily="49" charset="0"/>
              </a:rPr>
              <a:t>loop</a:t>
            </a:r>
            <a:r>
              <a:rPr lang="es-AR" sz="1754" dirty="0">
                <a:latin typeface="Consolas" panose="020B0609020204030204" pitchFamily="49" charset="0"/>
              </a:rPr>
              <a:t>	</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return</a:t>
            </a:r>
          </a:p>
        </p:txBody>
      </p:sp>
      <p:sp>
        <p:nvSpPr>
          <p:cNvPr id="7" name="Marcador de contenido 2"/>
          <p:cNvSpPr txBox="1">
            <a:spLocks/>
          </p:cNvSpPr>
          <p:nvPr/>
        </p:nvSpPr>
        <p:spPr bwMode="auto">
          <a:xfrm>
            <a:off x="530139" y="2387875"/>
            <a:ext cx="5539584" cy="3936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fontScale="77500" lnSpcReduction="20000"/>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eaLnBrk="1" fontAlgn="auto" hangingPunct="1">
              <a:buClr>
                <a:srgbClr val="D24726"/>
              </a:buClr>
              <a:buSzPct val="150000"/>
              <a:defRPr/>
            </a:pPr>
            <a:r>
              <a:rPr lang="es-AR" sz="2105" dirty="0">
                <a:solidFill>
                  <a:schemeClr val="tx1"/>
                </a:solidFill>
              </a:rPr>
              <a:t>¿Cómo incrementamos ese tiempo?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Se deben anidar contadores. </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Así, el tiempo de demora final es la multiplicación de la demoras de los contadores anidados</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En el ejemplo se cuentan aproximadamente 250 milisegundos, ya que se llama 250 a la demora de 1 milisegundo.</a:t>
            </a:r>
          </a:p>
          <a:p>
            <a:pPr marL="250631" indent="-250631" eaLnBrk="1" fontAlgn="auto" hangingPunct="1">
              <a:buClr>
                <a:srgbClr val="D24726"/>
              </a:buClr>
              <a:buSzPct val="150000"/>
              <a:buFont typeface="Arial" panose="020B0604020202020204" pitchFamily="34" charset="0"/>
              <a:buChar char="•"/>
              <a:defRPr/>
            </a:pPr>
            <a:r>
              <a:rPr lang="es-AR" sz="2105" dirty="0">
                <a:solidFill>
                  <a:schemeClr val="tx1"/>
                </a:solidFill>
              </a:rPr>
              <a:t>Sólo se recomienda usar CALL y llamadas a subrutinas en caso de que no se usen demasiados contadores.</a:t>
            </a:r>
          </a:p>
        </p:txBody>
      </p:sp>
    </p:spTree>
    <p:extLst>
      <p:ext uri="{BB962C8B-B14F-4D97-AF65-F5344CB8AC3E}">
        <p14:creationId xmlns:p14="http://schemas.microsoft.com/office/powerpoint/2010/main" val="3460071139"/>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pic>
        <p:nvPicPr>
          <p:cNvPr id="6" name="Imagen 5"/>
          <p:cNvPicPr>
            <a:picLocks noChangeAspect="1"/>
          </p:cNvPicPr>
          <p:nvPr/>
        </p:nvPicPr>
        <p:blipFill>
          <a:blip r:embed="rId2"/>
          <a:stretch>
            <a:fillRect/>
          </a:stretch>
        </p:blipFill>
        <p:spPr>
          <a:xfrm>
            <a:off x="5873508" y="1937116"/>
            <a:ext cx="2034145" cy="4651967"/>
          </a:xfrm>
          <a:prstGeom prst="rect">
            <a:avLst/>
          </a:prstGeom>
        </p:spPr>
      </p:pic>
      <p:pic>
        <p:nvPicPr>
          <p:cNvPr id="3" name="Imagen 2"/>
          <p:cNvPicPr>
            <a:picLocks noChangeAspect="1"/>
          </p:cNvPicPr>
          <p:nvPr/>
        </p:nvPicPr>
        <p:blipFill>
          <a:blip r:embed="rId3"/>
          <a:stretch>
            <a:fillRect/>
          </a:stretch>
        </p:blipFill>
        <p:spPr>
          <a:xfrm>
            <a:off x="530139" y="2561736"/>
            <a:ext cx="5166455" cy="3166845"/>
          </a:xfrm>
          <a:prstGeom prst="rect">
            <a:avLst/>
          </a:prstGeom>
        </p:spPr>
      </p:pic>
      <p:sp>
        <p:nvSpPr>
          <p:cNvPr id="7" name="Llamada rectangular redondeada 6"/>
          <p:cNvSpPr/>
          <p:nvPr/>
        </p:nvSpPr>
        <p:spPr>
          <a:xfrm>
            <a:off x="8167125" y="2447094"/>
            <a:ext cx="2270734" cy="2485275"/>
          </a:xfrm>
          <a:prstGeom prst="wedgeRoundRectCallout">
            <a:avLst>
              <a:gd name="adj1" fmla="val -63726"/>
              <a:gd name="adj2" fmla="val -2041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AR" sz="1579" dirty="0"/>
              <a:t>En este ejercicio se utilizarán los pull-ups internos del PIC. Para activarlos se debe usar la instrucción: </a:t>
            </a:r>
          </a:p>
          <a:p>
            <a:pPr algn="ctr"/>
            <a:r>
              <a:rPr lang="es-AR" sz="1579" dirty="0" err="1">
                <a:solidFill>
                  <a:srgbClr val="274DE7"/>
                </a:solidFill>
                <a:latin typeface="Consolas" panose="020B0609020204030204" pitchFamily="49" charset="0"/>
              </a:rPr>
              <a:t>bcf</a:t>
            </a:r>
            <a:r>
              <a:rPr lang="es-AR" sz="1579" dirty="0">
                <a:solidFill>
                  <a:srgbClr val="274DE7"/>
                </a:solidFill>
                <a:latin typeface="Consolas" panose="020B0609020204030204" pitchFamily="49" charset="0"/>
              </a:rPr>
              <a:t> </a:t>
            </a:r>
            <a:r>
              <a:rPr lang="es-AR" sz="1579" dirty="0">
                <a:solidFill>
                  <a:srgbClr val="9E458A"/>
                </a:solidFill>
                <a:latin typeface="Consolas" panose="020B0609020204030204" pitchFamily="49" charset="0"/>
              </a:rPr>
              <a:t>OPTION, RBPU</a:t>
            </a:r>
            <a:endParaRPr lang="es-AR" sz="1579" dirty="0">
              <a:latin typeface="Consolas" panose="020B0609020204030204" pitchFamily="49" charset="0"/>
            </a:endParaRPr>
          </a:p>
          <a:p>
            <a:pPr algn="ctr"/>
            <a:r>
              <a:rPr lang="es-AR" sz="1579" dirty="0"/>
              <a:t> </a:t>
            </a:r>
          </a:p>
        </p:txBody>
      </p:sp>
    </p:spTree>
    <p:extLst>
      <p:ext uri="{BB962C8B-B14F-4D97-AF65-F5344CB8AC3E}">
        <p14:creationId xmlns:p14="http://schemas.microsoft.com/office/powerpoint/2010/main" val="410543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pic>
        <p:nvPicPr>
          <p:cNvPr id="6" name="Imagen 5"/>
          <p:cNvPicPr>
            <a:picLocks noChangeAspect="1"/>
          </p:cNvPicPr>
          <p:nvPr/>
        </p:nvPicPr>
        <p:blipFill>
          <a:blip r:embed="rId2"/>
          <a:stretch>
            <a:fillRect/>
          </a:stretch>
        </p:blipFill>
        <p:spPr>
          <a:xfrm>
            <a:off x="978918" y="2046090"/>
            <a:ext cx="2034145" cy="4651967"/>
          </a:xfrm>
          <a:prstGeom prst="rect">
            <a:avLst/>
          </a:prstGeom>
        </p:spPr>
      </p:pic>
      <p:sp>
        <p:nvSpPr>
          <p:cNvPr id="8" name="Marcador de contenido 2"/>
          <p:cNvSpPr>
            <a:spLocks noGrp="1"/>
          </p:cNvSpPr>
          <p:nvPr>
            <p:ph idx="1"/>
          </p:nvPr>
        </p:nvSpPr>
        <p:spPr>
          <a:xfrm>
            <a:off x="3306060" y="2130944"/>
            <a:ext cx="4218635" cy="4467705"/>
          </a:xfrm>
        </p:spPr>
        <p:txBody>
          <a:bodyPr rtlCol="0">
            <a:normAutofit/>
          </a:bodyPr>
          <a:lstStyle/>
          <a:p>
            <a:pPr marL="300758" indent="-300758">
              <a:buClr>
                <a:srgbClr val="D24726"/>
              </a:buClr>
              <a:buSzPct val="150000"/>
              <a:defRPr/>
            </a:pPr>
            <a:r>
              <a:rPr lang="es-AR" sz="2105" dirty="0"/>
              <a:t>Sin el uso de interrupciones se utiliza el método de “</a:t>
            </a:r>
            <a:r>
              <a:rPr lang="es-AR" sz="2105" dirty="0" err="1"/>
              <a:t>Polling</a:t>
            </a:r>
            <a:r>
              <a:rPr lang="es-AR" sz="2105" dirty="0"/>
              <a:t>”, nombrado así por estar constantemente “preguntando” algo. </a:t>
            </a:r>
          </a:p>
          <a:p>
            <a:pPr marL="300758" indent="-300758">
              <a:buClr>
                <a:srgbClr val="D24726"/>
              </a:buClr>
              <a:buSzPct val="150000"/>
              <a:defRPr/>
            </a:pPr>
            <a:endParaRPr lang="es-AR" sz="2105" dirty="0"/>
          </a:p>
          <a:p>
            <a:pPr marL="300758" indent="-300758">
              <a:buClr>
                <a:srgbClr val="D24726"/>
              </a:buClr>
              <a:buSzPct val="150000"/>
              <a:defRPr/>
            </a:pPr>
            <a:r>
              <a:rPr lang="es-AR" sz="2105" dirty="0"/>
              <a:t>Ventaja: Implementación simple</a:t>
            </a:r>
          </a:p>
          <a:p>
            <a:pPr marL="300758" indent="-300758">
              <a:buClr>
                <a:srgbClr val="D24726"/>
              </a:buClr>
              <a:buSzPct val="150000"/>
              <a:defRPr/>
            </a:pPr>
            <a:endParaRPr lang="es-AR" sz="2105" dirty="0"/>
          </a:p>
          <a:p>
            <a:pPr marL="300758" indent="-300758">
              <a:buClr>
                <a:srgbClr val="D24726"/>
              </a:buClr>
              <a:buSzPct val="150000"/>
              <a:defRPr/>
            </a:pPr>
            <a:r>
              <a:rPr lang="es-AR" sz="2105" dirty="0"/>
              <a:t>Desventaja: mientras se espera que se pulse el botón no se puede estar haciendo otra cosa simultáneamente.</a:t>
            </a:r>
          </a:p>
        </p:txBody>
      </p:sp>
      <p:sp>
        <p:nvSpPr>
          <p:cNvPr id="9" name="Elipse 8"/>
          <p:cNvSpPr/>
          <p:nvPr/>
        </p:nvSpPr>
        <p:spPr>
          <a:xfrm>
            <a:off x="822468" y="3511096"/>
            <a:ext cx="2535751" cy="176912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1579"/>
          </a:p>
        </p:txBody>
      </p:sp>
      <p:sp>
        <p:nvSpPr>
          <p:cNvPr id="10" name="Marcador de contenido 4"/>
          <p:cNvSpPr txBox="1">
            <a:spLocks/>
          </p:cNvSpPr>
          <p:nvPr/>
        </p:nvSpPr>
        <p:spPr bwMode="auto">
          <a:xfrm>
            <a:off x="7319908" y="2130944"/>
            <a:ext cx="3153335" cy="4437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endParaRPr lang="es-AR" sz="1754" dirty="0">
              <a:solidFill>
                <a:srgbClr val="9E458A"/>
              </a:solidFill>
              <a:latin typeface="Consolas" panose="020B0609020204030204" pitchFamily="49" charset="0"/>
            </a:endParaRPr>
          </a:p>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spTree>
    <p:extLst>
      <p:ext uri="{BB962C8B-B14F-4D97-AF65-F5344CB8AC3E}">
        <p14:creationId xmlns:p14="http://schemas.microsoft.com/office/powerpoint/2010/main" val="192981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6102479" cy="2710371"/>
          </a:xfrm>
        </p:spPr>
        <p:txBody>
          <a:bodyPr rtlCol="0">
            <a:normAutofit lnSpcReduction="10000"/>
          </a:bodyPr>
          <a:lstStyle/>
          <a:p>
            <a:pPr marL="300758" indent="-300758" algn="just">
              <a:buClr>
                <a:srgbClr val="D24726"/>
              </a:buClr>
              <a:buSzPct val="150000"/>
              <a:defRPr/>
            </a:pPr>
            <a:r>
              <a:rPr lang="es-AR" sz="2105" dirty="0"/>
              <a:t>Por las propiedades mecánicas de los pulsadores pueden ocurrir rebotes los cuales pueden confundir al microcontrolador, el cual interpretará que se pulsó muchas veces el botón cuando sólo ocurrió una vez.</a:t>
            </a:r>
          </a:p>
          <a:p>
            <a:pPr marL="300758" indent="-300758" algn="just">
              <a:buClr>
                <a:srgbClr val="D24726"/>
              </a:buClr>
              <a:buSzPct val="150000"/>
              <a:defRPr/>
            </a:pPr>
            <a:r>
              <a:rPr lang="es-AR" sz="2105" dirty="0"/>
              <a:t>En este caso se deben usar demoras “Anti-rebote” que garanticen que efectivamente una persona tocó el botón y no se esta procesando un rebote.</a:t>
            </a:r>
          </a:p>
        </p:txBody>
      </p:sp>
      <p:sp>
        <p:nvSpPr>
          <p:cNvPr id="10" name="Marcador de contenido 4"/>
          <p:cNvSpPr txBox="1">
            <a:spLocks/>
          </p:cNvSpPr>
          <p:nvPr/>
        </p:nvSpPr>
        <p:spPr bwMode="auto">
          <a:xfrm>
            <a:off x="6871730" y="2001210"/>
            <a:ext cx="3821670" cy="3598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anchor="t" anchorCtr="0" compatLnSpc="1">
            <a:prstTxWarp prst="textNoShape">
              <a:avLst/>
            </a:prstTxWarp>
            <a:no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s-AR" sz="1754" dirty="0">
                <a:solidFill>
                  <a:srgbClr val="9E458A"/>
                </a:solidFill>
                <a:latin typeface="Consolas" panose="020B0609020204030204" pitchFamily="49" charset="0"/>
              </a:rPr>
              <a:t>esperar</a:t>
            </a:r>
            <a:r>
              <a:rPr lang="es-AR" sz="1754" dirty="0">
                <a:latin typeface="Consolas" panose="020B0609020204030204" pitchFamily="49" charset="0"/>
              </a:rPr>
              <a:t>	</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p>
          <a:p>
            <a:r>
              <a:rPr lang="es-AR" sz="1754" dirty="0">
                <a:solidFill>
                  <a:srgbClr val="9E458A"/>
                </a:solidFill>
                <a:latin typeface="Consolas" panose="020B0609020204030204" pitchFamily="49" charset="0"/>
              </a:rPr>
              <a:t>	</a:t>
            </a:r>
            <a:r>
              <a:rPr lang="es-AR" sz="1754" dirty="0">
                <a:solidFill>
                  <a:srgbClr val="274DE7"/>
                </a:solidFill>
                <a:latin typeface="Consolas" panose="020B0609020204030204" pitchFamily="49" charset="0"/>
              </a:rPr>
              <a:t>call</a:t>
            </a:r>
            <a:r>
              <a:rPr lang="es-AR" sz="1754" dirty="0">
                <a:solidFill>
                  <a:srgbClr val="9E458A"/>
                </a:solidFill>
                <a:latin typeface="Consolas" panose="020B0609020204030204" pitchFamily="49" charset="0"/>
              </a:rPr>
              <a:t>	demora_20ms</a:t>
            </a:r>
          </a:p>
          <a:p>
            <a:r>
              <a:rPr lang="es-AR" sz="1754" dirty="0">
                <a:solidFill>
                  <a:srgbClr val="274DE7"/>
                </a:solidFill>
                <a:latin typeface="Consolas" panose="020B0609020204030204" pitchFamily="49" charset="0"/>
              </a:rPr>
              <a:t>	btfsc	</a:t>
            </a:r>
            <a:r>
              <a:rPr lang="es-AR" sz="1754" dirty="0">
                <a:solidFill>
                  <a:srgbClr val="9E458A"/>
                </a:solidFill>
                <a:latin typeface="Consolas" panose="020B0609020204030204" pitchFamily="49" charset="0"/>
              </a:rPr>
              <a:t>PORTB, RB0</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goto 	</a:t>
            </a:r>
            <a:r>
              <a:rPr lang="es-AR" sz="1754" dirty="0">
                <a:solidFill>
                  <a:srgbClr val="9E458A"/>
                </a:solidFill>
                <a:latin typeface="Consolas" panose="020B0609020204030204" pitchFamily="49" charset="0"/>
              </a:rPr>
              <a:t>esperar</a:t>
            </a:r>
            <a:endParaRPr lang="es-AR" sz="1754" dirty="0">
              <a:latin typeface="Consolas" panose="020B0609020204030204" pitchFamily="49" charset="0"/>
            </a:endParaRPr>
          </a:p>
          <a:p>
            <a:r>
              <a:rPr lang="es-AR" sz="1754" dirty="0">
                <a:latin typeface="Consolas" panose="020B0609020204030204" pitchFamily="49" charset="0"/>
              </a:rPr>
              <a:t>	</a:t>
            </a:r>
            <a:r>
              <a:rPr lang="es-AR" sz="1754" dirty="0">
                <a:solidFill>
                  <a:srgbClr val="274DE7"/>
                </a:solidFill>
                <a:latin typeface="Consolas" panose="020B0609020204030204" pitchFamily="49" charset="0"/>
              </a:rPr>
              <a:t>bsf	</a:t>
            </a:r>
            <a:r>
              <a:rPr lang="es-AR" sz="1754" dirty="0">
                <a:solidFill>
                  <a:srgbClr val="9E458A"/>
                </a:solidFill>
                <a:latin typeface="Consolas" panose="020B0609020204030204" pitchFamily="49" charset="0"/>
              </a:rPr>
              <a:t>PORTB, RB1</a:t>
            </a:r>
            <a:r>
              <a:rPr lang="es-AR" sz="1754" dirty="0">
                <a:latin typeface="Consolas" panose="020B0609020204030204" pitchFamily="49" charset="0"/>
              </a:rPr>
              <a:t>	</a:t>
            </a:r>
          </a:p>
        </p:txBody>
      </p:sp>
      <p:grpSp>
        <p:nvGrpSpPr>
          <p:cNvPr id="25" name="Grupo 24"/>
          <p:cNvGrpSpPr/>
          <p:nvPr/>
        </p:nvGrpSpPr>
        <p:grpSpPr>
          <a:xfrm>
            <a:off x="1058018" y="4811011"/>
            <a:ext cx="3552098" cy="1757334"/>
            <a:chOff x="2214815" y="4604685"/>
            <a:chExt cx="4049898" cy="2003611"/>
          </a:xfrm>
        </p:grpSpPr>
        <p:pic>
          <p:nvPicPr>
            <p:cNvPr id="11" name="Picture 2" descr="Image result for switch bounce"/>
            <p:cNvPicPr>
              <a:picLocks noChangeAspect="1" noChangeArrowheads="1"/>
            </p:cNvPicPr>
            <p:nvPr/>
          </p:nvPicPr>
          <p:blipFill rotWithShape="1">
            <a:blip r:embed="rId2">
              <a:extLst>
                <a:ext uri="{28A0092B-C50C-407E-A947-70E740481C1C}">
                  <a14:useLocalDpi xmlns:a14="http://schemas.microsoft.com/office/drawing/2010/main" val="0"/>
                </a:ext>
              </a:extLst>
            </a:blip>
            <a:srcRect t="11765" b="20814"/>
            <a:stretch/>
          </p:blipFill>
          <p:spPr bwMode="auto">
            <a:xfrm>
              <a:off x="2214815" y="4604685"/>
              <a:ext cx="4049898" cy="200361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6"/>
            <p:cNvCxnSpPr/>
            <p:nvPr/>
          </p:nvCxnSpPr>
          <p:spPr>
            <a:xfrm>
              <a:off x="2514600" y="6306671"/>
              <a:ext cx="13716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Conector recto 17"/>
            <p:cNvCxnSpPr/>
            <p:nvPr/>
          </p:nvCxnSpPr>
          <p:spPr>
            <a:xfrm>
              <a:off x="3886200" y="5181601"/>
              <a:ext cx="2030506"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cto 20"/>
            <p:cNvCxnSpPr/>
            <p:nvPr/>
          </p:nvCxnSpPr>
          <p:spPr>
            <a:xfrm>
              <a:off x="3886200" y="5181601"/>
              <a:ext cx="0" cy="112506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 name="CuadroTexto 23"/>
          <p:cNvSpPr txBox="1"/>
          <p:nvPr/>
        </p:nvSpPr>
        <p:spPr>
          <a:xfrm>
            <a:off x="4315261" y="4827882"/>
            <a:ext cx="2251239" cy="1307409"/>
          </a:xfrm>
          <a:prstGeom prst="rect">
            <a:avLst/>
          </a:prstGeom>
          <a:noFill/>
        </p:spPr>
        <p:txBody>
          <a:bodyPr wrap="square" rtlCol="0">
            <a:spAutoFit/>
          </a:bodyPr>
          <a:lstStyle/>
          <a:p>
            <a:r>
              <a:rPr lang="es-AR" sz="1579" dirty="0"/>
              <a:t>Gráfico de lo que ocurre al presionar un botón. En rojo se ve lo esperado vs. lo que ocurre físicamente</a:t>
            </a:r>
          </a:p>
        </p:txBody>
      </p:sp>
    </p:spTree>
    <p:extLst>
      <p:ext uri="{BB962C8B-B14F-4D97-AF65-F5344CB8AC3E}">
        <p14:creationId xmlns:p14="http://schemas.microsoft.com/office/powerpoint/2010/main" val="6519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006286"/>
            <a:ext cx="9758678" cy="4467706"/>
          </a:xfrm>
        </p:spPr>
        <p:txBody>
          <a:bodyPr rtlCol="0">
            <a:normAutofit/>
          </a:bodyPr>
          <a:lstStyle/>
          <a:p>
            <a:pPr marL="300758" indent="-300758" algn="just">
              <a:buClr>
                <a:srgbClr val="D24726"/>
              </a:buClr>
              <a:buSzPct val="150000"/>
              <a:defRPr/>
            </a:pPr>
            <a:r>
              <a:rPr lang="es-AR" sz="2105" dirty="0"/>
              <a:t>Para evitar las desventajas de método de </a:t>
            </a:r>
            <a:r>
              <a:rPr lang="es-AR" sz="2105" dirty="0" err="1"/>
              <a:t>polling</a:t>
            </a:r>
            <a:r>
              <a:rPr lang="es-AR" sz="2105" dirty="0"/>
              <a:t> se utilizan interrupciones. </a:t>
            </a:r>
          </a:p>
          <a:p>
            <a:pPr marL="300758" indent="-300758" algn="just">
              <a:buClr>
                <a:srgbClr val="D24726"/>
              </a:buClr>
              <a:buSzPct val="150000"/>
              <a:defRPr/>
            </a:pPr>
            <a:r>
              <a:rPr lang="es-AR" sz="2105" dirty="0"/>
              <a:t>Particularmente en este caso vamos a usar la interrupción por RB0.</a:t>
            </a:r>
          </a:p>
          <a:p>
            <a:pPr marL="300758" indent="-300758" algn="just">
              <a:buClr>
                <a:srgbClr val="D24726"/>
              </a:buClr>
              <a:buSzPct val="150000"/>
              <a:defRPr/>
            </a:pPr>
            <a:r>
              <a:rPr lang="es-AR" sz="2105" dirty="0"/>
              <a:t>Esta se configura de la siguiente manera:</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las interrupciones globales</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INTE </a:t>
            </a:r>
            <a:r>
              <a:rPr lang="es-AR" sz="2105" dirty="0">
                <a:solidFill>
                  <a:schemeClr val="accent6"/>
                </a:solidFill>
                <a:latin typeface="Consolas" panose="020B0609020204030204" pitchFamily="49" charset="0"/>
              </a:rPr>
              <a:t>; Habilito la interrupción por RB0</a:t>
            </a:r>
          </a:p>
          <a:p>
            <a:r>
              <a:rPr lang="es-AR" sz="2105" dirty="0"/>
              <a:t>La información sobre estos bits y los correspondientes al resto de las interrupciones se encuentran en el </a:t>
            </a:r>
            <a:r>
              <a:rPr lang="es-AR" sz="2105" dirty="0" err="1"/>
              <a:t>datasheet</a:t>
            </a:r>
            <a:r>
              <a:rPr lang="es-AR" sz="2105" dirty="0"/>
              <a:t> del PIC.</a:t>
            </a:r>
            <a:r>
              <a:rPr lang="es-AR" sz="2105" dirty="0">
                <a:latin typeface="Consolas" panose="020B0609020204030204" pitchFamily="49" charset="0"/>
              </a:rPr>
              <a:t>	</a:t>
            </a: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413733659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537651" y="2041668"/>
            <a:ext cx="9758678" cy="4769276"/>
          </a:xfrm>
        </p:spPr>
        <p:txBody>
          <a:bodyPr rtlCol="0">
            <a:normAutofit fontScale="92500" lnSpcReduction="10000"/>
          </a:bodyPr>
          <a:lstStyle/>
          <a:p>
            <a:pPr marL="300758" indent="-300758" algn="just">
              <a:spcAft>
                <a:spcPts val="526"/>
              </a:spcAft>
              <a:buClr>
                <a:srgbClr val="D24726"/>
              </a:buClr>
              <a:buSzPct val="150000"/>
              <a:defRPr/>
            </a:pPr>
            <a:r>
              <a:rPr lang="es-AR" sz="2105" dirty="0"/>
              <a:t>Al utilizar interrupciones debemos definir nuestra rutina de interrupción. Es una buena práctica que esto se haga al inicio del código de la siguiente manera:</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0x00</a:t>
            </a:r>
          </a:p>
          <a:p>
            <a:pPr>
              <a:spcAft>
                <a:spcPts val="526"/>
              </a:spcAft>
            </a:pPr>
            <a:r>
              <a:rPr lang="es-AR" sz="2105" dirty="0">
                <a:solidFill>
                  <a:srgbClr val="274DE7"/>
                </a:solidFill>
                <a:latin typeface="Consolas" panose="020B0609020204030204" pitchFamily="49" charset="0"/>
              </a:rPr>
              <a:t>	goto 	</a:t>
            </a:r>
            <a:r>
              <a:rPr lang="es-AR" sz="2105" dirty="0">
                <a:solidFill>
                  <a:srgbClr val="9E458A"/>
                </a:solidFill>
                <a:latin typeface="Consolas" panose="020B0609020204030204" pitchFamily="49" charset="0"/>
              </a:rPr>
              <a:t>inicio</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a:t>
            </a:r>
          </a:p>
          <a:p>
            <a:pPr>
              <a:spcAft>
                <a:spcPts val="526"/>
              </a:spcAft>
            </a:pPr>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inhabilito las interrupciones globales</a:t>
            </a:r>
          </a:p>
          <a:p>
            <a:pPr>
              <a:spcAft>
                <a:spcPts val="526"/>
              </a:spcAft>
            </a:pPr>
            <a:r>
              <a:rPr lang="es-AR" sz="2105" dirty="0">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 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PORTB, RB0 </a:t>
            </a:r>
            <a:r>
              <a:rPr lang="es-AR" sz="2105" dirty="0">
                <a:solidFill>
                  <a:schemeClr val="accent6"/>
                </a:solidFill>
                <a:latin typeface="Consolas" panose="020B0609020204030204" pitchFamily="49" charset="0"/>
              </a:rPr>
              <a:t>; realizo la rutina, en este caso prender el LED</a:t>
            </a:r>
          </a:p>
          <a:p>
            <a:pPr>
              <a:spcAft>
                <a:spcPts val="526"/>
              </a:spcAft>
            </a:pPr>
            <a:r>
              <a:rPr lang="es-AR" sz="2105" dirty="0">
                <a:solidFill>
                  <a:schemeClr val="accent6"/>
                </a:solidFill>
                <a:latin typeface="Consolas" panose="020B0609020204030204" pitchFamily="49" charset="0"/>
              </a:rPr>
              <a:t>	</a:t>
            </a:r>
            <a:r>
              <a:rPr lang="es-AR" sz="2105" dirty="0">
                <a:solidFill>
                  <a:srgbClr val="274DE7"/>
                </a:solidFill>
                <a:latin typeface="Consolas" panose="020B0609020204030204" pitchFamily="49" charset="0"/>
              </a:rPr>
              <a:t>bsf 	</a:t>
            </a:r>
            <a:r>
              <a:rPr lang="es-AR" sz="2105" dirty="0">
                <a:solidFill>
                  <a:srgbClr val="9E458A"/>
                </a:solidFill>
                <a:latin typeface="Consolas" panose="020B0609020204030204" pitchFamily="49" charset="0"/>
              </a:rPr>
              <a:t>INTCON, GIE </a:t>
            </a:r>
            <a:r>
              <a:rPr lang="es-AR" sz="2105" dirty="0">
                <a:solidFill>
                  <a:schemeClr val="accent6"/>
                </a:solidFill>
                <a:latin typeface="Consolas" panose="020B0609020204030204" pitchFamily="49" charset="0"/>
              </a:rPr>
              <a:t>; habilito nuevamente las interrupciones</a:t>
            </a:r>
          </a:p>
          <a:p>
            <a:pPr>
              <a:spcAft>
                <a:spcPts val="526"/>
              </a:spcAft>
            </a:pPr>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retfie</a:t>
            </a:r>
            <a:r>
              <a:rPr lang="es-AR" sz="2105" dirty="0">
                <a:solidFill>
                  <a:srgbClr val="274DE7"/>
                </a:solidFill>
                <a:latin typeface="Consolas" panose="020B0609020204030204" pitchFamily="49" charset="0"/>
              </a:rPr>
              <a:t> 		   </a:t>
            </a:r>
            <a:r>
              <a:rPr lang="es-AR" sz="2105" dirty="0">
                <a:solidFill>
                  <a:schemeClr val="accent6"/>
                </a:solidFill>
                <a:latin typeface="Consolas" panose="020B0609020204030204" pitchFamily="49" charset="0"/>
              </a:rPr>
              <a:t>; Return especial para las rutinas de interrupción</a:t>
            </a:r>
          </a:p>
          <a:p>
            <a:pPr>
              <a:spcAft>
                <a:spcPts val="526"/>
              </a:spcAft>
            </a:pPr>
            <a:r>
              <a:rPr lang="es-AR" sz="2105" dirty="0">
                <a:solidFill>
                  <a:srgbClr val="9E458A"/>
                </a:solidFill>
                <a:latin typeface="Consolas" panose="020B0609020204030204" pitchFamily="49" charset="0"/>
              </a:rPr>
              <a:t>Inicio	...</a:t>
            </a:r>
            <a:endParaRPr lang="es-AR" sz="2105" dirty="0"/>
          </a:p>
        </p:txBody>
      </p:sp>
    </p:spTree>
    <p:extLst>
      <p:ext uri="{BB962C8B-B14F-4D97-AF65-F5344CB8AC3E}">
        <p14:creationId xmlns:p14="http://schemas.microsoft.com/office/powerpoint/2010/main" val="261937332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El programa principal quedaría conformado únicamente por la configuración de los puertos y las interrupciones, ya que el encendido del LED se hace en la interrupción:</a:t>
            </a:r>
          </a:p>
          <a:p>
            <a:r>
              <a:rPr lang="es-AR" sz="2105" dirty="0">
                <a:solidFill>
                  <a:srgbClr val="9E458A"/>
                </a:solidFill>
                <a:latin typeface="Consolas" panose="020B0609020204030204" pitchFamily="49" charset="0"/>
              </a:rPr>
              <a:t>Inicio</a:t>
            </a:r>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habilito las interrupciones globales</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INTCON,INTE</a:t>
            </a:r>
            <a:r>
              <a:rPr lang="es-AR" sz="2105" dirty="0">
                <a:solidFill>
                  <a:schemeClr val="accent6"/>
                </a:solidFill>
                <a:latin typeface="Consolas" panose="020B0609020204030204" pitchFamily="49" charset="0"/>
              </a:rPr>
              <a:t>; habilito la interrupción por RB0</a:t>
            </a:r>
          </a:p>
          <a:p>
            <a:r>
              <a:rPr lang="es-AR" sz="2105" dirty="0">
                <a:solidFill>
                  <a:srgbClr val="274DE7"/>
                </a:solidFill>
                <a:latin typeface="Consolas" panose="020B0609020204030204" pitchFamily="49" charset="0"/>
              </a:rPr>
              <a:t>	bsf 	</a:t>
            </a:r>
            <a:r>
              <a:rPr lang="es-AR" sz="2105" dirty="0">
                <a:solidFill>
                  <a:srgbClr val="9E458A"/>
                </a:solidFill>
                <a:latin typeface="Consolas" panose="020B0609020204030204" pitchFamily="49" charset="0"/>
              </a:rPr>
              <a:t>STATUS,RP0  </a:t>
            </a:r>
            <a:r>
              <a:rPr lang="es-AR" sz="2105" dirty="0">
                <a:solidFill>
                  <a:schemeClr val="accent6"/>
                </a:solidFill>
                <a:latin typeface="Consolas" panose="020B0609020204030204" pitchFamily="49" charset="0"/>
              </a:rPr>
              <a:t>; me muevo al Banco 1</a:t>
            </a:r>
          </a:p>
          <a:p>
            <a:r>
              <a:rPr lang="es-AR" sz="2105" dirty="0">
                <a:solidFill>
                  <a:srgbClr val="274DE7"/>
                </a:solidFill>
                <a:latin typeface="Consolas" panose="020B0609020204030204" pitchFamily="49" charset="0"/>
              </a:rPr>
              <a:t>	movlw 	</a:t>
            </a:r>
            <a:r>
              <a:rPr lang="es-AR" sz="2105" dirty="0">
                <a:solidFill>
                  <a:srgbClr val="9E458A"/>
                </a:solidFill>
                <a:latin typeface="Consolas" panose="020B0609020204030204" pitchFamily="49" charset="0"/>
              </a:rPr>
              <a:t>b’00000001’ </a:t>
            </a:r>
            <a:r>
              <a:rPr lang="es-AR" sz="2105" dirty="0">
                <a:solidFill>
                  <a:schemeClr val="accent6"/>
                </a:solidFill>
                <a:latin typeface="Consolas" panose="020B0609020204030204" pitchFamily="49" charset="0"/>
              </a:rPr>
              <a:t>; configuro el TRISB: RB0 entrada y el resto salida</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TRISB</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STATUS, RP0 </a:t>
            </a:r>
            <a:r>
              <a:rPr lang="es-AR" sz="2105" dirty="0">
                <a:solidFill>
                  <a:schemeClr val="accent6"/>
                </a:solidFill>
                <a:latin typeface="Consolas" panose="020B0609020204030204" pitchFamily="49" charset="0"/>
              </a:rPr>
              <a:t>; regreso al Banco 0</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goto 	</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esto indica que se hace un loop en la misma posición </a:t>
            </a:r>
          </a:p>
          <a:p>
            <a:r>
              <a:rPr lang="es-AR" sz="2105" dirty="0">
                <a:solidFill>
                  <a:schemeClr val="accent6"/>
                </a:solidFill>
                <a:latin typeface="Consolas" panose="020B0609020204030204" pitchFamily="49" charset="0"/>
              </a:rPr>
              <a:t>	</a:t>
            </a:r>
            <a:r>
              <a:rPr lang="es-AR" sz="2105" dirty="0" err="1">
                <a:solidFill>
                  <a:srgbClr val="274DE7"/>
                </a:solidFill>
                <a:latin typeface="Consolas" panose="020B0609020204030204" pitchFamily="49" charset="0"/>
              </a:rPr>
              <a:t>end</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237320316"/>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lnSpcReduction="10000"/>
          </a:bodyPr>
          <a:lstStyle/>
          <a:p>
            <a:pPr marL="300758" indent="-300758" algn="just">
              <a:buClr>
                <a:srgbClr val="D24726"/>
              </a:buClr>
              <a:buSzPct val="150000"/>
              <a:defRPr/>
            </a:pPr>
            <a:r>
              <a:rPr lang="es-AR" sz="2105" dirty="0"/>
              <a:t>En este caso no es necesario, pero para programas más complejos es recomendable guardar los valores del registro w y STATUS en registros temporales al inicio de la rutina de interrupción, para que no se altere el funcionamiento del programa principal.</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org</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0x04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INTCON,GIE   </a:t>
            </a:r>
            <a:r>
              <a:rPr lang="es-AR" sz="2105" dirty="0">
                <a:solidFill>
                  <a:schemeClr val="accent6"/>
                </a:solidFill>
                <a:latin typeface="Consolas" panose="020B0609020204030204" pitchFamily="49" charset="0"/>
              </a:rPr>
              <a:t>; inhabilito la interrupción por RB0</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bcf</a:t>
            </a:r>
            <a:r>
              <a:rPr lang="es-AR" sz="2105" dirty="0">
                <a:solidFill>
                  <a:srgbClr val="274DE7"/>
                </a:solidFill>
                <a:latin typeface="Consolas" panose="020B0609020204030204" pitchFamily="49" charset="0"/>
              </a:rPr>
              <a:t> 	</a:t>
            </a:r>
            <a:r>
              <a:rPr lang="es-AR" sz="2105" dirty="0">
                <a:solidFill>
                  <a:srgbClr val="9E458A"/>
                </a:solidFill>
                <a:latin typeface="Consolas" panose="020B0609020204030204" pitchFamily="49" charset="0"/>
              </a:rPr>
              <a:t>INTCON,INTF  </a:t>
            </a:r>
            <a:r>
              <a:rPr lang="es-AR" sz="2105" dirty="0">
                <a:solidFill>
                  <a:schemeClr val="accent6"/>
                </a:solidFill>
                <a:latin typeface="Consolas" panose="020B0609020204030204" pitchFamily="49" charset="0"/>
              </a:rPr>
              <a:t>; bajo el </a:t>
            </a:r>
            <a:r>
              <a:rPr lang="es-AR" sz="2105" dirty="0" err="1">
                <a:solidFill>
                  <a:schemeClr val="accent6"/>
                </a:solidFill>
                <a:latin typeface="Consolas" panose="020B0609020204030204" pitchFamily="49" charset="0"/>
              </a:rPr>
              <a:t>flag</a:t>
            </a:r>
            <a:r>
              <a:rPr lang="es-AR" sz="2105" dirty="0">
                <a:solidFill>
                  <a:schemeClr val="accent6"/>
                </a:solidFill>
                <a:latin typeface="Consolas" panose="020B0609020204030204" pitchFamily="49" charset="0"/>
              </a:rPr>
              <a:t> de la interrupción</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AUXW         </a:t>
            </a:r>
            <a:r>
              <a:rPr lang="es-AR" sz="2105" dirty="0">
                <a:solidFill>
                  <a:schemeClr val="accent6"/>
                </a:solidFill>
                <a:latin typeface="Consolas" panose="020B0609020204030204" pitchFamily="49" charset="0"/>
              </a:rPr>
              <a:t>; guardo el valor de w en un registro auxiliar</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STATUS,w</a:t>
            </a:r>
            <a:endParaRPr lang="es-AR" sz="2105" dirty="0">
              <a:solidFill>
                <a:srgbClr val="9E458A"/>
              </a:solidFill>
              <a:latin typeface="Consolas" panose="020B0609020204030204" pitchFamily="49" charset="0"/>
            </a:endParaRP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AUXSTATUS    </a:t>
            </a:r>
            <a:r>
              <a:rPr lang="es-AR" sz="2105" dirty="0">
                <a:solidFill>
                  <a:schemeClr val="accent6"/>
                </a:solidFill>
                <a:latin typeface="Consolas" panose="020B0609020204030204" pitchFamily="49" charset="0"/>
              </a:rPr>
              <a:t>; guardo el valor del STATUS en un registro auxiliar</a:t>
            </a:r>
          </a:p>
          <a:p>
            <a:r>
              <a:rPr lang="es-AR" sz="2105" dirty="0">
                <a:latin typeface="Consolas" panose="020B0609020204030204" pitchFamily="49" charset="0"/>
              </a:rPr>
              <a:t>	...</a:t>
            </a:r>
            <a:r>
              <a:rPr lang="es-AR" sz="2105" dirty="0">
                <a:solidFill>
                  <a:srgbClr val="274DE7"/>
                </a:solidFill>
                <a:latin typeface="Consolas" panose="020B0609020204030204" pitchFamily="49" charset="0"/>
              </a:rPr>
              <a:t>		   </a:t>
            </a:r>
            <a:endParaRPr lang="es-AR" sz="2105" dirty="0">
              <a:solidFill>
                <a:srgbClr val="9E458A"/>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384710918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2: Manejo de Pulsadores</a:t>
            </a:r>
          </a:p>
        </p:txBody>
      </p:sp>
      <p:sp>
        <p:nvSpPr>
          <p:cNvPr id="8" name="Marcador de contenido 2"/>
          <p:cNvSpPr>
            <a:spLocks noGrp="1"/>
          </p:cNvSpPr>
          <p:nvPr>
            <p:ph idx="1"/>
          </p:nvPr>
        </p:nvSpPr>
        <p:spPr>
          <a:xfrm>
            <a:off x="667387" y="2100639"/>
            <a:ext cx="9758678" cy="4467706"/>
          </a:xfrm>
        </p:spPr>
        <p:txBody>
          <a:bodyPr rtlCol="0">
            <a:normAutofit/>
          </a:bodyPr>
          <a:lstStyle/>
          <a:p>
            <a:pPr marL="300758" indent="-300758" algn="just">
              <a:buClr>
                <a:srgbClr val="D24726"/>
              </a:buClr>
              <a:buSzPct val="150000"/>
              <a:defRPr/>
            </a:pPr>
            <a:r>
              <a:rPr lang="es-AR" sz="2105" dirty="0"/>
              <a:t>Antes de volver de la interrupción, se retornan los valores de los registros auxiliares</a:t>
            </a:r>
          </a:p>
          <a:p>
            <a:r>
              <a:rPr lang="es-AR" sz="2105" dirty="0">
                <a:solidFill>
                  <a:srgbClr val="274DE7"/>
                </a:solidFill>
                <a:latin typeface="Consolas" panose="020B0609020204030204" pitchFamily="49" charset="0"/>
              </a:rPr>
              <a:t>	...</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AUXSTATUS,w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del STATUS</a:t>
            </a:r>
          </a:p>
          <a:p>
            <a:r>
              <a:rPr lang="es-AR" sz="2105" dirty="0">
                <a:solidFill>
                  <a:srgbClr val="274DE7"/>
                </a:solidFill>
                <a:latin typeface="Consolas" panose="020B0609020204030204" pitchFamily="49" charset="0"/>
              </a:rPr>
              <a:t>	movwf </a:t>
            </a:r>
            <a:r>
              <a:rPr lang="es-AR" sz="2105" dirty="0">
                <a:solidFill>
                  <a:srgbClr val="9E458A"/>
                </a:solidFill>
                <a:latin typeface="Consolas" panose="020B0609020204030204" pitchFamily="49" charset="0"/>
              </a:rPr>
              <a:t>STATUS</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movf</a:t>
            </a:r>
            <a:r>
              <a:rPr lang="es-AR" sz="2105" dirty="0">
                <a:solidFill>
                  <a:srgbClr val="274DE7"/>
                </a:solidFill>
                <a:latin typeface="Consolas" panose="020B0609020204030204" pitchFamily="49" charset="0"/>
              </a:rPr>
              <a:t>	</a:t>
            </a:r>
            <a:r>
              <a:rPr lang="es-AR" sz="2105" dirty="0" err="1">
                <a:solidFill>
                  <a:srgbClr val="9E458A"/>
                </a:solidFill>
                <a:latin typeface="Consolas" panose="020B0609020204030204" pitchFamily="49" charset="0"/>
              </a:rPr>
              <a:t>AUXW,w</a:t>
            </a:r>
            <a:r>
              <a:rPr lang="es-AR" sz="2105" dirty="0">
                <a:solidFill>
                  <a:srgbClr val="9E458A"/>
                </a:solidFill>
                <a:latin typeface="Consolas" panose="020B0609020204030204" pitchFamily="49" charset="0"/>
              </a:rPr>
              <a:t>       </a:t>
            </a:r>
            <a:r>
              <a:rPr lang="es-AR" sz="2105" dirty="0">
                <a:solidFill>
                  <a:schemeClr val="accent6"/>
                </a:solidFill>
                <a:latin typeface="Consolas" panose="020B0609020204030204" pitchFamily="49" charset="0"/>
              </a:rPr>
              <a:t>; regreso el valor de w</a:t>
            </a:r>
          </a:p>
          <a:p>
            <a:r>
              <a:rPr lang="es-AR" sz="2105" dirty="0">
                <a:solidFill>
                  <a:srgbClr val="274DE7"/>
                </a:solidFill>
                <a:latin typeface="Consolas" panose="020B0609020204030204" pitchFamily="49" charset="0"/>
              </a:rPr>
              <a:t>	</a:t>
            </a:r>
            <a:r>
              <a:rPr lang="es-AR" sz="2105" dirty="0" err="1">
                <a:solidFill>
                  <a:srgbClr val="274DE7"/>
                </a:solidFill>
                <a:latin typeface="Consolas" panose="020B0609020204030204" pitchFamily="49" charset="0"/>
              </a:rPr>
              <a:t>retfie</a:t>
            </a:r>
            <a:endParaRPr lang="es-AR" sz="2105" dirty="0">
              <a:solidFill>
                <a:schemeClr val="accent6"/>
              </a:solidFill>
              <a:latin typeface="Consolas" panose="020B0609020204030204" pitchFamily="49" charset="0"/>
            </a:endParaRPr>
          </a:p>
          <a:p>
            <a:endParaRPr lang="es-AR" sz="2105" dirty="0">
              <a:latin typeface="Consolas" panose="020B0609020204030204" pitchFamily="49" charset="0"/>
            </a:endParaRPr>
          </a:p>
          <a:p>
            <a:pPr marL="300758" indent="-300758" algn="just">
              <a:buClr>
                <a:srgbClr val="D24726"/>
              </a:buClr>
              <a:buSzPct val="150000"/>
              <a:defRPr/>
            </a:pPr>
            <a:endParaRPr lang="es-AR" sz="2105" dirty="0"/>
          </a:p>
        </p:txBody>
      </p:sp>
    </p:spTree>
    <p:extLst>
      <p:ext uri="{BB962C8B-B14F-4D97-AF65-F5344CB8AC3E}">
        <p14:creationId xmlns:p14="http://schemas.microsoft.com/office/powerpoint/2010/main" val="87507155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8" name="Marcador de contenido 2"/>
          <p:cNvSpPr>
            <a:spLocks noGrp="1"/>
          </p:cNvSpPr>
          <p:nvPr>
            <p:ph idx="1"/>
          </p:nvPr>
        </p:nvSpPr>
        <p:spPr>
          <a:xfrm>
            <a:off x="667387" y="2100640"/>
            <a:ext cx="9758678" cy="1030517"/>
          </a:xfrm>
        </p:spPr>
        <p:txBody>
          <a:bodyPr rtlCol="0">
            <a:normAutofit/>
          </a:bodyPr>
          <a:lstStyle/>
          <a:p>
            <a:pPr marL="300758" indent="-300758" algn="just">
              <a:buClr>
                <a:srgbClr val="D24726"/>
              </a:buClr>
              <a:buSzPct val="150000"/>
              <a:defRPr/>
            </a:pPr>
            <a:r>
              <a:rPr lang="es-AR" sz="2105" dirty="0"/>
              <a:t>Un display de 7 segmentos esta compuesto por LEDS controlados por distintos terminales identificados de la letra “a” a la letra “g”, como se indica a continuación:</a:t>
            </a:r>
          </a:p>
        </p:txBody>
      </p:sp>
      <p:pic>
        <p:nvPicPr>
          <p:cNvPr id="3" name="Imagen 2"/>
          <p:cNvPicPr>
            <a:picLocks noChangeAspect="1"/>
          </p:cNvPicPr>
          <p:nvPr/>
        </p:nvPicPr>
        <p:blipFill rotWithShape="1">
          <a:blip r:embed="rId2"/>
          <a:srcRect t="9385" b="7434"/>
          <a:stretch/>
        </p:blipFill>
        <p:spPr>
          <a:xfrm>
            <a:off x="1303450" y="3399201"/>
            <a:ext cx="2431078" cy="2960343"/>
          </a:xfrm>
          <a:prstGeom prst="rect">
            <a:avLst/>
          </a:prstGeom>
        </p:spPr>
      </p:pic>
      <p:sp>
        <p:nvSpPr>
          <p:cNvPr id="5" name="Marcador de contenido 2"/>
          <p:cNvSpPr txBox="1">
            <a:spLocks/>
          </p:cNvSpPr>
          <p:nvPr/>
        </p:nvSpPr>
        <p:spPr bwMode="auto">
          <a:xfrm>
            <a:off x="3734528" y="3399200"/>
            <a:ext cx="6555813" cy="2296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Suponiendo que los segmentos se encienden con uno, para formar el número 3 debería enviar un 1 a aquellos puertos conectados con los terminales “a”, “b”, “c”, “d” y “g”</a:t>
            </a:r>
          </a:p>
        </p:txBody>
      </p:sp>
    </p:spTree>
    <p:extLst>
      <p:ext uri="{BB962C8B-B14F-4D97-AF65-F5344CB8AC3E}">
        <p14:creationId xmlns:p14="http://schemas.microsoft.com/office/powerpoint/2010/main" val="388517296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8" name="Marcador de contenido 2"/>
          <p:cNvSpPr>
            <a:spLocks noGrp="1"/>
          </p:cNvSpPr>
          <p:nvPr>
            <p:ph idx="1"/>
          </p:nvPr>
        </p:nvSpPr>
        <p:spPr>
          <a:xfrm>
            <a:off x="667387" y="2100640"/>
            <a:ext cx="9758678" cy="989455"/>
          </a:xfrm>
        </p:spPr>
        <p:txBody>
          <a:bodyPr rtlCol="0">
            <a:normAutofit/>
          </a:bodyPr>
          <a:lstStyle/>
          <a:p>
            <a:pPr marL="300758" indent="-300758" algn="just">
              <a:buClr>
                <a:srgbClr val="D24726"/>
              </a:buClr>
              <a:buSzPct val="150000"/>
              <a:defRPr/>
            </a:pPr>
            <a:r>
              <a:rPr lang="es-AR" sz="1930" dirty="0"/>
              <a:t>En todos los ejercicios, los segmentos del display estarán al Puerto B (RB1-RB7). Entonces, los números se formarían de la siguiente manera:</a:t>
            </a:r>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marL="300758" indent="-300758" algn="just">
              <a:buClr>
                <a:srgbClr val="D24726"/>
              </a:buClr>
              <a:buSzPct val="150000"/>
              <a:defRPr/>
            </a:pPr>
            <a:endParaRPr lang="es-AR" sz="2105" dirty="0"/>
          </a:p>
          <a:p>
            <a:pPr algn="just" eaLnBrk="1" fontAlgn="auto" hangingPunct="1">
              <a:buClr>
                <a:srgbClr val="D24726"/>
              </a:buClr>
              <a:buSzPct val="150000"/>
              <a:defRPr/>
            </a:pPr>
            <a:endParaRPr lang="es-AR" sz="2105" dirty="0"/>
          </a:p>
        </p:txBody>
      </p:sp>
      <p:graphicFrame>
        <p:nvGraphicFramePr>
          <p:cNvPr id="10" name="Tabla 9"/>
          <p:cNvGraphicFramePr>
            <a:graphicFrameLocks noGrp="1"/>
          </p:cNvGraphicFramePr>
          <p:nvPr/>
        </p:nvGraphicFramePr>
        <p:xfrm>
          <a:off x="1750483" y="2842418"/>
          <a:ext cx="7511491" cy="3903096"/>
        </p:xfrm>
        <a:graphic>
          <a:graphicData uri="http://schemas.openxmlformats.org/drawingml/2006/table">
            <a:tbl>
              <a:tblPr firstRow="1" bandRow="1">
                <a:tableStyleId>{5DA37D80-6434-44D0-A028-1B22A696006F}</a:tableStyleId>
              </a:tblPr>
              <a:tblGrid>
                <a:gridCol w="1174659">
                  <a:extLst>
                    <a:ext uri="{9D8B030D-6E8A-4147-A177-3AD203B41FA5}">
                      <a16:colId xmlns:a16="http://schemas.microsoft.com/office/drawing/2014/main" val="20000"/>
                    </a:ext>
                  </a:extLst>
                </a:gridCol>
                <a:gridCol w="792104">
                  <a:extLst>
                    <a:ext uri="{9D8B030D-6E8A-4147-A177-3AD203B41FA5}">
                      <a16:colId xmlns:a16="http://schemas.microsoft.com/office/drawing/2014/main" val="20001"/>
                    </a:ext>
                  </a:extLst>
                </a:gridCol>
                <a:gridCol w="792104">
                  <a:extLst>
                    <a:ext uri="{9D8B030D-6E8A-4147-A177-3AD203B41FA5}">
                      <a16:colId xmlns:a16="http://schemas.microsoft.com/office/drawing/2014/main" val="20002"/>
                    </a:ext>
                  </a:extLst>
                </a:gridCol>
                <a:gridCol w="792104">
                  <a:extLst>
                    <a:ext uri="{9D8B030D-6E8A-4147-A177-3AD203B41FA5}">
                      <a16:colId xmlns:a16="http://schemas.microsoft.com/office/drawing/2014/main" val="20003"/>
                    </a:ext>
                  </a:extLst>
                </a:gridCol>
                <a:gridCol w="792104">
                  <a:extLst>
                    <a:ext uri="{9D8B030D-6E8A-4147-A177-3AD203B41FA5}">
                      <a16:colId xmlns:a16="http://schemas.microsoft.com/office/drawing/2014/main" val="20004"/>
                    </a:ext>
                  </a:extLst>
                </a:gridCol>
                <a:gridCol w="792104">
                  <a:extLst>
                    <a:ext uri="{9D8B030D-6E8A-4147-A177-3AD203B41FA5}">
                      <a16:colId xmlns:a16="http://schemas.microsoft.com/office/drawing/2014/main" val="20005"/>
                    </a:ext>
                  </a:extLst>
                </a:gridCol>
                <a:gridCol w="792104">
                  <a:extLst>
                    <a:ext uri="{9D8B030D-6E8A-4147-A177-3AD203B41FA5}">
                      <a16:colId xmlns:a16="http://schemas.microsoft.com/office/drawing/2014/main" val="20006"/>
                    </a:ext>
                  </a:extLst>
                </a:gridCol>
                <a:gridCol w="792104">
                  <a:extLst>
                    <a:ext uri="{9D8B030D-6E8A-4147-A177-3AD203B41FA5}">
                      <a16:colId xmlns:a16="http://schemas.microsoft.com/office/drawing/2014/main" val="20007"/>
                    </a:ext>
                  </a:extLst>
                </a:gridCol>
                <a:gridCol w="792104">
                  <a:extLst>
                    <a:ext uri="{9D8B030D-6E8A-4147-A177-3AD203B41FA5}">
                      <a16:colId xmlns:a16="http://schemas.microsoft.com/office/drawing/2014/main" val="20008"/>
                    </a:ext>
                  </a:extLst>
                </a:gridCol>
              </a:tblGrid>
              <a:tr h="325258">
                <a:tc>
                  <a:txBody>
                    <a:bodyPr/>
                    <a:lstStyle/>
                    <a:p>
                      <a:r>
                        <a:rPr lang="es-AR" sz="1600" dirty="0"/>
                        <a:t>Segmento</a:t>
                      </a:r>
                      <a:endParaRPr lang="es-AR" sz="1600" b="1" dirty="0"/>
                    </a:p>
                  </a:txBody>
                  <a:tcPr marL="80201" marR="80201" marT="40100" marB="40100"/>
                </a:tc>
                <a:tc>
                  <a:txBody>
                    <a:bodyPr/>
                    <a:lstStyle/>
                    <a:p>
                      <a:pPr algn="ctr"/>
                      <a:r>
                        <a:rPr lang="es-AR" sz="1600" dirty="0"/>
                        <a:t>g</a:t>
                      </a:r>
                      <a:endParaRPr lang="es-AR" sz="1600" b="1" dirty="0"/>
                    </a:p>
                  </a:txBody>
                  <a:tcPr marL="80201" marR="80201" marT="40100" marB="40100"/>
                </a:tc>
                <a:tc>
                  <a:txBody>
                    <a:bodyPr/>
                    <a:lstStyle/>
                    <a:p>
                      <a:pPr algn="ctr"/>
                      <a:r>
                        <a:rPr lang="es-AR" sz="1600" dirty="0"/>
                        <a:t>f</a:t>
                      </a:r>
                      <a:endParaRPr lang="es-AR" sz="1600" b="1" dirty="0"/>
                    </a:p>
                  </a:txBody>
                  <a:tcPr marL="80201" marR="80201" marT="40100" marB="40100"/>
                </a:tc>
                <a:tc>
                  <a:txBody>
                    <a:bodyPr/>
                    <a:lstStyle/>
                    <a:p>
                      <a:pPr algn="ctr"/>
                      <a:r>
                        <a:rPr lang="es-AR" sz="1600" dirty="0"/>
                        <a:t>e</a:t>
                      </a:r>
                      <a:endParaRPr lang="es-AR" sz="1600" b="1" dirty="0"/>
                    </a:p>
                  </a:txBody>
                  <a:tcPr marL="80201" marR="80201" marT="40100" marB="40100"/>
                </a:tc>
                <a:tc>
                  <a:txBody>
                    <a:bodyPr/>
                    <a:lstStyle/>
                    <a:p>
                      <a:pPr algn="ctr"/>
                      <a:r>
                        <a:rPr lang="es-AR" sz="1600" dirty="0"/>
                        <a:t>d</a:t>
                      </a:r>
                      <a:endParaRPr lang="es-AR" sz="1600" b="1" dirty="0"/>
                    </a:p>
                  </a:txBody>
                  <a:tcPr marL="80201" marR="80201" marT="40100" marB="40100"/>
                </a:tc>
                <a:tc>
                  <a:txBody>
                    <a:bodyPr/>
                    <a:lstStyle/>
                    <a:p>
                      <a:pPr algn="ctr"/>
                      <a:r>
                        <a:rPr lang="es-AR" sz="1600" dirty="0"/>
                        <a:t>c</a:t>
                      </a:r>
                      <a:endParaRPr lang="es-AR" sz="1600" b="1" dirty="0"/>
                    </a:p>
                  </a:txBody>
                  <a:tcPr marL="80201" marR="80201" marT="40100" marB="40100"/>
                </a:tc>
                <a:tc>
                  <a:txBody>
                    <a:bodyPr/>
                    <a:lstStyle/>
                    <a:p>
                      <a:pPr algn="ctr"/>
                      <a:r>
                        <a:rPr lang="es-AR" sz="1600" dirty="0"/>
                        <a:t>b</a:t>
                      </a:r>
                      <a:endParaRPr lang="es-AR" sz="1600" b="1" dirty="0"/>
                    </a:p>
                  </a:txBody>
                  <a:tcPr marL="80201" marR="80201" marT="40100" marB="40100"/>
                </a:tc>
                <a:tc>
                  <a:txBody>
                    <a:bodyPr/>
                    <a:lstStyle/>
                    <a:p>
                      <a:pPr algn="ctr"/>
                      <a:r>
                        <a:rPr lang="es-AR" sz="1600" dirty="0"/>
                        <a:t>a</a:t>
                      </a:r>
                      <a:endParaRPr lang="es-AR" sz="1600" b="1" dirty="0"/>
                    </a:p>
                  </a:txBody>
                  <a:tcPr marL="80201" marR="80201" marT="40100" marB="40100"/>
                </a:tc>
                <a:tc>
                  <a:txBody>
                    <a:bodyPr/>
                    <a:lstStyle/>
                    <a:p>
                      <a:pPr algn="ctr"/>
                      <a:r>
                        <a:rPr lang="es-AR" sz="1600" dirty="0"/>
                        <a:t>-</a:t>
                      </a:r>
                      <a:endParaRPr lang="es-AR" sz="1600" b="1" dirty="0"/>
                    </a:p>
                  </a:txBody>
                  <a:tcPr marL="80201" marR="80201" marT="40100" marB="40100"/>
                </a:tc>
                <a:extLst>
                  <a:ext uri="{0D108BD9-81ED-4DB2-BD59-A6C34878D82A}">
                    <a16:rowId xmlns:a16="http://schemas.microsoft.com/office/drawing/2014/main" val="10000"/>
                  </a:ext>
                </a:extLst>
              </a:tr>
              <a:tr h="325258">
                <a:tc>
                  <a:txBody>
                    <a:bodyPr/>
                    <a:lstStyle/>
                    <a:p>
                      <a:r>
                        <a:rPr lang="es-AR" sz="1600" b="1" dirty="0"/>
                        <a:t>Puerto B</a:t>
                      </a:r>
                    </a:p>
                  </a:txBody>
                  <a:tcPr marL="80201" marR="80201" marT="40100" marB="40100"/>
                </a:tc>
                <a:tc>
                  <a:txBody>
                    <a:bodyPr/>
                    <a:lstStyle/>
                    <a:p>
                      <a:pPr algn="ctr"/>
                      <a:r>
                        <a:rPr lang="es-AR" sz="1600" b="1" dirty="0"/>
                        <a:t>RB7</a:t>
                      </a:r>
                    </a:p>
                  </a:txBody>
                  <a:tcPr marL="80201" marR="80201" marT="40100" marB="40100"/>
                </a:tc>
                <a:tc>
                  <a:txBody>
                    <a:bodyPr/>
                    <a:lstStyle/>
                    <a:p>
                      <a:pPr algn="ctr"/>
                      <a:r>
                        <a:rPr lang="es-AR" sz="1600" b="1" dirty="0"/>
                        <a:t>RB6</a:t>
                      </a:r>
                    </a:p>
                  </a:txBody>
                  <a:tcPr marL="80201" marR="80201" marT="40100" marB="40100"/>
                </a:tc>
                <a:tc>
                  <a:txBody>
                    <a:bodyPr/>
                    <a:lstStyle/>
                    <a:p>
                      <a:pPr algn="ctr"/>
                      <a:r>
                        <a:rPr lang="es-AR" sz="1600" b="1" dirty="0"/>
                        <a:t>RB5</a:t>
                      </a:r>
                    </a:p>
                  </a:txBody>
                  <a:tcPr marL="80201" marR="80201" marT="40100" marB="40100"/>
                </a:tc>
                <a:tc>
                  <a:txBody>
                    <a:bodyPr/>
                    <a:lstStyle/>
                    <a:p>
                      <a:pPr algn="ctr"/>
                      <a:r>
                        <a:rPr lang="es-AR" sz="1600" b="1" dirty="0"/>
                        <a:t>RB4</a:t>
                      </a:r>
                    </a:p>
                  </a:txBody>
                  <a:tcPr marL="80201" marR="80201" marT="40100" marB="40100"/>
                </a:tc>
                <a:tc>
                  <a:txBody>
                    <a:bodyPr/>
                    <a:lstStyle/>
                    <a:p>
                      <a:pPr algn="ctr"/>
                      <a:r>
                        <a:rPr lang="es-AR" sz="1600" b="1" dirty="0"/>
                        <a:t>RB3</a:t>
                      </a:r>
                    </a:p>
                  </a:txBody>
                  <a:tcPr marL="80201" marR="80201" marT="40100" marB="40100"/>
                </a:tc>
                <a:tc>
                  <a:txBody>
                    <a:bodyPr/>
                    <a:lstStyle/>
                    <a:p>
                      <a:pPr algn="ctr"/>
                      <a:r>
                        <a:rPr lang="es-AR" sz="1600" b="1" dirty="0"/>
                        <a:t>RB2</a:t>
                      </a:r>
                    </a:p>
                  </a:txBody>
                  <a:tcPr marL="80201" marR="80201" marT="40100" marB="40100"/>
                </a:tc>
                <a:tc>
                  <a:txBody>
                    <a:bodyPr/>
                    <a:lstStyle/>
                    <a:p>
                      <a:pPr algn="ctr"/>
                      <a:r>
                        <a:rPr lang="es-AR" sz="1600" b="1" dirty="0"/>
                        <a:t>RB1</a:t>
                      </a:r>
                    </a:p>
                  </a:txBody>
                  <a:tcPr marL="80201" marR="80201" marT="40100" marB="40100"/>
                </a:tc>
                <a:tc>
                  <a:txBody>
                    <a:bodyPr/>
                    <a:lstStyle/>
                    <a:p>
                      <a:pPr algn="ctr"/>
                      <a:r>
                        <a:rPr lang="es-AR" sz="1600" b="1" dirty="0"/>
                        <a:t>RB0</a:t>
                      </a:r>
                    </a:p>
                  </a:txBody>
                  <a:tcPr marL="80201" marR="80201" marT="40100" marB="40100"/>
                </a:tc>
                <a:extLst>
                  <a:ext uri="{0D108BD9-81ED-4DB2-BD59-A6C34878D82A}">
                    <a16:rowId xmlns:a16="http://schemas.microsoft.com/office/drawing/2014/main" val="10001"/>
                  </a:ext>
                </a:extLst>
              </a:tr>
              <a:tr h="325258">
                <a:tc>
                  <a:txBody>
                    <a:bodyPr/>
                    <a:lstStyle/>
                    <a:p>
                      <a:pPr algn="ctr"/>
                      <a:r>
                        <a:rPr lang="es-AR" sz="1600" b="1"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2"/>
                  </a:ext>
                </a:extLst>
              </a:tr>
              <a:tr h="325258">
                <a:tc>
                  <a:txBody>
                    <a:bodyPr/>
                    <a:lstStyle/>
                    <a:p>
                      <a:pPr algn="ctr"/>
                      <a:r>
                        <a:rPr lang="es-AR" sz="1600" b="1"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3"/>
                  </a:ext>
                </a:extLst>
              </a:tr>
              <a:tr h="325258">
                <a:tc>
                  <a:txBody>
                    <a:bodyPr/>
                    <a:lstStyle/>
                    <a:p>
                      <a:pPr algn="ctr"/>
                      <a:r>
                        <a:rPr lang="es-AR" sz="1600" b="1" dirty="0"/>
                        <a:t>2</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4"/>
                  </a:ext>
                </a:extLst>
              </a:tr>
              <a:tr h="325258">
                <a:tc>
                  <a:txBody>
                    <a:bodyPr/>
                    <a:lstStyle/>
                    <a:p>
                      <a:pPr algn="ctr"/>
                      <a:r>
                        <a:rPr lang="es-AR" sz="1600" b="1" dirty="0"/>
                        <a:t>3</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5"/>
                  </a:ext>
                </a:extLst>
              </a:tr>
              <a:tr h="325258">
                <a:tc>
                  <a:txBody>
                    <a:bodyPr/>
                    <a:lstStyle/>
                    <a:p>
                      <a:pPr algn="ctr"/>
                      <a:r>
                        <a:rPr lang="es-AR" sz="1600" b="1" dirty="0"/>
                        <a:t>4</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6"/>
                  </a:ext>
                </a:extLst>
              </a:tr>
              <a:tr h="325258">
                <a:tc>
                  <a:txBody>
                    <a:bodyPr/>
                    <a:lstStyle/>
                    <a:p>
                      <a:pPr algn="ctr"/>
                      <a:r>
                        <a:rPr lang="es-AR" sz="1600" b="1" dirty="0"/>
                        <a:t>5</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7"/>
                  </a:ext>
                </a:extLst>
              </a:tr>
              <a:tr h="325258">
                <a:tc>
                  <a:txBody>
                    <a:bodyPr/>
                    <a:lstStyle/>
                    <a:p>
                      <a:pPr algn="ctr"/>
                      <a:r>
                        <a:rPr lang="es-AR" sz="1600" b="1" dirty="0"/>
                        <a:t>6</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8"/>
                  </a:ext>
                </a:extLst>
              </a:tr>
              <a:tr h="325258">
                <a:tc>
                  <a:txBody>
                    <a:bodyPr/>
                    <a:lstStyle/>
                    <a:p>
                      <a:pPr algn="ctr"/>
                      <a:r>
                        <a:rPr lang="es-AR" sz="1600" b="1" dirty="0"/>
                        <a:t>7</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09"/>
                  </a:ext>
                </a:extLst>
              </a:tr>
              <a:tr h="325258">
                <a:tc>
                  <a:txBody>
                    <a:bodyPr/>
                    <a:lstStyle/>
                    <a:p>
                      <a:pPr algn="ctr"/>
                      <a:r>
                        <a:rPr lang="es-AR" sz="1600" b="1" dirty="0"/>
                        <a:t>8</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10"/>
                  </a:ext>
                </a:extLst>
              </a:tr>
              <a:tr h="325258">
                <a:tc>
                  <a:txBody>
                    <a:bodyPr/>
                    <a:lstStyle/>
                    <a:p>
                      <a:pPr algn="ctr"/>
                      <a:r>
                        <a:rPr lang="es-AR" sz="1600" b="1" dirty="0"/>
                        <a:t>9</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0</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1</a:t>
                      </a:r>
                    </a:p>
                  </a:txBody>
                  <a:tcPr marL="80201" marR="80201" marT="40100" marB="40100"/>
                </a:tc>
                <a:tc>
                  <a:txBody>
                    <a:bodyPr/>
                    <a:lstStyle/>
                    <a:p>
                      <a:pPr algn="ctr"/>
                      <a:r>
                        <a:rPr lang="es-AR" sz="1600" dirty="0"/>
                        <a:t>X</a:t>
                      </a:r>
                    </a:p>
                  </a:txBody>
                  <a:tcPr marL="80201" marR="80201" marT="40100" marB="40100"/>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28896784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6" name="Marcador de contenido 2"/>
          <p:cNvSpPr txBox="1">
            <a:spLocks/>
          </p:cNvSpPr>
          <p:nvPr/>
        </p:nvSpPr>
        <p:spPr bwMode="auto">
          <a:xfrm>
            <a:off x="364845" y="2938031"/>
            <a:ext cx="9758678" cy="270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00758" indent="-300758" algn="just" eaLnBrk="1" fontAlgn="auto" hangingPunct="1">
              <a:buClr>
                <a:srgbClr val="D24726"/>
              </a:buClr>
              <a:buSzPct val="150000"/>
              <a:buFont typeface="Arial" panose="020B0604020202020204" pitchFamily="34" charset="0"/>
              <a:buChar char="•"/>
              <a:defRPr/>
            </a:pPr>
            <a:r>
              <a:rPr lang="es-AR" sz="2105" dirty="0">
                <a:solidFill>
                  <a:schemeClr val="tx1"/>
                </a:solidFill>
              </a:rPr>
              <a:t>De la tabla anterior puede verse que no existe una lógica matemática que nos permita hacer un pasaje sencillo de un número en binario a su representación en el display (Por ejemplo “00000010” a “10110110”).  Para este tipo de problemas se implementan tablas utilizando el contador de programa (PCL) y una instrucción especial llamada “RETLW”.</a:t>
            </a:r>
          </a:p>
          <a:p>
            <a:pPr marL="300758" indent="-300758" eaLnBrk="1" fontAlgn="auto" hangingPunct="1">
              <a:buClr>
                <a:srgbClr val="D24726"/>
              </a:buClr>
              <a:buSzPct val="150000"/>
              <a:buFont typeface="Arial" panose="020B0604020202020204" pitchFamily="34" charset="0"/>
              <a:buChar char="•"/>
              <a:defRPr/>
            </a:pPr>
            <a:endParaRPr lang="es-AR" sz="2105" dirty="0">
              <a:solidFill>
                <a:schemeClr val="tx1"/>
              </a:solidFill>
            </a:endParaRPr>
          </a:p>
        </p:txBody>
      </p:sp>
    </p:spTree>
    <p:extLst>
      <p:ext uri="{BB962C8B-B14F-4D97-AF65-F5344CB8AC3E}">
        <p14:creationId xmlns:p14="http://schemas.microsoft.com/office/powerpoint/2010/main" val="121732607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AR" dirty="0"/>
              <a:t>Ejercicio 3: Manejo de </a:t>
            </a:r>
            <a:r>
              <a:rPr lang="es-AR" dirty="0" err="1"/>
              <a:t>Displays</a:t>
            </a:r>
            <a:endParaRPr lang="es-AR" dirty="0"/>
          </a:p>
        </p:txBody>
      </p:sp>
      <p:sp>
        <p:nvSpPr>
          <p:cNvPr id="4" name="Marcador de contenido 2"/>
          <p:cNvSpPr txBox="1">
            <a:spLocks/>
          </p:cNvSpPr>
          <p:nvPr/>
        </p:nvSpPr>
        <p:spPr bwMode="auto">
          <a:xfrm>
            <a:off x="5719233" y="2159609"/>
            <a:ext cx="4238996" cy="446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0201" tIns="40100" rIns="80201" bIns="40100" numCol="1" rtlCol="0" anchor="t" anchorCtr="0" compatLnSpc="1">
            <a:prstTxWarp prst="textNoShape">
              <a:avLst/>
            </a:prstTxWarp>
            <a:normAutofit/>
          </a:bodyPr>
          <a:lstStyle>
            <a:lvl1pPr marL="0" indent="0" algn="l" rtl="0" eaLnBrk="0" fontAlgn="base" hangingPunct="0">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rtl="0" eaLnBrk="0" fontAlgn="base" hangingPunct="0">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rtl="0" eaLnBrk="0" fontAlgn="base" hangingPunct="0">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rtl="0" eaLnBrk="0" fontAlgn="base" hangingPunct="0">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algn="just">
              <a:lnSpc>
                <a:spcPct val="120000"/>
              </a:lnSpc>
              <a:spcBef>
                <a:spcPts val="526"/>
              </a:spcBef>
              <a:spcAft>
                <a:spcPts val="526"/>
              </a:spcAft>
            </a:pPr>
            <a:r>
              <a:rPr lang="es-AR" sz="1754" dirty="0">
                <a:solidFill>
                  <a:schemeClr val="tx1"/>
                </a:solidFill>
              </a:rPr>
              <a:t>Supongamos que en alguna parte del programa principal estamos utilizando un contador que guarda un valor en w (</a:t>
            </a:r>
            <a:r>
              <a:rPr lang="es-AR" sz="1754" dirty="0" err="1">
                <a:solidFill>
                  <a:schemeClr val="tx1"/>
                </a:solidFill>
              </a:rPr>
              <a:t>ej</a:t>
            </a:r>
            <a:r>
              <a:rPr lang="es-AR" sz="1754" dirty="0">
                <a:solidFill>
                  <a:schemeClr val="tx1"/>
                </a:solidFill>
              </a:rPr>
              <a:t>: 2):</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inicio				</a:t>
            </a: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r>
              <a:rPr lang="es-AR" sz="1754" dirty="0">
                <a:solidFill>
                  <a:srgbClr val="274DE7"/>
                </a:solidFill>
                <a:latin typeface="Consolas" panose="020B0609020204030204" pitchFamily="49" charset="0"/>
              </a:rPr>
              <a:t>	</a:t>
            </a:r>
            <a:r>
              <a:rPr lang="es-AR" sz="1754" dirty="0" err="1">
                <a:solidFill>
                  <a:srgbClr val="274DE7"/>
                </a:solidFill>
                <a:latin typeface="Consolas" panose="020B0609020204030204" pitchFamily="49" charset="0"/>
              </a:rPr>
              <a:t>movf</a:t>
            </a:r>
            <a:r>
              <a:rPr lang="es-AR" sz="1754" dirty="0">
                <a:solidFill>
                  <a:srgbClr val="274DE7"/>
                </a:solidFill>
                <a:latin typeface="Consolas" panose="020B0609020204030204" pitchFamily="49" charset="0"/>
              </a:rPr>
              <a:t>	</a:t>
            </a:r>
            <a:r>
              <a:rPr lang="es-AR" sz="1754" dirty="0">
                <a:solidFill>
                  <a:srgbClr val="9E458A"/>
                </a:solidFill>
                <a:latin typeface="Consolas" panose="020B0609020204030204" pitchFamily="49" charset="0"/>
              </a:rPr>
              <a:t>unidad, w</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call 	</a:t>
            </a:r>
            <a:r>
              <a:rPr lang="es-AR" sz="1754" dirty="0" err="1">
                <a:solidFill>
                  <a:srgbClr val="9E458A"/>
                </a:solidFill>
                <a:latin typeface="Consolas" panose="020B0609020204030204" pitchFamily="49" charset="0"/>
              </a:rPr>
              <a:t>tabla_display</a:t>
            </a:r>
            <a:r>
              <a:rPr lang="es-AR" sz="1754" dirty="0">
                <a:solidFill>
                  <a:srgbClr val="274DE7"/>
                </a:solidFill>
                <a:latin typeface="Consolas" panose="020B0609020204030204" pitchFamily="49" charset="0"/>
              </a:rPr>
              <a:t>	</a:t>
            </a:r>
          </a:p>
          <a:p>
            <a:pPr>
              <a:lnSpc>
                <a:spcPct val="120000"/>
              </a:lnSpc>
              <a:spcBef>
                <a:spcPts val="526"/>
              </a:spcBef>
              <a:spcAft>
                <a:spcPts val="526"/>
              </a:spcAft>
            </a:pPr>
            <a:r>
              <a:rPr lang="es-AR" sz="1754" dirty="0">
                <a:solidFill>
                  <a:srgbClr val="274DE7"/>
                </a:solidFill>
                <a:latin typeface="Consolas" panose="020B0609020204030204" pitchFamily="49" charset="0"/>
              </a:rPr>
              <a:t>	movwf 	</a:t>
            </a:r>
            <a:r>
              <a:rPr lang="es-AR" sz="1754" dirty="0">
                <a:solidFill>
                  <a:srgbClr val="9E458A"/>
                </a:solidFill>
                <a:latin typeface="Consolas" panose="020B0609020204030204" pitchFamily="49" charset="0"/>
              </a:rPr>
              <a:t>PORTB</a:t>
            </a:r>
            <a:endParaRPr lang="es-AR" sz="1754" dirty="0">
              <a:solidFill>
                <a:srgbClr val="274DE7"/>
              </a:solidFill>
              <a:latin typeface="Consolas" panose="020B0609020204030204" pitchFamily="49" charset="0"/>
            </a:endParaRPr>
          </a:p>
          <a:p>
            <a:pPr>
              <a:lnSpc>
                <a:spcPct val="120000"/>
              </a:lnSpc>
              <a:spcBef>
                <a:spcPts val="526"/>
              </a:spcBef>
              <a:spcAft>
                <a:spcPts val="526"/>
              </a:spcAft>
            </a:pPr>
            <a:r>
              <a:rPr lang="es-AR" sz="1754" dirty="0">
                <a:solidFill>
                  <a:srgbClr val="274DE7"/>
                </a:solidFill>
                <a:latin typeface="Consolas" panose="020B0609020204030204" pitchFamily="49" charset="0"/>
              </a:rPr>
              <a:t>	. . .</a:t>
            </a:r>
          </a:p>
          <a:p>
            <a:pPr>
              <a:lnSpc>
                <a:spcPct val="120000"/>
              </a:lnSpc>
              <a:spcBef>
                <a:spcPts val="526"/>
              </a:spcBef>
              <a:spcAft>
                <a:spcPts val="526"/>
              </a:spcAft>
            </a:pPr>
            <a:endParaRPr lang="es-AR" sz="1754"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solidFill>
                <a:srgbClr val="274DE7"/>
              </a:solidFill>
              <a:latin typeface="Consolas" panose="020B0609020204030204" pitchFamily="49" charset="0"/>
            </a:endParaRPr>
          </a:p>
          <a:p>
            <a:pPr>
              <a:lnSpc>
                <a:spcPct val="120000"/>
              </a:lnSpc>
              <a:spcBef>
                <a:spcPts val="526"/>
              </a:spcBef>
              <a:spcAft>
                <a:spcPts val="526"/>
              </a:spcAft>
            </a:pPr>
            <a:endParaRPr lang="es-AR" sz="2105" dirty="0">
              <a:latin typeface="Consolas" panose="020B0609020204030204" pitchFamily="49" charset="0"/>
            </a:endParaRPr>
          </a:p>
        </p:txBody>
      </p:sp>
      <p:sp>
        <p:nvSpPr>
          <p:cNvPr id="3" name="Llamada con línea 1 2"/>
          <p:cNvSpPr/>
          <p:nvPr/>
        </p:nvSpPr>
        <p:spPr>
          <a:xfrm>
            <a:off x="8897103" y="3798026"/>
            <a:ext cx="1225645" cy="483065"/>
          </a:xfrm>
          <a:prstGeom prst="borderCallout1">
            <a:avLst>
              <a:gd name="adj1" fmla="val 104163"/>
              <a:gd name="adj2" fmla="val 29512"/>
              <a:gd name="adj3" fmla="val 183171"/>
              <a:gd name="adj4" fmla="val -30285"/>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579" dirty="0">
                <a:ln w="0"/>
                <a:solidFill>
                  <a:schemeClr val="tx1"/>
                </a:solidFill>
                <a:effectLst>
                  <a:outerShdw blurRad="38100" dist="19050" dir="2700000" algn="tl" rotWithShape="0">
                    <a:schemeClr val="dk1">
                      <a:alpha val="40000"/>
                    </a:schemeClr>
                  </a:outerShdw>
                </a:effectLst>
              </a:rPr>
              <a:t>w=2 (00000010)</a:t>
            </a:r>
          </a:p>
        </p:txBody>
      </p:sp>
      <p:sp>
        <p:nvSpPr>
          <p:cNvPr id="15" name="Marcador de contenido 2"/>
          <p:cNvSpPr>
            <a:spLocks noGrp="1"/>
          </p:cNvSpPr>
          <p:nvPr>
            <p:ph idx="1"/>
          </p:nvPr>
        </p:nvSpPr>
        <p:spPr>
          <a:xfrm>
            <a:off x="604434" y="1581710"/>
            <a:ext cx="4833060" cy="5045605"/>
          </a:xfrm>
        </p:spPr>
        <p:txBody>
          <a:bodyPr rtlCol="0">
            <a:normAutofit fontScale="70000" lnSpcReduction="20000"/>
          </a:bodyPr>
          <a:lstStyle/>
          <a:p>
            <a:pPr marL="0" indent="0">
              <a:lnSpc>
                <a:spcPct val="120000"/>
              </a:lnSpc>
              <a:spcBef>
                <a:spcPts val="600"/>
              </a:spcBef>
              <a:spcAft>
                <a:spcPts val="600"/>
              </a:spcAft>
              <a:buNone/>
            </a:pPr>
            <a:r>
              <a:rPr lang="es-AR" sz="2400" dirty="0" err="1">
                <a:solidFill>
                  <a:srgbClr val="274DE7"/>
                </a:solidFill>
                <a:latin typeface="Consolas" panose="020B0609020204030204" pitchFamily="49" charset="0"/>
              </a:rPr>
              <a:t>tabla_display</a:t>
            </a:r>
            <a:r>
              <a:rPr lang="es-AR" sz="2400" dirty="0">
                <a:solidFill>
                  <a:srgbClr val="274DE7"/>
                </a:solidFill>
                <a:latin typeface="Consolas" panose="020B0609020204030204" pitchFamily="49" charset="0"/>
              </a:rPr>
              <a:t>				</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addwf</a:t>
            </a:r>
            <a:r>
              <a:rPr lang="es-AR" sz="2400" dirty="0">
                <a:solidFill>
                  <a:srgbClr val="274DE7"/>
                </a:solidFill>
                <a:latin typeface="Consolas" panose="020B0609020204030204" pitchFamily="49" charset="0"/>
              </a:rPr>
              <a:t> 	</a:t>
            </a:r>
            <a:r>
              <a:rPr lang="es-AR" sz="2400" dirty="0" err="1">
                <a:solidFill>
                  <a:srgbClr val="9E458A"/>
                </a:solidFill>
                <a:latin typeface="Consolas" panose="020B0609020204030204" pitchFamily="49" charset="0"/>
              </a:rPr>
              <a:t>PCL,f</a:t>
            </a:r>
            <a:endParaRPr lang="es-AR" sz="2400" dirty="0">
              <a:solidFill>
                <a:srgbClr val="9E458A"/>
              </a:solidFill>
              <a:latin typeface="Consolas" panose="020B0609020204030204" pitchFamily="49" charset="0"/>
            </a:endParaRP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b'01111110'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b'00001100'		</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b'10110110'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b'10011110'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b'11001100'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b'11011010'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b'11111010'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b'00001110'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b'11111110'</a:t>
            </a:r>
          </a:p>
          <a:p>
            <a:pPr marL="0" indent="0">
              <a:lnSpc>
                <a:spcPct val="120000"/>
              </a:lnSpc>
              <a:spcBef>
                <a:spcPts val="600"/>
              </a:spcBef>
              <a:spcAft>
                <a:spcPts val="600"/>
              </a:spcAft>
              <a:buNone/>
            </a:pPr>
            <a:r>
              <a:rPr lang="es-AR" sz="2400" dirty="0">
                <a:solidFill>
                  <a:srgbClr val="274DE7"/>
                </a:solidFill>
                <a:latin typeface="Consolas" panose="020B0609020204030204" pitchFamily="49" charset="0"/>
              </a:rPr>
              <a:t>	</a:t>
            </a:r>
            <a:r>
              <a:rPr lang="es-AR" sz="2400" dirty="0" err="1">
                <a:solidFill>
                  <a:srgbClr val="274DE7"/>
                </a:solidFill>
                <a:latin typeface="Consolas" panose="020B0609020204030204" pitchFamily="49" charset="0"/>
              </a:rPr>
              <a:t>retlw</a:t>
            </a:r>
            <a:r>
              <a:rPr lang="es-AR" sz="2400" dirty="0">
                <a:solidFill>
                  <a:srgbClr val="274DE7"/>
                </a:solidFill>
                <a:latin typeface="Consolas" panose="020B0609020204030204" pitchFamily="49" charset="0"/>
              </a:rPr>
              <a:t> 	b'11011110'</a:t>
            </a:r>
            <a:endParaRPr lang="es-AR" sz="2400" dirty="0">
              <a:latin typeface="Consolas" panose="020B0609020204030204" pitchFamily="49" charset="0"/>
            </a:endParaRPr>
          </a:p>
        </p:txBody>
      </p:sp>
      <p:cxnSp>
        <p:nvCxnSpPr>
          <p:cNvPr id="16" name="Conector curvado 15"/>
          <p:cNvCxnSpPr/>
          <p:nvPr/>
        </p:nvCxnSpPr>
        <p:spPr>
          <a:xfrm rot="10800000">
            <a:off x="2716307" y="1748126"/>
            <a:ext cx="3943183" cy="2959228"/>
          </a:xfrm>
          <a:prstGeom prst="curvedConnector3">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Llamada con línea 1 16"/>
          <p:cNvSpPr/>
          <p:nvPr/>
        </p:nvSpPr>
        <p:spPr>
          <a:xfrm>
            <a:off x="61187" y="2043954"/>
            <a:ext cx="1122154" cy="443994"/>
          </a:xfrm>
          <a:prstGeom prst="borderCallout1">
            <a:avLst>
              <a:gd name="adj1" fmla="val 57774"/>
              <a:gd name="adj2" fmla="val 107457"/>
              <a:gd name="adj3" fmla="val 35622"/>
              <a:gd name="adj4" fmla="val 133972"/>
            </a:avLst>
          </a:prstGeom>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sz="1600" dirty="0">
                <a:ln w="0"/>
                <a:solidFill>
                  <a:schemeClr val="tx1"/>
                </a:solidFill>
                <a:effectLst>
                  <a:outerShdw blurRad="38100" dist="19050" dir="2700000" algn="tl" rotWithShape="0">
                    <a:schemeClr val="dk1">
                      <a:alpha val="40000"/>
                    </a:schemeClr>
                  </a:outerShdw>
                </a:effectLst>
              </a:rPr>
              <a:t>PCL=PCL+2</a:t>
            </a:r>
            <a:endParaRPr lang="es-AR" sz="1600" dirty="0"/>
          </a:p>
        </p:txBody>
      </p:sp>
      <p:sp>
        <p:nvSpPr>
          <p:cNvPr id="18" name="Rectángulo 17"/>
          <p:cNvSpPr/>
          <p:nvPr/>
        </p:nvSpPr>
        <p:spPr>
          <a:xfrm>
            <a:off x="1388989" y="3263114"/>
            <a:ext cx="2608729" cy="35963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9" name="Llamada con línea 1 18"/>
          <p:cNvSpPr/>
          <p:nvPr/>
        </p:nvSpPr>
        <p:spPr>
          <a:xfrm>
            <a:off x="5208323" y="5449325"/>
            <a:ext cx="1541587" cy="379246"/>
          </a:xfrm>
          <a:prstGeom prst="borderCallout1">
            <a:avLst>
              <a:gd name="adj1" fmla="val 57774"/>
              <a:gd name="adj2" fmla="val 107457"/>
              <a:gd name="adj3" fmla="val -81744"/>
              <a:gd name="adj4" fmla="val 152210"/>
            </a:avLst>
          </a:prstGeom>
          <a:ln>
            <a:solidFill>
              <a:srgbClr val="D24726"/>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ln w="0"/>
                <a:solidFill>
                  <a:schemeClr val="tx1"/>
                </a:solidFill>
                <a:effectLst>
                  <a:outerShdw blurRad="38100" dist="19050" dir="2700000" algn="tl" rotWithShape="0">
                    <a:schemeClr val="dk1">
                      <a:alpha val="40000"/>
                    </a:schemeClr>
                  </a:outerShdw>
                </a:effectLst>
              </a:rPr>
              <a:t>w=10110110</a:t>
            </a:r>
          </a:p>
        </p:txBody>
      </p:sp>
      <p:cxnSp>
        <p:nvCxnSpPr>
          <p:cNvPr id="20" name="Conector curvado 19"/>
          <p:cNvCxnSpPr/>
          <p:nvPr/>
        </p:nvCxnSpPr>
        <p:spPr>
          <a:xfrm>
            <a:off x="3997718" y="3388506"/>
            <a:ext cx="2661771" cy="1540801"/>
          </a:xfrm>
          <a:prstGeom prst="curvedConnector3">
            <a:avLst>
              <a:gd name="adj1" fmla="val 26746"/>
            </a:avLst>
          </a:prstGeom>
          <a:ln w="28575">
            <a:solidFill>
              <a:srgbClr val="D2472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386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down)">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1000"/>
                                        <p:tgtEl>
                                          <p:spTgt spid="18"/>
                                        </p:tgtEl>
                                      </p:cBhvr>
                                    </p:animEffect>
                                    <p:anim calcmode="lin" valueType="num">
                                      <p:cBhvr>
                                        <p:cTn id="28" dur="1000" fill="hold"/>
                                        <p:tgtEl>
                                          <p:spTgt spid="18"/>
                                        </p:tgtEl>
                                        <p:attrNameLst>
                                          <p:attrName>ppt_x</p:attrName>
                                        </p:attrNameLst>
                                      </p:cBhvr>
                                      <p:tavLst>
                                        <p:tav tm="0">
                                          <p:val>
                                            <p:strVal val="#ppt_x"/>
                                          </p:val>
                                        </p:tav>
                                        <p:tav tm="100000">
                                          <p:val>
                                            <p:strVal val="#ppt_x"/>
                                          </p:val>
                                        </p:tav>
                                      </p:tavLst>
                                    </p:anim>
                                    <p:anim calcmode="lin" valueType="num">
                                      <p:cBhvr>
                                        <p:cTn id="2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down)">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animBg="1"/>
      <p:bldP spid="17" grpId="0" animBg="1"/>
      <p:bldP spid="18" grpId="0" animBg="1"/>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13036</TotalTime>
  <Words>17546</Words>
  <Application>Microsoft Office PowerPoint</Application>
  <PresentationFormat>Personalizado</PresentationFormat>
  <Paragraphs>3163</Paragraphs>
  <Slides>232</Slides>
  <Notes>84</Notes>
  <HiddenSlides>0</HiddenSlides>
  <MMClips>0</MMClips>
  <ScaleCrop>false</ScaleCrop>
  <HeadingPairs>
    <vt:vector size="8" baseType="variant">
      <vt:variant>
        <vt:lpstr>Fuentes usadas</vt:lpstr>
      </vt:variant>
      <vt:variant>
        <vt:i4>12</vt:i4>
      </vt:variant>
      <vt:variant>
        <vt:lpstr>Tema</vt:lpstr>
      </vt:variant>
      <vt:variant>
        <vt:i4>1</vt:i4>
      </vt:variant>
      <vt:variant>
        <vt:lpstr>Servidores OLE incrustados</vt:lpstr>
      </vt:variant>
      <vt:variant>
        <vt:i4>1</vt:i4>
      </vt:variant>
      <vt:variant>
        <vt:lpstr>Títulos de diapositiva</vt:lpstr>
      </vt:variant>
      <vt:variant>
        <vt:i4>232</vt:i4>
      </vt:variant>
    </vt:vector>
  </HeadingPairs>
  <TitlesOfParts>
    <vt:vector size="246" baseType="lpstr">
      <vt:lpstr>Arial</vt:lpstr>
      <vt:lpstr>Arial Black</vt:lpstr>
      <vt:lpstr>Arial Narrow</vt:lpstr>
      <vt:lpstr>Arial Unicode MS</vt:lpstr>
      <vt:lpstr>Calibri</vt:lpstr>
      <vt:lpstr>Cambria Math</vt:lpstr>
      <vt:lpstr>Consolas</vt:lpstr>
      <vt:lpstr>Courier New</vt:lpstr>
      <vt:lpstr>Symbol</vt:lpstr>
      <vt:lpstr>Tahoma</vt:lpstr>
      <vt:lpstr>Times New Roman</vt:lpstr>
      <vt:lpstr>Verdana</vt:lpstr>
      <vt:lpstr>Office Theme</vt:lpstr>
      <vt:lpstr>Imagen de mapa de bits</vt:lpstr>
      <vt:lpstr>Presentación de PowerPoint</vt:lpstr>
      <vt:lpstr>Para reflexionar antes de la cursada</vt:lpstr>
      <vt:lpstr>Presentación de PowerPoint</vt:lpstr>
      <vt:lpstr>Presentación de PowerPoint</vt:lpstr>
      <vt:lpstr>Clase 1</vt:lpstr>
      <vt:lpstr>Definición de un sistema programable </vt:lpstr>
      <vt:lpstr>Aplicaciones de un sistema microprogramable </vt:lpstr>
      <vt:lpstr>Componentes de un Microprogramable</vt:lpstr>
      <vt:lpstr>Definiciones</vt:lpstr>
      <vt:lpstr>Sistemas Microprogramables</vt:lpstr>
      <vt:lpstr>Estructura Básica de un Microprogramable</vt:lpstr>
      <vt:lpstr>Estructura Básica de un Microprogramable</vt:lpstr>
      <vt:lpstr>Estructura Básica de un Microprogramable</vt:lpstr>
      <vt:lpstr>Presentación de PowerPoint</vt:lpstr>
      <vt:lpstr>Presentación de PowerPoint</vt:lpstr>
      <vt:lpstr>Presentación de PowerPoint</vt:lpstr>
      <vt:lpstr>Arquitectura Detallada de un Microcontrolador</vt:lpstr>
      <vt:lpstr>Organización y Gestión de la Memoria</vt:lpstr>
      <vt:lpstr>Presentación de PowerPoint</vt:lpstr>
      <vt:lpstr>Arquitectura Interna PIC16Fxx</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2 </vt:lpstr>
      <vt:lpstr>Arquitectura de Computadoras</vt:lpstr>
      <vt:lpstr>Memoria de Datos</vt:lpstr>
      <vt:lpstr>Arquitectura Interna PIC16Fxx</vt:lpstr>
      <vt:lpstr>Unidad Aritmético Lógica</vt:lpstr>
      <vt:lpstr>Presentación de PowerPoint</vt:lpstr>
      <vt:lpstr>Presentación de PowerPoint</vt:lpstr>
      <vt:lpstr>Bancos y Registros de Trabajo</vt:lpstr>
      <vt:lpstr>Presentación de PowerPoint</vt:lpstr>
      <vt:lpstr>Presentación de PowerPoint</vt:lpstr>
      <vt:lpstr>Presentación de PowerPoint</vt:lpstr>
      <vt:lpstr>Arquitectura Interna PIC16Fxx</vt:lpstr>
      <vt:lpstr>Presentación de PowerPoint</vt:lpstr>
      <vt:lpstr>Registro INDF (00h y 80h)</vt:lpstr>
      <vt:lpstr>Registro TMR0 (01h)</vt:lpstr>
      <vt:lpstr>Presentación de PowerPoint</vt:lpstr>
      <vt:lpstr>Registro OPTION (80h) (1)</vt:lpstr>
      <vt:lpstr>Presentación de PowerPoint</vt:lpstr>
      <vt:lpstr>Registro OPTION (80h) (2)</vt:lpstr>
      <vt:lpstr>El Contador de programa PC  PCL(002h y 082h) PCLATH (00Ah y 08Ah)</vt:lpstr>
      <vt:lpstr>Registro FSR (04h y 84h)</vt:lpstr>
      <vt:lpstr>Registro TRISA y TRISB (85h y 86h)</vt:lpstr>
      <vt:lpstr>Registro PORTA y PORTB (05h y 06h)</vt:lpstr>
      <vt:lpstr>Registro EEDATA (08h) Registro EEADR (09h)</vt:lpstr>
      <vt:lpstr>Registro EECON1 (88h)</vt:lpstr>
      <vt:lpstr>Registro EECON2 (89h)</vt:lpstr>
      <vt:lpstr>Registro INTCON (0Bh y 8Bh)</vt:lpstr>
      <vt:lpstr>Arquitectura Interna PIC16Fxx</vt:lpstr>
      <vt:lpstr>Cuestionario (20 minutos)</vt:lpstr>
      <vt:lpstr>Clase 3</vt:lpstr>
      <vt:lpstr>Uso del Timer 0 para la familia PIC16Fxxx</vt:lpstr>
      <vt:lpstr>Arquitectura Interna PIC16Fxx</vt:lpstr>
      <vt:lpstr>Registros que se utilizan</vt:lpstr>
      <vt:lpstr>Presentación de PowerPoint</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Temporizador</vt:lpstr>
      <vt:lpstr>Timer 0 como Contador de Eventos</vt:lpstr>
      <vt:lpstr>Timer 0 como Contador de Eventos</vt:lpstr>
      <vt:lpstr>Timer 0 como Contador de Eventos</vt:lpstr>
      <vt:lpstr>Cuestionario (20 minutos)</vt:lpstr>
      <vt:lpstr>Proxima Clase  1er Parcial</vt:lpstr>
      <vt:lpstr>Clase 4 IDE MP LAB</vt:lpstr>
      <vt:lpstr>Configuración Básica MP LAB Apuntes Lectura Obligatoria</vt:lpstr>
      <vt:lpstr>MPLab Pantalla Inicial</vt:lpstr>
      <vt:lpstr>MPLab – Proyect Wizard</vt:lpstr>
      <vt:lpstr>MPLab – Seleccionar Microcontrolador</vt:lpstr>
      <vt:lpstr>MPLab – Seleccionar Lenguaje de Programación</vt:lpstr>
      <vt:lpstr>MPLab – Identificar Proyecto</vt:lpstr>
      <vt:lpstr>Presentación de PowerPoint</vt:lpstr>
      <vt:lpstr>MPLab – Estructura de un Proyecto</vt:lpstr>
      <vt:lpstr>Menú Project, Build options</vt:lpstr>
      <vt:lpstr>Simulador - Seteo</vt:lpstr>
      <vt:lpstr>Simulador - Seteo</vt:lpstr>
      <vt:lpstr>Simulador - Seteo</vt:lpstr>
      <vt:lpstr>Clase 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Guía de Lectura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Configuración Básica MP LAB</vt:lpstr>
      <vt:lpstr>MPLab Pantalla Inicial</vt:lpstr>
      <vt:lpstr>MPLab – Proyect Wizard</vt:lpstr>
      <vt:lpstr>MPLab – Seleccionar Microcontrolador</vt:lpstr>
      <vt:lpstr>MPLab – Seleccionar Lenguaje de Programación</vt:lpstr>
      <vt:lpstr>MPLab – Identificar Proyecto</vt:lpstr>
      <vt:lpstr>Presentación de PowerPoint</vt:lpstr>
      <vt:lpstr>MPLab – Estructura de un Proyecto</vt:lpstr>
      <vt:lpstr>Menú Project, Build options</vt:lpstr>
      <vt:lpstr>Simulador - Seteo</vt:lpstr>
      <vt:lpstr>Simulador - Seteo</vt:lpstr>
      <vt:lpstr>Simulador - Seteo</vt:lpstr>
      <vt:lpstr>Practica Programación Assembler</vt:lpstr>
      <vt:lpstr>Presentación de PowerPoint</vt:lpstr>
      <vt:lpstr>Presentación de PowerPoint</vt:lpstr>
      <vt:lpstr>Presentación de PowerPoint</vt:lpstr>
      <vt:lpstr>Primer Programa Assembler</vt:lpstr>
      <vt:lpstr>Primer Programa ASSEMBLER</vt:lpstr>
      <vt:lpstr>Primer Programa ASSEMBLER (Comportamiento de las instrucciones)</vt:lpstr>
      <vt:lpstr>Primer Programa ASSEMBLER (14 bits)</vt:lpstr>
      <vt:lpstr>Practica Programación Assembler</vt:lpstr>
      <vt:lpstr>Presentación de PowerPoint</vt:lpstr>
      <vt:lpstr>Presentación de PowerPoint</vt:lpstr>
      <vt:lpstr>Presentación de PowerPoint</vt:lpstr>
      <vt:lpstr>Presentación de PowerPoint</vt:lpstr>
      <vt:lpstr>Practica Programación Assembler</vt:lpstr>
      <vt:lpstr>Presentación de PowerPoint</vt:lpstr>
      <vt:lpstr>Presentación de PowerPoint</vt:lpstr>
      <vt:lpstr>Presentación de PowerPoint</vt:lpstr>
      <vt:lpstr>Demoras sin Timer 0</vt:lpstr>
      <vt:lpstr>Subrutina de retardo 1MS</vt:lpstr>
      <vt:lpstr>Demoras sin Timer 0</vt:lpstr>
      <vt:lpstr>Subrutina de retardo 250MS</vt:lpstr>
      <vt:lpstr>Demoras sin Timer 0</vt:lpstr>
      <vt:lpstr>Subrutina de retardo 1S</vt:lpstr>
      <vt:lpstr>Parpadear dos LEDs alternadamente ejercicio 3.hex </vt:lpstr>
      <vt:lpstr>Parpadear dos LEDs alternadamente ejercicio 3.hex </vt:lpstr>
      <vt:lpstr>Presentación de PowerPoint</vt:lpstr>
      <vt:lpstr>Presentación de PowerPoint</vt:lpstr>
      <vt:lpstr>Display de 7 segmentos BCD 7 seg bcd 2.hex</vt:lpstr>
      <vt:lpstr>Display de 7 segmentos BCD 7 seg bcd 2.hex</vt:lpstr>
      <vt:lpstr>Display de 7 segmentos BCD</vt:lpstr>
      <vt:lpstr>Presentación de PowerPoint</vt:lpstr>
      <vt:lpstr>Display de 7 segmentos BCD</vt:lpstr>
      <vt:lpstr>Display de 7 segmentos BCD</vt:lpstr>
      <vt:lpstr>Presentación de PowerPoint</vt:lpstr>
      <vt:lpstr>Presentación de PowerPoint</vt:lpstr>
      <vt:lpstr>Uso de tablas</vt:lpstr>
      <vt:lpstr>Presentación de PowerPoint</vt:lpstr>
      <vt:lpstr>Números del 0 al 9 usando una tabla</vt:lpstr>
      <vt:lpstr>Presentación de PowerPoint</vt:lpstr>
      <vt:lpstr>Presentación de PowerPoint</vt:lpstr>
      <vt:lpstr>Manejo de pulsadores</vt:lpstr>
      <vt:lpstr>Presentación de PowerPoint</vt:lpstr>
      <vt:lpstr>Manejo de pulsadores</vt:lpstr>
      <vt:lpstr>Presentación de PowerPoint</vt:lpstr>
      <vt:lpstr>Manejo de pulsadores</vt:lpstr>
      <vt:lpstr>Manejo de pulsadores</vt:lpstr>
      <vt:lpstr>Presentación de PowerPoint</vt:lpstr>
      <vt:lpstr>Manejo de pulsadores</vt:lpstr>
      <vt:lpstr>Presentación de PowerPoint</vt:lpstr>
      <vt:lpstr>Presentación de PowerPoint</vt:lpstr>
      <vt:lpstr>Demoras con Timer0</vt:lpstr>
      <vt:lpstr>Demoras con Timer0</vt:lpstr>
      <vt:lpstr>Demoras con Timer0</vt:lpstr>
      <vt:lpstr>Demoras con Timer0</vt:lpstr>
      <vt:lpstr>Timer 0 como temporizador</vt:lpstr>
      <vt:lpstr>Demoras con Timer0 1seg</vt:lpstr>
      <vt:lpstr>Demoras con Timer0 1seg</vt:lpstr>
      <vt:lpstr>Demoras con Timer0 1seg</vt:lpstr>
      <vt:lpstr>Display 16x2</vt:lpstr>
      <vt:lpstr>Display 16x2</vt:lpstr>
      <vt:lpstr>Display 16x2</vt:lpstr>
      <vt:lpstr>Display 16x2</vt:lpstr>
      <vt:lpstr>Display 16x2</vt:lpstr>
      <vt:lpstr>Display 16x2</vt:lpstr>
      <vt:lpstr>Display 16x2</vt:lpstr>
      <vt:lpstr>Display 16x2</vt:lpstr>
      <vt:lpstr>Display 16x2</vt:lpstr>
      <vt:lpstr>Display 16x2</vt:lpstr>
      <vt:lpstr>Display 16x2</vt:lpstr>
      <vt:lpstr>Clase 9</vt:lpstr>
      <vt:lpstr>Presentación de PowerPoint</vt:lpstr>
      <vt:lpstr>Presentación de PowerPoint</vt:lpstr>
      <vt:lpstr>Guía de los conceptos necesarios para la resolución el primer TP</vt:lpstr>
      <vt:lpstr>Descripción de la consigna</vt:lpstr>
      <vt:lpstr>Entregables</vt:lpstr>
      <vt:lpstr>Ejercicio 1: Demoras sin Timer 0</vt:lpstr>
      <vt:lpstr>Ejercicio 1: Demoras sin Timer 0</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2: Manejo de Pulsadores</vt:lpstr>
      <vt:lpstr>Ejercicio 3: Manejo de Displays</vt:lpstr>
      <vt:lpstr>Ejercicio 3: Manejo de Displays</vt:lpstr>
      <vt:lpstr>Ejercicio 3: Manejo de Displays</vt:lpstr>
      <vt:lpstr>Ejercicio 3: Manejo de Displays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licrg</dc:creator>
  <cp:lastModifiedBy>Roberto García</cp:lastModifiedBy>
  <cp:revision>369</cp:revision>
  <cp:lastPrinted>2015-08-08T13:24:33Z</cp:lastPrinted>
  <dcterms:created xsi:type="dcterms:W3CDTF">2006-08-16T00:00:00Z</dcterms:created>
  <dcterms:modified xsi:type="dcterms:W3CDTF">2025-10-14T21:02:15Z</dcterms:modified>
</cp:coreProperties>
</file>