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D2B4A6"/>
    <a:srgbClr val="734F29"/>
    <a:srgbClr val="D24726"/>
    <a:srgbClr val="DD462F"/>
    <a:srgbClr val="AEB785"/>
    <a:srgbClr val="EFD5A2"/>
    <a:srgbClr val="3B3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80" autoAdjust="0"/>
  </p:normalViewPr>
  <p:slideViewPr>
    <p:cSldViewPr snapToGrid="0">
      <p:cViewPr>
        <p:scale>
          <a:sx n="150" d="100"/>
          <a:sy n="150" d="100"/>
        </p:scale>
        <p:origin x="-4956" y="-3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4905A42-E86F-4461-8D26-47B93B2019CF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240D6EC-357C-4CD8-BF96-DF6F52CD930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05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98555E-18A9-4ECF-B91D-4D1B1F60D133}" type="slidenum">
              <a:rPr lang="en-US" altLang="es-AR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s-AR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42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12192000" cy="4865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 userDrawn="1"/>
        </p:nvSpPr>
        <p:spPr>
          <a:xfrm>
            <a:off x="0" y="0"/>
            <a:ext cx="12192000" cy="4865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52BBF-313B-41CB-8C86-847939FCF386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300C-82E0-4802-9068-13EC19D5BA0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2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1679E-F2B3-4A2E-8183-E30F8770D495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4B10C-C27E-4102-98D5-EF757E504F8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0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5656263" y="1709738"/>
            <a:ext cx="6535737" cy="35750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 userDrawn="1"/>
        </p:nvSpPr>
        <p:spPr>
          <a:xfrm>
            <a:off x="5656263" y="1709738"/>
            <a:ext cx="6535737" cy="35750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62721-1C22-4FEE-AFE5-108A29776CA4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0709D-EF4B-4D76-944F-90114F7E76B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6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8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83B1E-759B-4491-AFA7-0A9057F0F25B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424FF-C803-4A3F-9517-CDDE492E301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0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0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66164-358B-43CE-BAF8-AC1DF1DF30B1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F6152-0ECA-4717-A5BC-E3A2BBC9B8A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1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6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FC6A6-C2CC-4548-9CA1-EA4E165B8F89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A9AF2-E4F3-4FE3-AD8D-E0415847216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7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5706A-CDE4-4F10-BDD0-3FA2846A6EB0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36B21-5A73-49BD-9A6D-E61BCB6A74A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4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2B3FD-63E7-4518-90F7-14B53D369D2F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A8B7E-31F6-4981-AECF-FBAEFC2F5D3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5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6F98B-261B-4B16-B129-F390EC2AF415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EB1C2-493A-4594-B012-EB77B6EC6FF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0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 userDrawn="1"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C6A07-EF46-4FEB-9C6E-75845523E08F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9D785-EAD8-48F7-BD85-4799459A633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10094913" y="0"/>
            <a:ext cx="2097087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7"/>
          <p:cNvSpPr/>
          <p:nvPr userDrawn="1"/>
        </p:nvSpPr>
        <p:spPr>
          <a:xfrm>
            <a:off x="10094913" y="0"/>
            <a:ext cx="2097087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DA297-EB35-4700-AFC6-A997AA0954D3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8BA7A-0FB7-4501-AC4C-608F0E8CBE1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 smtClean="0"/>
              <a:t>Haga clic para modificar el estilo de título del patrón</a:t>
            </a:r>
            <a:endParaRPr lang="en-US" altLang="es-AR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 smtClean="0"/>
              <a:t>Haga clic para modificar el estilo de texto del patrón</a:t>
            </a:r>
          </a:p>
          <a:p>
            <a:pPr lvl="1"/>
            <a:r>
              <a:rPr lang="es-ES" altLang="es-AR" smtClean="0"/>
              <a:t>Segundo nivel</a:t>
            </a:r>
          </a:p>
          <a:p>
            <a:pPr lvl="2"/>
            <a:r>
              <a:rPr lang="es-ES" altLang="es-AR" smtClean="0"/>
              <a:t>Tercer nivel</a:t>
            </a:r>
          </a:p>
          <a:p>
            <a:pPr lvl="3"/>
            <a:r>
              <a:rPr lang="es-ES" altLang="es-AR" smtClean="0"/>
              <a:t>Cuarto nivel</a:t>
            </a:r>
          </a:p>
          <a:p>
            <a:pPr lvl="4"/>
            <a:r>
              <a:rPr lang="es-ES" altLang="es-AR" smtClean="0"/>
              <a:t>Quinto nivel</a:t>
            </a:r>
            <a:endParaRPr lang="en-US" altLang="es-AR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8AD7501-AD00-4FBA-A5FC-6FD1418E2C4F}" type="datetimeFigureOut">
              <a:rPr lang="en-US"/>
              <a:pPr>
                <a:defRPr/>
              </a:pPr>
              <a:t>9/3/2018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540A624-638B-488E-9462-540FB7B436B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699" r:id="rId7"/>
    <p:sldLayoutId id="2147483700" r:id="rId8"/>
    <p:sldLayoutId id="2147483701" r:id="rId9"/>
    <p:sldLayoutId id="2147483708" r:id="rId10"/>
    <p:sldLayoutId id="214748370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 Light" panose="020B05020402040202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ctrTitle"/>
          </p:nvPr>
        </p:nvSpPr>
        <p:spPr>
          <a:xfrm>
            <a:off x="838200" y="2060575"/>
            <a:ext cx="10515600" cy="2387600"/>
          </a:xfrm>
        </p:spPr>
        <p:txBody>
          <a:bodyPr/>
          <a:lstStyle/>
          <a:p>
            <a:pPr eaLnBrk="1" hangingPunct="1"/>
            <a:r>
              <a:rPr lang="es-AR" altLang="es-AR" noProof="1" smtClean="0"/>
              <a:t>Uso del Timer 0 para la familia PIC16F6xx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604838" y="0"/>
            <a:ext cx="10748962" cy="1208088"/>
          </a:xfrm>
        </p:spPr>
        <p:txBody>
          <a:bodyPr/>
          <a:lstStyle/>
          <a:p>
            <a:pPr eaLnBrk="1" hangingPunct="1"/>
            <a:r>
              <a:rPr lang="es-AR" altLang="es-AR" smtClean="0"/>
              <a:t>Registros que se utilizan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85838" y="1670050"/>
            <a:ext cx="9959975" cy="2309813"/>
          </a:xfrm>
        </p:spPr>
        <p:txBody>
          <a:bodyPr rtlCol="0">
            <a:normAutofit lnSpcReduction="10000"/>
          </a:bodyPr>
          <a:lstStyle/>
          <a:p>
            <a:pPr marL="285750" indent="-285750" eaLnBrk="1" fontAlgn="auto" hangingPunct="1">
              <a:buClr>
                <a:srgbClr val="D24726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s-AR" sz="2000" dirty="0" smtClean="0">
                <a:solidFill>
                  <a:schemeClr val="tx1"/>
                </a:solidFill>
              </a:rPr>
              <a:t>TMR0: Registro que almacena el valor del contador.</a:t>
            </a:r>
          </a:p>
          <a:p>
            <a:pPr marL="285750" indent="-285750" eaLnBrk="1" fontAlgn="auto" hangingPunct="1">
              <a:buClr>
                <a:srgbClr val="D24726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s-AR" sz="2000" dirty="0" smtClean="0">
                <a:solidFill>
                  <a:schemeClr val="tx1"/>
                </a:solidFill>
              </a:rPr>
              <a:t>INTCON: Registro utilizado para habilitar las interrupciones del Timer.</a:t>
            </a:r>
          </a:p>
          <a:p>
            <a:pPr marL="285750" indent="-285750" eaLnBrk="1" fontAlgn="auto" hangingPunct="1">
              <a:buClr>
                <a:srgbClr val="D24726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s-AR" sz="2000" dirty="0" smtClean="0">
                <a:solidFill>
                  <a:schemeClr val="tx1"/>
                </a:solidFill>
              </a:rPr>
              <a:t>OPTION: Registro de configuración del </a:t>
            </a:r>
            <a:r>
              <a:rPr lang="es-AR" sz="2000" dirty="0" err="1" smtClean="0">
                <a:solidFill>
                  <a:schemeClr val="tx1"/>
                </a:solidFill>
              </a:rPr>
              <a:t>preescaler</a:t>
            </a:r>
            <a:r>
              <a:rPr lang="es-AR" sz="2000" dirty="0" smtClean="0">
                <a:solidFill>
                  <a:schemeClr val="tx1"/>
                </a:solidFill>
              </a:rPr>
              <a:t>, entre otras cosas que veremos a continuación.</a:t>
            </a:r>
          </a:p>
        </p:txBody>
      </p:sp>
      <p:pic>
        <p:nvPicPr>
          <p:cNvPr id="13316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54488"/>
            <a:ext cx="7996238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>
          <a:xfrm>
            <a:off x="604838" y="0"/>
            <a:ext cx="10748962" cy="1208088"/>
          </a:xfrm>
        </p:spPr>
        <p:txBody>
          <a:bodyPr/>
          <a:lstStyle/>
          <a:p>
            <a:pPr eaLnBrk="1" hangingPunct="1"/>
            <a:r>
              <a:rPr lang="es-AR" altLang="es-AR" smtClean="0"/>
              <a:t>Timer 0 como Contador de Eventos</a:t>
            </a: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 bwMode="auto">
          <a:xfrm>
            <a:off x="985838" y="1670050"/>
            <a:ext cx="4648200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</a:pPr>
            <a:r>
              <a:rPr lang="es-AR" altLang="es-AR" sz="2000" dirty="0"/>
              <a:t>El registro TMR0 se incrementa en 1 cada vez que ingresa una señal en RA4. 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</a:pPr>
            <a:r>
              <a:rPr lang="es-AR" altLang="es-AR" sz="2000" dirty="0"/>
              <a:t>Para utilizarlo debe escribirse un </a:t>
            </a:r>
            <a:r>
              <a:rPr lang="es-AR" altLang="es-AR" sz="2000" dirty="0" smtClean="0"/>
              <a:t>1 lógico </a:t>
            </a:r>
            <a:r>
              <a:rPr lang="es-AR" altLang="es-AR" sz="2000" dirty="0"/>
              <a:t>en el bit TOCS del registro OPTION.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</a:pPr>
            <a:r>
              <a:rPr lang="es-AR" altLang="es-AR" sz="2000" dirty="0"/>
              <a:t>Puede utilizarse el preescaler para retrasar el conteo.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4203700"/>
            <a:ext cx="63881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ángulo 6"/>
          <p:cNvSpPr/>
          <p:nvPr/>
        </p:nvSpPr>
        <p:spPr>
          <a:xfrm>
            <a:off x="8418513" y="5454650"/>
            <a:ext cx="604837" cy="32226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8" name="Rectángulo 7"/>
          <p:cNvSpPr/>
          <p:nvPr/>
        </p:nvSpPr>
        <p:spPr>
          <a:xfrm>
            <a:off x="9615488" y="5494338"/>
            <a:ext cx="2406650" cy="29686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9" name="CuadroTexto 8"/>
          <p:cNvSpPr txBox="1"/>
          <p:nvPr/>
        </p:nvSpPr>
        <p:spPr>
          <a:xfrm>
            <a:off x="8304213" y="6030913"/>
            <a:ext cx="407987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s-AR" b="1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endParaRPr lang="es-AR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" name="Conector recto de flecha 10"/>
          <p:cNvCxnSpPr>
            <a:endCxn id="7" idx="2"/>
          </p:cNvCxnSpPr>
          <p:nvPr/>
        </p:nvCxnSpPr>
        <p:spPr>
          <a:xfrm flipV="1">
            <a:off x="8559800" y="5776913"/>
            <a:ext cx="160338" cy="352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3" name="Imagen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5" y="1531938"/>
            <a:ext cx="4989513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ángulo 24"/>
          <p:cNvSpPr/>
          <p:nvPr/>
        </p:nvSpPr>
        <p:spPr>
          <a:xfrm>
            <a:off x="7224713" y="2613025"/>
            <a:ext cx="2109787" cy="32385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grpSp>
        <p:nvGrpSpPr>
          <p:cNvPr id="29" name="Grupo 28"/>
          <p:cNvGrpSpPr>
            <a:grpSpLocks/>
          </p:cNvGrpSpPr>
          <p:nvPr/>
        </p:nvGrpSpPr>
        <p:grpSpPr bwMode="auto">
          <a:xfrm>
            <a:off x="5876925" y="2489200"/>
            <a:ext cx="914400" cy="533400"/>
            <a:chOff x="5876369" y="2489200"/>
            <a:chExt cx="914400" cy="533400"/>
          </a:xfrm>
        </p:grpSpPr>
        <p:cxnSp>
          <p:nvCxnSpPr>
            <p:cNvPr id="16" name="Conector angular 15"/>
            <p:cNvCxnSpPr/>
            <p:nvPr/>
          </p:nvCxnSpPr>
          <p:spPr>
            <a:xfrm flipV="1">
              <a:off x="5876369" y="2489200"/>
              <a:ext cx="914400" cy="533400"/>
            </a:xfrm>
            <a:prstGeom prst="bentConnector3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riángulo isósceles 25"/>
            <p:cNvSpPr/>
            <p:nvPr/>
          </p:nvSpPr>
          <p:spPr>
            <a:xfrm>
              <a:off x="6260544" y="2613025"/>
              <a:ext cx="127000" cy="142875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/>
            </a:p>
          </p:txBody>
        </p:sp>
      </p:grpSp>
      <p:cxnSp>
        <p:nvCxnSpPr>
          <p:cNvPr id="27" name="Conector recto de flecha 26"/>
          <p:cNvCxnSpPr/>
          <p:nvPr/>
        </p:nvCxnSpPr>
        <p:spPr>
          <a:xfrm>
            <a:off x="6791325" y="2755900"/>
            <a:ext cx="3365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604838" y="0"/>
            <a:ext cx="10748962" cy="1208088"/>
          </a:xfrm>
        </p:spPr>
        <p:txBody>
          <a:bodyPr/>
          <a:lstStyle/>
          <a:p>
            <a:pPr eaLnBrk="1" hangingPunct="1"/>
            <a:r>
              <a:rPr lang="es-AR" altLang="es-AR" smtClean="0"/>
              <a:t>Timer 0 como Contador de Eventos</a:t>
            </a:r>
          </a:p>
        </p:txBody>
      </p:sp>
      <p:pic>
        <p:nvPicPr>
          <p:cNvPr id="15363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1562100"/>
            <a:ext cx="732472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recto 5"/>
          <p:cNvCxnSpPr/>
          <p:nvPr/>
        </p:nvCxnSpPr>
        <p:spPr>
          <a:xfrm>
            <a:off x="3410417" y="2565026"/>
            <a:ext cx="528171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>
            <a:off x="4464055" y="2627313"/>
            <a:ext cx="317495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4933950" y="2435225"/>
            <a:ext cx="112395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/>
          <p:cNvCxnSpPr/>
          <p:nvPr/>
        </p:nvCxnSpPr>
        <p:spPr>
          <a:xfrm>
            <a:off x="6216650" y="2663825"/>
            <a:ext cx="57785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7470775" y="2663825"/>
            <a:ext cx="403225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ángulo 23"/>
          <p:cNvSpPr/>
          <p:nvPr/>
        </p:nvSpPr>
        <p:spPr>
          <a:xfrm>
            <a:off x="4521200" y="3024188"/>
            <a:ext cx="606425" cy="32226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25" name="Rectángulo 24"/>
          <p:cNvSpPr/>
          <p:nvPr/>
        </p:nvSpPr>
        <p:spPr>
          <a:xfrm>
            <a:off x="5818188" y="3260725"/>
            <a:ext cx="606425" cy="32226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26" name="Rectángulo 25"/>
          <p:cNvSpPr/>
          <p:nvPr/>
        </p:nvSpPr>
        <p:spPr>
          <a:xfrm>
            <a:off x="4025900" y="3371850"/>
            <a:ext cx="1206500" cy="1349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27" name="Rectángulo 26"/>
          <p:cNvSpPr/>
          <p:nvPr/>
        </p:nvSpPr>
        <p:spPr>
          <a:xfrm>
            <a:off x="3998913" y="4621213"/>
            <a:ext cx="604837" cy="29686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604838" y="0"/>
            <a:ext cx="10748962" cy="1208088"/>
          </a:xfrm>
        </p:spPr>
        <p:txBody>
          <a:bodyPr/>
          <a:lstStyle/>
          <a:p>
            <a:pPr eaLnBrk="1" hangingPunct="1"/>
            <a:r>
              <a:rPr lang="es-AR" altLang="es-AR" dirty="0" smtClean="0"/>
              <a:t>Timer 0 como Temporizador</a:t>
            </a:r>
          </a:p>
        </p:txBody>
      </p:sp>
      <p:sp>
        <p:nvSpPr>
          <p:cNvPr id="4" name="Marcador de contenido 2"/>
          <p:cNvSpPr txBox="1">
            <a:spLocks/>
          </p:cNvSpPr>
          <p:nvPr/>
        </p:nvSpPr>
        <p:spPr bwMode="auto">
          <a:xfrm>
            <a:off x="985838" y="1670050"/>
            <a:ext cx="4648200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</a:pPr>
            <a:r>
              <a:rPr lang="es-AR" altLang="es-AR" sz="2000" dirty="0"/>
              <a:t>El registro TMR0 se incrementa en 1 cada vez que hay un ciclo de máquina.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</a:pPr>
            <a:r>
              <a:rPr lang="es-AR" altLang="es-AR" sz="2000" dirty="0"/>
              <a:t>Un ciclo de máquina equivale a 4 ciclos de reloj.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</a:pPr>
            <a:r>
              <a:rPr lang="es-AR" altLang="es-AR" sz="2000" dirty="0"/>
              <a:t>Para utilizarlo debe escribirse un </a:t>
            </a:r>
            <a:r>
              <a:rPr lang="es-AR" altLang="es-AR" sz="2000" dirty="0" smtClean="0"/>
              <a:t>0 lógico </a:t>
            </a:r>
            <a:r>
              <a:rPr lang="es-AR" altLang="es-AR" sz="2000" dirty="0"/>
              <a:t>en el bit TOCS del registro OPTION.</a:t>
            </a:r>
          </a:p>
        </p:txBody>
      </p:sp>
      <p:grpSp>
        <p:nvGrpSpPr>
          <p:cNvPr id="23" name="Grupo 22"/>
          <p:cNvGrpSpPr>
            <a:grpSpLocks/>
          </p:cNvGrpSpPr>
          <p:nvPr/>
        </p:nvGrpSpPr>
        <p:grpSpPr bwMode="auto">
          <a:xfrm>
            <a:off x="5634038" y="2000250"/>
            <a:ext cx="6388100" cy="2268538"/>
            <a:chOff x="5634319" y="2000155"/>
            <a:chExt cx="6388245" cy="2268882"/>
          </a:xfrm>
        </p:grpSpPr>
        <p:pic>
          <p:nvPicPr>
            <p:cNvPr id="16396" name="Imagen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4319" y="2000155"/>
              <a:ext cx="6388245" cy="1587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ángulo 5"/>
            <p:cNvSpPr/>
            <p:nvPr/>
          </p:nvSpPr>
          <p:spPr>
            <a:xfrm>
              <a:off x="8426794" y="3263997"/>
              <a:ext cx="604852" cy="323899"/>
            </a:xfrm>
            <a:prstGeom prst="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/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8325192" y="3899093"/>
              <a:ext cx="407997" cy="36994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s-AR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  <a:endParaRPr lang="es-AR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8" name="Conector recto de flecha 7"/>
            <p:cNvCxnSpPr/>
            <p:nvPr/>
          </p:nvCxnSpPr>
          <p:spPr>
            <a:xfrm flipV="1">
              <a:off x="8569673" y="3632352"/>
              <a:ext cx="160342" cy="35247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Rectángulo 10"/>
          <p:cNvSpPr/>
          <p:nvPr/>
        </p:nvSpPr>
        <p:spPr>
          <a:xfrm>
            <a:off x="6569075" y="5589588"/>
            <a:ext cx="1206500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grpSp>
        <p:nvGrpSpPr>
          <p:cNvPr id="24" name="Grupo 23"/>
          <p:cNvGrpSpPr>
            <a:grpSpLocks/>
          </p:cNvGrpSpPr>
          <p:nvPr/>
        </p:nvGrpSpPr>
        <p:grpSpPr bwMode="auto">
          <a:xfrm>
            <a:off x="5634038" y="4418013"/>
            <a:ext cx="6507162" cy="1795462"/>
            <a:chOff x="5634319" y="4418546"/>
            <a:chExt cx="6506298" cy="1795605"/>
          </a:xfrm>
        </p:grpSpPr>
        <p:pic>
          <p:nvPicPr>
            <p:cNvPr id="16391" name="Imagen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4319" y="4418546"/>
              <a:ext cx="6506298" cy="1795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4" name="Conector recto 13"/>
            <p:cNvCxnSpPr/>
            <p:nvPr/>
          </p:nvCxnSpPr>
          <p:spPr>
            <a:xfrm>
              <a:off x="6405741" y="4505865"/>
              <a:ext cx="3315848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>
            <a:xfrm flipV="1">
              <a:off x="7803349" y="5067885"/>
              <a:ext cx="997612" cy="3175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/>
            <p:cNvCxnSpPr/>
            <p:nvPr/>
          </p:nvCxnSpPr>
          <p:spPr>
            <a:xfrm>
              <a:off x="10042221" y="5286977"/>
              <a:ext cx="328569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>
            <a:xfrm>
              <a:off x="7095815" y="4520154"/>
              <a:ext cx="0" cy="363566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Conector recto 19"/>
          <p:cNvCxnSpPr/>
          <p:nvPr/>
        </p:nvCxnSpPr>
        <p:spPr bwMode="auto">
          <a:xfrm>
            <a:off x="7095728" y="4883150"/>
            <a:ext cx="587772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/>
          <p:cNvCxnSpPr/>
          <p:nvPr/>
        </p:nvCxnSpPr>
        <p:spPr bwMode="auto">
          <a:xfrm>
            <a:off x="9718278" y="4505325"/>
            <a:ext cx="3572" cy="454025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/>
          <p:nvPr/>
        </p:nvCxnSpPr>
        <p:spPr bwMode="auto">
          <a:xfrm flipV="1">
            <a:off x="8928894" y="5286375"/>
            <a:ext cx="500856" cy="1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dirty="0"/>
              <a:t>Timer 0 como Temporizador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/>
              <p:cNvSpPr txBox="1">
                <a:spLocks/>
              </p:cNvSpPr>
              <p:nvPr/>
            </p:nvSpPr>
            <p:spPr bwMode="auto">
              <a:xfrm>
                <a:off x="985837" y="1670050"/>
                <a:ext cx="10739997" cy="4730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285750" indent="-28575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  <a:buNone/>
                </a:pPr>
                <a:r>
                  <a:rPr lang="es-AR" altLang="es-AR" sz="2000" dirty="0" smtClean="0"/>
                  <a:t>¿Cómo se calcula el valor del registro TMR0 según el tiempo “T” que quiero?</a:t>
                </a:r>
                <a:endParaRPr lang="es-AR" altLang="es-AR" sz="2000" dirty="0"/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Sabemos que un ciclo de reloj es de 4MHZ (0,25µs), por lo tanto un ciclo de máquina será de 1MHz o 1µs.</a:t>
                </a:r>
                <a:endParaRPr lang="es-AR" altLang="es-AR" sz="2000" dirty="0"/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En base a esto, sin activar el </a:t>
                </a:r>
                <a:r>
                  <a:rPr lang="es-AR" altLang="es-AR" sz="2000" dirty="0" err="1" smtClean="0"/>
                  <a:t>preescaler</a:t>
                </a:r>
                <a:r>
                  <a:rPr lang="es-AR" altLang="es-AR" sz="2000" dirty="0" smtClean="0"/>
                  <a:t>, la fórmula sencillamente sería la siguiente:</a:t>
                </a:r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s-AR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AR" altLang="es-AR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256−</m:t>
                          </m:r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𝑇𝑀𝑅</m:t>
                          </m:r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AR" altLang="es-AR" sz="2000" b="0" i="1" smtClean="0">
                          <a:latin typeface="Cambria Math" panose="02040503050406030204" pitchFamily="18" charset="0"/>
                        </a:rPr>
                        <m:t>∗1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AR" altLang="es-AR" sz="2000" dirty="0" smtClean="0"/>
              </a:p>
              <a:p>
                <a:pPr marL="0" indent="0" algn="ctr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:r>
                  <a:rPr lang="es-AR" altLang="es-AR" sz="2000" dirty="0" smtClean="0"/>
                  <a:t>Entonces, sin usar el </a:t>
                </a:r>
                <a:r>
                  <a:rPr lang="es-AR" altLang="es-AR" sz="2000" dirty="0" err="1" smtClean="0"/>
                  <a:t>preescaler</a:t>
                </a:r>
                <a:r>
                  <a:rPr lang="es-AR" altLang="es-AR" sz="2000" dirty="0" smtClean="0"/>
                  <a:t>, ¿cuál es el tiempo máximo que podemos calcular?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endParaRPr lang="es-AR" altLang="es-AR" sz="2000" dirty="0"/>
              </a:p>
            </p:txBody>
          </p:sp>
        </mc:Choice>
        <mc:Fallback xmlns="">
          <p:sp>
            <p:nvSpPr>
              <p:cNvPr id="4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5837" y="1670050"/>
                <a:ext cx="10739997" cy="4730750"/>
              </a:xfrm>
              <a:prstGeom prst="rect">
                <a:avLst/>
              </a:prstGeom>
              <a:blipFill rotWithShape="0">
                <a:blip r:embed="rId2"/>
                <a:stretch>
                  <a:fillRect l="-795" r="-7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10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dirty="0"/>
              <a:t>Timer 0 como Temporizador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/>
              <p:cNvSpPr txBox="1">
                <a:spLocks/>
              </p:cNvSpPr>
              <p:nvPr/>
            </p:nvSpPr>
            <p:spPr bwMode="auto">
              <a:xfrm>
                <a:off x="985837" y="1670050"/>
                <a:ext cx="10739997" cy="4730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285750" indent="-28575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9pPr>
              </a:lstStyle>
              <a:p>
                <a:pPr marL="0" indent="0" algn="ctr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:r>
                  <a:rPr lang="es-AR" altLang="es-AR" sz="2000" dirty="0" smtClean="0"/>
                  <a:t>Entonces, sin usar el </a:t>
                </a:r>
                <a:r>
                  <a:rPr lang="es-AR" altLang="es-AR" sz="2000" dirty="0" err="1" smtClean="0"/>
                  <a:t>preescaler</a:t>
                </a:r>
                <a:r>
                  <a:rPr lang="es-AR" altLang="es-AR" sz="2000" dirty="0" smtClean="0"/>
                  <a:t>, ¿cuál es el tiempo máximo que podemos calcular?</a:t>
                </a:r>
              </a:p>
              <a:p>
                <a:pPr marL="0" indent="0" algn="ctr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s-A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𝑀𝐴𝑋</m:t>
                          </m:r>
                        </m:sub>
                      </m:sSub>
                      <m:r>
                        <a:rPr lang="es-AR" altLang="es-AR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256−0</m:t>
                          </m:r>
                        </m:e>
                      </m:d>
                      <m:r>
                        <a:rPr lang="es-AR" altLang="es-AR" sz="2000" b="0" i="1" smtClean="0">
                          <a:latin typeface="Cambria Math" panose="02040503050406030204" pitchFamily="18" charset="0"/>
                        </a:rPr>
                        <m:t>∗1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=256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AR" altLang="es-AR" sz="2000" dirty="0" smtClean="0"/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:r>
                  <a:rPr lang="es-AR" altLang="es-AR" sz="2000" dirty="0" smtClean="0"/>
                  <a:t>Si se utiliza el </a:t>
                </a:r>
                <a:r>
                  <a:rPr lang="es-AR" altLang="es-AR" sz="2000" dirty="0" err="1" smtClean="0"/>
                  <a:t>preescaler</a:t>
                </a:r>
                <a:r>
                  <a:rPr lang="es-AR" altLang="es-AR" sz="2000" dirty="0" smtClean="0"/>
                  <a:t> (PSA=0), se pueden lograr demoras más grandes y generalmente más útiles como por ejemplo para el multiplexado de </a:t>
                </a:r>
                <a:r>
                  <a:rPr lang="es-AR" altLang="es-AR" sz="2000" dirty="0" err="1" smtClean="0"/>
                  <a:t>displays</a:t>
                </a:r>
                <a:r>
                  <a:rPr lang="es-AR" altLang="es-AR" sz="2000" dirty="0" smtClean="0"/>
                  <a:t> (Sí, lo van a tener que hacer en algún momento).</a:t>
                </a:r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</a:pPr>
                <a:r>
                  <a:rPr lang="es-AR" altLang="es-AR" sz="2000" dirty="0" smtClean="0"/>
                  <a:t>Usando los bits PSA, PS0, PS1 y PS2 la fórmula se modifica de la siguiente manera:</a:t>
                </a:r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s-AR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AR" altLang="es-A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altLang="es-A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s-AR" sz="2000" i="1">
                              <a:latin typeface="Cambria Math" panose="02040503050406030204" pitchFamily="18" charset="0"/>
                            </a:rPr>
                            <m:t>256−</m:t>
                          </m:r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𝑇𝑀𝑅</m:t>
                          </m:r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s-AR" altLang="es-AR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</a:rPr>
                        <m:t>𝑝𝑟𝑒𝑒𝑠𝑐𝑎𝑙𝑒𝑟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</a:rPr>
                        <m:t>∗1</m:t>
                      </m:r>
                      <m:r>
                        <a:rPr lang="es-AR" altLang="es-A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s-A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s-AR" altLang="es-AR" sz="2000" dirty="0" smtClean="0"/>
              </a:p>
              <a:p>
                <a:pPr marL="0" indent="0" algn="ctr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  <a:buNone/>
                </a:pPr>
                <a:r>
                  <a:rPr lang="es-AR" altLang="es-AR" sz="2000" dirty="0" smtClean="0"/>
                  <a:t>¿Y ahora hasta que valor puede llegar el </a:t>
                </a:r>
                <a:r>
                  <a:rPr lang="es-AR" altLang="es-AR" sz="2000" dirty="0" err="1" smtClean="0"/>
                  <a:t>Tmax</a:t>
                </a:r>
                <a:r>
                  <a:rPr lang="es-AR" altLang="es-AR" sz="2000" dirty="0" smtClean="0"/>
                  <a:t>?</a:t>
                </a:r>
                <a:endParaRPr lang="es-AR" altLang="es-AR" sz="2000" dirty="0"/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</a:pPr>
                <a:endParaRPr lang="es-AR" altLang="es-AR" sz="2000" dirty="0" smtClean="0"/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</a:pPr>
                <a:endParaRPr lang="es-AR" altLang="es-AR" sz="2000" dirty="0"/>
              </a:p>
            </p:txBody>
          </p:sp>
        </mc:Choice>
        <mc:Fallback xmlns="">
          <p:sp>
            <p:nvSpPr>
              <p:cNvPr id="4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5837" y="1670050"/>
                <a:ext cx="10739997" cy="4730750"/>
              </a:xfrm>
              <a:prstGeom prst="rect">
                <a:avLst/>
              </a:prstGeom>
              <a:blipFill rotWithShape="0">
                <a:blip r:embed="rId2"/>
                <a:stretch>
                  <a:fillRect l="-1192" r="-170" b="-23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37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dirty="0"/>
              <a:t>Timer 0 como Temporizador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/>
              <p:cNvSpPr txBox="1">
                <a:spLocks/>
              </p:cNvSpPr>
              <p:nvPr/>
            </p:nvSpPr>
            <p:spPr bwMode="auto">
              <a:xfrm>
                <a:off x="985837" y="1575921"/>
                <a:ext cx="10739997" cy="4730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285750" indent="-28575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9pPr>
              </a:lstStyle>
              <a:p>
                <a:pPr marL="0" indent="0" algn="ctr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s-A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𝑀𝐴𝑋</m:t>
                          </m:r>
                        </m:sub>
                      </m:sSub>
                      <m:r>
                        <a:rPr lang="es-AR" altLang="es-AR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s-AR" sz="2000" b="0" i="1" smtClean="0">
                              <a:latin typeface="Cambria Math" panose="02040503050406030204" pitchFamily="18" charset="0"/>
                            </a:rPr>
                            <m:t>256−0</m:t>
                          </m:r>
                        </m:e>
                      </m:d>
                      <m:r>
                        <a:rPr lang="es-AR" altLang="es-AR" sz="2000" b="0" i="1" smtClean="0">
                          <a:latin typeface="Cambria Math" panose="02040503050406030204" pitchFamily="18" charset="0"/>
                        </a:rPr>
                        <m:t>∗256∗1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=65536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=65,536</m:t>
                      </m:r>
                      <m:r>
                        <a:rPr lang="es-AR" alt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AR" altLang="es-AR" sz="2000" dirty="0" smtClean="0"/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</a:pPr>
                <a:r>
                  <a:rPr lang="es-AR" altLang="es-AR" sz="2000" dirty="0" smtClean="0"/>
                  <a:t>Ejemplo 1: Identificar qué bits y registros se tienen que usar para generar un </a:t>
                </a:r>
                <a:r>
                  <a:rPr lang="es-AR" altLang="es-AR" sz="2000" dirty="0" err="1" smtClean="0"/>
                  <a:t>delay</a:t>
                </a:r>
                <a:r>
                  <a:rPr lang="es-AR" altLang="es-AR" sz="2000" dirty="0" smtClean="0"/>
                  <a:t> de 20ms y definir sus valores.</a:t>
                </a:r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  <a:buNone/>
                </a:pPr>
                <a:r>
                  <a:rPr lang="es-AR" altLang="es-AR" sz="2000" dirty="0" smtClean="0"/>
                  <a:t>Pasos a seguir: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¿Hay que usar </a:t>
                </a:r>
                <a:r>
                  <a:rPr lang="es-AR" altLang="es-AR" sz="2000" dirty="0" err="1" smtClean="0"/>
                  <a:t>preescaler</a:t>
                </a:r>
                <a:r>
                  <a:rPr lang="es-AR" altLang="es-AR" sz="2000" dirty="0" smtClean="0"/>
                  <a:t>? 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En caso de que se requiera, identificar el valor del </a:t>
                </a:r>
                <a:r>
                  <a:rPr lang="es-AR" altLang="es-AR" sz="2000" dirty="0" err="1" smtClean="0"/>
                  <a:t>preescaler</a:t>
                </a:r>
                <a:r>
                  <a:rPr lang="es-AR" altLang="es-AR" sz="2000" dirty="0" smtClean="0"/>
                  <a:t>.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Despejar el valor de TMR0.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Identificar los valores de los registros a usar.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endParaRPr lang="es-AR" altLang="es-AR" sz="2000" dirty="0" smtClean="0"/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  <a:buNone/>
                </a:pPr>
                <a:endParaRPr lang="es-AR" altLang="es-AR" sz="2000" dirty="0" smtClean="0"/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</a:pPr>
                <a:endParaRPr lang="es-AR" altLang="es-AR" sz="2000" dirty="0"/>
              </a:p>
            </p:txBody>
          </p:sp>
        </mc:Choice>
        <mc:Fallback xmlns="">
          <p:sp>
            <p:nvSpPr>
              <p:cNvPr id="4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5837" y="1575921"/>
                <a:ext cx="10739997" cy="4730750"/>
              </a:xfrm>
              <a:prstGeom prst="rect">
                <a:avLst/>
              </a:prstGeom>
              <a:blipFill rotWithShape="0">
                <a:blip r:embed="rId2"/>
                <a:stretch>
                  <a:fillRect l="-1192" r="-738" b="-118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3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dirty="0"/>
              <a:t>Timer 0 como Temporizador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838201" y="1825625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normAutofit lnSpcReduction="10000"/>
              </a:bodyPr>
              <a:lstStyle>
                <a:lvl1pPr marL="285750" indent="-28575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Segoe UI" panose="020B0502040204020203" pitchFamily="34" charset="0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  <a:buNone/>
                </a:pPr>
                <a:r>
                  <a:rPr lang="es-AR" altLang="es-AR" sz="2000" dirty="0" smtClean="0"/>
                  <a:t>Para 20ms:</a:t>
                </a:r>
              </a:p>
              <a:p>
                <a:pPr marL="457200" indent="-457200" eaLnBrk="1" hangingPunct="1">
                  <a:lnSpc>
                    <a:spcPct val="150000"/>
                  </a:lnSpc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Sí, se debe usar </a:t>
                </a:r>
                <a:r>
                  <a:rPr lang="es-AR" altLang="es-AR" sz="2000" dirty="0" err="1" smtClean="0"/>
                  <a:t>preescaler</a:t>
                </a:r>
                <a:r>
                  <a:rPr lang="es-AR" altLang="es-AR" sz="2000" dirty="0"/>
                  <a:t>. ¿Por qué</a:t>
                </a:r>
                <a:r>
                  <a:rPr lang="es-AR" altLang="es-AR" sz="2000" dirty="0" smtClean="0"/>
                  <a:t>?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Mínimo se requerirá usarlo en 1:128. ¿Por qué?</a:t>
                </a:r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r>
                  <a:rPr lang="es-AR" altLang="es-AR" sz="2000" dirty="0" smtClean="0"/>
                  <a:t>De la fórmula presentada anteriormente, tomando a “T” en µs, se despeja:</a:t>
                </a:r>
              </a:p>
              <a:p>
                <a:pPr marL="0" indent="0" eaLnBrk="1" hangingPunct="1">
                  <a:lnSpc>
                    <a:spcPct val="150000"/>
                  </a:lnSpc>
                  <a:buClr>
                    <a:srgbClr val="D24726"/>
                  </a:buClr>
                  <a:buSzPct val="100000"/>
                  <a:buNone/>
                </a:pPr>
                <a14:m>
                  <m:oMath xmlns:m="http://schemas.openxmlformats.org/officeDocument/2006/math">
                    <m:r>
                      <a:rPr lang="es-AR" altLang="es-AR" sz="2000" i="1">
                        <a:latin typeface="Cambria Math" panose="02040503050406030204" pitchFamily="18" charset="0"/>
                      </a:rPr>
                      <m:t>𝑇𝑀𝑅</m:t>
                    </m:r>
                    <m:r>
                      <a:rPr lang="es-AR" altLang="es-AR" sz="2000" i="1">
                        <a:latin typeface="Cambria Math" panose="02040503050406030204" pitchFamily="18" charset="0"/>
                      </a:rPr>
                      <m:t>0=256−</m:t>
                    </m:r>
                    <m:f>
                      <m:fPr>
                        <m:ctrlPr>
                          <a:rPr lang="es-AR" altLang="es-A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altLang="es-AR" sz="20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s-AR" altLang="es-AR" sz="2000" i="1">
                            <a:latin typeface="Cambria Math" panose="02040503050406030204" pitchFamily="18" charset="0"/>
                          </a:rPr>
                          <m:t>𝑝𝑟𝑒𝑒𝑠𝑐𝑎𝑙𝑒𝑟</m:t>
                        </m:r>
                      </m:den>
                    </m:f>
                    <m:r>
                      <a:rPr lang="es-AR" altLang="es-AR" sz="2000">
                        <a:latin typeface="Cambria Math" panose="02040503050406030204" pitchFamily="18" charset="0"/>
                      </a:rPr>
                      <m:t> .</m:t>
                    </m:r>
                  </m:oMath>
                </a14:m>
                <a:r>
                  <a:rPr lang="es-AR" altLang="es-AR" sz="2000" dirty="0"/>
                  <a:t> Para nuestro ejemplo: </a:t>
                </a:r>
                <a14:m>
                  <m:oMath xmlns:m="http://schemas.openxmlformats.org/officeDocument/2006/math">
                    <m:r>
                      <a:rPr lang="es-AR" altLang="es-AR" sz="2000" i="1">
                        <a:latin typeface="Cambria Math" panose="02040503050406030204" pitchFamily="18" charset="0"/>
                      </a:rPr>
                      <m:t>𝑇𝑀𝑅</m:t>
                    </m:r>
                    <m:r>
                      <a:rPr lang="es-AR" altLang="es-AR" sz="2000" i="1">
                        <a:latin typeface="Cambria Math" panose="02040503050406030204" pitchFamily="18" charset="0"/>
                      </a:rPr>
                      <m:t>0=256−</m:t>
                    </m:r>
                    <m:f>
                      <m:fPr>
                        <m:ctrlPr>
                          <a:rPr lang="es-AR" altLang="es-A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altLang="es-AR" sz="2000" i="1">
                            <a:latin typeface="Cambria Math" panose="02040503050406030204" pitchFamily="18" charset="0"/>
                          </a:rPr>
                          <m:t>20000</m:t>
                        </m:r>
                      </m:num>
                      <m:den>
                        <m:r>
                          <a:rPr lang="es-AR" altLang="es-AR" sz="2000" i="1"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  <m:r>
                      <a:rPr lang="es-AR" altLang="es-AR" sz="2000" i="1">
                        <a:latin typeface="Cambria Math" panose="02040503050406030204" pitchFamily="18" charset="0"/>
                      </a:rPr>
                      <m:t>=99,75 </m:t>
                    </m:r>
                    <m:r>
                      <a:rPr lang="es-AR" altLang="es-A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≅100</m:t>
                    </m:r>
                    <m:r>
                      <a:rPr lang="es-AR" altLang="es-AR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AR" altLang="es-AR" sz="2000" dirty="0" smtClean="0"/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 startAt="4"/>
                </a:pPr>
                <a:r>
                  <a:rPr lang="es-AR" altLang="es-AR" sz="2000" dirty="0" smtClean="0"/>
                  <a:t>¿Qué valores deben tomar los registros del controlador?</a:t>
                </a:r>
              </a:p>
              <a:p>
                <a:pPr marL="0" indent="0" eaLnBrk="1" hangingPunct="1">
                  <a:lnSpc>
                    <a:spcPct val="150000"/>
                  </a:lnSpc>
                  <a:buClr>
                    <a:srgbClr val="D24726"/>
                  </a:buClr>
                  <a:buSzPct val="100000"/>
                  <a:buNone/>
                </a:pPr>
                <a:endParaRPr lang="es-AR" altLang="es-AR" sz="2000" dirty="0"/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:endParaRPr lang="es-AR" altLang="es-AR" sz="2000" b="0" dirty="0" smtClean="0"/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:endParaRPr lang="es-AR" altLang="es-AR" sz="2000" dirty="0" smtClean="0"/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None/>
                </a:pPr>
                <a:endParaRPr lang="es-AR" altLang="es-AR" sz="2000" dirty="0" smtClean="0"/>
              </a:p>
              <a:p>
                <a:pPr marL="457200" indent="-45720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00000"/>
                  <a:buFont typeface="+mj-lt"/>
                  <a:buAutoNum type="arabicPeriod"/>
                </a:pPr>
                <a:endParaRPr lang="es-AR" altLang="es-AR" sz="2000" dirty="0" smtClean="0"/>
              </a:p>
              <a:p>
                <a:pPr marL="0" indent="0"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  <a:buNone/>
                </a:pPr>
                <a:endParaRPr lang="es-AR" altLang="es-AR" sz="2000" dirty="0" smtClean="0"/>
              </a:p>
              <a:p>
                <a:pPr eaLnBrk="1" hangingPunct="1">
                  <a:lnSpc>
                    <a:spcPct val="150000"/>
                  </a:lnSpc>
                  <a:spcAft>
                    <a:spcPts val="1200"/>
                  </a:spcAft>
                  <a:buClr>
                    <a:srgbClr val="D24726"/>
                  </a:buClr>
                  <a:buSzPct val="150000"/>
                </a:pPr>
                <a:endParaRPr lang="es-AR" altLang="es-AR" sz="2000" dirty="0"/>
              </a:p>
            </p:txBody>
          </p:sp>
        </mc:Choice>
        <mc:Fallback xmlns="">
          <p:sp>
            <p:nvSpPr>
              <p:cNvPr id="4" name="Marcador de contenido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1" y="1825625"/>
                <a:ext cx="10515600" cy="4351338"/>
              </a:xfrm>
              <a:prstGeom prst="rect">
                <a:avLst/>
              </a:prstGeom>
              <a:blipFill rotWithShape="0">
                <a:blip r:embed="rId2"/>
                <a:stretch>
                  <a:fillRect l="-8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88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dirty="0"/>
              <a:t>Timer 0 como Temporizador</a:t>
            </a:r>
            <a:endParaRPr lang="es-AR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 bwMode="auto">
          <a:xfrm>
            <a:off x="985837" y="1575921"/>
            <a:ext cx="10739997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marL="0" indent="0"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  <a:buNone/>
            </a:pPr>
            <a:r>
              <a:rPr lang="es-AR" altLang="es-AR" sz="2000" dirty="0" smtClean="0"/>
              <a:t>Ejercitación:</a:t>
            </a:r>
          </a:p>
          <a:p>
            <a:pPr marL="457200" indent="-457200"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00000"/>
              <a:buFont typeface="+mj-lt"/>
              <a:buAutoNum type="arabicPeriod"/>
            </a:pPr>
            <a:r>
              <a:rPr lang="es-AR" altLang="es-AR" sz="2000" dirty="0" smtClean="0"/>
              <a:t>Resolver el ejercicio de ejemplo con un </a:t>
            </a:r>
            <a:r>
              <a:rPr lang="es-AR" altLang="es-AR" sz="2000" dirty="0" err="1" smtClean="0"/>
              <a:t>preescaler</a:t>
            </a:r>
            <a:r>
              <a:rPr lang="es-AR" altLang="es-AR" sz="2000" dirty="0" smtClean="0"/>
              <a:t> de 1:256.</a:t>
            </a:r>
          </a:p>
          <a:p>
            <a:pPr marL="457200" indent="-457200"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00000"/>
              <a:buFont typeface="+mj-lt"/>
              <a:buAutoNum type="arabicPeriod"/>
            </a:pPr>
            <a:r>
              <a:rPr lang="es-AR" altLang="es-AR" sz="2000" dirty="0" smtClean="0"/>
              <a:t>Realizar una demora de 50ms. Completar todos los pasos vistos en el ejemplo. </a:t>
            </a:r>
          </a:p>
          <a:p>
            <a:pPr marL="457200" indent="-457200"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00000"/>
              <a:buFont typeface="+mj-lt"/>
              <a:buAutoNum type="arabicPeriod"/>
            </a:pPr>
            <a:r>
              <a:rPr lang="es-AR" altLang="es-AR" sz="2000" dirty="0" err="1" smtClean="0"/>
              <a:t>Idem</a:t>
            </a:r>
            <a:r>
              <a:rPr lang="es-AR" altLang="es-AR" sz="2000" dirty="0" smtClean="0"/>
              <a:t> ejercicio anterior con una demora de 1ms.</a:t>
            </a:r>
          </a:p>
          <a:p>
            <a:pPr marL="457200" indent="-457200"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00000"/>
              <a:buFont typeface="+mj-lt"/>
              <a:buAutoNum type="arabicPeriod"/>
            </a:pPr>
            <a:r>
              <a:rPr lang="es-AR" altLang="es-AR" sz="2000" dirty="0" smtClean="0"/>
              <a:t>Sabiendo que el tiempo máximo que se puede tomar es de 65ms, ¿como se podría generar una demora de 1 segundo utilizando el Timer 0?</a:t>
            </a:r>
          </a:p>
          <a:p>
            <a:pPr marL="457200" indent="-457200"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00000"/>
              <a:buFont typeface="+mj-lt"/>
              <a:buAutoNum type="arabicPeriod"/>
            </a:pPr>
            <a:endParaRPr lang="es-AR" altLang="es-AR" sz="2000" dirty="0" smtClean="0"/>
          </a:p>
          <a:p>
            <a:pPr marL="0" indent="0"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  <a:buNone/>
            </a:pPr>
            <a:endParaRPr lang="es-AR" altLang="es-AR" sz="2000" dirty="0" smtClean="0"/>
          </a:p>
          <a:p>
            <a:pPr eaLnBrk="1" hangingPunct="1">
              <a:lnSpc>
                <a:spcPct val="150000"/>
              </a:lnSpc>
              <a:spcAft>
                <a:spcPts val="1200"/>
              </a:spcAft>
              <a:buClr>
                <a:srgbClr val="D24726"/>
              </a:buClr>
              <a:buSzPct val="150000"/>
            </a:pPr>
            <a:endParaRPr lang="es-AR" altLang="es-AR" sz="2000" dirty="0"/>
          </a:p>
        </p:txBody>
      </p:sp>
    </p:spTree>
    <p:extLst>
      <p:ext uri="{BB962C8B-B14F-4D97-AF65-F5344CB8AC3E}">
        <p14:creationId xmlns:p14="http://schemas.microsoft.com/office/powerpoint/2010/main" val="351463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Bienvenido a PowerPoint</Template>
  <TotalTime>0</TotalTime>
  <Words>364</Words>
  <Application>Microsoft Office PowerPoint</Application>
  <PresentationFormat>Panorámica</PresentationFormat>
  <Paragraphs>58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Segoe UI</vt:lpstr>
      <vt:lpstr>Segoe UI Light</vt:lpstr>
      <vt:lpstr>WelcomeDoc</vt:lpstr>
      <vt:lpstr>Uso del Timer 0 para la familia PIC16F6xx</vt:lpstr>
      <vt:lpstr>Registros que se utilizan</vt:lpstr>
      <vt:lpstr>Timer 0 como Contador de Eventos</vt:lpstr>
      <vt:lpstr>Timer 0 como Contador de Eventos</vt:lpstr>
      <vt:lpstr>Timer 0 como Temporizador</vt:lpstr>
      <vt:lpstr>Timer 0 como Temporizador</vt:lpstr>
      <vt:lpstr>Timer 0 como Temporizador</vt:lpstr>
      <vt:lpstr>Timer 0 como Temporizador</vt:lpstr>
      <vt:lpstr>Timer 0 como Temporizador</vt:lpstr>
      <vt:lpstr>Timer 0 como Temporizador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2016-08-21T23:02:26Z</dcterms:created>
  <dcterms:modified xsi:type="dcterms:W3CDTF">2018-09-03T22:59:44Z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