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8" r:id="rId8"/>
    <p:sldId id="267" r:id="rId9"/>
    <p:sldId id="262" r:id="rId10"/>
    <p:sldId id="263" r:id="rId11"/>
    <p:sldId id="264" r:id="rId12"/>
    <p:sldId id="265"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310" r:id="rId35"/>
    <p:sldId id="311" r:id="rId36"/>
    <p:sldId id="312" r:id="rId37"/>
    <p:sldId id="316" r:id="rId38"/>
    <p:sldId id="317" r:id="rId39"/>
    <p:sldId id="318" r:id="rId4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C02D127-EF64-402E-83B9-0AE11DC5F5B0}">
          <p14:sldIdLst>
            <p14:sldId id="256"/>
            <p14:sldId id="257"/>
            <p14:sldId id="258"/>
            <p14:sldId id="259"/>
            <p14:sldId id="260"/>
            <p14:sldId id="266"/>
            <p14:sldId id="268"/>
            <p14:sldId id="267"/>
            <p14:sldId id="262"/>
            <p14:sldId id="263"/>
            <p14:sldId id="264"/>
            <p14:sldId id="265"/>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310"/>
            <p14:sldId id="311"/>
            <p14:sldId id="312"/>
            <p14:sldId id="316"/>
            <p14:sldId id="317"/>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72" d="100"/>
          <a:sy n="72" d="100"/>
        </p:scale>
        <p:origin x="6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C8AAB-7CAA-4D9A-A2BE-3E77010CDC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AR"/>
          </a:p>
        </p:txBody>
      </p:sp>
      <p:sp>
        <p:nvSpPr>
          <p:cNvPr id="3" name="Subtitle 2">
            <a:extLst>
              <a:ext uri="{FF2B5EF4-FFF2-40B4-BE49-F238E27FC236}">
                <a16:creationId xmlns:a16="http://schemas.microsoft.com/office/drawing/2014/main" id="{E935AE31-8F2D-42B8-AA64-72B2CECB97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AR"/>
          </a:p>
        </p:txBody>
      </p:sp>
      <p:sp>
        <p:nvSpPr>
          <p:cNvPr id="4" name="Date Placeholder 3">
            <a:extLst>
              <a:ext uri="{FF2B5EF4-FFF2-40B4-BE49-F238E27FC236}">
                <a16:creationId xmlns:a16="http://schemas.microsoft.com/office/drawing/2014/main" id="{2F71C318-0F2E-4620-B824-D6135FACE5FC}"/>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5" name="Footer Placeholder 4">
            <a:extLst>
              <a:ext uri="{FF2B5EF4-FFF2-40B4-BE49-F238E27FC236}">
                <a16:creationId xmlns:a16="http://schemas.microsoft.com/office/drawing/2014/main" id="{6FF69324-6322-4150-BD09-4165DF31E565}"/>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E2BBD860-E284-46D3-83A0-C7D906F71F1C}"/>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51458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B6D56-E9C6-4B51-AE1E-8267FD937F74}"/>
              </a:ext>
            </a:extLst>
          </p:cNvPr>
          <p:cNvSpPr>
            <a:spLocks noGrp="1"/>
          </p:cNvSpPr>
          <p:nvPr>
            <p:ph type="title"/>
          </p:nvPr>
        </p:nvSpPr>
        <p:spPr/>
        <p:txBody>
          <a:bodyPr/>
          <a:lstStyle/>
          <a:p>
            <a:r>
              <a:rPr lang="en-US"/>
              <a:t>Click to edit Master title style</a:t>
            </a:r>
            <a:endParaRPr lang="es-AR"/>
          </a:p>
        </p:txBody>
      </p:sp>
      <p:sp>
        <p:nvSpPr>
          <p:cNvPr id="3" name="Content Placeholder 2">
            <a:extLst>
              <a:ext uri="{FF2B5EF4-FFF2-40B4-BE49-F238E27FC236}">
                <a16:creationId xmlns:a16="http://schemas.microsoft.com/office/drawing/2014/main" id="{811C6EEF-33B6-4883-AF22-51E00E907B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7F40B214-6489-4A26-9474-0D6920D6662F}"/>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5" name="Footer Placeholder 4">
            <a:extLst>
              <a:ext uri="{FF2B5EF4-FFF2-40B4-BE49-F238E27FC236}">
                <a16:creationId xmlns:a16="http://schemas.microsoft.com/office/drawing/2014/main" id="{07BE83D1-B19E-4766-B661-DCEC301578E5}"/>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B4386D3E-E717-4DC0-9071-FF903E9B7D3A}"/>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2138806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94E30-5842-4911-8FCC-E3692EB09E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AR"/>
          </a:p>
        </p:txBody>
      </p:sp>
      <p:sp>
        <p:nvSpPr>
          <p:cNvPr id="3" name="Text Placeholder 2">
            <a:extLst>
              <a:ext uri="{FF2B5EF4-FFF2-40B4-BE49-F238E27FC236}">
                <a16:creationId xmlns:a16="http://schemas.microsoft.com/office/drawing/2014/main" id="{7AE2E186-F0C8-4418-971F-4EDB71B1DE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6DACE69-6274-41BB-9DDE-CC78518FB76C}"/>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5" name="Footer Placeholder 4">
            <a:extLst>
              <a:ext uri="{FF2B5EF4-FFF2-40B4-BE49-F238E27FC236}">
                <a16:creationId xmlns:a16="http://schemas.microsoft.com/office/drawing/2014/main" id="{1364EFAC-029F-4EBE-B8F2-742040C8474E}"/>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91A7F53F-499F-4CA3-899B-3492975DB458}"/>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4291686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EB59-7FEB-4894-8CF4-7544FC567F66}"/>
              </a:ext>
            </a:extLst>
          </p:cNvPr>
          <p:cNvSpPr>
            <a:spLocks noGrp="1"/>
          </p:cNvSpPr>
          <p:nvPr>
            <p:ph type="title"/>
          </p:nvPr>
        </p:nvSpPr>
        <p:spPr/>
        <p:txBody>
          <a:bodyPr/>
          <a:lstStyle/>
          <a:p>
            <a:r>
              <a:rPr lang="en-US"/>
              <a:t>Click to edit Master title style</a:t>
            </a:r>
            <a:endParaRPr lang="es-AR"/>
          </a:p>
        </p:txBody>
      </p:sp>
      <p:sp>
        <p:nvSpPr>
          <p:cNvPr id="3" name="Content Placeholder 2">
            <a:extLst>
              <a:ext uri="{FF2B5EF4-FFF2-40B4-BE49-F238E27FC236}">
                <a16:creationId xmlns:a16="http://schemas.microsoft.com/office/drawing/2014/main" id="{F198CE7C-D9A8-4622-99A1-772DA4ABAB1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Content Placeholder 3">
            <a:extLst>
              <a:ext uri="{FF2B5EF4-FFF2-40B4-BE49-F238E27FC236}">
                <a16:creationId xmlns:a16="http://schemas.microsoft.com/office/drawing/2014/main" id="{567DA5B4-68BC-49D2-9B88-0C45BDA427C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Date Placeholder 4">
            <a:extLst>
              <a:ext uri="{FF2B5EF4-FFF2-40B4-BE49-F238E27FC236}">
                <a16:creationId xmlns:a16="http://schemas.microsoft.com/office/drawing/2014/main" id="{D9D10C7E-4871-48C7-90A3-02C3B85F0DC2}"/>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6" name="Footer Placeholder 5">
            <a:extLst>
              <a:ext uri="{FF2B5EF4-FFF2-40B4-BE49-F238E27FC236}">
                <a16:creationId xmlns:a16="http://schemas.microsoft.com/office/drawing/2014/main" id="{20CFEF64-6A4F-4E01-AB5D-C711CEC6DF64}"/>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66191672-A17B-44EC-9F31-A73A4AC567E2}"/>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1530744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36E6F-F17A-403C-8C5B-E55B9951A446}"/>
              </a:ext>
            </a:extLst>
          </p:cNvPr>
          <p:cNvSpPr>
            <a:spLocks noGrp="1"/>
          </p:cNvSpPr>
          <p:nvPr>
            <p:ph type="title"/>
          </p:nvPr>
        </p:nvSpPr>
        <p:spPr>
          <a:xfrm>
            <a:off x="839788" y="365125"/>
            <a:ext cx="10515600" cy="1325563"/>
          </a:xfrm>
        </p:spPr>
        <p:txBody>
          <a:bodyPr/>
          <a:lstStyle/>
          <a:p>
            <a:r>
              <a:rPr lang="en-US"/>
              <a:t>Click to edit Master title style</a:t>
            </a:r>
            <a:endParaRPr lang="es-AR"/>
          </a:p>
        </p:txBody>
      </p:sp>
      <p:sp>
        <p:nvSpPr>
          <p:cNvPr id="3" name="Text Placeholder 2">
            <a:extLst>
              <a:ext uri="{FF2B5EF4-FFF2-40B4-BE49-F238E27FC236}">
                <a16:creationId xmlns:a16="http://schemas.microsoft.com/office/drawing/2014/main" id="{88483F5B-84F5-43E0-BB6C-390D8E346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1A957F2-2C67-456A-946E-9CA1F3355F7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Text Placeholder 4">
            <a:extLst>
              <a:ext uri="{FF2B5EF4-FFF2-40B4-BE49-F238E27FC236}">
                <a16:creationId xmlns:a16="http://schemas.microsoft.com/office/drawing/2014/main" id="{35DA63E3-3F4D-40A6-BA54-44C92EF71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E58D1A8-980C-4598-A8C0-0AF89B58328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7" name="Date Placeholder 6">
            <a:extLst>
              <a:ext uri="{FF2B5EF4-FFF2-40B4-BE49-F238E27FC236}">
                <a16:creationId xmlns:a16="http://schemas.microsoft.com/office/drawing/2014/main" id="{B39218AC-BE2D-49BB-B781-33900D7D1646}"/>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8" name="Footer Placeholder 7">
            <a:extLst>
              <a:ext uri="{FF2B5EF4-FFF2-40B4-BE49-F238E27FC236}">
                <a16:creationId xmlns:a16="http://schemas.microsoft.com/office/drawing/2014/main" id="{A2DCA8B6-069A-4F79-8494-EB97D83E2BCE}"/>
              </a:ext>
            </a:extLst>
          </p:cNvPr>
          <p:cNvSpPr>
            <a:spLocks noGrp="1"/>
          </p:cNvSpPr>
          <p:nvPr>
            <p:ph type="ftr" sz="quarter" idx="11"/>
          </p:nvPr>
        </p:nvSpPr>
        <p:spPr/>
        <p:txBody>
          <a:bodyPr/>
          <a:lstStyle/>
          <a:p>
            <a:endParaRPr lang="es-AR"/>
          </a:p>
        </p:txBody>
      </p:sp>
      <p:sp>
        <p:nvSpPr>
          <p:cNvPr id="9" name="Slide Number Placeholder 8">
            <a:extLst>
              <a:ext uri="{FF2B5EF4-FFF2-40B4-BE49-F238E27FC236}">
                <a16:creationId xmlns:a16="http://schemas.microsoft.com/office/drawing/2014/main" id="{1BAFE317-61B0-43D4-B6E9-3D89D845BA84}"/>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3863651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4E07-3F5B-4023-9FF9-66875847FEE0}"/>
              </a:ext>
            </a:extLst>
          </p:cNvPr>
          <p:cNvSpPr>
            <a:spLocks noGrp="1"/>
          </p:cNvSpPr>
          <p:nvPr>
            <p:ph type="title"/>
          </p:nvPr>
        </p:nvSpPr>
        <p:spPr/>
        <p:txBody>
          <a:bodyPr/>
          <a:lstStyle/>
          <a:p>
            <a:r>
              <a:rPr lang="en-US"/>
              <a:t>Click to edit Master title style</a:t>
            </a:r>
            <a:endParaRPr lang="es-AR"/>
          </a:p>
        </p:txBody>
      </p:sp>
      <p:sp>
        <p:nvSpPr>
          <p:cNvPr id="3" name="Date Placeholder 2">
            <a:extLst>
              <a:ext uri="{FF2B5EF4-FFF2-40B4-BE49-F238E27FC236}">
                <a16:creationId xmlns:a16="http://schemas.microsoft.com/office/drawing/2014/main" id="{79233A68-73A1-433B-AE85-A5C5513A4ABA}"/>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4" name="Footer Placeholder 3">
            <a:extLst>
              <a:ext uri="{FF2B5EF4-FFF2-40B4-BE49-F238E27FC236}">
                <a16:creationId xmlns:a16="http://schemas.microsoft.com/office/drawing/2014/main" id="{C72FC8EF-1323-4086-A26B-F4D03478163E}"/>
              </a:ext>
            </a:extLst>
          </p:cNvPr>
          <p:cNvSpPr>
            <a:spLocks noGrp="1"/>
          </p:cNvSpPr>
          <p:nvPr>
            <p:ph type="ftr" sz="quarter" idx="11"/>
          </p:nvPr>
        </p:nvSpPr>
        <p:spPr/>
        <p:txBody>
          <a:bodyPr/>
          <a:lstStyle/>
          <a:p>
            <a:endParaRPr lang="es-AR"/>
          </a:p>
        </p:txBody>
      </p:sp>
      <p:sp>
        <p:nvSpPr>
          <p:cNvPr id="5" name="Slide Number Placeholder 4">
            <a:extLst>
              <a:ext uri="{FF2B5EF4-FFF2-40B4-BE49-F238E27FC236}">
                <a16:creationId xmlns:a16="http://schemas.microsoft.com/office/drawing/2014/main" id="{D4B6B84E-CE5B-4016-A68D-E4DDAAAAAFDB}"/>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266692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283DF8-D388-4160-9836-4DE1C2E1B0B0}"/>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3" name="Footer Placeholder 2">
            <a:extLst>
              <a:ext uri="{FF2B5EF4-FFF2-40B4-BE49-F238E27FC236}">
                <a16:creationId xmlns:a16="http://schemas.microsoft.com/office/drawing/2014/main" id="{E5A58648-A32A-4F83-9D8C-0FC3BBB6CD31}"/>
              </a:ext>
            </a:extLst>
          </p:cNvPr>
          <p:cNvSpPr>
            <a:spLocks noGrp="1"/>
          </p:cNvSpPr>
          <p:nvPr>
            <p:ph type="ftr" sz="quarter" idx="11"/>
          </p:nvPr>
        </p:nvSpPr>
        <p:spPr/>
        <p:txBody>
          <a:bodyPr/>
          <a:lstStyle/>
          <a:p>
            <a:endParaRPr lang="es-AR"/>
          </a:p>
        </p:txBody>
      </p:sp>
      <p:sp>
        <p:nvSpPr>
          <p:cNvPr id="4" name="Slide Number Placeholder 3">
            <a:extLst>
              <a:ext uri="{FF2B5EF4-FFF2-40B4-BE49-F238E27FC236}">
                <a16:creationId xmlns:a16="http://schemas.microsoft.com/office/drawing/2014/main" id="{705C5CF7-D454-4AF7-9569-B04285FB1AA3}"/>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399471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76B37-718E-49AB-8927-7882AFD6B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AR"/>
          </a:p>
        </p:txBody>
      </p:sp>
      <p:sp>
        <p:nvSpPr>
          <p:cNvPr id="3" name="Content Placeholder 2">
            <a:extLst>
              <a:ext uri="{FF2B5EF4-FFF2-40B4-BE49-F238E27FC236}">
                <a16:creationId xmlns:a16="http://schemas.microsoft.com/office/drawing/2014/main" id="{B6D501D4-F106-4A9D-BACF-BEC84A8814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Text Placeholder 3">
            <a:extLst>
              <a:ext uri="{FF2B5EF4-FFF2-40B4-BE49-F238E27FC236}">
                <a16:creationId xmlns:a16="http://schemas.microsoft.com/office/drawing/2014/main" id="{F8D83478-12E7-4E5A-ABF6-41980B4B6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00893FD-C15C-462C-98BE-05D7CBFE3CCC}"/>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6" name="Footer Placeholder 5">
            <a:extLst>
              <a:ext uri="{FF2B5EF4-FFF2-40B4-BE49-F238E27FC236}">
                <a16:creationId xmlns:a16="http://schemas.microsoft.com/office/drawing/2014/main" id="{99B7EFEB-349D-4709-9977-CAA585C9641E}"/>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9E799D8D-51CC-45C2-9B52-6A618AC9396E}"/>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143561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5B4A-E814-4B1D-9410-523A1583F1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AR"/>
          </a:p>
        </p:txBody>
      </p:sp>
      <p:sp>
        <p:nvSpPr>
          <p:cNvPr id="3" name="Picture Placeholder 2">
            <a:extLst>
              <a:ext uri="{FF2B5EF4-FFF2-40B4-BE49-F238E27FC236}">
                <a16:creationId xmlns:a16="http://schemas.microsoft.com/office/drawing/2014/main" id="{3CF4D85E-E835-4CB5-97F8-97A48A69EA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Text Placeholder 3">
            <a:extLst>
              <a:ext uri="{FF2B5EF4-FFF2-40B4-BE49-F238E27FC236}">
                <a16:creationId xmlns:a16="http://schemas.microsoft.com/office/drawing/2014/main" id="{A11DBF46-FA12-4827-B2CE-2885F7217C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876D52-DB07-49F9-ABD1-C7266603C23C}"/>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6" name="Footer Placeholder 5">
            <a:extLst>
              <a:ext uri="{FF2B5EF4-FFF2-40B4-BE49-F238E27FC236}">
                <a16:creationId xmlns:a16="http://schemas.microsoft.com/office/drawing/2014/main" id="{B5BDFEF4-6E3C-48A4-AC23-4664AF1E2528}"/>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82654958-1787-4A47-BDFB-597BEE959C9C}"/>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2644503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C2D9-3662-4763-9AAC-78E5BFDC7C75}"/>
              </a:ext>
            </a:extLst>
          </p:cNvPr>
          <p:cNvSpPr>
            <a:spLocks noGrp="1"/>
          </p:cNvSpPr>
          <p:nvPr>
            <p:ph type="title"/>
          </p:nvPr>
        </p:nvSpPr>
        <p:spPr/>
        <p:txBody>
          <a:bodyPr/>
          <a:lstStyle/>
          <a:p>
            <a:r>
              <a:rPr lang="en-US"/>
              <a:t>Click to edit Master title style</a:t>
            </a:r>
            <a:endParaRPr lang="es-AR"/>
          </a:p>
        </p:txBody>
      </p:sp>
      <p:sp>
        <p:nvSpPr>
          <p:cNvPr id="3" name="Vertical Text Placeholder 2">
            <a:extLst>
              <a:ext uri="{FF2B5EF4-FFF2-40B4-BE49-F238E27FC236}">
                <a16:creationId xmlns:a16="http://schemas.microsoft.com/office/drawing/2014/main" id="{ADE67C68-149A-4FEA-8AB4-624FB59512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4390368B-30EE-47EF-B70C-DFE45CCBFCA5}"/>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5" name="Footer Placeholder 4">
            <a:extLst>
              <a:ext uri="{FF2B5EF4-FFF2-40B4-BE49-F238E27FC236}">
                <a16:creationId xmlns:a16="http://schemas.microsoft.com/office/drawing/2014/main" id="{2B0D840F-E9C7-4B39-B5B8-BB444D7DF3CA}"/>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5CADCC7A-45E3-4D1D-8F84-F319F7DF53A8}"/>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429069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9B5EAE-7B6E-4BDA-8808-B6D341A7B2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AR"/>
          </a:p>
        </p:txBody>
      </p:sp>
      <p:sp>
        <p:nvSpPr>
          <p:cNvPr id="3" name="Vertical Text Placeholder 2">
            <a:extLst>
              <a:ext uri="{FF2B5EF4-FFF2-40B4-BE49-F238E27FC236}">
                <a16:creationId xmlns:a16="http://schemas.microsoft.com/office/drawing/2014/main" id="{2C659569-8B7C-4930-A080-3D25EA091EA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F810BFDD-379B-4533-926E-AC3D41ADE025}"/>
              </a:ext>
            </a:extLst>
          </p:cNvPr>
          <p:cNvSpPr>
            <a:spLocks noGrp="1"/>
          </p:cNvSpPr>
          <p:nvPr>
            <p:ph type="dt" sz="half" idx="10"/>
          </p:nvPr>
        </p:nvSpPr>
        <p:spPr/>
        <p:txBody>
          <a:bodyPr/>
          <a:lstStyle/>
          <a:p>
            <a:fld id="{12B772EB-456A-45A2-806A-8B06C16F0E78}" type="datetimeFigureOut">
              <a:rPr lang="es-AR" smtClean="0"/>
              <a:t>17/9/2025</a:t>
            </a:fld>
            <a:endParaRPr lang="es-AR"/>
          </a:p>
        </p:txBody>
      </p:sp>
      <p:sp>
        <p:nvSpPr>
          <p:cNvPr id="5" name="Footer Placeholder 4">
            <a:extLst>
              <a:ext uri="{FF2B5EF4-FFF2-40B4-BE49-F238E27FC236}">
                <a16:creationId xmlns:a16="http://schemas.microsoft.com/office/drawing/2014/main" id="{669D3C62-94E6-4DEC-9754-6B2FF3443A68}"/>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A361EB04-D76F-48E5-A18F-050C5CA79279}"/>
              </a:ext>
            </a:extLst>
          </p:cNvPr>
          <p:cNvSpPr>
            <a:spLocks noGrp="1"/>
          </p:cNvSpPr>
          <p:nvPr>
            <p:ph type="sldNum" sz="quarter" idx="12"/>
          </p:nvPr>
        </p:nvSpPr>
        <p:spPr/>
        <p:txBody>
          <a:bodyPr/>
          <a:lstStyle/>
          <a:p>
            <a:fld id="{4CCA6803-2952-4AF8-B427-E55A188FA3CD}" type="slidenum">
              <a:rPr lang="es-AR" smtClean="0"/>
              <a:t>‹#›</a:t>
            </a:fld>
            <a:endParaRPr lang="es-AR"/>
          </a:p>
        </p:txBody>
      </p:sp>
    </p:spTree>
    <p:extLst>
      <p:ext uri="{BB962C8B-B14F-4D97-AF65-F5344CB8AC3E}">
        <p14:creationId xmlns:p14="http://schemas.microsoft.com/office/powerpoint/2010/main" val="4120940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78C36-CFB4-4CD5-8C12-A219B4F33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AR"/>
          </a:p>
        </p:txBody>
      </p:sp>
      <p:sp>
        <p:nvSpPr>
          <p:cNvPr id="3" name="Text Placeholder 2">
            <a:extLst>
              <a:ext uri="{FF2B5EF4-FFF2-40B4-BE49-F238E27FC236}">
                <a16:creationId xmlns:a16="http://schemas.microsoft.com/office/drawing/2014/main" id="{1A7B3F70-E9C1-42AD-8202-85FB9CCBF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D0FA916E-F5F6-48BF-812C-0019FFB4CD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772EB-456A-45A2-806A-8B06C16F0E78}" type="datetimeFigureOut">
              <a:rPr lang="es-AR" smtClean="0"/>
              <a:t>17/9/2025</a:t>
            </a:fld>
            <a:endParaRPr lang="es-AR"/>
          </a:p>
        </p:txBody>
      </p:sp>
      <p:sp>
        <p:nvSpPr>
          <p:cNvPr id="5" name="Footer Placeholder 4">
            <a:extLst>
              <a:ext uri="{FF2B5EF4-FFF2-40B4-BE49-F238E27FC236}">
                <a16:creationId xmlns:a16="http://schemas.microsoft.com/office/drawing/2014/main" id="{05BD58FD-8AF6-410A-BE5A-5B53917EED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a:extLst>
              <a:ext uri="{FF2B5EF4-FFF2-40B4-BE49-F238E27FC236}">
                <a16:creationId xmlns:a16="http://schemas.microsoft.com/office/drawing/2014/main" id="{FB3B1B67-806A-4C08-B573-984FFAF35A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CA6803-2952-4AF8-B427-E55A188FA3CD}" type="slidenum">
              <a:rPr lang="es-AR" smtClean="0"/>
              <a:t>‹#›</a:t>
            </a:fld>
            <a:endParaRPr lang="es-AR"/>
          </a:p>
        </p:txBody>
      </p:sp>
    </p:spTree>
    <p:extLst>
      <p:ext uri="{BB962C8B-B14F-4D97-AF65-F5344CB8AC3E}">
        <p14:creationId xmlns:p14="http://schemas.microsoft.com/office/powerpoint/2010/main" val="3018401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A0538-B3BF-4AC1-8E17-FA2FE620D658}"/>
              </a:ext>
            </a:extLst>
          </p:cNvPr>
          <p:cNvSpPr>
            <a:spLocks noGrp="1"/>
          </p:cNvSpPr>
          <p:nvPr>
            <p:ph type="ctrTitle"/>
          </p:nvPr>
        </p:nvSpPr>
        <p:spPr/>
        <p:txBody>
          <a:bodyPr/>
          <a:lstStyle/>
          <a:p>
            <a:r>
              <a:rPr lang="es-AR" dirty="0"/>
              <a:t>Introducción al </a:t>
            </a:r>
            <a:r>
              <a:rPr lang="es-AR" dirty="0" err="1"/>
              <a:t>Assembler</a:t>
            </a:r>
            <a:endParaRPr lang="es-AR" dirty="0"/>
          </a:p>
        </p:txBody>
      </p:sp>
      <p:sp>
        <p:nvSpPr>
          <p:cNvPr id="3" name="Subtitle 2">
            <a:extLst>
              <a:ext uri="{FF2B5EF4-FFF2-40B4-BE49-F238E27FC236}">
                <a16:creationId xmlns:a16="http://schemas.microsoft.com/office/drawing/2014/main" id="{32BA767D-E19F-4A99-AC13-1A8839100FD4}"/>
              </a:ext>
            </a:extLst>
          </p:cNvPr>
          <p:cNvSpPr>
            <a:spLocks noGrp="1"/>
          </p:cNvSpPr>
          <p:nvPr>
            <p:ph type="subTitle" idx="1"/>
          </p:nvPr>
        </p:nvSpPr>
        <p:spPr/>
        <p:txBody>
          <a:bodyPr/>
          <a:lstStyle/>
          <a:p>
            <a:r>
              <a:rPr lang="es-AR" dirty="0"/>
              <a:t>Pic16f628a</a:t>
            </a:r>
          </a:p>
        </p:txBody>
      </p:sp>
      <p:pic>
        <p:nvPicPr>
          <p:cNvPr id="4" name="Picture 3">
            <a:extLst>
              <a:ext uri="{FF2B5EF4-FFF2-40B4-BE49-F238E27FC236}">
                <a16:creationId xmlns:a16="http://schemas.microsoft.com/office/drawing/2014/main" id="{08E85442-D2E7-4313-8F9A-D02DFA5AA7CD}"/>
              </a:ext>
            </a:extLst>
          </p:cNvPr>
          <p:cNvPicPr>
            <a:picLocks noChangeAspect="1"/>
          </p:cNvPicPr>
          <p:nvPr/>
        </p:nvPicPr>
        <p:blipFill>
          <a:blip r:embed="rId2"/>
          <a:stretch>
            <a:fillRect/>
          </a:stretch>
        </p:blipFill>
        <p:spPr>
          <a:xfrm>
            <a:off x="4455196" y="4002157"/>
            <a:ext cx="3429847" cy="2319130"/>
          </a:xfrm>
          <a:prstGeom prst="rect">
            <a:avLst/>
          </a:prstGeom>
        </p:spPr>
      </p:pic>
    </p:spTree>
    <p:extLst>
      <p:ext uri="{BB962C8B-B14F-4D97-AF65-F5344CB8AC3E}">
        <p14:creationId xmlns:p14="http://schemas.microsoft.com/office/powerpoint/2010/main" val="3564857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CAA8-6AB5-4461-8F3B-1452047424D8}"/>
              </a:ext>
            </a:extLst>
          </p:cNvPr>
          <p:cNvSpPr>
            <a:spLocks noGrp="1"/>
          </p:cNvSpPr>
          <p:nvPr>
            <p:ph type="title"/>
          </p:nvPr>
        </p:nvSpPr>
        <p:spPr>
          <a:xfrm>
            <a:off x="838200" y="365126"/>
            <a:ext cx="10515600" cy="602284"/>
          </a:xfrm>
        </p:spPr>
        <p:txBody>
          <a:bodyPr>
            <a:normAutofit fontScale="90000"/>
          </a:bodyPr>
          <a:lstStyle/>
          <a:p>
            <a:r>
              <a:rPr lang="es-AR" dirty="0"/>
              <a:t>Diagrama de pines</a:t>
            </a:r>
          </a:p>
        </p:txBody>
      </p:sp>
      <p:sp>
        <p:nvSpPr>
          <p:cNvPr id="3" name="Content Placeholder 2">
            <a:extLst>
              <a:ext uri="{FF2B5EF4-FFF2-40B4-BE49-F238E27FC236}">
                <a16:creationId xmlns:a16="http://schemas.microsoft.com/office/drawing/2014/main" id="{9A9226EF-84A0-4DBB-8F02-A9113C862EB9}"/>
              </a:ext>
            </a:extLst>
          </p:cNvPr>
          <p:cNvSpPr>
            <a:spLocks noGrp="1"/>
          </p:cNvSpPr>
          <p:nvPr>
            <p:ph idx="1"/>
          </p:nvPr>
        </p:nvSpPr>
        <p:spPr>
          <a:xfrm>
            <a:off x="838200" y="1113183"/>
            <a:ext cx="10515600" cy="1669774"/>
          </a:xfrm>
        </p:spPr>
        <p:txBody>
          <a:bodyPr/>
          <a:lstStyle/>
          <a:p>
            <a:r>
              <a:rPr lang="es-ES" dirty="0"/>
              <a:t>Veamos el diagrama de pines, para ver cómo están distribuidos. Este microcontrolador cuenta con dos puertos configurables como estradas y salidas, y consta de 18 pines los cuales se encuentran asignados de la siguiente manera: </a:t>
            </a:r>
            <a:endParaRPr lang="es-AR" dirty="0"/>
          </a:p>
        </p:txBody>
      </p:sp>
      <p:pic>
        <p:nvPicPr>
          <p:cNvPr id="4" name="Picture 3">
            <a:extLst>
              <a:ext uri="{FF2B5EF4-FFF2-40B4-BE49-F238E27FC236}">
                <a16:creationId xmlns:a16="http://schemas.microsoft.com/office/drawing/2014/main" id="{51D5B4A2-0FEA-4024-BC4D-B18BC2AB4B94}"/>
              </a:ext>
            </a:extLst>
          </p:cNvPr>
          <p:cNvPicPr>
            <a:picLocks noChangeAspect="1"/>
          </p:cNvPicPr>
          <p:nvPr/>
        </p:nvPicPr>
        <p:blipFill>
          <a:blip r:embed="rId2"/>
          <a:stretch>
            <a:fillRect/>
          </a:stretch>
        </p:blipFill>
        <p:spPr>
          <a:xfrm>
            <a:off x="2346450" y="2968485"/>
            <a:ext cx="5745156" cy="3405811"/>
          </a:xfrm>
          <a:prstGeom prst="rect">
            <a:avLst/>
          </a:prstGeom>
        </p:spPr>
      </p:pic>
    </p:spTree>
    <p:extLst>
      <p:ext uri="{BB962C8B-B14F-4D97-AF65-F5344CB8AC3E}">
        <p14:creationId xmlns:p14="http://schemas.microsoft.com/office/powerpoint/2010/main" val="4171480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69439-C6F0-437F-B3B2-A27EE1BAE29D}"/>
              </a:ext>
            </a:extLst>
          </p:cNvPr>
          <p:cNvSpPr>
            <a:spLocks noGrp="1"/>
          </p:cNvSpPr>
          <p:nvPr>
            <p:ph idx="1"/>
          </p:nvPr>
        </p:nvSpPr>
        <p:spPr>
          <a:xfrm>
            <a:off x="838200" y="357809"/>
            <a:ext cx="10515600" cy="1298713"/>
          </a:xfrm>
        </p:spPr>
        <p:txBody>
          <a:bodyPr/>
          <a:lstStyle/>
          <a:p>
            <a:r>
              <a:rPr lang="es-ES" dirty="0"/>
              <a:t>El puerto A tiene solo cinco pines, el pin 3, o sea, RA4/TOCKI puede ser configurado a su vez como entrada/salida o como temporizador/contador.</a:t>
            </a:r>
            <a:endParaRPr lang="es-AR" dirty="0"/>
          </a:p>
        </p:txBody>
      </p:sp>
      <p:pic>
        <p:nvPicPr>
          <p:cNvPr id="5" name="Picture 4">
            <a:extLst>
              <a:ext uri="{FF2B5EF4-FFF2-40B4-BE49-F238E27FC236}">
                <a16:creationId xmlns:a16="http://schemas.microsoft.com/office/drawing/2014/main" id="{554530E2-326B-4D2C-BBBA-9F1994BE154B}"/>
              </a:ext>
            </a:extLst>
          </p:cNvPr>
          <p:cNvPicPr>
            <a:picLocks noChangeAspect="1"/>
          </p:cNvPicPr>
          <p:nvPr/>
        </p:nvPicPr>
        <p:blipFill>
          <a:blip r:embed="rId2"/>
          <a:stretch>
            <a:fillRect/>
          </a:stretch>
        </p:blipFill>
        <p:spPr>
          <a:xfrm>
            <a:off x="1895062" y="1461282"/>
            <a:ext cx="8335616" cy="5122215"/>
          </a:xfrm>
          <a:prstGeom prst="rect">
            <a:avLst/>
          </a:prstGeom>
        </p:spPr>
      </p:pic>
    </p:spTree>
    <p:extLst>
      <p:ext uri="{BB962C8B-B14F-4D97-AF65-F5344CB8AC3E}">
        <p14:creationId xmlns:p14="http://schemas.microsoft.com/office/powerpoint/2010/main" val="299940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7030D-A54E-44D8-922F-31FC4E1C7F62}"/>
              </a:ext>
            </a:extLst>
          </p:cNvPr>
          <p:cNvSpPr>
            <a:spLocks noGrp="1"/>
          </p:cNvSpPr>
          <p:nvPr>
            <p:ph idx="1"/>
          </p:nvPr>
        </p:nvSpPr>
        <p:spPr>
          <a:xfrm>
            <a:off x="692426" y="420894"/>
            <a:ext cx="10515600" cy="2362063"/>
          </a:xfrm>
        </p:spPr>
        <p:txBody>
          <a:bodyPr>
            <a:normAutofit fontScale="92500"/>
          </a:bodyPr>
          <a:lstStyle/>
          <a:p>
            <a:pPr algn="just"/>
            <a:r>
              <a:rPr lang="es-ES" dirty="0"/>
              <a:t>El puerto B tiene 8 pines que pueden ser configurados como entrada/salida. RB0 puede programarse además como entrada de interrupción externa(1).</a:t>
            </a:r>
          </a:p>
          <a:p>
            <a:pPr algn="just"/>
            <a:r>
              <a:rPr lang="es-ES" dirty="0"/>
              <a:t> Los pines RB4 a RB7 pueden programarse para responder a interrupciones por cambio de estado y los pines RB6 y RB7 se corresponden con líneas de entrada de reloj y entrada de datos cuando está en modo programación.</a:t>
            </a:r>
            <a:endParaRPr lang="es-AR" dirty="0"/>
          </a:p>
        </p:txBody>
      </p:sp>
      <p:sp>
        <p:nvSpPr>
          <p:cNvPr id="6" name="TextBox 5">
            <a:extLst>
              <a:ext uri="{FF2B5EF4-FFF2-40B4-BE49-F238E27FC236}">
                <a16:creationId xmlns:a16="http://schemas.microsoft.com/office/drawing/2014/main" id="{1A015BDA-9334-43C0-B127-40535D65D21A}"/>
              </a:ext>
            </a:extLst>
          </p:cNvPr>
          <p:cNvSpPr txBox="1"/>
          <p:nvPr/>
        </p:nvSpPr>
        <p:spPr>
          <a:xfrm>
            <a:off x="530087" y="6148858"/>
            <a:ext cx="11449878" cy="461665"/>
          </a:xfrm>
          <a:prstGeom prst="rect">
            <a:avLst/>
          </a:prstGeom>
          <a:noFill/>
        </p:spPr>
        <p:txBody>
          <a:bodyPr wrap="square" rtlCol="0">
            <a:spAutoFit/>
          </a:bodyPr>
          <a:lstStyle/>
          <a:p>
            <a:r>
              <a:rPr lang="es-ES" sz="1200" dirty="0"/>
              <a:t>(1) Las interrupciones externas sirven para detectar un estado lógico o un cambio de estado en alguna de las terminales de entrada de un microcontrolador, con su uso se evita un sondeo continuo en la terminal de interés. Son útiles para monitorear interruptores, botones o sensores con salida a relevador.</a:t>
            </a:r>
            <a:endParaRPr lang="es-AR" sz="1200" dirty="0"/>
          </a:p>
        </p:txBody>
      </p:sp>
      <p:pic>
        <p:nvPicPr>
          <p:cNvPr id="7" name="Picture 6">
            <a:extLst>
              <a:ext uri="{FF2B5EF4-FFF2-40B4-BE49-F238E27FC236}">
                <a16:creationId xmlns:a16="http://schemas.microsoft.com/office/drawing/2014/main" id="{7693E58A-14C1-41F6-AF94-F446C4DCB299}"/>
              </a:ext>
            </a:extLst>
          </p:cNvPr>
          <p:cNvPicPr>
            <a:picLocks noChangeAspect="1"/>
          </p:cNvPicPr>
          <p:nvPr/>
        </p:nvPicPr>
        <p:blipFill>
          <a:blip r:embed="rId2"/>
          <a:stretch>
            <a:fillRect/>
          </a:stretch>
        </p:blipFill>
        <p:spPr>
          <a:xfrm>
            <a:off x="3193773" y="2782957"/>
            <a:ext cx="5062331" cy="3110790"/>
          </a:xfrm>
          <a:prstGeom prst="rect">
            <a:avLst/>
          </a:prstGeom>
        </p:spPr>
      </p:pic>
    </p:spTree>
    <p:extLst>
      <p:ext uri="{BB962C8B-B14F-4D97-AF65-F5344CB8AC3E}">
        <p14:creationId xmlns:p14="http://schemas.microsoft.com/office/powerpoint/2010/main" val="2540091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9A4EDC-0D38-4BA6-84F1-22BAE913EBCD}"/>
              </a:ext>
            </a:extLst>
          </p:cNvPr>
          <p:cNvSpPr>
            <a:spLocks noGrp="1"/>
          </p:cNvSpPr>
          <p:nvPr>
            <p:ph idx="1"/>
          </p:nvPr>
        </p:nvSpPr>
        <p:spPr>
          <a:xfrm>
            <a:off x="838200" y="437323"/>
            <a:ext cx="10515600" cy="2093842"/>
          </a:xfrm>
        </p:spPr>
        <p:txBody>
          <a:bodyPr>
            <a:normAutofit fontScale="92500" lnSpcReduction="20000"/>
          </a:bodyPr>
          <a:lstStyle/>
          <a:p>
            <a:r>
              <a:rPr lang="es-ES" dirty="0"/>
              <a:t>MCLR/</a:t>
            </a:r>
            <a:r>
              <a:rPr lang="es-ES" dirty="0" err="1"/>
              <a:t>Vpp</a:t>
            </a:r>
            <a:r>
              <a:rPr lang="es-ES" dirty="0"/>
              <a:t>, es la entrada de </a:t>
            </a:r>
            <a:r>
              <a:rPr lang="es-ES" dirty="0" err="1"/>
              <a:t>reset</a:t>
            </a:r>
            <a:r>
              <a:rPr lang="es-ES" dirty="0"/>
              <a:t> si está a nivel bajo, también es habilitador de tensión de programación.</a:t>
            </a:r>
          </a:p>
          <a:p>
            <a:r>
              <a:rPr lang="es-ES" dirty="0"/>
              <a:t>Cuando su tensión es </a:t>
            </a:r>
            <a:r>
              <a:rPr lang="es-ES" dirty="0" err="1"/>
              <a:t>Vdd</a:t>
            </a:r>
            <a:r>
              <a:rPr lang="es-ES" dirty="0"/>
              <a:t> el PIC funciona normalmente. </a:t>
            </a:r>
            <a:r>
              <a:rPr lang="es-ES" dirty="0" err="1"/>
              <a:t>Vss</a:t>
            </a:r>
            <a:r>
              <a:rPr lang="es-ES" dirty="0"/>
              <a:t> y </a:t>
            </a:r>
            <a:r>
              <a:rPr lang="es-ES" dirty="0" err="1"/>
              <a:t>Vdd</a:t>
            </a:r>
            <a:r>
              <a:rPr lang="es-ES" dirty="0"/>
              <a:t>, son los pines de masa y alimentación. La tensión de alimentación está comprendida entre los 2 y 5.5 Volt. OSC1/CLKIN y OSC2/CLKOUT, pines de entrada externa de reloj y salida de oscilador a cristal respectivamente.-</a:t>
            </a:r>
            <a:endParaRPr lang="es-AR" dirty="0"/>
          </a:p>
        </p:txBody>
      </p:sp>
      <p:sp>
        <p:nvSpPr>
          <p:cNvPr id="4" name="TextBox 3">
            <a:extLst>
              <a:ext uri="{FF2B5EF4-FFF2-40B4-BE49-F238E27FC236}">
                <a16:creationId xmlns:a16="http://schemas.microsoft.com/office/drawing/2014/main" id="{275D76A0-94EC-4349-B2D8-1160F9592797}"/>
              </a:ext>
            </a:extLst>
          </p:cNvPr>
          <p:cNvSpPr txBox="1"/>
          <p:nvPr/>
        </p:nvSpPr>
        <p:spPr>
          <a:xfrm>
            <a:off x="970722" y="5711687"/>
            <a:ext cx="10760765" cy="923330"/>
          </a:xfrm>
          <a:prstGeom prst="rect">
            <a:avLst/>
          </a:prstGeom>
          <a:noFill/>
        </p:spPr>
        <p:txBody>
          <a:bodyPr wrap="square" rtlCol="0">
            <a:spAutoFit/>
          </a:bodyPr>
          <a:lstStyle/>
          <a:p>
            <a:r>
              <a:rPr lang="es-ES" b="1" dirty="0">
                <a:solidFill>
                  <a:srgbClr val="FF0000"/>
                </a:solidFill>
              </a:rPr>
              <a:t>VSS: </a:t>
            </a:r>
            <a:r>
              <a:rPr lang="es-ES" dirty="0"/>
              <a:t>S=serie significa conexión común, generalmente se refiere al voltaje de la terminal de tierra común del circuito. </a:t>
            </a:r>
          </a:p>
          <a:p>
            <a:r>
              <a:rPr lang="es-ES" b="1" dirty="0">
                <a:solidFill>
                  <a:srgbClr val="FF0000"/>
                </a:solidFill>
              </a:rPr>
              <a:t>VDD: </a:t>
            </a:r>
            <a:r>
              <a:rPr lang="es-ES" dirty="0"/>
              <a:t>D= significa dispositivo, es decir, el voltaje de trabajo interno del dispositivo.  </a:t>
            </a:r>
            <a:endParaRPr lang="es-AR" dirty="0"/>
          </a:p>
        </p:txBody>
      </p:sp>
      <p:pic>
        <p:nvPicPr>
          <p:cNvPr id="7" name="Picture 6">
            <a:extLst>
              <a:ext uri="{FF2B5EF4-FFF2-40B4-BE49-F238E27FC236}">
                <a16:creationId xmlns:a16="http://schemas.microsoft.com/office/drawing/2014/main" id="{B464E530-D66C-4AEA-8705-A2147BE92B53}"/>
              </a:ext>
            </a:extLst>
          </p:cNvPr>
          <p:cNvPicPr>
            <a:picLocks noChangeAspect="1"/>
          </p:cNvPicPr>
          <p:nvPr/>
        </p:nvPicPr>
        <p:blipFill>
          <a:blip r:embed="rId2"/>
          <a:stretch>
            <a:fillRect/>
          </a:stretch>
        </p:blipFill>
        <p:spPr>
          <a:xfrm>
            <a:off x="3140766" y="2282916"/>
            <a:ext cx="5213175" cy="3203483"/>
          </a:xfrm>
          <a:prstGeom prst="rect">
            <a:avLst/>
          </a:prstGeom>
        </p:spPr>
      </p:pic>
      <p:sp>
        <p:nvSpPr>
          <p:cNvPr id="8" name="Rectangle 7">
            <a:extLst>
              <a:ext uri="{FF2B5EF4-FFF2-40B4-BE49-F238E27FC236}">
                <a16:creationId xmlns:a16="http://schemas.microsoft.com/office/drawing/2014/main" id="{B574CC08-AE1F-4C88-9991-AFE2C2DE27F5}"/>
              </a:ext>
            </a:extLst>
          </p:cNvPr>
          <p:cNvSpPr/>
          <p:nvPr/>
        </p:nvSpPr>
        <p:spPr>
          <a:xfrm>
            <a:off x="7036904" y="3884657"/>
            <a:ext cx="265044" cy="1572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angle 8">
            <a:extLst>
              <a:ext uri="{FF2B5EF4-FFF2-40B4-BE49-F238E27FC236}">
                <a16:creationId xmlns:a16="http://schemas.microsoft.com/office/drawing/2014/main" id="{B9A97272-D9C0-466A-B445-85632E56E94C}"/>
              </a:ext>
            </a:extLst>
          </p:cNvPr>
          <p:cNvSpPr/>
          <p:nvPr/>
        </p:nvSpPr>
        <p:spPr>
          <a:xfrm>
            <a:off x="3511826" y="3884657"/>
            <a:ext cx="265044" cy="1572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938761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004544" y="395785"/>
            <a:ext cx="8081151" cy="5990989"/>
          </a:xfrm>
          <a:prstGeom prst="rect">
            <a:avLst/>
          </a:prstGeom>
        </p:spPr>
      </p:pic>
      <p:sp>
        <p:nvSpPr>
          <p:cNvPr id="3" name="CuadroTexto 2"/>
          <p:cNvSpPr txBox="1"/>
          <p:nvPr/>
        </p:nvSpPr>
        <p:spPr>
          <a:xfrm>
            <a:off x="1828801" y="156527"/>
            <a:ext cx="8584442" cy="400110"/>
          </a:xfrm>
          <a:prstGeom prst="rect">
            <a:avLst/>
          </a:prstGeom>
          <a:solidFill>
            <a:schemeClr val="tx1">
              <a:lumMod val="95000"/>
              <a:lumOff val="5000"/>
            </a:schemeClr>
          </a:solidFill>
        </p:spPr>
        <p:txBody>
          <a:bodyPr wrap="square" rtlCol="0">
            <a:spAutoFit/>
          </a:bodyPr>
          <a:lstStyle/>
          <a:p>
            <a:pPr algn="ctr"/>
            <a:r>
              <a:rPr lang="es-ES" sz="2000" b="1" dirty="0">
                <a:solidFill>
                  <a:schemeClr val="bg1"/>
                </a:solidFill>
              </a:rPr>
              <a:t>Estructura de un Programa Simple</a:t>
            </a:r>
          </a:p>
        </p:txBody>
      </p:sp>
    </p:spTree>
    <p:extLst>
      <p:ext uri="{BB962C8B-B14F-4D97-AF65-F5344CB8AC3E}">
        <p14:creationId xmlns:p14="http://schemas.microsoft.com/office/powerpoint/2010/main" val="1836351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4779A8-33F1-481B-BFFF-0F281282FB82}"/>
              </a:ext>
            </a:extLst>
          </p:cNvPr>
          <p:cNvPicPr>
            <a:picLocks noChangeAspect="1"/>
          </p:cNvPicPr>
          <p:nvPr/>
        </p:nvPicPr>
        <p:blipFill>
          <a:blip r:embed="rId2"/>
          <a:stretch>
            <a:fillRect/>
          </a:stretch>
        </p:blipFill>
        <p:spPr>
          <a:xfrm>
            <a:off x="2650435" y="471460"/>
            <a:ext cx="6520069" cy="6272023"/>
          </a:xfrm>
          <a:prstGeom prst="rect">
            <a:avLst/>
          </a:prstGeom>
        </p:spPr>
      </p:pic>
    </p:spTree>
    <p:extLst>
      <p:ext uri="{BB962C8B-B14F-4D97-AF65-F5344CB8AC3E}">
        <p14:creationId xmlns:p14="http://schemas.microsoft.com/office/powerpoint/2010/main" val="2495262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14149" y="254407"/>
            <a:ext cx="11300347" cy="1323439"/>
          </a:xfrm>
          <a:prstGeom prst="rect">
            <a:avLst/>
          </a:prstGeom>
        </p:spPr>
        <p:txBody>
          <a:bodyPr wrap="square">
            <a:spAutoFit/>
          </a:bodyPr>
          <a:lstStyle/>
          <a:p>
            <a:r>
              <a:rPr lang="es-ES" sz="3200" b="1" i="0" u="none" strike="noStrike" baseline="0" dirty="0">
                <a:solidFill>
                  <a:srgbClr val="B5A642"/>
                </a:solidFill>
                <a:latin typeface="Arial" panose="020B0604020202020204" pitchFamily="34" charset="0"/>
              </a:rPr>
              <a:t>Directiva #INCLUDE</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Esta directiva indica que archivos deberán tomarse en cuenta a la hora de compilar el código. Normalmente se usa para incluir el archivo de PIC que el ensamblador tiene entre sus archivos, con el cual el compilador será capaz de reconocer todos los registros especiales y sus bits. </a:t>
            </a:r>
          </a:p>
        </p:txBody>
      </p:sp>
      <p:sp>
        <p:nvSpPr>
          <p:cNvPr id="3" name="Rectángulo 2"/>
          <p:cNvSpPr/>
          <p:nvPr/>
        </p:nvSpPr>
        <p:spPr>
          <a:xfrm>
            <a:off x="709684" y="1591490"/>
            <a:ext cx="11204812" cy="3785652"/>
          </a:xfrm>
          <a:prstGeom prst="rect">
            <a:avLst/>
          </a:prstGeom>
        </p:spPr>
        <p:txBody>
          <a:bodyPr wrap="square">
            <a:spAutoFit/>
          </a:bodyPr>
          <a:lstStyle/>
          <a:p>
            <a:r>
              <a:rPr lang="es-ES" sz="3200" b="1" i="0" u="none" strike="noStrike" baseline="0" dirty="0">
                <a:solidFill>
                  <a:srgbClr val="B5A642"/>
                </a:solidFill>
                <a:latin typeface="Arial" panose="020B0604020202020204" pitchFamily="34" charset="0"/>
              </a:rPr>
              <a:t>Directiva ORG</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Esta directiva dice al ensamblador </a:t>
            </a:r>
            <a:r>
              <a:rPr lang="es-ES" sz="1600" b="1" i="0" u="none" strike="noStrike" baseline="0" dirty="0">
                <a:solidFill>
                  <a:srgbClr val="FF0000"/>
                </a:solidFill>
                <a:effectLst>
                  <a:outerShdw blurRad="38100" dist="38100" dir="2700000" algn="tl">
                    <a:srgbClr val="000000">
                      <a:alpha val="43137"/>
                    </a:srgbClr>
                  </a:outerShdw>
                </a:effectLst>
                <a:latin typeface="Arial" panose="020B0604020202020204" pitchFamily="34" charset="0"/>
              </a:rPr>
              <a:t>a partir de que posición de memoria de programa se situarán las</a:t>
            </a:r>
          </a:p>
          <a:p>
            <a:r>
              <a:rPr lang="es-ES" sz="1600" b="1" i="0" u="none" strike="noStrike" baseline="0" dirty="0">
                <a:solidFill>
                  <a:srgbClr val="FF0000"/>
                </a:solidFill>
                <a:effectLst>
                  <a:outerShdw blurRad="38100" dist="38100" dir="2700000" algn="tl">
                    <a:srgbClr val="000000">
                      <a:alpha val="43137"/>
                    </a:srgbClr>
                  </a:outerShdw>
                </a:effectLst>
                <a:latin typeface="Arial" panose="020B0604020202020204" pitchFamily="34" charset="0"/>
              </a:rPr>
              <a:t>siguientes instrucciones</a:t>
            </a:r>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 Rutinas de comienzo, subrutinas de interrupción y otros programas deben comenzar</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en locaciones de memoria fijados por la estructura del microcontrolador. Recordemos que el 16F84 sólo tiene</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1024 posiciones de memoria flash para código.</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Ejemplos:</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1) Inicia el programa en la posición cero:</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ORG 0x00</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2) Inicia el programa en la posición 0000h y luego pasa a la 0005h para no utilizar la posición del vector de</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interrupción (0004 h)</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ORG 0x00 ; El programa comienza en la dirección 0 y</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GOTO inicio ; salta a la dirección 5 para sobrepasar</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ORG 0x05 ; el vector de interrupción, situado en la posición 4</a:t>
            </a:r>
          </a:p>
          <a:p>
            <a:r>
              <a:rPr lang="es-ES" sz="1600" b="1" i="0" u="none" strike="noStrike" baseline="0" dirty="0">
                <a:solidFill>
                  <a:srgbClr val="000000"/>
                </a:solidFill>
                <a:effectLst>
                  <a:outerShdw blurRad="38100" dist="38100" dir="2700000" algn="tl">
                    <a:srgbClr val="000000">
                      <a:alpha val="43137"/>
                    </a:srgbClr>
                  </a:outerShdw>
                </a:effectLst>
                <a:latin typeface="Arial" panose="020B0604020202020204" pitchFamily="34" charset="0"/>
              </a:rPr>
              <a:t>Inicio xxx...</a:t>
            </a:r>
          </a:p>
        </p:txBody>
      </p:sp>
      <p:sp>
        <p:nvSpPr>
          <p:cNvPr id="4" name="Rectángulo 3"/>
          <p:cNvSpPr/>
          <p:nvPr/>
        </p:nvSpPr>
        <p:spPr>
          <a:xfrm>
            <a:off x="709684" y="5333044"/>
            <a:ext cx="10904560" cy="1323439"/>
          </a:xfrm>
          <a:prstGeom prst="rect">
            <a:avLst/>
          </a:prstGeom>
        </p:spPr>
        <p:txBody>
          <a:bodyPr wrap="square">
            <a:spAutoFit/>
          </a:bodyPr>
          <a:lstStyle/>
          <a:p>
            <a:r>
              <a:rPr lang="es-ES" sz="3200" b="1" i="0" u="none" strike="noStrike" baseline="0" dirty="0">
                <a:solidFill>
                  <a:srgbClr val="B5A642"/>
                </a:solidFill>
                <a:latin typeface="Arial" panose="020B0604020202020204" pitchFamily="34" charset="0"/>
              </a:rPr>
              <a:t>Directiva END</a:t>
            </a:r>
          </a:p>
          <a:p>
            <a:r>
              <a:rPr lang="es-ES" sz="1600" b="1" dirty="0">
                <a:solidFill>
                  <a:srgbClr val="000000"/>
                </a:solidFill>
                <a:effectLst>
                  <a:outerShdw blurRad="38100" dist="38100" dir="2700000" algn="tl">
                    <a:srgbClr val="000000">
                      <a:alpha val="43137"/>
                    </a:srgbClr>
                  </a:outerShdw>
                </a:effectLst>
                <a:latin typeface="Arial" panose="020B0604020202020204" pitchFamily="34" charset="0"/>
              </a:rPr>
              <a:t>Debe ir incluida una sola vez en todo el programa. En concreto, esta debe situarse al final, para indicar al ensamblador que el programa ha finalizado. </a:t>
            </a:r>
          </a:p>
          <a:p>
            <a:r>
              <a:rPr lang="es-ES" sz="1600" b="1" dirty="0">
                <a:solidFill>
                  <a:srgbClr val="000000"/>
                </a:solidFill>
                <a:effectLst>
                  <a:outerShdw blurRad="38100" dist="38100" dir="2700000" algn="tl">
                    <a:srgbClr val="000000">
                      <a:alpha val="43137"/>
                    </a:srgbClr>
                  </a:outerShdw>
                </a:effectLst>
                <a:latin typeface="Arial" panose="020B0604020202020204" pitchFamily="34" charset="0"/>
              </a:rPr>
              <a:t>Esta siempre debe estar presente, aunque el flujo de nuestro programa acabe en un bucle.</a:t>
            </a:r>
          </a:p>
        </p:txBody>
      </p:sp>
    </p:spTree>
    <p:extLst>
      <p:ext uri="{BB962C8B-B14F-4D97-AF65-F5344CB8AC3E}">
        <p14:creationId xmlns:p14="http://schemas.microsoft.com/office/powerpoint/2010/main" val="2294701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C31F223-626D-450F-B3C4-AC3EFB0B4A04}"/>
              </a:ext>
            </a:extLst>
          </p:cNvPr>
          <p:cNvSpPr>
            <a:spLocks noGrp="1" noChangeArrowheads="1"/>
          </p:cNvSpPr>
          <p:nvPr>
            <p:ph idx="1"/>
          </p:nvPr>
        </p:nvSpPr>
        <p:spPr bwMode="auto">
          <a:xfrm>
            <a:off x="838200" y="-167208"/>
            <a:ext cx="10439400" cy="7001917"/>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ADDLW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Suma un valor designado por el programador al registro 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ADDLW      .128</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W tenía cargado un valor = .5, después de la instrucción W tiene cargado el valor .133</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ADD</a:t>
            </a:r>
            <a:r>
              <a:rPr kumimoji="0" lang="es-AR" altLang="es-AR" sz="2000" b="0" i="0" u="none" strike="noStrike" cap="none" normalizeH="0" baseline="0" dirty="0">
                <a:ln>
                  <a:noFill/>
                </a:ln>
                <a:solidFill>
                  <a:srgbClr val="000000"/>
                </a:solidFill>
                <a:effectLst/>
                <a:latin typeface="Verdana" panose="020B0604030504040204" pitchFamily="34" charset="0"/>
              </a:rPr>
              <a:t> es sumar, </a:t>
            </a:r>
            <a:r>
              <a:rPr kumimoji="0" lang="es-AR" altLang="es-AR" sz="2000" b="1" i="0" u="none" strike="noStrike" cap="none" normalizeH="0" baseline="0" dirty="0">
                <a:ln>
                  <a:noFill/>
                </a:ln>
                <a:solidFill>
                  <a:srgbClr val="000000"/>
                </a:solidFill>
                <a:effectLst/>
                <a:latin typeface="Verdana" panose="020B0604030504040204" pitchFamily="34" charset="0"/>
              </a:rPr>
              <a:t>L</a:t>
            </a:r>
            <a:r>
              <a:rPr kumimoji="0" lang="es-AR" altLang="es-AR" sz="2000" b="0" i="0" u="none" strike="noStrike" cap="none" normalizeH="0" baseline="0" dirty="0">
                <a:ln>
                  <a:noFill/>
                </a:ln>
                <a:solidFill>
                  <a:srgbClr val="000000"/>
                </a:solidFill>
                <a:effectLst/>
                <a:latin typeface="Verdana" panose="020B0604030504040204" pitchFamily="34" charset="0"/>
              </a:rPr>
              <a:t> es </a:t>
            </a:r>
            <a:r>
              <a:rPr kumimoji="0" lang="es-AR" altLang="es-AR" sz="2000" b="1" i="0" u="none" strike="noStrike" cap="none" normalizeH="0" baseline="0" dirty="0">
                <a:ln>
                  <a:noFill/>
                </a:ln>
                <a:solidFill>
                  <a:srgbClr val="000000"/>
                </a:solidFill>
                <a:effectLst/>
                <a:latin typeface="Verdana" panose="020B0604030504040204" pitchFamily="34" charset="0"/>
              </a:rPr>
              <a:t>L</a:t>
            </a:r>
            <a:r>
              <a:rPr kumimoji="0" lang="es-AR" altLang="es-AR" sz="2000" b="0" i="0" u="none" strike="noStrike" cap="none" normalizeH="0" baseline="0" dirty="0">
                <a:ln>
                  <a:noFill/>
                </a:ln>
                <a:solidFill>
                  <a:srgbClr val="000000"/>
                </a:solidFill>
                <a:effectLst/>
                <a:latin typeface="Verdana" panose="020B0604030504040204" pitchFamily="34" charset="0"/>
              </a:rPr>
              <a:t>iteral y </a:t>
            </a:r>
            <a:r>
              <a:rPr kumimoji="0" lang="es-AR" altLang="es-AR" sz="2000" b="1" i="0" u="none" strike="noStrike" cap="none" normalizeH="0" baseline="0" dirty="0">
                <a:ln>
                  <a:noFill/>
                </a:ln>
                <a:solidFill>
                  <a:srgbClr val="000000"/>
                </a:solidFill>
                <a:effectLst/>
                <a:latin typeface="Verdana" panose="020B0604030504040204" pitchFamily="34" charset="0"/>
              </a:rPr>
              <a:t>W</a:t>
            </a:r>
            <a:r>
              <a:rPr kumimoji="0" lang="es-AR" altLang="es-AR" sz="2000" b="0" i="0" u="none" strike="noStrike" cap="none" normalizeH="0" baseline="0" dirty="0">
                <a:ln>
                  <a:noFill/>
                </a:ln>
                <a:solidFill>
                  <a:srgbClr val="000000"/>
                </a:solidFill>
                <a:effectLst/>
                <a:latin typeface="Verdana" panose="020B0604030504040204" pitchFamily="34" charset="0"/>
              </a:rPr>
              <a:t> es el registro </a:t>
            </a:r>
            <a:r>
              <a:rPr kumimoji="0" lang="es-AR" altLang="es-AR" sz="2000" b="1" i="0" u="none" strike="noStrike" cap="none" normalizeH="0" baseline="0" dirty="0">
                <a:ln>
                  <a:noFill/>
                </a:ln>
                <a:solidFill>
                  <a:srgbClr val="000000"/>
                </a:solidFill>
                <a:effectLst/>
                <a:latin typeface="Verdana" panose="020B0604030504040204" pitchFamily="34" charset="0"/>
              </a:rPr>
              <a:t>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la operación es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DC</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hubo un acarreo del bit 3 al 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hubo desbordamiento, o sea, cuando se supera H'FF'</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100" b="0" i="0" u="none" strike="noStrike" cap="none" normalizeH="0" baseline="0" dirty="0">
                <a:ln>
                  <a:noFill/>
                </a:ln>
                <a:solidFill>
                  <a:schemeClr val="tx1"/>
                </a:solidFill>
                <a:effectLst/>
              </a:rPr>
            </a:b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9510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A65CB07-7942-48BA-BAC6-9E3F4684FCE4}"/>
              </a:ext>
            </a:extLst>
          </p:cNvPr>
          <p:cNvSpPr>
            <a:spLocks noGrp="1" noChangeArrowheads="1"/>
          </p:cNvSpPr>
          <p:nvPr>
            <p:ph idx="1"/>
          </p:nvPr>
        </p:nvSpPr>
        <p:spPr bwMode="auto">
          <a:xfrm>
            <a:off x="604753" y="-138500"/>
            <a:ext cx="14173175" cy="6771084"/>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1" i="1" u="sng" strike="noStrike" cap="none" normalizeH="0" baseline="0" dirty="0">
                <a:ln>
                  <a:noFill/>
                </a:ln>
                <a:solidFill>
                  <a:srgbClr val="800000"/>
                </a:solidFill>
                <a:effectLst/>
                <a:latin typeface="Verdana" panose="020B0604030504040204" pitchFamily="34" charset="0"/>
              </a:rPr>
              <a:t>ADDWF</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0" u="sng" strike="noStrike" cap="none" normalizeH="0" baseline="0" dirty="0">
                <a:ln>
                  <a:noFill/>
                </a:ln>
                <a:solidFill>
                  <a:srgbClr val="000000"/>
                </a:solidFill>
                <a:effectLst/>
                <a:latin typeface="Verdana" panose="020B0604030504040204" pitchFamily="34" charset="0"/>
              </a:rPr>
              <a:t>Suma el valor del registro W con el valor de un registro cualquiera. El destino de esta suma, lo elige el programador.</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1" u="none" strike="noStrike" cap="none" normalizeH="0" baseline="0" dirty="0">
                <a:ln>
                  <a:noFill/>
                </a:ln>
                <a:solidFill>
                  <a:srgbClr val="000000"/>
                </a:solidFill>
                <a:effectLst/>
                <a:latin typeface="Verdana" panose="020B0604030504040204" pitchFamily="34" charset="0"/>
              </a:rPr>
              <a:t>Ejemplo:</a:t>
            </a:r>
            <a:br>
              <a:rPr kumimoji="0" lang="es-AR" altLang="es-AR" sz="1600" b="0" i="0" u="none" strike="noStrike" cap="none" normalizeH="0" baseline="0" dirty="0">
                <a:ln>
                  <a:noFill/>
                </a:ln>
                <a:solidFill>
                  <a:schemeClr val="tx1"/>
                </a:solidFill>
                <a:effectLst/>
              </a:rPr>
            </a:br>
            <a:r>
              <a:rPr kumimoji="0" lang="es-AR" altLang="es-AR" sz="16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dejavu sans mono"/>
              </a:rPr>
              <a:t>          ADDWF      TEMP,W</a:t>
            </a:r>
            <a:br>
              <a:rPr kumimoji="0" lang="es-AR" altLang="es-AR" sz="1600" b="0" i="0" u="none" strike="noStrike" cap="none" normalizeH="0" baseline="0" dirty="0">
                <a:ln>
                  <a:noFill/>
                </a:ln>
                <a:solidFill>
                  <a:schemeClr val="tx1"/>
                </a:solidFill>
                <a:effectLst/>
              </a:rPr>
            </a:br>
            <a:r>
              <a:rPr kumimoji="0" lang="es-AR" altLang="es-AR" sz="1600" b="0" i="0" u="none" strike="noStrike" cap="none" normalizeH="0" baseline="0" dirty="0">
                <a:ln>
                  <a:noFill/>
                </a:ln>
                <a:solidFill>
                  <a:srgbClr val="000000"/>
                </a:solidFill>
                <a:effectLst/>
                <a:latin typeface="Verdana" panose="020B0604030504040204" pitchFamily="34" charset="0"/>
              </a:rPr>
              <a:t>Si W tenía guardado .133 y la posición de la RAM llamada TEMP tenía el valor cargado con .2, W vale .135 y TEMP continúa valiendo .2</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0" u="none" strike="noStrike" cap="none" normalizeH="0" baseline="0" dirty="0">
                <a:ln>
                  <a:noFill/>
                </a:ln>
                <a:solidFill>
                  <a:srgbClr val="000000"/>
                </a:solidFill>
                <a:effectLst/>
                <a:latin typeface="Verdana" panose="020B0604030504040204" pitchFamily="34" charset="0"/>
              </a:rPr>
              <a:t>Ahora si hubiera puesto así:</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dejavu sans mono"/>
              </a:rPr>
              <a:t>         ADDWF       TEMP,F</a:t>
            </a:r>
            <a:br>
              <a:rPr kumimoji="0" lang="es-AR" altLang="es-AR" sz="1600" b="0" i="0" u="none" strike="noStrike" cap="none" normalizeH="0" baseline="0" dirty="0">
                <a:ln>
                  <a:noFill/>
                </a:ln>
                <a:solidFill>
                  <a:schemeClr val="tx1"/>
                </a:solidFill>
                <a:effectLst/>
              </a:rPr>
            </a:br>
            <a:r>
              <a:rPr kumimoji="0" lang="es-AR" altLang="es-AR" sz="1600" b="0" i="0" u="none" strike="noStrike" cap="none" normalizeH="0" baseline="0" dirty="0">
                <a:ln>
                  <a:noFill/>
                </a:ln>
                <a:solidFill>
                  <a:srgbClr val="000000"/>
                </a:solidFill>
                <a:effectLst/>
                <a:latin typeface="Verdana" panose="020B0604030504040204" pitchFamily="34" charset="0"/>
              </a:rPr>
              <a:t>TEMP valdría .135 y W valdría .133</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0" u="none" strike="noStrike" cap="none" normalizeH="0" baseline="0" dirty="0">
                <a:ln>
                  <a:noFill/>
                </a:ln>
                <a:solidFill>
                  <a:srgbClr val="000000"/>
                </a:solidFill>
                <a:effectLst/>
                <a:latin typeface="Verdana" panose="020B0604030504040204" pitchFamily="34" charset="0"/>
              </a:rPr>
              <a:t>Para recordar, </a:t>
            </a:r>
            <a:r>
              <a:rPr kumimoji="0" lang="es-AR" altLang="es-AR" sz="1600" b="1" i="0" u="none" strike="noStrike" cap="none" normalizeH="0" baseline="0" dirty="0">
                <a:ln>
                  <a:noFill/>
                </a:ln>
                <a:solidFill>
                  <a:srgbClr val="000000"/>
                </a:solidFill>
                <a:effectLst/>
                <a:latin typeface="Verdana" panose="020B0604030504040204" pitchFamily="34" charset="0"/>
              </a:rPr>
              <a:t>F</a:t>
            </a:r>
            <a:r>
              <a:rPr kumimoji="0" lang="es-AR" altLang="es-AR" sz="1600" b="0" i="0" u="none" strike="noStrike" cap="none" normalizeH="0" baseline="0" dirty="0">
                <a:ln>
                  <a:noFill/>
                </a:ln>
                <a:solidFill>
                  <a:srgbClr val="000000"/>
                </a:solidFill>
                <a:effectLst/>
                <a:latin typeface="Verdana" panose="020B0604030504040204" pitchFamily="34" charset="0"/>
              </a:rPr>
              <a:t>, es </a:t>
            </a:r>
            <a:r>
              <a:rPr kumimoji="0" lang="es-AR" altLang="es-AR" sz="1600" b="1" i="0" u="none" strike="noStrike" cap="none" normalizeH="0" baseline="0" dirty="0">
                <a:ln>
                  <a:noFill/>
                </a:ln>
                <a:solidFill>
                  <a:srgbClr val="000000"/>
                </a:solidFill>
                <a:effectLst/>
                <a:latin typeface="Verdana" panose="020B0604030504040204" pitchFamily="34" charset="0"/>
              </a:rPr>
              <a:t>F</a:t>
            </a:r>
            <a:r>
              <a:rPr kumimoji="0" lang="es-AR" altLang="es-AR" sz="1600" b="0" i="0" u="none" strike="noStrike" cap="none" normalizeH="0" baseline="0" dirty="0">
                <a:ln>
                  <a:noFill/>
                </a:ln>
                <a:solidFill>
                  <a:srgbClr val="000000"/>
                </a:solidFill>
                <a:effectLst/>
                <a:latin typeface="Verdana" panose="020B0604030504040204" pitchFamily="34" charset="0"/>
              </a:rPr>
              <a:t>ile </a:t>
            </a:r>
            <a:r>
              <a:rPr kumimoji="0" lang="es-AR" altLang="es-AR" sz="1600" b="0" i="0" u="none" strike="noStrike" cap="none" normalizeH="0" baseline="0" dirty="0" err="1">
                <a:ln>
                  <a:noFill/>
                </a:ln>
                <a:solidFill>
                  <a:srgbClr val="000000"/>
                </a:solidFill>
                <a:effectLst/>
                <a:latin typeface="Verdana" panose="020B0604030504040204" pitchFamily="34" charset="0"/>
              </a:rPr>
              <a:t>Register</a:t>
            </a:r>
            <a:r>
              <a:rPr kumimoji="0" lang="es-AR" altLang="es-AR" sz="1600" b="0" i="0" u="none" strike="noStrike" cap="none" normalizeH="0" baseline="0" dirty="0">
                <a:ln>
                  <a:noFill/>
                </a:ln>
                <a:solidFill>
                  <a:srgbClr val="000000"/>
                </a:solidFill>
                <a:effectLst/>
                <a:latin typeface="Verdana" panose="020B0604030504040204" pitchFamily="34" charset="0"/>
              </a:rPr>
              <a:t> </a:t>
            </a:r>
            <a:r>
              <a:rPr kumimoji="0" lang="es-AR" altLang="es-AR" sz="1600" b="0" i="0" u="none" strike="noStrike" cap="none" normalizeH="0" baseline="0" dirty="0" err="1">
                <a:ln>
                  <a:noFill/>
                </a:ln>
                <a:solidFill>
                  <a:srgbClr val="000000"/>
                </a:solidFill>
                <a:effectLst/>
                <a:latin typeface="Verdana" panose="020B0604030504040204" pitchFamily="34" charset="0"/>
              </a:rPr>
              <a:t>Address</a:t>
            </a:r>
            <a:r>
              <a:rPr kumimoji="0" lang="es-AR" altLang="es-AR" sz="1600" b="0" i="0" u="none" strike="noStrike" cap="none" normalizeH="0" baseline="0" dirty="0">
                <a:ln>
                  <a:noFill/>
                </a:ln>
                <a:solidFill>
                  <a:srgbClr val="000000"/>
                </a:solidFill>
                <a:effectLst/>
                <a:latin typeface="Verdana" panose="020B0604030504040204" pitchFamily="34" charset="0"/>
              </a:rPr>
              <a:t>.</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1" u="none" strike="noStrike" cap="none" normalizeH="0" baseline="0" dirty="0">
                <a:ln>
                  <a:noFill/>
                </a:ln>
                <a:solidFill>
                  <a:srgbClr val="000000"/>
                </a:solidFill>
                <a:effectLst/>
                <a:latin typeface="Verdana" panose="020B0604030504040204" pitchFamily="34" charset="0"/>
              </a:rPr>
              <a:t>NOTA:</a:t>
            </a:r>
            <a:r>
              <a:rPr kumimoji="0" lang="es-AR" altLang="es-AR" sz="1600" b="0" i="0" u="none" strike="noStrike" cap="none" normalizeH="0" baseline="0" dirty="0">
                <a:ln>
                  <a:noFill/>
                </a:ln>
                <a:solidFill>
                  <a:srgbClr val="000000"/>
                </a:solidFill>
                <a:effectLst/>
                <a:latin typeface="Verdana" panose="020B0604030504040204" pitchFamily="34" charset="0"/>
              </a:rPr>
              <a:t> Para indicar la dirección de dónde se guarda, también se puede poner 0 o 1 en vez de W o F. 0, corresponder guardarlo en el</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Verdana" panose="020B0604030504040204" pitchFamily="34" charset="0"/>
              </a:rPr>
              <a:t> registro W y 1 en el registro TEMP (para este caso).</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1" i="0" u="sng" strike="noStrike" cap="none" normalizeH="0" baseline="0" dirty="0">
                <a:ln>
                  <a:noFill/>
                </a:ln>
                <a:solidFill>
                  <a:srgbClr val="000000"/>
                </a:solidFill>
                <a:effectLst/>
                <a:latin typeface="Verdana" panose="020B0604030504040204" pitchFamily="34" charset="0"/>
              </a:rPr>
              <a:t>Afecta a:</a:t>
            </a:r>
            <a:br>
              <a:rPr kumimoji="0" lang="es-AR" altLang="es-AR" sz="1600" b="0" i="0" u="none" strike="noStrike" cap="none" normalizeH="0" baseline="0" dirty="0">
                <a:ln>
                  <a:noFill/>
                </a:ln>
                <a:solidFill>
                  <a:schemeClr val="tx1"/>
                </a:solidFill>
                <a:effectLst/>
              </a:rPr>
            </a:br>
            <a:endParaRPr kumimoji="0" lang="es-AR" altLang="es-A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600" b="1" i="0" u="none" strike="noStrike" cap="none" normalizeH="0" baseline="0" dirty="0">
                <a:ln>
                  <a:noFill/>
                </a:ln>
                <a:solidFill>
                  <a:srgbClr val="000000"/>
                </a:solidFill>
                <a:effectLst/>
                <a:latin typeface="Verdana" panose="020B0604030504040204" pitchFamily="34" charset="0"/>
              </a:rPr>
              <a:t>Z</a:t>
            </a:r>
            <a:r>
              <a:rPr kumimoji="0" lang="es-AR" altLang="es-AR" sz="1600" b="0" i="0" u="none" strike="noStrike" cap="none" normalizeH="0" baseline="0" dirty="0">
                <a:ln>
                  <a:noFill/>
                </a:ln>
                <a:solidFill>
                  <a:srgbClr val="000000"/>
                </a:solidFill>
                <a:effectLst/>
                <a:latin typeface="Verdana" panose="020B0604030504040204" pitchFamily="34" charset="0"/>
              </a:rPr>
              <a:t> Se pone a 1 si la operación es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600" b="1" i="0" u="none" strike="noStrike" cap="none" normalizeH="0" baseline="0" dirty="0">
                <a:ln>
                  <a:noFill/>
                </a:ln>
                <a:solidFill>
                  <a:srgbClr val="000000"/>
                </a:solidFill>
                <a:effectLst/>
                <a:latin typeface="Verdana" panose="020B0604030504040204" pitchFamily="34" charset="0"/>
              </a:rPr>
              <a:t>DC</a:t>
            </a:r>
            <a:r>
              <a:rPr kumimoji="0" lang="es-AR" altLang="es-AR" sz="1600" b="0" i="0" u="none" strike="noStrike" cap="none" normalizeH="0" baseline="0" dirty="0">
                <a:ln>
                  <a:noFill/>
                </a:ln>
                <a:solidFill>
                  <a:srgbClr val="000000"/>
                </a:solidFill>
                <a:effectLst/>
                <a:latin typeface="Verdana" panose="020B0604030504040204" pitchFamily="34" charset="0"/>
              </a:rPr>
              <a:t> Se pone a 1 si hubo un acarreo del bit 3 al 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600" b="1" i="0" u="none" strike="noStrike" cap="none" normalizeH="0" baseline="0" dirty="0">
                <a:ln>
                  <a:noFill/>
                </a:ln>
                <a:solidFill>
                  <a:srgbClr val="000000"/>
                </a:solidFill>
                <a:effectLst/>
                <a:latin typeface="Verdana" panose="020B0604030504040204" pitchFamily="34" charset="0"/>
              </a:rPr>
              <a:t>C</a:t>
            </a:r>
            <a:r>
              <a:rPr kumimoji="0" lang="es-AR" altLang="es-AR" sz="1600" b="0" i="0" u="none" strike="noStrike" cap="none" normalizeH="0" baseline="0" dirty="0">
                <a:ln>
                  <a:noFill/>
                </a:ln>
                <a:solidFill>
                  <a:srgbClr val="000000"/>
                </a:solidFill>
                <a:effectLst/>
                <a:latin typeface="Verdana" panose="020B0604030504040204" pitchFamily="34" charset="0"/>
              </a:rPr>
              <a:t> Se pone a 1 si hubo desbordamiento, o sea, cuando se supera H'FF'</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25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A072423-C569-4F37-A1EE-9A5A0623DCFC}"/>
              </a:ext>
            </a:extLst>
          </p:cNvPr>
          <p:cNvSpPr>
            <a:spLocks noGrp="1" noChangeArrowheads="1"/>
          </p:cNvSpPr>
          <p:nvPr>
            <p:ph idx="1"/>
          </p:nvPr>
        </p:nvSpPr>
        <p:spPr bwMode="auto">
          <a:xfrm>
            <a:off x="838201" y="466845"/>
            <a:ext cx="10770704" cy="5786199"/>
          </a:xfrm>
          <a:prstGeom prst="rect">
            <a:avLst/>
          </a:prstGeom>
          <a:solidFill>
            <a:srgbClr val="EE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5870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Arial" panose="020B0604020202020204" pitchFamily="34" charset="0"/>
              </a:rPr>
              <a:t>ANDWF</a:t>
            </a:r>
            <a:br>
              <a:rPr kumimoji="0" lang="es-AR" altLang="es-AR" sz="2000" b="0" i="0" u="none" strike="noStrike" cap="none" normalizeH="0" baseline="0" dirty="0">
                <a:ln>
                  <a:noFill/>
                </a:ln>
                <a:solidFill>
                  <a:schemeClr val="tx1"/>
                </a:solidFill>
                <a:effectLst/>
                <a:latin typeface="Arial" panose="020B0604020202020204" pitchFamily="34" charset="0"/>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chemeClr val="tx1"/>
                </a:solidFill>
                <a:effectLst/>
                <a:latin typeface="Arial" panose="020B0604020202020204" pitchFamily="34" charset="0"/>
              </a:rPr>
              <a:t>Realiza la operación AND entre W y un registro designado por el programador. El destino de esta operación lo elije el programador.</a:t>
            </a:r>
            <a:br>
              <a:rPr kumimoji="0" lang="es-AR" altLang="es-AR" sz="2000" b="0" i="0" u="none" strike="noStrike" cap="none" normalizeH="0" baseline="0" dirty="0">
                <a:ln>
                  <a:noFill/>
                </a:ln>
                <a:solidFill>
                  <a:schemeClr val="tx1"/>
                </a:solidFill>
                <a:effectLst/>
                <a:latin typeface="Arial" panose="020B0604020202020204" pitchFamily="34" charset="0"/>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chemeClr val="tx1"/>
                </a:solidFill>
                <a:effectLst/>
                <a:latin typeface="Arial" panose="020B0604020202020204" pitchFamily="34" charset="0"/>
              </a:rPr>
              <a:t>Ejemplo:</a:t>
            </a:r>
            <a:br>
              <a:rPr kumimoji="0" lang="es-AR" altLang="es-AR" sz="2000" b="0" i="0" u="none" strike="noStrike" cap="none" normalizeH="0" baseline="0" dirty="0">
                <a:ln>
                  <a:noFill/>
                </a:ln>
                <a:solidFill>
                  <a:schemeClr val="tx1"/>
                </a:solidFill>
                <a:effectLst/>
                <a:latin typeface="Arial" panose="020B0604020202020204" pitchFamily="34" charset="0"/>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Arial" panose="020B060402020202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chemeClr val="tx1"/>
                </a:solidFill>
                <a:effectLst/>
                <a:latin typeface="dejavu sans mono"/>
              </a:rPr>
              <a:t>            ANDWF       TEMP,F</a:t>
            </a: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chemeClr val="tx1"/>
                </a:solidFill>
                <a:effectLst/>
              </a:rPr>
              <a:t>Si antes de la instrucción W vale B'11100011' y TEMP vale B'00111010' Después de la instrucción TEMP vale B'00100010' y W vale B'11100011'</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rPr>
            </a:br>
            <a:r>
              <a:rPr kumimoji="0" lang="es-AR" altLang="es-AR" sz="2000" b="1" i="0" u="sng" strike="noStrike" cap="none" normalizeH="0" baseline="0" dirty="0">
                <a:ln>
                  <a:noFill/>
                </a:ln>
                <a:solidFill>
                  <a:schemeClr val="tx1"/>
                </a:solidFill>
                <a:effectLst/>
                <a:latin typeface="Arial" panose="020B0604020202020204" pitchFamily="34" charset="0"/>
              </a:rPr>
              <a:t>Afecta a:</a:t>
            </a:r>
            <a:br>
              <a:rPr kumimoji="0" lang="es-AR" altLang="es-AR" sz="2000" b="0" i="0" u="none" strike="noStrike" cap="none" normalizeH="0" baseline="0" dirty="0">
                <a:ln>
                  <a:noFill/>
                </a:ln>
                <a:solidFill>
                  <a:schemeClr val="tx1"/>
                </a:solidFill>
                <a:effectLst/>
                <a:latin typeface="Arial" panose="020B0604020202020204" pitchFamily="34" charset="0"/>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chemeClr val="tx1"/>
                </a:solidFill>
                <a:effectLst/>
                <a:latin typeface="Arial" panose="020B0604020202020204" pitchFamily="34" charset="0"/>
              </a:rPr>
              <a:t>Z</a:t>
            </a:r>
            <a:r>
              <a:rPr kumimoji="0" lang="es-AR" altLang="es-AR" sz="2000" b="0" i="0" u="none" strike="noStrike" cap="none" normalizeH="0" baseline="0" dirty="0">
                <a:ln>
                  <a:noFill/>
                </a:ln>
                <a:solidFill>
                  <a:schemeClr val="tx1"/>
                </a:solidFill>
                <a:effectLst/>
                <a:latin typeface="Arial" panose="020B0604020202020204" pitchFamily="34" charset="0"/>
              </a:rPr>
              <a:t> Se pone a 1 si la operación es 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0" u="none" strike="noStrike" cap="none" normalizeH="0" baseline="0" dirty="0">
                <a:ln>
                  <a:noFill/>
                </a:ln>
                <a:solidFill>
                  <a:schemeClr val="tx1"/>
                </a:solidFill>
                <a:effectLst/>
                <a:latin typeface="Arial" panose="020B0604020202020204" pitchFamily="34" charset="0"/>
              </a:rPr>
              <a:t>(Vale 1 donde los dos son 1)</a:t>
            </a:r>
          </a:p>
        </p:txBody>
      </p:sp>
    </p:spTree>
    <p:extLst>
      <p:ext uri="{BB962C8B-B14F-4D97-AF65-F5344CB8AC3E}">
        <p14:creationId xmlns:p14="http://schemas.microsoft.com/office/powerpoint/2010/main" val="2952423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9C4F220-02AF-4AF8-98FC-3460B2D9A4BD}"/>
              </a:ext>
            </a:extLst>
          </p:cNvPr>
          <p:cNvSpPr>
            <a:spLocks noGrp="1" noChangeArrowheads="1"/>
          </p:cNvSpPr>
          <p:nvPr>
            <p:ph idx="1"/>
          </p:nvPr>
        </p:nvSpPr>
        <p:spPr bwMode="auto">
          <a:xfrm>
            <a:off x="856421" y="766732"/>
            <a:ext cx="10479157" cy="5324535"/>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BCF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Pone a 0 el bit de un registro. El bit debe ser indicado por el programador.</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BCF      TEMP,2</a:t>
            </a: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Antes de la instrucción TEMP vale B'11111111'. Después de la instrucción TEMP vale B'11111011'</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B</a:t>
            </a:r>
            <a:r>
              <a:rPr kumimoji="0" lang="es-AR" altLang="es-AR" sz="2000" b="0" i="0" u="none" strike="noStrike" cap="none" normalizeH="0" baseline="0" dirty="0">
                <a:ln>
                  <a:noFill/>
                </a:ln>
                <a:solidFill>
                  <a:srgbClr val="000000"/>
                </a:solidFill>
                <a:effectLst/>
                <a:latin typeface="Verdana" panose="020B0604030504040204" pitchFamily="34" charset="0"/>
              </a:rPr>
              <a:t>it </a:t>
            </a: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lear es borrar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archivo o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No afecta ningún bit del registro Status.</a:t>
            </a:r>
            <a:r>
              <a:rPr kumimoji="0" lang="es-AR" altLang="es-AR" sz="2000" b="0" i="0" u="none" strike="noStrike" cap="none" normalizeH="0" baseline="0" dirty="0">
                <a:ln>
                  <a:noFill/>
                </a:ln>
                <a:solidFill>
                  <a:schemeClr val="tx1"/>
                </a:solidFill>
                <a:effectLst/>
              </a:rPr>
              <a:t> </a:t>
            </a: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4AB8193D-528E-47E9-9126-C3626FC97019}"/>
              </a:ext>
            </a:extLst>
          </p:cNvPr>
          <p:cNvSpPr txBox="1"/>
          <p:nvPr/>
        </p:nvSpPr>
        <p:spPr>
          <a:xfrm>
            <a:off x="5168348" y="2676939"/>
            <a:ext cx="1842052" cy="646331"/>
          </a:xfrm>
          <a:prstGeom prst="rect">
            <a:avLst/>
          </a:prstGeom>
          <a:noFill/>
        </p:spPr>
        <p:txBody>
          <a:bodyPr wrap="square" rtlCol="0">
            <a:spAutoFit/>
          </a:bodyPr>
          <a:lstStyle/>
          <a:p>
            <a:r>
              <a:rPr lang="es-AR" dirty="0"/>
              <a:t>Pone en cero la posición 2</a:t>
            </a:r>
          </a:p>
        </p:txBody>
      </p:sp>
      <p:cxnSp>
        <p:nvCxnSpPr>
          <p:cNvPr id="7" name="Straight Arrow Connector 6">
            <a:extLst>
              <a:ext uri="{FF2B5EF4-FFF2-40B4-BE49-F238E27FC236}">
                <a16:creationId xmlns:a16="http://schemas.microsoft.com/office/drawing/2014/main" id="{077E26C0-6DFF-4C06-A348-6401231BCBF4}"/>
              </a:ext>
            </a:extLst>
          </p:cNvPr>
          <p:cNvCxnSpPr>
            <a:cxnSpLocks/>
          </p:cNvCxnSpPr>
          <p:nvPr/>
        </p:nvCxnSpPr>
        <p:spPr>
          <a:xfrm>
            <a:off x="5168349" y="3140765"/>
            <a:ext cx="1245703" cy="1060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130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9D2C6DA-64C9-460C-831D-3A0432D95D42}"/>
              </a:ext>
            </a:extLst>
          </p:cNvPr>
          <p:cNvSpPr>
            <a:spLocks noGrp="1" noChangeArrowheads="1"/>
          </p:cNvSpPr>
          <p:nvPr>
            <p:ph idx="1"/>
          </p:nvPr>
        </p:nvSpPr>
        <p:spPr bwMode="auto">
          <a:xfrm>
            <a:off x="838199" y="1185139"/>
            <a:ext cx="10518913" cy="5632311"/>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BSF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Pone a 1 el bit de un registro. El bit debe ser indicado por el programador.</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BSF      TEMP,0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Antes de la instrucción TEMP vale B'01110110'. Después de la instrucción TEMP vale B'01110111'</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B</a:t>
            </a:r>
            <a:r>
              <a:rPr kumimoji="0" lang="es-AR" altLang="es-AR" sz="2000" b="0" i="0" u="none" strike="noStrike" cap="none" normalizeH="0" baseline="0" dirty="0">
                <a:ln>
                  <a:noFill/>
                </a:ln>
                <a:solidFill>
                  <a:srgbClr val="000000"/>
                </a:solidFill>
                <a:effectLst/>
                <a:latin typeface="Verdana" panose="020B0604030504040204" pitchFamily="34" charset="0"/>
              </a:rPr>
              <a:t>it </a:t>
            </a:r>
            <a:r>
              <a:rPr kumimoji="0" lang="es-AR" altLang="es-AR" sz="2000" b="1" i="0" u="none" strike="noStrike" cap="none" normalizeH="0" baseline="0" dirty="0">
                <a:ln>
                  <a:noFill/>
                </a:ln>
                <a:solidFill>
                  <a:srgbClr val="000000"/>
                </a:solidFill>
                <a:effectLst/>
                <a:latin typeface="Verdana" panose="020B0604030504040204" pitchFamily="34" charset="0"/>
              </a:rPr>
              <a:t>S</a:t>
            </a:r>
            <a:r>
              <a:rPr kumimoji="0" lang="es-AR" altLang="es-AR" sz="2000" b="0" i="0" u="none" strike="noStrike" cap="none" normalizeH="0" baseline="0" dirty="0">
                <a:ln>
                  <a:noFill/>
                </a:ln>
                <a:solidFill>
                  <a:srgbClr val="000000"/>
                </a:solidFill>
                <a:effectLst/>
                <a:latin typeface="Verdana" panose="020B0604030504040204" pitchFamily="34" charset="0"/>
              </a:rPr>
              <a:t>et es poner a 1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Archivo o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No afecta a ningún Bit del registro Status.</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4595193F-50F0-42BC-BF59-08984E9E9D46}"/>
              </a:ext>
            </a:extLst>
          </p:cNvPr>
          <p:cNvSpPr txBox="1"/>
          <p:nvPr/>
        </p:nvSpPr>
        <p:spPr>
          <a:xfrm>
            <a:off x="4784035" y="3429000"/>
            <a:ext cx="3776869" cy="369332"/>
          </a:xfrm>
          <a:prstGeom prst="rect">
            <a:avLst/>
          </a:prstGeom>
          <a:noFill/>
        </p:spPr>
        <p:txBody>
          <a:bodyPr wrap="square" rtlCol="0">
            <a:spAutoFit/>
          </a:bodyPr>
          <a:lstStyle/>
          <a:p>
            <a:r>
              <a:rPr lang="es-AR" dirty="0"/>
              <a:t>Pone en 1 la posición 0</a:t>
            </a:r>
          </a:p>
        </p:txBody>
      </p:sp>
      <p:cxnSp>
        <p:nvCxnSpPr>
          <p:cNvPr id="7" name="Straight Arrow Connector 6">
            <a:extLst>
              <a:ext uri="{FF2B5EF4-FFF2-40B4-BE49-F238E27FC236}">
                <a16:creationId xmlns:a16="http://schemas.microsoft.com/office/drawing/2014/main" id="{232B148C-BA10-4BAE-B32D-B7961F4417F5}"/>
              </a:ext>
            </a:extLst>
          </p:cNvPr>
          <p:cNvCxnSpPr>
            <a:cxnSpLocks/>
          </p:cNvCxnSpPr>
          <p:nvPr/>
        </p:nvCxnSpPr>
        <p:spPr>
          <a:xfrm flipH="1">
            <a:off x="6771860" y="3798332"/>
            <a:ext cx="172279" cy="856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726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7A8033E-2FB1-4A45-9BAD-735D4941BBE1}"/>
              </a:ext>
            </a:extLst>
          </p:cNvPr>
          <p:cNvSpPr>
            <a:spLocks noGrp="1" noChangeArrowheads="1"/>
          </p:cNvSpPr>
          <p:nvPr>
            <p:ph idx="1"/>
          </p:nvPr>
        </p:nvSpPr>
        <p:spPr bwMode="auto">
          <a:xfrm>
            <a:off x="838201" y="-392242"/>
            <a:ext cx="10770704" cy="7478970"/>
          </a:xfrm>
          <a:prstGeom prst="rect">
            <a:avLst/>
          </a:prstGeom>
          <a:solidFill>
            <a:srgbClr val="F0F4F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BTFSC</a:t>
            </a:r>
            <a:br>
              <a:rPr kumimoji="0" lang="es-AR" altLang="es-AR" sz="2000" b="0" i="0" u="none" strike="noStrike" cap="none" normalizeH="0" baseline="0" dirty="0">
                <a:ln>
                  <a:noFill/>
                </a:ln>
                <a:solidFill>
                  <a:schemeClr val="tx1"/>
                </a:solidFill>
                <a:effectLst/>
              </a:rPr>
            </a:br>
            <a:r>
              <a:rPr kumimoji="0" lang="es-AR" altLang="es-AR" sz="2000" b="0" i="0" u="sng" strike="noStrike" cap="none" normalizeH="0" baseline="0" dirty="0">
                <a:ln>
                  <a:noFill/>
                </a:ln>
                <a:solidFill>
                  <a:srgbClr val="000000"/>
                </a:solidFill>
                <a:effectLst/>
                <a:latin typeface="Verdana" panose="020B0604030504040204" pitchFamily="34" charset="0"/>
              </a:rPr>
              <a:t>Salta un línea si el bit de un registro es cero. El bit debe ser indicado por el programador.</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BTFSC    TEMP,5                                                   </a:t>
            </a:r>
            <a:r>
              <a:rPr kumimoji="0" lang="es-AR" altLang="es-AR" sz="2000" b="0" i="0" u="none" strike="noStrike" cap="none" normalizeH="0" baseline="0" dirty="0" err="1">
                <a:ln>
                  <a:noFill/>
                </a:ln>
                <a:solidFill>
                  <a:srgbClr val="000000"/>
                </a:solidFill>
                <a:effectLst/>
                <a:latin typeface="dejavu sans mono"/>
              </a:rPr>
              <a:t>if</a:t>
            </a:r>
            <a:r>
              <a:rPr kumimoji="0" lang="es-AR" altLang="es-AR" sz="2000" b="0" i="0" u="none" strike="noStrike" cap="none" normalizeH="0" baseline="0" dirty="0">
                <a:ln>
                  <a:noFill/>
                </a:ln>
                <a:solidFill>
                  <a:srgbClr val="000000"/>
                </a:solidFill>
                <a:effectLst/>
                <a:latin typeface="dejavu sans mono"/>
              </a:rPr>
              <a:t> (  )</a:t>
            </a:r>
            <a:br>
              <a:rPr kumimoji="0" lang="es-AR" altLang="es-AR" sz="2000" b="0" i="0" u="none" strike="noStrike" cap="none" normalizeH="0" baseline="0" dirty="0">
                <a:ln>
                  <a:noFill/>
                </a:ln>
                <a:solidFill>
                  <a:srgbClr val="000000"/>
                </a:solidFill>
                <a:effectLst/>
                <a:latin typeface="dejavu sans mono"/>
              </a:rPr>
            </a:br>
            <a:r>
              <a:rPr kumimoji="0" lang="es-AR" altLang="es-AR" sz="2000" b="0" i="0" u="none" strike="noStrike" cap="none" normalizeH="0" baseline="0" dirty="0">
                <a:ln>
                  <a:noFill/>
                </a:ln>
                <a:solidFill>
                  <a:srgbClr val="000000"/>
                </a:solidFill>
                <a:effectLst/>
                <a:latin typeface="dejavu sans mono"/>
              </a:rPr>
              <a:t>         BCF        PORTA,0                                                   {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BSF        PORTB,0                                                </a:t>
            </a:r>
            <a:r>
              <a:rPr kumimoji="0" lang="es-AR" altLang="es-AR" sz="2000" b="0" i="0" u="none" strike="noStrike" cap="none" normalizeH="0" baseline="0" dirty="0" err="1">
                <a:ln>
                  <a:noFill/>
                </a:ln>
                <a:solidFill>
                  <a:srgbClr val="000000"/>
                </a:solidFill>
                <a:effectLst/>
                <a:latin typeface="dejavu sans mono"/>
              </a:rPr>
              <a:t>xxxxxx</a:t>
            </a:r>
            <a:br>
              <a:rPr kumimoji="0" lang="es-AR" altLang="es-AR" sz="2000" b="0" i="0" u="none" strike="noStrike" cap="none" normalizeH="0" baseline="0" dirty="0">
                <a:ln>
                  <a:noFill/>
                </a:ln>
                <a:solidFill>
                  <a:schemeClr val="tx1"/>
                </a:solidFill>
                <a:effectLst/>
              </a:rPr>
            </a:br>
            <a:r>
              <a:rPr kumimoji="0" lang="es-AR" altLang="es-AR" sz="2000" b="0" i="1" u="none" strike="noStrike" cap="none" normalizeH="0" baseline="0" dirty="0">
                <a:ln>
                  <a:noFill/>
                </a:ln>
                <a:solidFill>
                  <a:srgbClr val="000000"/>
                </a:solidFill>
                <a:effectLst/>
                <a:latin typeface="Verdana" panose="020B0604030504040204" pitchFamily="34" charset="0"/>
              </a:rPr>
              <a:t>Caso 1:</a:t>
            </a: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TEMP vale B'00011110'. El CP analizará solo el Bit 5 del registro TEMP, como es 0, salta la instrucción BCF   PORTA,0 y ejecuta la siguiente línea que es BSF  PORTB,0 y continua haciendo la instrucción.</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Caso 2:</a:t>
            </a: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TEMP vale B'00111000'. El CP analizará solo el Bit 5 del registro TEMP, como es 1 no salta la instrucción y hará la instrucción BCF  PORTA,0 y luego continua con la instrucción BSF  PORTB,0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B</a:t>
            </a:r>
            <a:r>
              <a:rPr kumimoji="0" lang="es-AR" altLang="es-AR" sz="2000" b="0" i="0" u="none" strike="noStrike" cap="none" normalizeH="0" baseline="0" dirty="0">
                <a:ln>
                  <a:noFill/>
                </a:ln>
                <a:solidFill>
                  <a:srgbClr val="000000"/>
                </a:solidFill>
                <a:effectLst/>
                <a:latin typeface="Verdana" panose="020B0604030504040204" pitchFamily="34" charset="0"/>
              </a:rPr>
              <a:t>it </a:t>
            </a:r>
            <a:r>
              <a:rPr kumimoji="0" lang="es-AR" altLang="es-AR" sz="2000" b="1" i="0" u="none" strike="noStrike" cap="none" normalizeH="0" baseline="0" dirty="0">
                <a:ln>
                  <a:noFill/>
                </a:ln>
                <a:solidFill>
                  <a:srgbClr val="000000"/>
                </a:solidFill>
                <a:effectLst/>
                <a:latin typeface="Verdana" panose="020B0604030504040204" pitchFamily="34" charset="0"/>
              </a:rPr>
              <a:t>T</a:t>
            </a:r>
            <a:r>
              <a:rPr kumimoji="0" lang="es-AR" altLang="es-AR" sz="2000" b="0" i="0" u="none" strike="noStrike" cap="none" normalizeH="0" baseline="0" dirty="0">
                <a:ln>
                  <a:noFill/>
                </a:ln>
                <a:solidFill>
                  <a:srgbClr val="000000"/>
                </a:solidFill>
                <a:effectLst/>
                <a:latin typeface="Verdana" panose="020B0604030504040204" pitchFamily="34" charset="0"/>
              </a:rPr>
              <a:t>est es chequear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a:t>
            </a:r>
            <a:r>
              <a:rPr kumimoji="0" lang="es-AR" altLang="es-AR" sz="2000" b="1" i="0" u="none" strike="noStrike" cap="none" normalizeH="0" baseline="0" dirty="0" err="1">
                <a:ln>
                  <a:noFill/>
                </a:ln>
                <a:solidFill>
                  <a:srgbClr val="000000"/>
                </a:solidFill>
                <a:effectLst/>
                <a:latin typeface="Verdana" panose="020B0604030504040204" pitchFamily="34" charset="0"/>
              </a:rPr>
              <a:t>S</a:t>
            </a:r>
            <a:r>
              <a:rPr kumimoji="0" lang="es-AR" altLang="es-AR" sz="2000" b="0" i="0" u="none" strike="noStrike" cap="none" normalizeH="0" baseline="0" dirty="0" err="1">
                <a:ln>
                  <a:noFill/>
                </a:ln>
                <a:solidFill>
                  <a:srgbClr val="000000"/>
                </a:solidFill>
                <a:effectLst/>
                <a:latin typeface="Verdana" panose="020B0604030504040204" pitchFamily="34" charset="0"/>
              </a:rPr>
              <a:t>kip</a:t>
            </a:r>
            <a:r>
              <a:rPr kumimoji="0" lang="es-AR" altLang="es-AR" sz="2000" b="0" i="0" u="none" strike="noStrike" cap="none" normalizeH="0" baseline="0" dirty="0">
                <a:ln>
                  <a:noFill/>
                </a:ln>
                <a:solidFill>
                  <a:srgbClr val="000000"/>
                </a:solidFill>
                <a:effectLst/>
                <a:latin typeface="Verdana" panose="020B0604030504040204" pitchFamily="34" charset="0"/>
              </a:rPr>
              <a:t> es salto </a:t>
            </a: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lear</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No afecta a ningún Bit del registro Status.</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8B081B7B-C7D4-4CDB-A62C-34CB513C9C73}"/>
              </a:ext>
            </a:extLst>
          </p:cNvPr>
          <p:cNvSpPr txBox="1"/>
          <p:nvPr/>
        </p:nvSpPr>
        <p:spPr>
          <a:xfrm>
            <a:off x="4320209" y="2239617"/>
            <a:ext cx="3816626" cy="369332"/>
          </a:xfrm>
          <a:prstGeom prst="rect">
            <a:avLst/>
          </a:prstGeom>
          <a:noFill/>
        </p:spPr>
        <p:txBody>
          <a:bodyPr wrap="square" rtlCol="0">
            <a:spAutoFit/>
          </a:bodyPr>
          <a:lstStyle/>
          <a:p>
            <a:r>
              <a:rPr lang="es-AR" dirty="0"/>
              <a:t>Analiza el Bit 5 de TEMP</a:t>
            </a:r>
          </a:p>
        </p:txBody>
      </p:sp>
      <p:cxnSp>
        <p:nvCxnSpPr>
          <p:cNvPr id="7" name="Straight Connector 6">
            <a:extLst>
              <a:ext uri="{FF2B5EF4-FFF2-40B4-BE49-F238E27FC236}">
                <a16:creationId xmlns:a16="http://schemas.microsoft.com/office/drawing/2014/main" id="{5E50A602-7112-48DB-A3B8-BB4CE2091960}"/>
              </a:ext>
            </a:extLst>
          </p:cNvPr>
          <p:cNvCxnSpPr/>
          <p:nvPr/>
        </p:nvCxnSpPr>
        <p:spPr>
          <a:xfrm>
            <a:off x="5406887" y="3975652"/>
            <a:ext cx="226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A218D31-6CC3-4962-8C56-562B1F52F671}"/>
              </a:ext>
            </a:extLst>
          </p:cNvPr>
          <p:cNvCxnSpPr/>
          <p:nvPr/>
        </p:nvCxnSpPr>
        <p:spPr>
          <a:xfrm>
            <a:off x="5406887" y="4784035"/>
            <a:ext cx="35913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662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FA8705B-EA03-48A9-BA16-AA4FA5DF6D98}"/>
              </a:ext>
            </a:extLst>
          </p:cNvPr>
          <p:cNvSpPr>
            <a:spLocks noGrp="1" noChangeArrowheads="1"/>
          </p:cNvSpPr>
          <p:nvPr>
            <p:ph idx="1"/>
          </p:nvPr>
        </p:nvSpPr>
        <p:spPr bwMode="auto">
          <a:xfrm>
            <a:off x="838200" y="273931"/>
            <a:ext cx="9962322" cy="6186309"/>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1" i="1" u="sng" strike="noStrike" cap="none" normalizeH="0" baseline="0" dirty="0">
                <a:ln>
                  <a:noFill/>
                </a:ln>
                <a:solidFill>
                  <a:srgbClr val="800000"/>
                </a:solidFill>
                <a:effectLst/>
                <a:latin typeface="Verdana" panose="020B0604030504040204" pitchFamily="34" charset="0"/>
              </a:rPr>
              <a:t>BTFSS</a:t>
            </a:r>
            <a:br>
              <a:rPr kumimoji="0" lang="es-AR" altLang="es-AR" sz="1800" b="0" i="0" u="none" strike="noStrike" cap="none" normalizeH="0" baseline="0" dirty="0">
                <a:ln>
                  <a:noFill/>
                </a:ln>
                <a:solidFill>
                  <a:schemeClr val="tx1"/>
                </a:solidFill>
                <a:effectLst/>
              </a:rPr>
            </a:br>
            <a:r>
              <a:rPr kumimoji="0" lang="es-AR" altLang="es-AR" sz="1800" b="0" i="0" u="sng" strike="noStrike" cap="none" normalizeH="0" baseline="0" dirty="0">
                <a:ln>
                  <a:noFill/>
                </a:ln>
                <a:solidFill>
                  <a:srgbClr val="000000"/>
                </a:solidFill>
                <a:effectLst/>
                <a:latin typeface="Verdana" panose="020B0604030504040204" pitchFamily="34" charset="0"/>
              </a:rPr>
              <a:t>Salta una línea si el bit de un registro es 1. EL bit debe ser indicado por el programador.</a:t>
            </a:r>
            <a:br>
              <a:rPr kumimoji="0" lang="es-AR" altLang="es-AR" sz="1800" b="0" i="0" u="none" strike="noStrike" cap="none" normalizeH="0" baseline="0" dirty="0">
                <a:ln>
                  <a:noFill/>
                </a:ln>
                <a:solidFill>
                  <a:schemeClr val="tx1"/>
                </a:solidFill>
                <a:effectLst/>
              </a:rPr>
            </a:br>
            <a:r>
              <a:rPr kumimoji="0" lang="es-AR" altLang="es-AR" sz="1800" b="0" i="1" u="none" strike="noStrike" cap="none" normalizeH="0" baseline="0" dirty="0">
                <a:ln>
                  <a:noFill/>
                </a:ln>
                <a:solidFill>
                  <a:srgbClr val="000000"/>
                </a:solidFill>
                <a:effectLst/>
                <a:latin typeface="Verdana" panose="020B0604030504040204" pitchFamily="34" charset="0"/>
              </a:rPr>
              <a:t>Ejemplo:</a:t>
            </a:r>
            <a:br>
              <a:rPr kumimoji="0" lang="es-AR" altLang="es-AR" sz="1800" b="0" i="0" u="none" strike="noStrike" cap="none" normalizeH="0" baseline="0" dirty="0">
                <a:ln>
                  <a:noFill/>
                </a:ln>
                <a:solidFill>
                  <a:schemeClr val="tx1"/>
                </a:solidFill>
                <a:effectLst/>
              </a:rPr>
            </a:br>
            <a:r>
              <a:rPr kumimoji="0" lang="es-AR" altLang="es-AR" sz="18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rgbClr val="000000"/>
                </a:solidFill>
                <a:effectLst/>
                <a:latin typeface="dejavu sans mono"/>
              </a:rPr>
              <a:t>         BTFSS    TEMP,3</a:t>
            </a:r>
            <a:br>
              <a:rPr kumimoji="0" lang="es-AR" altLang="es-AR" sz="1800" b="0" i="0" u="none" strike="noStrike" cap="none" normalizeH="0" baseline="0" dirty="0">
                <a:ln>
                  <a:noFill/>
                </a:ln>
                <a:solidFill>
                  <a:srgbClr val="000000"/>
                </a:solidFill>
                <a:effectLst/>
                <a:latin typeface="dejavu sans mono"/>
              </a:rPr>
            </a:br>
            <a:r>
              <a:rPr kumimoji="0" lang="es-AR" altLang="es-AR" sz="1800" b="0" i="0" u="none" strike="noStrike" cap="none" normalizeH="0" baseline="0" dirty="0">
                <a:ln>
                  <a:noFill/>
                </a:ln>
                <a:solidFill>
                  <a:srgbClr val="000000"/>
                </a:solidFill>
                <a:effectLst/>
                <a:latin typeface="dejavu sans mono"/>
              </a:rPr>
              <a:t>         ADDWF   PORTC</a:t>
            </a:r>
            <a:br>
              <a:rPr kumimoji="0" lang="es-AR" altLang="es-AR" sz="1800" b="0" i="0" u="none" strike="noStrike" cap="none" normalizeH="0" baseline="0" dirty="0">
                <a:ln>
                  <a:noFill/>
                </a:ln>
                <a:solidFill>
                  <a:srgbClr val="000000"/>
                </a:solidFill>
                <a:effectLst/>
                <a:latin typeface="dejavu sans mono"/>
              </a:rPr>
            </a:br>
            <a:r>
              <a:rPr kumimoji="0" lang="es-AR" altLang="es-AR" sz="1800" b="0" i="0" u="none" strike="noStrike" cap="none" normalizeH="0" baseline="0" dirty="0">
                <a:ln>
                  <a:noFill/>
                </a:ln>
                <a:solidFill>
                  <a:srgbClr val="000000"/>
                </a:solidFill>
                <a:effectLst/>
                <a:latin typeface="dejavu sans mono"/>
              </a:rPr>
              <a:t>         ANDWF   NODO</a:t>
            </a:r>
            <a:br>
              <a:rPr kumimoji="0" lang="es-AR" altLang="es-AR" sz="1800" b="0" i="0" u="none" strike="noStrike" cap="none" normalizeH="0" baseline="0" dirty="0">
                <a:ln>
                  <a:noFill/>
                </a:ln>
                <a:solidFill>
                  <a:schemeClr val="tx1"/>
                </a:solidFill>
                <a:effectLst/>
              </a:rPr>
            </a:br>
            <a:r>
              <a:rPr kumimoji="0" lang="es-AR" altLang="es-AR" sz="1800" b="0" i="1" u="none" strike="noStrike" cap="none" normalizeH="0" baseline="0" dirty="0">
                <a:ln>
                  <a:noFill/>
                </a:ln>
                <a:solidFill>
                  <a:srgbClr val="000000"/>
                </a:solidFill>
                <a:effectLst/>
                <a:latin typeface="Verdana" panose="020B0604030504040204" pitchFamily="34" charset="0"/>
              </a:rPr>
              <a:t>Caso 1:</a:t>
            </a:r>
            <a:br>
              <a:rPr kumimoji="0" lang="es-AR" altLang="es-AR" sz="1800" b="0" i="0" u="none" strike="noStrike" cap="none" normalizeH="0" baseline="0" dirty="0">
                <a:ln>
                  <a:noFill/>
                </a:ln>
                <a:solidFill>
                  <a:schemeClr val="tx1"/>
                </a:solidFill>
                <a:effectLst/>
              </a:rPr>
            </a:b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0" u="none" strike="noStrike" cap="none" normalizeH="0" baseline="0" dirty="0">
                <a:ln>
                  <a:noFill/>
                </a:ln>
                <a:solidFill>
                  <a:srgbClr val="000000"/>
                </a:solidFill>
                <a:effectLst/>
                <a:latin typeface="Verdana" panose="020B0604030504040204" pitchFamily="34" charset="0"/>
              </a:rPr>
              <a:t>TEMP vale B'01101100'. El CP analizará solo el Bit 3 del registro TEMP, como es 1, salta la instrucción ADD   PORTC y ejecuta la siguiente línea que es ANDWF NODO y continua haciendo la instrucción.</a:t>
            </a:r>
            <a:br>
              <a:rPr kumimoji="0" lang="es-AR" altLang="es-AR" sz="1800" b="0" i="0" u="none" strike="noStrike" cap="none" normalizeH="0" baseline="0" dirty="0">
                <a:ln>
                  <a:noFill/>
                </a:ln>
                <a:solidFill>
                  <a:schemeClr val="tx1"/>
                </a:solidFill>
                <a:effectLst/>
              </a:rPr>
            </a:b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1" u="none" strike="noStrike" cap="none" normalizeH="0" baseline="0" dirty="0">
                <a:ln>
                  <a:noFill/>
                </a:ln>
                <a:solidFill>
                  <a:srgbClr val="000000"/>
                </a:solidFill>
                <a:effectLst/>
                <a:latin typeface="Verdana" panose="020B0604030504040204" pitchFamily="34" charset="0"/>
              </a:rPr>
              <a:t>Caso 2:</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TEMP vale B'11110000'. El CP analizará solo el Bit 3 del registro TEMP, como es 0 no salta la instrucción y hará la instrucción ADD  PORTC y luego continua con la instrucción AND  NODO.</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Para recordar </a:t>
            </a:r>
            <a:r>
              <a:rPr kumimoji="0" lang="es-AR" altLang="es-AR" sz="1800" b="1" i="0" u="none" strike="noStrike" cap="none" normalizeH="0" baseline="0" dirty="0">
                <a:ln>
                  <a:noFill/>
                </a:ln>
                <a:solidFill>
                  <a:srgbClr val="000000"/>
                </a:solidFill>
                <a:effectLst/>
                <a:latin typeface="Verdana" panose="020B0604030504040204" pitchFamily="34" charset="0"/>
              </a:rPr>
              <a:t>B</a:t>
            </a:r>
            <a:r>
              <a:rPr kumimoji="0" lang="es-AR" altLang="es-AR" sz="1800" b="0" i="0" u="none" strike="noStrike" cap="none" normalizeH="0" baseline="0" dirty="0">
                <a:ln>
                  <a:noFill/>
                </a:ln>
                <a:solidFill>
                  <a:srgbClr val="000000"/>
                </a:solidFill>
                <a:effectLst/>
                <a:latin typeface="Verdana" panose="020B0604030504040204" pitchFamily="34" charset="0"/>
              </a:rPr>
              <a:t>it </a:t>
            </a:r>
            <a:r>
              <a:rPr kumimoji="0" lang="es-AR" altLang="es-AR" sz="1800" b="1" i="0" u="none" strike="noStrike" cap="none" normalizeH="0" baseline="0" dirty="0">
                <a:ln>
                  <a:noFill/>
                </a:ln>
                <a:solidFill>
                  <a:srgbClr val="000000"/>
                </a:solidFill>
                <a:effectLst/>
                <a:latin typeface="Verdana" panose="020B0604030504040204" pitchFamily="34" charset="0"/>
              </a:rPr>
              <a:t>T</a:t>
            </a:r>
            <a:r>
              <a:rPr kumimoji="0" lang="es-AR" altLang="es-AR" sz="1800" b="0" i="0" u="none" strike="noStrike" cap="none" normalizeH="0" baseline="0" dirty="0">
                <a:ln>
                  <a:noFill/>
                </a:ln>
                <a:solidFill>
                  <a:srgbClr val="000000"/>
                </a:solidFill>
                <a:effectLst/>
                <a:latin typeface="Verdana" panose="020B0604030504040204" pitchFamily="34" charset="0"/>
              </a:rPr>
              <a:t>est es chequear </a:t>
            </a:r>
            <a:r>
              <a:rPr kumimoji="0" lang="es-AR" altLang="es-AR" sz="1800" b="1" i="0" u="none" strike="noStrike" cap="none" normalizeH="0" baseline="0" dirty="0">
                <a:ln>
                  <a:noFill/>
                </a:ln>
                <a:solidFill>
                  <a:srgbClr val="000000"/>
                </a:solidFill>
                <a:effectLst/>
                <a:latin typeface="Verdana" panose="020B0604030504040204" pitchFamily="34" charset="0"/>
              </a:rPr>
              <a:t>F</a:t>
            </a:r>
            <a:r>
              <a:rPr kumimoji="0" lang="es-AR" altLang="es-AR" sz="1800" b="0" i="0" u="none" strike="noStrike" cap="none" normalizeH="0" baseline="0" dirty="0">
                <a:ln>
                  <a:noFill/>
                </a:ln>
                <a:solidFill>
                  <a:srgbClr val="000000"/>
                </a:solidFill>
                <a:effectLst/>
                <a:latin typeface="Verdana" panose="020B0604030504040204" pitchFamily="34" charset="0"/>
              </a:rPr>
              <a:t>ile </a:t>
            </a:r>
            <a:r>
              <a:rPr kumimoji="0" lang="es-AR" altLang="es-AR" sz="1800" b="1" i="0" u="none" strike="noStrike" cap="none" normalizeH="0" baseline="0" dirty="0" err="1">
                <a:ln>
                  <a:noFill/>
                </a:ln>
                <a:solidFill>
                  <a:srgbClr val="000000"/>
                </a:solidFill>
                <a:effectLst/>
                <a:latin typeface="Verdana" panose="020B0604030504040204" pitchFamily="34" charset="0"/>
              </a:rPr>
              <a:t>S</a:t>
            </a:r>
            <a:r>
              <a:rPr kumimoji="0" lang="es-AR" altLang="es-AR" sz="1800" b="0" i="0" u="none" strike="noStrike" cap="none" normalizeH="0" baseline="0" dirty="0" err="1">
                <a:ln>
                  <a:noFill/>
                </a:ln>
                <a:solidFill>
                  <a:srgbClr val="000000"/>
                </a:solidFill>
                <a:effectLst/>
                <a:latin typeface="Verdana" panose="020B0604030504040204" pitchFamily="34" charset="0"/>
              </a:rPr>
              <a:t>kip</a:t>
            </a:r>
            <a:r>
              <a:rPr kumimoji="0" lang="es-AR" altLang="es-AR" sz="1800" b="0" i="0" u="none" strike="noStrike" cap="none" normalizeH="0" baseline="0" dirty="0">
                <a:ln>
                  <a:noFill/>
                </a:ln>
                <a:solidFill>
                  <a:srgbClr val="000000"/>
                </a:solidFill>
                <a:effectLst/>
                <a:latin typeface="Verdana" panose="020B0604030504040204" pitchFamily="34" charset="0"/>
              </a:rPr>
              <a:t> es salto </a:t>
            </a:r>
            <a:r>
              <a:rPr kumimoji="0" lang="es-AR" altLang="es-AR" sz="1800" b="1" i="0" u="none" strike="noStrike" cap="none" normalizeH="0" baseline="0" dirty="0">
                <a:ln>
                  <a:noFill/>
                </a:ln>
                <a:solidFill>
                  <a:srgbClr val="000000"/>
                </a:solidFill>
                <a:effectLst/>
                <a:latin typeface="Verdana" panose="020B0604030504040204" pitchFamily="34" charset="0"/>
              </a:rPr>
              <a:t>S</a:t>
            </a:r>
            <a:r>
              <a:rPr kumimoji="0" lang="es-AR" altLang="es-AR" sz="1800" b="0" i="0" u="none" strike="noStrike" cap="none" normalizeH="0" baseline="0" dirty="0">
                <a:ln>
                  <a:noFill/>
                </a:ln>
                <a:solidFill>
                  <a:srgbClr val="000000"/>
                </a:solidFill>
                <a:effectLst/>
                <a:latin typeface="Verdana" panose="020B0604030504040204" pitchFamily="34" charset="0"/>
              </a:rPr>
              <a:t>et</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No afecta a ningún Bit del registro Status.</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Normalmente, continuando las instrucciones BTFSS y/o BTFSC va un GOTO o CALL pero no la he puesto porque aún no se explicaron estas instrucciones.</a:t>
            </a:r>
            <a:r>
              <a:rPr kumimoji="0" lang="es-AR" altLang="es-AR" sz="1800" b="0" i="0" u="none" strike="noStrike" cap="none" normalizeH="0" baseline="0" dirty="0">
                <a:ln>
                  <a:noFill/>
                </a:ln>
                <a:solidFill>
                  <a:schemeClr val="tx1"/>
                </a:solidFill>
                <a:effectLst/>
              </a:rPr>
              <a:t> </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cxnSp>
        <p:nvCxnSpPr>
          <p:cNvPr id="6" name="Straight Connector 5">
            <a:extLst>
              <a:ext uri="{FF2B5EF4-FFF2-40B4-BE49-F238E27FC236}">
                <a16:creationId xmlns:a16="http://schemas.microsoft.com/office/drawing/2014/main" id="{65621FE9-3B8C-4E6C-AA49-5FA50FD41C4A}"/>
              </a:ext>
            </a:extLst>
          </p:cNvPr>
          <p:cNvCxnSpPr/>
          <p:nvPr/>
        </p:nvCxnSpPr>
        <p:spPr>
          <a:xfrm>
            <a:off x="5433391" y="3429000"/>
            <a:ext cx="22263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B5A4763-4FB5-4118-97C5-49A677259DE5}"/>
              </a:ext>
            </a:extLst>
          </p:cNvPr>
          <p:cNvCxnSpPr/>
          <p:nvPr/>
        </p:nvCxnSpPr>
        <p:spPr>
          <a:xfrm>
            <a:off x="5539409" y="4439478"/>
            <a:ext cx="34190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45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B62BFE7-5EA7-45BA-82DD-8D3E9D4A6B85}"/>
              </a:ext>
            </a:extLst>
          </p:cNvPr>
          <p:cNvSpPr>
            <a:spLocks noGrp="1" noChangeArrowheads="1"/>
          </p:cNvSpPr>
          <p:nvPr>
            <p:ph idx="1"/>
          </p:nvPr>
        </p:nvSpPr>
        <p:spPr bwMode="auto">
          <a:xfrm>
            <a:off x="838199" y="236014"/>
            <a:ext cx="10730949" cy="6247864"/>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CALL</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Se dirige a una dirección de la memoria de programa designado por el programador. En otras palabras, se utiliza para dirigirse a una rutina o tarea.</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u="sng"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sng" strike="noStrike" cap="none" normalizeH="0" baseline="0" dirty="0">
                <a:ln>
                  <a:noFill/>
                </a:ln>
                <a:solidFill>
                  <a:srgbClr val="000000"/>
                </a:solidFill>
                <a:effectLst/>
                <a:latin typeface="Verdana" panose="020B0604030504040204" pitchFamily="34" charset="0"/>
              </a:rPr>
              <a:t>Su principal ventaja es que una vez que finalizó la tarea, vuelve al punto siguiente desde dónde se llamo.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 :</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1" i="0" u="none" strike="noStrike" cap="none" normalizeH="0" baseline="0" dirty="0">
              <a:ln>
                <a:noFill/>
              </a:ln>
              <a:solidFill>
                <a:srgbClr val="666666"/>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CALL       ESC_PORTB</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solidFill>
                <a:srgbClr val="000000"/>
              </a:solidFill>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CALL</a:t>
            </a:r>
            <a:r>
              <a:rPr kumimoji="0" lang="es-AR" altLang="es-AR" sz="2000" b="0" i="0" u="none" strike="noStrike" cap="none" normalizeH="0" baseline="0" dirty="0">
                <a:ln>
                  <a:noFill/>
                </a:ln>
                <a:solidFill>
                  <a:srgbClr val="000000"/>
                </a:solidFill>
                <a:effectLst/>
                <a:latin typeface="Verdana" panose="020B0604030504040204" pitchFamily="34" charset="0"/>
              </a:rPr>
              <a:t> es llamada.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No afecta ningún bit del registro Status.</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0189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AACD428-B3B0-46CA-BCBB-C3ECC0CE7C42}"/>
              </a:ext>
            </a:extLst>
          </p:cNvPr>
          <p:cNvSpPr>
            <a:spLocks noGrp="1" noChangeArrowheads="1"/>
          </p:cNvSpPr>
          <p:nvPr>
            <p:ph idx="1"/>
          </p:nvPr>
        </p:nvSpPr>
        <p:spPr bwMode="auto">
          <a:xfrm>
            <a:off x="838200" y="-295990"/>
            <a:ext cx="10612272" cy="7140416"/>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GOTO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1600" b="0" i="0" u="sng" strike="noStrike" cap="none" normalizeH="0" baseline="0" dirty="0">
                <a:ln>
                  <a:noFill/>
                </a:ln>
                <a:solidFill>
                  <a:srgbClr val="000000"/>
                </a:solidFill>
                <a:effectLst/>
                <a:latin typeface="Verdana" panose="020B0604030504040204" pitchFamily="34" charset="0"/>
              </a:rPr>
              <a:t>Se dirige a una dirección de la memoria de programa designado por el programador. En otras palabras, se utiliza para saltar instrucciones que no queremos que se ejecuten. A diferencia de la instrucción CALL, no hay forma de volver cuando se ejecuta la instrucción.</a:t>
            </a:r>
            <a:br>
              <a:rPr kumimoji="0" lang="es-AR" altLang="es-AR" sz="1600" b="0" i="0" u="none" strike="noStrike" cap="none" normalizeH="0" baseline="0" dirty="0">
                <a:ln>
                  <a:noFill/>
                </a:ln>
                <a:solidFill>
                  <a:schemeClr val="tx1"/>
                </a:solidFill>
                <a:effectLst/>
              </a:rPr>
            </a:br>
            <a:r>
              <a:rPr kumimoji="0" lang="es-AR" altLang="es-AR" sz="1600" b="1" i="0" u="none" strike="noStrike" cap="none" normalizeH="0" baseline="0" dirty="0">
                <a:ln>
                  <a:noFill/>
                </a:ln>
                <a:solidFill>
                  <a:srgbClr val="666666"/>
                </a:solidFill>
                <a:effectLst/>
                <a:latin typeface="Verdana" panose="020B0604030504040204" pitchFamily="34" charset="0"/>
              </a:rPr>
              <a:t>Código: </a:t>
            </a:r>
            <a:r>
              <a:rPr kumimoji="0" lang="es-AR" altLang="es-AR" sz="1600" b="0" i="0" u="none" strike="noStrike" cap="none" normalizeH="0" baseline="0" dirty="0">
                <a:ln>
                  <a:noFill/>
                </a:ln>
                <a:solidFill>
                  <a:srgbClr val="000000"/>
                </a:solidFill>
                <a:effectLst/>
                <a:latin typeface="dejavu sans mono"/>
              </a:rPr>
              <a:t>         GOTO       INICIO</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1600" dirty="0">
              <a:solidFill>
                <a:srgbClr val="000000"/>
              </a:solidFill>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dejavu sans mono"/>
              </a:rPr>
              <a:t>Ejemplo:</a:t>
            </a:r>
          </a:p>
          <a:p>
            <a:pPr marL="0" lvl="0" indent="0">
              <a:lnSpc>
                <a:spcPct val="100000"/>
              </a:lnSpc>
              <a:buNone/>
            </a:pPr>
            <a:r>
              <a:rPr lang="es-AR" altLang="es-AR" sz="1600" dirty="0">
                <a:solidFill>
                  <a:srgbClr val="000000"/>
                </a:solidFill>
                <a:latin typeface="dejavu sans mono"/>
              </a:rPr>
              <a:t> </a:t>
            </a:r>
          </a:p>
          <a:p>
            <a:pPr marL="0" lvl="0" indent="0">
              <a:lnSpc>
                <a:spcPct val="100000"/>
              </a:lnSpc>
              <a:buNone/>
            </a:pPr>
            <a:r>
              <a:rPr lang="es-AR" altLang="es-AR" sz="1600" dirty="0">
                <a:solidFill>
                  <a:srgbClr val="000000"/>
                </a:solidFill>
                <a:latin typeface="dejavu sans mono"/>
              </a:rPr>
              <a:t>        ORG             0</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bsf</a:t>
            </a:r>
            <a:r>
              <a:rPr lang="es-AR" altLang="es-AR" sz="1600" dirty="0">
                <a:solidFill>
                  <a:srgbClr val="000000"/>
                </a:solidFill>
                <a:latin typeface="dejavu sans mono"/>
              </a:rPr>
              <a:t>             STATUS,5                                ; activa la pagina 1</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clrf</a:t>
            </a:r>
            <a:r>
              <a:rPr lang="es-AR" altLang="es-AR" sz="1600" dirty="0">
                <a:solidFill>
                  <a:srgbClr val="000000"/>
                </a:solidFill>
                <a:latin typeface="dejavu sans mono"/>
              </a:rPr>
              <a:t>            TRISA</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clrf</a:t>
            </a:r>
            <a:r>
              <a:rPr lang="es-AR" altLang="es-AR" sz="1600" dirty="0">
                <a:solidFill>
                  <a:srgbClr val="000000"/>
                </a:solidFill>
                <a:latin typeface="dejavu sans mono"/>
              </a:rPr>
              <a:t>            TRISB                                   ; puerto a y b todos </a:t>
            </a:r>
            <a:r>
              <a:rPr lang="es-AR" altLang="es-AR" sz="1600" dirty="0" err="1">
                <a:solidFill>
                  <a:srgbClr val="000000"/>
                </a:solidFill>
                <a:latin typeface="dejavu sans mono"/>
              </a:rPr>
              <a:t>salidaS</a:t>
            </a:r>
            <a:endParaRPr lang="es-AR" altLang="es-AR" sz="1600" dirty="0">
              <a:solidFill>
                <a:srgbClr val="000000"/>
              </a:solidFill>
              <a:latin typeface="dejavu sans mono"/>
            </a:endParaRP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bcf</a:t>
            </a:r>
            <a:r>
              <a:rPr lang="es-AR" altLang="es-AR" sz="1600" dirty="0">
                <a:solidFill>
                  <a:srgbClr val="000000"/>
                </a:solidFill>
                <a:latin typeface="dejavu sans mono"/>
              </a:rPr>
              <a:t>             STATUS,5                                ; volvemos a la pagina 0</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movlw</a:t>
            </a:r>
            <a:r>
              <a:rPr lang="es-AR" altLang="es-AR" sz="1600" dirty="0">
                <a:solidFill>
                  <a:srgbClr val="000000"/>
                </a:solidFill>
                <a:latin typeface="dejavu sans mono"/>
              </a:rPr>
              <a:t>           b'00000111'                             ; comparadores desactivados,</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movwf</a:t>
            </a:r>
            <a:r>
              <a:rPr lang="es-AR" altLang="es-AR" sz="1600" dirty="0">
                <a:solidFill>
                  <a:srgbClr val="000000"/>
                </a:solidFill>
                <a:latin typeface="dejavu sans mono"/>
              </a:rPr>
              <a:t>           CMCON                                   ; I/O digitales.</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Clrf</a:t>
            </a:r>
            <a:r>
              <a:rPr lang="es-AR" altLang="es-AR" sz="1600" dirty="0">
                <a:solidFill>
                  <a:srgbClr val="000000"/>
                </a:solidFill>
                <a:latin typeface="dejavu sans mono"/>
              </a:rPr>
              <a:t>            PORTB                                   ; ponemos a 0 </a:t>
            </a:r>
            <a:r>
              <a:rPr lang="es-AR" altLang="es-AR" sz="1600" dirty="0" err="1">
                <a:solidFill>
                  <a:srgbClr val="000000"/>
                </a:solidFill>
                <a:latin typeface="dejavu sans mono"/>
              </a:rPr>
              <a:t>portb</a:t>
            </a:r>
            <a:endParaRPr lang="es-AR" altLang="es-AR" sz="1600" dirty="0">
              <a:solidFill>
                <a:srgbClr val="000000"/>
              </a:solidFill>
              <a:latin typeface="dejavu sans mono"/>
            </a:endParaRPr>
          </a:p>
          <a:p>
            <a:pPr marL="0" lvl="0" indent="0">
              <a:lnSpc>
                <a:spcPct val="100000"/>
              </a:lnSpc>
              <a:buNone/>
            </a:pPr>
            <a:r>
              <a:rPr lang="es-AR" altLang="es-AR" sz="1600" dirty="0">
                <a:solidFill>
                  <a:srgbClr val="000000"/>
                </a:solidFill>
                <a:latin typeface="dejavu sans mono"/>
              </a:rPr>
              <a:t> </a:t>
            </a:r>
          </a:p>
          <a:p>
            <a:pPr marL="0" lvl="0" indent="0">
              <a:lnSpc>
                <a:spcPct val="100000"/>
              </a:lnSpc>
              <a:buNone/>
            </a:pPr>
            <a:r>
              <a:rPr lang="es-AR" altLang="es-AR" sz="1600" dirty="0">
                <a:solidFill>
                  <a:srgbClr val="000000"/>
                </a:solidFill>
                <a:latin typeface="dejavu sans mono"/>
              </a:rPr>
              <a:t>INICIO</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bsf</a:t>
            </a:r>
            <a:r>
              <a:rPr lang="es-AR" altLang="es-AR" sz="1600" dirty="0">
                <a:solidFill>
                  <a:srgbClr val="000000"/>
                </a:solidFill>
                <a:latin typeface="dejavu sans mono"/>
              </a:rPr>
              <a:t>             PORTB,0                                 ; pone a 1 RB0</a:t>
            </a:r>
          </a:p>
          <a:p>
            <a:pPr marL="0" lvl="0" indent="0">
              <a:lnSpc>
                <a:spcPct val="100000"/>
              </a:lnSpc>
              <a:buNone/>
            </a:pPr>
            <a:r>
              <a:rPr lang="es-AR" altLang="es-AR" sz="1600" dirty="0">
                <a:solidFill>
                  <a:srgbClr val="000000"/>
                </a:solidFill>
                <a:latin typeface="dejavu sans mono"/>
              </a:rPr>
              <a:t>        </a:t>
            </a:r>
            <a:r>
              <a:rPr lang="es-AR" altLang="es-AR" sz="1600" dirty="0" err="1">
                <a:solidFill>
                  <a:srgbClr val="000000"/>
                </a:solidFill>
                <a:latin typeface="dejavu sans mono"/>
              </a:rPr>
              <a:t>goto</a:t>
            </a:r>
            <a:r>
              <a:rPr lang="es-AR" altLang="es-AR" sz="1600" dirty="0">
                <a:solidFill>
                  <a:srgbClr val="000000"/>
                </a:solidFill>
                <a:latin typeface="dejavu sans mono"/>
              </a:rPr>
              <a:t>            INICIO                                  ; va a inicio</a:t>
            </a:r>
          </a:p>
          <a:p>
            <a:pPr marL="0" lvl="0" indent="0">
              <a:lnSpc>
                <a:spcPct val="100000"/>
              </a:lnSpc>
              <a:buNone/>
            </a:pPr>
            <a:r>
              <a:rPr lang="es-AR" altLang="es-AR" sz="1600" dirty="0">
                <a:solidFill>
                  <a:srgbClr val="000000"/>
                </a:solidFill>
                <a:latin typeface="dejavu sans mono"/>
              </a:rPr>
              <a:t>        END                                                     ; fin de programa</a:t>
            </a:r>
            <a:endParaRPr kumimoji="0" lang="es-AR" altLang="es-AR" sz="1600" b="0" i="0" u="none" strike="noStrike" cap="none" normalizeH="0" baseline="0" dirty="0">
              <a:ln>
                <a:noFill/>
              </a:ln>
              <a:solidFill>
                <a:srgbClr val="000000"/>
              </a:solidFill>
              <a:effectLst/>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600" b="0" i="0" u="none" strike="noStrike" cap="none" normalizeH="0" baseline="0" dirty="0">
                <a:ln>
                  <a:noFill/>
                </a:ln>
                <a:solidFill>
                  <a:schemeClr val="tx1"/>
                </a:solidFill>
                <a:effectLst/>
              </a:rPr>
            </a:br>
            <a:r>
              <a:rPr kumimoji="0" lang="es-AR" altLang="es-AR" sz="1600" b="0" i="0" u="none" strike="noStrike" cap="none" normalizeH="0" baseline="0" dirty="0">
                <a:ln>
                  <a:noFill/>
                </a:ln>
                <a:solidFill>
                  <a:srgbClr val="000000"/>
                </a:solidFill>
                <a:effectLst/>
                <a:latin typeface="Verdana" panose="020B0604030504040204" pitchFamily="34" charset="0"/>
              </a:rPr>
              <a:t>Para recordar </a:t>
            </a:r>
            <a:r>
              <a:rPr kumimoji="0" lang="es-AR" altLang="es-AR" sz="1600" b="1" i="0" u="none" strike="noStrike" cap="none" normalizeH="0" baseline="0" dirty="0">
                <a:ln>
                  <a:noFill/>
                </a:ln>
                <a:solidFill>
                  <a:srgbClr val="000000"/>
                </a:solidFill>
                <a:effectLst/>
                <a:latin typeface="Verdana" panose="020B0604030504040204" pitchFamily="34" charset="0"/>
              </a:rPr>
              <a:t>GO</a:t>
            </a:r>
            <a:r>
              <a:rPr kumimoji="0" lang="es-AR" altLang="es-AR" sz="1600" b="0" i="0" u="none" strike="noStrike" cap="none" normalizeH="0" baseline="0" dirty="0">
                <a:ln>
                  <a:noFill/>
                </a:ln>
                <a:solidFill>
                  <a:srgbClr val="000000"/>
                </a:solidFill>
                <a:effectLst/>
                <a:latin typeface="Verdana" panose="020B0604030504040204" pitchFamily="34" charset="0"/>
              </a:rPr>
              <a:t> </a:t>
            </a:r>
            <a:r>
              <a:rPr kumimoji="0" lang="es-AR" altLang="es-AR" sz="1600" b="1" i="0" u="none" strike="noStrike" cap="none" normalizeH="0" baseline="0" dirty="0">
                <a:ln>
                  <a:noFill/>
                </a:ln>
                <a:solidFill>
                  <a:srgbClr val="000000"/>
                </a:solidFill>
                <a:effectLst/>
                <a:latin typeface="Verdana" panose="020B0604030504040204" pitchFamily="34" charset="0"/>
              </a:rPr>
              <a:t>TO</a:t>
            </a:r>
            <a:r>
              <a:rPr kumimoji="0" lang="es-AR" altLang="es-AR" sz="1600" b="0" i="0" u="none" strike="noStrike" cap="none" normalizeH="0" baseline="0" dirty="0">
                <a:ln>
                  <a:noFill/>
                </a:ln>
                <a:solidFill>
                  <a:srgbClr val="000000"/>
                </a:solidFill>
                <a:effectLst/>
                <a:latin typeface="Verdana" panose="020B0604030504040204" pitchFamily="34" charset="0"/>
              </a:rPr>
              <a:t> es ir a.</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0" u="none" strike="noStrike" cap="none" normalizeH="0" baseline="0" dirty="0">
                <a:ln>
                  <a:noFill/>
                </a:ln>
                <a:solidFill>
                  <a:srgbClr val="000000"/>
                </a:solidFill>
                <a:effectLst/>
                <a:latin typeface="Verdana" panose="020B0604030504040204" pitchFamily="34" charset="0"/>
              </a:rPr>
              <a:t>No afecta a ningún bit del registro Status.</a:t>
            </a:r>
            <a:br>
              <a:rPr kumimoji="0" lang="es-AR" altLang="es-AR" sz="1600" b="0" i="0" u="none" strike="noStrike" cap="none" normalizeH="0" baseline="0" dirty="0">
                <a:ln>
                  <a:noFill/>
                </a:ln>
                <a:solidFill>
                  <a:schemeClr val="tx1"/>
                </a:solidFill>
                <a:effectLst/>
              </a:rPr>
            </a:br>
            <a:endParaRPr kumimoji="0" lang="es-AR" altLang="es-AR" sz="1600" b="0" i="0" u="none" strike="noStrike" cap="none" normalizeH="0" baseline="0" dirty="0">
              <a:ln>
                <a:noFill/>
              </a:ln>
              <a:solidFill>
                <a:schemeClr val="tx1"/>
              </a:solidFill>
              <a:effectLst/>
              <a:latin typeface="Arial" panose="020B0604020202020204" pitchFamily="34" charset="0"/>
            </a:endParaRPr>
          </a:p>
        </p:txBody>
      </p:sp>
      <p:cxnSp>
        <p:nvCxnSpPr>
          <p:cNvPr id="7" name="Straight Arrow Connector 6">
            <a:extLst>
              <a:ext uri="{FF2B5EF4-FFF2-40B4-BE49-F238E27FC236}">
                <a16:creationId xmlns:a16="http://schemas.microsoft.com/office/drawing/2014/main" id="{7233E8BF-7232-47B6-94A4-0C0D883568F8}"/>
              </a:ext>
            </a:extLst>
          </p:cNvPr>
          <p:cNvCxnSpPr/>
          <p:nvPr/>
        </p:nvCxnSpPr>
        <p:spPr>
          <a:xfrm flipH="1" flipV="1">
            <a:off x="1484243" y="4055165"/>
            <a:ext cx="1060174" cy="344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668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79EAD40-C283-4FAB-BED9-767514D5D986}"/>
              </a:ext>
            </a:extLst>
          </p:cNvPr>
          <p:cNvSpPr>
            <a:spLocks noGrp="1" noChangeArrowheads="1"/>
          </p:cNvSpPr>
          <p:nvPr>
            <p:ph idx="1"/>
          </p:nvPr>
        </p:nvSpPr>
        <p:spPr bwMode="auto">
          <a:xfrm>
            <a:off x="838199" y="135306"/>
            <a:ext cx="10518913" cy="6555641"/>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CLRF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Borra el contenido de un registro seleccionado por el programador. La forma en que lo hace, pone en 0 los 8 bit del registro. Este registro, puede ser cualquiera de la posición de la RAM.</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CLRF             PORTB</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chemeClr val="tx1"/>
                </a:solidFill>
                <a:effectLst/>
              </a:rPr>
              <a:t>Si a</a:t>
            </a:r>
            <a:r>
              <a:rPr kumimoji="0" lang="es-AR" altLang="es-AR" sz="2000" b="0" i="0" u="none" strike="noStrike" cap="none" normalizeH="0" baseline="0" dirty="0">
                <a:ln>
                  <a:noFill/>
                </a:ln>
                <a:solidFill>
                  <a:srgbClr val="000000"/>
                </a:solidFill>
                <a:effectLst/>
                <a:latin typeface="Verdana" panose="020B0604030504040204" pitchFamily="34" charset="0"/>
              </a:rPr>
              <a:t>ntes de la instrucción PORTB vale B'11000111'. Después de la instrucción PORTB vale B'00000000'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CL</a:t>
            </a:r>
            <a:r>
              <a:rPr kumimoji="0" lang="es-AR" altLang="es-AR" sz="2000" b="0" i="0" u="none" strike="noStrike" cap="none" normalizeH="0" baseline="0" dirty="0" err="1">
                <a:ln>
                  <a:noFill/>
                </a:ln>
                <a:solidFill>
                  <a:srgbClr val="000000"/>
                </a:solidFill>
                <a:effectLst/>
                <a:latin typeface="Verdana" panose="020B0604030504040204" pitchFamily="34" charset="0"/>
              </a:rPr>
              <a:t>ea</a:t>
            </a:r>
            <a:r>
              <a:rPr kumimoji="0" lang="es-AR" altLang="es-AR" sz="2000" b="1" i="0" u="none" strike="noStrike" cap="none" normalizeH="0" baseline="0" dirty="0" err="1">
                <a:ln>
                  <a:noFill/>
                </a:ln>
                <a:solidFill>
                  <a:srgbClr val="000000"/>
                </a:solidFill>
                <a:effectLst/>
                <a:latin typeface="Verdana" panose="020B0604030504040204" pitchFamily="34" charset="0"/>
              </a:rPr>
              <a:t>R</a:t>
            </a:r>
            <a:r>
              <a:rPr kumimoji="0" lang="es-AR" altLang="es-AR" sz="2000" b="0" i="0" u="none" strike="noStrike" cap="none" normalizeH="0" baseline="0" dirty="0">
                <a:ln>
                  <a:noFill/>
                </a:ln>
                <a:solidFill>
                  <a:srgbClr val="000000"/>
                </a:solidFill>
                <a:effectLst/>
                <a:latin typeface="Verdana" panose="020B0604030504040204" pitchFamily="34" charset="0"/>
              </a:rPr>
              <a:t> es limpio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archivo o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6692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B9AC3F1-C84E-4C46-BA43-C045CE3A9D99}"/>
              </a:ext>
            </a:extLst>
          </p:cNvPr>
          <p:cNvSpPr>
            <a:spLocks noGrp="1" noChangeArrowheads="1"/>
          </p:cNvSpPr>
          <p:nvPr>
            <p:ph idx="1"/>
          </p:nvPr>
        </p:nvSpPr>
        <p:spPr bwMode="auto">
          <a:xfrm>
            <a:off x="838200" y="104658"/>
            <a:ext cx="12274129" cy="6524863"/>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CLRW</a:t>
            </a:r>
            <a:br>
              <a:rPr kumimoji="0" lang="es-AR" altLang="es-AR" sz="11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Borra al registro W. La forma en que lo hace, pone en 0 los 8 bit del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CLRW</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solidFill>
                <a:srgbClr val="000000"/>
              </a:solidFill>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chemeClr val="tx1"/>
                </a:solidFill>
                <a:effectLst/>
              </a:rPr>
              <a:t>Si a</a:t>
            </a:r>
            <a:r>
              <a:rPr kumimoji="0" lang="es-AR" altLang="es-AR" sz="2000" b="0" i="0" u="none" strike="noStrike" cap="none" normalizeH="0" baseline="0" dirty="0">
                <a:ln>
                  <a:noFill/>
                </a:ln>
                <a:solidFill>
                  <a:srgbClr val="000000"/>
                </a:solidFill>
                <a:effectLst/>
                <a:latin typeface="Verdana" panose="020B0604030504040204" pitchFamily="34" charset="0"/>
              </a:rPr>
              <a:t>ntes de la instrucción W vale B'00000111'. Después de la instrucción W vale B'00000000'.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CL</a:t>
            </a:r>
            <a:r>
              <a:rPr kumimoji="0" lang="es-AR" altLang="es-AR" sz="2000" b="0" i="0" u="none" strike="noStrike" cap="none" normalizeH="0" baseline="0" dirty="0" err="1">
                <a:ln>
                  <a:noFill/>
                </a:ln>
                <a:solidFill>
                  <a:srgbClr val="000000"/>
                </a:solidFill>
                <a:effectLst/>
                <a:latin typeface="Verdana" panose="020B0604030504040204" pitchFamily="34" charset="0"/>
              </a:rPr>
              <a:t>ea</a:t>
            </a:r>
            <a:r>
              <a:rPr kumimoji="0" lang="es-AR" altLang="es-AR" sz="2000" b="1" i="0" u="none" strike="noStrike" cap="none" normalizeH="0" baseline="0" dirty="0" err="1">
                <a:ln>
                  <a:noFill/>
                </a:ln>
                <a:solidFill>
                  <a:srgbClr val="000000"/>
                </a:solidFill>
                <a:effectLst/>
                <a:latin typeface="Verdana" panose="020B0604030504040204" pitchFamily="34" charset="0"/>
              </a:rPr>
              <a:t>R</a:t>
            </a:r>
            <a:r>
              <a:rPr kumimoji="0" lang="es-AR" altLang="es-AR" sz="2000" b="0" i="0" u="none" strike="noStrike" cap="none" normalizeH="0" baseline="0" dirty="0">
                <a:ln>
                  <a:noFill/>
                </a:ln>
                <a:solidFill>
                  <a:srgbClr val="000000"/>
                </a:solidFill>
                <a:effectLst/>
                <a:latin typeface="Verdana" panose="020B0604030504040204" pitchFamily="34" charset="0"/>
              </a:rPr>
              <a:t> es limpiar </a:t>
            </a:r>
            <a:r>
              <a:rPr kumimoji="0" lang="es-AR" altLang="es-AR" sz="2000" b="1" i="0" u="none" strike="noStrike" cap="none" normalizeH="0" baseline="0" dirty="0" err="1">
                <a:ln>
                  <a:noFill/>
                </a:ln>
                <a:solidFill>
                  <a:srgbClr val="000000"/>
                </a:solidFill>
                <a:effectLst/>
                <a:latin typeface="Verdana" panose="020B0604030504040204" pitchFamily="34" charset="0"/>
              </a:rPr>
              <a:t>W</a:t>
            </a:r>
            <a:r>
              <a:rPr kumimoji="0" lang="es-AR" altLang="es-AR" sz="2000" b="0" i="0" u="none" strike="noStrike" cap="none" normalizeH="0" baseline="0" dirty="0" err="1">
                <a:ln>
                  <a:noFill/>
                </a:ln>
                <a:solidFill>
                  <a:srgbClr val="000000"/>
                </a:solidFill>
                <a:effectLst/>
                <a:latin typeface="Verdana" panose="020B0604030504040204" pitchFamily="34" charset="0"/>
              </a:rPr>
              <a:t>ork</a:t>
            </a:r>
            <a:r>
              <a:rPr kumimoji="0" lang="es-AR" altLang="es-AR" sz="2000" b="0" i="0" u="none" strike="noStrike" cap="none" normalizeH="0" baseline="0" dirty="0">
                <a:ln>
                  <a:noFill/>
                </a:ln>
                <a:solidFill>
                  <a:srgbClr val="000000"/>
                </a:solidFill>
                <a:effectLst/>
                <a:latin typeface="Verdana" panose="020B0604030504040204" pitchFamily="34" charset="0"/>
              </a:rPr>
              <a:t> es trabajo.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4099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CE829C3-7BAE-4F4B-8065-30DB4155F009}"/>
              </a:ext>
            </a:extLst>
          </p:cNvPr>
          <p:cNvSpPr>
            <a:spLocks noGrp="1" noChangeArrowheads="1"/>
          </p:cNvSpPr>
          <p:nvPr>
            <p:ph idx="1"/>
          </p:nvPr>
        </p:nvSpPr>
        <p:spPr bwMode="auto">
          <a:xfrm>
            <a:off x="838199" y="-89586"/>
            <a:ext cx="10611679" cy="6740307"/>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1" i="1" u="sng" strike="noStrike" cap="none" normalizeH="0" baseline="0" dirty="0">
                <a:ln>
                  <a:noFill/>
                </a:ln>
                <a:solidFill>
                  <a:srgbClr val="800000"/>
                </a:solidFill>
                <a:effectLst/>
                <a:latin typeface="Verdana" panose="020B0604030504040204" pitchFamily="34" charset="0"/>
              </a:rPr>
              <a:t>CLRWDT</a:t>
            </a:r>
            <a:br>
              <a:rPr kumimoji="0" lang="es-AR" altLang="es-AR" sz="1800" b="0" i="0" u="none" strike="noStrike" cap="none" normalizeH="0" baseline="0" dirty="0">
                <a:ln>
                  <a:noFill/>
                </a:ln>
                <a:solidFill>
                  <a:schemeClr val="tx1"/>
                </a:solidFill>
                <a:effectLst/>
              </a:rPr>
            </a:br>
            <a:r>
              <a:rPr kumimoji="0" lang="es-AR" altLang="es-AR" sz="1800" b="0" i="0" u="sng" strike="noStrike" cap="none" normalizeH="0" baseline="0" dirty="0">
                <a:ln>
                  <a:noFill/>
                </a:ln>
                <a:solidFill>
                  <a:srgbClr val="000000"/>
                </a:solidFill>
                <a:effectLst/>
                <a:latin typeface="Verdana" panose="020B0604030504040204" pitchFamily="34" charset="0"/>
              </a:rPr>
              <a:t>Borra al WDT. La forma en que lo hace, pone en 0 al mismo.</a:t>
            </a:r>
            <a:br>
              <a:rPr kumimoji="0" lang="es-AR" altLang="es-AR" sz="1800" b="0" i="0" u="none" strike="noStrike" cap="none" normalizeH="0" baseline="0" dirty="0">
                <a:ln>
                  <a:noFill/>
                </a:ln>
                <a:solidFill>
                  <a:schemeClr val="tx1"/>
                </a:solidFill>
                <a:effectLst/>
              </a:rPr>
            </a:br>
            <a:r>
              <a:rPr kumimoji="0" lang="es-AR" altLang="es-AR" sz="1800" b="0" i="1" u="none" strike="noStrike" cap="none" normalizeH="0" baseline="0" dirty="0">
                <a:ln>
                  <a:noFill/>
                </a:ln>
                <a:solidFill>
                  <a:srgbClr val="000000"/>
                </a:solidFill>
                <a:effectLst/>
                <a:latin typeface="Verdana" panose="020B0604030504040204" pitchFamily="34" charset="0"/>
              </a:rPr>
              <a:t>Ejemplo:</a:t>
            </a:r>
            <a:br>
              <a:rPr kumimoji="0" lang="es-AR" altLang="es-AR" sz="1800" b="0" i="0" u="none" strike="noStrike" cap="none" normalizeH="0" baseline="0" dirty="0">
                <a:ln>
                  <a:noFill/>
                </a:ln>
                <a:solidFill>
                  <a:schemeClr val="tx1"/>
                </a:solidFill>
                <a:effectLst/>
              </a:rPr>
            </a:br>
            <a:r>
              <a:rPr kumimoji="0" lang="es-AR" altLang="es-AR" sz="18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rgbClr val="000000"/>
                </a:solidFill>
                <a:effectLst/>
                <a:latin typeface="dejavu sans mono"/>
              </a:rPr>
              <a:t>          CLRWDT</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Antes de la instrucción WDT vale B'11111110'. Después de la instrucción vale B'0000000'.</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Para recordar </a:t>
            </a:r>
            <a:r>
              <a:rPr kumimoji="0" lang="es-AR" altLang="es-AR" sz="1800" b="1" i="0" u="none" strike="noStrike" cap="none" normalizeH="0" baseline="0" dirty="0" err="1">
                <a:ln>
                  <a:noFill/>
                </a:ln>
                <a:solidFill>
                  <a:srgbClr val="000000"/>
                </a:solidFill>
                <a:effectLst/>
                <a:latin typeface="Verdana" panose="020B0604030504040204" pitchFamily="34" charset="0"/>
              </a:rPr>
              <a:t>CL</a:t>
            </a:r>
            <a:r>
              <a:rPr kumimoji="0" lang="es-AR" altLang="es-AR" sz="1800" b="0" i="0" u="none" strike="noStrike" cap="none" normalizeH="0" baseline="0" dirty="0" err="1">
                <a:ln>
                  <a:noFill/>
                </a:ln>
                <a:solidFill>
                  <a:srgbClr val="000000"/>
                </a:solidFill>
                <a:effectLst/>
                <a:latin typeface="Verdana" panose="020B0604030504040204" pitchFamily="34" charset="0"/>
              </a:rPr>
              <a:t>ea</a:t>
            </a:r>
            <a:r>
              <a:rPr kumimoji="0" lang="es-AR" altLang="es-AR" sz="1800" b="1" i="0" u="none" strike="noStrike" cap="none" normalizeH="0" baseline="0" dirty="0" err="1">
                <a:ln>
                  <a:noFill/>
                </a:ln>
                <a:solidFill>
                  <a:srgbClr val="000000"/>
                </a:solidFill>
                <a:effectLst/>
                <a:latin typeface="Verdana" panose="020B0604030504040204" pitchFamily="34" charset="0"/>
              </a:rPr>
              <a:t>R</a:t>
            </a:r>
            <a:r>
              <a:rPr kumimoji="0" lang="es-AR" altLang="es-AR" sz="1800" b="0" i="0" u="none" strike="noStrike" cap="none" normalizeH="0" baseline="0" dirty="0">
                <a:ln>
                  <a:noFill/>
                </a:ln>
                <a:solidFill>
                  <a:srgbClr val="000000"/>
                </a:solidFill>
                <a:effectLst/>
                <a:latin typeface="Verdana" panose="020B0604030504040204" pitchFamily="34" charset="0"/>
              </a:rPr>
              <a:t> es limpiar </a:t>
            </a:r>
            <a:r>
              <a:rPr kumimoji="0" lang="es-AR" altLang="es-AR" sz="1800" b="1" i="0" u="none" strike="noStrike" cap="none" normalizeH="0" baseline="0" dirty="0" err="1">
                <a:ln>
                  <a:noFill/>
                </a:ln>
                <a:solidFill>
                  <a:srgbClr val="000000"/>
                </a:solidFill>
                <a:effectLst/>
                <a:latin typeface="Verdana" panose="020B0604030504040204" pitchFamily="34" charset="0"/>
              </a:rPr>
              <a:t>W</a:t>
            </a:r>
            <a:r>
              <a:rPr kumimoji="0" lang="es-AR" altLang="es-AR" sz="1800" b="0" i="0" u="none" strike="noStrike" cap="none" normalizeH="0" baseline="0" dirty="0" err="1">
                <a:ln>
                  <a:noFill/>
                </a:ln>
                <a:solidFill>
                  <a:srgbClr val="000000"/>
                </a:solidFill>
                <a:effectLst/>
                <a:latin typeface="Verdana" panose="020B0604030504040204" pitchFamily="34" charset="0"/>
              </a:rPr>
              <a:t>atch</a:t>
            </a:r>
            <a:r>
              <a:rPr kumimoji="0" lang="es-AR" altLang="es-AR" sz="1800" b="0" i="0" u="none" strike="noStrike" cap="none" normalizeH="0" baseline="0" dirty="0">
                <a:ln>
                  <a:noFill/>
                </a:ln>
                <a:solidFill>
                  <a:srgbClr val="000000"/>
                </a:solidFill>
                <a:effectLst/>
                <a:latin typeface="Verdana" panose="020B0604030504040204" pitchFamily="34" charset="0"/>
              </a:rPr>
              <a:t> </a:t>
            </a:r>
            <a:r>
              <a:rPr kumimoji="0" lang="es-AR" altLang="es-AR" sz="1800" b="1" i="0" u="none" strike="noStrike" cap="none" normalizeH="0" baseline="0" dirty="0" err="1">
                <a:ln>
                  <a:noFill/>
                </a:ln>
                <a:solidFill>
                  <a:srgbClr val="000000"/>
                </a:solidFill>
                <a:effectLst/>
                <a:latin typeface="Verdana" panose="020B0604030504040204" pitchFamily="34" charset="0"/>
              </a:rPr>
              <a:t>D</a:t>
            </a:r>
            <a:r>
              <a:rPr kumimoji="0" lang="es-AR" altLang="es-AR" sz="1800" b="0" i="0" u="none" strike="noStrike" cap="none" normalizeH="0" baseline="0" dirty="0" err="1">
                <a:ln>
                  <a:noFill/>
                </a:ln>
                <a:solidFill>
                  <a:srgbClr val="000000"/>
                </a:solidFill>
                <a:effectLst/>
                <a:latin typeface="Verdana" panose="020B0604030504040204" pitchFamily="34" charset="0"/>
              </a:rPr>
              <a:t>og</a:t>
            </a:r>
            <a:r>
              <a:rPr kumimoji="0" lang="es-AR" altLang="es-AR" sz="1800" b="0" i="0" u="none" strike="noStrike" cap="none" normalizeH="0" baseline="0" dirty="0">
                <a:ln>
                  <a:noFill/>
                </a:ln>
                <a:solidFill>
                  <a:srgbClr val="000000"/>
                </a:solidFill>
                <a:effectLst/>
                <a:latin typeface="Verdana" panose="020B0604030504040204" pitchFamily="34" charset="0"/>
              </a:rPr>
              <a:t> es perro </a:t>
            </a:r>
            <a:r>
              <a:rPr kumimoji="0" lang="es-AR" altLang="es-AR" sz="1800" b="0" i="0" u="none" strike="noStrike" cap="none" normalizeH="0" baseline="0" dirty="0" err="1">
                <a:ln>
                  <a:noFill/>
                </a:ln>
                <a:solidFill>
                  <a:srgbClr val="000000"/>
                </a:solidFill>
                <a:effectLst/>
                <a:latin typeface="Verdana" panose="020B0604030504040204" pitchFamily="34" charset="0"/>
              </a:rPr>
              <a:t>guardian</a:t>
            </a:r>
            <a:r>
              <a:rPr kumimoji="0" lang="es-AR" altLang="es-AR" sz="1800" b="0" i="0" u="none" strike="noStrike" cap="none" normalizeH="0" baseline="0" dirty="0">
                <a:ln>
                  <a:noFill/>
                </a:ln>
                <a:solidFill>
                  <a:srgbClr val="000000"/>
                </a:solidFill>
                <a:effectLst/>
                <a:latin typeface="Verdana" panose="020B0604030504040204" pitchFamily="34" charset="0"/>
              </a:rPr>
              <a:t> </a:t>
            </a:r>
            <a:r>
              <a:rPr kumimoji="0" lang="es-AR" altLang="es-AR" sz="1800" b="1" i="0" u="none" strike="noStrike" cap="none" normalizeH="0" baseline="0" dirty="0" err="1">
                <a:ln>
                  <a:noFill/>
                </a:ln>
                <a:solidFill>
                  <a:srgbClr val="000000"/>
                </a:solidFill>
                <a:effectLst/>
                <a:latin typeface="Verdana" panose="020B0604030504040204" pitchFamily="34" charset="0"/>
              </a:rPr>
              <a:t>T</a:t>
            </a:r>
            <a:r>
              <a:rPr kumimoji="0" lang="es-AR" altLang="es-AR" sz="1800" b="0" i="0" u="none" strike="noStrike" cap="none" normalizeH="0" baseline="0" dirty="0" err="1">
                <a:ln>
                  <a:noFill/>
                </a:ln>
                <a:solidFill>
                  <a:srgbClr val="000000"/>
                </a:solidFill>
                <a:effectLst/>
                <a:latin typeface="Verdana" panose="020B0604030504040204" pitchFamily="34" charset="0"/>
              </a:rPr>
              <a:t>imer</a:t>
            </a:r>
            <a:r>
              <a:rPr kumimoji="0" lang="es-AR" altLang="es-AR" sz="1800" b="0" i="0" u="none" strike="noStrike" cap="none" normalizeH="0" baseline="0" dirty="0">
                <a:ln>
                  <a:noFill/>
                </a:ln>
                <a:solidFill>
                  <a:srgbClr val="000000"/>
                </a:solidFill>
                <a:effectLst/>
                <a:latin typeface="Verdana" panose="020B0604030504040204" pitchFamily="34" charset="0"/>
              </a:rPr>
              <a:t> es contador.</a:t>
            </a:r>
            <a:br>
              <a:rPr kumimoji="0" lang="es-AR" altLang="es-AR" sz="1800" b="0" i="0" u="none" strike="noStrike" cap="none" normalizeH="0" baseline="0" dirty="0">
                <a:ln>
                  <a:noFill/>
                </a:ln>
                <a:solidFill>
                  <a:schemeClr val="tx1"/>
                </a:solidFill>
                <a:effectLst/>
              </a:rPr>
            </a:b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1" i="0" u="sng" strike="noStrike" cap="none" normalizeH="0" baseline="0" dirty="0">
                <a:ln>
                  <a:noFill/>
                </a:ln>
                <a:solidFill>
                  <a:srgbClr val="000000"/>
                </a:solidFill>
                <a:effectLst/>
                <a:latin typeface="Verdana" panose="020B0604030504040204" pitchFamily="34" charset="0"/>
              </a:rPr>
              <a:t>Afecta a:</a:t>
            </a:r>
            <a:br>
              <a:rPr kumimoji="0" lang="es-AR" altLang="es-AR" sz="1800" b="0" i="0" u="none" strike="noStrike" cap="none" normalizeH="0" baseline="0" dirty="0">
                <a:ln>
                  <a:noFill/>
                </a:ln>
                <a:solidFill>
                  <a:schemeClr val="tx1"/>
                </a:solidFill>
                <a:effectLst/>
              </a:rPr>
            </a:b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800" b="1" i="0" u="none" strike="noStrike" cap="none" normalizeH="0" baseline="0" dirty="0">
                <a:ln>
                  <a:noFill/>
                </a:ln>
                <a:solidFill>
                  <a:srgbClr val="000000"/>
                </a:solidFill>
                <a:effectLst/>
                <a:latin typeface="Verdana" panose="020B0604030504040204" pitchFamily="34" charset="0"/>
              </a:rPr>
              <a:t>TO (</a:t>
            </a:r>
            <a:r>
              <a:rPr kumimoji="0" lang="es-AR" altLang="es-AR" sz="1800" b="1" i="0" u="none" strike="noStrike" cap="none" normalizeH="0" baseline="0" dirty="0" err="1">
                <a:ln>
                  <a:noFill/>
                </a:ln>
                <a:solidFill>
                  <a:srgbClr val="000000"/>
                </a:solidFill>
                <a:effectLst/>
                <a:latin typeface="Verdana" panose="020B0604030504040204" pitchFamily="34" charset="0"/>
              </a:rPr>
              <a:t>neg</a:t>
            </a:r>
            <a:r>
              <a:rPr kumimoji="0" lang="es-AR" altLang="es-AR" sz="1800" b="1" i="0" u="none" strike="noStrike" cap="none" normalizeH="0" baseline="0" dirty="0">
                <a:ln>
                  <a:noFill/>
                </a:ln>
                <a:solidFill>
                  <a:srgbClr val="000000"/>
                </a:solidFill>
                <a:effectLst/>
                <a:latin typeface="Verdana" panose="020B0604030504040204" pitchFamily="34" charset="0"/>
              </a:rPr>
              <a:t>)</a:t>
            </a:r>
            <a:r>
              <a:rPr kumimoji="0" lang="es-AR" altLang="es-AR" sz="1800" b="0" i="0" u="none" strike="noStrike" cap="none" normalizeH="0" baseline="0" dirty="0">
                <a:ln>
                  <a:noFill/>
                </a:ln>
                <a:solidFill>
                  <a:srgbClr val="000000"/>
                </a:solidFill>
                <a:effectLst/>
                <a:latin typeface="Verdana" panose="020B0604030504040204" pitchFamily="34" charset="0"/>
              </a:rPr>
              <a:t> Se pone a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800" b="1" i="0" u="none" strike="noStrike" cap="none" normalizeH="0" baseline="0" dirty="0">
                <a:ln>
                  <a:noFill/>
                </a:ln>
                <a:solidFill>
                  <a:srgbClr val="000000"/>
                </a:solidFill>
                <a:effectLst/>
                <a:latin typeface="Verdana" panose="020B0604030504040204" pitchFamily="34" charset="0"/>
              </a:rPr>
              <a:t>PD (</a:t>
            </a:r>
            <a:r>
              <a:rPr kumimoji="0" lang="es-AR" altLang="es-AR" sz="1800" b="1" i="0" u="none" strike="noStrike" cap="none" normalizeH="0" baseline="0" dirty="0" err="1">
                <a:ln>
                  <a:noFill/>
                </a:ln>
                <a:solidFill>
                  <a:srgbClr val="000000"/>
                </a:solidFill>
                <a:effectLst/>
                <a:latin typeface="Verdana" panose="020B0604030504040204" pitchFamily="34" charset="0"/>
              </a:rPr>
              <a:t>neg</a:t>
            </a:r>
            <a:r>
              <a:rPr kumimoji="0" lang="es-AR" altLang="es-AR" sz="1800" b="1" i="0" u="none" strike="noStrike" cap="none" normalizeH="0" baseline="0" dirty="0">
                <a:ln>
                  <a:noFill/>
                </a:ln>
                <a:solidFill>
                  <a:srgbClr val="000000"/>
                </a:solidFill>
                <a:effectLst/>
                <a:latin typeface="Verdana" panose="020B0604030504040204" pitchFamily="34" charset="0"/>
              </a:rPr>
              <a:t>)</a:t>
            </a:r>
            <a:r>
              <a:rPr kumimoji="0" lang="es-AR" altLang="es-AR" sz="1800" b="0" i="0" u="none" strike="noStrike" cap="none" normalizeH="0" baseline="0" dirty="0">
                <a:ln>
                  <a:noFill/>
                </a:ln>
                <a:solidFill>
                  <a:srgbClr val="000000"/>
                </a:solidFill>
                <a:effectLst/>
                <a:latin typeface="Verdana" panose="020B0604030504040204" pitchFamily="34" charset="0"/>
              </a:rPr>
              <a:t> Se pone a 1</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rPr>
            </a:br>
            <a:r>
              <a:rPr kumimoji="0" lang="es-AR" altLang="es-AR" sz="1800" b="1" i="1" u="none" strike="noStrike" cap="none" normalizeH="0" baseline="0" dirty="0">
                <a:ln>
                  <a:noFill/>
                </a:ln>
                <a:solidFill>
                  <a:srgbClr val="000000"/>
                </a:solidFill>
                <a:effectLst/>
                <a:latin typeface="Verdana" panose="020B0604030504040204" pitchFamily="34" charset="0"/>
              </a:rPr>
              <a:t>NOTA:</a:t>
            </a:r>
            <a:r>
              <a:rPr kumimoji="0" lang="es-AR" altLang="es-AR" sz="1800" b="0" i="0" u="none" strike="noStrike" cap="none" normalizeH="0" baseline="0" dirty="0">
                <a:ln>
                  <a:noFill/>
                </a:ln>
                <a:solidFill>
                  <a:srgbClr val="000000"/>
                </a:solidFill>
                <a:effectLst/>
                <a:latin typeface="Verdana" panose="020B0604030504040204" pitchFamily="34" charset="0"/>
              </a:rPr>
              <a:t> El WDT o el contador perro guardián, sirve para destrabar al PIC. Cada vez que se desborda, o sea, cada vez que pasa de H'FF' a H'00', produce un </a:t>
            </a:r>
            <a:r>
              <a:rPr kumimoji="0" lang="es-AR" altLang="es-AR" sz="1800" b="0" i="0" u="none" strike="noStrike" cap="none" normalizeH="0" baseline="0" dirty="0" err="1">
                <a:ln>
                  <a:noFill/>
                </a:ln>
                <a:solidFill>
                  <a:srgbClr val="000000"/>
                </a:solidFill>
                <a:effectLst/>
                <a:latin typeface="Verdana" panose="020B0604030504040204" pitchFamily="34" charset="0"/>
              </a:rPr>
              <a:t>reset</a:t>
            </a:r>
            <a:r>
              <a:rPr kumimoji="0" lang="es-AR" altLang="es-AR" sz="1800" b="0" i="0" u="none" strike="noStrike" cap="none" normalizeH="0" baseline="0" dirty="0">
                <a:ln>
                  <a:noFill/>
                </a:ln>
                <a:solidFill>
                  <a:srgbClr val="000000"/>
                </a:solidFill>
                <a:effectLst/>
                <a:latin typeface="Verdana" panose="020B0604030504040204" pitchFamily="34" charset="0"/>
              </a:rPr>
              <a:t>, y como es un </a:t>
            </a:r>
            <a:r>
              <a:rPr kumimoji="0" lang="es-AR" altLang="es-AR" sz="1800" b="0" i="0" u="none" strike="noStrike" cap="none" normalizeH="0" baseline="0" dirty="0" err="1">
                <a:ln>
                  <a:noFill/>
                </a:ln>
                <a:solidFill>
                  <a:srgbClr val="000000"/>
                </a:solidFill>
                <a:effectLst/>
                <a:latin typeface="Verdana" panose="020B0604030504040204" pitchFamily="34" charset="0"/>
              </a:rPr>
              <a:t>reset</a:t>
            </a:r>
            <a:r>
              <a:rPr kumimoji="0" lang="es-AR" altLang="es-AR" sz="1800" b="0" i="0" u="none" strike="noStrike" cap="none" normalizeH="0" baseline="0" dirty="0">
                <a:ln>
                  <a:noFill/>
                </a:ln>
                <a:solidFill>
                  <a:srgbClr val="000000"/>
                </a:solidFill>
                <a:effectLst/>
                <a:latin typeface="Verdana" panose="020B0604030504040204" pitchFamily="34" charset="0"/>
              </a:rPr>
              <a:t>, se dirige a la posición 0h de la memoria de programa.</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La forma de trabajar con el, es ir poniendo en lugares estratégicos la instrucción ya explicada, de esta manera evitamos el desborde del contador. Si el CP se traba en algún bucle o algo similar, al no limpiar el contador, el WDT desbordará y llevará al CP a la posición 0h de la memoria de programa.</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rgbClr val="000000"/>
                </a:solidFill>
                <a:effectLst/>
                <a:latin typeface="Verdana" panose="020B0604030504040204" pitchFamily="34" charset="0"/>
              </a:rPr>
              <a:t>Muchas veces se evita de usar esta herramienta por no tener que calcular por todo el programa dónde y cuando limpiar al WDT. Es recomendable su uso.</a:t>
            </a:r>
            <a:r>
              <a:rPr kumimoji="0" lang="es-AR" altLang="es-AR" sz="1800" b="0" i="0" u="none" strike="noStrike" cap="none" normalizeH="0" baseline="0" dirty="0">
                <a:ln>
                  <a:noFill/>
                </a:ln>
                <a:solidFill>
                  <a:schemeClr val="tx1"/>
                </a:solidFill>
                <a:effectLst/>
              </a:rPr>
              <a:t> </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4176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7339F96-E8E6-4559-9C51-0DD62FD346A3}"/>
              </a:ext>
            </a:extLst>
          </p:cNvPr>
          <p:cNvSpPr>
            <a:spLocks noGrp="1" noChangeArrowheads="1"/>
          </p:cNvSpPr>
          <p:nvPr>
            <p:ph idx="1"/>
          </p:nvPr>
        </p:nvSpPr>
        <p:spPr bwMode="auto">
          <a:xfrm>
            <a:off x="838200" y="243156"/>
            <a:ext cx="10492410" cy="6247864"/>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COMF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Realiza el complemento de un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endParaRPr lang="es-AR" altLang="es-AR" sz="2000" dirty="0">
              <a:solidFill>
                <a:srgbClr val="3344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rgbClr val="334466"/>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COMF       TEMP,F</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TEMP tenía guardado B'00111101' luego de ejecutar la instrucción TEMP vale B'11000010'. Nótese, que aquí también podemos elegir el destino y esto nos deja guardarlo en el registro W si así lo requerimos.</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COM</a:t>
            </a:r>
            <a:r>
              <a:rPr kumimoji="0" lang="es-AR" altLang="es-AR" sz="2000" b="0" i="0" u="none" strike="noStrike" cap="none" normalizeH="0" baseline="0" dirty="0" err="1">
                <a:ln>
                  <a:noFill/>
                </a:ln>
                <a:solidFill>
                  <a:srgbClr val="000000"/>
                </a:solidFill>
                <a:effectLst/>
                <a:latin typeface="Verdana" panose="020B0604030504040204" pitchFamily="34" charset="0"/>
              </a:rPr>
              <a:t>lement</a:t>
            </a:r>
            <a:r>
              <a:rPr kumimoji="0" lang="es-AR" altLang="es-AR" sz="2000" b="0" i="0" u="none" strike="noStrike" cap="none" normalizeH="0" baseline="0" dirty="0">
                <a:ln>
                  <a:noFill/>
                </a:ln>
                <a:solidFill>
                  <a:srgbClr val="000000"/>
                </a:solidFill>
                <a:effectLst/>
                <a:latin typeface="Verdana" panose="020B0604030504040204" pitchFamily="34" charset="0"/>
              </a:rPr>
              <a:t> es complemento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sng"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la operación da 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1818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432AF58-B0C6-45FD-B7EE-D90DDBFB749C}"/>
              </a:ext>
            </a:extLst>
          </p:cNvPr>
          <p:cNvSpPr>
            <a:spLocks noGrp="1" noChangeArrowheads="1"/>
          </p:cNvSpPr>
          <p:nvPr>
            <p:ph idx="1"/>
          </p:nvPr>
        </p:nvSpPr>
        <p:spPr bwMode="auto">
          <a:xfrm>
            <a:off x="838200" y="389900"/>
            <a:ext cx="10704443" cy="5940088"/>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DECF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Decrementa en una unidad, o lo que es lo mismo, resta 1 el contenido de un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DECF     DECENA,W</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DECENA vale .255, después de la instrucción W vale .254 y DECENA vale .255 Si por el contrario, hubiéramos elegido el destino F, después de la instrucción DECENA vale .254</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DEC</a:t>
            </a:r>
            <a:r>
              <a:rPr kumimoji="0" lang="es-AR" altLang="es-AR" sz="2000" b="0" i="0" u="none" strike="noStrike" cap="none" normalizeH="0" baseline="0" dirty="0" err="1">
                <a:ln>
                  <a:noFill/>
                </a:ln>
                <a:solidFill>
                  <a:srgbClr val="000000"/>
                </a:solidFill>
                <a:effectLst/>
                <a:latin typeface="Verdana" panose="020B0604030504040204" pitchFamily="34" charset="0"/>
              </a:rPr>
              <a:t>rement</a:t>
            </a:r>
            <a:r>
              <a:rPr kumimoji="0" lang="es-AR" altLang="es-AR" sz="2000" b="0" i="0" u="none" strike="noStrike" cap="none" normalizeH="0" baseline="0" dirty="0">
                <a:ln>
                  <a:noFill/>
                </a:ln>
                <a:solidFill>
                  <a:srgbClr val="000000"/>
                </a:solidFill>
                <a:effectLst/>
                <a:latin typeface="Verdana" panose="020B0604030504040204" pitchFamily="34" charset="0"/>
              </a:rPr>
              <a:t> es decremento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la operación es 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1489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93028D1-1A29-45F4-AB57-7293CBB19DA7}"/>
              </a:ext>
            </a:extLst>
          </p:cNvPr>
          <p:cNvSpPr>
            <a:spLocks noGrp="1" noChangeArrowheads="1"/>
          </p:cNvSpPr>
          <p:nvPr>
            <p:ph idx="1"/>
          </p:nvPr>
        </p:nvSpPr>
        <p:spPr bwMode="auto">
          <a:xfrm>
            <a:off x="838200" y="47556"/>
            <a:ext cx="10816988" cy="6678751"/>
          </a:xfrm>
          <a:prstGeom prst="rect">
            <a:avLst/>
          </a:prstGeom>
          <a:solidFill>
            <a:srgbClr val="EE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5870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1800" b="1" i="1" u="sng" strike="noStrike" cap="none" normalizeH="0" baseline="0" dirty="0">
                <a:ln>
                  <a:noFill/>
                </a:ln>
                <a:solidFill>
                  <a:srgbClr val="800000"/>
                </a:solidFill>
                <a:effectLst/>
                <a:latin typeface="Arial" panose="020B0604020202020204" pitchFamily="34" charset="0"/>
              </a:rPr>
              <a:t>DECFSZ</a:t>
            </a:r>
            <a:br>
              <a:rPr kumimoji="0" lang="es-AR" altLang="es-AR" sz="1800" b="0" i="0" u="none" strike="noStrike" cap="none" normalizeH="0" baseline="0" dirty="0">
                <a:ln>
                  <a:noFill/>
                </a:ln>
                <a:solidFill>
                  <a:schemeClr val="tx1"/>
                </a:solidFill>
                <a:effectLst/>
                <a:latin typeface="Arial" panose="020B0604020202020204" pitchFamily="34" charset="0"/>
              </a:rPr>
            </a:b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0" u="sng" strike="noStrike" cap="none" normalizeH="0" baseline="0" dirty="0">
                <a:ln>
                  <a:noFill/>
                </a:ln>
                <a:solidFill>
                  <a:schemeClr val="tx1"/>
                </a:solidFill>
                <a:effectLst/>
                <a:latin typeface="Arial" panose="020B0604020202020204" pitchFamily="34" charset="0"/>
              </a:rPr>
              <a:t>Decrementa en uno, o lo que es lo mismo, resta en 1 el contenido de un registro y cuando este vale 0, el CP salta una instrucción</a:t>
            </a:r>
            <a:br>
              <a:rPr kumimoji="0" lang="es-AR" altLang="es-AR" sz="1800" b="0" i="0" u="none" strike="noStrike" cap="none" normalizeH="0" baseline="0" dirty="0">
                <a:ln>
                  <a:noFill/>
                </a:ln>
                <a:solidFill>
                  <a:schemeClr val="tx1"/>
                </a:solidFill>
                <a:effectLst/>
                <a:latin typeface="Arial" panose="020B0604020202020204" pitchFamily="34" charset="0"/>
              </a:rPr>
            </a:b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1" i="0" u="none" strike="noStrike" cap="none" normalizeH="0" baseline="0" dirty="0">
                <a:ln>
                  <a:noFill/>
                </a:ln>
                <a:solidFill>
                  <a:srgbClr val="666666"/>
                </a:solidFill>
                <a:effectLst/>
                <a:latin typeface="Arial" panose="020B060402020202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chemeClr val="tx1"/>
                </a:solidFill>
                <a:effectLst/>
                <a:latin typeface="dejavu sans mono"/>
              </a:rPr>
              <a:t>LOOP    DECFSZ      TEMP</a:t>
            </a:r>
            <a:br>
              <a:rPr kumimoji="0" lang="es-AR" altLang="es-AR" sz="1800" b="0" i="0" u="none" strike="noStrike" cap="none" normalizeH="0" baseline="0" dirty="0">
                <a:ln>
                  <a:noFill/>
                </a:ln>
                <a:solidFill>
                  <a:schemeClr val="tx1"/>
                </a:solidFill>
                <a:effectLst/>
                <a:latin typeface="dejavu sans mono"/>
              </a:rPr>
            </a:br>
            <a:r>
              <a:rPr kumimoji="0" lang="es-AR" altLang="es-AR" sz="1800" b="0" i="0" u="none" strike="noStrike" cap="none" normalizeH="0" baseline="0" dirty="0">
                <a:ln>
                  <a:noFill/>
                </a:ln>
                <a:solidFill>
                  <a:schemeClr val="tx1"/>
                </a:solidFill>
                <a:effectLst/>
                <a:latin typeface="dejavu sans mono"/>
              </a:rPr>
              <a:t>           GOTO     LOOP</a:t>
            </a:r>
            <a:br>
              <a:rPr kumimoji="0" lang="es-AR" altLang="es-AR" sz="1800" b="0" i="0" u="none" strike="noStrike" cap="none" normalizeH="0" baseline="0" dirty="0">
                <a:ln>
                  <a:noFill/>
                </a:ln>
                <a:solidFill>
                  <a:schemeClr val="tx1"/>
                </a:solidFill>
                <a:effectLst/>
                <a:latin typeface="dejavu sans mono"/>
              </a:rPr>
            </a:br>
            <a:r>
              <a:rPr kumimoji="0" lang="es-AR" altLang="es-AR" sz="1800" b="0" i="0" u="none" strike="noStrike" cap="none" normalizeH="0" baseline="0" dirty="0">
                <a:ln>
                  <a:noFill/>
                </a:ln>
                <a:solidFill>
                  <a:schemeClr val="tx1"/>
                </a:solidFill>
                <a:effectLst/>
                <a:latin typeface="dejavu sans mono"/>
              </a:rPr>
              <a:t>           BCF      PORTB,0</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1800" dirty="0">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chemeClr val="tx1"/>
                </a:solidFill>
                <a:effectLst/>
              </a:rPr>
              <a:t>El CP descontará en 1 el registro TEMP y evalúa el valor, si no es cero, ejecuta línea siguiente que es GOTO LOOP, el cual se dirige de nuevo a la línea LOOP   DECFSZ   TEMP el cual volverá a descontar en 1 y evalúa el valor, si es cero salta la línea GOTO LOOP y ejecuta la instrucción BCF PORTB. Esta última línea, el programador pondrá la instrucción que necesite ejecutar.</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chemeClr val="tx1"/>
                </a:solidFill>
                <a:effectLst/>
              </a:rPr>
              <a:t>Este pequeño programa que acabamos de ver, es un temporizador o un retardo que tardará en salir del bucle dependiendo de la frecuencia de reloj y el valor cargado en TEMP.</a:t>
            </a:r>
            <a:br>
              <a:rPr kumimoji="0" lang="es-AR" altLang="es-AR" sz="1800" b="0" i="0" u="none" strike="noStrike" cap="none" normalizeH="0" baseline="0" dirty="0">
                <a:ln>
                  <a:noFill/>
                </a:ln>
                <a:solidFill>
                  <a:schemeClr val="tx1"/>
                </a:solidFill>
                <a:effectLst/>
              </a:rPr>
            </a:b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chemeClr val="tx1"/>
                </a:solidFill>
                <a:effectLst/>
              </a:rPr>
              <a:t>NOTA: Esta instrucción, también hay que elegirle el destino. En el caso que no se exprese, como en este caso, el MPLAB dará por sentado que el resultado se guardará en el registro F y no en W.</a:t>
            </a:r>
            <a:br>
              <a:rPr kumimoji="0" lang="es-AR" altLang="es-AR" sz="1800" b="0" i="0" u="none" strike="noStrike" cap="none" normalizeH="0" baseline="0" dirty="0">
                <a:ln>
                  <a:noFill/>
                </a:ln>
                <a:solidFill>
                  <a:schemeClr val="tx1"/>
                </a:solidFill>
                <a:effectLst/>
              </a:rPr>
            </a:br>
            <a:r>
              <a:rPr kumimoji="0" lang="es-AR" altLang="es-AR" sz="1800" b="0" i="0" u="none" strike="noStrike" cap="none" normalizeH="0" baseline="0" dirty="0">
                <a:ln>
                  <a:noFill/>
                </a:ln>
                <a:solidFill>
                  <a:schemeClr val="tx1"/>
                </a:solidFill>
                <a:effectLst/>
              </a:rPr>
              <a:t>Para recordar</a:t>
            </a:r>
            <a:r>
              <a:rPr kumimoji="0" lang="es-AR" altLang="es-AR" sz="1800" b="0" i="0" u="none" strike="noStrike" cap="none" normalizeH="0" baseline="0" dirty="0">
                <a:ln>
                  <a:noFill/>
                </a:ln>
                <a:solidFill>
                  <a:schemeClr val="tx1"/>
                </a:solidFill>
                <a:effectLst/>
                <a:latin typeface="Arial" panose="020B0604020202020204" pitchFamily="34" charset="0"/>
              </a:rPr>
              <a:t> </a:t>
            </a:r>
            <a:r>
              <a:rPr kumimoji="0" lang="es-AR" altLang="es-AR" sz="1800" b="1" i="0" u="none" strike="noStrike" cap="none" normalizeH="0" baseline="0" dirty="0" err="1">
                <a:ln>
                  <a:noFill/>
                </a:ln>
                <a:solidFill>
                  <a:schemeClr val="tx1"/>
                </a:solidFill>
                <a:effectLst/>
                <a:latin typeface="Arial" panose="020B0604020202020204" pitchFamily="34" charset="0"/>
              </a:rPr>
              <a:t>DEC</a:t>
            </a:r>
            <a:r>
              <a:rPr kumimoji="0" lang="es-AR" altLang="es-AR" sz="1800" b="0" i="0" u="none" strike="noStrike" cap="none" normalizeH="0" baseline="0" dirty="0" err="1">
                <a:ln>
                  <a:noFill/>
                </a:ln>
                <a:solidFill>
                  <a:schemeClr val="tx1"/>
                </a:solidFill>
                <a:effectLst/>
                <a:latin typeface="Arial" panose="020B0604020202020204" pitchFamily="34" charset="0"/>
              </a:rPr>
              <a:t>rement</a:t>
            </a:r>
            <a:r>
              <a:rPr kumimoji="0" lang="es-AR" altLang="es-AR" sz="1800" b="0" i="0" u="none" strike="noStrike" cap="none" normalizeH="0" baseline="0" dirty="0">
                <a:ln>
                  <a:noFill/>
                </a:ln>
                <a:solidFill>
                  <a:schemeClr val="tx1"/>
                </a:solidFill>
                <a:effectLst/>
                <a:latin typeface="Arial" panose="020B0604020202020204" pitchFamily="34" charset="0"/>
              </a:rPr>
              <a:t> es decremento </a:t>
            </a:r>
            <a:r>
              <a:rPr kumimoji="0" lang="es-AR" altLang="es-AR" sz="1800" b="1" i="0" u="none" strike="noStrike" cap="none" normalizeH="0" baseline="0" dirty="0">
                <a:ln>
                  <a:noFill/>
                </a:ln>
                <a:solidFill>
                  <a:schemeClr val="tx1"/>
                </a:solidFill>
                <a:effectLst/>
                <a:latin typeface="Arial" panose="020B0604020202020204" pitchFamily="34" charset="0"/>
              </a:rPr>
              <a:t>F</a:t>
            </a:r>
            <a:r>
              <a:rPr kumimoji="0" lang="es-AR" altLang="es-AR" sz="1800" b="0" i="0" u="none" strike="noStrike" cap="none" normalizeH="0" baseline="0" dirty="0">
                <a:ln>
                  <a:noFill/>
                </a:ln>
                <a:solidFill>
                  <a:schemeClr val="tx1"/>
                </a:solidFill>
                <a:effectLst/>
                <a:latin typeface="Arial" panose="020B0604020202020204" pitchFamily="34" charset="0"/>
              </a:rPr>
              <a:t>ile es registro </a:t>
            </a:r>
            <a:r>
              <a:rPr kumimoji="0" lang="es-AR" altLang="es-AR" sz="1800" b="1" i="0" u="none" strike="noStrike" cap="none" normalizeH="0" baseline="0" dirty="0" err="1">
                <a:ln>
                  <a:noFill/>
                </a:ln>
                <a:solidFill>
                  <a:schemeClr val="tx1"/>
                </a:solidFill>
                <a:effectLst/>
                <a:latin typeface="Arial" panose="020B0604020202020204" pitchFamily="34" charset="0"/>
              </a:rPr>
              <a:t>S</a:t>
            </a:r>
            <a:r>
              <a:rPr kumimoji="0" lang="es-AR" altLang="es-AR" sz="1800" b="0" i="0" u="none" strike="noStrike" cap="none" normalizeH="0" baseline="0" dirty="0" err="1">
                <a:ln>
                  <a:noFill/>
                </a:ln>
                <a:solidFill>
                  <a:schemeClr val="tx1"/>
                </a:solidFill>
                <a:effectLst/>
                <a:latin typeface="Arial" panose="020B0604020202020204" pitchFamily="34" charset="0"/>
              </a:rPr>
              <a:t>kip</a:t>
            </a:r>
            <a:r>
              <a:rPr kumimoji="0" lang="es-AR" altLang="es-AR" sz="1800" b="0" i="0" u="none" strike="noStrike" cap="none" normalizeH="0" baseline="0" dirty="0">
                <a:ln>
                  <a:noFill/>
                </a:ln>
                <a:solidFill>
                  <a:schemeClr val="tx1"/>
                </a:solidFill>
                <a:effectLst/>
                <a:latin typeface="Arial" panose="020B0604020202020204" pitchFamily="34" charset="0"/>
              </a:rPr>
              <a:t> es salto </a:t>
            </a:r>
            <a:r>
              <a:rPr kumimoji="0" lang="es-AR" altLang="es-AR" sz="1800" b="1" i="0" u="none" strike="noStrike" cap="none" normalizeH="0" baseline="0" dirty="0">
                <a:ln>
                  <a:noFill/>
                </a:ln>
                <a:solidFill>
                  <a:schemeClr val="tx1"/>
                </a:solidFill>
                <a:effectLst/>
                <a:latin typeface="Arial" panose="020B0604020202020204" pitchFamily="34" charset="0"/>
              </a:rPr>
              <a:t>Z</a:t>
            </a:r>
            <a:r>
              <a:rPr kumimoji="0" lang="es-AR" altLang="es-AR" sz="1800" b="0" i="0" u="none" strike="noStrike" cap="none" normalizeH="0" baseline="0" dirty="0">
                <a:ln>
                  <a:noFill/>
                </a:ln>
                <a:solidFill>
                  <a:schemeClr val="tx1"/>
                </a:solidFill>
                <a:effectLst/>
                <a:latin typeface="Arial" panose="020B0604020202020204" pitchFamily="34" charset="0"/>
              </a:rPr>
              <a:t>ero que es cero.</a:t>
            </a: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0" u="none" strike="noStrike" cap="none" normalizeH="0" baseline="0" dirty="0">
                <a:ln>
                  <a:noFill/>
                </a:ln>
                <a:solidFill>
                  <a:schemeClr val="tx1"/>
                </a:solidFill>
                <a:effectLst/>
                <a:latin typeface="Arial" panose="020B0604020202020204" pitchFamily="34" charset="0"/>
              </a:rPr>
              <a:t>No afecta ningún bit del registro STATUS.</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latin typeface="Arial" panose="020B0604020202020204" pitchFamily="34" charset="0"/>
              </a:rPr>
            </a:b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2024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3521D6C-4DDB-4986-AFA4-801E0A2FC9C2}"/>
              </a:ext>
            </a:extLst>
          </p:cNvPr>
          <p:cNvSpPr>
            <a:spLocks noGrp="1" noChangeArrowheads="1"/>
          </p:cNvSpPr>
          <p:nvPr>
            <p:ph idx="1"/>
          </p:nvPr>
        </p:nvSpPr>
        <p:spPr bwMode="auto">
          <a:xfrm>
            <a:off x="838200" y="55931"/>
            <a:ext cx="10823713" cy="6555641"/>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INCF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Incrementa en 1, o suma 1, el contenido de un registro elegido por el programador.</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INCF          INDF,F</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INDF vale H'29', después de la instrucción INDF vale H'2A'. Nótese que también podemos elegir el destino. Si hubiéramos elegido W, después de la instrucción, W vale H'2A' y INDF vale H'29'.</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INC</a:t>
            </a:r>
            <a:r>
              <a:rPr kumimoji="0" lang="es-AR" altLang="es-AR" sz="2000" b="0" i="0" u="none" strike="noStrike" cap="none" normalizeH="0" baseline="0" dirty="0" err="1">
                <a:ln>
                  <a:noFill/>
                </a:ln>
                <a:solidFill>
                  <a:srgbClr val="000000"/>
                </a:solidFill>
                <a:effectLst/>
                <a:latin typeface="Verdana" panose="020B0604030504040204" pitchFamily="34" charset="0"/>
              </a:rPr>
              <a:t>rement</a:t>
            </a:r>
            <a:r>
              <a:rPr kumimoji="0" lang="es-AR" altLang="es-AR" sz="2000" b="0" i="0" u="none" strike="noStrike" cap="none" normalizeH="0" baseline="0" dirty="0">
                <a:ln>
                  <a:noFill/>
                </a:ln>
                <a:solidFill>
                  <a:srgbClr val="000000"/>
                </a:solidFill>
                <a:effectLst/>
                <a:latin typeface="Verdana" panose="020B0604030504040204" pitchFamily="34" charset="0"/>
              </a:rPr>
              <a:t> es incremento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el resultado es 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1263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680AE43-375A-4F29-A9CD-DDE9E66C783F}"/>
              </a:ext>
            </a:extLst>
          </p:cNvPr>
          <p:cNvSpPr>
            <a:spLocks noGrp="1" noChangeArrowheads="1"/>
          </p:cNvSpPr>
          <p:nvPr>
            <p:ph idx="1"/>
          </p:nvPr>
        </p:nvSpPr>
        <p:spPr bwMode="auto">
          <a:xfrm>
            <a:off x="838200" y="181956"/>
            <a:ext cx="9896062" cy="6494085"/>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1" i="1" u="sng" strike="noStrike" cap="none" normalizeH="0" baseline="0" dirty="0">
                <a:ln>
                  <a:noFill/>
                </a:ln>
                <a:solidFill>
                  <a:srgbClr val="800000"/>
                </a:solidFill>
                <a:effectLst/>
                <a:latin typeface="Verdana" panose="020B0604030504040204" pitchFamily="34" charset="0"/>
              </a:rPr>
              <a:t>INCFSZ</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r>
              <a:rPr kumimoji="0" lang="es-AR" altLang="es-AR" sz="1600" b="0" i="0" u="sng" strike="noStrike" cap="none" normalizeH="0" baseline="0" dirty="0">
                <a:ln>
                  <a:noFill/>
                </a:ln>
                <a:solidFill>
                  <a:srgbClr val="000000"/>
                </a:solidFill>
                <a:effectLst/>
                <a:latin typeface="Verdana" panose="020B0604030504040204" pitchFamily="34" charset="0"/>
              </a:rPr>
              <a:t>Incrementa en 1, o suma en 1, el contenido de un registro elegido por el programador y cuando este es 0, el CP salta una instrucción.</a:t>
            </a:r>
            <a:br>
              <a:rPr kumimoji="0" lang="es-AR" altLang="es-AR" sz="1600" b="0" i="0" u="none" strike="noStrike" cap="none" normalizeH="0" baseline="0" dirty="0">
                <a:ln>
                  <a:noFill/>
                </a:ln>
                <a:solidFill>
                  <a:schemeClr val="tx1"/>
                </a:solidFill>
                <a:effectLst/>
              </a:rPr>
            </a:br>
            <a:r>
              <a:rPr kumimoji="0" lang="es-AR" altLang="es-AR" sz="1600" b="1" i="0" u="none" strike="noStrike" cap="none" normalizeH="0" baseline="0" dirty="0">
                <a:ln>
                  <a:noFill/>
                </a:ln>
                <a:solidFill>
                  <a:srgbClr val="666666"/>
                </a:solidFill>
                <a:effectLst/>
                <a:latin typeface="Verdana" panose="020B0604030504040204" pitchFamily="34" charset="0"/>
              </a:rPr>
              <a:t>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dejavu sans mono"/>
              </a:rPr>
              <a:t>VOLVER          INCFSZ          CONTADOR</a:t>
            </a:r>
            <a:br>
              <a:rPr kumimoji="0" lang="es-AR" altLang="es-AR" sz="1600" b="0" i="0" u="none" strike="noStrike" cap="none" normalizeH="0" baseline="0" dirty="0">
                <a:ln>
                  <a:noFill/>
                </a:ln>
                <a:solidFill>
                  <a:srgbClr val="000000"/>
                </a:solidFill>
                <a:effectLst/>
                <a:latin typeface="dejavu sans mono"/>
              </a:rPr>
            </a:br>
            <a:r>
              <a:rPr kumimoji="0" lang="es-AR" altLang="es-AR" sz="1600" b="0" i="0" u="none" strike="noStrike" cap="none" normalizeH="0" baseline="0" dirty="0">
                <a:ln>
                  <a:noFill/>
                </a:ln>
                <a:solidFill>
                  <a:srgbClr val="000000"/>
                </a:solidFill>
                <a:effectLst/>
                <a:latin typeface="dejavu sans mono"/>
              </a:rPr>
              <a:t>                     GOTO             VOLVER</a:t>
            </a:r>
            <a:br>
              <a:rPr kumimoji="0" lang="es-AR" altLang="es-AR" sz="1600" b="0" i="0" u="none" strike="noStrike" cap="none" normalizeH="0" baseline="0" dirty="0">
                <a:ln>
                  <a:noFill/>
                </a:ln>
                <a:solidFill>
                  <a:srgbClr val="000000"/>
                </a:solidFill>
                <a:effectLst/>
                <a:latin typeface="dejavu sans mono"/>
              </a:rPr>
            </a:br>
            <a:r>
              <a:rPr kumimoji="0" lang="es-AR" altLang="es-AR" sz="1600" b="0" i="0" u="none" strike="noStrike" cap="none" normalizeH="0" baseline="0" dirty="0">
                <a:ln>
                  <a:noFill/>
                </a:ln>
                <a:solidFill>
                  <a:srgbClr val="000000"/>
                </a:solidFill>
                <a:effectLst/>
                <a:latin typeface="dejavu sans mono"/>
              </a:rPr>
              <a:t>                     INCF              PORTA</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Verdana" panose="020B0604030504040204" pitchFamily="34" charset="0"/>
              </a:rPr>
              <a:t>El CP incrementará en 1 el registro CONTADOR y evalúa el valor, si no es cero, ejecuta línea siguiente que es GOTO VOLVER, el cual se dirige de nuevo a la línea VOLVER   INCFSZ   CONTADOR donde volverá a incrementar en 1 y evalúa el valor, si es cero salta la línea GOTO VOLVER y ejecuta la instrucción INCF  PORTA. Esta última línea, el programador pondrá la instrucción que necesite ejecutar.</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600" b="0" i="0" u="none" strike="noStrike" cap="none" normalizeH="0" baseline="0" dirty="0">
                <a:ln>
                  <a:noFill/>
                </a:ln>
                <a:solidFill>
                  <a:schemeClr val="tx1"/>
                </a:solidFill>
                <a:effectLst/>
              </a:rPr>
            </a:br>
            <a:r>
              <a:rPr kumimoji="0" lang="es-AR" altLang="es-AR" sz="1600" b="0" i="0" u="none" strike="noStrike" cap="none" normalizeH="0" baseline="0" dirty="0">
                <a:ln>
                  <a:noFill/>
                </a:ln>
                <a:solidFill>
                  <a:srgbClr val="000000"/>
                </a:solidFill>
                <a:effectLst/>
                <a:latin typeface="Verdana" panose="020B0604030504040204" pitchFamily="34" charset="0"/>
              </a:rPr>
              <a:t>Este pequeño programa que acabamos de ver, es un temporizador o un retardo que tardará en salir del bucle dependiendo de la frecuencia de reloj y el valor cargado en CONTADOR. Normalmente, se utiliza el retardo con DECFSZ pero este también es válido.</a:t>
            </a:r>
            <a:br>
              <a:rPr kumimoji="0" lang="es-AR" altLang="es-AR" sz="1600" b="0" i="0" u="none" strike="noStrike" cap="none" normalizeH="0" baseline="0" dirty="0">
                <a:ln>
                  <a:noFill/>
                </a:ln>
                <a:solidFill>
                  <a:schemeClr val="tx1"/>
                </a:solidFill>
                <a:effectLst/>
              </a:rPr>
            </a:br>
            <a:endParaRPr kumimoji="0" lang="es-AR" altLang="es-A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Verdana" panose="020B0604030504040204" pitchFamily="34" charset="0"/>
              </a:rPr>
              <a:t>NOTA: Esta instrucción, también hay que elegirle el destino. En el caso que no se exprese, como en este caso, el MPLAB dará por sentado que el resultado se guardará en el registro F y no en W.</a:t>
            </a:r>
            <a:br>
              <a:rPr kumimoji="0" lang="es-AR" altLang="es-AR" sz="1600" b="0" i="0" u="none" strike="noStrike" cap="none" normalizeH="0" baseline="0" dirty="0">
                <a:ln>
                  <a:noFill/>
                </a:ln>
                <a:solidFill>
                  <a:schemeClr val="tx1"/>
                </a:solidFill>
                <a:effectLst/>
              </a:rPr>
            </a:br>
            <a:r>
              <a:rPr kumimoji="0" lang="es-AR" altLang="es-AR" sz="1600" b="0" i="0" u="none" strike="noStrike" cap="none" normalizeH="0" baseline="0" dirty="0">
                <a:ln>
                  <a:noFill/>
                </a:ln>
                <a:solidFill>
                  <a:srgbClr val="000000"/>
                </a:solidFill>
                <a:effectLst/>
                <a:latin typeface="Verdana" panose="020B0604030504040204" pitchFamily="34" charset="0"/>
              </a:rPr>
              <a:t>Para recordar </a:t>
            </a:r>
            <a:r>
              <a:rPr kumimoji="0" lang="es-AR" altLang="es-AR" sz="1600" b="1" i="0" u="none" strike="noStrike" cap="none" normalizeH="0" baseline="0" dirty="0" err="1">
                <a:ln>
                  <a:noFill/>
                </a:ln>
                <a:solidFill>
                  <a:srgbClr val="000000"/>
                </a:solidFill>
                <a:effectLst/>
                <a:latin typeface="Verdana" panose="020B0604030504040204" pitchFamily="34" charset="0"/>
              </a:rPr>
              <a:t>INC</a:t>
            </a:r>
            <a:r>
              <a:rPr kumimoji="0" lang="es-AR" altLang="es-AR" sz="1600" b="0" i="0" u="none" strike="noStrike" cap="none" normalizeH="0" baseline="0" dirty="0" err="1">
                <a:ln>
                  <a:noFill/>
                </a:ln>
                <a:solidFill>
                  <a:srgbClr val="000000"/>
                </a:solidFill>
                <a:effectLst/>
                <a:latin typeface="Verdana" panose="020B0604030504040204" pitchFamily="34" charset="0"/>
              </a:rPr>
              <a:t>rement</a:t>
            </a:r>
            <a:r>
              <a:rPr kumimoji="0" lang="es-AR" altLang="es-AR" sz="1600" b="0" i="0" u="none" strike="noStrike" cap="none" normalizeH="0" baseline="0" dirty="0">
                <a:ln>
                  <a:noFill/>
                </a:ln>
                <a:solidFill>
                  <a:srgbClr val="000000"/>
                </a:solidFill>
                <a:effectLst/>
                <a:latin typeface="Verdana" panose="020B0604030504040204" pitchFamily="34" charset="0"/>
              </a:rPr>
              <a:t> es incremento </a:t>
            </a:r>
            <a:r>
              <a:rPr kumimoji="0" lang="es-AR" altLang="es-AR" sz="1600" b="1" i="0" u="none" strike="noStrike" cap="none" normalizeH="0" baseline="0" dirty="0">
                <a:ln>
                  <a:noFill/>
                </a:ln>
                <a:solidFill>
                  <a:srgbClr val="000000"/>
                </a:solidFill>
                <a:effectLst/>
                <a:latin typeface="Verdana" panose="020B0604030504040204" pitchFamily="34" charset="0"/>
              </a:rPr>
              <a:t>F</a:t>
            </a:r>
            <a:r>
              <a:rPr kumimoji="0" lang="es-AR" altLang="es-AR" sz="1600" b="0" i="0" u="none" strike="noStrike" cap="none" normalizeH="0" baseline="0" dirty="0">
                <a:ln>
                  <a:noFill/>
                </a:ln>
                <a:solidFill>
                  <a:srgbClr val="000000"/>
                </a:solidFill>
                <a:effectLst/>
                <a:latin typeface="Verdana" panose="020B0604030504040204" pitchFamily="34" charset="0"/>
              </a:rPr>
              <a:t>ile es registro </a:t>
            </a:r>
            <a:r>
              <a:rPr kumimoji="0" lang="es-AR" altLang="es-AR" sz="1600" b="1" i="0" u="none" strike="noStrike" cap="none" normalizeH="0" baseline="0" dirty="0" err="1">
                <a:ln>
                  <a:noFill/>
                </a:ln>
                <a:solidFill>
                  <a:srgbClr val="000000"/>
                </a:solidFill>
                <a:effectLst/>
                <a:latin typeface="Verdana" panose="020B0604030504040204" pitchFamily="34" charset="0"/>
              </a:rPr>
              <a:t>S</a:t>
            </a:r>
            <a:r>
              <a:rPr kumimoji="0" lang="es-AR" altLang="es-AR" sz="1600" b="0" i="0" u="none" strike="noStrike" cap="none" normalizeH="0" baseline="0" dirty="0" err="1">
                <a:ln>
                  <a:noFill/>
                </a:ln>
                <a:solidFill>
                  <a:srgbClr val="000000"/>
                </a:solidFill>
                <a:effectLst/>
                <a:latin typeface="Verdana" panose="020B0604030504040204" pitchFamily="34" charset="0"/>
              </a:rPr>
              <a:t>kip</a:t>
            </a:r>
            <a:r>
              <a:rPr kumimoji="0" lang="es-AR" altLang="es-AR" sz="1600" b="0" i="0" u="none" strike="noStrike" cap="none" normalizeH="0" baseline="0" dirty="0">
                <a:ln>
                  <a:noFill/>
                </a:ln>
                <a:solidFill>
                  <a:srgbClr val="000000"/>
                </a:solidFill>
                <a:effectLst/>
                <a:latin typeface="Verdana" panose="020B0604030504040204" pitchFamily="34" charset="0"/>
              </a:rPr>
              <a:t> es salto </a:t>
            </a:r>
            <a:r>
              <a:rPr kumimoji="0" lang="es-AR" altLang="es-AR" sz="1600" b="1" i="0" u="none" strike="noStrike" cap="none" normalizeH="0" baseline="0" dirty="0">
                <a:ln>
                  <a:noFill/>
                </a:ln>
                <a:solidFill>
                  <a:srgbClr val="000000"/>
                </a:solidFill>
                <a:effectLst/>
                <a:latin typeface="Verdana" panose="020B0604030504040204" pitchFamily="34" charset="0"/>
              </a:rPr>
              <a:t>Z</a:t>
            </a:r>
            <a:r>
              <a:rPr kumimoji="0" lang="es-AR" altLang="es-AR" sz="1600" b="0" i="0" u="none" strike="noStrike" cap="none" normalizeH="0" baseline="0" dirty="0">
                <a:ln>
                  <a:noFill/>
                </a:ln>
                <a:solidFill>
                  <a:srgbClr val="000000"/>
                </a:solidFill>
                <a:effectLst/>
                <a:latin typeface="Verdana" panose="020B0604030504040204" pitchFamily="34" charset="0"/>
              </a:rPr>
              <a:t>ero es cero.</a:t>
            </a:r>
            <a:br>
              <a:rPr kumimoji="0" lang="es-AR" altLang="es-AR" sz="1600" b="0" i="0" u="none" strike="noStrike" cap="none" normalizeH="0" baseline="0" dirty="0">
                <a:ln>
                  <a:noFill/>
                </a:ln>
                <a:solidFill>
                  <a:schemeClr val="tx1"/>
                </a:solidFill>
                <a:effectLst/>
              </a:rPr>
            </a:br>
            <a:r>
              <a:rPr kumimoji="0" lang="es-AR" altLang="es-AR" sz="1600" b="0" i="0" u="none" strike="noStrike" cap="none" normalizeH="0" baseline="0" dirty="0">
                <a:ln>
                  <a:noFill/>
                </a:ln>
                <a:solidFill>
                  <a:srgbClr val="000000"/>
                </a:solidFill>
                <a:effectLst/>
                <a:latin typeface="Verdana" panose="020B0604030504040204" pitchFamily="34" charset="0"/>
              </a:rPr>
              <a:t>No afecta ningún bit del registro STATUS.</a:t>
            </a:r>
            <a:br>
              <a:rPr kumimoji="0" lang="es-AR" altLang="es-AR" sz="1600" b="0" i="0" u="none" strike="noStrike" cap="none" normalizeH="0" baseline="0" dirty="0">
                <a:ln>
                  <a:noFill/>
                </a:ln>
                <a:solidFill>
                  <a:schemeClr val="tx1"/>
                </a:solidFill>
                <a:effectLst/>
              </a:rPr>
            </a:br>
            <a:br>
              <a:rPr kumimoji="0" lang="es-AR" altLang="es-AR" sz="1600" b="0" i="0" u="none" strike="noStrike" cap="none" normalizeH="0" baseline="0" dirty="0">
                <a:ln>
                  <a:noFill/>
                </a:ln>
                <a:solidFill>
                  <a:schemeClr val="tx1"/>
                </a:solidFill>
                <a:effectLst/>
                <a:latin typeface="Arial" panose="020B0604020202020204" pitchFamily="34" charset="0"/>
              </a:rPr>
            </a:br>
            <a:endParaRPr kumimoji="0" lang="es-AR" altLang="es-A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9492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1368D-EAF0-4BF3-A59B-F392D903BFAB}"/>
              </a:ext>
            </a:extLst>
          </p:cNvPr>
          <p:cNvSpPr>
            <a:spLocks noGrp="1"/>
          </p:cNvSpPr>
          <p:nvPr>
            <p:ph idx="1"/>
          </p:nvPr>
        </p:nvSpPr>
        <p:spPr>
          <a:xfrm>
            <a:off x="838200" y="649357"/>
            <a:ext cx="10515600" cy="5527606"/>
          </a:xfrm>
        </p:spPr>
        <p:txBody>
          <a:bodyPr>
            <a:normAutofit fontScale="92500" lnSpcReduction="20000"/>
          </a:bodyPr>
          <a:lstStyle/>
          <a:p>
            <a:br>
              <a:rPr lang="es-ES" dirty="0"/>
            </a:br>
            <a:r>
              <a:rPr lang="es-ES" b="1" i="1" u="sng" dirty="0"/>
              <a:t>IORLW</a:t>
            </a:r>
            <a:br>
              <a:rPr lang="es-ES" dirty="0"/>
            </a:br>
            <a:br>
              <a:rPr lang="es-ES" dirty="0"/>
            </a:br>
            <a:r>
              <a:rPr lang="es-ES" u="sng" dirty="0"/>
              <a:t>Realiza la operación OR entre W y un literal elegido por el programador. El resultado se guarda en W. La operación es W OR L.</a:t>
            </a:r>
            <a:br>
              <a:rPr lang="es-ES" dirty="0"/>
            </a:br>
            <a:br>
              <a:rPr lang="es-ES" dirty="0"/>
            </a:br>
            <a:r>
              <a:rPr lang="es-ES" dirty="0"/>
              <a:t>Si antes de la instrucción W vale   B'01110100’</a:t>
            </a:r>
          </a:p>
          <a:p>
            <a:r>
              <a:rPr lang="es-ES" dirty="0"/>
              <a:t> y el literal elegido es                       B'00011111’, </a:t>
            </a:r>
          </a:p>
          <a:p>
            <a:pPr marL="0" indent="0">
              <a:buNone/>
            </a:pPr>
            <a:r>
              <a:rPr lang="es-ES" dirty="0"/>
              <a:t>    después de la instrucción W vale B'01111111'.</a:t>
            </a:r>
            <a:br>
              <a:rPr lang="es-ES" dirty="0"/>
            </a:br>
            <a:br>
              <a:rPr lang="es-ES" dirty="0"/>
            </a:br>
            <a:r>
              <a:rPr lang="es-ES" dirty="0"/>
              <a:t>Para recordar </a:t>
            </a:r>
            <a:r>
              <a:rPr lang="es-ES" b="1" dirty="0"/>
              <a:t>I</a:t>
            </a:r>
            <a:r>
              <a:rPr lang="es-ES" dirty="0"/>
              <a:t>nclusive es inclusivo </a:t>
            </a:r>
            <a:r>
              <a:rPr lang="es-ES" b="1" dirty="0"/>
              <a:t>OR</a:t>
            </a:r>
            <a:r>
              <a:rPr lang="es-ES" dirty="0"/>
              <a:t> es la operación binaria OR </a:t>
            </a:r>
          </a:p>
          <a:p>
            <a:pPr marL="0" indent="0">
              <a:buNone/>
            </a:pPr>
            <a:r>
              <a:rPr lang="es-ES" b="1" dirty="0"/>
              <a:t>L</a:t>
            </a:r>
            <a:r>
              <a:rPr lang="es-ES" dirty="0"/>
              <a:t>iteral es literal </a:t>
            </a:r>
            <a:r>
              <a:rPr lang="es-ES" b="1" dirty="0"/>
              <a:t>W</a:t>
            </a:r>
            <a:r>
              <a:rPr lang="es-ES" dirty="0"/>
              <a:t> es el registro trabajo.</a:t>
            </a:r>
            <a:br>
              <a:rPr lang="es-ES" dirty="0"/>
            </a:br>
            <a:br>
              <a:rPr lang="es-ES" dirty="0"/>
            </a:br>
            <a:r>
              <a:rPr lang="es-ES" b="1" u="sng" dirty="0"/>
              <a:t>Afecta a:</a:t>
            </a:r>
            <a:br>
              <a:rPr lang="es-ES" dirty="0"/>
            </a:br>
            <a:br>
              <a:rPr lang="es-ES" dirty="0"/>
            </a:br>
            <a:r>
              <a:rPr lang="es-ES" b="1" dirty="0"/>
              <a:t>Z</a:t>
            </a:r>
            <a:r>
              <a:rPr lang="es-ES" dirty="0"/>
              <a:t> se pone a 1 si la operación da 0</a:t>
            </a:r>
          </a:p>
          <a:p>
            <a:endParaRPr lang="es-AR" dirty="0"/>
          </a:p>
        </p:txBody>
      </p:sp>
    </p:spTree>
    <p:extLst>
      <p:ext uri="{BB962C8B-B14F-4D97-AF65-F5344CB8AC3E}">
        <p14:creationId xmlns:p14="http://schemas.microsoft.com/office/powerpoint/2010/main" val="163050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558D8F5-3CC8-4012-9DA9-A83FED8E0AB6}"/>
              </a:ext>
            </a:extLst>
          </p:cNvPr>
          <p:cNvSpPr>
            <a:spLocks noGrp="1" noChangeArrowheads="1"/>
          </p:cNvSpPr>
          <p:nvPr>
            <p:ph idx="1"/>
          </p:nvPr>
        </p:nvSpPr>
        <p:spPr bwMode="auto">
          <a:xfrm>
            <a:off x="838200" y="229662"/>
            <a:ext cx="10816988" cy="6247864"/>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IORWF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Realiza la operación lógica OR entre el registro W y un registro elegido por el programador. La operación es W OR 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IORWF      PORTC,F</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W vale B'01111111' y PORC vale B'00001111' después de la instrucción PORTC vale B'01111111' y W vale B'01111111’.</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Verdana" panose="020B0604030504040204" pitchFamily="34" charset="0"/>
              </a:rPr>
              <a:t>Nótese que podemos elegir el destino y la otra opción, como ya se dieron cuenta por las instrucciones pasadas, puede ser 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I</a:t>
            </a:r>
            <a:r>
              <a:rPr kumimoji="0" lang="es-AR" altLang="es-AR" sz="2000" b="0" i="0" u="none" strike="noStrike" cap="none" normalizeH="0" baseline="0" dirty="0">
                <a:ln>
                  <a:noFill/>
                </a:ln>
                <a:solidFill>
                  <a:srgbClr val="000000"/>
                </a:solidFill>
                <a:effectLst/>
                <a:latin typeface="Verdana" panose="020B0604030504040204" pitchFamily="34" charset="0"/>
              </a:rPr>
              <a:t>nclusive es inclusivo </a:t>
            </a:r>
            <a:r>
              <a:rPr kumimoji="0" lang="es-AR" altLang="es-AR" sz="2000" b="1" i="0" u="none" strike="noStrike" cap="none" normalizeH="0" baseline="0" dirty="0">
                <a:ln>
                  <a:noFill/>
                </a:ln>
                <a:solidFill>
                  <a:srgbClr val="000000"/>
                </a:solidFill>
                <a:effectLst/>
                <a:latin typeface="Verdana" panose="020B0604030504040204" pitchFamily="34" charset="0"/>
              </a:rPr>
              <a:t>OR</a:t>
            </a:r>
            <a:r>
              <a:rPr kumimoji="0" lang="es-AR" altLang="es-AR" sz="2000" b="0" i="0" u="none" strike="noStrike" cap="none" normalizeH="0" baseline="0" dirty="0">
                <a:ln>
                  <a:noFill/>
                </a:ln>
                <a:solidFill>
                  <a:srgbClr val="000000"/>
                </a:solidFill>
                <a:effectLst/>
                <a:latin typeface="Verdana" panose="020B0604030504040204" pitchFamily="34" charset="0"/>
              </a:rPr>
              <a:t> es la operación binaria OR </a:t>
            </a:r>
            <a:r>
              <a:rPr kumimoji="0" lang="es-AR" altLang="es-AR" sz="2000" b="1" i="0" u="none" strike="noStrike" cap="none" normalizeH="0" baseline="0" dirty="0">
                <a:ln>
                  <a:noFill/>
                </a:ln>
                <a:solidFill>
                  <a:srgbClr val="000000"/>
                </a:solidFill>
                <a:effectLst/>
                <a:latin typeface="Verdana" panose="020B0604030504040204" pitchFamily="34" charset="0"/>
              </a:rPr>
              <a:t>W</a:t>
            </a:r>
            <a:r>
              <a:rPr kumimoji="0" lang="es-AR" altLang="es-AR" sz="2000" b="0" i="0" u="none" strike="noStrike" cap="none" normalizeH="0" baseline="0" dirty="0">
                <a:ln>
                  <a:noFill/>
                </a:ln>
                <a:solidFill>
                  <a:srgbClr val="000000"/>
                </a:solidFill>
                <a:effectLst/>
                <a:latin typeface="Verdana" panose="020B0604030504040204" pitchFamily="34" charset="0"/>
              </a:rPr>
              <a:t> es el registro trabajo y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registro.</a:t>
            </a:r>
            <a:br>
              <a:rPr kumimoji="0" lang="es-AR" altLang="es-AR" sz="2000" b="0" i="0" u="none" strike="noStrike" cap="none" normalizeH="0" baseline="0" dirty="0">
                <a:ln>
                  <a:noFill/>
                </a:ln>
                <a:solidFill>
                  <a:schemeClr val="tx1"/>
                </a:solidFill>
                <a:effectLst/>
              </a:rPr>
            </a:br>
            <a:r>
              <a:rPr kumimoji="0" lang="es-AR" altLang="es-AR" sz="2000" b="1" i="1" u="none"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el resultado es 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0085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F98AA20-5234-4FAF-885C-67A2BEDF9C0F}"/>
              </a:ext>
            </a:extLst>
          </p:cNvPr>
          <p:cNvSpPr>
            <a:spLocks noGrp="1" noChangeArrowheads="1"/>
          </p:cNvSpPr>
          <p:nvPr>
            <p:ph idx="1"/>
          </p:nvPr>
        </p:nvSpPr>
        <p:spPr bwMode="auto">
          <a:xfrm>
            <a:off x="838200" y="249507"/>
            <a:ext cx="10598624" cy="6247864"/>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MOVLW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Carga al registro W con un literal elegido por el programador para luego hacer una operación matemática o moverlo a otro registro como veremos más adelante. Sin duda alguna, una de las instrucciones más usadas en la programación ASM.</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endParaRPr kumimoji="0" lang="es-AR" altLang="es-AR" sz="2000" b="0" i="0" u="none" strike="noStrike" cap="none" normalizeH="0" baseline="0" dirty="0">
              <a:ln>
                <a:noFill/>
              </a:ln>
              <a:solidFill>
                <a:srgbClr val="334466"/>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solidFill>
                <a:srgbClr val="3344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solidFill>
                <a:srgbClr val="3344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MOVLW        .255</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solidFill>
                <a:srgbClr val="000000"/>
              </a:solidFill>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W vale .15, después de la instrucción W vale .255.</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MOV</a:t>
            </a:r>
            <a:r>
              <a:rPr kumimoji="0" lang="es-AR" altLang="es-AR" sz="2000" b="0" i="0" u="none" strike="noStrike" cap="none" normalizeH="0" baseline="0" dirty="0" err="1">
                <a:ln>
                  <a:noFill/>
                </a:ln>
                <a:solidFill>
                  <a:srgbClr val="000000"/>
                </a:solidFill>
                <a:effectLst/>
                <a:latin typeface="Verdana" panose="020B0604030504040204" pitchFamily="34" charset="0"/>
              </a:rPr>
              <a:t>e</a:t>
            </a:r>
            <a:r>
              <a:rPr kumimoji="0" lang="es-AR" altLang="es-AR" sz="2000" b="0" i="0" u="none" strike="noStrike" cap="none" normalizeH="0" baseline="0" dirty="0">
                <a:ln>
                  <a:noFill/>
                </a:ln>
                <a:solidFill>
                  <a:srgbClr val="000000"/>
                </a:solidFill>
                <a:effectLst/>
                <a:latin typeface="Verdana" panose="020B0604030504040204" pitchFamily="34" charset="0"/>
              </a:rPr>
              <a:t> es mover </a:t>
            </a:r>
            <a:r>
              <a:rPr kumimoji="0" lang="es-AR" altLang="es-AR" sz="2000" b="1" i="0" u="none" strike="noStrike" cap="none" normalizeH="0" baseline="0" dirty="0">
                <a:ln>
                  <a:noFill/>
                </a:ln>
                <a:solidFill>
                  <a:srgbClr val="000000"/>
                </a:solidFill>
                <a:effectLst/>
                <a:latin typeface="Verdana" panose="020B0604030504040204" pitchFamily="34" charset="0"/>
              </a:rPr>
              <a:t>L</a:t>
            </a:r>
            <a:r>
              <a:rPr kumimoji="0" lang="es-AR" altLang="es-AR" sz="2000" b="0" i="0" u="none" strike="noStrike" cap="none" normalizeH="0" baseline="0" dirty="0">
                <a:ln>
                  <a:noFill/>
                </a:ln>
                <a:solidFill>
                  <a:srgbClr val="000000"/>
                </a:solidFill>
                <a:effectLst/>
                <a:latin typeface="Verdana" panose="020B0604030504040204" pitchFamily="34" charset="0"/>
              </a:rPr>
              <a:t>iteral es literal </a:t>
            </a:r>
            <a:r>
              <a:rPr kumimoji="0" lang="es-AR" altLang="es-AR" sz="2000" b="1" i="0" u="none" strike="noStrike" cap="none" normalizeH="0" baseline="0" dirty="0">
                <a:ln>
                  <a:noFill/>
                </a:ln>
                <a:solidFill>
                  <a:srgbClr val="000000"/>
                </a:solidFill>
                <a:effectLst/>
                <a:latin typeface="Verdana" panose="020B0604030504040204" pitchFamily="34" charset="0"/>
              </a:rPr>
              <a:t>W</a:t>
            </a:r>
            <a:r>
              <a:rPr kumimoji="0" lang="es-AR" altLang="es-AR" sz="2000" b="0" i="0" u="none" strike="noStrike" cap="none" normalizeH="0" baseline="0" dirty="0">
                <a:ln>
                  <a:noFill/>
                </a:ln>
                <a:solidFill>
                  <a:srgbClr val="000000"/>
                </a:solidFill>
                <a:effectLst/>
                <a:latin typeface="Verdana" panose="020B0604030504040204" pitchFamily="34" charset="0"/>
              </a:rPr>
              <a:t> es el registro trabajo.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Como es de esperar, no afecta ningún bit del registro STATUS.</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1202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89CD0EA-FB3A-413F-BDD5-1C27E49C2258}"/>
              </a:ext>
            </a:extLst>
          </p:cNvPr>
          <p:cNvSpPr>
            <a:spLocks noGrp="1" noChangeArrowheads="1"/>
          </p:cNvSpPr>
          <p:nvPr>
            <p:ph idx="1"/>
          </p:nvPr>
        </p:nvSpPr>
        <p:spPr bwMode="auto">
          <a:xfrm>
            <a:off x="838200" y="-85129"/>
            <a:ext cx="10571328" cy="6771084"/>
          </a:xfrm>
          <a:prstGeom prst="rect">
            <a:avLst/>
          </a:prstGeom>
          <a:solidFill>
            <a:srgbClr val="EE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5870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Arial" panose="020B0604020202020204" pitchFamily="34" charset="0"/>
              </a:rPr>
              <a:t>MOVF</a:t>
            </a:r>
            <a:br>
              <a:rPr kumimoji="0" lang="es-AR" altLang="es-AR" sz="2000" b="0" i="0" u="none" strike="noStrike" cap="none" normalizeH="0" baseline="0" dirty="0">
                <a:ln>
                  <a:noFill/>
                </a:ln>
                <a:solidFill>
                  <a:schemeClr val="tx1"/>
                </a:solidFill>
                <a:effectLst/>
                <a:latin typeface="Arial" panose="020B0604020202020204" pitchFamily="34" charset="0"/>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chemeClr val="tx1"/>
                </a:solidFill>
                <a:effectLst/>
                <a:latin typeface="Arial" panose="020B0604020202020204" pitchFamily="34" charset="0"/>
              </a:rPr>
              <a:t>Mueve el contenido de un registro a otro registro elegido por el usuario.</a:t>
            </a: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Arial" panose="020B060402020202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chemeClr val="tx1"/>
                </a:solidFill>
                <a:effectLst/>
                <a:latin typeface="dejavu sans mono"/>
              </a:rPr>
              <a:t>         MOVF        RETARDO,W</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chemeClr val="tx1"/>
                </a:solidFill>
                <a:effectLst/>
              </a:rPr>
              <a:t>Si antes de la instrucción W vale H'2A' y RETARDO vale H'FF', después de la instrucción W vale H'FF'. Nótese que aquí podemos elegir el destino, y tenemos la posibilidad de elegir el destino al propio registro RETARDO.</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chemeClr val="tx1"/>
                </a:solidFill>
                <a:effectLst/>
              </a:rPr>
              <a:t>Al principio parece innecesario, pero  se puede tomar como una verificación, ya que se ve afectado el registro STATUS bit Z.</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chemeClr val="tx1"/>
                </a:solidFill>
                <a:effectLst/>
              </a:rPr>
              <a:t>Para recordar</a:t>
            </a:r>
            <a:r>
              <a:rPr kumimoji="0" lang="es-AR" altLang="es-AR" sz="2000" b="0" i="0" u="none" strike="noStrike" cap="none" normalizeH="0" baseline="0" dirty="0">
                <a:ln>
                  <a:noFill/>
                </a:ln>
                <a:solidFill>
                  <a:schemeClr val="tx1"/>
                </a:solidFill>
                <a:effectLst/>
                <a:latin typeface="Arial" panose="020B0604020202020204" pitchFamily="34" charset="0"/>
              </a:rPr>
              <a:t> </a:t>
            </a:r>
            <a:r>
              <a:rPr kumimoji="0" lang="es-AR" altLang="es-AR" sz="2000" b="1" i="0" u="none" strike="noStrike" cap="none" normalizeH="0" baseline="0" dirty="0" err="1">
                <a:ln>
                  <a:noFill/>
                </a:ln>
                <a:solidFill>
                  <a:schemeClr val="tx1"/>
                </a:solidFill>
                <a:effectLst/>
                <a:latin typeface="Arial" panose="020B0604020202020204" pitchFamily="34" charset="0"/>
              </a:rPr>
              <a:t>MOV</a:t>
            </a:r>
            <a:r>
              <a:rPr kumimoji="0" lang="es-AR" altLang="es-AR" sz="2000" b="0" i="0" u="none" strike="noStrike" cap="none" normalizeH="0" baseline="0" dirty="0" err="1">
                <a:ln>
                  <a:noFill/>
                </a:ln>
                <a:solidFill>
                  <a:schemeClr val="tx1"/>
                </a:solidFill>
                <a:effectLst/>
                <a:latin typeface="Arial" panose="020B0604020202020204" pitchFamily="34" charset="0"/>
              </a:rPr>
              <a:t>e</a:t>
            </a:r>
            <a:r>
              <a:rPr kumimoji="0" lang="es-AR" altLang="es-AR" sz="2000" b="0" i="0" u="none" strike="noStrike" cap="none" normalizeH="0" baseline="0" dirty="0">
                <a:ln>
                  <a:noFill/>
                </a:ln>
                <a:solidFill>
                  <a:schemeClr val="tx1"/>
                </a:solidFill>
                <a:effectLst/>
                <a:latin typeface="Arial" panose="020B0604020202020204" pitchFamily="34" charset="0"/>
              </a:rPr>
              <a:t> es mover y </a:t>
            </a:r>
            <a:r>
              <a:rPr kumimoji="0" lang="es-AR" altLang="es-AR" sz="2000" b="1" i="0" u="none" strike="noStrike" cap="none" normalizeH="0" baseline="0" dirty="0">
                <a:ln>
                  <a:noFill/>
                </a:ln>
                <a:solidFill>
                  <a:schemeClr val="tx1"/>
                </a:solidFill>
                <a:effectLst/>
                <a:latin typeface="Arial" panose="020B0604020202020204" pitchFamily="34" charset="0"/>
              </a:rPr>
              <a:t>F</a:t>
            </a:r>
            <a:r>
              <a:rPr kumimoji="0" lang="es-AR" altLang="es-AR" sz="2000" b="0" i="0" u="none" strike="noStrike" cap="none" normalizeH="0" baseline="0" dirty="0">
                <a:ln>
                  <a:noFill/>
                </a:ln>
                <a:solidFill>
                  <a:schemeClr val="tx1"/>
                </a:solidFill>
                <a:effectLst/>
                <a:latin typeface="Arial" panose="020B0604020202020204" pitchFamily="34" charset="0"/>
              </a:rPr>
              <a:t>ile es registro.</a:t>
            </a: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sng" strike="noStrike" cap="none" normalizeH="0" baseline="0" dirty="0">
                <a:ln>
                  <a:noFill/>
                </a:ln>
                <a:solidFill>
                  <a:schemeClr val="tx1"/>
                </a:solidFill>
                <a:effectLst/>
                <a:latin typeface="Arial" panose="020B0604020202020204" pitchFamily="34" charset="0"/>
              </a:rPr>
              <a:t>Afecta a:</a:t>
            </a: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chemeClr val="tx1"/>
                </a:solidFill>
                <a:effectLst/>
                <a:latin typeface="Arial" panose="020B0604020202020204" pitchFamily="34" charset="0"/>
              </a:rPr>
              <a:t>Z</a:t>
            </a:r>
            <a:r>
              <a:rPr kumimoji="0" lang="es-AR" altLang="es-AR" sz="2000" b="0" i="0" u="none" strike="noStrike" cap="none" normalizeH="0" baseline="0" dirty="0">
                <a:ln>
                  <a:noFill/>
                </a:ln>
                <a:solidFill>
                  <a:schemeClr val="tx1"/>
                </a:solidFill>
                <a:effectLst/>
                <a:latin typeface="Arial" panose="020B0604020202020204" pitchFamily="34" charset="0"/>
              </a:rPr>
              <a:t> Se pone a 1 si la operación es 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chemeClr val="tx1"/>
                </a:solidFill>
                <a:effectLst/>
                <a:latin typeface="Arial" panose="020B0604020202020204" pitchFamily="34" charset="0"/>
              </a:rPr>
              <a:t>Anteriormente, habíamos dicho que esta instrucción se la puede tomar como verificación, para saber si se guardó con el mismo valor que tenía, el bit Z se pone a 1 si el valor es igual al que tenía cargado.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1106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39F5ECD-5E28-4342-8F92-232D17422DF8}"/>
              </a:ext>
            </a:extLst>
          </p:cNvPr>
          <p:cNvSpPr>
            <a:spLocks noGrp="1" noChangeArrowheads="1"/>
          </p:cNvSpPr>
          <p:nvPr>
            <p:ph idx="1"/>
          </p:nvPr>
        </p:nvSpPr>
        <p:spPr bwMode="auto">
          <a:xfrm>
            <a:off x="838200" y="851567"/>
            <a:ext cx="13434703" cy="5016758"/>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MOVWF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Mueve el contenido del registro W a un registro cualquiera elegido por el programador.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sng" strike="noStrike" cap="none" normalizeH="0" baseline="0" dirty="0">
                <a:ln>
                  <a:noFill/>
                </a:ln>
                <a:solidFill>
                  <a:srgbClr val="000000"/>
                </a:solidFill>
                <a:effectLst/>
                <a:latin typeface="Verdana" panose="020B0604030504040204" pitchFamily="34" charset="0"/>
              </a:rPr>
              <a:t>Sin duda alguna, esta instrucción, es otra muy usada en la programación ASM</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MOVWF       ADCON0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W vale B'10000001' y ADCON0 vale 0x0, después de la instrucción ADCON0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Verdana" panose="020B0604030504040204" pitchFamily="34" charset="0"/>
              </a:rPr>
              <a:t>vale 0x81.</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MOV</a:t>
            </a:r>
            <a:r>
              <a:rPr kumimoji="0" lang="es-AR" altLang="es-AR" sz="2000" b="0" i="0" u="none" strike="noStrike" cap="none" normalizeH="0" baseline="0" dirty="0" err="1">
                <a:ln>
                  <a:noFill/>
                </a:ln>
                <a:solidFill>
                  <a:srgbClr val="000000"/>
                </a:solidFill>
                <a:effectLst/>
                <a:latin typeface="Verdana" panose="020B0604030504040204" pitchFamily="34" charset="0"/>
              </a:rPr>
              <a:t>e</a:t>
            </a:r>
            <a:r>
              <a:rPr kumimoji="0" lang="es-AR" altLang="es-AR" sz="2000" b="0" i="0" u="none" strike="noStrike" cap="none" normalizeH="0" baseline="0" dirty="0">
                <a:ln>
                  <a:noFill/>
                </a:ln>
                <a:solidFill>
                  <a:srgbClr val="000000"/>
                </a:solidFill>
                <a:effectLst/>
                <a:latin typeface="Verdana" panose="020B0604030504040204" pitchFamily="34" charset="0"/>
              </a:rPr>
              <a:t> es mover </a:t>
            </a:r>
            <a:r>
              <a:rPr kumimoji="0" lang="es-AR" altLang="es-AR" sz="2000" b="1" i="0" u="none" strike="noStrike" cap="none" normalizeH="0" baseline="0" dirty="0">
                <a:ln>
                  <a:noFill/>
                </a:ln>
                <a:solidFill>
                  <a:srgbClr val="000000"/>
                </a:solidFill>
                <a:effectLst/>
                <a:latin typeface="Verdana" panose="020B0604030504040204" pitchFamily="34" charset="0"/>
              </a:rPr>
              <a:t>W</a:t>
            </a:r>
            <a:r>
              <a:rPr kumimoji="0" lang="es-AR" altLang="es-AR" sz="2000" b="0" i="0" u="none" strike="noStrike" cap="none" normalizeH="0" baseline="0" dirty="0">
                <a:ln>
                  <a:noFill/>
                </a:ln>
                <a:solidFill>
                  <a:srgbClr val="000000"/>
                </a:solidFill>
                <a:effectLst/>
                <a:latin typeface="Verdana" panose="020B0604030504040204" pitchFamily="34" charset="0"/>
              </a:rPr>
              <a:t> es el registro W y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No afecta ningún bit del registro STATUS.</a:t>
            </a:r>
            <a:r>
              <a:rPr kumimoji="0" lang="es-AR" altLang="es-AR" sz="2000" b="0" i="0" u="none" strike="noStrike" cap="none" normalizeH="0" baseline="0" dirty="0">
                <a:ln>
                  <a:noFill/>
                </a:ln>
                <a:solidFill>
                  <a:schemeClr val="tx1"/>
                </a:solidFill>
                <a:effectLst/>
              </a:rPr>
              <a:t> </a:t>
            </a: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675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651C357-158A-40AF-893C-C4E2303600F4}"/>
              </a:ext>
            </a:extLst>
          </p:cNvPr>
          <p:cNvSpPr>
            <a:spLocks noGrp="1" noChangeArrowheads="1"/>
          </p:cNvSpPr>
          <p:nvPr>
            <p:ph idx="1"/>
          </p:nvPr>
        </p:nvSpPr>
        <p:spPr bwMode="auto">
          <a:xfrm>
            <a:off x="1272209" y="514160"/>
            <a:ext cx="9829800" cy="5109091"/>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b="1" i="1" u="sng" strike="noStrike" cap="none" normalizeH="0" baseline="0" dirty="0">
                <a:ln>
                  <a:noFill/>
                </a:ln>
                <a:solidFill>
                  <a:srgbClr val="800000"/>
                </a:solidFill>
                <a:effectLst/>
                <a:latin typeface="Verdana" panose="020B0604030504040204" pitchFamily="34" charset="0"/>
              </a:rPr>
              <a:t>NOP</a:t>
            </a:r>
            <a:br>
              <a:rPr kumimoji="0" lang="es-AR" altLang="es-AR" b="0" i="0" u="none" strike="noStrike" cap="none" normalizeH="0" baseline="0" dirty="0">
                <a:ln>
                  <a:noFill/>
                </a:ln>
                <a:solidFill>
                  <a:schemeClr val="tx1"/>
                </a:solidFill>
                <a:effectLst/>
              </a:rPr>
            </a:br>
            <a:br>
              <a:rPr kumimoji="0" lang="es-AR" altLang="es-AR" b="0" i="0" u="none" strike="noStrike" cap="none" normalizeH="0" baseline="0" dirty="0">
                <a:ln>
                  <a:noFill/>
                </a:ln>
                <a:solidFill>
                  <a:schemeClr val="tx1"/>
                </a:solidFill>
                <a:effectLst/>
                <a:latin typeface="Arial" panose="020B0604020202020204" pitchFamily="34" charset="0"/>
              </a:rPr>
            </a:br>
            <a:r>
              <a:rPr kumimoji="0" lang="es-AR" altLang="es-AR" b="0" i="0" u="sng" strike="noStrike" cap="none" normalizeH="0" baseline="0" dirty="0">
                <a:ln>
                  <a:noFill/>
                </a:ln>
                <a:solidFill>
                  <a:srgbClr val="000000"/>
                </a:solidFill>
                <a:effectLst/>
                <a:latin typeface="Verdana" panose="020B0604030504040204" pitchFamily="34" charset="0"/>
              </a:rPr>
              <a:t>No realiza ninguna operación. Solo consume un ciclo de instrucción.</a:t>
            </a:r>
            <a:br>
              <a:rPr kumimoji="0" lang="es-AR" altLang="es-AR" b="0" i="0" u="none" strike="noStrike" cap="none" normalizeH="0" baseline="0" dirty="0">
                <a:ln>
                  <a:noFill/>
                </a:ln>
                <a:solidFill>
                  <a:schemeClr val="tx1"/>
                </a:solidFill>
                <a:effectLst/>
              </a:rPr>
            </a:br>
            <a:br>
              <a:rPr kumimoji="0" lang="es-AR" altLang="es-AR" b="0" i="0" u="none" strike="noStrike" cap="none" normalizeH="0" baseline="0" dirty="0">
                <a:ln>
                  <a:noFill/>
                </a:ln>
                <a:solidFill>
                  <a:schemeClr val="tx1"/>
                </a:solidFill>
                <a:effectLst/>
                <a:latin typeface="Arial" panose="020B0604020202020204" pitchFamily="34" charset="0"/>
              </a:rPr>
            </a:br>
            <a:endParaRPr kumimoji="0" lang="es-AR" altLang="es-A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b="1" i="0" u="none" strike="noStrike" cap="none" normalizeH="0" baseline="0" dirty="0">
                <a:ln>
                  <a:noFill/>
                </a:ln>
                <a:solidFill>
                  <a:srgbClr val="666666"/>
                </a:solidFill>
                <a:effectLst/>
                <a:latin typeface="Verdana" panose="020B0604030504040204" pitchFamily="34" charset="0"/>
              </a:rPr>
              <a:t>Código: </a:t>
            </a:r>
            <a:r>
              <a:rPr kumimoji="0" lang="es-AR" altLang="es-AR" b="0" i="0" u="none" strike="noStrike" cap="none" normalizeH="0" baseline="0" dirty="0">
                <a:ln>
                  <a:noFill/>
                </a:ln>
                <a:solidFill>
                  <a:srgbClr val="334466"/>
                </a:solidFill>
                <a:effectLst/>
                <a:latin typeface="Verdana" panose="020B0604030504040204" pitchFamily="34" charset="0"/>
              </a:rPr>
              <a:t>[Seleccionar]</a:t>
            </a:r>
            <a:endParaRPr kumimoji="0" lang="es-AR" altLang="es-AR" b="0" i="0" u="none" strike="noStrike" cap="none" normalizeH="0" baseline="0" dirty="0">
              <a:ln>
                <a:noFill/>
              </a:ln>
              <a:solidFill>
                <a:srgbClr val="000000"/>
              </a:solidFill>
              <a:effectLst/>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b="0" i="0" u="none" strike="noStrike" cap="none" normalizeH="0" baseline="0" dirty="0">
                <a:ln>
                  <a:noFill/>
                </a:ln>
                <a:solidFill>
                  <a:srgbClr val="000000"/>
                </a:solidFill>
                <a:effectLst/>
                <a:latin typeface="dejavu sans mono"/>
              </a:rPr>
              <a:t>          NOP</a:t>
            </a:r>
            <a:br>
              <a:rPr kumimoji="0" lang="es-AR" altLang="es-AR" b="0" i="0" u="none" strike="noStrike" cap="none" normalizeH="0" baseline="0" dirty="0">
                <a:ln>
                  <a:noFill/>
                </a:ln>
                <a:solidFill>
                  <a:schemeClr val="tx1"/>
                </a:solidFill>
                <a:effectLst/>
              </a:rPr>
            </a:br>
            <a:r>
              <a:rPr kumimoji="0" lang="es-AR" altLang="es-AR" b="0" i="0" u="none" strike="noStrike" cap="none" normalizeH="0" baseline="0" dirty="0">
                <a:ln>
                  <a:noFill/>
                </a:ln>
                <a:solidFill>
                  <a:srgbClr val="000000"/>
                </a:solidFill>
                <a:effectLst/>
                <a:latin typeface="Verdana" panose="020B0604030504040204" pitchFamily="34" charset="0"/>
              </a:rPr>
              <a:t>Para recordar </a:t>
            </a:r>
            <a:r>
              <a:rPr kumimoji="0" lang="es-AR" altLang="es-AR" b="1" i="0" u="none" strike="noStrike" cap="none" normalizeH="0" baseline="0" dirty="0">
                <a:ln>
                  <a:noFill/>
                </a:ln>
                <a:solidFill>
                  <a:srgbClr val="000000"/>
                </a:solidFill>
                <a:effectLst/>
                <a:latin typeface="Verdana" panose="020B0604030504040204" pitchFamily="34" charset="0"/>
              </a:rPr>
              <a:t>N</a:t>
            </a:r>
            <a:r>
              <a:rPr kumimoji="0" lang="es-AR" altLang="es-AR" b="0" i="0" u="none" strike="noStrike" cap="none" normalizeH="0" baseline="0" dirty="0">
                <a:ln>
                  <a:noFill/>
                </a:ln>
                <a:solidFill>
                  <a:srgbClr val="000000"/>
                </a:solidFill>
                <a:effectLst/>
                <a:latin typeface="Verdana" panose="020B0604030504040204" pitchFamily="34" charset="0"/>
              </a:rPr>
              <a:t>o es no y </a:t>
            </a:r>
            <a:r>
              <a:rPr kumimoji="0" lang="es-AR" altLang="es-AR" b="1" i="0" u="none" strike="noStrike" cap="none" normalizeH="0" baseline="0" dirty="0" err="1">
                <a:ln>
                  <a:noFill/>
                </a:ln>
                <a:solidFill>
                  <a:srgbClr val="000000"/>
                </a:solidFill>
                <a:effectLst/>
                <a:latin typeface="Verdana" panose="020B0604030504040204" pitchFamily="34" charset="0"/>
              </a:rPr>
              <a:t>OP</a:t>
            </a:r>
            <a:r>
              <a:rPr kumimoji="0" lang="es-AR" altLang="es-AR" b="0" i="0" u="none" strike="noStrike" cap="none" normalizeH="0" baseline="0" dirty="0" err="1">
                <a:ln>
                  <a:noFill/>
                </a:ln>
                <a:solidFill>
                  <a:srgbClr val="000000"/>
                </a:solidFill>
                <a:effectLst/>
                <a:latin typeface="Verdana" panose="020B0604030504040204" pitchFamily="34" charset="0"/>
              </a:rPr>
              <a:t>eration</a:t>
            </a:r>
            <a:r>
              <a:rPr kumimoji="0" lang="es-AR" altLang="es-AR" b="0" i="0" u="none" strike="noStrike" cap="none" normalizeH="0" baseline="0" dirty="0">
                <a:ln>
                  <a:noFill/>
                </a:ln>
                <a:solidFill>
                  <a:srgbClr val="000000"/>
                </a:solidFill>
                <a:effectLst/>
                <a:latin typeface="Verdana" panose="020B0604030504040204" pitchFamily="34" charset="0"/>
              </a:rPr>
              <a:t> es operación.</a:t>
            </a:r>
            <a:br>
              <a:rPr kumimoji="0" lang="es-AR" altLang="es-AR" b="0" i="0" u="none" strike="noStrike" cap="none" normalizeH="0" baseline="0" dirty="0">
                <a:ln>
                  <a:noFill/>
                </a:ln>
                <a:solidFill>
                  <a:schemeClr val="tx1"/>
                </a:solidFill>
                <a:effectLst/>
              </a:rPr>
            </a:br>
            <a:br>
              <a:rPr kumimoji="0" lang="es-AR" altLang="es-AR" b="0" i="0" u="none" strike="noStrike" cap="none" normalizeH="0" baseline="0" dirty="0">
                <a:ln>
                  <a:noFill/>
                </a:ln>
                <a:solidFill>
                  <a:schemeClr val="tx1"/>
                </a:solidFill>
                <a:effectLst/>
                <a:latin typeface="Arial" panose="020B0604020202020204" pitchFamily="34" charset="0"/>
              </a:rPr>
            </a:br>
            <a:r>
              <a:rPr kumimoji="0" lang="es-AR" altLang="es-AR" b="0" i="0" u="none" strike="noStrike" cap="none" normalizeH="0" baseline="0" dirty="0">
                <a:ln>
                  <a:noFill/>
                </a:ln>
                <a:solidFill>
                  <a:srgbClr val="000000"/>
                </a:solidFill>
                <a:effectLst/>
                <a:latin typeface="Verdana" panose="020B0604030504040204" pitchFamily="34" charset="0"/>
              </a:rPr>
              <a:t>No afecta ningún bit del registro STATUS.</a:t>
            </a:r>
            <a:r>
              <a:rPr kumimoji="0" lang="es-AR" altLang="es-AR" b="0" i="0" u="none" strike="noStrike" cap="none" normalizeH="0" baseline="0" dirty="0">
                <a:ln>
                  <a:noFill/>
                </a:ln>
                <a:solidFill>
                  <a:schemeClr val="tx1"/>
                </a:solidFill>
                <a:effectLst/>
              </a:rPr>
              <a:t> </a:t>
            </a:r>
            <a:endParaRPr kumimoji="0" lang="es-AR" altLang="es-A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023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91CB82A-A301-4585-8CFF-6573B9259317}"/>
              </a:ext>
            </a:extLst>
          </p:cNvPr>
          <p:cNvSpPr>
            <a:spLocks noGrp="1" noChangeArrowheads="1"/>
          </p:cNvSpPr>
          <p:nvPr>
            <p:ph idx="1"/>
          </p:nvPr>
        </p:nvSpPr>
        <p:spPr bwMode="auto">
          <a:xfrm>
            <a:off x="838200" y="1152992"/>
            <a:ext cx="10359887" cy="4401205"/>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RETFIE</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Carga al CP con el valor de la parte alta de la pila para volver al lugar dónde se encontraba el CP antes de atender la interrupción. Al mismo tiempo, pone a 1 el bit GIE para activar de nuevo las interrupciones.</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RETFIE</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RE</a:t>
            </a:r>
            <a:r>
              <a:rPr kumimoji="0" lang="es-AR" altLang="es-AR" sz="2000" b="0" i="0" u="none" strike="noStrike" cap="none" normalizeH="0" baseline="0" dirty="0" err="1">
                <a:ln>
                  <a:noFill/>
                </a:ln>
                <a:solidFill>
                  <a:srgbClr val="000000"/>
                </a:solidFill>
                <a:effectLst/>
                <a:latin typeface="Verdana" panose="020B0604030504040204" pitchFamily="34" charset="0"/>
              </a:rPr>
              <a:t>turn</a:t>
            </a:r>
            <a:r>
              <a:rPr kumimoji="0" lang="es-AR" altLang="es-AR" sz="2000" b="0" i="0" u="none" strike="noStrike" cap="none" normalizeH="0" baseline="0" dirty="0">
                <a:ln>
                  <a:noFill/>
                </a:ln>
                <a:solidFill>
                  <a:srgbClr val="000000"/>
                </a:solidFill>
                <a:effectLst/>
                <a:latin typeface="Verdana" panose="020B0604030504040204" pitchFamily="34" charset="0"/>
              </a:rPr>
              <a:t> es retornar </a:t>
            </a:r>
            <a:r>
              <a:rPr kumimoji="0" lang="es-AR" altLang="es-AR" sz="2000" b="1" i="0" u="none" strike="noStrike" cap="none" normalizeH="0" baseline="0" dirty="0" err="1">
                <a:ln>
                  <a:noFill/>
                </a:ln>
                <a:solidFill>
                  <a:srgbClr val="000000"/>
                </a:solidFill>
                <a:effectLst/>
                <a:latin typeface="Verdana" panose="020B0604030504040204" pitchFamily="34" charset="0"/>
              </a:rPr>
              <a:t>F</a:t>
            </a:r>
            <a:r>
              <a:rPr kumimoji="0" lang="es-AR" altLang="es-AR" sz="2000" b="0" i="0" u="none" strike="noStrike" cap="none" normalizeH="0" baseline="0" dirty="0" err="1">
                <a:ln>
                  <a:noFill/>
                </a:ln>
                <a:solidFill>
                  <a:srgbClr val="000000"/>
                </a:solidFill>
                <a:effectLst/>
                <a:latin typeface="Verdana" panose="020B0604030504040204" pitchFamily="34" charset="0"/>
              </a:rPr>
              <a:t>rom</a:t>
            </a:r>
            <a:r>
              <a:rPr kumimoji="0" lang="es-AR" altLang="es-AR" sz="2000" b="0" i="0" u="none" strike="noStrike" cap="none" normalizeH="0" baseline="0" dirty="0">
                <a:ln>
                  <a:noFill/>
                </a:ln>
                <a:solidFill>
                  <a:srgbClr val="000000"/>
                </a:solidFill>
                <a:effectLst/>
                <a:latin typeface="Verdana" panose="020B0604030504040204" pitchFamily="34" charset="0"/>
              </a:rPr>
              <a:t> es de la </a:t>
            </a:r>
            <a:r>
              <a:rPr kumimoji="0" lang="es-AR" altLang="es-AR" sz="2000" b="1" i="0" u="none" strike="noStrike" cap="none" normalizeH="0" baseline="0" dirty="0" err="1">
                <a:ln>
                  <a:noFill/>
                </a:ln>
                <a:solidFill>
                  <a:srgbClr val="000000"/>
                </a:solidFill>
                <a:effectLst/>
                <a:latin typeface="Verdana" panose="020B0604030504040204" pitchFamily="34" charset="0"/>
              </a:rPr>
              <a:t>I</a:t>
            </a:r>
            <a:r>
              <a:rPr kumimoji="0" lang="es-AR" altLang="es-AR" sz="2000" b="0" i="0" u="none" strike="noStrike" cap="none" normalizeH="0" baseline="0" dirty="0" err="1">
                <a:ln>
                  <a:noFill/>
                </a:ln>
                <a:solidFill>
                  <a:srgbClr val="000000"/>
                </a:solidFill>
                <a:effectLst/>
                <a:latin typeface="Verdana" panose="020B0604030504040204" pitchFamily="34" charset="0"/>
              </a:rPr>
              <a:t>nt</a:t>
            </a:r>
            <a:r>
              <a:rPr kumimoji="0" lang="es-AR" altLang="es-AR" sz="2000" b="1" i="0" u="none" strike="noStrike" cap="none" normalizeH="0" baseline="0" dirty="0" err="1">
                <a:ln>
                  <a:noFill/>
                </a:ln>
                <a:solidFill>
                  <a:srgbClr val="000000"/>
                </a:solidFill>
                <a:effectLst/>
                <a:latin typeface="Verdana" panose="020B0604030504040204" pitchFamily="34" charset="0"/>
              </a:rPr>
              <a:t>E</a:t>
            </a:r>
            <a:r>
              <a:rPr kumimoji="0" lang="es-AR" altLang="es-AR" sz="2000" b="0" i="0" u="none" strike="noStrike" cap="none" normalizeH="0" baseline="0" dirty="0" err="1">
                <a:ln>
                  <a:noFill/>
                </a:ln>
                <a:solidFill>
                  <a:srgbClr val="000000"/>
                </a:solidFill>
                <a:effectLst/>
                <a:latin typeface="Verdana" panose="020B0604030504040204" pitchFamily="34" charset="0"/>
              </a:rPr>
              <a:t>rrupt</a:t>
            </a:r>
            <a:r>
              <a:rPr kumimoji="0" lang="es-AR" altLang="es-AR" sz="2000" b="0" i="0" u="none" strike="noStrike" cap="none" normalizeH="0" baseline="0" dirty="0">
                <a:ln>
                  <a:noFill/>
                </a:ln>
                <a:solidFill>
                  <a:srgbClr val="000000"/>
                </a:solidFill>
                <a:effectLst/>
                <a:latin typeface="Verdana" panose="020B0604030504040204" pitchFamily="34" charset="0"/>
              </a:rPr>
              <a:t> es interrupción.</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No afecta ningún bit del registro STATUS.</a:t>
            </a:r>
            <a:r>
              <a:rPr kumimoji="0" lang="es-AR" altLang="es-AR" sz="2000" b="0" i="0" u="none" strike="noStrike" cap="none" normalizeH="0" baseline="0" dirty="0">
                <a:ln>
                  <a:noFill/>
                </a:ln>
                <a:solidFill>
                  <a:schemeClr val="tx1"/>
                </a:solidFill>
                <a:effectLst/>
              </a:rPr>
              <a:t> </a:t>
            </a: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5139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21FF7486-EDDA-48A3-B904-4929ABCDE9CC}"/>
              </a:ext>
            </a:extLst>
          </p:cNvPr>
          <p:cNvSpPr>
            <a:spLocks noGrp="1" noChangeArrowheads="1"/>
          </p:cNvSpPr>
          <p:nvPr>
            <p:ph idx="1"/>
          </p:nvPr>
        </p:nvSpPr>
        <p:spPr bwMode="auto">
          <a:xfrm>
            <a:off x="838199" y="109113"/>
            <a:ext cx="10625919" cy="6555641"/>
          </a:xfrm>
          <a:prstGeom prst="rect">
            <a:avLst/>
          </a:prstGeom>
          <a:solidFill>
            <a:srgbClr val="EE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RETLW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Carga al CP con el valor de la parte alta de la pila para volver al lugar dónde se encontraba el CP desde dónde se llamó a la subrutina y al retornar, lo hace con un literal cargado en W especificado por el programador.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u="sng"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sng" strike="noStrike" cap="none" normalizeH="0" baseline="0" dirty="0">
                <a:ln>
                  <a:noFill/>
                </a:ln>
                <a:solidFill>
                  <a:srgbClr val="000000"/>
                </a:solidFill>
                <a:effectLst/>
                <a:latin typeface="Verdana" panose="020B0604030504040204" pitchFamily="34" charset="0"/>
              </a:rPr>
              <a:t>Esta instrucción, se utilizan en las tablas (para más detalle, ver la explicación del GOTO y CALL).</a:t>
            </a:r>
            <a:br>
              <a:rPr kumimoji="0" lang="es-AR" altLang="es-AR" sz="2000" b="0" i="0" u="sng" strike="noStrike" cap="none" normalizeH="0" baseline="0" dirty="0">
                <a:ln>
                  <a:noFill/>
                </a:ln>
                <a:solidFill>
                  <a:srgbClr val="000000"/>
                </a:solidFill>
                <a:effectLst/>
                <a:latin typeface="Verdana" panose="020B0604030504040204" pitchFamily="34" charset="0"/>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RETLW          ‘L’                                                RETURN (35)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rgbClr val="000000"/>
              </a:solidFill>
              <a:effectLst/>
              <a:latin typeface="dejavu sa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Verdana" panose="020B0604030504040204" pitchFamily="34" charset="0"/>
              </a:rPr>
              <a:t>En este ejemplo, el MPLAB, carga en W el código ASCII correspondiente a la letra L</a:t>
            </a:r>
            <a:r>
              <a:rPr kumimoji="0" lang="es-AR" altLang="es-AR"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latin typeface="Arial" panose="020B0604020202020204" pitchFamily="34" charset="0"/>
            </a:endParaRPr>
          </a:p>
          <a:p>
            <a:pPr marL="0" lvl="0" indent="0">
              <a:lnSpc>
                <a:spcPct val="100000"/>
              </a:lnSpc>
              <a:buNone/>
            </a:pPr>
            <a:r>
              <a:rPr lang="es-ES" sz="2000" dirty="0"/>
              <a:t>Para recordar </a:t>
            </a:r>
            <a:r>
              <a:rPr lang="es-ES" sz="2000" b="1" dirty="0" err="1"/>
              <a:t>RET</a:t>
            </a:r>
            <a:r>
              <a:rPr lang="es-ES" sz="2000" dirty="0" err="1"/>
              <a:t>urn</a:t>
            </a:r>
            <a:r>
              <a:rPr lang="es-ES" sz="2000" dirty="0"/>
              <a:t> es retornar </a:t>
            </a:r>
            <a:r>
              <a:rPr lang="es-ES" sz="2000" b="1" dirty="0"/>
              <a:t>L</a:t>
            </a:r>
            <a:r>
              <a:rPr lang="es-ES" sz="2000" dirty="0"/>
              <a:t>iteral es literal </a:t>
            </a:r>
            <a:r>
              <a:rPr lang="es-ES" sz="2000" b="1" dirty="0"/>
              <a:t>W</a:t>
            </a:r>
            <a:r>
              <a:rPr lang="es-ES" sz="2000" dirty="0"/>
              <a:t> es el registro de trabajo W</a:t>
            </a:r>
            <a:br>
              <a:rPr lang="es-ES" sz="2000" dirty="0"/>
            </a:br>
            <a:br>
              <a:rPr lang="es-ES" sz="2000" dirty="0"/>
            </a:br>
            <a:r>
              <a:rPr lang="es-ES" sz="2000" dirty="0"/>
              <a:t>No afecta ningún bit del registro STATUS.</a:t>
            </a:r>
            <a:br>
              <a:rPr lang="es-ES" sz="2000" dirty="0"/>
            </a:b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56306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4788584-2678-4D10-B329-907ECBB01A8A}"/>
              </a:ext>
            </a:extLst>
          </p:cNvPr>
          <p:cNvSpPr>
            <a:spLocks noGrp="1" noChangeArrowheads="1"/>
          </p:cNvSpPr>
          <p:nvPr>
            <p:ph idx="1"/>
          </p:nvPr>
        </p:nvSpPr>
        <p:spPr bwMode="auto">
          <a:xfrm>
            <a:off x="926342" y="151179"/>
            <a:ext cx="10339316" cy="6555641"/>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RETURN</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Carga al CP con el valor de la parte alta de la pila para volver al lugar dónde se encontraba el CP cuando se llamó a la rutina o subrutina.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La diferencia con RETLW es que RETURN regresa sin cambiar a W. Este se utiliza para terminar una rutina </a:t>
            </a:r>
            <a:r>
              <a:rPr lang="es-AR" altLang="es-AR" sz="2000" dirty="0">
                <a:solidFill>
                  <a:srgbClr val="000000"/>
                </a:solidFill>
                <a:latin typeface="Verdana" panose="020B0604030504040204" pitchFamily="34" charset="0"/>
              </a:rPr>
              <a:t>cuando </a:t>
            </a:r>
            <a:r>
              <a:rPr kumimoji="0" lang="es-AR" altLang="es-AR" sz="2000" b="0" i="0" u="none" strike="noStrike" cap="none" normalizeH="0" baseline="0" dirty="0">
                <a:ln>
                  <a:noFill/>
                </a:ln>
                <a:solidFill>
                  <a:srgbClr val="000000"/>
                </a:solidFill>
                <a:effectLst/>
                <a:latin typeface="Verdana" panose="020B0604030504040204" pitchFamily="34" charset="0"/>
              </a:rPr>
              <a:t>se necesita ningún dato.</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Verdana" panose="020B0604030504040204" pitchFamily="34" charset="0"/>
              </a:rPr>
              <a:t>Por ejemplo en la rutina CALL   LCD_DATO no nos sirve que vuelva con ningún valor ya que es una rutina para enviar datos a un LCD, </a:t>
            </a:r>
            <a:r>
              <a:rPr kumimoji="0" lang="es-AR" altLang="es-AR" sz="2000" b="0" i="0" u="none" strike="noStrike" cap="none" normalizeH="0" baseline="0" dirty="0" err="1">
                <a:ln>
                  <a:noFill/>
                </a:ln>
                <a:solidFill>
                  <a:srgbClr val="000000"/>
                </a:solidFill>
                <a:effectLst/>
                <a:latin typeface="Verdana" panose="020B0604030504040204" pitchFamily="34" charset="0"/>
              </a:rPr>
              <a:t>asi</a:t>
            </a:r>
            <a:r>
              <a:rPr kumimoji="0" lang="es-AR" altLang="es-AR" sz="2000" b="0" i="0" u="none" strike="noStrike" cap="none" normalizeH="0" baseline="0" dirty="0">
                <a:ln>
                  <a:noFill/>
                </a:ln>
                <a:solidFill>
                  <a:srgbClr val="000000"/>
                </a:solidFill>
                <a:effectLst/>
                <a:latin typeface="Verdana" panose="020B0604030504040204" pitchFamily="34" charset="0"/>
              </a:rPr>
              <a:t> que esta rutina tendrá implementada RETURN</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Por ejemplo: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1" i="0" u="none" strike="noStrike" cap="none" normalizeH="0" baseline="0" dirty="0">
              <a:ln>
                <a:noFill/>
              </a:ln>
              <a:solidFill>
                <a:srgbClr val="666666"/>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RETURN</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No afecta ningún bit del registro STATUS</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RETURN</a:t>
            </a:r>
            <a:r>
              <a:rPr kumimoji="0" lang="es-AR" altLang="es-AR" sz="2000" b="0" i="0" u="none" strike="noStrike" cap="none" normalizeH="0" baseline="0" dirty="0">
                <a:ln>
                  <a:noFill/>
                </a:ln>
                <a:solidFill>
                  <a:srgbClr val="000000"/>
                </a:solidFill>
                <a:effectLst/>
                <a:latin typeface="Verdana" panose="020B0604030504040204" pitchFamily="34" charset="0"/>
              </a:rPr>
              <a:t> es retornar.</a:t>
            </a:r>
            <a:r>
              <a:rPr kumimoji="0" lang="es-AR" altLang="es-AR" sz="2000" b="0" i="0" u="none" strike="noStrike" cap="none" normalizeH="0" baseline="0" dirty="0">
                <a:ln>
                  <a:noFill/>
                </a:ln>
                <a:solidFill>
                  <a:schemeClr val="tx1"/>
                </a:solidFill>
                <a:effectLst/>
              </a:rPr>
              <a:t> </a:t>
            </a: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5910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91204D3-D821-4F7A-A099-C526E20C2631}"/>
              </a:ext>
            </a:extLst>
          </p:cNvPr>
          <p:cNvSpPr>
            <a:spLocks noGrp="1" noChangeArrowheads="1"/>
          </p:cNvSpPr>
          <p:nvPr>
            <p:ph idx="1"/>
          </p:nvPr>
        </p:nvSpPr>
        <p:spPr bwMode="auto">
          <a:xfrm>
            <a:off x="838200" y="203467"/>
            <a:ext cx="10439400" cy="6247864"/>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RLF</a:t>
            </a:r>
            <a:br>
              <a:rPr kumimoji="0" lang="es-AR" altLang="es-AR" sz="2000" b="0" i="0" u="none" strike="noStrike" cap="none" normalizeH="0" baseline="0" dirty="0">
                <a:ln>
                  <a:noFill/>
                </a:ln>
                <a:solidFill>
                  <a:schemeClr val="tx1"/>
                </a:solidFill>
                <a:effectLst/>
              </a:rPr>
            </a:br>
            <a:r>
              <a:rPr kumimoji="0" lang="es-AR" altLang="es-AR" sz="2000" b="0" i="0" u="sng" strike="noStrike" cap="none" normalizeH="0" baseline="0" dirty="0">
                <a:ln>
                  <a:noFill/>
                </a:ln>
                <a:solidFill>
                  <a:srgbClr val="000000"/>
                </a:solidFill>
                <a:effectLst/>
                <a:latin typeface="Verdana" panose="020B0604030504040204" pitchFamily="34" charset="0"/>
              </a:rPr>
              <a:t>Rota hacia la izquierda los bit de un registro seleccionado por el programador. El destino de la operación se puede elegir. Cada rotación equivale a multiplicar por 2 si el bit C del registro STATUS es 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RLF         PORTC,F</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PORTC vale B'00001000', después de la instrucción vale B'00010000'. Si se hubiera elegido como destino W, PORTC después de la instrucción continua valiendo B'00001000' y W vale B'00010000'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R</a:t>
            </a:r>
            <a:r>
              <a:rPr kumimoji="0" lang="es-AR" altLang="es-AR" sz="2000" b="0" i="0" u="none" strike="noStrike" cap="none" normalizeH="0" baseline="0" dirty="0" err="1">
                <a:ln>
                  <a:noFill/>
                </a:ln>
                <a:solidFill>
                  <a:srgbClr val="000000"/>
                </a:solidFill>
                <a:effectLst/>
                <a:latin typeface="Verdana" panose="020B0604030504040204" pitchFamily="34" charset="0"/>
              </a:rPr>
              <a:t>otate</a:t>
            </a:r>
            <a:r>
              <a:rPr kumimoji="0" lang="es-AR" altLang="es-AR" sz="2000" b="0" i="0" u="none" strike="noStrike" cap="none" normalizeH="0" baseline="0" dirty="0">
                <a:ln>
                  <a:noFill/>
                </a:ln>
                <a:solidFill>
                  <a:srgbClr val="000000"/>
                </a:solidFill>
                <a:effectLst/>
                <a:latin typeface="Verdana" panose="020B0604030504040204" pitchFamily="34" charset="0"/>
              </a:rPr>
              <a:t> es rotar </a:t>
            </a:r>
            <a:r>
              <a:rPr kumimoji="0" lang="es-AR" altLang="es-AR" sz="2000" b="1" i="0" u="none" strike="noStrike" cap="none" normalizeH="0" baseline="0" dirty="0" err="1">
                <a:ln>
                  <a:noFill/>
                </a:ln>
                <a:solidFill>
                  <a:srgbClr val="000000"/>
                </a:solidFill>
                <a:effectLst/>
                <a:latin typeface="Verdana" panose="020B0604030504040204" pitchFamily="34" charset="0"/>
              </a:rPr>
              <a:t>L</a:t>
            </a:r>
            <a:r>
              <a:rPr kumimoji="0" lang="es-AR" altLang="es-AR" sz="2000" b="0" i="0" u="none" strike="noStrike" cap="none" normalizeH="0" baseline="0" dirty="0" err="1">
                <a:ln>
                  <a:noFill/>
                </a:ln>
                <a:solidFill>
                  <a:srgbClr val="000000"/>
                </a:solidFill>
                <a:effectLst/>
                <a:latin typeface="Verdana" panose="020B0604030504040204" pitchFamily="34" charset="0"/>
              </a:rPr>
              <a:t>eft</a:t>
            </a:r>
            <a:r>
              <a:rPr kumimoji="0" lang="es-AR" altLang="es-AR" sz="2000" b="0" i="0" u="none" strike="noStrike" cap="none" normalizeH="0" baseline="0" dirty="0">
                <a:ln>
                  <a:noFill/>
                </a:ln>
                <a:solidFill>
                  <a:srgbClr val="000000"/>
                </a:solidFill>
                <a:effectLst/>
                <a:latin typeface="Verdana" panose="020B0604030504040204" pitchFamily="34" charset="0"/>
              </a:rPr>
              <a:t> es izquierda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el registro.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hubo acarreo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6568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EC1DB18-E46A-480E-9173-A3124D45A953}"/>
              </a:ext>
            </a:extLst>
          </p:cNvPr>
          <p:cNvSpPr>
            <a:spLocks noGrp="1" noChangeArrowheads="1"/>
          </p:cNvSpPr>
          <p:nvPr>
            <p:ph idx="1"/>
          </p:nvPr>
        </p:nvSpPr>
        <p:spPr bwMode="auto">
          <a:xfrm>
            <a:off x="838200" y="115461"/>
            <a:ext cx="10452652" cy="6555641"/>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RRF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Rota hacia la derecha los bits de un registro seleccionado por el programador. El destino de la operación se puede elegir.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sng" strike="noStrike" cap="none" normalizeH="0" baseline="0" dirty="0">
                <a:ln>
                  <a:noFill/>
                </a:ln>
                <a:solidFill>
                  <a:srgbClr val="000000"/>
                </a:solidFill>
                <a:effectLst/>
                <a:latin typeface="Verdana" panose="020B0604030504040204" pitchFamily="34" charset="0"/>
              </a:rPr>
              <a:t>Cada rotación equivale a dividir por 2 si el bit C del registro STATUS es 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RRF         PORTB,F</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PORTB vale B'10000000' después de la instrucción PORTB vale B'0100000'. Si se hubiera elegido como destino W, PORTB después de la instrucción continua valiendo B'10000000' y W vale B'01000000'</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R</a:t>
            </a:r>
            <a:r>
              <a:rPr kumimoji="0" lang="es-AR" altLang="es-AR" sz="2000" b="0" i="0" u="none" strike="noStrike" cap="none" normalizeH="0" baseline="0" dirty="0" err="1">
                <a:ln>
                  <a:noFill/>
                </a:ln>
                <a:solidFill>
                  <a:srgbClr val="000000"/>
                </a:solidFill>
                <a:effectLst/>
                <a:latin typeface="Verdana" panose="020B0604030504040204" pitchFamily="34" charset="0"/>
              </a:rPr>
              <a:t>otate</a:t>
            </a:r>
            <a:r>
              <a:rPr kumimoji="0" lang="es-AR" altLang="es-AR" sz="2000" b="0" i="0" u="none" strike="noStrike" cap="none" normalizeH="0" baseline="0" dirty="0">
                <a:ln>
                  <a:noFill/>
                </a:ln>
                <a:solidFill>
                  <a:srgbClr val="000000"/>
                </a:solidFill>
                <a:effectLst/>
                <a:latin typeface="Verdana" panose="020B0604030504040204" pitchFamily="34" charset="0"/>
              </a:rPr>
              <a:t> es rotar </a:t>
            </a:r>
            <a:r>
              <a:rPr kumimoji="0" lang="es-AR" altLang="es-AR" sz="2000" b="1" i="0" u="none" strike="noStrike" cap="none" normalizeH="0" baseline="0" dirty="0" err="1">
                <a:ln>
                  <a:noFill/>
                </a:ln>
                <a:solidFill>
                  <a:srgbClr val="000000"/>
                </a:solidFill>
                <a:effectLst/>
                <a:latin typeface="Verdana" panose="020B0604030504040204" pitchFamily="34" charset="0"/>
              </a:rPr>
              <a:t>R</a:t>
            </a:r>
            <a:r>
              <a:rPr kumimoji="0" lang="es-AR" altLang="es-AR" sz="2000" b="0" i="0" u="none" strike="noStrike" cap="none" normalizeH="0" baseline="0" dirty="0" err="1">
                <a:ln>
                  <a:noFill/>
                </a:ln>
                <a:solidFill>
                  <a:srgbClr val="000000"/>
                </a:solidFill>
                <a:effectLst/>
                <a:latin typeface="Verdana" panose="020B0604030504040204" pitchFamily="34" charset="0"/>
              </a:rPr>
              <a:t>ight</a:t>
            </a:r>
            <a:r>
              <a:rPr kumimoji="0" lang="es-AR" altLang="es-AR" sz="2000" b="0" i="0" u="none" strike="noStrike" cap="none" normalizeH="0" baseline="0" dirty="0">
                <a:ln>
                  <a:noFill/>
                </a:ln>
                <a:solidFill>
                  <a:srgbClr val="000000"/>
                </a:solidFill>
                <a:effectLst/>
                <a:latin typeface="Verdana" panose="020B0604030504040204" pitchFamily="34" charset="0"/>
              </a:rPr>
              <a:t> es derecha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el registro.</a:t>
            </a:r>
            <a:br>
              <a:rPr kumimoji="0" lang="es-AR" altLang="es-AR" sz="2000" b="0" i="0" u="none" strike="noStrike" cap="none" normalizeH="0" baseline="0" dirty="0">
                <a:ln>
                  <a:noFill/>
                </a:ln>
                <a:solidFill>
                  <a:schemeClr val="tx1"/>
                </a:solidFill>
                <a:effectLst/>
              </a:rPr>
            </a:br>
            <a:r>
              <a:rPr kumimoji="0" lang="es-AR" altLang="es-AR" sz="2000" b="1" i="0" u="none"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hubo acarreo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0793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2A81BC6-026A-473B-890A-EB330352F80F}"/>
              </a:ext>
            </a:extLst>
          </p:cNvPr>
          <p:cNvSpPr>
            <a:spLocks noGrp="1" noChangeArrowheads="1"/>
          </p:cNvSpPr>
          <p:nvPr>
            <p:ph idx="1"/>
          </p:nvPr>
        </p:nvSpPr>
        <p:spPr bwMode="auto">
          <a:xfrm>
            <a:off x="838200" y="527721"/>
            <a:ext cx="7510670" cy="5770811"/>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1" u="sng" strike="noStrike" cap="none" normalizeH="0" baseline="0" dirty="0">
                <a:ln>
                  <a:noFill/>
                </a:ln>
                <a:solidFill>
                  <a:srgbClr val="800000"/>
                </a:solidFill>
                <a:effectLst/>
                <a:latin typeface="Verdana" panose="020B0604030504040204" pitchFamily="34" charset="0"/>
              </a:rPr>
              <a:t>SLEEP</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Pone al microcontrolador en bajo consumo.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2000" b="1" dirty="0">
              <a:solidFill>
                <a:srgbClr val="666666"/>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SLEEP</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a:ln>
                  <a:noFill/>
                </a:ln>
                <a:solidFill>
                  <a:srgbClr val="000000"/>
                </a:solidFill>
                <a:effectLst/>
                <a:latin typeface="Verdana" panose="020B0604030504040204" pitchFamily="34" charset="0"/>
              </a:rPr>
              <a:t>SLEEP</a:t>
            </a:r>
            <a:r>
              <a:rPr kumimoji="0" lang="es-AR" altLang="es-AR" sz="2000" b="0" i="0" u="none" strike="noStrike" cap="none" normalizeH="0" baseline="0" dirty="0">
                <a:ln>
                  <a:noFill/>
                </a:ln>
                <a:solidFill>
                  <a:srgbClr val="000000"/>
                </a:solidFill>
                <a:effectLst/>
                <a:latin typeface="Verdana" panose="020B0604030504040204" pitchFamily="34" charset="0"/>
              </a:rPr>
              <a:t> es dormir.</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TD</a:t>
            </a:r>
            <a:r>
              <a:rPr kumimoji="0" lang="es-AR" altLang="es-AR" sz="2000" b="0" i="0" u="none" strike="noStrike" cap="none" normalizeH="0" baseline="0" dirty="0">
                <a:ln>
                  <a:noFill/>
                </a:ln>
                <a:solidFill>
                  <a:srgbClr val="000000"/>
                </a:solidFill>
                <a:effectLst/>
                <a:latin typeface="Verdana" panose="020B0604030504040204" pitchFamily="34" charset="0"/>
              </a:rPr>
              <a:t> se pone a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PD</a:t>
            </a:r>
            <a:r>
              <a:rPr kumimoji="0" lang="es-AR" altLang="es-AR" sz="2000" b="0" i="0" u="none" strike="noStrike" cap="none" normalizeH="0" baseline="0" dirty="0">
                <a:ln>
                  <a:noFill/>
                </a:ln>
                <a:solidFill>
                  <a:srgbClr val="000000"/>
                </a:solidFill>
                <a:effectLst/>
                <a:latin typeface="Verdana" panose="020B0604030504040204" pitchFamily="34" charset="0"/>
              </a:rPr>
              <a:t> se pone a 1</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100" b="0" i="0" u="none" strike="noStrike" cap="none" normalizeH="0" baseline="0" dirty="0">
                <a:ln>
                  <a:noFill/>
                </a:ln>
                <a:solidFill>
                  <a:schemeClr val="tx1"/>
                </a:solidFill>
                <a:effectLst/>
              </a:rPr>
            </a:b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2836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C8753CA-70C2-47D5-BF87-57DB2104E5D1}"/>
              </a:ext>
            </a:extLst>
          </p:cNvPr>
          <p:cNvSpPr>
            <a:spLocks noGrp="1" noChangeArrowheads="1"/>
          </p:cNvSpPr>
          <p:nvPr>
            <p:ph idx="1"/>
          </p:nvPr>
        </p:nvSpPr>
        <p:spPr bwMode="auto">
          <a:xfrm>
            <a:off x="838200" y="-44777"/>
            <a:ext cx="10421203" cy="6863417"/>
          </a:xfrm>
          <a:prstGeom prst="rect">
            <a:avLst/>
          </a:prstGeom>
          <a:solidFill>
            <a:srgbClr val="F0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SUBLW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Resta el contenido de W con un literal de hasta 8 bit (.255). El resultado se guarda en 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SUBLW       .20</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W vale .23 después de la instrucción W vale .3 Para saber si el resultado es negativo o positivo, hay que chequear el bit C del registro Status. Si hay acarreo, el resultado es negativo, y por el contrario, si no hay acarreo es positivo.</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SUB</a:t>
            </a:r>
            <a:r>
              <a:rPr kumimoji="0" lang="es-AR" altLang="es-AR" sz="2000" b="0" i="0" u="none" strike="noStrike" cap="none" normalizeH="0" baseline="0" dirty="0" err="1">
                <a:ln>
                  <a:noFill/>
                </a:ln>
                <a:solidFill>
                  <a:srgbClr val="000000"/>
                </a:solidFill>
                <a:effectLst/>
                <a:latin typeface="Verdana" panose="020B0604030504040204" pitchFamily="34" charset="0"/>
              </a:rPr>
              <a:t>traction</a:t>
            </a:r>
            <a:r>
              <a:rPr kumimoji="0" lang="es-AR" altLang="es-AR" sz="2000" b="0" i="0" u="none" strike="noStrike" cap="none" normalizeH="0" baseline="0" dirty="0">
                <a:ln>
                  <a:noFill/>
                </a:ln>
                <a:solidFill>
                  <a:srgbClr val="000000"/>
                </a:solidFill>
                <a:effectLst/>
                <a:latin typeface="Verdana" panose="020B0604030504040204" pitchFamily="34" charset="0"/>
              </a:rPr>
              <a:t> es restar </a:t>
            </a:r>
            <a:r>
              <a:rPr kumimoji="0" lang="es-AR" altLang="es-AR" sz="2000" b="1" i="0" u="none" strike="noStrike" cap="none" normalizeH="0" baseline="0" dirty="0">
                <a:ln>
                  <a:noFill/>
                </a:ln>
                <a:solidFill>
                  <a:srgbClr val="000000"/>
                </a:solidFill>
                <a:effectLst/>
                <a:latin typeface="Verdana" panose="020B0604030504040204" pitchFamily="34" charset="0"/>
              </a:rPr>
              <a:t>L</a:t>
            </a:r>
            <a:r>
              <a:rPr kumimoji="0" lang="es-AR" altLang="es-AR" sz="2000" b="0" i="0" u="none" strike="noStrike" cap="none" normalizeH="0" baseline="0" dirty="0">
                <a:ln>
                  <a:noFill/>
                </a:ln>
                <a:solidFill>
                  <a:srgbClr val="000000"/>
                </a:solidFill>
                <a:effectLst/>
                <a:latin typeface="Verdana" panose="020B0604030504040204" pitchFamily="34" charset="0"/>
              </a:rPr>
              <a:t>iteral es literal y </a:t>
            </a:r>
            <a:r>
              <a:rPr kumimoji="0" lang="es-AR" altLang="es-AR" sz="2000" b="1" i="0" u="none" strike="noStrike" cap="none" normalizeH="0" baseline="0" dirty="0">
                <a:ln>
                  <a:noFill/>
                </a:ln>
                <a:solidFill>
                  <a:srgbClr val="000000"/>
                </a:solidFill>
                <a:effectLst/>
                <a:latin typeface="Verdana" panose="020B0604030504040204" pitchFamily="34" charset="0"/>
              </a:rPr>
              <a:t>W</a:t>
            </a:r>
            <a:r>
              <a:rPr kumimoji="0" lang="es-AR" altLang="es-AR" sz="2000" b="0" i="0" u="none" strike="noStrike" cap="none" normalizeH="0" baseline="0" dirty="0">
                <a:ln>
                  <a:noFill/>
                </a:ln>
                <a:solidFill>
                  <a:srgbClr val="000000"/>
                </a:solidFill>
                <a:effectLst/>
                <a:latin typeface="Verdana" panose="020B0604030504040204" pitchFamily="34" charset="0"/>
              </a:rPr>
              <a:t> es el registro W.</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1" i="0" u="none"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endParaRPr kumimoji="0" lang="es-AR" altLang="es-A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el resultado es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DC</a:t>
            </a:r>
            <a:r>
              <a:rPr kumimoji="0" lang="es-AR" altLang="es-AR" sz="2000" b="0" i="0" u="none" strike="noStrike" cap="none" normalizeH="0" baseline="0" dirty="0">
                <a:ln>
                  <a:noFill/>
                </a:ln>
                <a:solidFill>
                  <a:srgbClr val="000000"/>
                </a:solidFill>
                <a:effectLst/>
                <a:latin typeface="Verdana" panose="020B0604030504040204" pitchFamily="34" charset="0"/>
              </a:rPr>
              <a:t> se pone a  si hay acarreo del bit del 4 al 5 bit del registro (recordemos que en la resta, es distinto a la suma, por eso, se pone a 0 si hubo acarreo).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 se pone a 0 si hubo acarreo (recordemos que en la resta, es distinto a la suma, por eso, se pone a 0 si hubo acarreo).</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546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5815853-5F3A-4A4D-BFAC-B6E8E7D43545}"/>
              </a:ext>
            </a:extLst>
          </p:cNvPr>
          <p:cNvSpPr>
            <a:spLocks noGrp="1" noChangeArrowheads="1"/>
          </p:cNvSpPr>
          <p:nvPr>
            <p:ph idx="1"/>
          </p:nvPr>
        </p:nvSpPr>
        <p:spPr bwMode="auto">
          <a:xfrm>
            <a:off x="838200" y="-87834"/>
            <a:ext cx="10298373" cy="7001917"/>
          </a:xfrm>
          <a:prstGeom prst="rect">
            <a:avLst/>
          </a:prstGeom>
          <a:solidFill>
            <a:srgbClr val="E7EA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1" u="sng" strike="noStrike" cap="none" normalizeH="0" baseline="0" dirty="0">
                <a:ln>
                  <a:noFill/>
                </a:ln>
                <a:solidFill>
                  <a:srgbClr val="800000"/>
                </a:solidFill>
                <a:effectLst/>
                <a:latin typeface="Verdana" panose="020B0604030504040204" pitchFamily="34" charset="0"/>
              </a:rPr>
              <a:t>SUBWF</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sng" strike="noStrike" cap="none" normalizeH="0" baseline="0" dirty="0">
                <a:ln>
                  <a:noFill/>
                </a:ln>
                <a:solidFill>
                  <a:srgbClr val="000000"/>
                </a:solidFill>
                <a:effectLst/>
                <a:latin typeface="Verdana" panose="020B0604030504040204" pitchFamily="34" charset="0"/>
              </a:rPr>
              <a:t>Resta el contenido de un registro seleccionado por el programador con el contenido del registro W. La fórmula es F - W = d. d es la dirección elegida por el programador en dónde se guardará el resultado que puede ser el registro W o el registro elegido por el programador.</a:t>
            </a:r>
            <a:br>
              <a:rPr kumimoji="0" lang="es-AR" altLang="es-AR" sz="2000" b="0" i="0" u="none" strike="noStrike" cap="none" normalizeH="0" baseline="0" dirty="0">
                <a:ln>
                  <a:noFill/>
                </a:ln>
                <a:solidFill>
                  <a:schemeClr val="tx1"/>
                </a:solidFill>
                <a:effectLst/>
              </a:rPr>
            </a:br>
            <a:r>
              <a:rPr kumimoji="0" lang="es-AR" altLang="es-AR" sz="2000" b="0" i="1" u="none" strike="noStrike" cap="none" normalizeH="0" baseline="0" dirty="0">
                <a:ln>
                  <a:noFill/>
                </a:ln>
                <a:solidFill>
                  <a:srgbClr val="000000"/>
                </a:solidFill>
                <a:effectLst/>
                <a:latin typeface="Verdana" panose="020B0604030504040204" pitchFamily="34" charset="0"/>
              </a:rPr>
              <a:t>Ejemplo:</a:t>
            </a:r>
            <a:br>
              <a:rPr kumimoji="0" lang="es-AR" altLang="es-AR" sz="2000" b="0" i="0" u="none" strike="noStrike" cap="none" normalizeH="0" baseline="0" dirty="0">
                <a:ln>
                  <a:noFill/>
                </a:ln>
                <a:solidFill>
                  <a:schemeClr val="tx1"/>
                </a:solidFill>
                <a:effectLst/>
              </a:rPr>
            </a:br>
            <a:r>
              <a:rPr kumimoji="0" lang="es-AR" altLang="es-AR" sz="2000" b="1" i="0" u="none" strike="noStrike" cap="none" normalizeH="0" baseline="0" dirty="0">
                <a:ln>
                  <a:noFill/>
                </a:ln>
                <a:solidFill>
                  <a:srgbClr val="666666"/>
                </a:solidFill>
                <a:effectLst/>
                <a:latin typeface="Verdana" panose="020B0604030504040204" pitchFamily="34" charset="0"/>
              </a:rPr>
              <a:t>Código: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0" i="0" u="none" strike="noStrike" cap="none" normalizeH="0" baseline="0" dirty="0">
                <a:ln>
                  <a:noFill/>
                </a:ln>
                <a:solidFill>
                  <a:srgbClr val="000000"/>
                </a:solidFill>
                <a:effectLst/>
                <a:latin typeface="dejavu sans mono"/>
              </a:rPr>
              <a:t>           SUBWF        MINUENDO,W</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2000" b="0" i="0" u="none" strike="noStrike" cap="none" normalizeH="0" baseline="0" dirty="0">
                <a:ln>
                  <a:noFill/>
                </a:ln>
                <a:solidFill>
                  <a:schemeClr val="tx1"/>
                </a:solidFill>
                <a:effectLst/>
              </a:rPr>
            </a:br>
            <a:r>
              <a:rPr kumimoji="0" lang="es-AR" altLang="es-AR" sz="2000" b="0" i="0" u="none" strike="noStrike" cap="none" normalizeH="0" baseline="0" dirty="0">
                <a:ln>
                  <a:noFill/>
                </a:ln>
                <a:solidFill>
                  <a:srgbClr val="000000"/>
                </a:solidFill>
                <a:effectLst/>
                <a:latin typeface="Verdana" panose="020B0604030504040204" pitchFamily="34" charset="0"/>
              </a:rPr>
              <a:t>Si antes de la instrucción W vale .55 y MINUENDO vale .56, después de la instrucción, MINUENDO vale .56 y W vale .1</a:t>
            </a:r>
            <a:br>
              <a:rPr kumimoji="0" lang="es-AR" altLang="es-AR" sz="2000" b="0" i="0" u="none" strike="noStrike" cap="none" normalizeH="0" baseline="0" dirty="0">
                <a:ln>
                  <a:noFill/>
                </a:ln>
                <a:solidFill>
                  <a:schemeClr val="tx1"/>
                </a:solidFill>
                <a:effectLst/>
              </a:rPr>
            </a:br>
            <a:br>
              <a:rPr kumimoji="0" lang="es-AR" altLang="es-AR" sz="2000" b="0" i="0" u="none" strike="noStrike" cap="none" normalizeH="0" baseline="0" dirty="0">
                <a:ln>
                  <a:noFill/>
                </a:ln>
                <a:solidFill>
                  <a:schemeClr val="tx1"/>
                </a:solidFill>
                <a:effectLst/>
                <a:latin typeface="Arial" panose="020B0604020202020204" pitchFamily="34" charset="0"/>
              </a:rPr>
            </a:br>
            <a:r>
              <a:rPr kumimoji="0" lang="es-AR" altLang="es-AR" sz="2000" b="0" i="0" u="none" strike="noStrike" cap="none" normalizeH="0" baseline="0" dirty="0">
                <a:ln>
                  <a:noFill/>
                </a:ln>
                <a:solidFill>
                  <a:srgbClr val="000000"/>
                </a:solidFill>
                <a:effectLst/>
                <a:latin typeface="Verdana" panose="020B0604030504040204" pitchFamily="34" charset="0"/>
              </a:rPr>
              <a:t>Para recordar </a:t>
            </a:r>
            <a:r>
              <a:rPr kumimoji="0" lang="es-AR" altLang="es-AR" sz="2000" b="1" i="0" u="none" strike="noStrike" cap="none" normalizeH="0" baseline="0" dirty="0" err="1">
                <a:ln>
                  <a:noFill/>
                </a:ln>
                <a:solidFill>
                  <a:srgbClr val="000000"/>
                </a:solidFill>
                <a:effectLst/>
                <a:latin typeface="Verdana" panose="020B0604030504040204" pitchFamily="34" charset="0"/>
              </a:rPr>
              <a:t>SUB</a:t>
            </a:r>
            <a:r>
              <a:rPr kumimoji="0" lang="es-AR" altLang="es-AR" sz="2000" b="0" i="0" u="none" strike="noStrike" cap="none" normalizeH="0" baseline="0" dirty="0" err="1">
                <a:ln>
                  <a:noFill/>
                </a:ln>
                <a:solidFill>
                  <a:srgbClr val="000000"/>
                </a:solidFill>
                <a:effectLst/>
                <a:latin typeface="Verdana" panose="020B0604030504040204" pitchFamily="34" charset="0"/>
              </a:rPr>
              <a:t>traction</a:t>
            </a:r>
            <a:r>
              <a:rPr kumimoji="0" lang="es-AR" altLang="es-AR" sz="2000" b="0" i="0" u="none" strike="noStrike" cap="none" normalizeH="0" baseline="0" dirty="0">
                <a:ln>
                  <a:noFill/>
                </a:ln>
                <a:solidFill>
                  <a:srgbClr val="000000"/>
                </a:solidFill>
                <a:effectLst/>
                <a:latin typeface="Verdana" panose="020B0604030504040204" pitchFamily="34" charset="0"/>
              </a:rPr>
              <a:t> es resta </a:t>
            </a:r>
            <a:r>
              <a:rPr kumimoji="0" lang="es-AR" altLang="es-AR" sz="2000" b="1" i="0" u="none" strike="noStrike" cap="none" normalizeH="0" baseline="0" dirty="0">
                <a:ln>
                  <a:noFill/>
                </a:ln>
                <a:solidFill>
                  <a:srgbClr val="000000"/>
                </a:solidFill>
                <a:effectLst/>
                <a:latin typeface="Verdana" panose="020B0604030504040204" pitchFamily="34" charset="0"/>
              </a:rPr>
              <a:t>W</a:t>
            </a:r>
            <a:r>
              <a:rPr kumimoji="0" lang="es-AR" altLang="es-AR" sz="2000" b="0" i="0" u="none" strike="noStrike" cap="none" normalizeH="0" baseline="0" dirty="0">
                <a:ln>
                  <a:noFill/>
                </a:ln>
                <a:solidFill>
                  <a:srgbClr val="000000"/>
                </a:solidFill>
                <a:effectLst/>
                <a:latin typeface="Verdana" panose="020B0604030504040204" pitchFamily="34" charset="0"/>
              </a:rPr>
              <a:t> es el registro W y </a:t>
            </a:r>
            <a:r>
              <a:rPr kumimoji="0" lang="es-AR" altLang="es-AR" sz="2000" b="1" i="0" u="none" strike="noStrike" cap="none" normalizeH="0" baseline="0" dirty="0">
                <a:ln>
                  <a:noFill/>
                </a:ln>
                <a:solidFill>
                  <a:srgbClr val="000000"/>
                </a:solidFill>
                <a:effectLst/>
                <a:latin typeface="Verdana" panose="020B0604030504040204" pitchFamily="34" charset="0"/>
              </a:rPr>
              <a:t>F</a:t>
            </a:r>
            <a:r>
              <a:rPr kumimoji="0" lang="es-AR" altLang="es-AR" sz="2000" b="0" i="0" u="none" strike="noStrike" cap="none" normalizeH="0" baseline="0" dirty="0">
                <a:ln>
                  <a:noFill/>
                </a:ln>
                <a:solidFill>
                  <a:srgbClr val="000000"/>
                </a:solidFill>
                <a:effectLst/>
                <a:latin typeface="Verdana" panose="020B0604030504040204" pitchFamily="34" charset="0"/>
              </a:rPr>
              <a:t>ile es el registro elegido.</a:t>
            </a:r>
            <a:br>
              <a:rPr kumimoji="0" lang="es-AR" altLang="es-AR" sz="2000" b="0" i="0" u="none" strike="noStrike" cap="none" normalizeH="0" baseline="0" dirty="0">
                <a:ln>
                  <a:noFill/>
                </a:ln>
                <a:solidFill>
                  <a:schemeClr val="tx1"/>
                </a:solidFill>
                <a:effectLst/>
              </a:rPr>
            </a:br>
            <a:r>
              <a:rPr kumimoji="0" lang="es-AR" altLang="es-AR" sz="2000" b="1" i="0" u="none" strike="noStrike" cap="none" normalizeH="0" baseline="0" dirty="0">
                <a:ln>
                  <a:noFill/>
                </a:ln>
                <a:solidFill>
                  <a:srgbClr val="000000"/>
                </a:solidFill>
                <a:effectLst/>
                <a:latin typeface="Verdana" panose="020B0604030504040204" pitchFamily="34" charset="0"/>
              </a:rPr>
              <a:t>Afecta a:</a:t>
            </a:r>
            <a:br>
              <a:rPr kumimoji="0" lang="es-AR" altLang="es-AR" sz="2000" b="0" i="0" u="none" strike="noStrike" cap="none" normalizeH="0" baseline="0" dirty="0">
                <a:ln>
                  <a:noFill/>
                </a:ln>
                <a:solidFill>
                  <a:schemeClr val="tx1"/>
                </a:solidFill>
                <a:effectLst/>
              </a:rPr>
            </a:br>
            <a:r>
              <a:rPr kumimoji="0" lang="es-AR" altLang="es-AR" sz="2000" b="1" i="0" u="none" strike="noStrike" cap="none" normalizeH="0" baseline="0" dirty="0">
                <a:ln>
                  <a:noFill/>
                </a:ln>
                <a:solidFill>
                  <a:srgbClr val="000000"/>
                </a:solidFill>
                <a:effectLst/>
                <a:latin typeface="Verdana" panose="020B0604030504040204" pitchFamily="34" charset="0"/>
              </a:rPr>
              <a:t>Z</a:t>
            </a:r>
            <a:r>
              <a:rPr kumimoji="0" lang="es-AR" altLang="es-AR" sz="2000" b="0" i="0" u="none" strike="noStrike" cap="none" normalizeH="0" baseline="0" dirty="0">
                <a:ln>
                  <a:noFill/>
                </a:ln>
                <a:solidFill>
                  <a:srgbClr val="000000"/>
                </a:solidFill>
                <a:effectLst/>
                <a:latin typeface="Verdana" panose="020B0604030504040204" pitchFamily="34" charset="0"/>
              </a:rPr>
              <a:t> se pone a 1 si el resultado es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DC</a:t>
            </a:r>
            <a:r>
              <a:rPr kumimoji="0" lang="es-AR" altLang="es-AR" sz="2000" b="0" i="0" u="none" strike="noStrike" cap="none" normalizeH="0" baseline="0" dirty="0">
                <a:ln>
                  <a:noFill/>
                </a:ln>
                <a:solidFill>
                  <a:srgbClr val="000000"/>
                </a:solidFill>
                <a:effectLst/>
                <a:latin typeface="Verdana" panose="020B0604030504040204" pitchFamily="34" charset="0"/>
              </a:rPr>
              <a:t> se pone a 0 si hubo un acarreo del 4 bit al 5 bit (recordemos que en la resta, es distinto a la suma, por eso, se pone a 0 si hubo acarreo).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b="1" i="0" u="none" strike="noStrike" cap="none" normalizeH="0" baseline="0" dirty="0">
                <a:ln>
                  <a:noFill/>
                </a:ln>
                <a:solidFill>
                  <a:srgbClr val="000000"/>
                </a:solidFill>
                <a:effectLst/>
                <a:latin typeface="Verdana" panose="020B0604030504040204" pitchFamily="34" charset="0"/>
              </a:rPr>
              <a:t>C</a:t>
            </a:r>
            <a:r>
              <a:rPr kumimoji="0" lang="es-AR" altLang="es-AR" sz="2000" b="0" i="0" u="none" strike="noStrike" cap="none" normalizeH="0" baseline="0" dirty="0">
                <a:ln>
                  <a:noFill/>
                </a:ln>
                <a:solidFill>
                  <a:srgbClr val="000000"/>
                </a:solidFill>
                <a:effectLst/>
                <a:latin typeface="Verdana" panose="020B0604030504040204" pitchFamily="34" charset="0"/>
              </a:rPr>
              <a:t> se pone a 0 si hubo acarreo del 7 bit. (recordemos que en la resta, es distinto a la suma, por eso, se pone a 0 si hubo acarreo).</a:t>
            </a: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100" b="0" i="0" u="none" strike="noStrike" cap="none" normalizeH="0" baseline="0" dirty="0">
                <a:ln>
                  <a:noFill/>
                </a:ln>
                <a:solidFill>
                  <a:schemeClr val="tx1"/>
                </a:solidFill>
                <a:effectLst/>
              </a:rPr>
            </a:b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0809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9110</TotalTime>
  <Words>5387</Words>
  <Application>Microsoft Office PowerPoint</Application>
  <PresentationFormat>Widescreen</PresentationFormat>
  <Paragraphs>223</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dejavu sans mono</vt:lpstr>
      <vt:lpstr>Verdana</vt:lpstr>
      <vt:lpstr>Office Theme</vt:lpstr>
      <vt:lpstr>Introducción al Assembler</vt:lpstr>
      <vt:lpstr>Diagrama de pines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al Assembler</dc:title>
  <dc:creator>jorge golfieri</dc:creator>
  <cp:lastModifiedBy>Tatiana Korobova</cp:lastModifiedBy>
  <cp:revision>46</cp:revision>
  <dcterms:created xsi:type="dcterms:W3CDTF">2024-09-01T16:22:23Z</dcterms:created>
  <dcterms:modified xsi:type="dcterms:W3CDTF">2025-09-23T18:21:33Z</dcterms:modified>
</cp:coreProperties>
</file>